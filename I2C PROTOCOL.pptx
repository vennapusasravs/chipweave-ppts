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65" r:id="rId4"/>
    <p:sldId id="259" r:id="rId5"/>
    <p:sldId id="262" r:id="rId6"/>
    <p:sldId id="260" r:id="rId7"/>
    <p:sldId id="263" r:id="rId8"/>
    <p:sldId id="261" r:id="rId9"/>
    <p:sldId id="266" r:id="rId10"/>
    <p:sldId id="267" r:id="rId11"/>
    <p:sldId id="268" r:id="rId12"/>
    <p:sldId id="270" r:id="rId13"/>
    <p:sldId id="271" r:id="rId14"/>
    <p:sldId id="275" r:id="rId15"/>
    <p:sldId id="276" r:id="rId16"/>
    <p:sldId id="277" r:id="rId17"/>
    <p:sldId id="274" r:id="rId18"/>
    <p:sldId id="278"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1/22/2026</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9C9CA7B-DFD4-44B5-8C60-D14B8CD1FB59}" type="datetimeFigureOut">
              <a:rPr lang="en-US" dirty="0"/>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1/22/2026</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BDB8791-F1B0-41E7-B7FD-A781E65C4266}" type="datetimeFigureOut">
              <a:rPr lang="en-US" dirty="0"/>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FDD63B2-E120-4ED8-B27B-C685F510A5FE}" type="datetimeFigureOut">
              <a:rPr lang="en-US" dirty="0"/>
              <a:t>1/22/2026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p>
        </p:txBody>
      </p:sp>
      <p:sp>
        <p:nvSpPr>
          <p:cNvPr id="3" name="Date Placeholder 2"/>
          <p:cNvSpPr>
            <a:spLocks noGrp="1"/>
          </p:cNvSpPr>
          <p:nvPr>
            <p:ph type="dt" sz="half" idx="10"/>
          </p:nvPr>
        </p:nvSpPr>
        <p:spPr/>
        <p:txBody>
          <a:bodyPr/>
          <a:lstStyle/>
          <a:p>
            <a:fld id="{7AA18ACC-A947-437B-A130-35BD54FDF1E9}" type="datetimeFigureOut">
              <a:rPr lang="en-US" dirty="0"/>
              <a:t>1/22/2026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1/22/2026</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1/22/2026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1/22/2026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1/22/2026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1/22/2026</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1/22/2026</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1/22/2026</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1/22/2026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1/22/2026</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1/22/2026</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1/22/2026</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2A743-88A7-AA8B-45BA-D4D9AF22DE1C}"/>
              </a:ext>
            </a:extLst>
          </p:cNvPr>
          <p:cNvSpPr>
            <a:spLocks noGrp="1"/>
          </p:cNvSpPr>
          <p:nvPr>
            <p:ph type="ctrTitle"/>
          </p:nvPr>
        </p:nvSpPr>
        <p:spPr/>
        <p:txBody>
          <a:bodyPr/>
          <a:lstStyle/>
          <a:p>
            <a:r>
              <a:rPr lang="en-IN"/>
              <a:t>I2C PROTOCOL</a:t>
            </a:r>
          </a:p>
        </p:txBody>
      </p:sp>
      <p:sp>
        <p:nvSpPr>
          <p:cNvPr id="3" name="Subtitle 2">
            <a:extLst>
              <a:ext uri="{FF2B5EF4-FFF2-40B4-BE49-F238E27FC236}">
                <a16:creationId xmlns:a16="http://schemas.microsoft.com/office/drawing/2014/main" id="{68FC5BA3-FA03-3258-441B-67A91E9CBA1C}"/>
              </a:ext>
            </a:extLst>
          </p:cNvPr>
          <p:cNvSpPr>
            <a:spLocks noGrp="1"/>
          </p:cNvSpPr>
          <p:nvPr>
            <p:ph type="subTitle" idx="1"/>
          </p:nvPr>
        </p:nvSpPr>
        <p:spPr/>
        <p:txBody>
          <a:bodyPr/>
          <a:lstStyle/>
          <a:p>
            <a:r>
              <a:rPr lang="en-IN"/>
              <a:t>BY SRAVANTHI</a:t>
            </a:r>
          </a:p>
          <a:p>
            <a:r>
              <a:rPr lang="en-IN"/>
              <a:t>CHIPWEAVE TECHNOLOGIES PVT LMD</a:t>
            </a:r>
          </a:p>
        </p:txBody>
      </p:sp>
    </p:spTree>
    <p:extLst>
      <p:ext uri="{BB962C8B-B14F-4D97-AF65-F5344CB8AC3E}">
        <p14:creationId xmlns:p14="http://schemas.microsoft.com/office/powerpoint/2010/main" val="24390417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86A57-8D56-897C-01D9-A220A4409220}"/>
              </a:ext>
            </a:extLst>
          </p:cNvPr>
          <p:cNvSpPr>
            <a:spLocks noGrp="1"/>
          </p:cNvSpPr>
          <p:nvPr>
            <p:ph type="title"/>
          </p:nvPr>
        </p:nvSpPr>
        <p:spPr/>
        <p:txBody>
          <a:bodyPr/>
          <a:lstStyle/>
          <a:p>
            <a:r>
              <a:rPr lang="en-IN"/>
              <a:t>            INTRODUCTION</a:t>
            </a:r>
          </a:p>
        </p:txBody>
      </p:sp>
      <p:sp>
        <p:nvSpPr>
          <p:cNvPr id="3" name="Content Placeholder 2">
            <a:extLst>
              <a:ext uri="{FF2B5EF4-FFF2-40B4-BE49-F238E27FC236}">
                <a16:creationId xmlns:a16="http://schemas.microsoft.com/office/drawing/2014/main" id="{EABF5211-7CB0-39A6-5102-1744D52A7BDE}"/>
              </a:ext>
            </a:extLst>
          </p:cNvPr>
          <p:cNvSpPr>
            <a:spLocks noGrp="1"/>
          </p:cNvSpPr>
          <p:nvPr>
            <p:ph idx="1"/>
          </p:nvPr>
        </p:nvSpPr>
        <p:spPr/>
        <p:txBody>
          <a:bodyPr>
            <a:normAutofit fontScale="92500" lnSpcReduction="20000"/>
          </a:bodyPr>
          <a:lstStyle/>
          <a:p>
            <a:r>
              <a:rPr lang="en-GB"/>
              <a:t>I2C stands for Inter-Integrated Circuit </a:t>
            </a:r>
          </a:p>
          <a:p>
            <a:r>
              <a:rPr lang="en-GB"/>
              <a:t>It is a two-wire serial communication protocol developed by Philips for short-distance data transfer.</a:t>
            </a:r>
          </a:p>
          <a:p>
            <a:r>
              <a:rPr lang="en-GB"/>
              <a:t>It uses SDA for data and SCL for clock, both controlled by a master device.</a:t>
            </a:r>
          </a:p>
          <a:p>
            <a:r>
              <a:rPr lang="en-GB"/>
              <a:t>I2C supports multiple masters and multiple slaves using unique addresses.</a:t>
            </a:r>
            <a:br>
              <a:rPr lang="en-GB"/>
            </a:br>
            <a:r>
              <a:rPr lang="en-GB"/>
              <a:t>Data is transferred synchronously with ACK/NACK for reliability.</a:t>
            </a:r>
          </a:p>
          <a:p>
            <a:r>
              <a:rPr lang="en-GB"/>
              <a:t>It is widely used to connect sensors, EEPROMs, and peripheral ICs in embedded systems.</a:t>
            </a:r>
          </a:p>
          <a:p>
            <a:r>
              <a:rPr lang="en-GB"/>
              <a:t>Data is transferred 8 bits (1 byte) at a time, followed by 1 ACK/NACK bit → total </a:t>
            </a:r>
            <a:r>
              <a:rPr lang="en-GB" b="1"/>
              <a:t>9 bits per transfer</a:t>
            </a:r>
            <a:r>
              <a:rPr lang="en-GB"/>
              <a:t>.</a:t>
            </a:r>
          </a:p>
          <a:p>
            <a:r>
              <a:rPr lang="en-GB"/>
              <a:t>The maximum I²C clock frequency is </a:t>
            </a:r>
            <a:r>
              <a:rPr lang="en-GB" b="1"/>
              <a:t>3.4 MHz</a:t>
            </a:r>
            <a:r>
              <a:rPr lang="en-GB"/>
              <a:t> </a:t>
            </a:r>
          </a:p>
          <a:p>
            <a:pPr marL="0" indent="0">
              <a:buNone/>
            </a:pPr>
            <a:endParaRPr lang="en-IN"/>
          </a:p>
        </p:txBody>
      </p:sp>
    </p:spTree>
    <p:extLst>
      <p:ext uri="{BB962C8B-B14F-4D97-AF65-F5344CB8AC3E}">
        <p14:creationId xmlns:p14="http://schemas.microsoft.com/office/powerpoint/2010/main" val="8869192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326C3-F96E-64C3-1039-BCA6F497242F}"/>
              </a:ext>
            </a:extLst>
          </p:cNvPr>
          <p:cNvSpPr>
            <a:spLocks noGrp="1"/>
          </p:cNvSpPr>
          <p:nvPr>
            <p:ph type="title"/>
          </p:nvPr>
        </p:nvSpPr>
        <p:spPr/>
        <p:txBody>
          <a:bodyPr/>
          <a:lstStyle/>
          <a:p>
            <a:r>
              <a:rPr lang="en-IN"/>
              <a:t>               WHY I2C</a:t>
            </a:r>
          </a:p>
        </p:txBody>
      </p:sp>
      <p:sp>
        <p:nvSpPr>
          <p:cNvPr id="3" name="Content Placeholder 2">
            <a:extLst>
              <a:ext uri="{FF2B5EF4-FFF2-40B4-BE49-F238E27FC236}">
                <a16:creationId xmlns:a16="http://schemas.microsoft.com/office/drawing/2014/main" id="{28995B44-C1D6-69A4-AFC1-8D1C96808AF7}"/>
              </a:ext>
            </a:extLst>
          </p:cNvPr>
          <p:cNvSpPr>
            <a:spLocks noGrp="1"/>
          </p:cNvSpPr>
          <p:nvPr>
            <p:ph idx="1"/>
          </p:nvPr>
        </p:nvSpPr>
        <p:spPr>
          <a:xfrm>
            <a:off x="1154954" y="2217906"/>
            <a:ext cx="8825659" cy="3801894"/>
          </a:xfrm>
        </p:spPr>
        <p:txBody>
          <a:bodyPr>
            <a:normAutofit fontScale="92500" lnSpcReduction="20000"/>
          </a:bodyPr>
          <a:lstStyle/>
          <a:p>
            <a:r>
              <a:rPr lang="en-GB" b="1"/>
              <a:t>Advantages of I²C over SPI</a:t>
            </a:r>
          </a:p>
          <a:p>
            <a:pPr marL="0" indent="0">
              <a:buNone/>
            </a:pPr>
            <a:r>
              <a:rPr lang="en-GB"/>
              <a:t>      Uses only 2 wires, SPI needs 4+ wires</a:t>
            </a:r>
          </a:p>
          <a:p>
            <a:pPr marL="0" indent="0">
              <a:buNone/>
            </a:pPr>
            <a:r>
              <a:rPr lang="en-GB"/>
              <a:t>      Built-in addressing, no chip-select lines needed</a:t>
            </a:r>
          </a:p>
          <a:p>
            <a:pPr marL="0" indent="0">
              <a:buNone/>
            </a:pPr>
            <a:r>
              <a:rPr lang="en-GB"/>
              <a:t>      Lower power consumption</a:t>
            </a:r>
          </a:p>
          <a:p>
            <a:r>
              <a:rPr lang="en-GB" b="1"/>
              <a:t>Advantages of I²C over APB</a:t>
            </a:r>
          </a:p>
          <a:p>
            <a:pPr marL="0" indent="0">
              <a:buNone/>
            </a:pPr>
            <a:r>
              <a:rPr lang="en-GB"/>
              <a:t>      Off-chip and on-chip communication possible</a:t>
            </a:r>
          </a:p>
          <a:p>
            <a:pPr marL="0" indent="0">
              <a:buNone/>
            </a:pPr>
            <a:r>
              <a:rPr lang="en-GB"/>
              <a:t>      Better suited for board-level peripheral devices</a:t>
            </a:r>
          </a:p>
          <a:p>
            <a:pPr marL="0" indent="0">
              <a:buNone/>
            </a:pPr>
            <a:r>
              <a:rPr lang="en-GB"/>
              <a:t>      Lower pin count and cost</a:t>
            </a:r>
          </a:p>
          <a:p>
            <a:r>
              <a:rPr lang="en-GB" b="1"/>
              <a:t>Advantages of I²C over AXI</a:t>
            </a:r>
            <a:endParaRPr lang="en-GB"/>
          </a:p>
          <a:p>
            <a:pPr marL="0" indent="0">
              <a:buNone/>
            </a:pPr>
            <a:r>
              <a:rPr lang="en-GB"/>
              <a:t>       Suitable for small peripherals, not high-performance systems</a:t>
            </a:r>
          </a:p>
          <a:p>
            <a:pPr marL="0" indent="0">
              <a:buNone/>
            </a:pPr>
            <a:r>
              <a:rPr lang="en-GB"/>
              <a:t>       Lower power and easier debugging</a:t>
            </a:r>
          </a:p>
          <a:p>
            <a:pPr marL="0" indent="0">
              <a:buNone/>
            </a:pPr>
            <a:endParaRPr lang="en-GB"/>
          </a:p>
          <a:p>
            <a:pPr marL="0" indent="0">
              <a:buNone/>
            </a:pPr>
            <a:endParaRPr lang="en-GB"/>
          </a:p>
          <a:p>
            <a:endParaRPr lang="en-IN"/>
          </a:p>
        </p:txBody>
      </p:sp>
    </p:spTree>
    <p:extLst>
      <p:ext uri="{BB962C8B-B14F-4D97-AF65-F5344CB8AC3E}">
        <p14:creationId xmlns:p14="http://schemas.microsoft.com/office/powerpoint/2010/main" val="23279729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AF367-3240-768D-0C97-528EAA521A26}"/>
              </a:ext>
            </a:extLst>
          </p:cNvPr>
          <p:cNvSpPr>
            <a:spLocks noGrp="1"/>
          </p:cNvSpPr>
          <p:nvPr>
            <p:ph type="title"/>
          </p:nvPr>
        </p:nvSpPr>
        <p:spPr/>
        <p:txBody>
          <a:bodyPr/>
          <a:lstStyle/>
          <a:p>
            <a:br>
              <a:rPr lang="en-IN"/>
            </a:br>
            <a:br>
              <a:rPr lang="en-IN"/>
            </a:br>
            <a:br>
              <a:rPr lang="en-IN"/>
            </a:br>
            <a:br>
              <a:rPr lang="en-IN"/>
            </a:br>
            <a:br>
              <a:rPr lang="en-IN"/>
            </a:br>
            <a:endParaRPr lang="en-IN"/>
          </a:p>
        </p:txBody>
      </p:sp>
      <p:sp>
        <p:nvSpPr>
          <p:cNvPr id="3" name="Content Placeholder 2">
            <a:extLst>
              <a:ext uri="{FF2B5EF4-FFF2-40B4-BE49-F238E27FC236}">
                <a16:creationId xmlns:a16="http://schemas.microsoft.com/office/drawing/2014/main" id="{FE3B66B8-A864-EBBA-9702-0629DDD425FA}"/>
              </a:ext>
            </a:extLst>
          </p:cNvPr>
          <p:cNvSpPr>
            <a:spLocks noGrp="1"/>
          </p:cNvSpPr>
          <p:nvPr>
            <p:ph idx="1"/>
          </p:nvPr>
        </p:nvSpPr>
        <p:spPr>
          <a:xfrm>
            <a:off x="1154954" y="2442548"/>
            <a:ext cx="8825659" cy="3577251"/>
          </a:xfrm>
        </p:spPr>
        <p:txBody>
          <a:bodyPr/>
          <a:lstStyle/>
          <a:p>
            <a:pPr algn="just" fontAlgn="base"/>
            <a:r>
              <a:rPr lang="en-GB" sz="1800" b="0" i="0" u="none" strike="noStrike">
                <a:solidFill>
                  <a:srgbClr val="000000"/>
                </a:solidFill>
                <a:effectLst/>
                <a:latin typeface="Times New Roman" panose="02020603050405020304" pitchFamily="18" charset="0"/>
              </a:rPr>
              <a:t>I2C only uses two wires to transmit data between devices:</a:t>
            </a:r>
            <a:r>
              <a:rPr lang="en-US" sz="1800" b="0" i="0">
                <a:solidFill>
                  <a:srgbClr val="A1E8D9"/>
                </a:solidFill>
                <a:effectLst/>
                <a:latin typeface="Times New Roman" panose="02020603050405020304" pitchFamily="18" charset="0"/>
              </a:rPr>
              <a:t>​</a:t>
            </a:r>
            <a:endParaRPr lang="en-US" b="0" i="0">
              <a:solidFill>
                <a:srgbClr val="A1E8D9"/>
              </a:solidFill>
              <a:effectLst/>
              <a:latin typeface="Arial" panose="020B0604020202020204" pitchFamily="34" charset="0"/>
            </a:endParaRPr>
          </a:p>
          <a:p>
            <a:pPr marL="0" indent="0" algn="l" rtl="0" fontAlgn="base">
              <a:buNone/>
            </a:pPr>
            <a:r>
              <a:rPr lang="en-GB" sz="1800" b="1" i="0" u="none" strike="noStrike">
                <a:solidFill>
                  <a:srgbClr val="4B4F58"/>
                </a:solidFill>
                <a:effectLst/>
                <a:latin typeface="Arial" panose="020B0604020202020204" pitchFamily="34" charset="0"/>
              </a:rPr>
              <a:t>     </a:t>
            </a:r>
            <a:r>
              <a:rPr lang="en-GB" sz="1800" i="0" u="none" strike="noStrike">
                <a:solidFill>
                  <a:srgbClr val="4B4F58"/>
                </a:solidFill>
                <a:effectLst/>
                <a:latin typeface="Arial" panose="020B0604020202020204" pitchFamily="34" charset="0"/>
              </a:rPr>
              <a:t>SDA (Serial Data) – The line for the master and slave to send and receive data.</a:t>
            </a:r>
            <a:r>
              <a:rPr lang="en-US" sz="1800" i="0">
                <a:solidFill>
                  <a:srgbClr val="A1E8D9"/>
                </a:solidFill>
                <a:effectLst/>
                <a:latin typeface="Arial" panose="020B0604020202020204" pitchFamily="34" charset="0"/>
              </a:rPr>
              <a:t>​</a:t>
            </a:r>
            <a:endParaRPr lang="en-US">
              <a:solidFill>
                <a:srgbClr val="A1E8D9"/>
              </a:solidFill>
              <a:latin typeface="Arial" panose="020B0604020202020204" pitchFamily="34" charset="0"/>
            </a:endParaRPr>
          </a:p>
          <a:p>
            <a:pPr marL="0" indent="0" algn="l" rtl="0" fontAlgn="base">
              <a:buNone/>
            </a:pPr>
            <a:r>
              <a:rPr lang="en-US" sz="1800" i="0" u="none" strike="noStrike">
                <a:solidFill>
                  <a:srgbClr val="A1E8D9"/>
                </a:solidFill>
                <a:effectLst/>
                <a:latin typeface="Arial" panose="020B0604020202020204" pitchFamily="34" charset="0"/>
              </a:rPr>
              <a:t>     </a:t>
            </a:r>
            <a:r>
              <a:rPr lang="en-GB" sz="1800" i="0" u="none" strike="noStrike">
                <a:solidFill>
                  <a:srgbClr val="4B4F58"/>
                </a:solidFill>
                <a:effectLst/>
                <a:latin typeface="Arial" panose="020B0604020202020204" pitchFamily="34" charset="0"/>
              </a:rPr>
              <a:t>SCL (Serial Clock</a:t>
            </a:r>
            <a:r>
              <a:rPr lang="en-GB" sz="1800" b="1" i="0" u="none" strike="noStrike">
                <a:solidFill>
                  <a:srgbClr val="4B4F58"/>
                </a:solidFill>
                <a:effectLst/>
                <a:latin typeface="Arial" panose="020B0604020202020204" pitchFamily="34" charset="0"/>
              </a:rPr>
              <a:t>)</a:t>
            </a:r>
            <a:r>
              <a:rPr lang="en-GB" sz="1800" b="0" i="0" u="none" strike="noStrike">
                <a:solidFill>
                  <a:srgbClr val="4B4F58"/>
                </a:solidFill>
                <a:effectLst/>
                <a:latin typeface="Arial" panose="020B0604020202020204" pitchFamily="34" charset="0"/>
              </a:rPr>
              <a:t> – The line that carries the clock signal.</a:t>
            </a:r>
            <a:r>
              <a:rPr lang="en-US" sz="1800" b="0" i="0">
                <a:solidFill>
                  <a:srgbClr val="A1E8D9"/>
                </a:solidFill>
                <a:effectLst/>
                <a:latin typeface="Arial" panose="020B0604020202020204" pitchFamily="34" charset="0"/>
              </a:rPr>
              <a:t>​</a:t>
            </a:r>
            <a:endParaRPr lang="en-US" b="0" i="0">
              <a:solidFill>
                <a:srgbClr val="A1E8D9"/>
              </a:solidFill>
              <a:effectLst/>
              <a:latin typeface="Arial" panose="020B0604020202020204" pitchFamily="34" charset="0"/>
            </a:endParaRPr>
          </a:p>
          <a:p>
            <a:endParaRPr lang="en-IN"/>
          </a:p>
          <a:p>
            <a:endParaRPr lang="en-IN"/>
          </a:p>
        </p:txBody>
      </p:sp>
      <p:pic>
        <p:nvPicPr>
          <p:cNvPr id="2050" name="Picture 2" descr="Introduction to I2C - Single Master Single Slave">
            <a:extLst>
              <a:ext uri="{FF2B5EF4-FFF2-40B4-BE49-F238E27FC236}">
                <a16:creationId xmlns:a16="http://schemas.microsoft.com/office/drawing/2014/main" id="{7BE831AB-3F6D-1335-F3ED-55654709EF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7164" y="3745148"/>
            <a:ext cx="6408907" cy="27764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92150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38BA9-98E2-2EF3-2292-E6E92CEC6DF3}"/>
              </a:ext>
            </a:extLst>
          </p:cNvPr>
          <p:cNvSpPr>
            <a:spLocks noGrp="1"/>
          </p:cNvSpPr>
          <p:nvPr>
            <p:ph type="title"/>
          </p:nvPr>
        </p:nvSpPr>
        <p:spPr/>
        <p:txBody>
          <a:bodyPr/>
          <a:lstStyle/>
          <a:p>
            <a:r>
              <a:rPr lang="en-IN"/>
              <a:t>              I2C Signals</a:t>
            </a:r>
          </a:p>
        </p:txBody>
      </p:sp>
      <p:sp>
        <p:nvSpPr>
          <p:cNvPr id="3" name="Content Placeholder 2">
            <a:extLst>
              <a:ext uri="{FF2B5EF4-FFF2-40B4-BE49-F238E27FC236}">
                <a16:creationId xmlns:a16="http://schemas.microsoft.com/office/drawing/2014/main" id="{7C3B6062-0560-0E8A-878B-C1B7130D0571}"/>
              </a:ext>
            </a:extLst>
          </p:cNvPr>
          <p:cNvSpPr>
            <a:spLocks noGrp="1"/>
          </p:cNvSpPr>
          <p:nvPr>
            <p:ph idx="1"/>
          </p:nvPr>
        </p:nvSpPr>
        <p:spPr/>
        <p:txBody>
          <a:bodyPr>
            <a:normAutofit/>
          </a:bodyPr>
          <a:lstStyle/>
          <a:p>
            <a:r>
              <a:rPr lang="en-GB"/>
              <a:t>I²C uses only two signals for communication:</a:t>
            </a:r>
          </a:p>
          <a:p>
            <a:pPr>
              <a:buFont typeface="+mj-lt"/>
              <a:buAutoNum type="arabicPeriod"/>
            </a:pPr>
            <a:r>
              <a:rPr lang="en-GB" b="1"/>
              <a:t>SDA (Serial Data Line)</a:t>
            </a:r>
            <a:endParaRPr lang="en-GB"/>
          </a:p>
          <a:p>
            <a:pPr marL="742950" lvl="1" indent="-285750">
              <a:buFont typeface="+mj-lt"/>
              <a:buAutoNum type="arabicPeriod"/>
            </a:pPr>
            <a:r>
              <a:rPr lang="en-GB"/>
              <a:t>Bi-directional line</a:t>
            </a:r>
          </a:p>
          <a:p>
            <a:pPr marL="742950" lvl="1" indent="-285750">
              <a:buFont typeface="+mj-lt"/>
              <a:buAutoNum type="arabicPeriod"/>
            </a:pPr>
            <a:r>
              <a:rPr lang="en-GB"/>
              <a:t>Used to transfer data between master and slave</a:t>
            </a:r>
          </a:p>
          <a:p>
            <a:pPr marL="742950" lvl="1" indent="-285750">
              <a:buFont typeface="+mj-lt"/>
              <a:buAutoNum type="arabicPeriod"/>
            </a:pPr>
            <a:r>
              <a:rPr lang="en-GB"/>
              <a:t>Carries address, data, and ACK/NACK bits</a:t>
            </a:r>
          </a:p>
          <a:p>
            <a:pPr>
              <a:buFont typeface="+mj-lt"/>
              <a:buAutoNum type="arabicPeriod"/>
            </a:pPr>
            <a:r>
              <a:rPr lang="en-GB" b="1"/>
              <a:t>SCL (Serial Clock Line)</a:t>
            </a:r>
            <a:endParaRPr lang="en-GB"/>
          </a:p>
          <a:p>
            <a:pPr marL="742950" lvl="1" indent="-285750">
              <a:buFont typeface="+mj-lt"/>
              <a:buAutoNum type="arabicPeriod"/>
            </a:pPr>
            <a:r>
              <a:rPr lang="en-GB"/>
              <a:t>Clock signal generated by the master</a:t>
            </a:r>
          </a:p>
          <a:p>
            <a:pPr marL="742950" lvl="1" indent="-285750">
              <a:buFont typeface="+mj-lt"/>
              <a:buAutoNum type="arabicPeriod"/>
            </a:pPr>
            <a:r>
              <a:rPr lang="en-GB"/>
              <a:t>Synchronizes data transfer on SDA</a:t>
            </a:r>
          </a:p>
          <a:p>
            <a:pPr marL="0" indent="0">
              <a:buNone/>
            </a:pPr>
            <a:endParaRPr lang="en-GB"/>
          </a:p>
        </p:txBody>
      </p:sp>
    </p:spTree>
    <p:extLst>
      <p:ext uri="{BB962C8B-B14F-4D97-AF65-F5344CB8AC3E}">
        <p14:creationId xmlns:p14="http://schemas.microsoft.com/office/powerpoint/2010/main" val="10020370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355F9-2B12-844A-741F-FC7A3B11AB5C}"/>
              </a:ext>
            </a:extLst>
          </p:cNvPr>
          <p:cNvSpPr>
            <a:spLocks noGrp="1"/>
          </p:cNvSpPr>
          <p:nvPr>
            <p:ph type="title"/>
          </p:nvPr>
        </p:nvSpPr>
        <p:spPr/>
        <p:txBody>
          <a:bodyPr/>
          <a:lstStyle/>
          <a:p>
            <a:r>
              <a:rPr lang="en-IN"/>
              <a:t>              Operating modes </a:t>
            </a:r>
          </a:p>
        </p:txBody>
      </p:sp>
      <p:sp>
        <p:nvSpPr>
          <p:cNvPr id="3" name="Content Placeholder 2">
            <a:extLst>
              <a:ext uri="{FF2B5EF4-FFF2-40B4-BE49-F238E27FC236}">
                <a16:creationId xmlns:a16="http://schemas.microsoft.com/office/drawing/2014/main" id="{4A5B42AE-A605-1074-7B21-22459580A661}"/>
              </a:ext>
            </a:extLst>
          </p:cNvPr>
          <p:cNvSpPr>
            <a:spLocks noGrp="1"/>
          </p:cNvSpPr>
          <p:nvPr>
            <p:ph idx="1"/>
          </p:nvPr>
        </p:nvSpPr>
        <p:spPr/>
        <p:txBody>
          <a:bodyPr/>
          <a:lstStyle/>
          <a:p>
            <a:r>
              <a:rPr lang="en-IN"/>
              <a:t>I2C can be operated at different  speed modes </a:t>
            </a:r>
          </a:p>
          <a:p>
            <a:pPr algn="just" rtl="0" fontAlgn="base">
              <a:buFont typeface="Arial" panose="020B0604020202020204" pitchFamily="34" charset="0"/>
              <a:buChar char="•"/>
            </a:pPr>
            <a:r>
              <a:rPr lang="en-GB" sz="1800" b="0" i="0" u="none" strike="noStrike">
                <a:solidFill>
                  <a:srgbClr val="000000"/>
                </a:solidFill>
                <a:effectLst/>
                <a:latin typeface="Times New Roman" panose="02020603050405020304" pitchFamily="18" charset="0"/>
              </a:rPr>
              <a:t>Up to </a:t>
            </a:r>
            <a:r>
              <a:rPr lang="en-GB" sz="1800" i="0" u="none" strike="noStrike">
                <a:solidFill>
                  <a:srgbClr val="000000"/>
                </a:solidFill>
                <a:effectLst/>
                <a:latin typeface="Times New Roman" panose="02020603050405020304" pitchFamily="18" charset="0"/>
              </a:rPr>
              <a:t>100 kbit/s in Standard Mode</a:t>
            </a:r>
            <a:r>
              <a:rPr lang="en-US" sz="1800" i="0">
                <a:solidFill>
                  <a:srgbClr val="A1E8D9"/>
                </a:solidFill>
                <a:effectLst/>
                <a:latin typeface="Times New Roman" panose="02020603050405020304" pitchFamily="18" charset="0"/>
              </a:rPr>
              <a:t>​</a:t>
            </a:r>
            <a:endParaRPr lang="en-US" i="0">
              <a:solidFill>
                <a:srgbClr val="A1E8D9"/>
              </a:solidFill>
              <a:effectLst/>
              <a:latin typeface="Arial" panose="020B0604020202020204" pitchFamily="34" charset="0"/>
            </a:endParaRPr>
          </a:p>
          <a:p>
            <a:pPr algn="just" rtl="0" fontAlgn="base">
              <a:buFont typeface="Arial" panose="020B0604020202020204" pitchFamily="34" charset="0"/>
              <a:buChar char="•"/>
            </a:pPr>
            <a:r>
              <a:rPr lang="en-GB" sz="1800" i="0" u="none" strike="noStrike">
                <a:solidFill>
                  <a:srgbClr val="000000"/>
                </a:solidFill>
                <a:effectLst/>
                <a:latin typeface="Times New Roman" panose="02020603050405020304" pitchFamily="18" charset="0"/>
              </a:rPr>
              <a:t>Up to 400 kbit/s in Fast Mode</a:t>
            </a:r>
            <a:r>
              <a:rPr lang="en-US" sz="1800" i="0">
                <a:solidFill>
                  <a:srgbClr val="A1E8D9"/>
                </a:solidFill>
                <a:effectLst/>
                <a:latin typeface="Times New Roman" panose="02020603050405020304" pitchFamily="18" charset="0"/>
              </a:rPr>
              <a:t>​</a:t>
            </a:r>
            <a:endParaRPr lang="en-US" i="0">
              <a:solidFill>
                <a:srgbClr val="A1E8D9"/>
              </a:solidFill>
              <a:effectLst/>
              <a:latin typeface="Arial" panose="020B0604020202020204" pitchFamily="34" charset="0"/>
            </a:endParaRPr>
          </a:p>
          <a:p>
            <a:pPr algn="just" rtl="0" fontAlgn="base">
              <a:buFont typeface="Arial" panose="020B0604020202020204" pitchFamily="34" charset="0"/>
              <a:buChar char="•"/>
            </a:pPr>
            <a:r>
              <a:rPr lang="en-GB" sz="1800" i="0" u="none" strike="noStrike">
                <a:solidFill>
                  <a:srgbClr val="000000"/>
                </a:solidFill>
                <a:effectLst/>
                <a:latin typeface="Times New Roman" panose="02020603050405020304" pitchFamily="18" charset="0"/>
              </a:rPr>
              <a:t>Up to 1 Mbit/s in Fast-mode Plus</a:t>
            </a:r>
            <a:r>
              <a:rPr lang="en-US" sz="1800" i="0">
                <a:solidFill>
                  <a:srgbClr val="A1E8D9"/>
                </a:solidFill>
                <a:effectLst/>
                <a:latin typeface="Times New Roman" panose="02020603050405020304" pitchFamily="18" charset="0"/>
              </a:rPr>
              <a:t>​</a:t>
            </a:r>
            <a:endParaRPr lang="en-US" i="0">
              <a:solidFill>
                <a:srgbClr val="A1E8D9"/>
              </a:solidFill>
              <a:effectLst/>
              <a:latin typeface="Arial" panose="020B0604020202020204" pitchFamily="34" charset="0"/>
            </a:endParaRPr>
          </a:p>
          <a:p>
            <a:pPr algn="just" rtl="0" fontAlgn="base">
              <a:buFont typeface="Arial" panose="020B0604020202020204" pitchFamily="34" charset="0"/>
              <a:buChar char="•"/>
            </a:pPr>
            <a:r>
              <a:rPr lang="en-GB" sz="1800" i="0" u="none" strike="noStrike">
                <a:solidFill>
                  <a:srgbClr val="000000"/>
                </a:solidFill>
                <a:effectLst/>
                <a:latin typeface="Times New Roman" panose="02020603050405020304" pitchFamily="18" charset="0"/>
              </a:rPr>
              <a:t>Up to 3.4 Mbit/s in High-speed Mode</a:t>
            </a:r>
            <a:r>
              <a:rPr lang="en-US" sz="1800" i="0">
                <a:solidFill>
                  <a:srgbClr val="A1E8D9"/>
                </a:solidFill>
                <a:effectLst/>
                <a:latin typeface="Times New Roman" panose="02020603050405020304" pitchFamily="18" charset="0"/>
              </a:rPr>
              <a:t>​</a:t>
            </a:r>
            <a:endParaRPr lang="en-US" i="0">
              <a:solidFill>
                <a:srgbClr val="A1E8D9"/>
              </a:solidFill>
              <a:effectLst/>
              <a:latin typeface="Arial" panose="020B0604020202020204" pitchFamily="34" charset="0"/>
            </a:endParaRPr>
          </a:p>
          <a:p>
            <a:pPr algn="l" rtl="0" fontAlgn="base">
              <a:buFont typeface="Arial" panose="020B0604020202020204" pitchFamily="34" charset="0"/>
              <a:buChar char="•"/>
            </a:pPr>
            <a:r>
              <a:rPr lang="en-GB" sz="1800" i="0" u="none" strike="noStrike">
                <a:solidFill>
                  <a:srgbClr val="000000"/>
                </a:solidFill>
                <a:effectLst/>
                <a:latin typeface="Times New Roman" panose="02020603050405020304" pitchFamily="18" charset="0"/>
              </a:rPr>
              <a:t>Up to 5 Mbit/s in Ultra-Fast Mode</a:t>
            </a:r>
            <a:r>
              <a:rPr lang="en-US" sz="1800" i="0">
                <a:solidFill>
                  <a:srgbClr val="A1E8D9"/>
                </a:solidFill>
                <a:effectLst/>
                <a:latin typeface="Times New Roman" panose="02020603050405020304" pitchFamily="18" charset="0"/>
              </a:rPr>
              <a:t>​</a:t>
            </a:r>
            <a:br>
              <a:rPr lang="en-US" sz="1800" i="0">
                <a:solidFill>
                  <a:srgbClr val="A1E8D9"/>
                </a:solidFill>
                <a:effectLst/>
                <a:latin typeface="Times New Roman" panose="02020603050405020304" pitchFamily="18" charset="0"/>
              </a:rPr>
            </a:br>
            <a:r>
              <a:rPr lang="en-US" sz="1800" i="0">
                <a:solidFill>
                  <a:srgbClr val="A1E8D9"/>
                </a:solidFill>
                <a:effectLst/>
                <a:latin typeface="Times New Roman" panose="02020603050405020304" pitchFamily="18" charset="0"/>
              </a:rPr>
              <a:t>​</a:t>
            </a:r>
            <a:endParaRPr lang="en-US" i="0">
              <a:solidFill>
                <a:srgbClr val="A1E8D9"/>
              </a:solidFill>
              <a:effectLst/>
              <a:latin typeface="Arial" panose="020B0604020202020204" pitchFamily="34" charset="0"/>
            </a:endParaRPr>
          </a:p>
          <a:p>
            <a:pPr marL="0" indent="0">
              <a:buNone/>
            </a:pPr>
            <a:endParaRPr lang="en-IN"/>
          </a:p>
          <a:p>
            <a:pPr marL="0" indent="0">
              <a:buNone/>
            </a:pPr>
            <a:endParaRPr lang="en-IN"/>
          </a:p>
        </p:txBody>
      </p:sp>
    </p:spTree>
    <p:extLst>
      <p:ext uri="{BB962C8B-B14F-4D97-AF65-F5344CB8AC3E}">
        <p14:creationId xmlns:p14="http://schemas.microsoft.com/office/powerpoint/2010/main" val="9918724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18FEA-D300-8E43-D6D1-3EC8FAD978DD}"/>
              </a:ext>
            </a:extLst>
          </p:cNvPr>
          <p:cNvSpPr>
            <a:spLocks noGrp="1"/>
          </p:cNvSpPr>
          <p:nvPr>
            <p:ph type="title"/>
          </p:nvPr>
        </p:nvSpPr>
        <p:spPr/>
        <p:txBody>
          <a:bodyPr/>
          <a:lstStyle/>
          <a:p>
            <a:r>
              <a:rPr lang="en-IN"/>
              <a:t>           Transferring Data</a:t>
            </a:r>
          </a:p>
        </p:txBody>
      </p:sp>
      <p:sp>
        <p:nvSpPr>
          <p:cNvPr id="3" name="Content Placeholder 2">
            <a:extLst>
              <a:ext uri="{FF2B5EF4-FFF2-40B4-BE49-F238E27FC236}">
                <a16:creationId xmlns:a16="http://schemas.microsoft.com/office/drawing/2014/main" id="{5522126C-0229-0589-DC83-CE7B333E9F50}"/>
              </a:ext>
            </a:extLst>
          </p:cNvPr>
          <p:cNvSpPr>
            <a:spLocks noGrp="1"/>
          </p:cNvSpPr>
          <p:nvPr>
            <p:ph idx="1"/>
          </p:nvPr>
        </p:nvSpPr>
        <p:spPr/>
        <p:txBody>
          <a:bodyPr>
            <a:normAutofit fontScale="92500" lnSpcReduction="20000"/>
          </a:bodyPr>
          <a:lstStyle/>
          <a:p>
            <a:r>
              <a:rPr lang="en-IN"/>
              <a:t>Data can be transmitted in 2 formats</a:t>
            </a:r>
          </a:p>
          <a:p>
            <a:pPr marL="0" indent="0">
              <a:buNone/>
            </a:pPr>
            <a:r>
              <a:rPr lang="en-IN"/>
              <a:t>        1)Byte format</a:t>
            </a:r>
          </a:p>
          <a:p>
            <a:pPr marL="0" indent="0">
              <a:buNone/>
            </a:pPr>
            <a:r>
              <a:rPr lang="en-IN"/>
              <a:t>        2)Acknowledge format</a:t>
            </a:r>
          </a:p>
          <a:p>
            <a:r>
              <a:rPr lang="en-GB" b="1"/>
              <a:t>Byte format :</a:t>
            </a:r>
          </a:p>
          <a:p>
            <a:pPr>
              <a:buFont typeface="Courier New" panose="02070309020205020404" pitchFamily="49" charset="0"/>
              <a:buChar char="o"/>
            </a:pPr>
            <a:r>
              <a:rPr lang="en-GB"/>
              <a:t> Every byte put on the SDA line must be 8-bits long. The number of bytes that can be transmitted per transfer is unrestricted. </a:t>
            </a:r>
          </a:p>
          <a:p>
            <a:pPr>
              <a:buFont typeface="Courier New" panose="02070309020205020404" pitchFamily="49" charset="0"/>
              <a:buChar char="o"/>
            </a:pPr>
            <a:r>
              <a:rPr lang="en-GB"/>
              <a:t>Each byte has to be followed by an acknowledge bit. Data is transferred with the most significant bit (MSB) first .</a:t>
            </a:r>
          </a:p>
          <a:p>
            <a:pPr>
              <a:buFont typeface="Courier New" panose="02070309020205020404" pitchFamily="49" charset="0"/>
              <a:buChar char="o"/>
            </a:pPr>
            <a:r>
              <a:rPr lang="en-GB"/>
              <a:t> If a slave can’t receive or transmit another complete byte of data until it has performed some other function, for example servicing an internal interrupt, it can hold the clock line SCL LOW to force the master into a wait state.</a:t>
            </a:r>
          </a:p>
          <a:p>
            <a:pPr marL="0" indent="0">
              <a:buNone/>
            </a:pPr>
            <a:endParaRPr lang="en-GB"/>
          </a:p>
        </p:txBody>
      </p:sp>
    </p:spTree>
    <p:extLst>
      <p:ext uri="{BB962C8B-B14F-4D97-AF65-F5344CB8AC3E}">
        <p14:creationId xmlns:p14="http://schemas.microsoft.com/office/powerpoint/2010/main" val="26781425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75E1F-9A44-1352-1D06-4F8AB2E2774A}"/>
              </a:ext>
            </a:extLst>
          </p:cNvPr>
          <p:cNvSpPr>
            <a:spLocks noGrp="1"/>
          </p:cNvSpPr>
          <p:nvPr>
            <p:ph type="title"/>
          </p:nvPr>
        </p:nvSpPr>
        <p:spPr/>
        <p:txBody>
          <a:bodyPr/>
          <a:lstStyle/>
          <a:p>
            <a:br>
              <a:rPr lang="en-IN"/>
            </a:br>
            <a:br>
              <a:rPr lang="en-IN"/>
            </a:br>
            <a:br>
              <a:rPr lang="en-IN"/>
            </a:br>
            <a:br>
              <a:rPr lang="en-IN"/>
            </a:br>
            <a:br>
              <a:rPr lang="en-IN"/>
            </a:br>
            <a:br>
              <a:rPr lang="en-IN"/>
            </a:br>
            <a:endParaRPr lang="en-IN"/>
          </a:p>
        </p:txBody>
      </p:sp>
      <p:sp>
        <p:nvSpPr>
          <p:cNvPr id="3" name="Content Placeholder 2">
            <a:extLst>
              <a:ext uri="{FF2B5EF4-FFF2-40B4-BE49-F238E27FC236}">
                <a16:creationId xmlns:a16="http://schemas.microsoft.com/office/drawing/2014/main" id="{EF1C009A-3644-4661-548B-B878DEF8F014}"/>
              </a:ext>
            </a:extLst>
          </p:cNvPr>
          <p:cNvSpPr>
            <a:spLocks noGrp="1"/>
          </p:cNvSpPr>
          <p:nvPr>
            <p:ph idx="1"/>
          </p:nvPr>
        </p:nvSpPr>
        <p:spPr/>
        <p:txBody>
          <a:bodyPr/>
          <a:lstStyle/>
          <a:p>
            <a:pPr>
              <a:buFont typeface="Courier New" panose="02070309020205020404" pitchFamily="49" charset="0"/>
              <a:buChar char="o"/>
            </a:pPr>
            <a:r>
              <a:rPr lang="en-GB"/>
              <a:t>Data transfer then continues when the slave is ready for another byte of data and releases clock line SCL. </a:t>
            </a:r>
          </a:p>
          <a:p>
            <a:pPr>
              <a:buFont typeface="Courier New" panose="02070309020205020404" pitchFamily="49" charset="0"/>
              <a:buChar char="o"/>
            </a:pPr>
            <a:r>
              <a:rPr lang="en-GB"/>
              <a:t>In some cases, it’s permitted to use a different format from the I2C-bus format . A message which starts with such an address can be terminated by generation of a STOP condition, even during the transmission of a byte. In this case, no acknowledge is generated .</a:t>
            </a:r>
          </a:p>
          <a:p>
            <a:pPr marL="0" indent="0">
              <a:buNone/>
            </a:pPr>
            <a:endParaRPr lang="en-IN"/>
          </a:p>
          <a:p>
            <a:pPr marL="0" indent="0">
              <a:buNone/>
            </a:pPr>
            <a:endParaRPr lang="en-IN"/>
          </a:p>
        </p:txBody>
      </p:sp>
      <p:pic>
        <p:nvPicPr>
          <p:cNvPr id="7" name="Picture 6">
            <a:extLst>
              <a:ext uri="{FF2B5EF4-FFF2-40B4-BE49-F238E27FC236}">
                <a16:creationId xmlns:a16="http://schemas.microsoft.com/office/drawing/2014/main" id="{0B222C42-6252-5037-3E00-1C48C74D0A04}"/>
              </a:ext>
            </a:extLst>
          </p:cNvPr>
          <p:cNvPicPr>
            <a:picLocks noChangeAspect="1"/>
          </p:cNvPicPr>
          <p:nvPr/>
        </p:nvPicPr>
        <p:blipFill>
          <a:blip r:embed="rId2"/>
          <a:stretch>
            <a:fillRect/>
          </a:stretch>
        </p:blipFill>
        <p:spPr>
          <a:xfrm>
            <a:off x="2247473" y="4500555"/>
            <a:ext cx="5829343" cy="1971689"/>
          </a:xfrm>
          <a:prstGeom prst="rect">
            <a:avLst/>
          </a:prstGeom>
        </p:spPr>
      </p:pic>
    </p:spTree>
    <p:extLst>
      <p:ext uri="{BB962C8B-B14F-4D97-AF65-F5344CB8AC3E}">
        <p14:creationId xmlns:p14="http://schemas.microsoft.com/office/powerpoint/2010/main" val="18168455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80197-ED1B-40E1-192C-75C0E0ED8EF8}"/>
              </a:ext>
            </a:extLst>
          </p:cNvPr>
          <p:cNvSpPr>
            <a:spLocks noGrp="1"/>
          </p:cNvSpPr>
          <p:nvPr>
            <p:ph type="title"/>
          </p:nvPr>
        </p:nvSpPr>
        <p:spPr/>
        <p:txBody>
          <a:bodyPr/>
          <a:lstStyle/>
          <a:p>
            <a:r>
              <a:rPr lang="en-IN"/>
              <a:t>         Acknowledgement Format </a:t>
            </a:r>
          </a:p>
        </p:txBody>
      </p:sp>
      <p:sp>
        <p:nvSpPr>
          <p:cNvPr id="3" name="Content Placeholder 2">
            <a:extLst>
              <a:ext uri="{FF2B5EF4-FFF2-40B4-BE49-F238E27FC236}">
                <a16:creationId xmlns:a16="http://schemas.microsoft.com/office/drawing/2014/main" id="{6C380D81-11A5-2506-659A-1A1A7C03DBB2}"/>
              </a:ext>
            </a:extLst>
          </p:cNvPr>
          <p:cNvSpPr>
            <a:spLocks noGrp="1"/>
          </p:cNvSpPr>
          <p:nvPr>
            <p:ph idx="1"/>
          </p:nvPr>
        </p:nvSpPr>
        <p:spPr/>
        <p:txBody>
          <a:bodyPr>
            <a:normAutofit fontScale="70000" lnSpcReduction="20000"/>
          </a:bodyPr>
          <a:lstStyle/>
          <a:p>
            <a:pPr marL="0" indent="0">
              <a:buNone/>
            </a:pPr>
            <a:endParaRPr lang="en-GB"/>
          </a:p>
          <a:p>
            <a:r>
              <a:rPr lang="en-GB" sz="2200"/>
              <a:t>The acknowledge-related clock pulse is generated by the master. The transmitter releases the SDA line (HIGH) during the acknowledge clock pulse. The receiver must pull down the SDA line during the acknowledge clock pulse so that it remains stable LOW handbook, full </a:t>
            </a:r>
            <a:r>
              <a:rPr lang="en-GB" sz="2200" err="1"/>
              <a:t>pagewidth</a:t>
            </a:r>
            <a:r>
              <a:rPr lang="en-GB" sz="2200"/>
              <a:t> SDA SCL or MSBS during the HIGH period of this clock pulse. </a:t>
            </a:r>
          </a:p>
          <a:p>
            <a:r>
              <a:rPr lang="en-GB" sz="2200"/>
              <a:t>set-up and hold times  must also be taken into account. Usually, a receiver which has been addressed is obliged to generate an acknowledge after each byte has been received, except when the message starts with a CBUS address.</a:t>
            </a:r>
          </a:p>
          <a:p>
            <a:r>
              <a:rPr lang="en-GB" sz="2200"/>
              <a:t> When a slave doesn’t acknowledge the slave address , the data line must be left HIGH by the slave. The master then generate either a STOP condition to abort the transfer, or a repeated START condition to start a new transfer.</a:t>
            </a:r>
          </a:p>
          <a:p>
            <a:r>
              <a:rPr lang="en-GB" sz="2200"/>
              <a:t> If a slave-receiver does acknowledge the slave address but, some time later in the transfer cannot receive any more data bytes, the master must again abort the transfer. This is indicated by the slave generating the not-acknowledge on the first byte to follow. </a:t>
            </a:r>
          </a:p>
        </p:txBody>
      </p:sp>
    </p:spTree>
    <p:extLst>
      <p:ext uri="{BB962C8B-B14F-4D97-AF65-F5344CB8AC3E}">
        <p14:creationId xmlns:p14="http://schemas.microsoft.com/office/powerpoint/2010/main" val="721742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7B0CB-2BBE-453D-178C-AFB465892314}"/>
              </a:ext>
            </a:extLst>
          </p:cNvPr>
          <p:cNvSpPr>
            <a:spLocks noGrp="1"/>
          </p:cNvSpPr>
          <p:nvPr>
            <p:ph type="title"/>
          </p:nvPr>
        </p:nvSpPr>
        <p:spPr>
          <a:xfrm>
            <a:off x="1154954" y="977040"/>
            <a:ext cx="8761413" cy="706964"/>
          </a:xfrm>
        </p:spPr>
        <p:txBody>
          <a:bodyPr/>
          <a:lstStyle/>
          <a:p>
            <a:r>
              <a:rPr lang="en-IN"/>
              <a:t>           Acknowledge on I2C</a:t>
            </a:r>
          </a:p>
        </p:txBody>
      </p:sp>
      <p:sp>
        <p:nvSpPr>
          <p:cNvPr id="7" name="Content Placeholder 6">
            <a:extLst>
              <a:ext uri="{FF2B5EF4-FFF2-40B4-BE49-F238E27FC236}">
                <a16:creationId xmlns:a16="http://schemas.microsoft.com/office/drawing/2014/main" id="{DCAF8FAD-FD0F-441E-B869-77F3F00F58ED}"/>
              </a:ext>
            </a:extLst>
          </p:cNvPr>
          <p:cNvSpPr>
            <a:spLocks noGrp="1"/>
          </p:cNvSpPr>
          <p:nvPr>
            <p:ph idx="1"/>
          </p:nvPr>
        </p:nvSpPr>
        <p:spPr/>
        <p:txBody>
          <a:bodyPr/>
          <a:lstStyle/>
          <a:p>
            <a:r>
              <a:rPr lang="en-GB" sz="1800"/>
              <a:t>The slave leaves the data line HIGH and the master generates a STOP or a repeated START condition. If a master-receiver is involved in a transfer, it must signal the end of data to the slave- transmitter by not generating an acknowledge on the last byte that was clocked out of the slave. The slave-transmitter must release the data line to allow the master to generate a STOP or repeated START condition.</a:t>
            </a:r>
          </a:p>
          <a:p>
            <a:endParaRPr lang="en-IN"/>
          </a:p>
        </p:txBody>
      </p:sp>
      <p:pic>
        <p:nvPicPr>
          <p:cNvPr id="9" name="Picture 8">
            <a:extLst>
              <a:ext uri="{FF2B5EF4-FFF2-40B4-BE49-F238E27FC236}">
                <a16:creationId xmlns:a16="http://schemas.microsoft.com/office/drawing/2014/main" id="{2499838B-6A0A-4C8A-79DA-DCB9B46E6F18}"/>
              </a:ext>
            </a:extLst>
          </p:cNvPr>
          <p:cNvPicPr>
            <a:picLocks noChangeAspect="1"/>
          </p:cNvPicPr>
          <p:nvPr/>
        </p:nvPicPr>
        <p:blipFill>
          <a:blip r:embed="rId2"/>
          <a:stretch>
            <a:fillRect/>
          </a:stretch>
        </p:blipFill>
        <p:spPr>
          <a:xfrm>
            <a:off x="2211387" y="4487929"/>
            <a:ext cx="5086387" cy="2000265"/>
          </a:xfrm>
          <a:prstGeom prst="rect">
            <a:avLst/>
          </a:prstGeom>
        </p:spPr>
      </p:pic>
    </p:spTree>
    <p:extLst>
      <p:ext uri="{BB962C8B-B14F-4D97-AF65-F5344CB8AC3E}">
        <p14:creationId xmlns:p14="http://schemas.microsoft.com/office/powerpoint/2010/main" val="4051389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6DF00-419C-C7D3-138F-F24E7549317A}"/>
              </a:ext>
            </a:extLst>
          </p:cNvPr>
          <p:cNvSpPr>
            <a:spLocks noGrp="1"/>
          </p:cNvSpPr>
          <p:nvPr>
            <p:ph type="title"/>
          </p:nvPr>
        </p:nvSpPr>
        <p:spPr/>
        <p:txBody>
          <a:bodyPr/>
          <a:lstStyle/>
          <a:p>
            <a:r>
              <a:rPr lang="en-IN"/>
              <a:t>                Working of I2C</a:t>
            </a:r>
          </a:p>
        </p:txBody>
      </p:sp>
      <p:sp>
        <p:nvSpPr>
          <p:cNvPr id="3" name="Content Placeholder 2">
            <a:extLst>
              <a:ext uri="{FF2B5EF4-FFF2-40B4-BE49-F238E27FC236}">
                <a16:creationId xmlns:a16="http://schemas.microsoft.com/office/drawing/2014/main" id="{A27F8D01-6BC5-4745-DA24-1DED76CA3E13}"/>
              </a:ext>
            </a:extLst>
          </p:cNvPr>
          <p:cNvSpPr>
            <a:spLocks noGrp="1"/>
          </p:cNvSpPr>
          <p:nvPr>
            <p:ph idx="1"/>
          </p:nvPr>
        </p:nvSpPr>
        <p:spPr/>
        <p:txBody>
          <a:bodyPr/>
          <a:lstStyle/>
          <a:p>
            <a:pPr marL="457200" lvl="0" indent="-342900" algn="just" rtl="0">
              <a:spcBef>
                <a:spcPts val="0"/>
              </a:spcBef>
              <a:spcAft>
                <a:spcPts val="0"/>
              </a:spcAft>
              <a:buClr>
                <a:srgbClr val="000000"/>
              </a:buClr>
              <a:buSzPts val="1800"/>
              <a:buFont typeface="Times New Roman"/>
              <a:buChar char="●"/>
            </a:pPr>
            <a:r>
              <a:rPr lang="en-GB">
                <a:solidFill>
                  <a:srgbClr val="4B4F58"/>
                </a:solidFill>
                <a:highlight>
                  <a:srgbClr val="FFFFFF"/>
                </a:highlight>
                <a:latin typeface="Times New Roman"/>
                <a:ea typeface="Times New Roman"/>
                <a:cs typeface="Times New Roman"/>
                <a:sym typeface="Times New Roman"/>
              </a:rPr>
              <a:t>With I2C, data is transferred in messages. Messages are broken up into frames of data. Each message has an address frame that contains the binary address of the slave, and one or more data frames that contain the data being transmitted. </a:t>
            </a:r>
            <a:endParaRPr lang="en-GB">
              <a:solidFill>
                <a:srgbClr val="000000"/>
              </a:solidFill>
              <a:latin typeface="Times New Roman"/>
              <a:ea typeface="Times New Roman"/>
              <a:cs typeface="Times New Roman"/>
              <a:sym typeface="Times New Roman"/>
            </a:endParaRPr>
          </a:p>
          <a:p>
            <a:pPr marL="457200" lvl="0" indent="-342900" algn="just" rtl="0">
              <a:spcBef>
                <a:spcPts val="0"/>
              </a:spcBef>
              <a:spcAft>
                <a:spcPts val="0"/>
              </a:spcAft>
              <a:buClr>
                <a:srgbClr val="000000"/>
              </a:buClr>
              <a:buSzPts val="1800"/>
              <a:buFont typeface="Times New Roman"/>
              <a:buChar char="●"/>
            </a:pPr>
            <a:r>
              <a:rPr lang="en-GB">
                <a:solidFill>
                  <a:srgbClr val="4B4F58"/>
                </a:solidFill>
                <a:highlight>
                  <a:srgbClr val="FFFFFF"/>
                </a:highlight>
                <a:latin typeface="Times New Roman"/>
                <a:ea typeface="Times New Roman"/>
                <a:cs typeface="Times New Roman"/>
                <a:sym typeface="Times New Roman"/>
              </a:rPr>
              <a:t>The message also includes start and stop conditions, read/write bits, and ACK/NACK bits between each data frame:</a:t>
            </a:r>
            <a:endParaRPr lang="en-GB">
              <a:solidFill>
                <a:srgbClr val="000000"/>
              </a:solidFill>
              <a:latin typeface="Times New Roman"/>
              <a:ea typeface="Times New Roman"/>
              <a:cs typeface="Times New Roman"/>
              <a:sym typeface="Times New Roman"/>
            </a:endParaRPr>
          </a:p>
          <a:p>
            <a:endParaRPr lang="en-IN"/>
          </a:p>
        </p:txBody>
      </p:sp>
      <p:pic>
        <p:nvPicPr>
          <p:cNvPr id="4" name="Google Shape;146;p30">
            <a:extLst>
              <a:ext uri="{FF2B5EF4-FFF2-40B4-BE49-F238E27FC236}">
                <a16:creationId xmlns:a16="http://schemas.microsoft.com/office/drawing/2014/main" id="{6B06F454-634A-1DEC-7236-C68769CC0EE4}"/>
              </a:ext>
            </a:extLst>
          </p:cNvPr>
          <p:cNvPicPr preferRelativeResize="0"/>
          <p:nvPr/>
        </p:nvPicPr>
        <p:blipFill>
          <a:blip r:embed="rId2">
            <a:alphaModFix/>
          </a:blip>
          <a:stretch>
            <a:fillRect/>
          </a:stretch>
        </p:blipFill>
        <p:spPr>
          <a:xfrm>
            <a:off x="1363656" y="4311650"/>
            <a:ext cx="8812930" cy="2307450"/>
          </a:xfrm>
          <a:prstGeom prst="rect">
            <a:avLst/>
          </a:prstGeom>
          <a:noFill/>
          <a:ln>
            <a:noFill/>
          </a:ln>
        </p:spPr>
      </p:pic>
    </p:spTree>
    <p:extLst>
      <p:ext uri="{BB962C8B-B14F-4D97-AF65-F5344CB8AC3E}">
        <p14:creationId xmlns:p14="http://schemas.microsoft.com/office/powerpoint/2010/main" val="8646523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AAE83-44FD-2EF2-495A-8B51A98F4AA8}"/>
              </a:ext>
            </a:extLst>
          </p:cNvPr>
          <p:cNvSpPr>
            <a:spLocks noGrp="1"/>
          </p:cNvSpPr>
          <p:nvPr>
            <p:ph type="title"/>
          </p:nvPr>
        </p:nvSpPr>
        <p:spPr/>
        <p:txBody>
          <a:bodyPr/>
          <a:lstStyle/>
          <a:p>
            <a:r>
              <a:rPr lang="en-IN"/>
              <a:t>              Data Frame of I2C</a:t>
            </a:r>
          </a:p>
        </p:txBody>
      </p:sp>
      <p:sp>
        <p:nvSpPr>
          <p:cNvPr id="3" name="Content Placeholder 2">
            <a:extLst>
              <a:ext uri="{FF2B5EF4-FFF2-40B4-BE49-F238E27FC236}">
                <a16:creationId xmlns:a16="http://schemas.microsoft.com/office/drawing/2014/main" id="{45F4A290-4FC8-F466-A096-DC6C0114424B}"/>
              </a:ext>
            </a:extLst>
          </p:cNvPr>
          <p:cNvSpPr>
            <a:spLocks noGrp="1"/>
          </p:cNvSpPr>
          <p:nvPr>
            <p:ph idx="1"/>
          </p:nvPr>
        </p:nvSpPr>
        <p:spPr>
          <a:xfrm>
            <a:off x="1122830" y="2247900"/>
            <a:ext cx="8825659" cy="3416300"/>
          </a:xfrm>
        </p:spPr>
        <p:txBody>
          <a:bodyPr>
            <a:normAutofit/>
          </a:bodyPr>
          <a:lstStyle/>
          <a:p>
            <a:pPr marL="400050" lvl="0" indent="-285750" algn="just" rtl="0">
              <a:lnSpc>
                <a:spcPct val="115000"/>
              </a:lnSpc>
              <a:spcBef>
                <a:spcPts val="0"/>
              </a:spcBef>
              <a:spcAft>
                <a:spcPts val="0"/>
              </a:spcAft>
              <a:buClr>
                <a:srgbClr val="000000"/>
              </a:buClr>
              <a:buSzPts val="1800"/>
              <a:buFont typeface="Wingdings" panose="05000000000000000000" pitchFamily="2" charset="2"/>
              <a:buChar char="q"/>
            </a:pPr>
            <a:r>
              <a:rPr lang="en-GB" b="1">
                <a:solidFill>
                  <a:srgbClr val="000000"/>
                </a:solidFill>
                <a:latin typeface="Times New Roman"/>
                <a:ea typeface="Times New Roman"/>
                <a:cs typeface="Times New Roman"/>
                <a:sym typeface="Times New Roman"/>
              </a:rPr>
              <a:t>Start Condition:</a:t>
            </a:r>
            <a:r>
              <a:rPr lang="en-GB">
                <a:solidFill>
                  <a:srgbClr val="000000"/>
                </a:solidFill>
                <a:latin typeface="Times New Roman"/>
                <a:ea typeface="Times New Roman"/>
                <a:cs typeface="Times New Roman"/>
                <a:sym typeface="Times New Roman"/>
              </a:rPr>
              <a:t> SDA line switches from a high voltage to low voltage level </a:t>
            </a:r>
            <a:r>
              <a:rPr lang="en-GB" b="1">
                <a:solidFill>
                  <a:srgbClr val="000000"/>
                </a:solidFill>
                <a:latin typeface="Times New Roman"/>
                <a:ea typeface="Times New Roman"/>
                <a:cs typeface="Times New Roman"/>
                <a:sym typeface="Times New Roman"/>
              </a:rPr>
              <a:t>before</a:t>
            </a:r>
            <a:r>
              <a:rPr lang="en-GB">
                <a:solidFill>
                  <a:srgbClr val="000000"/>
                </a:solidFill>
                <a:latin typeface="Times New Roman"/>
                <a:ea typeface="Times New Roman"/>
                <a:cs typeface="Times New Roman"/>
                <a:sym typeface="Times New Roman"/>
              </a:rPr>
              <a:t> the SCL line switches from high to low.</a:t>
            </a:r>
          </a:p>
          <a:p>
            <a:pPr marL="400050" lvl="0" indent="-285750" algn="just" rtl="0">
              <a:lnSpc>
                <a:spcPct val="115000"/>
              </a:lnSpc>
              <a:spcBef>
                <a:spcPts val="0"/>
              </a:spcBef>
              <a:spcAft>
                <a:spcPts val="0"/>
              </a:spcAft>
              <a:buClr>
                <a:srgbClr val="000000"/>
              </a:buClr>
              <a:buSzPts val="1800"/>
              <a:buFont typeface="Wingdings" panose="05000000000000000000" pitchFamily="2" charset="2"/>
              <a:buChar char="q"/>
            </a:pPr>
            <a:r>
              <a:rPr lang="en-GB" b="1">
                <a:solidFill>
                  <a:srgbClr val="000000"/>
                </a:solidFill>
                <a:latin typeface="Times New Roman"/>
                <a:ea typeface="Times New Roman"/>
                <a:cs typeface="Times New Roman"/>
                <a:sym typeface="Times New Roman"/>
              </a:rPr>
              <a:t>Stop Condition:</a:t>
            </a:r>
            <a:r>
              <a:rPr lang="en-GB">
                <a:solidFill>
                  <a:srgbClr val="FF0000"/>
                </a:solidFill>
                <a:latin typeface="Times New Roman"/>
                <a:ea typeface="Times New Roman"/>
                <a:cs typeface="Times New Roman"/>
                <a:sym typeface="Times New Roman"/>
              </a:rPr>
              <a:t> </a:t>
            </a:r>
            <a:r>
              <a:rPr lang="en-GB">
                <a:solidFill>
                  <a:srgbClr val="1A1A1A"/>
                </a:solidFill>
                <a:latin typeface="Times New Roman"/>
                <a:ea typeface="Times New Roman"/>
                <a:cs typeface="Times New Roman"/>
                <a:sym typeface="Times New Roman"/>
              </a:rPr>
              <a:t>SDA line switches from a low voltage to high voltage level </a:t>
            </a:r>
            <a:r>
              <a:rPr lang="en-GB" b="1">
                <a:solidFill>
                  <a:srgbClr val="1A1A1A"/>
                </a:solidFill>
                <a:latin typeface="Times New Roman"/>
                <a:ea typeface="Times New Roman"/>
                <a:cs typeface="Times New Roman"/>
                <a:sym typeface="Times New Roman"/>
              </a:rPr>
              <a:t>after</a:t>
            </a:r>
            <a:r>
              <a:rPr lang="en-GB">
                <a:solidFill>
                  <a:srgbClr val="1A1A1A"/>
                </a:solidFill>
                <a:latin typeface="Times New Roman"/>
                <a:ea typeface="Times New Roman"/>
                <a:cs typeface="Times New Roman"/>
                <a:sym typeface="Times New Roman"/>
              </a:rPr>
              <a:t> the SCL line switches from low to high.</a:t>
            </a:r>
          </a:p>
          <a:p>
            <a:pPr marL="400050" lvl="0" indent="-285750" algn="just" rtl="0">
              <a:lnSpc>
                <a:spcPct val="115000"/>
              </a:lnSpc>
              <a:spcBef>
                <a:spcPts val="0"/>
              </a:spcBef>
              <a:spcAft>
                <a:spcPts val="0"/>
              </a:spcAft>
              <a:buClr>
                <a:srgbClr val="000000"/>
              </a:buClr>
              <a:buSzPts val="1800"/>
              <a:buFont typeface="Wingdings" panose="05000000000000000000" pitchFamily="2" charset="2"/>
              <a:buChar char="q"/>
            </a:pPr>
            <a:r>
              <a:rPr lang="en-GB">
                <a:solidFill>
                  <a:srgbClr val="000000"/>
                </a:solidFill>
                <a:latin typeface="Times New Roman"/>
                <a:ea typeface="Times New Roman"/>
                <a:cs typeface="Times New Roman"/>
                <a:sym typeface="Times New Roman"/>
              </a:rPr>
              <a:t>A </a:t>
            </a:r>
            <a:r>
              <a:rPr lang="en-GB" b="1">
                <a:solidFill>
                  <a:srgbClr val="000000"/>
                </a:solidFill>
                <a:latin typeface="Times New Roman"/>
                <a:ea typeface="Times New Roman"/>
                <a:cs typeface="Times New Roman"/>
                <a:sym typeface="Times New Roman"/>
              </a:rPr>
              <a:t>START</a:t>
            </a:r>
            <a:r>
              <a:rPr lang="en-GB">
                <a:solidFill>
                  <a:srgbClr val="000000"/>
                </a:solidFill>
                <a:latin typeface="Times New Roman"/>
                <a:ea typeface="Times New Roman"/>
                <a:cs typeface="Times New Roman"/>
                <a:sym typeface="Times New Roman"/>
              </a:rPr>
              <a:t> and </a:t>
            </a:r>
            <a:r>
              <a:rPr lang="en-GB" b="1">
                <a:solidFill>
                  <a:srgbClr val="000000"/>
                </a:solidFill>
                <a:latin typeface="Times New Roman"/>
                <a:ea typeface="Times New Roman"/>
                <a:cs typeface="Times New Roman"/>
                <a:sym typeface="Times New Roman"/>
              </a:rPr>
              <a:t>STOP</a:t>
            </a:r>
            <a:r>
              <a:rPr lang="en-GB">
                <a:solidFill>
                  <a:srgbClr val="000000"/>
                </a:solidFill>
                <a:latin typeface="Times New Roman"/>
                <a:ea typeface="Times New Roman"/>
                <a:cs typeface="Times New Roman"/>
                <a:sym typeface="Times New Roman"/>
              </a:rPr>
              <a:t> condition are always asserted by the master.</a:t>
            </a:r>
          </a:p>
          <a:p>
            <a:pPr marL="0" lvl="0" indent="0" algn="just" rtl="0">
              <a:lnSpc>
                <a:spcPct val="115000"/>
              </a:lnSpc>
              <a:spcBef>
                <a:spcPts val="1200"/>
              </a:spcBef>
              <a:spcAft>
                <a:spcPts val="0"/>
              </a:spcAft>
              <a:buNone/>
            </a:pPr>
            <a:endParaRPr lang="en-GB" sz="1600">
              <a:solidFill>
                <a:srgbClr val="000000"/>
              </a:solidFill>
              <a:latin typeface="Times New Roman"/>
              <a:ea typeface="Times New Roman"/>
              <a:cs typeface="Times New Roman"/>
              <a:sym typeface="Times New Roman"/>
            </a:endParaRPr>
          </a:p>
          <a:p>
            <a:pPr marL="457200" lvl="0" indent="0" algn="just" rtl="0">
              <a:lnSpc>
                <a:spcPct val="115000"/>
              </a:lnSpc>
              <a:spcBef>
                <a:spcPts val="200"/>
              </a:spcBef>
              <a:spcAft>
                <a:spcPts val="0"/>
              </a:spcAft>
              <a:buNone/>
            </a:pPr>
            <a:endParaRPr lang="en-GB">
              <a:solidFill>
                <a:srgbClr val="000000"/>
              </a:solidFill>
              <a:highlight>
                <a:srgbClr val="FFFFFF"/>
              </a:highlight>
              <a:latin typeface="Times New Roman"/>
              <a:ea typeface="Times New Roman"/>
              <a:cs typeface="Times New Roman"/>
              <a:sym typeface="Times New Roman"/>
            </a:endParaRPr>
          </a:p>
          <a:p>
            <a:pPr marL="0" lvl="0" indent="0" algn="just" rtl="0">
              <a:lnSpc>
                <a:spcPct val="115000"/>
              </a:lnSpc>
              <a:spcBef>
                <a:spcPts val="3000"/>
              </a:spcBef>
              <a:spcAft>
                <a:spcPts val="3000"/>
              </a:spcAft>
              <a:buNone/>
            </a:pPr>
            <a:endParaRPr lang="en-GB">
              <a:solidFill>
                <a:srgbClr val="202122"/>
              </a:solidFill>
              <a:highlight>
                <a:srgbClr val="FFFFFF"/>
              </a:highlight>
              <a:latin typeface="Times New Roman"/>
              <a:ea typeface="Times New Roman"/>
              <a:cs typeface="Times New Roman"/>
              <a:sym typeface="Times New Roman"/>
            </a:endParaRPr>
          </a:p>
          <a:p>
            <a:pPr marL="457200" lvl="0" indent="-342900" algn="just" rtl="0">
              <a:lnSpc>
                <a:spcPct val="115000"/>
              </a:lnSpc>
              <a:spcBef>
                <a:spcPts val="0"/>
              </a:spcBef>
              <a:spcAft>
                <a:spcPts val="0"/>
              </a:spcAft>
              <a:buClr>
                <a:srgbClr val="000000"/>
              </a:buClr>
              <a:buSzPts val="1800"/>
              <a:buFont typeface="Times New Roman"/>
              <a:buChar char="●"/>
            </a:pPr>
            <a:endParaRPr lang="en-GB">
              <a:solidFill>
                <a:srgbClr val="000000"/>
              </a:solidFill>
              <a:latin typeface="Times New Roman"/>
              <a:ea typeface="Times New Roman"/>
              <a:cs typeface="Times New Roman"/>
              <a:sym typeface="Times New Roman"/>
            </a:endParaRPr>
          </a:p>
          <a:p>
            <a:pPr marL="457200" lvl="0" indent="0" algn="just" rtl="0">
              <a:lnSpc>
                <a:spcPct val="115000"/>
              </a:lnSpc>
              <a:spcBef>
                <a:spcPts val="2600"/>
              </a:spcBef>
              <a:spcAft>
                <a:spcPts val="0"/>
              </a:spcAft>
              <a:buNone/>
            </a:pPr>
            <a:endParaRPr lang="en-GB">
              <a:solidFill>
                <a:srgbClr val="000000"/>
              </a:solidFill>
              <a:highlight>
                <a:srgbClr val="FFFFFF"/>
              </a:highlight>
              <a:latin typeface="Times New Roman"/>
              <a:ea typeface="Times New Roman"/>
              <a:cs typeface="Times New Roman"/>
              <a:sym typeface="Times New Roman"/>
            </a:endParaRPr>
          </a:p>
          <a:p>
            <a:endParaRPr lang="en-IN"/>
          </a:p>
        </p:txBody>
      </p:sp>
      <p:pic>
        <p:nvPicPr>
          <p:cNvPr id="4" name="Google Shape;153;p31">
            <a:extLst>
              <a:ext uri="{FF2B5EF4-FFF2-40B4-BE49-F238E27FC236}">
                <a16:creationId xmlns:a16="http://schemas.microsoft.com/office/drawing/2014/main" id="{EEE65702-8E86-A9F4-E31C-9B68229F01AF}"/>
              </a:ext>
            </a:extLst>
          </p:cNvPr>
          <p:cNvPicPr preferRelativeResize="0"/>
          <p:nvPr/>
        </p:nvPicPr>
        <p:blipFill>
          <a:blip r:embed="rId2">
            <a:alphaModFix/>
          </a:blip>
          <a:stretch>
            <a:fillRect/>
          </a:stretch>
        </p:blipFill>
        <p:spPr>
          <a:xfrm>
            <a:off x="1036487" y="3956050"/>
            <a:ext cx="8709176" cy="2766875"/>
          </a:xfrm>
          <a:prstGeom prst="rect">
            <a:avLst/>
          </a:prstGeom>
          <a:noFill/>
          <a:ln>
            <a:noFill/>
          </a:ln>
        </p:spPr>
      </p:pic>
    </p:spTree>
    <p:extLst>
      <p:ext uri="{BB962C8B-B14F-4D97-AF65-F5344CB8AC3E}">
        <p14:creationId xmlns:p14="http://schemas.microsoft.com/office/powerpoint/2010/main" val="20945284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97715-71F6-2E67-6A4E-5382C60605B8}"/>
              </a:ext>
            </a:extLst>
          </p:cNvPr>
          <p:cNvSpPr>
            <a:spLocks noGrp="1"/>
          </p:cNvSpPr>
          <p:nvPr>
            <p:ph type="title"/>
          </p:nvPr>
        </p:nvSpPr>
        <p:spPr/>
        <p:txBody>
          <a:bodyPr/>
          <a:lstStyle/>
          <a:p>
            <a:br>
              <a:rPr lang="en-IN"/>
            </a:br>
            <a:br>
              <a:rPr lang="en-IN"/>
            </a:br>
            <a:br>
              <a:rPr lang="en-IN"/>
            </a:br>
            <a:br>
              <a:rPr lang="en-IN"/>
            </a:br>
            <a:br>
              <a:rPr lang="en-IN"/>
            </a:br>
            <a:br>
              <a:rPr lang="en-IN"/>
            </a:br>
            <a:br>
              <a:rPr lang="en-IN"/>
            </a:br>
            <a:endParaRPr lang="en-IN"/>
          </a:p>
        </p:txBody>
      </p:sp>
      <p:sp>
        <p:nvSpPr>
          <p:cNvPr id="3" name="Content Placeholder 2">
            <a:extLst>
              <a:ext uri="{FF2B5EF4-FFF2-40B4-BE49-F238E27FC236}">
                <a16:creationId xmlns:a16="http://schemas.microsoft.com/office/drawing/2014/main" id="{3E8C0FB3-3A3F-8403-AFFD-DFB1EE260BD8}"/>
              </a:ext>
            </a:extLst>
          </p:cNvPr>
          <p:cNvSpPr>
            <a:spLocks noGrp="1"/>
          </p:cNvSpPr>
          <p:nvPr>
            <p:ph idx="1"/>
          </p:nvPr>
        </p:nvSpPr>
        <p:spPr/>
        <p:txBody>
          <a:bodyPr>
            <a:normAutofit fontScale="92500" lnSpcReduction="10000"/>
          </a:bodyPr>
          <a:lstStyle/>
          <a:p>
            <a:pPr marL="457200" lvl="0" indent="-330200" algn="l" rtl="0">
              <a:spcBef>
                <a:spcPts val="1200"/>
              </a:spcBef>
              <a:spcAft>
                <a:spcPts val="0"/>
              </a:spcAft>
              <a:buClr>
                <a:srgbClr val="000000"/>
              </a:buClr>
              <a:buSzPts val="1600"/>
              <a:buFont typeface="Arial"/>
              <a:buChar char="●"/>
            </a:pPr>
            <a:r>
              <a:rPr lang="en-GB" sz="1600" b="1">
                <a:solidFill>
                  <a:srgbClr val="000000"/>
                </a:solidFill>
                <a:latin typeface="Times New Roman"/>
                <a:ea typeface="Times New Roman"/>
                <a:cs typeface="Times New Roman"/>
                <a:sym typeface="Times New Roman"/>
              </a:rPr>
              <a:t>Address Frame:</a:t>
            </a:r>
            <a:r>
              <a:rPr lang="en-GB" sz="1600">
                <a:solidFill>
                  <a:srgbClr val="000000"/>
                </a:solidFill>
                <a:latin typeface="Times New Roman"/>
                <a:ea typeface="Times New Roman"/>
                <a:cs typeface="Times New Roman"/>
                <a:sym typeface="Times New Roman"/>
              </a:rPr>
              <a:t> </a:t>
            </a:r>
          </a:p>
          <a:p>
            <a:pPr marL="1371600" lvl="2" indent="-330200" algn="just" rtl="0">
              <a:lnSpc>
                <a:spcPct val="100000"/>
              </a:lnSpc>
              <a:spcBef>
                <a:spcPts val="0"/>
              </a:spcBef>
              <a:spcAft>
                <a:spcPts val="0"/>
              </a:spcAft>
              <a:buClr>
                <a:srgbClr val="000000"/>
              </a:buClr>
              <a:buSzPts val="1600"/>
              <a:buFont typeface="Arial"/>
              <a:buChar char="■"/>
            </a:pPr>
            <a:r>
              <a:rPr lang="en-GB" sz="1600">
                <a:solidFill>
                  <a:srgbClr val="000000"/>
                </a:solidFill>
                <a:latin typeface="Times New Roman"/>
                <a:ea typeface="Times New Roman"/>
                <a:cs typeface="Times New Roman"/>
                <a:sym typeface="Times New Roman"/>
              </a:rPr>
              <a:t>A </a:t>
            </a:r>
            <a:r>
              <a:rPr lang="en-GB" sz="1600" b="1">
                <a:solidFill>
                  <a:srgbClr val="000000"/>
                </a:solidFill>
                <a:latin typeface="Times New Roman"/>
                <a:ea typeface="Times New Roman"/>
                <a:cs typeface="Times New Roman"/>
                <a:sym typeface="Times New Roman"/>
              </a:rPr>
              <a:t>7-bit or 10-bit unique sequence</a:t>
            </a:r>
            <a:r>
              <a:rPr lang="en-GB" sz="1600">
                <a:solidFill>
                  <a:srgbClr val="000000"/>
                </a:solidFill>
                <a:latin typeface="Times New Roman"/>
                <a:ea typeface="Times New Roman"/>
                <a:cs typeface="Times New Roman"/>
                <a:sym typeface="Times New Roman"/>
              </a:rPr>
              <a:t> used to identify the slave device when the master wants to communicate with it.</a:t>
            </a:r>
            <a:endParaRPr lang="en-GB" sz="1600" b="1">
              <a:solidFill>
                <a:srgbClr val="000000"/>
              </a:solidFill>
              <a:latin typeface="Times New Roman"/>
              <a:ea typeface="Times New Roman"/>
              <a:cs typeface="Times New Roman"/>
              <a:sym typeface="Times New Roman"/>
            </a:endParaRPr>
          </a:p>
          <a:p>
            <a:pPr marL="457200" lvl="0" indent="-330200" algn="l" rtl="0">
              <a:spcBef>
                <a:spcPts val="0"/>
              </a:spcBef>
              <a:spcAft>
                <a:spcPts val="0"/>
              </a:spcAft>
              <a:buClr>
                <a:srgbClr val="000000"/>
              </a:buClr>
              <a:buSzPts val="1600"/>
              <a:buFont typeface="Times New Roman"/>
              <a:buChar char="●"/>
            </a:pPr>
            <a:r>
              <a:rPr lang="en-GB" sz="1600" b="1">
                <a:solidFill>
                  <a:srgbClr val="000000"/>
                </a:solidFill>
                <a:highlight>
                  <a:srgbClr val="FFFFFF"/>
                </a:highlight>
                <a:latin typeface="Times New Roman"/>
                <a:ea typeface="Times New Roman"/>
                <a:cs typeface="Times New Roman"/>
                <a:sym typeface="Times New Roman"/>
              </a:rPr>
              <a:t>Read/Write Bit</a:t>
            </a:r>
          </a:p>
          <a:p>
            <a:pPr marL="1371600" lvl="2" indent="-330200" algn="just" rtl="0">
              <a:spcBef>
                <a:spcPts val="0"/>
              </a:spcBef>
              <a:spcAft>
                <a:spcPts val="0"/>
              </a:spcAft>
              <a:buClr>
                <a:srgbClr val="000000"/>
              </a:buClr>
              <a:buSzPts val="1600"/>
              <a:buFont typeface="Times New Roman"/>
              <a:buChar char="■"/>
            </a:pPr>
            <a:r>
              <a:rPr lang="en-GB" sz="1600">
                <a:solidFill>
                  <a:srgbClr val="000000"/>
                </a:solidFill>
                <a:highlight>
                  <a:srgbClr val="FFFFFF"/>
                </a:highlight>
                <a:latin typeface="Times New Roman"/>
                <a:ea typeface="Times New Roman"/>
                <a:cs typeface="Times New Roman"/>
                <a:sym typeface="Times New Roman"/>
              </a:rPr>
              <a:t>This bit specifies the direction of data transfer. If the master device/IC need to send data to a slave device, this bit is set to ‘0’. If the master IC needs to receive data from the slave device, it is set to ‘1’</a:t>
            </a:r>
            <a:r>
              <a:rPr lang="en-GB" sz="1600">
                <a:solidFill>
                  <a:srgbClr val="000000"/>
                </a:solidFill>
                <a:latin typeface="Times New Roman"/>
                <a:ea typeface="Times New Roman"/>
                <a:cs typeface="Times New Roman"/>
                <a:sym typeface="Times New Roman"/>
              </a:rPr>
              <a:t>.</a:t>
            </a:r>
            <a:endParaRPr lang="en-GB" sz="1700" b="1">
              <a:solidFill>
                <a:srgbClr val="000000"/>
              </a:solidFill>
              <a:highlight>
                <a:srgbClr val="FFFFFF"/>
              </a:highlight>
              <a:latin typeface="Times New Roman"/>
              <a:ea typeface="Times New Roman"/>
              <a:cs typeface="Times New Roman"/>
              <a:sym typeface="Times New Roman"/>
            </a:endParaRPr>
          </a:p>
          <a:p>
            <a:pPr marL="457200" lvl="0" indent="-349250" algn="l" rtl="0">
              <a:lnSpc>
                <a:spcPct val="100000"/>
              </a:lnSpc>
              <a:spcBef>
                <a:spcPts val="0"/>
              </a:spcBef>
              <a:spcAft>
                <a:spcPts val="0"/>
              </a:spcAft>
              <a:buClr>
                <a:srgbClr val="000000"/>
              </a:buClr>
              <a:buSzPts val="1900"/>
              <a:buFont typeface="Times New Roman"/>
              <a:buChar char="●"/>
            </a:pPr>
            <a:r>
              <a:rPr lang="en-GB" sz="1600" b="1">
                <a:solidFill>
                  <a:srgbClr val="000000"/>
                </a:solidFill>
                <a:highlight>
                  <a:srgbClr val="FFFFFF"/>
                </a:highlight>
                <a:latin typeface="Times New Roman"/>
                <a:ea typeface="Times New Roman"/>
                <a:cs typeface="Times New Roman"/>
                <a:sym typeface="Times New Roman"/>
              </a:rPr>
              <a:t>ACK/NACK Bit</a:t>
            </a:r>
          </a:p>
          <a:p>
            <a:pPr marL="1371600" lvl="2" indent="-336550" algn="l" rtl="0">
              <a:lnSpc>
                <a:spcPct val="100000"/>
              </a:lnSpc>
              <a:spcBef>
                <a:spcPts val="0"/>
              </a:spcBef>
              <a:spcAft>
                <a:spcPts val="0"/>
              </a:spcAft>
              <a:buClr>
                <a:srgbClr val="000000"/>
              </a:buClr>
              <a:buSzPts val="1700"/>
              <a:buFont typeface="Times New Roman"/>
              <a:buChar char="■"/>
            </a:pPr>
            <a:r>
              <a:rPr lang="en-GB" sz="1600">
                <a:solidFill>
                  <a:srgbClr val="000000"/>
                </a:solidFill>
                <a:highlight>
                  <a:srgbClr val="FFFFFF"/>
                </a:highlight>
                <a:latin typeface="Times New Roman"/>
                <a:ea typeface="Times New Roman"/>
                <a:cs typeface="Times New Roman"/>
                <a:sym typeface="Times New Roman"/>
              </a:rPr>
              <a:t>It stands for Acknowledged/Not-Acknowledged bit. If the physical address of any slave device coincides with the address broadcasted by the master device.</a:t>
            </a:r>
          </a:p>
          <a:p>
            <a:pPr marL="1371600" lvl="2" indent="-336550" algn="l" rtl="0">
              <a:lnSpc>
                <a:spcPct val="100000"/>
              </a:lnSpc>
              <a:spcBef>
                <a:spcPts val="0"/>
              </a:spcBef>
              <a:spcAft>
                <a:spcPts val="0"/>
              </a:spcAft>
              <a:buClr>
                <a:srgbClr val="000000"/>
              </a:buClr>
              <a:buSzPts val="1700"/>
              <a:buFont typeface="Times New Roman"/>
              <a:buChar char="■"/>
            </a:pPr>
            <a:r>
              <a:rPr lang="en-GB" sz="1600">
                <a:solidFill>
                  <a:srgbClr val="000000"/>
                </a:solidFill>
                <a:highlight>
                  <a:srgbClr val="FFFFFF"/>
                </a:highlight>
                <a:latin typeface="Times New Roman"/>
                <a:ea typeface="Times New Roman"/>
                <a:cs typeface="Times New Roman"/>
                <a:sym typeface="Times New Roman"/>
              </a:rPr>
              <a:t>The value of this bit is set to ‘0’ by the slave device. Otherwise it remains at logic ‘1’ (default).</a:t>
            </a:r>
            <a:endParaRPr lang="en-GB" b="1">
              <a:solidFill>
                <a:srgbClr val="000000"/>
              </a:solidFill>
              <a:highlight>
                <a:srgbClr val="FFFFFF"/>
              </a:highlight>
              <a:latin typeface="Times New Roman"/>
              <a:ea typeface="Times New Roman"/>
              <a:cs typeface="Times New Roman"/>
              <a:sym typeface="Times New Roman"/>
            </a:endParaRPr>
          </a:p>
          <a:p>
            <a:pPr marL="457200" lvl="0" indent="-330200" algn="l" rtl="0">
              <a:lnSpc>
                <a:spcPct val="115000"/>
              </a:lnSpc>
              <a:spcBef>
                <a:spcPts val="0"/>
              </a:spcBef>
              <a:spcAft>
                <a:spcPts val="0"/>
              </a:spcAft>
              <a:buClr>
                <a:srgbClr val="000000"/>
              </a:buClr>
              <a:buSzPts val="1600"/>
              <a:buFont typeface="Times New Roman"/>
              <a:buChar char="●"/>
            </a:pPr>
            <a:r>
              <a:rPr lang="en-GB" sz="1600" b="1">
                <a:solidFill>
                  <a:srgbClr val="000000"/>
                </a:solidFill>
                <a:highlight>
                  <a:srgbClr val="FFFFFF"/>
                </a:highlight>
                <a:latin typeface="Times New Roman"/>
                <a:ea typeface="Times New Roman"/>
                <a:cs typeface="Times New Roman"/>
                <a:sym typeface="Times New Roman"/>
              </a:rPr>
              <a:t>Data Block</a:t>
            </a:r>
          </a:p>
          <a:p>
            <a:pPr marL="1371600" lvl="2" indent="-330200" algn="l" rtl="0">
              <a:lnSpc>
                <a:spcPct val="115000"/>
              </a:lnSpc>
              <a:spcBef>
                <a:spcPts val="0"/>
              </a:spcBef>
              <a:spcAft>
                <a:spcPts val="0"/>
              </a:spcAft>
              <a:buClr>
                <a:srgbClr val="000000"/>
              </a:buClr>
              <a:buSzPts val="1600"/>
              <a:buFont typeface="Times New Roman"/>
              <a:buChar char="■"/>
            </a:pPr>
            <a:r>
              <a:rPr lang="en-GB" sz="1600">
                <a:solidFill>
                  <a:srgbClr val="000000"/>
                </a:solidFill>
                <a:highlight>
                  <a:srgbClr val="FFFFFF"/>
                </a:highlight>
                <a:latin typeface="Times New Roman"/>
                <a:ea typeface="Times New Roman"/>
                <a:cs typeface="Times New Roman"/>
                <a:sym typeface="Times New Roman"/>
              </a:rPr>
              <a:t>It comprises of 8 bits and they are set by the sender, with the data bits it needs to transfer to the receiver. This block is followed by an ACK/NACK bit and is set to ‘0’ by the receiver if it successfully receives data. Otherwise it stays at logic ‘1’.</a:t>
            </a:r>
          </a:p>
          <a:p>
            <a:pPr marL="457200" lvl="0" indent="0" algn="l" rtl="0">
              <a:lnSpc>
                <a:spcPct val="115000"/>
              </a:lnSpc>
              <a:spcBef>
                <a:spcPts val="1200"/>
              </a:spcBef>
              <a:spcAft>
                <a:spcPts val="0"/>
              </a:spcAft>
              <a:buNone/>
            </a:pPr>
            <a:endParaRPr lang="en-GB" sz="1600">
              <a:solidFill>
                <a:srgbClr val="000000"/>
              </a:solidFill>
              <a:latin typeface="Times New Roman"/>
              <a:ea typeface="Times New Roman"/>
              <a:cs typeface="Times New Roman"/>
              <a:sym typeface="Times New Roman"/>
            </a:endParaRPr>
          </a:p>
          <a:p>
            <a:endParaRPr lang="en-IN"/>
          </a:p>
        </p:txBody>
      </p:sp>
    </p:spTree>
    <p:extLst>
      <p:ext uri="{BB962C8B-B14F-4D97-AF65-F5344CB8AC3E}">
        <p14:creationId xmlns:p14="http://schemas.microsoft.com/office/powerpoint/2010/main" val="1311865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36724-1B77-B916-5739-669E806B618B}"/>
              </a:ext>
            </a:extLst>
          </p:cNvPr>
          <p:cNvSpPr>
            <a:spLocks noGrp="1"/>
          </p:cNvSpPr>
          <p:nvPr>
            <p:ph type="title"/>
          </p:nvPr>
        </p:nvSpPr>
        <p:spPr/>
        <p:txBody>
          <a:bodyPr/>
          <a:lstStyle/>
          <a:p>
            <a:r>
              <a:rPr lang="en-IN"/>
              <a:t>         Advanced Features</a:t>
            </a:r>
          </a:p>
        </p:txBody>
      </p:sp>
      <p:sp>
        <p:nvSpPr>
          <p:cNvPr id="3" name="Content Placeholder 2">
            <a:extLst>
              <a:ext uri="{FF2B5EF4-FFF2-40B4-BE49-F238E27FC236}">
                <a16:creationId xmlns:a16="http://schemas.microsoft.com/office/drawing/2014/main" id="{489EF640-96E5-C7CD-CB8D-0F425EFC9F31}"/>
              </a:ext>
            </a:extLst>
          </p:cNvPr>
          <p:cNvSpPr>
            <a:spLocks noGrp="1"/>
          </p:cNvSpPr>
          <p:nvPr>
            <p:ph idx="1"/>
          </p:nvPr>
        </p:nvSpPr>
        <p:spPr/>
        <p:txBody>
          <a:bodyPr>
            <a:normAutofit fontScale="92500" lnSpcReduction="10000"/>
          </a:bodyPr>
          <a:lstStyle/>
          <a:p>
            <a:pPr marL="0" indent="0">
              <a:buNone/>
            </a:pPr>
            <a:r>
              <a:rPr lang="en-GB" sz="2200"/>
              <a:t>                                      </a:t>
            </a:r>
            <a:r>
              <a:rPr lang="en-GB" sz="2200" b="1"/>
              <a:t>Synchronization</a:t>
            </a:r>
            <a:r>
              <a:rPr lang="en-GB" b="1"/>
              <a:t>:</a:t>
            </a:r>
          </a:p>
          <a:p>
            <a:pPr>
              <a:buFont typeface="Wingdings" panose="05000000000000000000" pitchFamily="2" charset="2"/>
              <a:buChar char="§"/>
            </a:pPr>
            <a:r>
              <a:rPr lang="en-GB"/>
              <a:t>All masters generate their own clock on the SCL line to transfer messages on the I2C-bus. Data is only valid during the HIGH period of the clock. A defined clock is  needed for the bit-by-bit arbitration procedure to take place.</a:t>
            </a:r>
          </a:p>
          <a:p>
            <a:pPr>
              <a:buFont typeface="Wingdings" panose="05000000000000000000" pitchFamily="2" charset="2"/>
              <a:buChar char="§"/>
            </a:pPr>
            <a:r>
              <a:rPr lang="en-GB"/>
              <a:t> Clock synchronization is performed using the wired-AND connection of I2C interfaces to the SCL line. This means that a HIGH to LOW transition on the SCL line will cause the devices concerned to start counting off their LOW period and, once a device clock has gone LOW, it will hold the SCL line in that state until the clock HIGH state is reached .</a:t>
            </a:r>
          </a:p>
          <a:p>
            <a:pPr>
              <a:buFont typeface="Wingdings" panose="05000000000000000000" pitchFamily="2" charset="2"/>
              <a:buChar char="§"/>
            </a:pPr>
            <a:r>
              <a:rPr lang="en-GB"/>
              <a:t> However, the LOW to HIGH transition of this clock may not change the state of the SCL line if another clock is still within its LOW period. The SCL line will therefore be held LOW by the device with the longest LOW period.</a:t>
            </a:r>
          </a:p>
        </p:txBody>
      </p:sp>
    </p:spTree>
    <p:extLst>
      <p:ext uri="{BB962C8B-B14F-4D97-AF65-F5344CB8AC3E}">
        <p14:creationId xmlns:p14="http://schemas.microsoft.com/office/powerpoint/2010/main" val="16776587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C6A45-2679-A55B-5880-2786D182886C}"/>
              </a:ext>
            </a:extLst>
          </p:cNvPr>
          <p:cNvSpPr>
            <a:spLocks noGrp="1"/>
          </p:cNvSpPr>
          <p:nvPr>
            <p:ph type="title"/>
          </p:nvPr>
        </p:nvSpPr>
        <p:spPr/>
        <p:txBody>
          <a:bodyPr/>
          <a:lstStyle/>
          <a:p>
            <a:r>
              <a:rPr lang="en-IN"/>
              <a:t>          Synchronization</a:t>
            </a:r>
          </a:p>
        </p:txBody>
      </p:sp>
      <p:sp>
        <p:nvSpPr>
          <p:cNvPr id="7" name="Content Placeholder 6">
            <a:extLst>
              <a:ext uri="{FF2B5EF4-FFF2-40B4-BE49-F238E27FC236}">
                <a16:creationId xmlns:a16="http://schemas.microsoft.com/office/drawing/2014/main" id="{AF8064A4-0D06-E3DC-4C80-BF2FE1969D98}"/>
              </a:ext>
            </a:extLst>
          </p:cNvPr>
          <p:cNvSpPr>
            <a:spLocks noGrp="1"/>
          </p:cNvSpPr>
          <p:nvPr>
            <p:ph idx="1"/>
          </p:nvPr>
        </p:nvSpPr>
        <p:spPr/>
        <p:txBody>
          <a:bodyPr/>
          <a:lstStyle/>
          <a:p>
            <a:r>
              <a:rPr lang="en-GB"/>
              <a:t>There will then be no difference between the device clocks and the state of the SCL line, and all the devices will start counting their HIGH periods. The first device to complete its HIGH period will again pull the SCL line LOW. </a:t>
            </a:r>
          </a:p>
          <a:p>
            <a:r>
              <a:rPr lang="en-GB"/>
              <a:t>In this way, a synchronized SCL clock is generated with its LOW period determined by the device with the longest clock LOW period, and its HIGH period determined by the one with the shortest clock HIGH period</a:t>
            </a:r>
            <a:endParaRPr lang="en-IN"/>
          </a:p>
        </p:txBody>
      </p:sp>
      <p:pic>
        <p:nvPicPr>
          <p:cNvPr id="9" name="Picture 8">
            <a:extLst>
              <a:ext uri="{FF2B5EF4-FFF2-40B4-BE49-F238E27FC236}">
                <a16:creationId xmlns:a16="http://schemas.microsoft.com/office/drawing/2014/main" id="{04ED7C40-B9AC-DECC-36D7-BC1F080EA4EF}"/>
              </a:ext>
            </a:extLst>
          </p:cNvPr>
          <p:cNvPicPr>
            <a:picLocks noChangeAspect="1"/>
          </p:cNvPicPr>
          <p:nvPr/>
        </p:nvPicPr>
        <p:blipFill>
          <a:blip r:embed="rId2"/>
          <a:stretch>
            <a:fillRect/>
          </a:stretch>
        </p:blipFill>
        <p:spPr>
          <a:xfrm>
            <a:off x="3113343" y="4873544"/>
            <a:ext cx="4010054" cy="1828813"/>
          </a:xfrm>
          <a:prstGeom prst="rect">
            <a:avLst/>
          </a:prstGeom>
        </p:spPr>
      </p:pic>
    </p:spTree>
    <p:extLst>
      <p:ext uri="{BB962C8B-B14F-4D97-AF65-F5344CB8AC3E}">
        <p14:creationId xmlns:p14="http://schemas.microsoft.com/office/powerpoint/2010/main" val="16716466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F89B8-6C48-7E94-ABD7-66DD3F757177}"/>
              </a:ext>
            </a:extLst>
          </p:cNvPr>
          <p:cNvSpPr>
            <a:spLocks noGrp="1"/>
          </p:cNvSpPr>
          <p:nvPr>
            <p:ph type="title"/>
          </p:nvPr>
        </p:nvSpPr>
        <p:spPr/>
        <p:txBody>
          <a:bodyPr/>
          <a:lstStyle/>
          <a:p>
            <a:r>
              <a:rPr lang="en-IN"/>
              <a:t>               Arbitration</a:t>
            </a:r>
          </a:p>
        </p:txBody>
      </p:sp>
      <p:sp>
        <p:nvSpPr>
          <p:cNvPr id="3" name="Content Placeholder 2">
            <a:extLst>
              <a:ext uri="{FF2B5EF4-FFF2-40B4-BE49-F238E27FC236}">
                <a16:creationId xmlns:a16="http://schemas.microsoft.com/office/drawing/2014/main" id="{51F5CCD6-7572-4619-B01D-3D74CF051C8D}"/>
              </a:ext>
            </a:extLst>
          </p:cNvPr>
          <p:cNvSpPr>
            <a:spLocks noGrp="1"/>
          </p:cNvSpPr>
          <p:nvPr>
            <p:ph idx="1"/>
          </p:nvPr>
        </p:nvSpPr>
        <p:spPr/>
        <p:txBody>
          <a:bodyPr/>
          <a:lstStyle/>
          <a:p>
            <a:pPr marL="457200" lvl="0" indent="-342900" algn="l" rtl="0">
              <a:spcBef>
                <a:spcPts val="1400"/>
              </a:spcBef>
              <a:spcAft>
                <a:spcPts val="0"/>
              </a:spcAft>
              <a:buClr>
                <a:srgbClr val="000000"/>
              </a:buClr>
              <a:buSzPts val="1800"/>
              <a:buFont typeface="Arial"/>
              <a:buChar char="●"/>
            </a:pPr>
            <a:r>
              <a:rPr lang="en-GB" sz="1600" b="1">
                <a:solidFill>
                  <a:srgbClr val="000000"/>
                </a:solidFill>
                <a:latin typeface="Arial"/>
                <a:ea typeface="Arial"/>
                <a:cs typeface="Arial"/>
                <a:sym typeface="Arial"/>
              </a:rPr>
              <a:t>Multi-Master Arbitration</a:t>
            </a:r>
          </a:p>
          <a:p>
            <a:pPr marL="1371600" lvl="2" indent="-374650" algn="just" rtl="0">
              <a:spcBef>
                <a:spcPts val="0"/>
              </a:spcBef>
              <a:spcAft>
                <a:spcPts val="0"/>
              </a:spcAft>
              <a:buClr>
                <a:srgbClr val="000000"/>
              </a:buClr>
              <a:buSzPts val="2300"/>
              <a:buFont typeface="Times New Roman"/>
              <a:buChar char="■"/>
            </a:pPr>
            <a:r>
              <a:rPr lang="en-GB" sz="1600">
                <a:solidFill>
                  <a:srgbClr val="000000"/>
                </a:solidFill>
                <a:latin typeface="Times New Roman"/>
                <a:ea typeface="Times New Roman"/>
                <a:cs typeface="Times New Roman"/>
                <a:sym typeface="Times New Roman"/>
              </a:rPr>
              <a:t>I2C supports multi-master configurations, allowing multiple master devices to share the bus. Collision detection and resolution mechanisms ensure that data integrity is maintained during simultaneous access attempts.</a:t>
            </a:r>
          </a:p>
          <a:p>
            <a:pPr marL="0" indent="0">
              <a:buNone/>
            </a:pPr>
            <a:endParaRPr lang="en-IN"/>
          </a:p>
        </p:txBody>
      </p:sp>
      <p:pic>
        <p:nvPicPr>
          <p:cNvPr id="5" name="Picture 4">
            <a:extLst>
              <a:ext uri="{FF2B5EF4-FFF2-40B4-BE49-F238E27FC236}">
                <a16:creationId xmlns:a16="http://schemas.microsoft.com/office/drawing/2014/main" id="{B490E71E-A1DB-EAAD-7751-2098860A4D48}"/>
              </a:ext>
            </a:extLst>
          </p:cNvPr>
          <p:cNvPicPr>
            <a:picLocks noChangeAspect="1"/>
          </p:cNvPicPr>
          <p:nvPr/>
        </p:nvPicPr>
        <p:blipFill>
          <a:blip r:embed="rId2"/>
          <a:stretch>
            <a:fillRect/>
          </a:stretch>
        </p:blipFill>
        <p:spPr>
          <a:xfrm>
            <a:off x="2085246" y="3805735"/>
            <a:ext cx="6365855" cy="2495568"/>
          </a:xfrm>
          <a:prstGeom prst="rect">
            <a:avLst/>
          </a:prstGeom>
        </p:spPr>
      </p:pic>
    </p:spTree>
    <p:extLst>
      <p:ext uri="{BB962C8B-B14F-4D97-AF65-F5344CB8AC3E}">
        <p14:creationId xmlns:p14="http://schemas.microsoft.com/office/powerpoint/2010/main" val="6129945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B5B67-D5DD-D970-4519-723AB2142F3B}"/>
              </a:ext>
            </a:extLst>
          </p:cNvPr>
          <p:cNvSpPr>
            <a:spLocks noGrp="1"/>
          </p:cNvSpPr>
          <p:nvPr>
            <p:ph type="title"/>
          </p:nvPr>
        </p:nvSpPr>
        <p:spPr/>
        <p:txBody>
          <a:bodyPr/>
          <a:lstStyle/>
          <a:p>
            <a:r>
              <a:rPr lang="en-IN"/>
              <a:t>   </a:t>
            </a:r>
            <a:r>
              <a:rPr lang="en-IN" err="1"/>
              <a:t>Advantages&amp;Disadvantages</a:t>
            </a:r>
            <a:endParaRPr lang="en-IN"/>
          </a:p>
        </p:txBody>
      </p:sp>
      <p:sp>
        <p:nvSpPr>
          <p:cNvPr id="3" name="Content Placeholder 2">
            <a:extLst>
              <a:ext uri="{FF2B5EF4-FFF2-40B4-BE49-F238E27FC236}">
                <a16:creationId xmlns:a16="http://schemas.microsoft.com/office/drawing/2014/main" id="{AEDD1CE2-77B4-ADAF-88AD-CA1760B1BEFF}"/>
              </a:ext>
            </a:extLst>
          </p:cNvPr>
          <p:cNvSpPr>
            <a:spLocks noGrp="1"/>
          </p:cNvSpPr>
          <p:nvPr>
            <p:ph idx="1"/>
          </p:nvPr>
        </p:nvSpPr>
        <p:spPr/>
        <p:txBody>
          <a:bodyPr>
            <a:normAutofit fontScale="92500" lnSpcReduction="10000"/>
          </a:bodyPr>
          <a:lstStyle/>
          <a:p>
            <a:pPr marL="0" lvl="0" indent="0" algn="l" rtl="0">
              <a:lnSpc>
                <a:spcPct val="130000"/>
              </a:lnSpc>
              <a:spcBef>
                <a:spcPts val="0"/>
              </a:spcBef>
              <a:spcAft>
                <a:spcPts val="0"/>
              </a:spcAft>
              <a:buNone/>
            </a:pPr>
            <a:r>
              <a:rPr lang="en-GB" b="1">
                <a:solidFill>
                  <a:srgbClr val="3A3A3A"/>
                </a:solidFill>
                <a:highlight>
                  <a:srgbClr val="FFFFFF"/>
                </a:highlight>
                <a:latin typeface="Times New Roman"/>
                <a:ea typeface="Times New Roman"/>
                <a:cs typeface="Times New Roman"/>
                <a:sym typeface="Times New Roman"/>
              </a:rPr>
              <a:t>Advantages</a:t>
            </a:r>
          </a:p>
          <a:p>
            <a:pPr marL="1028700" lvl="0" indent="-342900" algn="l" rtl="0">
              <a:spcBef>
                <a:spcPts val="0"/>
              </a:spcBef>
              <a:spcAft>
                <a:spcPts val="0"/>
              </a:spcAft>
              <a:buClr>
                <a:srgbClr val="4B4F58"/>
              </a:buClr>
              <a:buSzPts val="1800"/>
              <a:buFont typeface="Times New Roman"/>
              <a:buChar char="●"/>
            </a:pPr>
            <a:r>
              <a:rPr lang="en-GB">
                <a:solidFill>
                  <a:srgbClr val="4B4F58"/>
                </a:solidFill>
                <a:highlight>
                  <a:schemeClr val="lt1"/>
                </a:highlight>
                <a:latin typeface="Times New Roman"/>
                <a:ea typeface="Times New Roman"/>
                <a:cs typeface="Times New Roman"/>
                <a:sym typeface="Times New Roman"/>
              </a:rPr>
              <a:t>Only uses two wires</a:t>
            </a:r>
          </a:p>
          <a:p>
            <a:pPr marL="1028700" lvl="0" indent="-342900" algn="l" rtl="0">
              <a:spcBef>
                <a:spcPts val="0"/>
              </a:spcBef>
              <a:spcAft>
                <a:spcPts val="0"/>
              </a:spcAft>
              <a:buClr>
                <a:srgbClr val="4B4F58"/>
              </a:buClr>
              <a:buSzPts val="1800"/>
              <a:buFont typeface="Times New Roman"/>
              <a:buChar char="●"/>
            </a:pPr>
            <a:r>
              <a:rPr lang="en-GB">
                <a:solidFill>
                  <a:srgbClr val="4B4F58"/>
                </a:solidFill>
                <a:highlight>
                  <a:schemeClr val="lt1"/>
                </a:highlight>
                <a:latin typeface="Times New Roman"/>
                <a:ea typeface="Times New Roman"/>
                <a:cs typeface="Times New Roman"/>
                <a:sym typeface="Times New Roman"/>
              </a:rPr>
              <a:t>Supports multiple masters and multiple slaves</a:t>
            </a:r>
          </a:p>
          <a:p>
            <a:pPr marL="1028700" lvl="0" indent="-342900" algn="l" rtl="0">
              <a:spcBef>
                <a:spcPts val="0"/>
              </a:spcBef>
              <a:spcAft>
                <a:spcPts val="0"/>
              </a:spcAft>
              <a:buClr>
                <a:srgbClr val="4B4F58"/>
              </a:buClr>
              <a:buSzPts val="1800"/>
              <a:buFont typeface="Times New Roman"/>
              <a:buChar char="●"/>
            </a:pPr>
            <a:r>
              <a:rPr lang="en-GB">
                <a:solidFill>
                  <a:srgbClr val="4B4F58"/>
                </a:solidFill>
                <a:highlight>
                  <a:schemeClr val="lt1"/>
                </a:highlight>
                <a:latin typeface="Times New Roman"/>
                <a:ea typeface="Times New Roman"/>
                <a:cs typeface="Times New Roman"/>
                <a:sym typeface="Times New Roman"/>
              </a:rPr>
              <a:t>ACK/NACK bit gives confirmation that each frame is transferred successfully</a:t>
            </a:r>
          </a:p>
          <a:p>
            <a:pPr marL="1028700" lvl="0" indent="-342900" algn="l" rtl="0">
              <a:spcBef>
                <a:spcPts val="0"/>
              </a:spcBef>
              <a:spcAft>
                <a:spcPts val="0"/>
              </a:spcAft>
              <a:buClr>
                <a:srgbClr val="4B4F58"/>
              </a:buClr>
              <a:buSzPts val="1800"/>
              <a:buFont typeface="Times New Roman"/>
              <a:buChar char="●"/>
            </a:pPr>
            <a:r>
              <a:rPr lang="en-GB">
                <a:solidFill>
                  <a:srgbClr val="4B4F58"/>
                </a:solidFill>
                <a:highlight>
                  <a:schemeClr val="lt1"/>
                </a:highlight>
                <a:latin typeface="Times New Roman"/>
                <a:ea typeface="Times New Roman"/>
                <a:cs typeface="Times New Roman"/>
                <a:sym typeface="Times New Roman"/>
              </a:rPr>
              <a:t>Hardware is less complicated </a:t>
            </a:r>
          </a:p>
          <a:p>
            <a:pPr marL="1028700" lvl="0" indent="-323850" algn="l" rtl="0">
              <a:spcBef>
                <a:spcPts val="0"/>
              </a:spcBef>
              <a:spcAft>
                <a:spcPts val="0"/>
              </a:spcAft>
              <a:buClr>
                <a:srgbClr val="4B4F58"/>
              </a:buClr>
              <a:buSzPts val="1500"/>
              <a:buFont typeface="Times New Roman"/>
              <a:buChar char="●"/>
            </a:pPr>
            <a:r>
              <a:rPr lang="en-GB">
                <a:solidFill>
                  <a:srgbClr val="4B4F58"/>
                </a:solidFill>
                <a:highlight>
                  <a:schemeClr val="lt1"/>
                </a:highlight>
                <a:latin typeface="Times New Roman"/>
                <a:ea typeface="Times New Roman"/>
                <a:cs typeface="Times New Roman"/>
                <a:sym typeface="Times New Roman"/>
              </a:rPr>
              <a:t>Well known and widely used protocol</a:t>
            </a:r>
          </a:p>
          <a:p>
            <a:pPr marL="1028700" lvl="0" indent="-342900" algn="l" rtl="0">
              <a:lnSpc>
                <a:spcPct val="100000"/>
              </a:lnSpc>
              <a:spcBef>
                <a:spcPts val="0"/>
              </a:spcBef>
              <a:spcAft>
                <a:spcPts val="0"/>
              </a:spcAft>
              <a:buClr>
                <a:srgbClr val="4B4F58"/>
              </a:buClr>
              <a:buSzPts val="1800"/>
              <a:buFont typeface="Times New Roman"/>
              <a:buChar char="●"/>
            </a:pPr>
            <a:r>
              <a:rPr lang="en-GB">
                <a:solidFill>
                  <a:srgbClr val="000000"/>
                </a:solidFill>
                <a:highlight>
                  <a:schemeClr val="lt1"/>
                </a:highlight>
                <a:latin typeface="Times New Roman"/>
                <a:ea typeface="Times New Roman"/>
                <a:cs typeface="Times New Roman"/>
                <a:sym typeface="Times New Roman"/>
              </a:rPr>
              <a:t>Error Detection</a:t>
            </a:r>
            <a:endParaRPr lang="en-GB" b="1">
              <a:solidFill>
                <a:srgbClr val="3A3A3A"/>
              </a:solidFill>
              <a:highlight>
                <a:srgbClr val="FFFFFF"/>
              </a:highlight>
              <a:latin typeface="Times New Roman"/>
              <a:ea typeface="Times New Roman"/>
              <a:cs typeface="Times New Roman"/>
              <a:sym typeface="Times New Roman"/>
            </a:endParaRPr>
          </a:p>
          <a:p>
            <a:pPr marL="0" lvl="0" indent="0" algn="l" rtl="0">
              <a:lnSpc>
                <a:spcPct val="100000"/>
              </a:lnSpc>
              <a:spcBef>
                <a:spcPts val="2300"/>
              </a:spcBef>
              <a:spcAft>
                <a:spcPts val="0"/>
              </a:spcAft>
              <a:buNone/>
            </a:pPr>
            <a:r>
              <a:rPr lang="en-GB" b="1">
                <a:solidFill>
                  <a:srgbClr val="3A3A3A"/>
                </a:solidFill>
                <a:highlight>
                  <a:srgbClr val="FFFFFF"/>
                </a:highlight>
                <a:latin typeface="Times New Roman"/>
                <a:ea typeface="Times New Roman"/>
                <a:cs typeface="Times New Roman"/>
                <a:sym typeface="Times New Roman"/>
              </a:rPr>
              <a:t>Disadvantages</a:t>
            </a:r>
          </a:p>
          <a:p>
            <a:pPr marL="1028700" lvl="0" indent="-342900" algn="l" rtl="0">
              <a:lnSpc>
                <a:spcPct val="100000"/>
              </a:lnSpc>
              <a:spcBef>
                <a:spcPts val="2300"/>
              </a:spcBef>
              <a:spcAft>
                <a:spcPts val="0"/>
              </a:spcAft>
              <a:buClr>
                <a:srgbClr val="4B4F58"/>
              </a:buClr>
              <a:buSzPts val="1800"/>
              <a:buFont typeface="Times New Roman"/>
              <a:buChar char="●"/>
            </a:pPr>
            <a:r>
              <a:rPr lang="en-GB">
                <a:solidFill>
                  <a:srgbClr val="4B4F58"/>
                </a:solidFill>
                <a:highlight>
                  <a:srgbClr val="FFFFFF"/>
                </a:highlight>
                <a:latin typeface="Times New Roman"/>
                <a:ea typeface="Times New Roman"/>
                <a:cs typeface="Times New Roman"/>
                <a:sym typeface="Times New Roman"/>
              </a:rPr>
              <a:t>Slower data transfer rate than SPI</a:t>
            </a:r>
          </a:p>
          <a:p>
            <a:pPr marL="1028700" lvl="0" indent="-342900" algn="l" rtl="0">
              <a:spcBef>
                <a:spcPts val="0"/>
              </a:spcBef>
              <a:spcAft>
                <a:spcPts val="0"/>
              </a:spcAft>
              <a:buClr>
                <a:srgbClr val="4B4F58"/>
              </a:buClr>
              <a:buSzPts val="1800"/>
              <a:buFont typeface="Times New Roman"/>
              <a:buChar char="●"/>
            </a:pPr>
            <a:r>
              <a:rPr lang="en-GB">
                <a:solidFill>
                  <a:srgbClr val="4B4F58"/>
                </a:solidFill>
                <a:highlight>
                  <a:srgbClr val="FFFFFF"/>
                </a:highlight>
                <a:latin typeface="Times New Roman"/>
                <a:ea typeface="Times New Roman"/>
                <a:cs typeface="Times New Roman"/>
                <a:sym typeface="Times New Roman"/>
              </a:rPr>
              <a:t>The size of the data frame is limited to 8 bits</a:t>
            </a:r>
          </a:p>
          <a:p>
            <a:pPr marL="1028700" lvl="0" indent="-342900" algn="l" rtl="0">
              <a:spcBef>
                <a:spcPts val="0"/>
              </a:spcBef>
              <a:spcAft>
                <a:spcPts val="0"/>
              </a:spcAft>
              <a:buClr>
                <a:srgbClr val="4B4F58"/>
              </a:buClr>
              <a:buSzPts val="1800"/>
              <a:buFont typeface="Times New Roman"/>
              <a:buChar char="●"/>
            </a:pPr>
            <a:r>
              <a:rPr lang="en-GB">
                <a:solidFill>
                  <a:srgbClr val="4B4F58"/>
                </a:solidFill>
                <a:highlight>
                  <a:srgbClr val="FFFFFF"/>
                </a:highlight>
                <a:latin typeface="Times New Roman"/>
                <a:ea typeface="Times New Roman"/>
                <a:cs typeface="Times New Roman"/>
                <a:sym typeface="Times New Roman"/>
              </a:rPr>
              <a:t>More complicated hardware needed to implement than SPI</a:t>
            </a:r>
          </a:p>
          <a:p>
            <a:pPr marL="0" lvl="0" indent="0" algn="l" rtl="0">
              <a:spcBef>
                <a:spcPts val="2300"/>
              </a:spcBef>
              <a:spcAft>
                <a:spcPts val="0"/>
              </a:spcAft>
              <a:buNone/>
            </a:pPr>
            <a:endParaRPr lang="en-GB" sz="1600" b="1">
              <a:solidFill>
                <a:srgbClr val="000000"/>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lang="en-GB" sz="1600">
              <a:solidFill>
                <a:srgbClr val="000000"/>
              </a:solidFill>
              <a:latin typeface="Times New Roman"/>
              <a:ea typeface="Times New Roman"/>
              <a:cs typeface="Times New Roman"/>
              <a:sym typeface="Times New Roman"/>
            </a:endParaRPr>
          </a:p>
          <a:p>
            <a:pPr marL="0" lvl="0" indent="0" algn="l" rtl="0">
              <a:lnSpc>
                <a:spcPct val="100000"/>
              </a:lnSpc>
              <a:spcBef>
                <a:spcPts val="1200"/>
              </a:spcBef>
              <a:spcAft>
                <a:spcPts val="0"/>
              </a:spcAft>
              <a:buNone/>
            </a:pPr>
            <a:endParaRPr lang="en-GB" sz="1300">
              <a:solidFill>
                <a:srgbClr val="000000"/>
              </a:solidFill>
              <a:highlight>
                <a:srgbClr val="FFFFFF"/>
              </a:highlight>
            </a:endParaRPr>
          </a:p>
          <a:p>
            <a:pPr marL="0" lvl="0" indent="0" algn="just" rtl="0">
              <a:lnSpc>
                <a:spcPct val="100000"/>
              </a:lnSpc>
              <a:spcBef>
                <a:spcPts val="1200"/>
              </a:spcBef>
              <a:spcAft>
                <a:spcPts val="0"/>
              </a:spcAft>
              <a:buNone/>
            </a:pPr>
            <a:endParaRPr lang="en-GB" sz="1600">
              <a:solidFill>
                <a:srgbClr val="000000"/>
              </a:solidFill>
              <a:latin typeface="Times New Roman"/>
              <a:ea typeface="Times New Roman"/>
              <a:cs typeface="Times New Roman"/>
              <a:sym typeface="Times New Roman"/>
            </a:endParaRPr>
          </a:p>
          <a:p>
            <a:pPr marL="0" lvl="0" indent="0" algn="just" rtl="0">
              <a:lnSpc>
                <a:spcPct val="115000"/>
              </a:lnSpc>
              <a:spcBef>
                <a:spcPts val="1200"/>
              </a:spcBef>
              <a:spcAft>
                <a:spcPts val="0"/>
              </a:spcAft>
              <a:buNone/>
            </a:pPr>
            <a:endParaRPr lang="en-GB" sz="1600">
              <a:solidFill>
                <a:srgbClr val="000000"/>
              </a:solidFill>
              <a:latin typeface="Times New Roman"/>
              <a:ea typeface="Times New Roman"/>
              <a:cs typeface="Times New Roman"/>
              <a:sym typeface="Times New Roman"/>
            </a:endParaRPr>
          </a:p>
          <a:p>
            <a:pPr marL="457200" lvl="0" indent="0" algn="just" rtl="0">
              <a:lnSpc>
                <a:spcPct val="115000"/>
              </a:lnSpc>
              <a:spcBef>
                <a:spcPts val="200"/>
              </a:spcBef>
              <a:spcAft>
                <a:spcPts val="0"/>
              </a:spcAft>
              <a:buNone/>
            </a:pPr>
            <a:endParaRPr lang="en-GB">
              <a:solidFill>
                <a:srgbClr val="000000"/>
              </a:solidFill>
              <a:highlight>
                <a:srgbClr val="FFFFFF"/>
              </a:highlight>
              <a:latin typeface="Times New Roman"/>
              <a:ea typeface="Times New Roman"/>
              <a:cs typeface="Times New Roman"/>
              <a:sym typeface="Times New Roman"/>
            </a:endParaRPr>
          </a:p>
          <a:p>
            <a:pPr marL="0" lvl="0" indent="0" algn="just" rtl="0">
              <a:lnSpc>
                <a:spcPct val="115000"/>
              </a:lnSpc>
              <a:spcBef>
                <a:spcPts val="3000"/>
              </a:spcBef>
              <a:spcAft>
                <a:spcPts val="3000"/>
              </a:spcAft>
              <a:buNone/>
            </a:pPr>
            <a:endParaRPr lang="en-GB">
              <a:solidFill>
                <a:srgbClr val="202122"/>
              </a:solidFill>
              <a:highlight>
                <a:srgbClr val="FFFFFF"/>
              </a:highlight>
              <a:latin typeface="Times New Roman"/>
              <a:ea typeface="Times New Roman"/>
              <a:cs typeface="Times New Roman"/>
              <a:sym typeface="Times New Roman"/>
            </a:endParaRPr>
          </a:p>
          <a:p>
            <a:endParaRPr lang="en-IN"/>
          </a:p>
        </p:txBody>
      </p:sp>
    </p:spTree>
    <p:extLst>
      <p:ext uri="{BB962C8B-B14F-4D97-AF65-F5344CB8AC3E}">
        <p14:creationId xmlns:p14="http://schemas.microsoft.com/office/powerpoint/2010/main" val="25505423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2CD50-51EF-FCD8-3E19-15AEA4185E5D}"/>
              </a:ext>
            </a:extLst>
          </p:cNvPr>
          <p:cNvSpPr>
            <a:spLocks noGrp="1"/>
          </p:cNvSpPr>
          <p:nvPr>
            <p:ph type="title"/>
          </p:nvPr>
        </p:nvSpPr>
        <p:spPr/>
        <p:txBody>
          <a:bodyPr/>
          <a:lstStyle/>
          <a:p>
            <a:br>
              <a:rPr lang="en-IN"/>
            </a:br>
            <a:br>
              <a:rPr lang="en-IN"/>
            </a:br>
            <a:br>
              <a:rPr lang="en-IN"/>
            </a:br>
            <a:br>
              <a:rPr lang="en-IN"/>
            </a:br>
            <a:br>
              <a:rPr lang="en-IN"/>
            </a:br>
            <a:br>
              <a:rPr lang="en-IN"/>
            </a:br>
            <a:endParaRPr lang="en-IN"/>
          </a:p>
        </p:txBody>
      </p:sp>
      <p:pic>
        <p:nvPicPr>
          <p:cNvPr id="4" name="Picture 6" descr="Business Thank-You Letter Examples">
            <a:extLst>
              <a:ext uri="{FF2B5EF4-FFF2-40B4-BE49-F238E27FC236}">
                <a16:creationId xmlns:a16="http://schemas.microsoft.com/office/drawing/2014/main" id="{0B5940F7-035A-34E2-7537-2E5A3A89A9E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05931" y="2603500"/>
            <a:ext cx="5124450" cy="3416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825732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TM02900722[[fn=Ion Boardroom]]</Template>
  <TotalTime>0</TotalTime>
  <Words>1541</Words>
  <Application>Microsoft Office PowerPoint</Application>
  <PresentationFormat>Widescreen</PresentationFormat>
  <Paragraphs>114</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Century Gothic</vt:lpstr>
      <vt:lpstr>Courier New</vt:lpstr>
      <vt:lpstr>Times New Roman</vt:lpstr>
      <vt:lpstr>Wingdings</vt:lpstr>
      <vt:lpstr>Wingdings 3</vt:lpstr>
      <vt:lpstr>Ion Boardroom</vt:lpstr>
      <vt:lpstr>I2C PROTOCOL</vt:lpstr>
      <vt:lpstr>            INTRODUCTION</vt:lpstr>
      <vt:lpstr>               WHY I2C</vt:lpstr>
      <vt:lpstr>     </vt:lpstr>
      <vt:lpstr>              I2C Signals</vt:lpstr>
      <vt:lpstr>              Operating modes </vt:lpstr>
      <vt:lpstr>           Transferring Data</vt:lpstr>
      <vt:lpstr>      </vt:lpstr>
      <vt:lpstr>         Acknowledgement Format </vt:lpstr>
      <vt:lpstr>           Acknowledge on I2C</vt:lpstr>
      <vt:lpstr>                Working of I2C</vt:lpstr>
      <vt:lpstr>              Data Frame of I2C</vt:lpstr>
      <vt:lpstr>       </vt:lpstr>
      <vt:lpstr>         Advanced Features</vt:lpstr>
      <vt:lpstr>          Synchronization</vt:lpstr>
      <vt:lpstr>               Arbitration</vt:lpstr>
      <vt:lpstr>   Advantages&amp;Disadvantages</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I2C PROTOCOL</dc:title>
  <dc:creator>Penchala Narayana Reddy Kadapana</dc:creator>
  <cp:lastModifiedBy>sravanthi vennapusa</cp:lastModifiedBy>
  <cp:revision>2</cp:revision>
  <dcterms:created xsi:type="dcterms:W3CDTF">2026-01-13T09:27:41Z</dcterms:created>
  <dcterms:modified xsi:type="dcterms:W3CDTF">2026-01-22T11:11:13Z</dcterms:modified>
</cp:coreProperties>
</file>