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544" r:id="rId7"/>
    <p:sldId id="555" r:id="rId8"/>
    <p:sldId id="556" r:id="rId9"/>
    <p:sldId id="32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89" d="100"/>
          <a:sy n="89" d="100"/>
        </p:scale>
        <p:origin x="19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558" y="729469"/>
            <a:ext cx="9014348" cy="2402006"/>
          </a:xfrm>
        </p:spPr>
        <p:txBody>
          <a:bodyPr anchor="b">
            <a:normAutofit/>
          </a:bodyPr>
          <a:lstStyle/>
          <a:p>
            <a:r>
              <a:rPr lang="en-US" sz="4800" dirty="0"/>
              <a:t>Control &amp; Datapath in SoC IFC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54852" y="4869375"/>
            <a:ext cx="3827986" cy="1020664"/>
          </a:xfrm>
        </p:spPr>
        <p:txBody>
          <a:bodyPr anchor="ctr">
            <a:normAutofit fontScale="700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V.SRAVANTHI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DESIGN ENGINEER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35B5-1EF0-7F98-DE21-64AEB358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Control Path in SoC IFC</a:t>
            </a:r>
          </a:p>
          <a:p>
            <a:r>
              <a:rPr lang="en-US" dirty="0">
                <a:ea typeface="+mn-lt"/>
                <a:cs typeface="+mn-lt"/>
              </a:rPr>
              <a:t>Datapath in SoC IFC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32F6C-B7EE-A57C-0B32-A168B30F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053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AF651-34D8-CB23-9728-B361B871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891860-9D3A-06A2-9951-0CE21AA996F8}"/>
              </a:ext>
            </a:extLst>
          </p:cNvPr>
          <p:cNvSpPr/>
          <p:nvPr/>
        </p:nvSpPr>
        <p:spPr>
          <a:xfrm>
            <a:off x="362311" y="232913"/>
            <a:ext cx="2372264" cy="159589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Clock &amp; Reset Control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clk_cg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soc_ifc_clk_cg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rdc_clk_cg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cptra_pwrgood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cptra_rst_b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A8267-47B6-F21D-A8EB-8D39FE3BB6DE}"/>
              </a:ext>
            </a:extLst>
          </p:cNvPr>
          <p:cNvSpPr/>
          <p:nvPr/>
        </p:nvSpPr>
        <p:spPr>
          <a:xfrm>
            <a:off x="3447691" y="232913"/>
            <a:ext cx="2021456" cy="15958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Boot FSM Control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ready_for_fuses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boot_fsm_ps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cptra_noncore_rst_b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cptra_uc_rst_b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iccm_unlock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9ACBC-0B7C-4E96-EA3D-48C12E46A13E}"/>
              </a:ext>
            </a:extLst>
          </p:cNvPr>
          <p:cNvSpPr/>
          <p:nvPr/>
        </p:nvSpPr>
        <p:spPr>
          <a:xfrm>
            <a:off x="6533072" y="232913"/>
            <a:ext cx="1897812" cy="1595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AXI4 Slave Interface Control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soc_req_dv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soc_req_hold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soc_req_error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FDE66-0810-D33E-C232-046BE3D36B27}"/>
              </a:ext>
            </a:extLst>
          </p:cNvPr>
          <p:cNvSpPr/>
          <p:nvPr/>
        </p:nvSpPr>
        <p:spPr>
          <a:xfrm>
            <a:off x="9385539" y="232913"/>
            <a:ext cx="1968261" cy="15958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AHB-Lite Slave    Interface Control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uc_req_dv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uc_req_hold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uc_req_error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6EF49D-17BD-0A85-B24B-EBD74D8BDA8D}"/>
              </a:ext>
            </a:extLst>
          </p:cNvPr>
          <p:cNvSpPr/>
          <p:nvPr/>
        </p:nvSpPr>
        <p:spPr>
          <a:xfrm>
            <a:off x="498888" y="4764836"/>
            <a:ext cx="3269411" cy="1756913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Debug Control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BootFSM_BrkPoint_valid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BootFSM_BrkPoint_Latched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cptra_ss_debug_intent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cptra_uncore_dmi_locked_reg_en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cptra_uncore_dmi_unlocked_reg_en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1E515F-78DE-298E-A138-6FDA56B6EF27}"/>
              </a:ext>
            </a:extLst>
          </p:cNvPr>
          <p:cNvSpPr/>
          <p:nvPr/>
        </p:nvSpPr>
        <p:spPr>
          <a:xfrm>
            <a:off x="4068608" y="4525959"/>
            <a:ext cx="3545639" cy="225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Fuse &amp; Lock Control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fuse_done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fuse_wr_done_reg_write_observed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CPTRA_FUSE_WR_DONE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CPTRA_CAP_LOCK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CPTRA_OWNER_PK_HASH_LOCK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stable_owner_key_en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ss_ocp_lock_in_progress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90264F-F94B-547B-9598-A8EC005938E4}"/>
              </a:ext>
            </a:extLst>
          </p:cNvPr>
          <p:cNvSpPr/>
          <p:nvPr/>
        </p:nvSpPr>
        <p:spPr>
          <a:xfrm>
            <a:off x="8009983" y="4770497"/>
            <a:ext cx="2948081" cy="17684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Security Control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valid_mbox_users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valid_trng_user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valid_fuse_user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valid_sha_user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security_state.debug_locked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scan_mode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9D617-4436-6001-459A-412DD89462C5}"/>
              </a:ext>
            </a:extLst>
          </p:cNvPr>
          <p:cNvSpPr/>
          <p:nvPr/>
        </p:nvSpPr>
        <p:spPr>
          <a:xfrm>
            <a:off x="7614247" y="2332041"/>
            <a:ext cx="2455638" cy="1981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Arbitration Control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mbox_req_dv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mbox_req_hold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sha_req_dv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sha_req_hold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dma_reg_req_dv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dma_reg_req_hold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soc_ifc_reg_req_dv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soc_ifc_reg_req_hold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740D7-D146-2295-7844-1F76D9A29CBF}"/>
              </a:ext>
            </a:extLst>
          </p:cNvPr>
          <p:cNvSpPr/>
          <p:nvPr/>
        </p:nvSpPr>
        <p:spPr>
          <a:xfrm>
            <a:off x="431322" y="2096189"/>
            <a:ext cx="3407433" cy="210041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 Control Signals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soc_ifc_error_intr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soc_ifc_notif_intr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nmi_intr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t1_timeout_p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t2_timeout_p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8307BD-94BB-F502-1C0B-4F66BAD2E46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734575" y="1030859"/>
            <a:ext cx="713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8A5C4F-6CAD-3027-058F-230DC959C01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469147" y="1030859"/>
            <a:ext cx="1063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89F54D-FADC-2269-E351-D68B20B9442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430884" y="1030859"/>
            <a:ext cx="9546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607EBD5-965B-2E33-016D-2DE2D829472A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16200000" flipH="1">
            <a:off x="7910404" y="1400379"/>
            <a:ext cx="503236" cy="136008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6737B48-BE52-5B64-9C93-E21E5593E88E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9354250" y="1316621"/>
            <a:ext cx="503236" cy="152760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883FFC-4145-8677-BFE7-C4FCE635810E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7614247" y="5654704"/>
            <a:ext cx="395736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2AB56E-4601-DE48-53B5-14F2A0147116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 flipV="1">
            <a:off x="3768299" y="5643293"/>
            <a:ext cx="300309" cy="1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3D0529-43F0-D860-8816-5D6969283ED1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flipV="1">
            <a:off x="2133594" y="4196601"/>
            <a:ext cx="1445" cy="5682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0502D74-9F4A-1B80-27B9-5E897793D9E7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 rot="16200000" flipH="1">
            <a:off x="8934398" y="4220870"/>
            <a:ext cx="457295" cy="64195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D71DF92-4AB0-2683-1C13-1B84C3AD09C4}"/>
              </a:ext>
            </a:extLst>
          </p:cNvPr>
          <p:cNvSpPr txBox="1"/>
          <p:nvPr/>
        </p:nvSpPr>
        <p:spPr>
          <a:xfrm>
            <a:off x="4231759" y="2626751"/>
            <a:ext cx="308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Path in SoC IFC</a:t>
            </a:r>
          </a:p>
        </p:txBody>
      </p:sp>
    </p:spTree>
    <p:extLst>
      <p:ext uri="{BB962C8B-B14F-4D97-AF65-F5344CB8AC3E}">
        <p14:creationId xmlns:p14="http://schemas.microsoft.com/office/powerpoint/2010/main" val="58284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7E45-79F7-FB47-D71F-46A7BFBF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35E6C-02F6-BCC4-2EBA-386C3082A135}"/>
              </a:ext>
            </a:extLst>
          </p:cNvPr>
          <p:cNvSpPr/>
          <p:nvPr/>
        </p:nvSpPr>
        <p:spPr>
          <a:xfrm>
            <a:off x="795067" y="1268082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 Host </a:t>
            </a:r>
          </a:p>
          <a:p>
            <a:pPr algn="ctr"/>
            <a:r>
              <a:rPr lang="en-IN" dirty="0"/>
              <a:t>(AXI)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43CAEC-2581-DD8C-D9D3-BCAD327A11DA}"/>
              </a:ext>
            </a:extLst>
          </p:cNvPr>
          <p:cNvSpPr/>
          <p:nvPr/>
        </p:nvSpPr>
        <p:spPr>
          <a:xfrm>
            <a:off x="795067" y="2242936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Cwtrust uC</a:t>
            </a:r>
          </a:p>
          <a:p>
            <a:pPr algn="ctr"/>
            <a:r>
              <a:rPr lang="en-IN" dirty="0"/>
              <a:t>(AHB Lite)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BF9F8D-AA89-4833-0BAB-FEC6AC2AD9E0}"/>
              </a:ext>
            </a:extLst>
          </p:cNvPr>
          <p:cNvSpPr/>
          <p:nvPr/>
        </p:nvSpPr>
        <p:spPr>
          <a:xfrm>
            <a:off x="3594337" y="1268082"/>
            <a:ext cx="1633272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AXI_SUB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2BECA9-2EA8-099D-E080-371FE2B7EF49}"/>
              </a:ext>
            </a:extLst>
          </p:cNvPr>
          <p:cNvSpPr/>
          <p:nvPr/>
        </p:nvSpPr>
        <p:spPr>
          <a:xfrm>
            <a:off x="3585715" y="2249341"/>
            <a:ext cx="1633272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AHB_SLV_IFC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84AF62-A394-5B24-8229-BD2A50FA244E}"/>
              </a:ext>
            </a:extLst>
          </p:cNvPr>
          <p:cNvSpPr/>
          <p:nvPr/>
        </p:nvSpPr>
        <p:spPr>
          <a:xfrm>
            <a:off x="7837351" y="1332489"/>
            <a:ext cx="2012828" cy="9753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SOC_IFC_ARB </a:t>
            </a:r>
            <a:br>
              <a:rPr lang="en-IN" dirty="0"/>
            </a:br>
            <a:r>
              <a:rPr lang="en-IN" dirty="0"/>
              <a:t>Address Decoder / Mux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00C19F-0A98-B74F-E03C-2A00ED36D81B}"/>
              </a:ext>
            </a:extLst>
          </p:cNvPr>
          <p:cNvSpPr/>
          <p:nvPr/>
        </p:nvSpPr>
        <p:spPr>
          <a:xfrm>
            <a:off x="3585715" y="3634594"/>
            <a:ext cx="1633272" cy="5520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Mailbox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1387BB-B923-828D-FD49-C3D8B345D54C}"/>
              </a:ext>
            </a:extLst>
          </p:cNvPr>
          <p:cNvSpPr/>
          <p:nvPr/>
        </p:nvSpPr>
        <p:spPr>
          <a:xfrm>
            <a:off x="5492154" y="3634594"/>
            <a:ext cx="1633272" cy="55208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SHA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D0F103-4801-EB17-FFF1-6FA9BC2F826C}"/>
              </a:ext>
            </a:extLst>
          </p:cNvPr>
          <p:cNvSpPr/>
          <p:nvPr/>
        </p:nvSpPr>
        <p:spPr>
          <a:xfrm>
            <a:off x="7320952" y="3359801"/>
            <a:ext cx="1895183" cy="8268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Dynamic Memory Access(DMA)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5C3911-55A7-CE63-F419-E71CD17156E0}"/>
              </a:ext>
            </a:extLst>
          </p:cNvPr>
          <p:cNvSpPr/>
          <p:nvPr/>
        </p:nvSpPr>
        <p:spPr>
          <a:xfrm>
            <a:off x="9322277" y="3634594"/>
            <a:ext cx="2012827" cy="552086"/>
          </a:xfrm>
          <a:prstGeom prst="round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Debug Module Interface  (DMI)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F199BE-ADC9-8899-A2F5-CB4FA4D6BF6F}"/>
              </a:ext>
            </a:extLst>
          </p:cNvPr>
          <p:cNvSpPr/>
          <p:nvPr/>
        </p:nvSpPr>
        <p:spPr>
          <a:xfrm>
            <a:off x="1544131" y="3634594"/>
            <a:ext cx="1768417" cy="552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SOC_IFC_REG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BDAD65-3C61-15B2-4732-E978F5FB4B8E}"/>
              </a:ext>
            </a:extLst>
          </p:cNvPr>
          <p:cNvSpPr/>
          <p:nvPr/>
        </p:nvSpPr>
        <p:spPr>
          <a:xfrm>
            <a:off x="1035171" y="4938625"/>
            <a:ext cx="2277377" cy="8583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Functional Regs</a:t>
            </a:r>
            <a:br>
              <a:rPr lang="en-IN" dirty="0"/>
            </a:br>
            <a:r>
              <a:rPr lang="en-IN" dirty="0"/>
              <a:t>Fuse Regs</a:t>
            </a:r>
            <a:br>
              <a:rPr lang="en-IN" dirty="0"/>
            </a:br>
            <a:r>
              <a:rPr lang="en-IN" dirty="0"/>
              <a:t>Security Status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378BD4-342E-28C8-20DC-1F38B9D17320}"/>
              </a:ext>
            </a:extLst>
          </p:cNvPr>
          <p:cNvSpPr/>
          <p:nvPr/>
        </p:nvSpPr>
        <p:spPr>
          <a:xfrm>
            <a:off x="3670543" y="4948704"/>
            <a:ext cx="1768417" cy="5520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Mailbox SRAM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B49E24-3C3D-F53D-B5A4-D41A0122B303}"/>
              </a:ext>
            </a:extLst>
          </p:cNvPr>
          <p:cNvSpPr/>
          <p:nvPr/>
        </p:nvSpPr>
        <p:spPr>
          <a:xfrm>
            <a:off x="5644554" y="4938625"/>
            <a:ext cx="1768417" cy="55208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SHA SRAM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BA9C58-3C73-8DBE-9BB6-73709ACBD432}"/>
              </a:ext>
            </a:extLst>
          </p:cNvPr>
          <p:cNvSpPr/>
          <p:nvPr/>
        </p:nvSpPr>
        <p:spPr>
          <a:xfrm>
            <a:off x="7770966" y="4938625"/>
            <a:ext cx="1768417" cy="5520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DMA Engine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24A946-D0D0-7706-B67A-D6CBB116DA2E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428339" y="1544125"/>
            <a:ext cx="11659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F953EA-5ADF-B414-CE82-2F632AD2AFE8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428339" y="2518979"/>
            <a:ext cx="1157376" cy="64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E95D593-6E43-D055-B1A9-9F9CA06589E4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227609" y="1544125"/>
            <a:ext cx="2609742" cy="27604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C39C10B-E49A-FF7C-F149-155FAD574408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5218987" y="1820166"/>
            <a:ext cx="2618364" cy="70521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9D75D67-E632-98FC-9E7A-EAC6AC1AACCD}"/>
              </a:ext>
            </a:extLst>
          </p:cNvPr>
          <p:cNvCxnSpPr>
            <a:stCxn id="9" idx="2"/>
            <a:endCxn id="14" idx="0"/>
          </p:cNvCxnSpPr>
          <p:nvPr/>
        </p:nvCxnSpPr>
        <p:spPr>
          <a:xfrm rot="5400000">
            <a:off x="4972678" y="-236494"/>
            <a:ext cx="1326751" cy="641542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F0A7F7D-149A-198B-A9BB-A47E73A637B6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5959683" y="750511"/>
            <a:ext cx="1326751" cy="444141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5778B47-9141-424C-74C1-9293FDB18184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6912903" y="1703731"/>
            <a:ext cx="1326751" cy="253497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7D6BE4B-461B-D820-5FF6-5ADE4B96EC0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8030176" y="2546212"/>
            <a:ext cx="1051958" cy="575221"/>
          </a:xfrm>
          <a:prstGeom prst="bentConnector3">
            <a:avLst>
              <a:gd name="adj1" fmla="val 631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44A20E9-B75C-7A30-CE5F-F4999B53D98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8922853" y="2228755"/>
            <a:ext cx="1326751" cy="148492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1CCA01-58A1-AAD4-DCA9-2A45E2394479}"/>
              </a:ext>
            </a:extLst>
          </p:cNvPr>
          <p:cNvCxnSpPr>
            <a:stCxn id="14" idx="2"/>
          </p:cNvCxnSpPr>
          <p:nvPr/>
        </p:nvCxnSpPr>
        <p:spPr>
          <a:xfrm flipH="1">
            <a:off x="2428339" y="4186680"/>
            <a:ext cx="1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02F1A3A-946C-F295-9E1A-656FB6F98DE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402351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8A7F78-895E-B63F-549A-74FADE16ADAF}"/>
              </a:ext>
            </a:extLst>
          </p:cNvPr>
          <p:cNvCxnSpPr>
            <a:stCxn id="11" idx="2"/>
          </p:cNvCxnSpPr>
          <p:nvPr/>
        </p:nvCxnSpPr>
        <p:spPr>
          <a:xfrm>
            <a:off x="6308790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1620E5-9FE2-C704-87AE-737404CE831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268544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AC640C4-8736-04D9-75D3-9155D6CE8FAC}"/>
              </a:ext>
            </a:extLst>
          </p:cNvPr>
          <p:cNvSpPr txBox="1"/>
          <p:nvPr/>
        </p:nvSpPr>
        <p:spPr>
          <a:xfrm>
            <a:off x="10410754" y="4569293"/>
            <a:ext cx="175557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dmi_reg_wdata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BD6B93-7BD0-30D6-8CD2-616C208E6496}"/>
              </a:ext>
            </a:extLst>
          </p:cNvPr>
          <p:cNvSpPr txBox="1"/>
          <p:nvPr/>
        </p:nvSpPr>
        <p:spPr>
          <a:xfrm>
            <a:off x="10410753" y="5035880"/>
            <a:ext cx="175557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dmi_reg_rdata</a:t>
            </a:r>
            <a:endParaRPr lang="en-IN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69EAEB4-8A96-6086-AB99-EA44C7044F16}"/>
              </a:ext>
            </a:extLst>
          </p:cNvPr>
          <p:cNvCxnSpPr>
            <a:cxnSpLocks/>
            <a:endCxn id="48" idx="1"/>
          </p:cNvCxnSpPr>
          <p:nvPr/>
        </p:nvCxnSpPr>
        <p:spPr>
          <a:xfrm rot="16200000" flipH="1">
            <a:off x="9993030" y="4336235"/>
            <a:ext cx="571918" cy="263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E6DD9CF5-6713-92DD-0AE1-BAE72FB40FA3}"/>
              </a:ext>
            </a:extLst>
          </p:cNvPr>
          <p:cNvCxnSpPr>
            <a:cxnSpLocks/>
            <a:endCxn id="49" idx="1"/>
          </p:cNvCxnSpPr>
          <p:nvPr/>
        </p:nvCxnSpPr>
        <p:spPr>
          <a:xfrm rot="16200000" flipH="1">
            <a:off x="9773561" y="4583353"/>
            <a:ext cx="1010855" cy="263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4815A01-7BEC-C109-3F44-7362F2D7F4E4}"/>
              </a:ext>
            </a:extLst>
          </p:cNvPr>
          <p:cNvSpPr txBox="1"/>
          <p:nvPr/>
        </p:nvSpPr>
        <p:spPr>
          <a:xfrm>
            <a:off x="2487283" y="4209691"/>
            <a:ext cx="1710912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soc_ifc_reg</a:t>
            </a:r>
            <a:r>
              <a:rPr lang="en-IN" dirty="0"/>
              <a:t>_ </a:t>
            </a:r>
            <a:r>
              <a:rPr lang="en-IN" dirty="0" err="1"/>
              <a:t>req_data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20FFFB-008A-D0BE-18FA-75DD4101F4B7}"/>
              </a:ext>
            </a:extLst>
          </p:cNvPr>
          <p:cNvSpPr txBox="1"/>
          <p:nvPr/>
        </p:nvSpPr>
        <p:spPr>
          <a:xfrm>
            <a:off x="4381276" y="4209691"/>
            <a:ext cx="1723357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/>
              <a:t>mbox_req_data</a:t>
            </a:r>
            <a:endParaRPr lang="en-IN" dirty="0"/>
          </a:p>
          <a:p>
            <a:r>
              <a:rPr lang="en-IN" dirty="0" err="1"/>
              <a:t>mbox_rdata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F42894-E6AB-46A1-BD37-84C59354B5FF}"/>
              </a:ext>
            </a:extLst>
          </p:cNvPr>
          <p:cNvSpPr txBox="1"/>
          <p:nvPr/>
        </p:nvSpPr>
        <p:spPr>
          <a:xfrm>
            <a:off x="6335865" y="4158911"/>
            <a:ext cx="1533112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/>
              <a:t>sha_req_data</a:t>
            </a:r>
            <a:endParaRPr lang="en-IN" dirty="0"/>
          </a:p>
          <a:p>
            <a:r>
              <a:rPr lang="en-IN" dirty="0" err="1"/>
              <a:t>sha_rdata</a:t>
            </a:r>
            <a:endParaRPr lang="en-IN" dirty="0"/>
          </a:p>
          <a:p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EE02D4-1CF2-1517-E4E8-201527333072}"/>
              </a:ext>
            </a:extLst>
          </p:cNvPr>
          <p:cNvSpPr txBox="1"/>
          <p:nvPr/>
        </p:nvSpPr>
        <p:spPr>
          <a:xfrm>
            <a:off x="8215229" y="4214488"/>
            <a:ext cx="1621278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/>
              <a:t>dma_req_data</a:t>
            </a:r>
            <a:endParaRPr lang="en-IN" dirty="0"/>
          </a:p>
          <a:p>
            <a:r>
              <a:rPr lang="en-IN" dirty="0" err="1"/>
              <a:t>dma_rdata</a:t>
            </a:r>
            <a:endParaRPr lang="en-IN" dirty="0"/>
          </a:p>
          <a:p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43AEAE-BE1E-C7CE-86AD-FAE1CD6000D9}"/>
              </a:ext>
            </a:extLst>
          </p:cNvPr>
          <p:cNvSpPr txBox="1"/>
          <p:nvPr/>
        </p:nvSpPr>
        <p:spPr>
          <a:xfrm>
            <a:off x="2541786" y="856378"/>
            <a:ext cx="939103" cy="73866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/>
              <a:t>AXI Addr /</a:t>
            </a:r>
          </a:p>
          <a:p>
            <a:r>
              <a:rPr lang="en-IN" sz="1400" dirty="0"/>
              <a:t>Data/</a:t>
            </a:r>
          </a:p>
          <a:p>
            <a:r>
              <a:rPr lang="en-IN" sz="1400" dirty="0"/>
              <a:t>User/ID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FF41E1-B10D-8416-1321-4B0278D1932E}"/>
              </a:ext>
            </a:extLst>
          </p:cNvPr>
          <p:cNvSpPr txBox="1"/>
          <p:nvPr/>
        </p:nvSpPr>
        <p:spPr>
          <a:xfrm>
            <a:off x="2523226" y="1972748"/>
            <a:ext cx="873060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/>
              <a:t>HADDR/</a:t>
            </a:r>
          </a:p>
          <a:p>
            <a:r>
              <a:rPr lang="en-IN" sz="1400" dirty="0"/>
              <a:t>HWDATA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55EBAF-5117-FE2A-43C3-5845B503A290}"/>
              </a:ext>
            </a:extLst>
          </p:cNvPr>
          <p:cNvSpPr txBox="1"/>
          <p:nvPr/>
        </p:nvSpPr>
        <p:spPr>
          <a:xfrm>
            <a:off x="5341057" y="745331"/>
            <a:ext cx="2684784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soc_req.addr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soc_req.wdata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soc_req.wstrb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soc_req.user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soc_req.id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EB15BB-8846-0591-A7F2-6ADDC3A98CC4}"/>
              </a:ext>
            </a:extLst>
          </p:cNvPr>
          <p:cNvSpPr txBox="1"/>
          <p:nvPr/>
        </p:nvSpPr>
        <p:spPr>
          <a:xfrm>
            <a:off x="5271824" y="1879749"/>
            <a:ext cx="1318310" cy="58477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uc_req.addr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uc_req.wdata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0564BBFA-1D39-D8A8-1FA3-75996E78B7A8}"/>
              </a:ext>
            </a:extLst>
          </p:cNvPr>
          <p:cNvCxnSpPr>
            <a:stCxn id="18" idx="2"/>
            <a:endCxn id="5" idx="0"/>
          </p:cNvCxnSpPr>
          <p:nvPr/>
        </p:nvCxnSpPr>
        <p:spPr>
          <a:xfrm rot="5400000" flipH="1">
            <a:off x="3022124" y="-142339"/>
            <a:ext cx="4222629" cy="7043472"/>
          </a:xfrm>
          <a:prstGeom prst="bentConnector5">
            <a:avLst>
              <a:gd name="adj1" fmla="val -23391"/>
              <a:gd name="adj2" fmla="val 119188"/>
              <a:gd name="adj3" fmla="val 1054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7CB3FAD-4278-B722-2E34-3AD7820E5D14}"/>
              </a:ext>
            </a:extLst>
          </p:cNvPr>
          <p:cNvSpPr txBox="1"/>
          <p:nvPr/>
        </p:nvSpPr>
        <p:spPr>
          <a:xfrm>
            <a:off x="4608004" y="5821073"/>
            <a:ext cx="1269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m_axi_w_if</a:t>
            </a:r>
            <a:br>
              <a:rPr lang="en-IN" dirty="0"/>
            </a:br>
            <a:r>
              <a:rPr lang="en-IN" dirty="0" err="1"/>
              <a:t>m_axi_r_if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A8DAE-6AFF-C089-F002-E354514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"/>
            <a:ext cx="12200633" cy="744675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SOC_IFC Request and Data Routing 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33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5ACA9-9D14-781F-2299-5DF8455F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F4DC2B-D824-52EC-524E-B32FC173759E}"/>
              </a:ext>
            </a:extLst>
          </p:cNvPr>
          <p:cNvSpPr/>
          <p:nvPr/>
        </p:nvSpPr>
        <p:spPr>
          <a:xfrm>
            <a:off x="491705" y="923009"/>
            <a:ext cx="2182483" cy="8626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</a:t>
            </a:r>
          </a:p>
          <a:p>
            <a:pPr algn="ctr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  reg_rdata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F0147E-3BDD-68E9-3E74-A654509E0D48}"/>
              </a:ext>
            </a:extLst>
          </p:cNvPr>
          <p:cNvSpPr/>
          <p:nvPr/>
        </p:nvSpPr>
        <p:spPr>
          <a:xfrm>
            <a:off x="3033623" y="923009"/>
            <a:ext cx="1900686" cy="86265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MAILBOX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mbox_rdata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mbox_dir_rdata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B6419B-BAF8-5807-BA5C-D3B2CBFE0484}"/>
              </a:ext>
            </a:extLst>
          </p:cNvPr>
          <p:cNvSpPr/>
          <p:nvPr/>
        </p:nvSpPr>
        <p:spPr>
          <a:xfrm>
            <a:off x="5517310" y="923006"/>
            <a:ext cx="1765540" cy="8626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 ENGINE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DD12BB-A681-8E1F-1EA0-0FA784C68B3A}"/>
              </a:ext>
            </a:extLst>
          </p:cNvPr>
          <p:cNvSpPr/>
          <p:nvPr/>
        </p:nvSpPr>
        <p:spPr>
          <a:xfrm>
            <a:off x="7667444" y="923006"/>
            <a:ext cx="1765540" cy="8626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 ENGINE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A6C6C2-82F7-9E84-0583-A24956E1577A}"/>
              </a:ext>
            </a:extLst>
          </p:cNvPr>
          <p:cNvSpPr/>
          <p:nvPr/>
        </p:nvSpPr>
        <p:spPr>
          <a:xfrm>
            <a:off x="9710466" y="923006"/>
            <a:ext cx="1917941" cy="8626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DMI / DEBUG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cwtrust_uncore_ dmi_reg_rdata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47481-4DD4-1BCB-F4E3-8620CF8E256D}"/>
              </a:ext>
            </a:extLst>
          </p:cNvPr>
          <p:cNvSpPr/>
          <p:nvPr/>
        </p:nvSpPr>
        <p:spPr>
          <a:xfrm>
            <a:off x="4379341" y="2708683"/>
            <a:ext cx="2311880" cy="914400"/>
          </a:xfrm>
          <a:prstGeom prst="rect">
            <a:avLst/>
          </a:prstGeom>
          <a:solidFill>
            <a:srgbClr val="FFFFCC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SOC_IFC_ARB 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Data MUX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D2A5DA-4CEC-AFF8-DB50-81AF027C8816}"/>
              </a:ext>
            </a:extLst>
          </p:cNvPr>
          <p:cNvSpPr/>
          <p:nvPr/>
        </p:nvSpPr>
        <p:spPr>
          <a:xfrm>
            <a:off x="2645435" y="4157940"/>
            <a:ext cx="1751162" cy="5520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soc_req_rdata</a:t>
            </a:r>
            <a:br>
              <a:rPr lang="en-IN" dirty="0"/>
            </a:br>
            <a:r>
              <a:rPr lang="en-IN" dirty="0"/>
              <a:t>(AXI Read)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8F5538-F69D-326B-6CDD-19E790B64522}"/>
              </a:ext>
            </a:extLst>
          </p:cNvPr>
          <p:cNvSpPr/>
          <p:nvPr/>
        </p:nvSpPr>
        <p:spPr>
          <a:xfrm>
            <a:off x="6225396" y="4209687"/>
            <a:ext cx="1751162" cy="55209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uc_req_rdata</a:t>
            </a:r>
          </a:p>
          <a:p>
            <a:pPr algn="ctr"/>
            <a:r>
              <a:rPr lang="en-IN" dirty="0"/>
              <a:t>(AHB Read)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177DA7-76AB-CF80-FE1B-4C740C25F801}"/>
              </a:ext>
            </a:extLst>
          </p:cNvPr>
          <p:cNvSpPr/>
          <p:nvPr/>
        </p:nvSpPr>
        <p:spPr>
          <a:xfrm>
            <a:off x="2645435" y="5408758"/>
            <a:ext cx="1751162" cy="5520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SoC Host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EB2DF6-CFBB-F52E-2226-942286A3D4AD}"/>
              </a:ext>
            </a:extLst>
          </p:cNvPr>
          <p:cNvSpPr/>
          <p:nvPr/>
        </p:nvSpPr>
        <p:spPr>
          <a:xfrm>
            <a:off x="6225396" y="5460503"/>
            <a:ext cx="1751162" cy="55209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Cwtrust uC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F5DB841-CE3E-0C66-B01F-CFE74D4D269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3097604" y="271005"/>
            <a:ext cx="923021" cy="3952334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7619FB2-4D39-1A09-E52F-C3CA47F21635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4298113" y="1471514"/>
            <a:ext cx="923021" cy="155131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AA74D1B-A33A-E98F-F4FA-F86D9C5824B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5506169" y="1814772"/>
            <a:ext cx="923024" cy="864799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4F5D82A-5024-0296-9A20-060196B7701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6581237" y="739705"/>
            <a:ext cx="923023" cy="3014933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DA08E94-DCBD-D7AC-8F38-8F0BD6AF41F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7640848" y="-319907"/>
            <a:ext cx="923023" cy="5134156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9204879-7B8D-7B7C-76CA-946BB1D98DD0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4260721" y="2883379"/>
            <a:ext cx="534857" cy="201426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A382F44-AE5C-2621-A59E-5BE35C4B13C3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16200000" flipH="1">
            <a:off x="6024827" y="3133537"/>
            <a:ext cx="586604" cy="1565696"/>
          </a:xfrm>
          <a:prstGeom prst="bentConnector3">
            <a:avLst>
              <a:gd name="adj1" fmla="val 4705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BF2B61-E756-BDD3-8907-200083DCAC86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3521016" y="4710030"/>
            <a:ext cx="0" cy="6987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7E9F50-91F0-CA2B-C2CD-237046E3B22D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7100977" y="4761777"/>
            <a:ext cx="0" cy="6987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E93FDA-BB2F-A6A8-F5D4-FE2CAC4713D8}"/>
              </a:ext>
            </a:extLst>
          </p:cNvPr>
          <p:cNvSpPr txBox="1"/>
          <p:nvPr/>
        </p:nvSpPr>
        <p:spPr>
          <a:xfrm>
            <a:off x="3505790" y="4904922"/>
            <a:ext cx="10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AXI_SUB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7A3BA5-CF5A-91D7-7AC9-7E08C66931A3}"/>
              </a:ext>
            </a:extLst>
          </p:cNvPr>
          <p:cNvSpPr txBox="1"/>
          <p:nvPr/>
        </p:nvSpPr>
        <p:spPr>
          <a:xfrm>
            <a:off x="7084902" y="4926474"/>
            <a:ext cx="154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AHB_SLV_IFC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980495A-87E1-4983-F1F2-A6A30F60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173"/>
            <a:ext cx="12200633" cy="744675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Return Datapath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2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8873366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C30E90-35A2-433D-8294-0F950042F531}">
  <ds:schemaRefs>
    <ds:schemaRef ds:uri="http://purl.org/dc/elements/1.1/"/>
    <ds:schemaRef ds:uri="http://schemas.microsoft.com/office/2006/documentManagement/types"/>
    <ds:schemaRef ds:uri="ec91e78c-53b9-49d2-80fe-2267c9de2ac1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284D83-2091-44A3-8807-E113590D50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UCIe_MBTRAIN_MKD</Template>
  <TotalTime>995</TotalTime>
  <Words>635</Words>
  <Application>Microsoft Office PowerPoint</Application>
  <PresentationFormat>Widescreen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Control &amp; Datapath in SoC IFC</vt:lpstr>
      <vt:lpstr>CONTENTS</vt:lpstr>
      <vt:lpstr>PowerPoint Presentation</vt:lpstr>
      <vt:lpstr> SOC_IFC Request and Data Routing Path</vt:lpstr>
      <vt:lpstr> Read Return Datapath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22</cp:revision>
  <dcterms:created xsi:type="dcterms:W3CDTF">2026-02-11T04:12:37Z</dcterms:created>
  <dcterms:modified xsi:type="dcterms:W3CDTF">2026-06-18T10:26:24Z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