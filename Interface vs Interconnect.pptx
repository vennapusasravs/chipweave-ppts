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58" r:id="rId6"/>
    <p:sldId id="289" r:id="rId7"/>
    <p:sldId id="352" r:id="rId8"/>
    <p:sldId id="338" r:id="rId9"/>
    <p:sldId id="343" r:id="rId10"/>
    <p:sldId id="341" r:id="rId11"/>
    <p:sldId id="342" r:id="rId12"/>
    <p:sldId id="344" r:id="rId13"/>
    <p:sldId id="345" r:id="rId14"/>
    <p:sldId id="346" r:id="rId15"/>
    <p:sldId id="348" r:id="rId16"/>
    <p:sldId id="351" r:id="rId17"/>
    <p:sldId id="353" r:id="rId18"/>
    <p:sldId id="32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0AEE59-9A6F-4BE2-91EE-C23F46327526}" v="56" dt="2026-03-05T05:27:11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63231" autoAdjust="0"/>
  </p:normalViewPr>
  <p:slideViewPr>
    <p:cSldViewPr snapToGrid="0">
      <p:cViewPr varScale="1">
        <p:scale>
          <a:sx n="60" d="100"/>
          <a:sy n="60" d="100"/>
        </p:scale>
        <p:origin x="13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42E24-B459-45AA-BD6B-085DF7F72BDF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DA2A-FE68-4F5B-904E-DEEA3A47B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86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DA2A-FE68-4F5B-904E-DEEA3A47B4E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846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DA2A-FE68-4F5B-904E-DEEA3A47B4E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370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8558" y="729469"/>
            <a:ext cx="9014348" cy="2402006"/>
          </a:xfrm>
        </p:spPr>
        <p:txBody>
          <a:bodyPr anchor="b">
            <a:normAutofit/>
          </a:bodyPr>
          <a:lstStyle/>
          <a:p>
            <a:r>
              <a:rPr lang="en-US" sz="4800" dirty="0"/>
              <a:t>Interfaces &amp; Interconnect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99576" y="5079628"/>
            <a:ext cx="3827986" cy="1020664"/>
          </a:xfrm>
        </p:spPr>
        <p:txBody>
          <a:bodyPr anchor="ctr">
            <a:normAutofit fontScale="92500" lnSpcReduction="2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 V.SRAVANTHI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CHIPWEAVE TECHNOLOGIES PVT LTD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35B5-1EF0-7F98-DE21-64AEB3584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Introduction</a:t>
            </a:r>
          </a:p>
          <a:p>
            <a:r>
              <a:rPr lang="en-US" dirty="0"/>
              <a:t>Why &amp; What is Interface ?</a:t>
            </a:r>
          </a:p>
          <a:p>
            <a:r>
              <a:rPr lang="en-US" dirty="0"/>
              <a:t>Status Information</a:t>
            </a:r>
          </a:p>
          <a:p>
            <a:r>
              <a:rPr lang="en-US" dirty="0"/>
              <a:t>Types of Interfaces</a:t>
            </a:r>
          </a:p>
          <a:p>
            <a:r>
              <a:rPr lang="en-US" dirty="0"/>
              <a:t>What is Interconnect?</a:t>
            </a:r>
          </a:p>
          <a:p>
            <a:r>
              <a:rPr lang="en-US" dirty="0"/>
              <a:t>Types of Interconnect</a:t>
            </a:r>
          </a:p>
          <a:p>
            <a:r>
              <a:rPr lang="en-US" dirty="0" err="1"/>
              <a:t>Comparision</a:t>
            </a:r>
            <a:r>
              <a:rPr lang="en-US" dirty="0"/>
              <a:t> between Interface and Interconnect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C32F6C-B7EE-A57C-0B32-A168B30F2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0535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79F1A-FC7D-935D-9D47-C3E2ACA8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6F40-A93D-54C3-7C55-37D0E19C4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2609902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GB" dirty="0"/>
              <a:t>Correct communication requires: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GB" dirty="0"/>
              <a:t>Well-defined interfaces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GB" dirty="0"/>
              <a:t>Efficient interconnect fabrics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GB" dirty="0"/>
              <a:t>Communication in a chip is built using </a:t>
            </a:r>
            <a:r>
              <a:rPr lang="en-GB" b="1" dirty="0"/>
              <a:t>three layers</a:t>
            </a:r>
            <a:r>
              <a:rPr lang="en-GB" dirty="0"/>
              <a:t>: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Interface</a:t>
            </a:r>
            <a:r>
              <a:rPr lang="en-GB" dirty="0"/>
              <a:t> → Defines </a:t>
            </a:r>
            <a:r>
              <a:rPr lang="en-GB" i="1" dirty="0"/>
              <a:t>rules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Interconnect</a:t>
            </a:r>
            <a:r>
              <a:rPr lang="en-GB" dirty="0"/>
              <a:t> → Defines </a:t>
            </a:r>
            <a:r>
              <a:rPr lang="en-GB" i="1" dirty="0"/>
              <a:t>paths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Physical layer</a:t>
            </a:r>
            <a:r>
              <a:rPr lang="en-GB" dirty="0"/>
              <a:t> → Implements </a:t>
            </a:r>
            <a:r>
              <a:rPr lang="en-GB" i="1" dirty="0"/>
              <a:t>wires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GB" dirty="0"/>
              <a:t>This presentation focuses on </a:t>
            </a:r>
            <a:r>
              <a:rPr lang="en-GB" b="1" dirty="0"/>
              <a:t>Interface vs Interconnect</a:t>
            </a:r>
            <a:r>
              <a:rPr lang="en-GB" dirty="0"/>
              <a:t>.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US" dirty="0"/>
          </a:p>
          <a:p>
            <a:pPr marL="457200" indent="-457200">
              <a:buFont typeface="Wingdings" panose="020B0604020202020204" pitchFamily="34" charset="0"/>
              <a:buChar char="§"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3035C6-705C-CBB5-32D4-2A616EAC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 sz="4000" dirty="0">
                <a:latin typeface="Aptos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4691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EB054-C391-CCC0-61E3-33E8043F4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CE2A5-6360-AEE8-B339-995E47CCA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peripheral device sends and receives data at a specific speed and in a particular format.</a:t>
            </a:r>
          </a:p>
          <a:p>
            <a:r>
              <a:rPr lang="en-US" dirty="0"/>
              <a:t> The CPU or computer system also processes data at its own speed and format.</a:t>
            </a:r>
          </a:p>
          <a:p>
            <a:r>
              <a:rPr lang="en-US" dirty="0"/>
              <a:t> Because of these differences, direct communication between the CPU and peripheral devices may cause compatibility issues.</a:t>
            </a:r>
          </a:p>
          <a:p>
            <a:endParaRPr lang="en-US" dirty="0"/>
          </a:p>
          <a:p>
            <a:pPr marL="457200" indent="-457200">
              <a:buFont typeface="Wingdings" panose="020B0604020202020204" pitchFamily="34" charset="0"/>
              <a:buChar char="§"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9260B5-ECE6-BAE8-CCCB-B19277E0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 sz="4000" dirty="0">
                <a:latin typeface="Aptos"/>
              </a:rPr>
              <a:t>Why Interface?</a:t>
            </a:r>
          </a:p>
        </p:txBody>
      </p:sp>
    </p:spTree>
    <p:extLst>
      <p:ext uri="{BB962C8B-B14F-4D97-AF65-F5344CB8AC3E}">
        <p14:creationId xmlns:p14="http://schemas.microsoft.com/office/powerpoint/2010/main" val="391371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2B4B-50FE-52EE-1F36-D12B61DF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28C2-E075-5DD0-DD79-EDFD6949A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457200" indent="-457200">
              <a:buFont typeface="Wingdings" panose="020B0604020202020204" pitchFamily="34" charset="0"/>
              <a:buChar char="§"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C227421-B3A8-8274-7F36-5F56BB9F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 sz="4000" dirty="0">
                <a:latin typeface="Aptos"/>
              </a:rPr>
              <a:t>What is Interface?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89332-024F-9FE5-2FC5-3533668CE27B}"/>
              </a:ext>
            </a:extLst>
          </p:cNvPr>
          <p:cNvSpPr txBox="1"/>
          <p:nvPr/>
        </p:nvSpPr>
        <p:spPr>
          <a:xfrm>
            <a:off x="985344" y="1615967"/>
            <a:ext cx="102554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An </a:t>
            </a:r>
            <a:r>
              <a:rPr lang="en-US" sz="2800" b="1" dirty="0"/>
              <a:t>interface</a:t>
            </a:r>
            <a:r>
              <a:rPr lang="en-US" sz="2800" dirty="0"/>
              <a:t> is a unit that sits between the CPU and a peripheral device and compensates for differences in </a:t>
            </a:r>
            <a:r>
              <a:rPr lang="en-US" sz="2800" b="1" dirty="0"/>
              <a:t>speed, data format, and communication codes</a:t>
            </a:r>
            <a:r>
              <a:rPr lang="en-US" sz="2800" dirty="0"/>
              <a:t> to ensure </a:t>
            </a:r>
            <a:r>
              <a:rPr lang="en-US" sz="2400" dirty="0"/>
              <a:t>compatibility.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C84CD0-2949-3B9B-B2AA-5F7078549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245" y="3426200"/>
            <a:ext cx="8106906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50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E570A-CEF8-7297-AC62-1975A181A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D79C9-9C6A-082C-2743-F7499203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7" y="1250531"/>
            <a:ext cx="1175559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• Most interfaces use buffers to temporarily store blocks of data during transfer between the processor and peripheral devices.</a:t>
            </a:r>
          </a:p>
          <a:p>
            <a:pPr marL="0" indent="0">
              <a:buNone/>
            </a:pPr>
            <a:r>
              <a:rPr lang="en-US" dirty="0"/>
              <a:t>• Buffers allow data to be stored temporarily until the peripheral device is ready to process it.</a:t>
            </a:r>
          </a:p>
          <a:p>
            <a:pPr marL="0" indent="0">
              <a:buNone/>
            </a:pPr>
            <a:r>
              <a:rPr lang="en-US" dirty="0"/>
              <a:t>• They also keep track of the status of the peripheral, so the processor knows when it can send or receive data and when an error occurs.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319B1E-4B9D-3DFE-3DD6-F9C6A21D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 dirty="0"/>
              <a:t>Buffer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5D48A-5844-120F-B9F3-8B5383196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392" y="4249615"/>
            <a:ext cx="4896533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28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1B32-6294-640E-18BF-5DFBDBF8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539E2-626E-36E1-6C8B-7DF7E3537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There are 3 types of interfaces are there</a:t>
            </a:r>
          </a:p>
          <a:p>
            <a:pPr marL="514350" indent="-514350">
              <a:buAutoNum type="arabicPeriod"/>
            </a:pPr>
            <a:r>
              <a:rPr lang="en-IN" b="1" dirty="0"/>
              <a:t>Communication &amp; Protocol Interfaces</a:t>
            </a:r>
          </a:p>
          <a:p>
            <a:pPr marL="514350" indent="-514350">
              <a:buAutoNum type="arabicPeriod"/>
            </a:pPr>
            <a:r>
              <a:rPr lang="en-IN" b="1" dirty="0"/>
              <a:t> System Verilog Design Interfaces</a:t>
            </a:r>
          </a:p>
          <a:p>
            <a:pPr marL="514350" indent="-514350">
              <a:buAutoNum type="arabicPeriod"/>
            </a:pPr>
            <a:r>
              <a:rPr lang="en-IN" b="1" dirty="0"/>
              <a:t>Mixed-Signal &amp; Analog Interfaces</a:t>
            </a:r>
          </a:p>
          <a:p>
            <a:pPr marL="514350" indent="-514350">
              <a:buAutoNum type="arabicPeriod"/>
            </a:pPr>
            <a:endParaRPr lang="en-IN" b="1" dirty="0"/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CE9DA4B-2032-D0D1-BDBE-BB9D82C6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 dirty="0"/>
              <a:t>Types of Interfaces</a:t>
            </a:r>
          </a:p>
        </p:txBody>
      </p:sp>
    </p:spTree>
    <p:extLst>
      <p:ext uri="{BB962C8B-B14F-4D97-AF65-F5344CB8AC3E}">
        <p14:creationId xmlns:p14="http://schemas.microsoft.com/office/powerpoint/2010/main" val="58571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BFD09-D060-FE95-C62A-72564BC2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F965E4-5814-A455-40C1-00FBE077A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Communication &amp; Protocol Interfaces</a:t>
            </a:r>
            <a:endParaRPr lang="en-US" sz="3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2E0C6F-9AC5-730C-8D06-993840BF3F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287" y="1248653"/>
            <a:ext cx="11442971" cy="36009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High-Speed Serial (USB, PCIe, HDMI):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High-bandwidth links used for massive data transfer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between the SoC and external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Bus Protocols (AMBA AXI/AHB/APB):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Standardized on-chip communication paths that manage data flow between internal processors, controllers, and peripherals.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 descr="Advanced Microcontroller Bus Architecture [1] | Download Scientific ...">
            <a:extLst>
              <a:ext uri="{FF2B5EF4-FFF2-40B4-BE49-F238E27FC236}">
                <a16:creationId xmlns:a16="http://schemas.microsoft.com/office/drawing/2014/main" id="{83284E74-B794-D717-4A5D-A2C55E019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541" y="3954716"/>
            <a:ext cx="8296508" cy="290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46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2A7D-9DEE-4592-65A1-5D93B7679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54219-2E39-F784-5ADC-4CE4A7FC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Static Interface:</a:t>
            </a:r>
            <a:r>
              <a:rPr lang="en-US" dirty="0"/>
              <a:t> A bundle of signals and wires that encapsulates communication between modules to reduce code complexity and port list size.</a:t>
            </a:r>
          </a:p>
          <a:p>
            <a:r>
              <a:rPr lang="en-US" b="1" dirty="0"/>
              <a:t>Virtual Interface:</a:t>
            </a:r>
            <a:r>
              <a:rPr lang="en-US" dirty="0"/>
              <a:t> A dynamic pointer to a physical interface used in verification environments (like UVM) to enable object-oriented testbench reuse.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1155C8-ABEB-5981-2C36-EAFE3D84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 System Verilog Design Interfaces</a:t>
            </a:r>
            <a:endParaRPr lang="en-US" sz="3200" dirty="0"/>
          </a:p>
        </p:txBody>
      </p:sp>
      <p:pic>
        <p:nvPicPr>
          <p:cNvPr id="2050" name="Picture 2" descr="Interface | EasyFormal">
            <a:extLst>
              <a:ext uri="{FF2B5EF4-FFF2-40B4-BE49-F238E27FC236}">
                <a16:creationId xmlns:a16="http://schemas.microsoft.com/office/drawing/2014/main" id="{A2C8256B-0AE7-D03E-2820-42B34C4B5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778" y="3647710"/>
            <a:ext cx="6047445" cy="283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652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8841-0537-8171-9F78-79C3E735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EE8009-47DB-40AA-D6EA-AAFB37B8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Mixed-Signal &amp; Analog Interfaces</a:t>
            </a:r>
            <a:endParaRPr lang="en-US" sz="3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3FB472-62E5-FFBE-AA4B-25FEBAD385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0293" y="975864"/>
            <a:ext cx="11496907" cy="3908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Data Converters (ADC/DAC):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Bridges that translate real-world analog signals into digital data (and vice-versa)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for processing by the chip's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Clocking Interfaces (PLL/DLL):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Specialized circuits that synchronize data transfer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distribute stable clock signals across various chip domains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ADC-DAC-Blocks Analog-CMOS-Design || Electronics Tutorial">
            <a:extLst>
              <a:ext uri="{FF2B5EF4-FFF2-40B4-BE49-F238E27FC236}">
                <a16:creationId xmlns:a16="http://schemas.microsoft.com/office/drawing/2014/main" id="{EE11291C-520F-88AC-6250-2D07B3C15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083" y="4526350"/>
            <a:ext cx="5921297" cy="218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74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0807-F56D-BAF9-84AD-675B28766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6C6D0-C6F1-8659-499A-D9F275DF4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111130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base"/>
            <a:r>
              <a:rPr lang="en-GB" dirty="0"/>
              <a:t> </a:t>
            </a:r>
            <a:r>
              <a:rPr lang="en-GB" b="1" dirty="0"/>
              <a:t>Interconnect</a:t>
            </a:r>
            <a:r>
              <a:rPr lang="en-GB" dirty="0"/>
              <a:t> is the </a:t>
            </a:r>
            <a:r>
              <a:rPr lang="en-GB" b="1" dirty="0"/>
              <a:t>communication Path </a:t>
            </a:r>
            <a:r>
              <a:rPr lang="en-GB" dirty="0"/>
              <a:t>that connects multiple interfaces and IP blocks inside an SOC.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It acts as the </a:t>
            </a:r>
            <a:r>
              <a:rPr lang="en-GB" b="1" dirty="0"/>
              <a:t>backbone of the SOC</a:t>
            </a:r>
            <a:r>
              <a:rPr lang="en-GB" dirty="0"/>
              <a:t>, enabling data transfer between different masters and slaves through their interfaces.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The interconnect </a:t>
            </a:r>
            <a:r>
              <a:rPr lang="en-GB" b="1" dirty="0"/>
              <a:t>defines the data flow paths</a:t>
            </a:r>
            <a:r>
              <a:rPr lang="en-GB" dirty="0"/>
              <a:t> across the SoC, determining how and where data moves between different components.</a:t>
            </a:r>
            <a:r>
              <a:rPr lang="en-US" dirty="0"/>
              <a:t>​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366CDC-2995-A89C-98F8-1C88A6A2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 dirty="0"/>
              <a:t>Interconnect</a:t>
            </a:r>
          </a:p>
        </p:txBody>
      </p:sp>
    </p:spTree>
    <p:extLst>
      <p:ext uri="{BB962C8B-B14F-4D97-AF65-F5344CB8AC3E}">
        <p14:creationId xmlns:p14="http://schemas.microsoft.com/office/powerpoint/2010/main" val="634772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F148-C7F2-A732-DFDC-87BE0029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7773C-6C40-9541-86B6-9A4890184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31F3290-076F-24F9-597A-709D8231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 dirty="0"/>
              <a:t>Types of Interconnect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7C6A2-B4EB-7A23-B627-314137EC9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48" y="1481667"/>
            <a:ext cx="8978900" cy="460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13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9C833-E6AB-DCA1-EBCA-C3D9FB3E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4C5DD-88D0-8B3E-58E4-E85BFC617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145420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E775108-A79C-AF60-649E-966CDD1FC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RTL/SOC Example of an Interconnect </a:t>
            </a:r>
            <a:r>
              <a:rPr lang="en-US" sz="3600" dirty="0"/>
              <a:t>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4CFFB-7E5E-C699-124F-96F68355F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054100"/>
            <a:ext cx="10526806" cy="524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22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20BA-FB7D-D1FF-7063-0D853A5EE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06D2-E97D-7729-2AA3-92D5CAADA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145420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3C7C1E-E58F-FD53-C7E8-5E0F9077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Interface VS Interconnect </a:t>
            </a:r>
            <a:r>
              <a:rPr lang="en-US" sz="3600" dirty="0"/>
              <a:t>​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27EACC-0374-FAB7-E350-D651194F7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500066"/>
              </p:ext>
            </p:extLst>
          </p:nvPr>
        </p:nvGraphicFramePr>
        <p:xfrm>
          <a:off x="304802" y="970221"/>
          <a:ext cx="11454202" cy="590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145">
                  <a:extLst>
                    <a:ext uri="{9D8B030D-6E8A-4147-A177-3AD203B41FA5}">
                      <a16:colId xmlns:a16="http://schemas.microsoft.com/office/drawing/2014/main" val="1282070442"/>
                    </a:ext>
                  </a:extLst>
                </a:gridCol>
                <a:gridCol w="5784753">
                  <a:extLst>
                    <a:ext uri="{9D8B030D-6E8A-4147-A177-3AD203B41FA5}">
                      <a16:colId xmlns:a16="http://schemas.microsoft.com/office/drawing/2014/main" val="2094367036"/>
                    </a:ext>
                  </a:extLst>
                </a:gridCol>
                <a:gridCol w="3999304">
                  <a:extLst>
                    <a:ext uri="{9D8B030D-6E8A-4147-A177-3AD203B41FA5}">
                      <a16:colId xmlns:a16="http://schemas.microsoft.com/office/drawing/2014/main" val="1586184063"/>
                    </a:ext>
                  </a:extLst>
                </a:gridCol>
              </a:tblGrid>
              <a:tr h="333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Interconnect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329215"/>
                  </a:ext>
                </a:extLst>
              </a:tr>
              <a:tr h="105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 interface is a communication boundary that allows two components or modules to interact.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interconnect is a network or communication path that connects multiple components within a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450526"/>
                  </a:ext>
                </a:extLst>
              </a:tr>
              <a:tr h="584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communication between two devices or modules.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connectivity between multiple modules or subsystems.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879864"/>
                  </a:ext>
                </a:extLst>
              </a:tr>
              <a:tr h="584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Usually connects a </a:t>
                      </a:r>
                      <a:r>
                        <a:rPr lang="en-US" b="1" dirty="0"/>
                        <a:t>specific device or module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Connects </a:t>
                      </a:r>
                      <a:r>
                        <a:rPr lang="en-US" b="1"/>
                        <a:t>many modules across the system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855785"/>
                  </a:ext>
                </a:extLst>
              </a:tr>
              <a:tr h="584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Defines </a:t>
                      </a:r>
                      <a:r>
                        <a:rPr lang="en-US" b="1" dirty="0"/>
                        <a:t>signals, protocols, and communication rules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Transfers data between different blocks through buses or 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889665"/>
                  </a:ext>
                </a:extLst>
              </a:tr>
              <a:tr h="584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GPIO interface, USB interface, PCIe interface.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AXI bus, AHB bus, Network-on-Chip (NoC).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64176"/>
                  </a:ext>
                </a:extLst>
              </a:tr>
              <a:tr h="584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Level in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Component-level communication.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System-level communication infrastructure.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798771"/>
                  </a:ext>
                </a:extLst>
              </a:tr>
              <a:tr h="584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Relatively simpler.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More complex because it manages multiple connections and arbitration.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858639"/>
                  </a:ext>
                </a:extLst>
              </a:tr>
              <a:tr h="584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to connect external devices or modules.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connect internal components inside a chip or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6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573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93A3-2D76-9FE3-82BE-5A795B11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7ECFFA39-EA56-82BF-8033-38007A388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38" y="261386"/>
            <a:ext cx="8873366" cy="591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9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8" ma:contentTypeDescription="Create a new document." ma:contentTypeScope="" ma:versionID="3d24ed15395863622458c9612afe9077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bf5387ec6775c7ffa55b69cbb25365ff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C30E90-35A2-433D-8294-0F950042F531}">
  <ds:schemaRefs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ec91e78c-53b9-49d2-80fe-2267c9de2ac1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8666954-3D43-40F3-AF96-B2753E1830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4A352F-77D0-4731-B0B0-ADD4AE2572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1e78c-53b9-49d2-80fe-2267c9de2a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UCIe_MBTRAIN_MKD</Template>
  <TotalTime>1098</TotalTime>
  <Words>675</Words>
  <Application>Microsoft Office PowerPoint</Application>
  <PresentationFormat>Widescreen</PresentationFormat>
  <Paragraphs>98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Google Sans</vt:lpstr>
      <vt:lpstr>Wingdings</vt:lpstr>
      <vt:lpstr>Office Theme</vt:lpstr>
      <vt:lpstr>Interfaces &amp; Interconnect </vt:lpstr>
      <vt:lpstr>CONTENTS</vt:lpstr>
      <vt:lpstr>Introduction</vt:lpstr>
      <vt:lpstr>Why Interface?</vt:lpstr>
      <vt:lpstr>What is Interface?</vt:lpstr>
      <vt:lpstr>Buffer</vt:lpstr>
      <vt:lpstr>Types of Interfaces</vt:lpstr>
      <vt:lpstr>Communication &amp; Protocol Interfaces</vt:lpstr>
      <vt:lpstr> System Verilog Design Interfaces</vt:lpstr>
      <vt:lpstr>Mixed-Signal &amp; Analog Interfaces</vt:lpstr>
      <vt:lpstr>Interconnect</vt:lpstr>
      <vt:lpstr>Types of Interconnect</vt:lpstr>
      <vt:lpstr>RTL/SOC Example of an Interconnect ​</vt:lpstr>
      <vt:lpstr>Interface VS Interconnect ​</vt:lpstr>
      <vt:lpstr>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15</cp:revision>
  <dcterms:created xsi:type="dcterms:W3CDTF">2026-02-11T04:12:37Z</dcterms:created>
  <dcterms:modified xsi:type="dcterms:W3CDTF">2026-05-15T06:14:18Z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