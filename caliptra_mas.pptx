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9" r:id="rId7"/>
    <p:sldId id="260" r:id="rId8"/>
    <p:sldId id="258" r:id="rId9"/>
    <p:sldId id="263" r:id="rId10"/>
    <p:sldId id="264" r:id="rId11"/>
    <p:sldId id="265" r:id="rId12"/>
    <p:sldId id="266" r:id="rId13"/>
    <p:sldId id="267" r:id="rId14"/>
    <p:sldId id="268" r:id="rId15"/>
    <p:sldId id="270" r:id="rId16"/>
    <p:sldId id="269" r:id="rId17"/>
    <p:sldId id="271" r:id="rId18"/>
    <p:sldId id="272" r:id="rId19"/>
    <p:sldId id="273" r:id="rId20"/>
    <p:sldId id="274" r:id="rId21"/>
    <p:sldId id="275" r:id="rId22"/>
    <p:sldId id="276"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93" d="100"/>
          <a:sy n="93" d="100"/>
        </p:scale>
        <p:origin x="77"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38199" y="1093788"/>
            <a:ext cx="10506455" cy="2967208"/>
          </a:xfrm>
        </p:spPr>
        <p:txBody>
          <a:bodyPr>
            <a:normAutofit/>
          </a:bodyPr>
          <a:lstStyle/>
          <a:p>
            <a:r>
              <a:rPr lang="en-US" sz="4800" dirty="0" err="1"/>
              <a:t>ChipTrust</a:t>
            </a:r>
            <a:r>
              <a:rPr lang="en-US" sz="4800" dirty="0"/>
              <a:t> Security IP - </a:t>
            </a:r>
            <a:r>
              <a:rPr lang="en-US" sz="4800" dirty="0" err="1"/>
              <a:t>MicroArchitecture</a:t>
            </a:r>
            <a:endParaRPr lang="en-US" dirty="0" err="1"/>
          </a:p>
        </p:txBody>
      </p:sp>
      <p:sp>
        <p:nvSpPr>
          <p:cNvPr id="3" name="Subtitle 2"/>
          <p:cNvSpPr>
            <a:spLocks noGrp="1"/>
          </p:cNvSpPr>
          <p:nvPr>
            <p:ph type="subTitle" idx="1"/>
          </p:nvPr>
        </p:nvSpPr>
        <p:spPr>
          <a:xfrm>
            <a:off x="7400924" y="4619624"/>
            <a:ext cx="3946779" cy="1038225"/>
          </a:xfrm>
        </p:spPr>
        <p:txBody>
          <a:bodyPr vert="horz" lIns="91440" tIns="45720" rIns="91440" bIns="45720" rtlCol="0" anchor="t">
            <a:normAutofit fontScale="85000" lnSpcReduction="20000"/>
          </a:bodyPr>
          <a:lstStyle/>
          <a:p>
            <a:pPr algn="r"/>
            <a:r>
              <a:rPr lang="en-US" sz="1500" dirty="0"/>
              <a:t>                                 </a:t>
            </a:r>
            <a:r>
              <a:rPr lang="en-US"/>
              <a:t>    Jishnu Mohan</a:t>
            </a:r>
            <a:endParaRPr lang="en-US" dirty="0"/>
          </a:p>
          <a:p>
            <a:pPr algn="r"/>
            <a:r>
              <a:rPr lang="en-US" dirty="0"/>
              <a:t>      Lokesh </a:t>
            </a:r>
            <a:r>
              <a:rPr lang="en-US" dirty="0" err="1"/>
              <a:t>Kumbaganti</a:t>
            </a:r>
          </a:p>
          <a:p>
            <a:pPr algn="r"/>
            <a:r>
              <a:rPr lang="en-US" dirty="0"/>
              <a:t>Sravanthi </a:t>
            </a:r>
            <a:r>
              <a:rPr lang="en-US" dirty="0" err="1"/>
              <a:t>Vennapusa</a:t>
            </a:r>
            <a:r>
              <a:rPr lang="en-US" dirty="0"/>
              <a:t> </a:t>
            </a:r>
          </a:p>
        </p:txBody>
      </p:sp>
      <p:sp>
        <p:nvSpPr>
          <p:cNvPr id="10" name="Rectangle 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FA94E-2B38-60E2-36A6-874360528A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0FB657-6A0F-3ECC-DA11-151E6239B5C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67459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D18EB-9183-720C-313C-BB17F30608C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57AEFE6-BA9D-421C-E94D-BAA977C37C47}"/>
              </a:ext>
            </a:extLst>
          </p:cNvPr>
          <p:cNvSpPr/>
          <p:nvPr/>
        </p:nvSpPr>
        <p:spPr>
          <a:xfrm>
            <a:off x="187373" y="477337"/>
            <a:ext cx="11523070" cy="578348"/>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2">
                    <a:lumMod val="90000"/>
                    <a:lumOff val="10000"/>
                  </a:schemeClr>
                </a:solidFill>
              </a:rPr>
              <a:t>SoC (host chip)</a:t>
            </a:r>
          </a:p>
          <a:p>
            <a:pPr algn="ctr"/>
            <a:r>
              <a:rPr lang="en-GB" dirty="0">
                <a:solidFill>
                  <a:schemeClr val="tx2">
                    <a:lumMod val="90000"/>
                    <a:lumOff val="10000"/>
                  </a:schemeClr>
                </a:solidFill>
              </a:rPr>
              <a:t>.</a:t>
            </a:r>
            <a:r>
              <a:rPr lang="en-GB" dirty="0" err="1">
                <a:solidFill>
                  <a:schemeClr val="tx2">
                    <a:lumMod val="90000"/>
                    <a:lumOff val="10000"/>
                  </a:schemeClr>
                </a:solidFill>
              </a:rPr>
              <a:t>cptra_pwrgood</a:t>
            </a:r>
            <a:r>
              <a:rPr lang="en-GB" dirty="0">
                <a:solidFill>
                  <a:schemeClr val="tx2">
                    <a:lumMod val="90000"/>
                    <a:lumOff val="10000"/>
                  </a:schemeClr>
                </a:solidFill>
              </a:rPr>
              <a:t> .</a:t>
            </a:r>
            <a:r>
              <a:rPr lang="en-GB" dirty="0" err="1">
                <a:solidFill>
                  <a:schemeClr val="tx2">
                    <a:lumMod val="90000"/>
                    <a:lumOff val="10000"/>
                  </a:schemeClr>
                </a:solidFill>
              </a:rPr>
              <a:t>cptra_rst_b</a:t>
            </a:r>
            <a:r>
              <a:rPr lang="en-GB" dirty="0">
                <a:solidFill>
                  <a:schemeClr val="tx2">
                    <a:lumMod val="90000"/>
                    <a:lumOff val="10000"/>
                  </a:schemeClr>
                </a:solidFill>
              </a:rPr>
              <a:t> .fuse writes .AXI manager .TAP/JTAG</a:t>
            </a:r>
          </a:p>
        </p:txBody>
      </p:sp>
      <p:sp>
        <p:nvSpPr>
          <p:cNvPr id="5" name="Rectangle: Rounded Corners 4">
            <a:extLst>
              <a:ext uri="{FF2B5EF4-FFF2-40B4-BE49-F238E27FC236}">
                <a16:creationId xmlns:a16="http://schemas.microsoft.com/office/drawing/2014/main" id="{8093E66E-DBA7-9EC3-EF23-0D589532B017}"/>
              </a:ext>
            </a:extLst>
          </p:cNvPr>
          <p:cNvSpPr/>
          <p:nvPr/>
        </p:nvSpPr>
        <p:spPr>
          <a:xfrm>
            <a:off x="187372" y="1475613"/>
            <a:ext cx="11523071" cy="5180020"/>
          </a:xfrm>
          <a:prstGeom prst="roundRect">
            <a:avLst/>
          </a:prstGeom>
          <a:solidFill>
            <a:srgbClr val="92D050"/>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0" name="Group 9">
            <a:extLst>
              <a:ext uri="{FF2B5EF4-FFF2-40B4-BE49-F238E27FC236}">
                <a16:creationId xmlns:a16="http://schemas.microsoft.com/office/drawing/2014/main" id="{F87C8EE3-A74D-DC3C-C015-87BD6560BC3B}"/>
              </a:ext>
            </a:extLst>
          </p:cNvPr>
          <p:cNvGrpSpPr/>
          <p:nvPr/>
        </p:nvGrpSpPr>
        <p:grpSpPr>
          <a:xfrm>
            <a:off x="481555" y="1810333"/>
            <a:ext cx="10661755" cy="979039"/>
            <a:chOff x="1558979" y="4167264"/>
            <a:chExt cx="7195279" cy="1679022"/>
          </a:xfrm>
        </p:grpSpPr>
        <p:sp>
          <p:nvSpPr>
            <p:cNvPr id="9" name="Rectangle: Rounded Corners 8">
              <a:extLst>
                <a:ext uri="{FF2B5EF4-FFF2-40B4-BE49-F238E27FC236}">
                  <a16:creationId xmlns:a16="http://schemas.microsoft.com/office/drawing/2014/main" id="{71E3AC29-0BCF-FBDF-3E1E-0AE1900B69BC}"/>
                </a:ext>
              </a:extLst>
            </p:cNvPr>
            <p:cNvSpPr/>
            <p:nvPr/>
          </p:nvSpPr>
          <p:spPr>
            <a:xfrm>
              <a:off x="1558979" y="4167264"/>
              <a:ext cx="7195279" cy="1679022"/>
            </a:xfrm>
            <a:prstGeom prst="roundRect">
              <a:avLst/>
            </a:prstGeom>
            <a:solidFill>
              <a:schemeClr val="accent2">
                <a:lumMod val="20000"/>
                <a:lumOff val="80000"/>
              </a:schemeClr>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C30FFC7D-A6B5-7F6F-E94C-E89AAB4E45FC}"/>
                </a:ext>
              </a:extLst>
            </p:cNvPr>
            <p:cNvSpPr/>
            <p:nvPr/>
          </p:nvSpPr>
          <p:spPr>
            <a:xfrm>
              <a:off x="2093749" y="4654444"/>
              <a:ext cx="1633928" cy="88441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50000"/>
                    </a:schemeClr>
                  </a:solidFill>
                </a:rPr>
                <a:t>ROM (96 KiB)</a:t>
              </a:r>
            </a:p>
          </p:txBody>
        </p:sp>
        <p:sp>
          <p:nvSpPr>
            <p:cNvPr id="7" name="Rectangle: Rounded Corners 6">
              <a:extLst>
                <a:ext uri="{FF2B5EF4-FFF2-40B4-BE49-F238E27FC236}">
                  <a16:creationId xmlns:a16="http://schemas.microsoft.com/office/drawing/2014/main" id="{F431F17C-CD54-23E5-C092-FCA98A4C8F8D}"/>
                </a:ext>
              </a:extLst>
            </p:cNvPr>
            <p:cNvSpPr/>
            <p:nvPr/>
          </p:nvSpPr>
          <p:spPr>
            <a:xfrm>
              <a:off x="4601981" y="4654443"/>
              <a:ext cx="1633928" cy="88441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50000"/>
                    </a:schemeClr>
                  </a:solidFill>
                </a:rPr>
                <a:t>FMC</a:t>
              </a:r>
            </a:p>
          </p:txBody>
        </p:sp>
        <p:sp>
          <p:nvSpPr>
            <p:cNvPr id="8" name="Rectangle: Rounded Corners 7">
              <a:extLst>
                <a:ext uri="{FF2B5EF4-FFF2-40B4-BE49-F238E27FC236}">
                  <a16:creationId xmlns:a16="http://schemas.microsoft.com/office/drawing/2014/main" id="{523F8287-275D-0B89-5867-AF66824786FC}"/>
                </a:ext>
              </a:extLst>
            </p:cNvPr>
            <p:cNvSpPr/>
            <p:nvPr/>
          </p:nvSpPr>
          <p:spPr>
            <a:xfrm>
              <a:off x="6947943" y="4654443"/>
              <a:ext cx="1633928" cy="88441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50000"/>
                    </a:schemeClr>
                  </a:solidFill>
                </a:rPr>
                <a:t>Runtime FW</a:t>
              </a:r>
            </a:p>
          </p:txBody>
        </p:sp>
      </p:grpSp>
      <p:sp>
        <p:nvSpPr>
          <p:cNvPr id="11" name="TextBox 10">
            <a:extLst>
              <a:ext uri="{FF2B5EF4-FFF2-40B4-BE49-F238E27FC236}">
                <a16:creationId xmlns:a16="http://schemas.microsoft.com/office/drawing/2014/main" id="{EC05A288-6E25-AD73-B356-35F37591305A}"/>
              </a:ext>
            </a:extLst>
          </p:cNvPr>
          <p:cNvSpPr txBox="1"/>
          <p:nvPr/>
        </p:nvSpPr>
        <p:spPr>
          <a:xfrm>
            <a:off x="1126757" y="1750616"/>
            <a:ext cx="4886794" cy="369332"/>
          </a:xfrm>
          <a:prstGeom prst="rect">
            <a:avLst/>
          </a:prstGeom>
          <a:noFill/>
        </p:spPr>
        <p:txBody>
          <a:bodyPr wrap="square" rtlCol="0">
            <a:spAutoFit/>
          </a:bodyPr>
          <a:lstStyle/>
          <a:p>
            <a:r>
              <a:rPr lang="en-GB" b="1" dirty="0">
                <a:solidFill>
                  <a:schemeClr val="accent2">
                    <a:lumMod val="50000"/>
                  </a:schemeClr>
                </a:solidFill>
              </a:rPr>
              <a:t>Firmware stack (SW – runs on </a:t>
            </a:r>
            <a:r>
              <a:rPr lang="en-GB" b="1" dirty="0" err="1">
                <a:solidFill>
                  <a:schemeClr val="accent2">
                    <a:lumMod val="50000"/>
                  </a:schemeClr>
                </a:solidFill>
              </a:rPr>
              <a:t>VeeR</a:t>
            </a:r>
            <a:r>
              <a:rPr lang="en-GB" b="1" dirty="0">
                <a:solidFill>
                  <a:schemeClr val="accent2">
                    <a:lumMod val="50000"/>
                  </a:schemeClr>
                </a:solidFill>
              </a:rPr>
              <a:t> EL2)</a:t>
            </a:r>
          </a:p>
        </p:txBody>
      </p:sp>
      <p:sp>
        <p:nvSpPr>
          <p:cNvPr id="12" name="Rectangle: Rounded Corners 11">
            <a:extLst>
              <a:ext uri="{FF2B5EF4-FFF2-40B4-BE49-F238E27FC236}">
                <a16:creationId xmlns:a16="http://schemas.microsoft.com/office/drawing/2014/main" id="{9D844132-0CD2-1D8E-76F9-A4DAE49DEFD5}"/>
              </a:ext>
            </a:extLst>
          </p:cNvPr>
          <p:cNvSpPr/>
          <p:nvPr/>
        </p:nvSpPr>
        <p:spPr>
          <a:xfrm>
            <a:off x="481556" y="3001779"/>
            <a:ext cx="10661755" cy="673169"/>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accent4">
                    <a:lumMod val="50000"/>
                  </a:schemeClr>
                </a:solidFill>
              </a:rPr>
              <a:t>VeeR</a:t>
            </a:r>
            <a:r>
              <a:rPr lang="en-GB" b="1" dirty="0">
                <a:solidFill>
                  <a:schemeClr val="accent4">
                    <a:lumMod val="50000"/>
                  </a:schemeClr>
                </a:solidFill>
              </a:rPr>
              <a:t> EL2 RISC-V core (32-bit, 4-stage in-order pipeline)</a:t>
            </a:r>
          </a:p>
          <a:p>
            <a:pPr algn="ctr"/>
            <a:r>
              <a:rPr lang="en-GB" dirty="0">
                <a:solidFill>
                  <a:schemeClr val="accent4">
                    <a:lumMod val="50000"/>
                  </a:schemeClr>
                </a:solidFill>
              </a:rPr>
              <a:t>.IFU (AHB-Lite) .LSU (AHB-Lite) .31 external IRQs .PMP enabled .WDT NMI .ICCM 256 KiB .DCCM 256 KiB</a:t>
            </a:r>
          </a:p>
        </p:txBody>
      </p:sp>
      <p:sp>
        <p:nvSpPr>
          <p:cNvPr id="13" name="Rectangle: Rounded Corners 12">
            <a:extLst>
              <a:ext uri="{FF2B5EF4-FFF2-40B4-BE49-F238E27FC236}">
                <a16:creationId xmlns:a16="http://schemas.microsoft.com/office/drawing/2014/main" id="{AC6DB9A8-4875-C642-A82B-EA9D725DF535}"/>
              </a:ext>
            </a:extLst>
          </p:cNvPr>
          <p:cNvSpPr/>
          <p:nvPr/>
        </p:nvSpPr>
        <p:spPr>
          <a:xfrm>
            <a:off x="481555" y="4025652"/>
            <a:ext cx="10661755" cy="31960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AHB-Lite Interconnect – address decoder routes to 17 target slaves</a:t>
            </a:r>
            <a:endParaRPr lang="en-GB" dirty="0"/>
          </a:p>
        </p:txBody>
      </p:sp>
      <p:grpSp>
        <p:nvGrpSpPr>
          <p:cNvPr id="14" name="Group 13">
            <a:extLst>
              <a:ext uri="{FF2B5EF4-FFF2-40B4-BE49-F238E27FC236}">
                <a16:creationId xmlns:a16="http://schemas.microsoft.com/office/drawing/2014/main" id="{9F7A9052-0A46-16DE-B84C-EFB472D82E0D}"/>
              </a:ext>
            </a:extLst>
          </p:cNvPr>
          <p:cNvGrpSpPr/>
          <p:nvPr/>
        </p:nvGrpSpPr>
        <p:grpSpPr>
          <a:xfrm>
            <a:off x="481556" y="4695962"/>
            <a:ext cx="10777929" cy="828208"/>
            <a:chOff x="1558979" y="4470758"/>
            <a:chExt cx="7195279" cy="1288724"/>
          </a:xfrm>
        </p:grpSpPr>
        <p:sp>
          <p:nvSpPr>
            <p:cNvPr id="15" name="Rectangle: Rounded Corners 14">
              <a:extLst>
                <a:ext uri="{FF2B5EF4-FFF2-40B4-BE49-F238E27FC236}">
                  <a16:creationId xmlns:a16="http://schemas.microsoft.com/office/drawing/2014/main" id="{94C1ED94-5F3A-B583-7C68-D83EDCB5121A}"/>
                </a:ext>
              </a:extLst>
            </p:cNvPr>
            <p:cNvSpPr/>
            <p:nvPr/>
          </p:nvSpPr>
          <p:spPr>
            <a:xfrm>
              <a:off x="1558979" y="4470758"/>
              <a:ext cx="7195279" cy="1288724"/>
            </a:xfrm>
            <a:prstGeom prst="round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Rounded Corners 15">
              <a:extLst>
                <a:ext uri="{FF2B5EF4-FFF2-40B4-BE49-F238E27FC236}">
                  <a16:creationId xmlns:a16="http://schemas.microsoft.com/office/drawing/2014/main" id="{8A046E11-14AB-7396-9AC3-E74FB1374819}"/>
                </a:ext>
              </a:extLst>
            </p:cNvPr>
            <p:cNvSpPr/>
            <p:nvPr/>
          </p:nvSpPr>
          <p:spPr>
            <a:xfrm>
              <a:off x="2083633" y="4654444"/>
              <a:ext cx="1633928" cy="884419"/>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5">
                      <a:lumMod val="50000"/>
                    </a:schemeClr>
                  </a:solidFill>
                </a:rPr>
                <a:t>Crypto subsystem</a:t>
              </a:r>
            </a:p>
          </p:txBody>
        </p:sp>
        <p:sp>
          <p:nvSpPr>
            <p:cNvPr id="17" name="Rectangle: Rounded Corners 16">
              <a:extLst>
                <a:ext uri="{FF2B5EF4-FFF2-40B4-BE49-F238E27FC236}">
                  <a16:creationId xmlns:a16="http://schemas.microsoft.com/office/drawing/2014/main" id="{5884F984-F96A-57C0-37A0-23F6A8E9AB29}"/>
                </a:ext>
              </a:extLst>
            </p:cNvPr>
            <p:cNvSpPr/>
            <p:nvPr/>
          </p:nvSpPr>
          <p:spPr>
            <a:xfrm>
              <a:off x="4601981" y="4654443"/>
              <a:ext cx="1633928" cy="884419"/>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3">
                      <a:lumMod val="50000"/>
                    </a:schemeClr>
                  </a:solidFill>
                </a:rPr>
                <a:t>Peripherals</a:t>
              </a:r>
            </a:p>
          </p:txBody>
        </p:sp>
        <p:sp>
          <p:nvSpPr>
            <p:cNvPr id="18" name="Rectangle: Rounded Corners 17">
              <a:extLst>
                <a:ext uri="{FF2B5EF4-FFF2-40B4-BE49-F238E27FC236}">
                  <a16:creationId xmlns:a16="http://schemas.microsoft.com/office/drawing/2014/main" id="{3B1C8435-CABF-A2F3-1320-84CC38A4BB5F}"/>
                </a:ext>
              </a:extLst>
            </p:cNvPr>
            <p:cNvSpPr/>
            <p:nvPr/>
          </p:nvSpPr>
          <p:spPr>
            <a:xfrm>
              <a:off x="6947943" y="4654443"/>
              <a:ext cx="1633928" cy="884419"/>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2">
                      <a:lumMod val="10000"/>
                    </a:schemeClr>
                  </a:solidFill>
                </a:rPr>
                <a:t>SoC interface</a:t>
              </a:r>
            </a:p>
          </p:txBody>
        </p:sp>
      </p:grpSp>
      <p:sp>
        <p:nvSpPr>
          <p:cNvPr id="19" name="Rectangle: Rounded Corners 18">
            <a:extLst>
              <a:ext uri="{FF2B5EF4-FFF2-40B4-BE49-F238E27FC236}">
                <a16:creationId xmlns:a16="http://schemas.microsoft.com/office/drawing/2014/main" id="{B6951489-55CF-EC2F-EDEB-0F532B4291F4}"/>
              </a:ext>
            </a:extLst>
          </p:cNvPr>
          <p:cNvSpPr/>
          <p:nvPr/>
        </p:nvSpPr>
        <p:spPr>
          <a:xfrm>
            <a:off x="481555" y="5736577"/>
            <a:ext cx="10777929" cy="644086"/>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lumMod val="95000"/>
                    <a:lumOff val="5000"/>
                  </a:schemeClr>
                </a:solidFill>
              </a:rPr>
              <a:t>Chip Trust outputs to SoC</a:t>
            </a:r>
          </a:p>
          <a:p>
            <a:pPr algn="ctr"/>
            <a:r>
              <a:rPr lang="en-GB" dirty="0">
                <a:solidFill>
                  <a:schemeClr val="tx1">
                    <a:lumMod val="95000"/>
                    <a:lumOff val="5000"/>
                  </a:schemeClr>
                </a:solidFill>
              </a:rPr>
              <a:t>.</a:t>
            </a:r>
            <a:r>
              <a:rPr lang="en-GB" dirty="0" err="1">
                <a:solidFill>
                  <a:schemeClr val="tx1">
                    <a:lumMod val="95000"/>
                    <a:lumOff val="5000"/>
                  </a:schemeClr>
                </a:solidFill>
              </a:rPr>
              <a:t>ready_for_fuses</a:t>
            </a:r>
            <a:r>
              <a:rPr lang="en-GB" dirty="0">
                <a:solidFill>
                  <a:schemeClr val="tx1">
                    <a:lumMod val="95000"/>
                    <a:lumOff val="5000"/>
                  </a:schemeClr>
                </a:solidFill>
              </a:rPr>
              <a:t> .</a:t>
            </a:r>
            <a:r>
              <a:rPr lang="en-GB" dirty="0" err="1">
                <a:solidFill>
                  <a:schemeClr val="tx1">
                    <a:lumMod val="95000"/>
                    <a:lumOff val="5000"/>
                  </a:schemeClr>
                </a:solidFill>
              </a:rPr>
              <a:t>ready_for_fw</a:t>
            </a:r>
            <a:r>
              <a:rPr lang="en-GB" dirty="0">
                <a:solidFill>
                  <a:schemeClr val="tx1">
                    <a:lumMod val="95000"/>
                    <a:lumOff val="5000"/>
                  </a:schemeClr>
                </a:solidFill>
              </a:rPr>
              <a:t> .</a:t>
            </a:r>
            <a:r>
              <a:rPr lang="en-GB" dirty="0" err="1">
                <a:solidFill>
                  <a:schemeClr val="tx1">
                    <a:lumMod val="95000"/>
                    <a:lumOff val="5000"/>
                  </a:schemeClr>
                </a:solidFill>
              </a:rPr>
              <a:t>error_fatal</a:t>
            </a:r>
            <a:r>
              <a:rPr lang="en-GB" dirty="0">
                <a:solidFill>
                  <a:schemeClr val="tx1">
                    <a:lumMod val="95000"/>
                    <a:lumOff val="5000"/>
                  </a:schemeClr>
                </a:solidFill>
              </a:rPr>
              <a:t> .</a:t>
            </a:r>
            <a:r>
              <a:rPr lang="en-GB" dirty="0" err="1">
                <a:solidFill>
                  <a:schemeClr val="tx1">
                    <a:lumMod val="95000"/>
                    <a:lumOff val="5000"/>
                  </a:schemeClr>
                </a:solidFill>
              </a:rPr>
              <a:t>error_non</a:t>
            </a:r>
            <a:r>
              <a:rPr lang="en-GB" dirty="0">
                <a:solidFill>
                  <a:schemeClr val="tx1">
                    <a:lumMod val="95000"/>
                    <a:lumOff val="5000"/>
                  </a:schemeClr>
                </a:solidFill>
              </a:rPr>
              <a:t>-fatal .</a:t>
            </a:r>
            <a:r>
              <a:rPr lang="en-GB" dirty="0" err="1">
                <a:solidFill>
                  <a:schemeClr val="tx1">
                    <a:lumMod val="95000"/>
                    <a:lumOff val="5000"/>
                  </a:schemeClr>
                </a:solidFill>
              </a:rPr>
              <a:t>security_state</a:t>
            </a:r>
            <a:r>
              <a:rPr lang="en-GB" dirty="0">
                <a:solidFill>
                  <a:schemeClr val="tx1">
                    <a:lumMod val="95000"/>
                    <a:lumOff val="5000"/>
                  </a:schemeClr>
                </a:solidFill>
              </a:rPr>
              <a:t> .</a:t>
            </a:r>
            <a:r>
              <a:rPr lang="en-GB" dirty="0" err="1">
                <a:solidFill>
                  <a:schemeClr val="tx1">
                    <a:lumMod val="95000"/>
                    <a:lumOff val="5000"/>
                  </a:schemeClr>
                </a:solidFill>
              </a:rPr>
              <a:t>idevid_cert_chain</a:t>
            </a:r>
            <a:endParaRPr lang="en-GB" dirty="0">
              <a:solidFill>
                <a:schemeClr val="tx1">
                  <a:lumMod val="95000"/>
                  <a:lumOff val="5000"/>
                </a:schemeClr>
              </a:solidFill>
            </a:endParaRPr>
          </a:p>
        </p:txBody>
      </p:sp>
      <p:cxnSp>
        <p:nvCxnSpPr>
          <p:cNvPr id="21" name="Straight Arrow Connector 20">
            <a:extLst>
              <a:ext uri="{FF2B5EF4-FFF2-40B4-BE49-F238E27FC236}">
                <a16:creationId xmlns:a16="http://schemas.microsoft.com/office/drawing/2014/main" id="{9EB9B152-EF6C-FF2A-FBF5-9B29E7CABDEB}"/>
              </a:ext>
            </a:extLst>
          </p:cNvPr>
          <p:cNvCxnSpPr/>
          <p:nvPr/>
        </p:nvCxnSpPr>
        <p:spPr>
          <a:xfrm>
            <a:off x="2323475" y="5524170"/>
            <a:ext cx="0" cy="21240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9AE67BA0-6A8B-7F47-5F78-4F588C87802C}"/>
              </a:ext>
            </a:extLst>
          </p:cNvPr>
          <p:cNvCxnSpPr/>
          <p:nvPr/>
        </p:nvCxnSpPr>
        <p:spPr>
          <a:xfrm>
            <a:off x="6096000" y="5524170"/>
            <a:ext cx="0" cy="21240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A8F79598-702E-82A6-171C-775A71F3A4EE}"/>
              </a:ext>
            </a:extLst>
          </p:cNvPr>
          <p:cNvCxnSpPr/>
          <p:nvPr/>
        </p:nvCxnSpPr>
        <p:spPr>
          <a:xfrm>
            <a:off x="9883515" y="5524170"/>
            <a:ext cx="0" cy="21240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C132366D-CD92-F7DB-1108-E3BD08B7D32F}"/>
              </a:ext>
            </a:extLst>
          </p:cNvPr>
          <p:cNvCxnSpPr>
            <a:cxnSpLocks/>
          </p:cNvCxnSpPr>
          <p:nvPr/>
        </p:nvCxnSpPr>
        <p:spPr>
          <a:xfrm>
            <a:off x="6013551" y="2789372"/>
            <a:ext cx="0" cy="212407"/>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B730412-2E33-3EF3-3989-069B89291047}"/>
              </a:ext>
            </a:extLst>
          </p:cNvPr>
          <p:cNvCxnSpPr>
            <a:cxnSpLocks/>
          </p:cNvCxnSpPr>
          <p:nvPr/>
        </p:nvCxnSpPr>
        <p:spPr>
          <a:xfrm>
            <a:off x="5996373" y="3674948"/>
            <a:ext cx="0" cy="35070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5C084404-6701-335C-AA88-2755FC516028}"/>
              </a:ext>
            </a:extLst>
          </p:cNvPr>
          <p:cNvSpPr txBox="1"/>
          <p:nvPr/>
        </p:nvSpPr>
        <p:spPr>
          <a:xfrm>
            <a:off x="6056648" y="3665634"/>
            <a:ext cx="5274027" cy="369332"/>
          </a:xfrm>
          <a:prstGeom prst="rect">
            <a:avLst/>
          </a:prstGeom>
          <a:noFill/>
        </p:spPr>
        <p:txBody>
          <a:bodyPr wrap="square" rtlCol="0">
            <a:spAutoFit/>
          </a:bodyPr>
          <a:lstStyle/>
          <a:p>
            <a:r>
              <a:rPr lang="en-GB" dirty="0"/>
              <a:t>AHB-Lite fabric (32-bit </a:t>
            </a:r>
            <a:r>
              <a:rPr lang="en-GB" dirty="0" err="1"/>
              <a:t>addr</a:t>
            </a:r>
            <a:r>
              <a:rPr lang="en-GB" dirty="0"/>
              <a:t>, 64-bit data, 17 targets)</a:t>
            </a:r>
          </a:p>
        </p:txBody>
      </p:sp>
      <p:cxnSp>
        <p:nvCxnSpPr>
          <p:cNvPr id="31" name="Straight Arrow Connector 30">
            <a:extLst>
              <a:ext uri="{FF2B5EF4-FFF2-40B4-BE49-F238E27FC236}">
                <a16:creationId xmlns:a16="http://schemas.microsoft.com/office/drawing/2014/main" id="{E99BCA84-C343-DD87-DF01-F86679570FE7}"/>
              </a:ext>
            </a:extLst>
          </p:cNvPr>
          <p:cNvCxnSpPr>
            <a:cxnSpLocks/>
          </p:cNvCxnSpPr>
          <p:nvPr/>
        </p:nvCxnSpPr>
        <p:spPr>
          <a:xfrm>
            <a:off x="2323475" y="4345258"/>
            <a:ext cx="0" cy="35070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C1E9A6A6-7729-29D2-34DF-25C16708E68A}"/>
              </a:ext>
            </a:extLst>
          </p:cNvPr>
          <p:cNvCxnSpPr>
            <a:cxnSpLocks/>
          </p:cNvCxnSpPr>
          <p:nvPr/>
        </p:nvCxnSpPr>
        <p:spPr>
          <a:xfrm>
            <a:off x="6013551" y="4345258"/>
            <a:ext cx="0" cy="35070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9DD1ABFE-572D-556D-4558-095C46615CA1}"/>
              </a:ext>
            </a:extLst>
          </p:cNvPr>
          <p:cNvCxnSpPr>
            <a:cxnSpLocks/>
          </p:cNvCxnSpPr>
          <p:nvPr/>
        </p:nvCxnSpPr>
        <p:spPr>
          <a:xfrm>
            <a:off x="9777519" y="4345258"/>
            <a:ext cx="0" cy="350704"/>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44E4D4A9-D81D-AB0B-5A21-BC684D6C425E}"/>
              </a:ext>
            </a:extLst>
          </p:cNvPr>
          <p:cNvCxnSpPr>
            <a:cxnSpLocks/>
            <a:endCxn id="5" idx="0"/>
          </p:cNvCxnSpPr>
          <p:nvPr/>
        </p:nvCxnSpPr>
        <p:spPr>
          <a:xfrm>
            <a:off x="5948907" y="1081193"/>
            <a:ext cx="1" cy="39442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2869C0B9-DD5C-50D8-FA7C-CDDE690C886C}"/>
              </a:ext>
            </a:extLst>
          </p:cNvPr>
          <p:cNvSpPr txBox="1"/>
          <p:nvPr/>
        </p:nvSpPr>
        <p:spPr>
          <a:xfrm>
            <a:off x="6096000" y="1080983"/>
            <a:ext cx="4886794" cy="369332"/>
          </a:xfrm>
          <a:prstGeom prst="rect">
            <a:avLst/>
          </a:prstGeom>
          <a:noFill/>
        </p:spPr>
        <p:txBody>
          <a:bodyPr wrap="square" rtlCol="0">
            <a:spAutoFit/>
          </a:bodyPr>
          <a:lstStyle/>
          <a:p>
            <a:r>
              <a:rPr lang="en-GB" dirty="0"/>
              <a:t>AXI subordinate</a:t>
            </a:r>
          </a:p>
        </p:txBody>
      </p:sp>
      <p:sp>
        <p:nvSpPr>
          <p:cNvPr id="42" name="TextBox 41">
            <a:extLst>
              <a:ext uri="{FF2B5EF4-FFF2-40B4-BE49-F238E27FC236}">
                <a16:creationId xmlns:a16="http://schemas.microsoft.com/office/drawing/2014/main" id="{2D41D3D9-321E-1D4B-557A-C68F8E1BAF0C}"/>
              </a:ext>
            </a:extLst>
          </p:cNvPr>
          <p:cNvSpPr txBox="1"/>
          <p:nvPr/>
        </p:nvSpPr>
        <p:spPr>
          <a:xfrm>
            <a:off x="1135660" y="1458307"/>
            <a:ext cx="4886794" cy="369332"/>
          </a:xfrm>
          <a:prstGeom prst="rect">
            <a:avLst/>
          </a:prstGeom>
          <a:noFill/>
        </p:spPr>
        <p:txBody>
          <a:bodyPr wrap="square" rtlCol="0">
            <a:spAutoFit/>
          </a:bodyPr>
          <a:lstStyle/>
          <a:p>
            <a:r>
              <a:rPr lang="en-GB" dirty="0"/>
              <a:t>Chip Trust IP boundary</a:t>
            </a:r>
          </a:p>
        </p:txBody>
      </p:sp>
    </p:spTree>
    <p:extLst>
      <p:ext uri="{BB962C8B-B14F-4D97-AF65-F5344CB8AC3E}">
        <p14:creationId xmlns:p14="http://schemas.microsoft.com/office/powerpoint/2010/main" val="3358378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78EA2-E4D7-AAE4-9BC6-0A219C81BC71}"/>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dirty="0"/>
              <a:t>Firmware Stack</a:t>
            </a:r>
          </a:p>
        </p:txBody>
      </p:sp>
      <p:grpSp>
        <p:nvGrpSpPr>
          <p:cNvPr id="4" name="Group 3">
            <a:extLst>
              <a:ext uri="{FF2B5EF4-FFF2-40B4-BE49-F238E27FC236}">
                <a16:creationId xmlns:a16="http://schemas.microsoft.com/office/drawing/2014/main" id="{AC1AA033-4EA9-1B84-FE50-16FDBE550831}"/>
              </a:ext>
            </a:extLst>
          </p:cNvPr>
          <p:cNvGrpSpPr/>
          <p:nvPr/>
        </p:nvGrpSpPr>
        <p:grpSpPr>
          <a:xfrm>
            <a:off x="765122" y="1082635"/>
            <a:ext cx="10661755" cy="2927720"/>
            <a:chOff x="1558978" y="4257142"/>
            <a:chExt cx="7195279" cy="1679022"/>
          </a:xfrm>
        </p:grpSpPr>
        <p:sp>
          <p:nvSpPr>
            <p:cNvPr id="5" name="Rectangle: Rounded Corners 4">
              <a:extLst>
                <a:ext uri="{FF2B5EF4-FFF2-40B4-BE49-F238E27FC236}">
                  <a16:creationId xmlns:a16="http://schemas.microsoft.com/office/drawing/2014/main" id="{8DDFEAEB-791A-0A45-C902-73622C3230D0}"/>
                </a:ext>
              </a:extLst>
            </p:cNvPr>
            <p:cNvSpPr/>
            <p:nvPr/>
          </p:nvSpPr>
          <p:spPr>
            <a:xfrm>
              <a:off x="1558978" y="4257142"/>
              <a:ext cx="7195279" cy="1679022"/>
            </a:xfrm>
            <a:prstGeom prst="roundRect">
              <a:avLst/>
            </a:prstGeom>
            <a:solidFill>
              <a:schemeClr val="accent2">
                <a:lumMod val="20000"/>
                <a:lumOff val="80000"/>
              </a:schemeClr>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4797FF22-E8CB-3B8A-9B97-F6044E6C65D8}"/>
                </a:ext>
              </a:extLst>
            </p:cNvPr>
            <p:cNvSpPr/>
            <p:nvPr/>
          </p:nvSpPr>
          <p:spPr>
            <a:xfrm>
              <a:off x="1709327" y="4654443"/>
              <a:ext cx="2094227" cy="88441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rPr>
                <a:t>ROM (96 KiB - immutable)</a:t>
              </a:r>
            </a:p>
            <a:p>
              <a:pPr algn="ctr"/>
              <a:r>
                <a:rPr lang="en-GB" dirty="0">
                  <a:solidFill>
                    <a:schemeClr val="accent2">
                      <a:lumMod val="75000"/>
                    </a:schemeClr>
                  </a:solidFill>
                </a:rPr>
                <a:t>First code executed</a:t>
              </a:r>
            </a:p>
            <a:p>
              <a:pPr algn="ctr"/>
              <a:r>
                <a:rPr lang="en-GB" dirty="0">
                  <a:solidFill>
                    <a:schemeClr val="accent2">
                      <a:lumMod val="75000"/>
                    </a:schemeClr>
                  </a:solidFill>
                </a:rPr>
                <a:t>UDS decrypt</a:t>
              </a:r>
            </a:p>
            <a:p>
              <a:pPr algn="ctr"/>
              <a:r>
                <a:rPr lang="en-GB" dirty="0">
                  <a:solidFill>
                    <a:schemeClr val="accent2">
                      <a:lumMod val="75000"/>
                    </a:schemeClr>
                  </a:solidFill>
                </a:rPr>
                <a:t>Mailbox enable</a:t>
              </a:r>
            </a:p>
            <a:p>
              <a:pPr algn="ctr"/>
              <a:r>
                <a:rPr lang="en-GB" dirty="0">
                  <a:solidFill>
                    <a:schemeClr val="accent2">
                      <a:lumMod val="75000"/>
                    </a:schemeClr>
                  </a:solidFill>
                </a:rPr>
                <a:t>Asserts READY_FOR_FW</a:t>
              </a:r>
            </a:p>
          </p:txBody>
        </p:sp>
        <p:sp>
          <p:nvSpPr>
            <p:cNvPr id="7" name="Rectangle: Rounded Corners 6">
              <a:extLst>
                <a:ext uri="{FF2B5EF4-FFF2-40B4-BE49-F238E27FC236}">
                  <a16:creationId xmlns:a16="http://schemas.microsoft.com/office/drawing/2014/main" id="{DFE9BD64-48D8-089E-02DF-E39DA9E696A4}"/>
                </a:ext>
              </a:extLst>
            </p:cNvPr>
            <p:cNvSpPr/>
            <p:nvPr/>
          </p:nvSpPr>
          <p:spPr>
            <a:xfrm>
              <a:off x="4045580" y="4654443"/>
              <a:ext cx="2094227" cy="89673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rPr>
                <a:t>FMC (First Mutable Code)</a:t>
              </a:r>
            </a:p>
            <a:p>
              <a:pPr algn="ctr"/>
              <a:r>
                <a:rPr lang="en-GB" dirty="0">
                  <a:solidFill>
                    <a:schemeClr val="accent2">
                      <a:lumMod val="75000"/>
                    </a:schemeClr>
                  </a:solidFill>
                </a:rPr>
                <a:t>DICE cert chain build</a:t>
              </a:r>
            </a:p>
            <a:p>
              <a:pPr algn="ctr"/>
              <a:r>
                <a:rPr lang="en-GB" dirty="0" err="1">
                  <a:solidFill>
                    <a:schemeClr val="accent2">
                      <a:lumMod val="75000"/>
                    </a:schemeClr>
                  </a:solidFill>
                </a:rPr>
                <a:t>IDevID</a:t>
              </a:r>
              <a:r>
                <a:rPr lang="en-GB" dirty="0">
                  <a:solidFill>
                    <a:schemeClr val="accent2">
                      <a:lumMod val="75000"/>
                    </a:schemeClr>
                  </a:solidFill>
                </a:rPr>
                <a:t> </a:t>
              </a:r>
              <a:r>
                <a:rPr lang="en-GB" dirty="0">
                  <a:solidFill>
                    <a:schemeClr val="accent2">
                      <a:lumMod val="75000"/>
                    </a:schemeClr>
                  </a:solidFill>
                  <a:sym typeface="Wingdings" panose="05000000000000000000" pitchFamily="2" charset="2"/>
                </a:rPr>
                <a:t> </a:t>
              </a:r>
              <a:r>
                <a:rPr lang="en-GB" dirty="0" err="1">
                  <a:solidFill>
                    <a:schemeClr val="accent2">
                      <a:lumMod val="75000"/>
                    </a:schemeClr>
                  </a:solidFill>
                  <a:sym typeface="Wingdings" panose="05000000000000000000" pitchFamily="2" charset="2"/>
                </a:rPr>
                <a:t>LDevID</a:t>
              </a:r>
              <a:endParaRPr lang="en-GB" dirty="0">
                <a:solidFill>
                  <a:schemeClr val="accent2">
                    <a:lumMod val="75000"/>
                  </a:schemeClr>
                </a:solidFill>
                <a:sym typeface="Wingdings" panose="05000000000000000000" pitchFamily="2" charset="2"/>
              </a:endParaRPr>
            </a:p>
            <a:p>
              <a:pPr algn="ctr"/>
              <a:r>
                <a:rPr lang="en-GB" dirty="0">
                  <a:solidFill>
                    <a:schemeClr val="accent2">
                      <a:lumMod val="75000"/>
                    </a:schemeClr>
                  </a:solidFill>
                  <a:sym typeface="Wingdings" panose="05000000000000000000" pitchFamily="2" charset="2"/>
                </a:rPr>
                <a:t>Loads runtime firmware </a:t>
              </a:r>
            </a:p>
            <a:p>
              <a:pPr algn="ctr"/>
              <a:r>
                <a:rPr lang="en-GB" dirty="0">
                  <a:solidFill>
                    <a:schemeClr val="accent2">
                      <a:lumMod val="75000"/>
                    </a:schemeClr>
                  </a:solidFill>
                  <a:sym typeface="Wingdings" panose="05000000000000000000" pitchFamily="2" charset="2"/>
                </a:rPr>
                <a:t>Verifies signature</a:t>
              </a:r>
              <a:endParaRPr lang="en-GB" dirty="0">
                <a:solidFill>
                  <a:schemeClr val="accent2">
                    <a:lumMod val="75000"/>
                  </a:schemeClr>
                </a:solidFill>
              </a:endParaRPr>
            </a:p>
          </p:txBody>
        </p:sp>
        <p:sp>
          <p:nvSpPr>
            <p:cNvPr id="8" name="Rectangle: Rounded Corners 7">
              <a:extLst>
                <a:ext uri="{FF2B5EF4-FFF2-40B4-BE49-F238E27FC236}">
                  <a16:creationId xmlns:a16="http://schemas.microsoft.com/office/drawing/2014/main" id="{5D1E2B11-F659-AD7D-C043-D36458D41B09}"/>
                </a:ext>
              </a:extLst>
            </p:cNvPr>
            <p:cNvSpPr/>
            <p:nvPr/>
          </p:nvSpPr>
          <p:spPr>
            <a:xfrm>
              <a:off x="6381832" y="4654443"/>
              <a:ext cx="1903281" cy="89673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75000"/>
                    </a:schemeClr>
                  </a:solidFill>
                </a:rPr>
                <a:t>Runtime FW</a:t>
              </a:r>
            </a:p>
            <a:p>
              <a:pPr algn="ctr"/>
              <a:r>
                <a:rPr lang="en-GB" dirty="0">
                  <a:solidFill>
                    <a:schemeClr val="accent2">
                      <a:lumMod val="75000"/>
                    </a:schemeClr>
                  </a:solidFill>
                </a:rPr>
                <a:t>Post-boot services</a:t>
              </a:r>
            </a:p>
            <a:p>
              <a:pPr algn="ctr"/>
              <a:r>
                <a:rPr lang="en-GB" dirty="0">
                  <a:solidFill>
                    <a:schemeClr val="accent2">
                      <a:lumMod val="75000"/>
                    </a:schemeClr>
                  </a:solidFill>
                </a:rPr>
                <a:t>Attestation requests</a:t>
              </a:r>
            </a:p>
            <a:p>
              <a:pPr algn="ctr"/>
              <a:r>
                <a:rPr lang="en-GB" dirty="0">
                  <a:solidFill>
                    <a:schemeClr val="accent2">
                      <a:lumMod val="75000"/>
                    </a:schemeClr>
                  </a:solidFill>
                </a:rPr>
                <a:t>Crypto services</a:t>
              </a:r>
            </a:p>
            <a:p>
              <a:pPr algn="ctr"/>
              <a:r>
                <a:rPr lang="en-GB" dirty="0">
                  <a:solidFill>
                    <a:schemeClr val="accent2">
                      <a:lumMod val="75000"/>
                    </a:schemeClr>
                  </a:solidFill>
                </a:rPr>
                <a:t>WDT servicing</a:t>
              </a:r>
            </a:p>
            <a:p>
              <a:pPr algn="ctr"/>
              <a:r>
                <a:rPr lang="en-GB" dirty="0">
                  <a:solidFill>
                    <a:schemeClr val="accent2">
                      <a:lumMod val="75000"/>
                    </a:schemeClr>
                  </a:solidFill>
                </a:rPr>
                <a:t>Impactless FW update</a:t>
              </a:r>
            </a:p>
          </p:txBody>
        </p:sp>
      </p:grpSp>
      <p:sp>
        <p:nvSpPr>
          <p:cNvPr id="9" name="TextBox 8">
            <a:extLst>
              <a:ext uri="{FF2B5EF4-FFF2-40B4-BE49-F238E27FC236}">
                <a16:creationId xmlns:a16="http://schemas.microsoft.com/office/drawing/2014/main" id="{9AC11D1C-931D-67DE-2653-CE382ECC3DB6}"/>
              </a:ext>
            </a:extLst>
          </p:cNvPr>
          <p:cNvSpPr txBox="1"/>
          <p:nvPr/>
        </p:nvSpPr>
        <p:spPr>
          <a:xfrm>
            <a:off x="1209205" y="1214653"/>
            <a:ext cx="4886794" cy="369332"/>
          </a:xfrm>
          <a:prstGeom prst="rect">
            <a:avLst/>
          </a:prstGeom>
          <a:noFill/>
        </p:spPr>
        <p:txBody>
          <a:bodyPr wrap="square" rtlCol="0">
            <a:spAutoFit/>
          </a:bodyPr>
          <a:lstStyle/>
          <a:p>
            <a:r>
              <a:rPr lang="en-GB" b="1" dirty="0">
                <a:solidFill>
                  <a:schemeClr val="accent2">
                    <a:lumMod val="75000"/>
                  </a:schemeClr>
                </a:solidFill>
              </a:rPr>
              <a:t>Firmware stack (SW – runs on </a:t>
            </a:r>
            <a:r>
              <a:rPr lang="en-GB" b="1" dirty="0" err="1">
                <a:solidFill>
                  <a:schemeClr val="accent2">
                    <a:lumMod val="75000"/>
                  </a:schemeClr>
                </a:solidFill>
              </a:rPr>
              <a:t>VeeR</a:t>
            </a:r>
            <a:r>
              <a:rPr lang="en-GB" b="1" dirty="0">
                <a:solidFill>
                  <a:schemeClr val="accent2">
                    <a:lumMod val="75000"/>
                  </a:schemeClr>
                </a:solidFill>
              </a:rPr>
              <a:t> EL2)</a:t>
            </a:r>
          </a:p>
        </p:txBody>
      </p:sp>
    </p:spTree>
    <p:extLst>
      <p:ext uri="{BB962C8B-B14F-4D97-AF65-F5344CB8AC3E}">
        <p14:creationId xmlns:p14="http://schemas.microsoft.com/office/powerpoint/2010/main" val="1283287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09D99-2846-67DA-47E0-2D11DA72BABF}"/>
              </a:ext>
            </a:extLst>
          </p:cNvPr>
          <p:cNvSpPr>
            <a:spLocks noGrp="1"/>
          </p:cNvSpPr>
          <p:nvPr>
            <p:ph type="title"/>
          </p:nvPr>
        </p:nvSpPr>
        <p:spPr>
          <a:xfrm>
            <a:off x="0" y="-1"/>
            <a:ext cx="12192000" cy="614597"/>
          </a:xfrm>
          <a:solidFill>
            <a:schemeClr val="accent6">
              <a:lumMod val="60000"/>
              <a:lumOff val="40000"/>
            </a:schemeClr>
          </a:solidFill>
        </p:spPr>
        <p:txBody>
          <a:bodyPr>
            <a:normAutofit fontScale="90000"/>
          </a:bodyPr>
          <a:lstStyle/>
          <a:p>
            <a:r>
              <a:rPr lang="en-GB" dirty="0"/>
              <a:t>Crypto subsystem, Peripherals and SoC Interface Blocks</a:t>
            </a:r>
          </a:p>
        </p:txBody>
      </p:sp>
      <p:sp>
        <p:nvSpPr>
          <p:cNvPr id="10" name="TextBox 9">
            <a:extLst>
              <a:ext uri="{FF2B5EF4-FFF2-40B4-BE49-F238E27FC236}">
                <a16:creationId xmlns:a16="http://schemas.microsoft.com/office/drawing/2014/main" id="{5FCD3EB5-6ECD-A3FD-5A79-983F5FD8D6A0}"/>
              </a:ext>
            </a:extLst>
          </p:cNvPr>
          <p:cNvSpPr txBox="1"/>
          <p:nvPr/>
        </p:nvSpPr>
        <p:spPr>
          <a:xfrm>
            <a:off x="704538" y="1686254"/>
            <a:ext cx="2173573" cy="646331"/>
          </a:xfrm>
          <a:prstGeom prst="rect">
            <a:avLst/>
          </a:prstGeom>
          <a:noFill/>
        </p:spPr>
        <p:txBody>
          <a:bodyPr wrap="square" rtlCol="0">
            <a:spAutoFit/>
          </a:bodyPr>
          <a:lstStyle/>
          <a:p>
            <a:r>
              <a:rPr lang="en-GB" dirty="0">
                <a:solidFill>
                  <a:schemeClr val="tx1"/>
                </a:solidFill>
              </a:rPr>
              <a:t>Crypto subsystem</a:t>
            </a:r>
          </a:p>
          <a:p>
            <a:endParaRPr lang="en-GB" dirty="0"/>
          </a:p>
        </p:txBody>
      </p:sp>
      <p:sp>
        <p:nvSpPr>
          <p:cNvPr id="11" name="Rectangle: Rounded Corners 10">
            <a:extLst>
              <a:ext uri="{FF2B5EF4-FFF2-40B4-BE49-F238E27FC236}">
                <a16:creationId xmlns:a16="http://schemas.microsoft.com/office/drawing/2014/main" id="{767A1D40-6961-E60E-AEB5-5E37F0532D0D}"/>
              </a:ext>
            </a:extLst>
          </p:cNvPr>
          <p:cNvSpPr/>
          <p:nvPr/>
        </p:nvSpPr>
        <p:spPr>
          <a:xfrm>
            <a:off x="565382" y="2183929"/>
            <a:ext cx="2552005" cy="52543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Crypto Init Engine (CIE)</a:t>
            </a:r>
          </a:p>
        </p:txBody>
      </p:sp>
      <p:sp>
        <p:nvSpPr>
          <p:cNvPr id="12" name="Rectangle: Rounded Corners 11">
            <a:extLst>
              <a:ext uri="{FF2B5EF4-FFF2-40B4-BE49-F238E27FC236}">
                <a16:creationId xmlns:a16="http://schemas.microsoft.com/office/drawing/2014/main" id="{BAAA7BFE-E1D2-6B2E-AF7B-AEC0666E863C}"/>
              </a:ext>
            </a:extLst>
          </p:cNvPr>
          <p:cNvSpPr/>
          <p:nvPr/>
        </p:nvSpPr>
        <p:spPr>
          <a:xfrm>
            <a:off x="465260" y="2830260"/>
            <a:ext cx="2652128" cy="52543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ECC Secp384 (ECDSA)</a:t>
            </a:r>
          </a:p>
        </p:txBody>
      </p:sp>
      <p:sp>
        <p:nvSpPr>
          <p:cNvPr id="13" name="Rectangle: Rounded Corners 12">
            <a:extLst>
              <a:ext uri="{FF2B5EF4-FFF2-40B4-BE49-F238E27FC236}">
                <a16:creationId xmlns:a16="http://schemas.microsoft.com/office/drawing/2014/main" id="{14131065-155B-5AD3-D3F9-91002F831996}"/>
              </a:ext>
            </a:extLst>
          </p:cNvPr>
          <p:cNvSpPr/>
          <p:nvPr/>
        </p:nvSpPr>
        <p:spPr>
          <a:xfrm>
            <a:off x="465260" y="3579264"/>
            <a:ext cx="2652128" cy="311894"/>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HMAC-512</a:t>
            </a:r>
          </a:p>
        </p:txBody>
      </p:sp>
      <p:sp>
        <p:nvSpPr>
          <p:cNvPr id="14" name="Rectangle: Rounded Corners 13">
            <a:extLst>
              <a:ext uri="{FF2B5EF4-FFF2-40B4-BE49-F238E27FC236}">
                <a16:creationId xmlns:a16="http://schemas.microsoft.com/office/drawing/2014/main" id="{12D7DE31-131A-403C-26EB-83BCAEFF3F3B}"/>
              </a:ext>
            </a:extLst>
          </p:cNvPr>
          <p:cNvSpPr/>
          <p:nvPr/>
        </p:nvSpPr>
        <p:spPr>
          <a:xfrm>
            <a:off x="465260" y="4111984"/>
            <a:ext cx="2652128"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SHA-512/ SHA-256</a:t>
            </a:r>
          </a:p>
        </p:txBody>
      </p:sp>
      <p:sp>
        <p:nvSpPr>
          <p:cNvPr id="15" name="Rectangle: Rounded Corners 14">
            <a:extLst>
              <a:ext uri="{FF2B5EF4-FFF2-40B4-BE49-F238E27FC236}">
                <a16:creationId xmlns:a16="http://schemas.microsoft.com/office/drawing/2014/main" id="{5992B2F4-2B4A-9D32-1E96-91ACBB1FCC1B}"/>
              </a:ext>
            </a:extLst>
          </p:cNvPr>
          <p:cNvSpPr/>
          <p:nvPr/>
        </p:nvSpPr>
        <p:spPr>
          <a:xfrm>
            <a:off x="465260" y="4704196"/>
            <a:ext cx="2652128"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AES-128/192/256</a:t>
            </a:r>
          </a:p>
        </p:txBody>
      </p:sp>
      <p:sp>
        <p:nvSpPr>
          <p:cNvPr id="16" name="Rectangle: Rounded Corners 15">
            <a:extLst>
              <a:ext uri="{FF2B5EF4-FFF2-40B4-BE49-F238E27FC236}">
                <a16:creationId xmlns:a16="http://schemas.microsoft.com/office/drawing/2014/main" id="{EB5E4F74-D387-E4BC-E2DF-939AAB04DE85}"/>
              </a:ext>
            </a:extLst>
          </p:cNvPr>
          <p:cNvSpPr/>
          <p:nvPr/>
        </p:nvSpPr>
        <p:spPr>
          <a:xfrm>
            <a:off x="465259" y="5140460"/>
            <a:ext cx="2652128"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ABR-ML-DSA/ ML-KEM</a:t>
            </a:r>
          </a:p>
        </p:txBody>
      </p:sp>
      <p:sp>
        <p:nvSpPr>
          <p:cNvPr id="17" name="Rectangle: Rounded Corners 16">
            <a:extLst>
              <a:ext uri="{FF2B5EF4-FFF2-40B4-BE49-F238E27FC236}">
                <a16:creationId xmlns:a16="http://schemas.microsoft.com/office/drawing/2014/main" id="{4D8D5A24-C6BC-3D97-06F7-9821E268F22D}"/>
              </a:ext>
            </a:extLst>
          </p:cNvPr>
          <p:cNvSpPr/>
          <p:nvPr/>
        </p:nvSpPr>
        <p:spPr>
          <a:xfrm>
            <a:off x="515320" y="5710681"/>
            <a:ext cx="1208549"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SHA3</a:t>
            </a:r>
          </a:p>
        </p:txBody>
      </p:sp>
      <p:sp>
        <p:nvSpPr>
          <p:cNvPr id="18" name="Rectangle: Rounded Corners 17">
            <a:extLst>
              <a:ext uri="{FF2B5EF4-FFF2-40B4-BE49-F238E27FC236}">
                <a16:creationId xmlns:a16="http://schemas.microsoft.com/office/drawing/2014/main" id="{51A5208A-D17E-6F65-2555-482E4518CB5B}"/>
              </a:ext>
            </a:extLst>
          </p:cNvPr>
          <p:cNvSpPr/>
          <p:nvPr/>
        </p:nvSpPr>
        <p:spPr>
          <a:xfrm>
            <a:off x="1841384" y="5710680"/>
            <a:ext cx="1208549"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KeyVault</a:t>
            </a:r>
            <a:endParaRPr lang="en-GB" dirty="0">
              <a:solidFill>
                <a:schemeClr val="tx1"/>
              </a:solidFill>
            </a:endParaRPr>
          </a:p>
        </p:txBody>
      </p:sp>
      <p:sp>
        <p:nvSpPr>
          <p:cNvPr id="19" name="Rectangle: Rounded Corners 18">
            <a:extLst>
              <a:ext uri="{FF2B5EF4-FFF2-40B4-BE49-F238E27FC236}">
                <a16:creationId xmlns:a16="http://schemas.microsoft.com/office/drawing/2014/main" id="{259811FA-3896-C78C-5AD0-D638E04E456B}"/>
              </a:ext>
            </a:extLst>
          </p:cNvPr>
          <p:cNvSpPr/>
          <p:nvPr/>
        </p:nvSpPr>
        <p:spPr>
          <a:xfrm>
            <a:off x="515320" y="6124952"/>
            <a:ext cx="2534613" cy="31189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PCR Vault + Data Vault</a:t>
            </a:r>
          </a:p>
        </p:txBody>
      </p:sp>
      <p:grpSp>
        <p:nvGrpSpPr>
          <p:cNvPr id="20" name="Group 19">
            <a:extLst>
              <a:ext uri="{FF2B5EF4-FFF2-40B4-BE49-F238E27FC236}">
                <a16:creationId xmlns:a16="http://schemas.microsoft.com/office/drawing/2014/main" id="{44869FEF-B62C-E9C7-FAD5-282FFE9F1015}"/>
              </a:ext>
            </a:extLst>
          </p:cNvPr>
          <p:cNvGrpSpPr/>
          <p:nvPr/>
        </p:nvGrpSpPr>
        <p:grpSpPr>
          <a:xfrm>
            <a:off x="-59872" y="947850"/>
            <a:ext cx="11827240" cy="5910150"/>
            <a:chOff x="1594287" y="4466060"/>
            <a:chExt cx="7195279" cy="1288724"/>
          </a:xfrm>
        </p:grpSpPr>
        <p:sp>
          <p:nvSpPr>
            <p:cNvPr id="21" name="Rectangle: Rounded Corners 20">
              <a:extLst>
                <a:ext uri="{FF2B5EF4-FFF2-40B4-BE49-F238E27FC236}">
                  <a16:creationId xmlns:a16="http://schemas.microsoft.com/office/drawing/2014/main" id="{EBFEC49E-191E-7C5C-A847-B0D283B2CAC1}"/>
                </a:ext>
              </a:extLst>
            </p:cNvPr>
            <p:cNvSpPr/>
            <p:nvPr/>
          </p:nvSpPr>
          <p:spPr>
            <a:xfrm>
              <a:off x="1594287" y="4466060"/>
              <a:ext cx="7195279" cy="1288724"/>
            </a:xfrm>
            <a:prstGeom prst="roundRect">
              <a:avLst/>
            </a:prstGeom>
            <a:solidFill>
              <a:schemeClr val="bg1"/>
            </a:solid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Rounded Corners 21">
              <a:extLst>
                <a:ext uri="{FF2B5EF4-FFF2-40B4-BE49-F238E27FC236}">
                  <a16:creationId xmlns:a16="http://schemas.microsoft.com/office/drawing/2014/main" id="{97661FBE-9FD3-4433-6DA0-F35450817AD2}"/>
                </a:ext>
              </a:extLst>
            </p:cNvPr>
            <p:cNvSpPr/>
            <p:nvPr/>
          </p:nvSpPr>
          <p:spPr>
            <a:xfrm>
              <a:off x="1719686" y="4485950"/>
              <a:ext cx="2289828" cy="125383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23" name="Rectangle: Rounded Corners 22">
              <a:extLst>
                <a:ext uri="{FF2B5EF4-FFF2-40B4-BE49-F238E27FC236}">
                  <a16:creationId xmlns:a16="http://schemas.microsoft.com/office/drawing/2014/main" id="{B852C8E4-F760-FABE-F356-5FBBDF1F42F6}"/>
                </a:ext>
              </a:extLst>
            </p:cNvPr>
            <p:cNvSpPr/>
            <p:nvPr/>
          </p:nvSpPr>
          <p:spPr>
            <a:xfrm>
              <a:off x="4064685" y="4488473"/>
              <a:ext cx="2004443" cy="1253835"/>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24" name="Rectangle: Rounded Corners 23">
              <a:extLst>
                <a:ext uri="{FF2B5EF4-FFF2-40B4-BE49-F238E27FC236}">
                  <a16:creationId xmlns:a16="http://schemas.microsoft.com/office/drawing/2014/main" id="{99AED464-C5C1-8E9C-77C5-522430F8C117}"/>
                </a:ext>
              </a:extLst>
            </p:cNvPr>
            <p:cNvSpPr/>
            <p:nvPr/>
          </p:nvSpPr>
          <p:spPr>
            <a:xfrm>
              <a:off x="6220651" y="4485950"/>
              <a:ext cx="2568915" cy="1251181"/>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grpSp>
        <p:nvGrpSpPr>
          <p:cNvPr id="35" name="Group 34">
            <a:extLst>
              <a:ext uri="{FF2B5EF4-FFF2-40B4-BE49-F238E27FC236}">
                <a16:creationId xmlns:a16="http://schemas.microsoft.com/office/drawing/2014/main" id="{068CB2CD-4BB4-178F-EEEC-85997D802A17}"/>
              </a:ext>
            </a:extLst>
          </p:cNvPr>
          <p:cNvGrpSpPr/>
          <p:nvPr/>
        </p:nvGrpSpPr>
        <p:grpSpPr>
          <a:xfrm>
            <a:off x="302219" y="1125924"/>
            <a:ext cx="3539769" cy="5471217"/>
            <a:chOff x="221566" y="1580493"/>
            <a:chExt cx="3613768" cy="4978205"/>
          </a:xfrm>
        </p:grpSpPr>
        <p:sp>
          <p:nvSpPr>
            <p:cNvPr id="25" name="TextBox 24">
              <a:extLst>
                <a:ext uri="{FF2B5EF4-FFF2-40B4-BE49-F238E27FC236}">
                  <a16:creationId xmlns:a16="http://schemas.microsoft.com/office/drawing/2014/main" id="{6B2B9672-328C-1938-D6B1-9D948F0813D6}"/>
                </a:ext>
              </a:extLst>
            </p:cNvPr>
            <p:cNvSpPr txBox="1"/>
            <p:nvPr/>
          </p:nvSpPr>
          <p:spPr>
            <a:xfrm>
              <a:off x="244796" y="1580493"/>
              <a:ext cx="3590538" cy="588090"/>
            </a:xfrm>
            <a:prstGeom prst="rect">
              <a:avLst/>
            </a:prstGeom>
            <a:noFill/>
          </p:spPr>
          <p:txBody>
            <a:bodyPr wrap="square" rtlCol="0">
              <a:spAutoFit/>
            </a:bodyPr>
            <a:lstStyle/>
            <a:p>
              <a:r>
                <a:rPr lang="en-GB" b="1" dirty="0">
                  <a:solidFill>
                    <a:schemeClr val="accent5">
                      <a:lumMod val="50000"/>
                    </a:schemeClr>
                  </a:solidFill>
                </a:rPr>
                <a:t>Crypto subsystem 0x1000_0000</a:t>
              </a:r>
            </a:p>
            <a:p>
              <a:endParaRPr lang="en-GB" dirty="0"/>
            </a:p>
          </p:txBody>
        </p:sp>
        <p:sp>
          <p:nvSpPr>
            <p:cNvPr id="26" name="Rectangle: Rounded Corners 25">
              <a:extLst>
                <a:ext uri="{FF2B5EF4-FFF2-40B4-BE49-F238E27FC236}">
                  <a16:creationId xmlns:a16="http://schemas.microsoft.com/office/drawing/2014/main" id="{98D61E95-A86F-44FA-719C-3CD12105C967}"/>
                </a:ext>
              </a:extLst>
            </p:cNvPr>
            <p:cNvSpPr/>
            <p:nvPr/>
          </p:nvSpPr>
          <p:spPr>
            <a:xfrm>
              <a:off x="221566" y="1966714"/>
              <a:ext cx="3469793" cy="494185"/>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5">
                      <a:lumMod val="50000"/>
                    </a:schemeClr>
                  </a:solidFill>
                </a:rPr>
                <a:t>Crypto Init Engine (CIE)</a:t>
              </a:r>
            </a:p>
            <a:p>
              <a:pPr algn="ctr"/>
              <a:r>
                <a:rPr lang="en-GB" dirty="0">
                  <a:solidFill>
                    <a:schemeClr val="accent5">
                      <a:lumMod val="50000"/>
                    </a:schemeClr>
                  </a:solidFill>
                </a:rPr>
                <a:t>UDS / field entropy derive</a:t>
              </a:r>
            </a:p>
          </p:txBody>
        </p:sp>
        <p:sp>
          <p:nvSpPr>
            <p:cNvPr id="27" name="Rectangle: Rounded Corners 26">
              <a:extLst>
                <a:ext uri="{FF2B5EF4-FFF2-40B4-BE49-F238E27FC236}">
                  <a16:creationId xmlns:a16="http://schemas.microsoft.com/office/drawing/2014/main" id="{FA3B7971-34B8-DA70-9581-C5D4CB66EF3C}"/>
                </a:ext>
              </a:extLst>
            </p:cNvPr>
            <p:cNvSpPr/>
            <p:nvPr/>
          </p:nvSpPr>
          <p:spPr>
            <a:xfrm>
              <a:off x="263227" y="2567394"/>
              <a:ext cx="3406997" cy="52411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5">
                      <a:lumMod val="50000"/>
                    </a:schemeClr>
                  </a:solidFill>
                </a:rPr>
                <a:t>ECC Secp384 (ECDSA)</a:t>
              </a:r>
            </a:p>
            <a:p>
              <a:pPr algn="ctr"/>
              <a:r>
                <a:rPr lang="en-GB" dirty="0">
                  <a:solidFill>
                    <a:schemeClr val="accent5">
                      <a:lumMod val="50000"/>
                    </a:schemeClr>
                  </a:solidFill>
                </a:rPr>
                <a:t>Sign/verify – 0x1000_8000</a:t>
              </a:r>
            </a:p>
          </p:txBody>
        </p:sp>
        <p:sp>
          <p:nvSpPr>
            <p:cNvPr id="28" name="Rectangle: Rounded Corners 27">
              <a:extLst>
                <a:ext uri="{FF2B5EF4-FFF2-40B4-BE49-F238E27FC236}">
                  <a16:creationId xmlns:a16="http://schemas.microsoft.com/office/drawing/2014/main" id="{4A27A0E7-51ED-29B0-B1FE-11C509596C11}"/>
                </a:ext>
              </a:extLst>
            </p:cNvPr>
            <p:cNvSpPr/>
            <p:nvPr/>
          </p:nvSpPr>
          <p:spPr>
            <a:xfrm>
              <a:off x="263227" y="3197037"/>
              <a:ext cx="3406996" cy="46248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5">
                      <a:lumMod val="50000"/>
                    </a:schemeClr>
                  </a:solidFill>
                </a:rPr>
                <a:t>HMAC-512</a:t>
              </a:r>
            </a:p>
            <a:p>
              <a:pPr algn="ctr"/>
              <a:r>
                <a:rPr lang="en-GB" dirty="0">
                  <a:solidFill>
                    <a:schemeClr val="accent5">
                      <a:lumMod val="50000"/>
                    </a:schemeClr>
                  </a:solidFill>
                </a:rPr>
                <a:t>MAC engine – 0x1001_0000</a:t>
              </a:r>
            </a:p>
          </p:txBody>
        </p:sp>
        <p:sp>
          <p:nvSpPr>
            <p:cNvPr id="29" name="Rectangle: Rounded Corners 28">
              <a:extLst>
                <a:ext uri="{FF2B5EF4-FFF2-40B4-BE49-F238E27FC236}">
                  <a16:creationId xmlns:a16="http://schemas.microsoft.com/office/drawing/2014/main" id="{0C2B0914-62EB-D9C3-28D1-A5EB2BD80946}"/>
                </a:ext>
              </a:extLst>
            </p:cNvPr>
            <p:cNvSpPr/>
            <p:nvPr/>
          </p:nvSpPr>
          <p:spPr>
            <a:xfrm>
              <a:off x="260129" y="3800217"/>
              <a:ext cx="3431230" cy="524110"/>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5">
                      <a:lumMod val="50000"/>
                    </a:schemeClr>
                  </a:solidFill>
                </a:rPr>
                <a:t>SHA-512/ SHA-256</a:t>
              </a:r>
            </a:p>
            <a:p>
              <a:pPr algn="ctr"/>
              <a:r>
                <a:rPr lang="en-GB" dirty="0">
                  <a:solidFill>
                    <a:schemeClr val="accent5">
                      <a:lumMod val="50000"/>
                    </a:schemeClr>
                  </a:solidFill>
                </a:rPr>
                <a:t>Hash – 0x1002_0000</a:t>
              </a:r>
            </a:p>
          </p:txBody>
        </p:sp>
        <p:sp>
          <p:nvSpPr>
            <p:cNvPr id="30" name="Rectangle: Rounded Corners 29">
              <a:extLst>
                <a:ext uri="{FF2B5EF4-FFF2-40B4-BE49-F238E27FC236}">
                  <a16:creationId xmlns:a16="http://schemas.microsoft.com/office/drawing/2014/main" id="{ABC012B5-AEF9-1765-3484-9DF6C7E2B151}"/>
                </a:ext>
              </a:extLst>
            </p:cNvPr>
            <p:cNvSpPr/>
            <p:nvPr/>
          </p:nvSpPr>
          <p:spPr>
            <a:xfrm>
              <a:off x="223660" y="4456498"/>
              <a:ext cx="3446563" cy="509909"/>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5">
                      <a:lumMod val="50000"/>
                    </a:schemeClr>
                  </a:solidFill>
                </a:rPr>
                <a:t>AES-128/192/256</a:t>
              </a:r>
            </a:p>
            <a:p>
              <a:pPr algn="ctr"/>
              <a:r>
                <a:rPr lang="en-GB" dirty="0">
                  <a:solidFill>
                    <a:schemeClr val="accent5">
                      <a:lumMod val="50000"/>
                    </a:schemeClr>
                  </a:solidFill>
                </a:rPr>
                <a:t>ECB CBC CFB OFB CTR GCM</a:t>
              </a:r>
            </a:p>
          </p:txBody>
        </p:sp>
        <p:sp>
          <p:nvSpPr>
            <p:cNvPr id="31" name="Rectangle: Rounded Corners 30">
              <a:extLst>
                <a:ext uri="{FF2B5EF4-FFF2-40B4-BE49-F238E27FC236}">
                  <a16:creationId xmlns:a16="http://schemas.microsoft.com/office/drawing/2014/main" id="{92E00B08-A872-8DFC-66D9-04FD303C6804}"/>
                </a:ext>
              </a:extLst>
            </p:cNvPr>
            <p:cNvSpPr/>
            <p:nvPr/>
          </p:nvSpPr>
          <p:spPr>
            <a:xfrm>
              <a:off x="260129" y="5045088"/>
              <a:ext cx="3410094" cy="50339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5">
                      <a:lumMod val="50000"/>
                    </a:schemeClr>
                  </a:solidFill>
                </a:rPr>
                <a:t>ABR-ML-DSA/ ML-KEM</a:t>
              </a:r>
            </a:p>
            <a:p>
              <a:pPr algn="ctr"/>
              <a:r>
                <a:rPr lang="en-GB" dirty="0">
                  <a:solidFill>
                    <a:schemeClr val="accent5">
                      <a:lumMod val="50000"/>
                    </a:schemeClr>
                  </a:solidFill>
                </a:rPr>
                <a:t>Adams Bridge – 0x1003_0000</a:t>
              </a:r>
            </a:p>
          </p:txBody>
        </p:sp>
        <p:sp>
          <p:nvSpPr>
            <p:cNvPr id="32" name="Rectangle: Rounded Corners 31">
              <a:extLst>
                <a:ext uri="{FF2B5EF4-FFF2-40B4-BE49-F238E27FC236}">
                  <a16:creationId xmlns:a16="http://schemas.microsoft.com/office/drawing/2014/main" id="{898002F6-B581-49B2-6EC5-4051FF42D5EA}"/>
                </a:ext>
              </a:extLst>
            </p:cNvPr>
            <p:cNvSpPr/>
            <p:nvPr/>
          </p:nvSpPr>
          <p:spPr>
            <a:xfrm>
              <a:off x="260129" y="5606267"/>
              <a:ext cx="1778567" cy="459943"/>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5">
                      <a:lumMod val="50000"/>
                    </a:schemeClr>
                  </a:solidFill>
                </a:rPr>
                <a:t>SHA3</a:t>
              </a:r>
            </a:p>
            <a:p>
              <a:pPr algn="ctr"/>
              <a:r>
                <a:rPr lang="en-GB" dirty="0">
                  <a:solidFill>
                    <a:schemeClr val="accent5">
                      <a:lumMod val="50000"/>
                    </a:schemeClr>
                  </a:solidFill>
                </a:rPr>
                <a:t>0x1004_0000</a:t>
              </a:r>
            </a:p>
          </p:txBody>
        </p:sp>
        <p:sp>
          <p:nvSpPr>
            <p:cNvPr id="33" name="Rectangle: Rounded Corners 32">
              <a:extLst>
                <a:ext uri="{FF2B5EF4-FFF2-40B4-BE49-F238E27FC236}">
                  <a16:creationId xmlns:a16="http://schemas.microsoft.com/office/drawing/2014/main" id="{5BBDB23F-0228-34A2-15EE-2A1F0B4A17DD}"/>
                </a:ext>
              </a:extLst>
            </p:cNvPr>
            <p:cNvSpPr/>
            <p:nvPr/>
          </p:nvSpPr>
          <p:spPr>
            <a:xfrm>
              <a:off x="2082451" y="5609909"/>
              <a:ext cx="1575962" cy="459943"/>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5">
                      <a:lumMod val="50000"/>
                    </a:schemeClr>
                  </a:solidFill>
                </a:rPr>
                <a:t>Key Vault</a:t>
              </a:r>
            </a:p>
            <a:p>
              <a:pPr algn="ctr"/>
              <a:r>
                <a:rPr lang="en-GB" dirty="0">
                  <a:solidFill>
                    <a:schemeClr val="accent5">
                      <a:lumMod val="50000"/>
                    </a:schemeClr>
                  </a:solidFill>
                </a:rPr>
                <a:t>0x1001_8000</a:t>
              </a:r>
            </a:p>
          </p:txBody>
        </p:sp>
        <p:sp>
          <p:nvSpPr>
            <p:cNvPr id="34" name="Rectangle: Rounded Corners 33">
              <a:extLst>
                <a:ext uri="{FF2B5EF4-FFF2-40B4-BE49-F238E27FC236}">
                  <a16:creationId xmlns:a16="http://schemas.microsoft.com/office/drawing/2014/main" id="{3533AB85-E998-22BF-E619-628591AE32E3}"/>
                </a:ext>
              </a:extLst>
            </p:cNvPr>
            <p:cNvSpPr/>
            <p:nvPr/>
          </p:nvSpPr>
          <p:spPr>
            <a:xfrm>
              <a:off x="260129" y="6153837"/>
              <a:ext cx="3398285" cy="40486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5">
                      <a:lumMod val="50000"/>
                    </a:schemeClr>
                  </a:solidFill>
                </a:rPr>
                <a:t>PCR Vault + Data Vault</a:t>
              </a:r>
            </a:p>
            <a:p>
              <a:pPr algn="ctr"/>
              <a:r>
                <a:rPr lang="en-GB" dirty="0">
                  <a:solidFill>
                    <a:schemeClr val="accent5">
                      <a:lumMod val="50000"/>
                    </a:schemeClr>
                  </a:solidFill>
                </a:rPr>
                <a:t>Measurement storage</a:t>
              </a:r>
            </a:p>
          </p:txBody>
        </p:sp>
      </p:grpSp>
      <p:sp>
        <p:nvSpPr>
          <p:cNvPr id="36" name="TextBox 35">
            <a:extLst>
              <a:ext uri="{FF2B5EF4-FFF2-40B4-BE49-F238E27FC236}">
                <a16:creationId xmlns:a16="http://schemas.microsoft.com/office/drawing/2014/main" id="{5FF44F5D-AB8D-8999-5EFF-FF22A34439D3}"/>
              </a:ext>
            </a:extLst>
          </p:cNvPr>
          <p:cNvSpPr txBox="1"/>
          <p:nvPr/>
        </p:nvSpPr>
        <p:spPr>
          <a:xfrm>
            <a:off x="4308187" y="1200735"/>
            <a:ext cx="2774117" cy="646331"/>
          </a:xfrm>
          <a:prstGeom prst="rect">
            <a:avLst/>
          </a:prstGeom>
          <a:noFill/>
        </p:spPr>
        <p:txBody>
          <a:bodyPr wrap="square" rtlCol="0">
            <a:spAutoFit/>
          </a:bodyPr>
          <a:lstStyle/>
          <a:p>
            <a:r>
              <a:rPr lang="en-GB" b="1" dirty="0"/>
              <a:t>Peripherals 0x2000_0000</a:t>
            </a:r>
            <a:endParaRPr lang="en-GB" b="1" dirty="0">
              <a:solidFill>
                <a:schemeClr val="tx1"/>
              </a:solidFill>
            </a:endParaRPr>
          </a:p>
          <a:p>
            <a:endParaRPr lang="en-GB" dirty="0"/>
          </a:p>
        </p:txBody>
      </p:sp>
      <p:sp>
        <p:nvSpPr>
          <p:cNvPr id="37" name="Rectangle: Rounded Corners 36">
            <a:extLst>
              <a:ext uri="{FF2B5EF4-FFF2-40B4-BE49-F238E27FC236}">
                <a16:creationId xmlns:a16="http://schemas.microsoft.com/office/drawing/2014/main" id="{C34A9315-928C-2B49-F67B-80049B8F4F8A}"/>
              </a:ext>
            </a:extLst>
          </p:cNvPr>
          <p:cNvSpPr/>
          <p:nvPr/>
        </p:nvSpPr>
        <p:spPr>
          <a:xfrm>
            <a:off x="4178393" y="1603087"/>
            <a:ext cx="2958398" cy="801450"/>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3">
                    <a:lumMod val="50000"/>
                  </a:schemeClr>
                </a:solidFill>
              </a:rPr>
              <a:t>CSRNG</a:t>
            </a:r>
          </a:p>
          <a:p>
            <a:pPr algn="ctr"/>
            <a:r>
              <a:rPr lang="en-GB" dirty="0">
                <a:solidFill>
                  <a:schemeClr val="accent3">
                    <a:lumMod val="50000"/>
                  </a:schemeClr>
                </a:solidFill>
              </a:rPr>
              <a:t>Crypto-secure RNG 0x2000_2000</a:t>
            </a:r>
          </a:p>
        </p:txBody>
      </p:sp>
      <p:sp>
        <p:nvSpPr>
          <p:cNvPr id="38" name="TextBox 37">
            <a:extLst>
              <a:ext uri="{FF2B5EF4-FFF2-40B4-BE49-F238E27FC236}">
                <a16:creationId xmlns:a16="http://schemas.microsoft.com/office/drawing/2014/main" id="{E13DE32B-B760-6D40-C8F1-ED200418E6B9}"/>
              </a:ext>
            </a:extLst>
          </p:cNvPr>
          <p:cNvSpPr txBox="1"/>
          <p:nvPr/>
        </p:nvSpPr>
        <p:spPr>
          <a:xfrm>
            <a:off x="8151940" y="1200735"/>
            <a:ext cx="3064125" cy="646331"/>
          </a:xfrm>
          <a:prstGeom prst="rect">
            <a:avLst/>
          </a:prstGeom>
          <a:noFill/>
        </p:spPr>
        <p:txBody>
          <a:bodyPr wrap="square" rtlCol="0">
            <a:spAutoFit/>
          </a:bodyPr>
          <a:lstStyle/>
          <a:p>
            <a:r>
              <a:rPr lang="en-GB" b="1" dirty="0">
                <a:solidFill>
                  <a:schemeClr val="bg2">
                    <a:lumMod val="10000"/>
                  </a:schemeClr>
                </a:solidFill>
              </a:rPr>
              <a:t>SoC Interface 0x3000_0000</a:t>
            </a:r>
          </a:p>
          <a:p>
            <a:endParaRPr lang="en-GB" dirty="0"/>
          </a:p>
        </p:txBody>
      </p:sp>
      <p:sp>
        <p:nvSpPr>
          <p:cNvPr id="39" name="Rectangle: Rounded Corners 38">
            <a:extLst>
              <a:ext uri="{FF2B5EF4-FFF2-40B4-BE49-F238E27FC236}">
                <a16:creationId xmlns:a16="http://schemas.microsoft.com/office/drawing/2014/main" id="{389FBDA5-6F10-AD04-2B96-F5C4D335A718}"/>
              </a:ext>
            </a:extLst>
          </p:cNvPr>
          <p:cNvSpPr/>
          <p:nvPr/>
        </p:nvSpPr>
        <p:spPr>
          <a:xfrm>
            <a:off x="7734610" y="1586557"/>
            <a:ext cx="3942070" cy="833059"/>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2">
                    <a:lumMod val="10000"/>
                  </a:schemeClr>
                </a:solidFill>
              </a:rPr>
              <a:t>Mailbox FSM + SRAM 256 KiB</a:t>
            </a:r>
          </a:p>
          <a:p>
            <a:pPr algn="ctr"/>
            <a:r>
              <a:rPr lang="en-GB" dirty="0">
                <a:solidFill>
                  <a:schemeClr val="bg2">
                    <a:lumMod val="10000"/>
                  </a:schemeClr>
                </a:solidFill>
              </a:rPr>
              <a:t>.FW load .protocol lock</a:t>
            </a:r>
          </a:p>
          <a:p>
            <a:pPr algn="ctr"/>
            <a:r>
              <a:rPr lang="en-GB" dirty="0">
                <a:solidFill>
                  <a:schemeClr val="bg2">
                    <a:lumMod val="10000"/>
                  </a:schemeClr>
                </a:solidFill>
              </a:rPr>
              <a:t>0x3002_0000/0x3004_0000</a:t>
            </a:r>
          </a:p>
        </p:txBody>
      </p:sp>
      <p:sp>
        <p:nvSpPr>
          <p:cNvPr id="40" name="Rectangle: Rounded Corners 39">
            <a:extLst>
              <a:ext uri="{FF2B5EF4-FFF2-40B4-BE49-F238E27FC236}">
                <a16:creationId xmlns:a16="http://schemas.microsoft.com/office/drawing/2014/main" id="{3C0852BF-1400-ED30-AE34-25A901664C29}"/>
              </a:ext>
            </a:extLst>
          </p:cNvPr>
          <p:cNvSpPr/>
          <p:nvPr/>
        </p:nvSpPr>
        <p:spPr>
          <a:xfrm>
            <a:off x="4178391" y="2488403"/>
            <a:ext cx="2958397" cy="796972"/>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3">
                    <a:lumMod val="50000"/>
                  </a:schemeClr>
                </a:solidFill>
              </a:rPr>
              <a:t>Entropy source</a:t>
            </a:r>
          </a:p>
          <a:p>
            <a:pPr algn="ctr"/>
            <a:r>
              <a:rPr lang="en-GB" dirty="0">
                <a:solidFill>
                  <a:schemeClr val="accent3">
                    <a:lumMod val="50000"/>
                  </a:schemeClr>
                </a:solidFill>
              </a:rPr>
              <a:t>Physical RNG seed</a:t>
            </a:r>
          </a:p>
          <a:p>
            <a:pPr algn="ctr"/>
            <a:r>
              <a:rPr lang="en-GB" dirty="0">
                <a:solidFill>
                  <a:schemeClr val="accent3">
                    <a:lumMod val="50000"/>
                  </a:schemeClr>
                </a:solidFill>
              </a:rPr>
              <a:t>0x2000_3000</a:t>
            </a:r>
          </a:p>
        </p:txBody>
      </p:sp>
      <p:sp>
        <p:nvSpPr>
          <p:cNvPr id="41" name="Rectangle: Rounded Corners 40">
            <a:extLst>
              <a:ext uri="{FF2B5EF4-FFF2-40B4-BE49-F238E27FC236}">
                <a16:creationId xmlns:a16="http://schemas.microsoft.com/office/drawing/2014/main" id="{BA644243-B676-BA45-F8B9-FFCA8A85802C}"/>
              </a:ext>
            </a:extLst>
          </p:cNvPr>
          <p:cNvSpPr/>
          <p:nvPr/>
        </p:nvSpPr>
        <p:spPr>
          <a:xfrm>
            <a:off x="4178390" y="3289825"/>
            <a:ext cx="2958398" cy="796972"/>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3">
                    <a:lumMod val="50000"/>
                  </a:schemeClr>
                </a:solidFill>
              </a:rPr>
              <a:t>Watchdog timer</a:t>
            </a:r>
          </a:p>
          <a:p>
            <a:pPr algn="ctr"/>
            <a:r>
              <a:rPr lang="en-GB" dirty="0">
                <a:solidFill>
                  <a:schemeClr val="accent3">
                    <a:lumMod val="50000"/>
                  </a:schemeClr>
                </a:solidFill>
              </a:rPr>
              <a:t>2-stage cascade NMI on timeout</a:t>
            </a:r>
          </a:p>
        </p:txBody>
      </p:sp>
      <p:sp>
        <p:nvSpPr>
          <p:cNvPr id="42" name="Rectangle: Rounded Corners 41">
            <a:extLst>
              <a:ext uri="{FF2B5EF4-FFF2-40B4-BE49-F238E27FC236}">
                <a16:creationId xmlns:a16="http://schemas.microsoft.com/office/drawing/2014/main" id="{AA05384E-90F1-5F57-C97A-AF7142E29FEA}"/>
              </a:ext>
            </a:extLst>
          </p:cNvPr>
          <p:cNvSpPr/>
          <p:nvPr/>
        </p:nvSpPr>
        <p:spPr>
          <a:xfrm>
            <a:off x="4178390" y="4183849"/>
            <a:ext cx="2958398" cy="796972"/>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3">
                    <a:lumMod val="50000"/>
                  </a:schemeClr>
                </a:solidFill>
              </a:rPr>
              <a:t>ICCM 256 KiB</a:t>
            </a:r>
          </a:p>
          <a:p>
            <a:pPr algn="ctr"/>
            <a:r>
              <a:rPr lang="en-GB" dirty="0">
                <a:solidFill>
                  <a:schemeClr val="accent3">
                    <a:lumMod val="50000"/>
                  </a:schemeClr>
                </a:solidFill>
              </a:rPr>
              <a:t>Instruction memory </a:t>
            </a:r>
          </a:p>
          <a:p>
            <a:pPr algn="ctr"/>
            <a:r>
              <a:rPr lang="en-GB" dirty="0">
                <a:solidFill>
                  <a:schemeClr val="accent3">
                    <a:lumMod val="50000"/>
                  </a:schemeClr>
                </a:solidFill>
              </a:rPr>
              <a:t>0x4000_0000</a:t>
            </a:r>
          </a:p>
        </p:txBody>
      </p:sp>
      <p:sp>
        <p:nvSpPr>
          <p:cNvPr id="43" name="Rectangle: Rounded Corners 42">
            <a:extLst>
              <a:ext uri="{FF2B5EF4-FFF2-40B4-BE49-F238E27FC236}">
                <a16:creationId xmlns:a16="http://schemas.microsoft.com/office/drawing/2014/main" id="{FA0D45A1-C4BA-91C7-9230-402FB4858AED}"/>
              </a:ext>
            </a:extLst>
          </p:cNvPr>
          <p:cNvSpPr/>
          <p:nvPr/>
        </p:nvSpPr>
        <p:spPr>
          <a:xfrm>
            <a:off x="4188383" y="5127103"/>
            <a:ext cx="2948405" cy="796972"/>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3">
                    <a:lumMod val="50000"/>
                  </a:schemeClr>
                </a:solidFill>
              </a:rPr>
              <a:t>DCCM 256 KiB</a:t>
            </a:r>
          </a:p>
          <a:p>
            <a:pPr algn="ctr"/>
            <a:r>
              <a:rPr lang="en-GB" dirty="0">
                <a:solidFill>
                  <a:schemeClr val="accent3">
                    <a:lumMod val="50000"/>
                  </a:schemeClr>
                </a:solidFill>
              </a:rPr>
              <a:t>Data memory</a:t>
            </a:r>
          </a:p>
          <a:p>
            <a:pPr algn="ctr"/>
            <a:r>
              <a:rPr lang="en-GB" dirty="0">
                <a:solidFill>
                  <a:schemeClr val="accent3">
                    <a:lumMod val="50000"/>
                  </a:schemeClr>
                </a:solidFill>
              </a:rPr>
              <a:t>0x5000_0000</a:t>
            </a:r>
          </a:p>
        </p:txBody>
      </p:sp>
      <p:sp>
        <p:nvSpPr>
          <p:cNvPr id="44" name="Rectangle: Rounded Corners 43">
            <a:extLst>
              <a:ext uri="{FF2B5EF4-FFF2-40B4-BE49-F238E27FC236}">
                <a16:creationId xmlns:a16="http://schemas.microsoft.com/office/drawing/2014/main" id="{175C5FB8-2A41-900A-874E-1595EE670262}"/>
              </a:ext>
            </a:extLst>
          </p:cNvPr>
          <p:cNvSpPr/>
          <p:nvPr/>
        </p:nvSpPr>
        <p:spPr>
          <a:xfrm>
            <a:off x="4207309" y="6022576"/>
            <a:ext cx="2929479" cy="489659"/>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3">
                    <a:lumMod val="50000"/>
                  </a:schemeClr>
                </a:solidFill>
              </a:rPr>
              <a:t>Boot FSM</a:t>
            </a:r>
          </a:p>
          <a:p>
            <a:pPr algn="ctr"/>
            <a:r>
              <a:rPr lang="en-GB" dirty="0">
                <a:solidFill>
                  <a:schemeClr val="accent3">
                    <a:lumMod val="50000"/>
                  </a:schemeClr>
                </a:solidFill>
              </a:rPr>
              <a:t>FUSE</a:t>
            </a:r>
            <a:r>
              <a:rPr lang="en-GB" dirty="0">
                <a:solidFill>
                  <a:schemeClr val="accent3">
                    <a:lumMod val="50000"/>
                  </a:schemeClr>
                </a:solidFill>
                <a:sym typeface="Wingdings" panose="05000000000000000000" pitchFamily="2" charset="2"/>
              </a:rPr>
              <a:t>DONE states</a:t>
            </a:r>
            <a:endParaRPr lang="en-GB" dirty="0">
              <a:solidFill>
                <a:schemeClr val="accent3">
                  <a:lumMod val="50000"/>
                </a:schemeClr>
              </a:solidFill>
            </a:endParaRPr>
          </a:p>
        </p:txBody>
      </p:sp>
      <p:sp>
        <p:nvSpPr>
          <p:cNvPr id="45" name="Rectangle: Rounded Corners 44">
            <a:extLst>
              <a:ext uri="{FF2B5EF4-FFF2-40B4-BE49-F238E27FC236}">
                <a16:creationId xmlns:a16="http://schemas.microsoft.com/office/drawing/2014/main" id="{A08579ED-F963-A989-9180-719AA4E16F4C}"/>
              </a:ext>
            </a:extLst>
          </p:cNvPr>
          <p:cNvSpPr/>
          <p:nvPr/>
        </p:nvSpPr>
        <p:spPr>
          <a:xfrm>
            <a:off x="7734610" y="2518562"/>
            <a:ext cx="3942070" cy="76681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2">
                    <a:lumMod val="10000"/>
                  </a:schemeClr>
                </a:solidFill>
              </a:rPr>
              <a:t>AXI DMA Assist Engine</a:t>
            </a:r>
          </a:p>
          <a:p>
            <a:pPr algn="ctr"/>
            <a:r>
              <a:rPr lang="en-GB" dirty="0">
                <a:solidFill>
                  <a:schemeClr val="bg2">
                    <a:lumMod val="10000"/>
                  </a:schemeClr>
                </a:solidFill>
              </a:rPr>
              <a:t>Streaming SHA/AES-LOCK</a:t>
            </a:r>
          </a:p>
          <a:p>
            <a:pPr algn="ctr"/>
            <a:r>
              <a:rPr lang="en-GB" dirty="0">
                <a:solidFill>
                  <a:schemeClr val="bg2">
                    <a:lumMod val="10000"/>
                  </a:schemeClr>
                </a:solidFill>
              </a:rPr>
              <a:t>0x3002_2000</a:t>
            </a:r>
          </a:p>
        </p:txBody>
      </p:sp>
      <p:sp>
        <p:nvSpPr>
          <p:cNvPr id="46" name="Rectangle: Rounded Corners 45">
            <a:extLst>
              <a:ext uri="{FF2B5EF4-FFF2-40B4-BE49-F238E27FC236}">
                <a16:creationId xmlns:a16="http://schemas.microsoft.com/office/drawing/2014/main" id="{6702B945-5171-03D5-9997-C8E02515C5C2}"/>
              </a:ext>
            </a:extLst>
          </p:cNvPr>
          <p:cNvSpPr/>
          <p:nvPr/>
        </p:nvSpPr>
        <p:spPr>
          <a:xfrm>
            <a:off x="7734610" y="3466813"/>
            <a:ext cx="3942070" cy="766814"/>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2">
                    <a:lumMod val="10000"/>
                  </a:schemeClr>
                </a:solidFill>
              </a:rPr>
              <a:t>SoC IFC CSR</a:t>
            </a:r>
          </a:p>
          <a:p>
            <a:pPr algn="ctr"/>
            <a:r>
              <a:rPr lang="en-GB" dirty="0">
                <a:solidFill>
                  <a:schemeClr val="bg2">
                    <a:lumMod val="10000"/>
                  </a:schemeClr>
                </a:solidFill>
              </a:rPr>
              <a:t>.Fuse regs .timer .flow ctrl</a:t>
            </a:r>
          </a:p>
          <a:p>
            <a:pPr algn="ctr"/>
            <a:r>
              <a:rPr lang="en-GB" dirty="0">
                <a:solidFill>
                  <a:schemeClr val="bg2">
                    <a:lumMod val="10000"/>
                  </a:schemeClr>
                </a:solidFill>
              </a:rPr>
              <a:t>0x3003_0000 </a:t>
            </a:r>
          </a:p>
        </p:txBody>
      </p:sp>
      <p:sp>
        <p:nvSpPr>
          <p:cNvPr id="47" name="Rectangle: Rounded Corners 46">
            <a:extLst>
              <a:ext uri="{FF2B5EF4-FFF2-40B4-BE49-F238E27FC236}">
                <a16:creationId xmlns:a16="http://schemas.microsoft.com/office/drawing/2014/main" id="{C66F29E5-1810-C0B0-93DE-73300899DE7A}"/>
              </a:ext>
            </a:extLst>
          </p:cNvPr>
          <p:cNvSpPr/>
          <p:nvPr/>
        </p:nvSpPr>
        <p:spPr>
          <a:xfrm>
            <a:off x="7740974" y="4383110"/>
            <a:ext cx="3935706" cy="743993"/>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2">
                    <a:lumMod val="10000"/>
                  </a:schemeClr>
                </a:solidFill>
              </a:rPr>
              <a:t>SHA-512 Accelerator</a:t>
            </a:r>
          </a:p>
          <a:p>
            <a:pPr algn="ctr"/>
            <a:r>
              <a:rPr lang="en-GB" dirty="0">
                <a:solidFill>
                  <a:schemeClr val="bg2">
                    <a:lumMod val="10000"/>
                  </a:schemeClr>
                </a:solidFill>
              </a:rPr>
              <a:t>Save/restore .streaming</a:t>
            </a:r>
          </a:p>
          <a:p>
            <a:pPr algn="ctr"/>
            <a:r>
              <a:rPr lang="en-GB" dirty="0">
                <a:solidFill>
                  <a:schemeClr val="bg2">
                    <a:lumMod val="10000"/>
                  </a:schemeClr>
                </a:solidFill>
              </a:rPr>
              <a:t>0x3002_1000 </a:t>
            </a:r>
          </a:p>
        </p:txBody>
      </p:sp>
      <p:sp>
        <p:nvSpPr>
          <p:cNvPr id="48" name="Rectangle: Rounded Corners 47">
            <a:extLst>
              <a:ext uri="{FF2B5EF4-FFF2-40B4-BE49-F238E27FC236}">
                <a16:creationId xmlns:a16="http://schemas.microsoft.com/office/drawing/2014/main" id="{77862FEE-C53D-C159-0869-04E78C99C74F}"/>
              </a:ext>
            </a:extLst>
          </p:cNvPr>
          <p:cNvSpPr/>
          <p:nvPr/>
        </p:nvSpPr>
        <p:spPr>
          <a:xfrm>
            <a:off x="7729407" y="5268577"/>
            <a:ext cx="1875501" cy="847563"/>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2">
                    <a:lumMod val="10000"/>
                  </a:schemeClr>
                </a:solidFill>
              </a:rPr>
              <a:t>TAP/JTAG</a:t>
            </a:r>
          </a:p>
          <a:p>
            <a:pPr algn="ctr"/>
            <a:r>
              <a:rPr lang="en-GB" dirty="0">
                <a:solidFill>
                  <a:schemeClr val="bg2">
                    <a:lumMod val="10000"/>
                  </a:schemeClr>
                </a:solidFill>
              </a:rPr>
              <a:t>Debug/auth breakpoint</a:t>
            </a:r>
          </a:p>
        </p:txBody>
      </p:sp>
      <p:sp>
        <p:nvSpPr>
          <p:cNvPr id="49" name="Rectangle: Rounded Corners 48">
            <a:extLst>
              <a:ext uri="{FF2B5EF4-FFF2-40B4-BE49-F238E27FC236}">
                <a16:creationId xmlns:a16="http://schemas.microsoft.com/office/drawing/2014/main" id="{3BFBF89D-54FE-1572-9C0F-FD672D8EA76F}"/>
              </a:ext>
            </a:extLst>
          </p:cNvPr>
          <p:cNvSpPr/>
          <p:nvPr/>
        </p:nvSpPr>
        <p:spPr>
          <a:xfrm>
            <a:off x="9684003" y="5268576"/>
            <a:ext cx="2042738" cy="847563"/>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2">
                    <a:lumMod val="10000"/>
                  </a:schemeClr>
                </a:solidFill>
              </a:rPr>
              <a:t>AXI subordinate</a:t>
            </a:r>
          </a:p>
          <a:p>
            <a:pPr algn="ctr"/>
            <a:r>
              <a:rPr lang="en-GB" dirty="0">
                <a:solidFill>
                  <a:schemeClr val="bg2">
                    <a:lumMod val="10000"/>
                  </a:schemeClr>
                </a:solidFill>
              </a:rPr>
              <a:t>SoC inbound</a:t>
            </a:r>
          </a:p>
          <a:p>
            <a:pPr algn="ctr"/>
            <a:r>
              <a:rPr lang="en-GB" dirty="0">
                <a:solidFill>
                  <a:schemeClr val="bg2">
                    <a:lumMod val="10000"/>
                  </a:schemeClr>
                </a:solidFill>
              </a:rPr>
              <a:t>R/W access</a:t>
            </a:r>
          </a:p>
        </p:txBody>
      </p:sp>
      <p:sp>
        <p:nvSpPr>
          <p:cNvPr id="50" name="Rectangle: Rounded Corners 49">
            <a:extLst>
              <a:ext uri="{FF2B5EF4-FFF2-40B4-BE49-F238E27FC236}">
                <a16:creationId xmlns:a16="http://schemas.microsoft.com/office/drawing/2014/main" id="{9B809A8D-145F-D2D0-F823-79DA092CFCB1}"/>
              </a:ext>
            </a:extLst>
          </p:cNvPr>
          <p:cNvSpPr/>
          <p:nvPr/>
        </p:nvSpPr>
        <p:spPr>
          <a:xfrm>
            <a:off x="7812496" y="6184038"/>
            <a:ext cx="3729930" cy="465088"/>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2">
                    <a:lumMod val="10000"/>
                  </a:schemeClr>
                </a:solidFill>
              </a:rPr>
              <a:t>AXI manager (outbound)</a:t>
            </a:r>
          </a:p>
          <a:p>
            <a:pPr algn="ctr"/>
            <a:r>
              <a:rPr lang="en-GB" dirty="0">
                <a:solidFill>
                  <a:schemeClr val="bg2">
                    <a:lumMod val="10000"/>
                  </a:schemeClr>
                </a:solidFill>
              </a:rPr>
              <a:t>Chip Trust initiates SoC reads</a:t>
            </a:r>
          </a:p>
        </p:txBody>
      </p:sp>
    </p:spTree>
    <p:extLst>
      <p:ext uri="{BB962C8B-B14F-4D97-AF65-F5344CB8AC3E}">
        <p14:creationId xmlns:p14="http://schemas.microsoft.com/office/powerpoint/2010/main" val="517030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val 23">
            <a:extLst>
              <a:ext uri="{FF2B5EF4-FFF2-40B4-BE49-F238E27FC236}">
                <a16:creationId xmlns:a16="http://schemas.microsoft.com/office/drawing/2014/main" id="{EA374EDE-2726-31F6-B30D-F448C07ACCE8}"/>
              </a:ext>
            </a:extLst>
          </p:cNvPr>
          <p:cNvSpPr/>
          <p:nvPr/>
        </p:nvSpPr>
        <p:spPr>
          <a:xfrm>
            <a:off x="4836513" y="1732800"/>
            <a:ext cx="199865" cy="92653"/>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Arrow Connector 25">
            <a:extLst>
              <a:ext uri="{FF2B5EF4-FFF2-40B4-BE49-F238E27FC236}">
                <a16:creationId xmlns:a16="http://schemas.microsoft.com/office/drawing/2014/main" id="{138A3CA6-7736-9934-FD53-656FDC43FCB9}"/>
              </a:ext>
            </a:extLst>
          </p:cNvPr>
          <p:cNvCxnSpPr>
            <a:cxnSpLocks/>
          </p:cNvCxnSpPr>
          <p:nvPr/>
        </p:nvCxnSpPr>
        <p:spPr>
          <a:xfrm flipH="1">
            <a:off x="2972735" y="2020891"/>
            <a:ext cx="1990576" cy="0"/>
          </a:xfrm>
          <a:prstGeom prst="straightConnector1">
            <a:avLst/>
          </a:prstGeom>
          <a:ln w="28575">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grpSp>
        <p:nvGrpSpPr>
          <p:cNvPr id="63" name="Group 62">
            <a:extLst>
              <a:ext uri="{FF2B5EF4-FFF2-40B4-BE49-F238E27FC236}">
                <a16:creationId xmlns:a16="http://schemas.microsoft.com/office/drawing/2014/main" id="{2148D24D-1E46-4639-9A44-282EA610DBD5}"/>
              </a:ext>
            </a:extLst>
          </p:cNvPr>
          <p:cNvGrpSpPr/>
          <p:nvPr/>
        </p:nvGrpSpPr>
        <p:grpSpPr>
          <a:xfrm>
            <a:off x="739831" y="403697"/>
            <a:ext cx="10712337" cy="6050605"/>
            <a:chOff x="933771" y="635008"/>
            <a:chExt cx="10712337" cy="6050605"/>
          </a:xfrm>
        </p:grpSpPr>
        <p:sp>
          <p:nvSpPr>
            <p:cNvPr id="57" name="Oval 56">
              <a:extLst>
                <a:ext uri="{FF2B5EF4-FFF2-40B4-BE49-F238E27FC236}">
                  <a16:creationId xmlns:a16="http://schemas.microsoft.com/office/drawing/2014/main" id="{0810915D-5B6A-2790-865B-26BEF997D696}"/>
                </a:ext>
              </a:extLst>
            </p:cNvPr>
            <p:cNvSpPr/>
            <p:nvPr/>
          </p:nvSpPr>
          <p:spPr>
            <a:xfrm>
              <a:off x="6897971" y="6003700"/>
              <a:ext cx="199865" cy="92653"/>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2" name="Group 61">
              <a:extLst>
                <a:ext uri="{FF2B5EF4-FFF2-40B4-BE49-F238E27FC236}">
                  <a16:creationId xmlns:a16="http://schemas.microsoft.com/office/drawing/2014/main" id="{F1291392-38E7-D54D-C0EE-61B36B3E855C}"/>
                </a:ext>
              </a:extLst>
            </p:cNvPr>
            <p:cNvGrpSpPr/>
            <p:nvPr/>
          </p:nvGrpSpPr>
          <p:grpSpPr>
            <a:xfrm>
              <a:off x="933771" y="635008"/>
              <a:ext cx="10712337" cy="6050605"/>
              <a:chOff x="559017" y="125343"/>
              <a:chExt cx="10712337" cy="6050605"/>
            </a:xfrm>
          </p:grpSpPr>
          <p:cxnSp>
            <p:nvCxnSpPr>
              <p:cNvPr id="5" name="Straight Connector 4">
                <a:extLst>
                  <a:ext uri="{FF2B5EF4-FFF2-40B4-BE49-F238E27FC236}">
                    <a16:creationId xmlns:a16="http://schemas.microsoft.com/office/drawing/2014/main" id="{CECC5D80-4810-E079-6EAA-701D486E0823}"/>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7ECBF7AC-F4F9-4534-88AA-CB38DF4E9BF1}"/>
                  </a:ext>
                </a:extLst>
              </p:cNvPr>
              <p:cNvCxnSpPr/>
              <p:nvPr/>
            </p:nvCxnSpPr>
            <p:spPr>
              <a:xfrm>
                <a:off x="2805660" y="494674"/>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24E6832B-0F16-37B2-3967-2B07F334C98F}"/>
                  </a:ext>
                </a:extLst>
              </p:cNvPr>
              <p:cNvCxnSpPr/>
              <p:nvPr/>
            </p:nvCxnSpPr>
            <p:spPr>
              <a:xfrm>
                <a:off x="4769371"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370841B7-BF35-9567-6D3C-B53CD4F33380}"/>
                  </a:ext>
                </a:extLst>
              </p:cNvPr>
              <p:cNvCxnSpPr/>
              <p:nvPr/>
            </p:nvCxnSpPr>
            <p:spPr>
              <a:xfrm>
                <a:off x="662815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518A993C-74EF-496E-51AB-8367AA34F7E0}"/>
                  </a:ext>
                </a:extLst>
              </p:cNvPr>
              <p:cNvCxnSpPr/>
              <p:nvPr/>
            </p:nvCxnSpPr>
            <p:spPr>
              <a:xfrm>
                <a:off x="853190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425DB6B5-D01D-CB59-63E1-4140E2AEF806}"/>
                  </a:ext>
                </a:extLst>
              </p:cNvPr>
              <p:cNvSpPr txBox="1"/>
              <p:nvPr/>
            </p:nvSpPr>
            <p:spPr>
              <a:xfrm>
                <a:off x="680801" y="125343"/>
                <a:ext cx="1304144" cy="369332"/>
              </a:xfrm>
              <a:prstGeom prst="rect">
                <a:avLst/>
              </a:prstGeom>
              <a:noFill/>
            </p:spPr>
            <p:txBody>
              <a:bodyPr wrap="square" rtlCol="0">
                <a:spAutoFit/>
              </a:bodyPr>
              <a:lstStyle/>
              <a:p>
                <a:r>
                  <a:rPr lang="en-GB" b="1" dirty="0"/>
                  <a:t>SoC</a:t>
                </a:r>
              </a:p>
            </p:txBody>
          </p:sp>
          <p:sp>
            <p:nvSpPr>
              <p:cNvPr id="11" name="TextBox 10">
                <a:extLst>
                  <a:ext uri="{FF2B5EF4-FFF2-40B4-BE49-F238E27FC236}">
                    <a16:creationId xmlns:a16="http://schemas.microsoft.com/office/drawing/2014/main" id="{47E13AD3-5F51-9B49-3B22-315428EF1536}"/>
                  </a:ext>
                </a:extLst>
              </p:cNvPr>
              <p:cNvSpPr txBox="1"/>
              <p:nvPr/>
            </p:nvSpPr>
            <p:spPr>
              <a:xfrm>
                <a:off x="2284748" y="132839"/>
                <a:ext cx="1753847" cy="369332"/>
              </a:xfrm>
              <a:prstGeom prst="rect">
                <a:avLst/>
              </a:prstGeom>
              <a:noFill/>
            </p:spPr>
            <p:txBody>
              <a:bodyPr wrap="square" rtlCol="0">
                <a:spAutoFit/>
              </a:bodyPr>
              <a:lstStyle/>
              <a:p>
                <a:r>
                  <a:rPr lang="en-GB" b="1" dirty="0"/>
                  <a:t>AXI Interface</a:t>
                </a:r>
              </a:p>
            </p:txBody>
          </p:sp>
          <p:sp>
            <p:nvSpPr>
              <p:cNvPr id="12" name="TextBox 11">
                <a:extLst>
                  <a:ext uri="{FF2B5EF4-FFF2-40B4-BE49-F238E27FC236}">
                    <a16:creationId xmlns:a16="http://schemas.microsoft.com/office/drawing/2014/main" id="{8F576C9C-7835-91D7-0689-AB61A6F09C0D}"/>
                  </a:ext>
                </a:extLst>
              </p:cNvPr>
              <p:cNvSpPr txBox="1"/>
              <p:nvPr/>
            </p:nvSpPr>
            <p:spPr>
              <a:xfrm>
                <a:off x="4379625" y="125343"/>
                <a:ext cx="1304144" cy="369332"/>
              </a:xfrm>
              <a:prstGeom prst="rect">
                <a:avLst/>
              </a:prstGeom>
              <a:noFill/>
            </p:spPr>
            <p:txBody>
              <a:bodyPr wrap="square" rtlCol="0">
                <a:spAutoFit/>
              </a:bodyPr>
              <a:lstStyle/>
              <a:p>
                <a:r>
                  <a:rPr lang="en-GB" b="1" dirty="0"/>
                  <a:t>Boot FSM</a:t>
                </a:r>
              </a:p>
            </p:txBody>
          </p:sp>
          <p:sp>
            <p:nvSpPr>
              <p:cNvPr id="13" name="TextBox 12">
                <a:extLst>
                  <a:ext uri="{FF2B5EF4-FFF2-40B4-BE49-F238E27FC236}">
                    <a16:creationId xmlns:a16="http://schemas.microsoft.com/office/drawing/2014/main" id="{B12E1805-DD15-CB75-D1F0-DD8A55AF09AC}"/>
                  </a:ext>
                </a:extLst>
              </p:cNvPr>
              <p:cNvSpPr txBox="1"/>
              <p:nvPr/>
            </p:nvSpPr>
            <p:spPr>
              <a:xfrm>
                <a:off x="6227161" y="125343"/>
                <a:ext cx="1304144" cy="369332"/>
              </a:xfrm>
              <a:prstGeom prst="rect">
                <a:avLst/>
              </a:prstGeom>
              <a:noFill/>
            </p:spPr>
            <p:txBody>
              <a:bodyPr wrap="square" rtlCol="0">
                <a:spAutoFit/>
              </a:bodyPr>
              <a:lstStyle/>
              <a:p>
                <a:r>
                  <a:rPr lang="en-GB" b="1" dirty="0" err="1"/>
                  <a:t>VeeR</a:t>
                </a:r>
                <a:r>
                  <a:rPr lang="en-GB" b="1" dirty="0"/>
                  <a:t> EL2</a:t>
                </a:r>
              </a:p>
            </p:txBody>
          </p:sp>
          <p:sp>
            <p:nvSpPr>
              <p:cNvPr id="14" name="TextBox 13">
                <a:extLst>
                  <a:ext uri="{FF2B5EF4-FFF2-40B4-BE49-F238E27FC236}">
                    <a16:creationId xmlns:a16="http://schemas.microsoft.com/office/drawing/2014/main" id="{AFAB07A1-47A2-0FA4-B13D-1E54161D53C1}"/>
                  </a:ext>
                </a:extLst>
              </p:cNvPr>
              <p:cNvSpPr txBox="1"/>
              <p:nvPr/>
            </p:nvSpPr>
            <p:spPr>
              <a:xfrm>
                <a:off x="8213365" y="125343"/>
                <a:ext cx="1304144" cy="369332"/>
              </a:xfrm>
              <a:prstGeom prst="rect">
                <a:avLst/>
              </a:prstGeom>
              <a:noFill/>
            </p:spPr>
            <p:txBody>
              <a:bodyPr wrap="square" rtlCol="0">
                <a:spAutoFit/>
              </a:bodyPr>
              <a:lstStyle/>
              <a:p>
                <a:r>
                  <a:rPr lang="en-GB" b="1" dirty="0"/>
                  <a:t>Crypto</a:t>
                </a:r>
              </a:p>
            </p:txBody>
          </p:sp>
          <p:sp>
            <p:nvSpPr>
              <p:cNvPr id="15" name="TextBox 14">
                <a:extLst>
                  <a:ext uri="{FF2B5EF4-FFF2-40B4-BE49-F238E27FC236}">
                    <a16:creationId xmlns:a16="http://schemas.microsoft.com/office/drawing/2014/main" id="{97B06ED0-91B3-11EC-473F-319142BDB087}"/>
                  </a:ext>
                </a:extLst>
              </p:cNvPr>
              <p:cNvSpPr txBox="1"/>
              <p:nvPr/>
            </p:nvSpPr>
            <p:spPr>
              <a:xfrm>
                <a:off x="9967210" y="125343"/>
                <a:ext cx="1304144" cy="369332"/>
              </a:xfrm>
              <a:prstGeom prst="rect">
                <a:avLst/>
              </a:prstGeom>
              <a:noFill/>
            </p:spPr>
            <p:txBody>
              <a:bodyPr wrap="square" rtlCol="0">
                <a:spAutoFit/>
              </a:bodyPr>
              <a:lstStyle/>
              <a:p>
                <a:r>
                  <a:rPr lang="en-GB" b="1" dirty="0"/>
                  <a:t>Mailbox</a:t>
                </a:r>
              </a:p>
            </p:txBody>
          </p:sp>
          <p:cxnSp>
            <p:nvCxnSpPr>
              <p:cNvPr id="16" name="Straight Connector 15">
                <a:extLst>
                  <a:ext uri="{FF2B5EF4-FFF2-40B4-BE49-F238E27FC236}">
                    <a16:creationId xmlns:a16="http://schemas.microsoft.com/office/drawing/2014/main" id="{6D71B3F3-7E8C-E579-6A73-4E59790772B3}"/>
                  </a:ext>
                </a:extLst>
              </p:cNvPr>
              <p:cNvCxnSpPr/>
              <p:nvPr/>
            </p:nvCxnSpPr>
            <p:spPr>
              <a:xfrm>
                <a:off x="10348210"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2FDCD510-7CF6-7DE5-E11D-C7B90F06299A}"/>
                  </a:ext>
                </a:extLst>
              </p:cNvPr>
              <p:cNvCxnSpPr>
                <a:cxnSpLocks/>
              </p:cNvCxnSpPr>
              <p:nvPr/>
            </p:nvCxnSpPr>
            <p:spPr>
              <a:xfrm flipV="1">
                <a:off x="989351" y="854440"/>
                <a:ext cx="3780020" cy="12279"/>
              </a:xfrm>
              <a:prstGeom prst="straightConnector1">
                <a:avLst/>
              </a:prstGeom>
              <a:ln w="28575">
                <a:solidFill>
                  <a:schemeClr val="accent5">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57676F01-B840-C4EB-464B-F170BF2D6EDB}"/>
                  </a:ext>
                </a:extLst>
              </p:cNvPr>
              <p:cNvSpPr txBox="1"/>
              <p:nvPr/>
            </p:nvSpPr>
            <p:spPr>
              <a:xfrm>
                <a:off x="1135500" y="497387"/>
                <a:ext cx="1966213" cy="369332"/>
              </a:xfrm>
              <a:prstGeom prst="rect">
                <a:avLst/>
              </a:prstGeom>
              <a:noFill/>
            </p:spPr>
            <p:txBody>
              <a:bodyPr wrap="square" rtlCol="0">
                <a:spAutoFit/>
              </a:bodyPr>
              <a:lstStyle/>
              <a:p>
                <a:r>
                  <a:rPr lang="en-GB" dirty="0" err="1">
                    <a:solidFill>
                      <a:schemeClr val="accent5">
                        <a:lumMod val="75000"/>
                      </a:schemeClr>
                    </a:solidFill>
                  </a:rPr>
                  <a:t>cptra_pwrgood</a:t>
                </a:r>
                <a:endParaRPr lang="en-GB" dirty="0">
                  <a:solidFill>
                    <a:schemeClr val="accent5">
                      <a:lumMod val="75000"/>
                    </a:schemeClr>
                  </a:solidFill>
                </a:endParaRPr>
              </a:p>
            </p:txBody>
          </p:sp>
          <p:sp>
            <p:nvSpPr>
              <p:cNvPr id="22" name="TextBox 21">
                <a:extLst>
                  <a:ext uri="{FF2B5EF4-FFF2-40B4-BE49-F238E27FC236}">
                    <a16:creationId xmlns:a16="http://schemas.microsoft.com/office/drawing/2014/main" id="{49EFF964-BECD-73B6-5583-904DB86D8DF0}"/>
                  </a:ext>
                </a:extLst>
              </p:cNvPr>
              <p:cNvSpPr txBox="1"/>
              <p:nvPr/>
            </p:nvSpPr>
            <p:spPr>
              <a:xfrm>
                <a:off x="1044314" y="837377"/>
                <a:ext cx="2557067" cy="369332"/>
              </a:xfrm>
              <a:prstGeom prst="rect">
                <a:avLst/>
              </a:prstGeom>
              <a:noFill/>
            </p:spPr>
            <p:txBody>
              <a:bodyPr wrap="square" rtlCol="0">
                <a:spAutoFit/>
              </a:bodyPr>
              <a:lstStyle/>
              <a:p>
                <a:r>
                  <a:rPr lang="en-GB" dirty="0" err="1">
                    <a:solidFill>
                      <a:schemeClr val="accent5">
                        <a:lumMod val="75000"/>
                      </a:schemeClr>
                    </a:solidFill>
                  </a:rPr>
                  <a:t>cptra_rst_b</a:t>
                </a:r>
                <a:r>
                  <a:rPr lang="en-GB" dirty="0">
                    <a:solidFill>
                      <a:schemeClr val="accent5">
                        <a:lumMod val="75000"/>
                      </a:schemeClr>
                    </a:solidFill>
                  </a:rPr>
                  <a:t> (</a:t>
                </a:r>
                <a:r>
                  <a:rPr lang="en-GB" dirty="0" err="1">
                    <a:solidFill>
                      <a:schemeClr val="accent5">
                        <a:lumMod val="75000"/>
                      </a:schemeClr>
                    </a:solidFill>
                  </a:rPr>
                  <a:t>deassert</a:t>
                </a:r>
                <a:r>
                  <a:rPr lang="en-GB" dirty="0">
                    <a:solidFill>
                      <a:schemeClr val="accent5">
                        <a:lumMod val="75000"/>
                      </a:schemeClr>
                    </a:solidFill>
                  </a:rPr>
                  <a:t>)</a:t>
                </a:r>
              </a:p>
            </p:txBody>
          </p:sp>
          <p:cxnSp>
            <p:nvCxnSpPr>
              <p:cNvPr id="23" name="Straight Arrow Connector 22">
                <a:extLst>
                  <a:ext uri="{FF2B5EF4-FFF2-40B4-BE49-F238E27FC236}">
                    <a16:creationId xmlns:a16="http://schemas.microsoft.com/office/drawing/2014/main" id="{21157637-EBE1-C4A0-CF9D-5FFA8CCA5BF1}"/>
                  </a:ext>
                </a:extLst>
              </p:cNvPr>
              <p:cNvCxnSpPr>
                <a:cxnSpLocks/>
              </p:cNvCxnSpPr>
              <p:nvPr/>
            </p:nvCxnSpPr>
            <p:spPr>
              <a:xfrm flipV="1">
                <a:off x="975612" y="1206709"/>
                <a:ext cx="3780020" cy="12279"/>
              </a:xfrm>
              <a:prstGeom prst="straightConnector1">
                <a:avLst/>
              </a:prstGeom>
              <a:ln w="28575">
                <a:solidFill>
                  <a:schemeClr val="accent5">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614AC29F-45D1-A0C2-270E-3F98D5AED2C7}"/>
                  </a:ext>
                </a:extLst>
              </p:cNvPr>
              <p:cNvSpPr txBox="1"/>
              <p:nvPr/>
            </p:nvSpPr>
            <p:spPr>
              <a:xfrm>
                <a:off x="4878038" y="1221060"/>
                <a:ext cx="1467788" cy="369332"/>
              </a:xfrm>
              <a:prstGeom prst="rect">
                <a:avLst/>
              </a:prstGeom>
              <a:noFill/>
            </p:spPr>
            <p:txBody>
              <a:bodyPr wrap="square" rtlCol="0">
                <a:spAutoFit/>
              </a:bodyPr>
              <a:lstStyle/>
              <a:p>
                <a:r>
                  <a:rPr lang="en-GB" b="1" dirty="0">
                    <a:solidFill>
                      <a:schemeClr val="accent2">
                        <a:lumMod val="75000"/>
                      </a:schemeClr>
                    </a:solidFill>
                  </a:rPr>
                  <a:t>BOOT_IDLE</a:t>
                </a:r>
              </a:p>
            </p:txBody>
          </p:sp>
          <p:sp>
            <p:nvSpPr>
              <p:cNvPr id="31" name="TextBox 30">
                <a:extLst>
                  <a:ext uri="{FF2B5EF4-FFF2-40B4-BE49-F238E27FC236}">
                    <a16:creationId xmlns:a16="http://schemas.microsoft.com/office/drawing/2014/main" id="{85AE5A9A-2791-1687-C8C2-079334BC1DE4}"/>
                  </a:ext>
                </a:extLst>
              </p:cNvPr>
              <p:cNvSpPr txBox="1"/>
              <p:nvPr/>
            </p:nvSpPr>
            <p:spPr>
              <a:xfrm>
                <a:off x="2845944" y="1376285"/>
                <a:ext cx="1896267" cy="369332"/>
              </a:xfrm>
              <a:prstGeom prst="rect">
                <a:avLst/>
              </a:prstGeom>
              <a:noFill/>
            </p:spPr>
            <p:txBody>
              <a:bodyPr wrap="square" rtlCol="0">
                <a:spAutoFit/>
              </a:bodyPr>
              <a:lstStyle/>
              <a:p>
                <a:r>
                  <a:rPr lang="en-GB" dirty="0" err="1">
                    <a:solidFill>
                      <a:schemeClr val="accent2">
                        <a:lumMod val="75000"/>
                      </a:schemeClr>
                    </a:solidFill>
                  </a:rPr>
                  <a:t>ready_for_fuses</a:t>
                </a:r>
                <a:endParaRPr lang="en-GB" dirty="0">
                  <a:solidFill>
                    <a:schemeClr val="accent2">
                      <a:lumMod val="75000"/>
                    </a:schemeClr>
                  </a:solidFill>
                </a:endParaRPr>
              </a:p>
            </p:txBody>
          </p:sp>
          <p:sp>
            <p:nvSpPr>
              <p:cNvPr id="32" name="TextBox 31">
                <a:extLst>
                  <a:ext uri="{FF2B5EF4-FFF2-40B4-BE49-F238E27FC236}">
                    <a16:creationId xmlns:a16="http://schemas.microsoft.com/office/drawing/2014/main" id="{4EE78947-EDC1-F27A-4F78-C72CAC200D0F}"/>
                  </a:ext>
                </a:extLst>
              </p:cNvPr>
              <p:cNvSpPr txBox="1"/>
              <p:nvPr/>
            </p:nvSpPr>
            <p:spPr>
              <a:xfrm>
                <a:off x="890992" y="1795100"/>
                <a:ext cx="2557067" cy="369332"/>
              </a:xfrm>
              <a:prstGeom prst="rect">
                <a:avLst/>
              </a:prstGeom>
              <a:noFill/>
            </p:spPr>
            <p:txBody>
              <a:bodyPr wrap="square" rtlCol="0">
                <a:spAutoFit/>
              </a:bodyPr>
              <a:lstStyle/>
              <a:p>
                <a:r>
                  <a:rPr lang="en-GB" dirty="0" err="1">
                    <a:solidFill>
                      <a:schemeClr val="accent2">
                        <a:lumMod val="75000"/>
                      </a:schemeClr>
                    </a:solidFill>
                  </a:rPr>
                  <a:t>fuse_req_interrupt</a:t>
                </a:r>
                <a:endParaRPr lang="en-GB" dirty="0">
                  <a:solidFill>
                    <a:schemeClr val="accent2">
                      <a:lumMod val="75000"/>
                    </a:schemeClr>
                  </a:solidFill>
                </a:endParaRPr>
              </a:p>
            </p:txBody>
          </p:sp>
          <p:cxnSp>
            <p:nvCxnSpPr>
              <p:cNvPr id="33" name="Straight Arrow Connector 32">
                <a:extLst>
                  <a:ext uri="{FF2B5EF4-FFF2-40B4-BE49-F238E27FC236}">
                    <a16:creationId xmlns:a16="http://schemas.microsoft.com/office/drawing/2014/main" id="{68F7F159-EEB8-5393-0C92-E9660A8A1FE9}"/>
                  </a:ext>
                </a:extLst>
              </p:cNvPr>
              <p:cNvCxnSpPr>
                <a:cxnSpLocks/>
              </p:cNvCxnSpPr>
              <p:nvPr/>
            </p:nvCxnSpPr>
            <p:spPr>
              <a:xfrm flipH="1">
                <a:off x="975612" y="2155023"/>
                <a:ext cx="1830048" cy="0"/>
              </a:xfrm>
              <a:prstGeom prst="straightConnector1">
                <a:avLst/>
              </a:prstGeom>
              <a:ln w="28575">
                <a:solidFill>
                  <a:schemeClr val="accent2">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47A75F7A-5B5E-2C16-14D2-8E548955B3CE}"/>
                  </a:ext>
                </a:extLst>
              </p:cNvPr>
              <p:cNvCxnSpPr>
                <a:cxnSpLocks/>
              </p:cNvCxnSpPr>
              <p:nvPr/>
            </p:nvCxnSpPr>
            <p:spPr>
              <a:xfrm>
                <a:off x="989351" y="2552262"/>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38" name="TextBox 37">
                <a:extLst>
                  <a:ext uri="{FF2B5EF4-FFF2-40B4-BE49-F238E27FC236}">
                    <a16:creationId xmlns:a16="http://schemas.microsoft.com/office/drawing/2014/main" id="{A88699AD-16E7-D269-2AF0-640F8C1953C1}"/>
                  </a:ext>
                </a:extLst>
              </p:cNvPr>
              <p:cNvSpPr txBox="1"/>
              <p:nvPr/>
            </p:nvSpPr>
            <p:spPr>
              <a:xfrm>
                <a:off x="885990" y="2164432"/>
                <a:ext cx="2557067" cy="369332"/>
              </a:xfrm>
              <a:prstGeom prst="rect">
                <a:avLst/>
              </a:prstGeom>
              <a:noFill/>
            </p:spPr>
            <p:txBody>
              <a:bodyPr wrap="square" rtlCol="0">
                <a:spAutoFit/>
              </a:bodyPr>
              <a:lstStyle/>
              <a:p>
                <a:r>
                  <a:rPr lang="en-GB" dirty="0">
                    <a:solidFill>
                      <a:schemeClr val="accent3">
                        <a:lumMod val="75000"/>
                      </a:schemeClr>
                    </a:solidFill>
                  </a:rPr>
                  <a:t>AXI write: </a:t>
                </a:r>
                <a:r>
                  <a:rPr lang="en-GB" dirty="0" err="1">
                    <a:solidFill>
                      <a:schemeClr val="accent3">
                        <a:lumMod val="75000"/>
                      </a:schemeClr>
                    </a:solidFill>
                  </a:rPr>
                  <a:t>fuse_uds</a:t>
                </a:r>
                <a:endParaRPr lang="en-GB" dirty="0">
                  <a:solidFill>
                    <a:schemeClr val="accent3">
                      <a:lumMod val="75000"/>
                    </a:schemeClr>
                  </a:solidFill>
                </a:endParaRPr>
              </a:p>
            </p:txBody>
          </p:sp>
          <p:sp>
            <p:nvSpPr>
              <p:cNvPr id="39" name="TextBox 38">
                <a:extLst>
                  <a:ext uri="{FF2B5EF4-FFF2-40B4-BE49-F238E27FC236}">
                    <a16:creationId xmlns:a16="http://schemas.microsoft.com/office/drawing/2014/main" id="{E20C532C-2E07-2954-D78E-FBBC84387380}"/>
                  </a:ext>
                </a:extLst>
              </p:cNvPr>
              <p:cNvSpPr txBox="1"/>
              <p:nvPr/>
            </p:nvSpPr>
            <p:spPr>
              <a:xfrm>
                <a:off x="559017" y="2580169"/>
                <a:ext cx="3521429" cy="369332"/>
              </a:xfrm>
              <a:prstGeom prst="rect">
                <a:avLst/>
              </a:prstGeom>
              <a:noFill/>
            </p:spPr>
            <p:txBody>
              <a:bodyPr wrap="square" rtlCol="0">
                <a:spAutoFit/>
              </a:bodyPr>
              <a:lstStyle/>
              <a:p>
                <a:r>
                  <a:rPr lang="en-GB" dirty="0">
                    <a:solidFill>
                      <a:schemeClr val="accent3">
                        <a:lumMod val="75000"/>
                      </a:schemeClr>
                    </a:solidFill>
                  </a:rPr>
                  <a:t>AXI write: </a:t>
                </a:r>
                <a:r>
                  <a:rPr lang="en-GB" dirty="0" err="1">
                    <a:solidFill>
                      <a:schemeClr val="accent3">
                        <a:lumMod val="75000"/>
                      </a:schemeClr>
                    </a:solidFill>
                  </a:rPr>
                  <a:t>fuse_field_entropy</a:t>
                </a:r>
                <a:endParaRPr lang="en-GB" dirty="0">
                  <a:solidFill>
                    <a:schemeClr val="accent3">
                      <a:lumMod val="75000"/>
                    </a:schemeClr>
                  </a:solidFill>
                </a:endParaRPr>
              </a:p>
            </p:txBody>
          </p:sp>
          <p:cxnSp>
            <p:nvCxnSpPr>
              <p:cNvPr id="40" name="Straight Arrow Connector 39">
                <a:extLst>
                  <a:ext uri="{FF2B5EF4-FFF2-40B4-BE49-F238E27FC236}">
                    <a16:creationId xmlns:a16="http://schemas.microsoft.com/office/drawing/2014/main" id="{1F83C256-B04E-9A88-0182-231B46342CA1}"/>
                  </a:ext>
                </a:extLst>
              </p:cNvPr>
              <p:cNvCxnSpPr>
                <a:cxnSpLocks/>
              </p:cNvCxnSpPr>
              <p:nvPr/>
            </p:nvCxnSpPr>
            <p:spPr>
              <a:xfrm>
                <a:off x="1011826" y="2959495"/>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E706728E-1ED6-CD08-30A6-E823E2BFF22B}"/>
                  </a:ext>
                </a:extLst>
              </p:cNvPr>
              <p:cNvCxnSpPr>
                <a:cxnSpLocks/>
              </p:cNvCxnSpPr>
              <p:nvPr/>
            </p:nvCxnSpPr>
            <p:spPr>
              <a:xfrm>
                <a:off x="975612" y="3429000"/>
                <a:ext cx="1816309"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2" name="TextBox 41">
                <a:extLst>
                  <a:ext uri="{FF2B5EF4-FFF2-40B4-BE49-F238E27FC236}">
                    <a16:creationId xmlns:a16="http://schemas.microsoft.com/office/drawing/2014/main" id="{ECAA1CA5-936A-B87F-F1A2-9877CE3E7642}"/>
                  </a:ext>
                </a:extLst>
              </p:cNvPr>
              <p:cNvSpPr txBox="1"/>
              <p:nvPr/>
            </p:nvSpPr>
            <p:spPr>
              <a:xfrm>
                <a:off x="622724" y="3029023"/>
                <a:ext cx="3242868" cy="369332"/>
              </a:xfrm>
              <a:prstGeom prst="rect">
                <a:avLst/>
              </a:prstGeom>
              <a:noFill/>
            </p:spPr>
            <p:txBody>
              <a:bodyPr wrap="square" rtlCol="0">
                <a:spAutoFit/>
              </a:bodyPr>
              <a:lstStyle/>
              <a:p>
                <a:r>
                  <a:rPr lang="en-GB" dirty="0">
                    <a:solidFill>
                      <a:schemeClr val="accent3">
                        <a:lumMod val="75000"/>
                      </a:schemeClr>
                    </a:solidFill>
                  </a:rPr>
                  <a:t>AXI write: </a:t>
                </a:r>
                <a:r>
                  <a:rPr lang="en-GB" dirty="0" err="1">
                    <a:solidFill>
                      <a:schemeClr val="accent3">
                        <a:lumMod val="75000"/>
                      </a:schemeClr>
                    </a:solidFill>
                  </a:rPr>
                  <a:t>fuse_done</a:t>
                </a:r>
                <a:r>
                  <a:rPr lang="en-GB" dirty="0">
                    <a:solidFill>
                      <a:schemeClr val="accent3">
                        <a:lumMod val="75000"/>
                      </a:schemeClr>
                    </a:solidFill>
                  </a:rPr>
                  <a:t> = 1</a:t>
                </a:r>
              </a:p>
            </p:txBody>
          </p:sp>
          <p:cxnSp>
            <p:nvCxnSpPr>
              <p:cNvPr id="43" name="Straight Arrow Connector 42">
                <a:extLst>
                  <a:ext uri="{FF2B5EF4-FFF2-40B4-BE49-F238E27FC236}">
                    <a16:creationId xmlns:a16="http://schemas.microsoft.com/office/drawing/2014/main" id="{CFE74EC1-D34C-46ED-2DF1-06966CA27DF6}"/>
                  </a:ext>
                </a:extLst>
              </p:cNvPr>
              <p:cNvCxnSpPr>
                <a:cxnSpLocks/>
              </p:cNvCxnSpPr>
              <p:nvPr/>
            </p:nvCxnSpPr>
            <p:spPr>
              <a:xfrm>
                <a:off x="2791921" y="3731302"/>
                <a:ext cx="2004315" cy="0"/>
              </a:xfrm>
              <a:prstGeom prst="straightConnector1">
                <a:avLst/>
              </a:prstGeom>
              <a:ln w="28575">
                <a:solidFill>
                  <a:schemeClr val="accent3">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1A5670C6-25D3-0A53-F7A0-29E9A1C73D8B}"/>
                  </a:ext>
                </a:extLst>
              </p:cNvPr>
              <p:cNvSpPr txBox="1"/>
              <p:nvPr/>
            </p:nvSpPr>
            <p:spPr>
              <a:xfrm>
                <a:off x="3031775" y="3398352"/>
                <a:ext cx="2557067" cy="369332"/>
              </a:xfrm>
              <a:prstGeom prst="rect">
                <a:avLst/>
              </a:prstGeom>
              <a:noFill/>
            </p:spPr>
            <p:txBody>
              <a:bodyPr wrap="square" rtlCol="0">
                <a:spAutoFit/>
              </a:bodyPr>
              <a:lstStyle/>
              <a:p>
                <a:r>
                  <a:rPr lang="en-GB" dirty="0" err="1">
                    <a:solidFill>
                      <a:schemeClr val="accent3">
                        <a:lumMod val="75000"/>
                      </a:schemeClr>
                    </a:solidFill>
                  </a:rPr>
                  <a:t>fuse_done</a:t>
                </a:r>
                <a:endParaRPr lang="en-GB" dirty="0">
                  <a:solidFill>
                    <a:schemeClr val="accent3">
                      <a:lumMod val="75000"/>
                    </a:schemeClr>
                  </a:solidFill>
                </a:endParaRPr>
              </a:p>
            </p:txBody>
          </p:sp>
          <p:sp>
            <p:nvSpPr>
              <p:cNvPr id="46" name="TextBox 45">
                <a:extLst>
                  <a:ext uri="{FF2B5EF4-FFF2-40B4-BE49-F238E27FC236}">
                    <a16:creationId xmlns:a16="http://schemas.microsoft.com/office/drawing/2014/main" id="{60A86B6D-8862-55A0-8DA0-4A3EF2489929}"/>
                  </a:ext>
                </a:extLst>
              </p:cNvPr>
              <p:cNvSpPr txBox="1"/>
              <p:nvPr/>
            </p:nvSpPr>
            <p:spPr>
              <a:xfrm>
                <a:off x="4499556" y="3653554"/>
                <a:ext cx="3217882" cy="369332"/>
              </a:xfrm>
              <a:prstGeom prst="rect">
                <a:avLst/>
              </a:prstGeom>
              <a:noFill/>
            </p:spPr>
            <p:txBody>
              <a:bodyPr wrap="square" rtlCol="0">
                <a:spAutoFit/>
              </a:bodyPr>
              <a:lstStyle/>
              <a:p>
                <a:r>
                  <a:rPr lang="en-GB" dirty="0" err="1">
                    <a:solidFill>
                      <a:schemeClr val="accent4">
                        <a:lumMod val="50000"/>
                      </a:schemeClr>
                    </a:solidFill>
                  </a:rPr>
                  <a:t>cptra_uc_rst_b_deassert</a:t>
                </a:r>
                <a:endParaRPr lang="en-GB" dirty="0">
                  <a:solidFill>
                    <a:schemeClr val="accent4">
                      <a:lumMod val="50000"/>
                    </a:schemeClr>
                  </a:solidFill>
                </a:endParaRPr>
              </a:p>
            </p:txBody>
          </p:sp>
          <p:cxnSp>
            <p:nvCxnSpPr>
              <p:cNvPr id="47" name="Straight Arrow Connector 46">
                <a:extLst>
                  <a:ext uri="{FF2B5EF4-FFF2-40B4-BE49-F238E27FC236}">
                    <a16:creationId xmlns:a16="http://schemas.microsoft.com/office/drawing/2014/main" id="{E369C0B9-81C5-829D-02BB-72483C695D27}"/>
                  </a:ext>
                </a:extLst>
              </p:cNvPr>
              <p:cNvCxnSpPr>
                <a:cxnSpLocks/>
              </p:cNvCxnSpPr>
              <p:nvPr/>
            </p:nvCxnSpPr>
            <p:spPr>
              <a:xfrm>
                <a:off x="4769371" y="4018614"/>
                <a:ext cx="1858781"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49" name="TextBox 48">
                <a:extLst>
                  <a:ext uri="{FF2B5EF4-FFF2-40B4-BE49-F238E27FC236}">
                    <a16:creationId xmlns:a16="http://schemas.microsoft.com/office/drawing/2014/main" id="{7A02C9DC-19FC-2283-53F6-55ECA77F3E25}"/>
                  </a:ext>
                </a:extLst>
              </p:cNvPr>
              <p:cNvSpPr txBox="1"/>
              <p:nvPr/>
            </p:nvSpPr>
            <p:spPr>
              <a:xfrm>
                <a:off x="6763689" y="4093422"/>
                <a:ext cx="1907497" cy="369332"/>
              </a:xfrm>
              <a:prstGeom prst="rect">
                <a:avLst/>
              </a:prstGeom>
              <a:noFill/>
            </p:spPr>
            <p:txBody>
              <a:bodyPr wrap="square" rtlCol="0">
                <a:spAutoFit/>
              </a:bodyPr>
              <a:lstStyle/>
              <a:p>
                <a:r>
                  <a:rPr lang="en-GB" b="1" dirty="0">
                    <a:solidFill>
                      <a:schemeClr val="accent4">
                        <a:lumMod val="50000"/>
                      </a:schemeClr>
                    </a:solidFill>
                  </a:rPr>
                  <a:t>ROM executes</a:t>
                </a:r>
              </a:p>
            </p:txBody>
          </p:sp>
          <p:sp>
            <p:nvSpPr>
              <p:cNvPr id="50" name="Oval 49">
                <a:extLst>
                  <a:ext uri="{FF2B5EF4-FFF2-40B4-BE49-F238E27FC236}">
                    <a16:creationId xmlns:a16="http://schemas.microsoft.com/office/drawing/2014/main" id="{F9DCF1DF-1A99-0044-AC72-2626B0265F1C}"/>
                  </a:ext>
                </a:extLst>
              </p:cNvPr>
              <p:cNvSpPr/>
              <p:nvPr/>
            </p:nvSpPr>
            <p:spPr>
              <a:xfrm>
                <a:off x="6533217" y="4215433"/>
                <a:ext cx="199865" cy="92653"/>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1" name="Straight Arrow Connector 50">
                <a:extLst>
                  <a:ext uri="{FF2B5EF4-FFF2-40B4-BE49-F238E27FC236}">
                    <a16:creationId xmlns:a16="http://schemas.microsoft.com/office/drawing/2014/main" id="{C1161340-2C94-8339-82B3-D951FEE1CC30}"/>
                  </a:ext>
                </a:extLst>
              </p:cNvPr>
              <p:cNvCxnSpPr>
                <a:cxnSpLocks/>
              </p:cNvCxnSpPr>
              <p:nvPr/>
            </p:nvCxnSpPr>
            <p:spPr>
              <a:xfrm>
                <a:off x="6623150" y="4760813"/>
                <a:ext cx="3725060"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53" name="TextBox 52">
                <a:extLst>
                  <a:ext uri="{FF2B5EF4-FFF2-40B4-BE49-F238E27FC236}">
                    <a16:creationId xmlns:a16="http://schemas.microsoft.com/office/drawing/2014/main" id="{74A6B0B3-3684-8B88-8D07-E40152638C8C}"/>
                  </a:ext>
                </a:extLst>
              </p:cNvPr>
              <p:cNvSpPr txBox="1"/>
              <p:nvPr/>
            </p:nvSpPr>
            <p:spPr>
              <a:xfrm>
                <a:off x="6910479" y="4391482"/>
                <a:ext cx="3244121" cy="369332"/>
              </a:xfrm>
              <a:prstGeom prst="rect">
                <a:avLst/>
              </a:prstGeom>
              <a:noFill/>
            </p:spPr>
            <p:txBody>
              <a:bodyPr wrap="square" rtlCol="0">
                <a:spAutoFit/>
              </a:bodyPr>
              <a:lstStyle/>
              <a:p>
                <a:r>
                  <a:rPr lang="en-GB" dirty="0">
                    <a:solidFill>
                      <a:schemeClr val="accent4">
                        <a:lumMod val="50000"/>
                      </a:schemeClr>
                    </a:solidFill>
                  </a:rPr>
                  <a:t>AHB read: </a:t>
                </a:r>
                <a:r>
                  <a:rPr lang="en-GB" dirty="0" err="1">
                    <a:solidFill>
                      <a:schemeClr val="accent4">
                        <a:lumMod val="50000"/>
                      </a:schemeClr>
                    </a:solidFill>
                  </a:rPr>
                  <a:t>mailbox_SRAM</a:t>
                </a:r>
                <a:endParaRPr lang="en-GB" dirty="0">
                  <a:solidFill>
                    <a:schemeClr val="accent4">
                      <a:lumMod val="50000"/>
                    </a:schemeClr>
                  </a:solidFill>
                </a:endParaRPr>
              </a:p>
            </p:txBody>
          </p:sp>
          <p:cxnSp>
            <p:nvCxnSpPr>
              <p:cNvPr id="54" name="Straight Arrow Connector 53">
                <a:extLst>
                  <a:ext uri="{FF2B5EF4-FFF2-40B4-BE49-F238E27FC236}">
                    <a16:creationId xmlns:a16="http://schemas.microsoft.com/office/drawing/2014/main" id="{EC7AAB6D-7999-47E4-FC0F-2B8A712520C8}"/>
                  </a:ext>
                </a:extLst>
              </p:cNvPr>
              <p:cNvCxnSpPr>
                <a:cxnSpLocks/>
              </p:cNvCxnSpPr>
              <p:nvPr/>
            </p:nvCxnSpPr>
            <p:spPr>
              <a:xfrm flipH="1">
                <a:off x="6616281" y="5155555"/>
                <a:ext cx="3731929" cy="0"/>
              </a:xfrm>
              <a:prstGeom prst="straightConnector1">
                <a:avLst/>
              </a:prstGeom>
              <a:ln w="28575">
                <a:solidFill>
                  <a:schemeClr val="accent4">
                    <a:lumMod val="75000"/>
                  </a:schemeClr>
                </a:solidFill>
                <a:prstDash val="sysDash"/>
                <a:tailEnd type="triangle"/>
              </a:ln>
            </p:spPr>
            <p:style>
              <a:lnRef idx="2">
                <a:schemeClr val="dk1"/>
              </a:lnRef>
              <a:fillRef idx="0">
                <a:schemeClr val="dk1"/>
              </a:fillRef>
              <a:effectRef idx="1">
                <a:schemeClr val="dk1"/>
              </a:effectRef>
              <a:fontRef idx="minor">
                <a:schemeClr val="tx1"/>
              </a:fontRef>
            </p:style>
          </p:cxnSp>
          <p:sp>
            <p:nvSpPr>
              <p:cNvPr id="56" name="TextBox 55">
                <a:extLst>
                  <a:ext uri="{FF2B5EF4-FFF2-40B4-BE49-F238E27FC236}">
                    <a16:creationId xmlns:a16="http://schemas.microsoft.com/office/drawing/2014/main" id="{135B1EEA-F02C-DC24-78CB-8179562AAFAA}"/>
                  </a:ext>
                </a:extLst>
              </p:cNvPr>
              <p:cNvSpPr txBox="1"/>
              <p:nvPr/>
            </p:nvSpPr>
            <p:spPr>
              <a:xfrm>
                <a:off x="6945437" y="4786223"/>
                <a:ext cx="3021774" cy="369332"/>
              </a:xfrm>
              <a:prstGeom prst="rect">
                <a:avLst/>
              </a:prstGeom>
              <a:noFill/>
            </p:spPr>
            <p:txBody>
              <a:bodyPr wrap="square" rtlCol="0">
                <a:spAutoFit/>
              </a:bodyPr>
              <a:lstStyle/>
              <a:p>
                <a:r>
                  <a:rPr lang="en-GB" dirty="0" err="1">
                    <a:solidFill>
                      <a:schemeClr val="accent4">
                        <a:lumMod val="50000"/>
                      </a:schemeClr>
                    </a:solidFill>
                  </a:rPr>
                  <a:t>fw_data</a:t>
                </a:r>
                <a:r>
                  <a:rPr lang="en-GB" dirty="0">
                    <a:solidFill>
                      <a:schemeClr val="accent4">
                        <a:lumMod val="50000"/>
                      </a:schemeClr>
                    </a:solidFill>
                  </a:rPr>
                  <a:t>[31:0]</a:t>
                </a:r>
              </a:p>
            </p:txBody>
          </p:sp>
          <p:cxnSp>
            <p:nvCxnSpPr>
              <p:cNvPr id="58" name="Straight Arrow Connector 57">
                <a:extLst>
                  <a:ext uri="{FF2B5EF4-FFF2-40B4-BE49-F238E27FC236}">
                    <a16:creationId xmlns:a16="http://schemas.microsoft.com/office/drawing/2014/main" id="{8D27738D-A2B0-B3D3-2FA8-031464CFDF43}"/>
                  </a:ext>
                </a:extLst>
              </p:cNvPr>
              <p:cNvCxnSpPr>
                <a:cxnSpLocks/>
              </p:cNvCxnSpPr>
              <p:nvPr/>
            </p:nvCxnSpPr>
            <p:spPr>
              <a:xfrm>
                <a:off x="7352979" y="5572546"/>
                <a:ext cx="364459" cy="0"/>
              </a:xfrm>
              <a:prstGeom prst="straightConnector1">
                <a:avLst/>
              </a:prstGeom>
              <a:ln w="28575">
                <a:solidFill>
                  <a:schemeClr val="accent4">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60" name="TextBox 59">
                <a:extLst>
                  <a:ext uri="{FF2B5EF4-FFF2-40B4-BE49-F238E27FC236}">
                    <a16:creationId xmlns:a16="http://schemas.microsoft.com/office/drawing/2014/main" id="{1908B82C-FBBA-725D-BE0E-948D37C40B1F}"/>
                  </a:ext>
                </a:extLst>
              </p:cNvPr>
              <p:cNvSpPr txBox="1"/>
              <p:nvPr/>
            </p:nvSpPr>
            <p:spPr>
              <a:xfrm>
                <a:off x="6682494" y="5249380"/>
                <a:ext cx="723261" cy="923330"/>
              </a:xfrm>
              <a:prstGeom prst="rect">
                <a:avLst/>
              </a:prstGeom>
              <a:noFill/>
            </p:spPr>
            <p:txBody>
              <a:bodyPr wrap="square" rtlCol="0">
                <a:spAutoFit/>
              </a:bodyPr>
              <a:lstStyle/>
              <a:p>
                <a:r>
                  <a:rPr lang="en-GB" dirty="0">
                    <a:solidFill>
                      <a:schemeClr val="accent4">
                        <a:lumMod val="50000"/>
                      </a:schemeClr>
                    </a:solidFill>
                  </a:rPr>
                  <a:t>FW loaded</a:t>
                </a:r>
              </a:p>
            </p:txBody>
          </p:sp>
          <p:sp>
            <p:nvSpPr>
              <p:cNvPr id="61" name="TextBox 60">
                <a:extLst>
                  <a:ext uri="{FF2B5EF4-FFF2-40B4-BE49-F238E27FC236}">
                    <a16:creationId xmlns:a16="http://schemas.microsoft.com/office/drawing/2014/main" id="{7F29F66B-02D7-9E38-E610-41DABB53CF99}"/>
                  </a:ext>
                </a:extLst>
              </p:cNvPr>
              <p:cNvSpPr txBox="1"/>
              <p:nvPr/>
            </p:nvSpPr>
            <p:spPr>
              <a:xfrm>
                <a:off x="7754292" y="5387880"/>
                <a:ext cx="918146" cy="369332"/>
              </a:xfrm>
              <a:prstGeom prst="rect">
                <a:avLst/>
              </a:prstGeom>
              <a:noFill/>
            </p:spPr>
            <p:txBody>
              <a:bodyPr wrap="square" rtlCol="0">
                <a:spAutoFit/>
              </a:bodyPr>
              <a:lstStyle/>
              <a:p>
                <a:r>
                  <a:rPr lang="en-GB" dirty="0">
                    <a:solidFill>
                      <a:schemeClr val="accent4">
                        <a:lumMod val="50000"/>
                      </a:schemeClr>
                    </a:solidFill>
                  </a:rPr>
                  <a:t>ICCM</a:t>
                </a:r>
              </a:p>
            </p:txBody>
          </p:sp>
        </p:grpSp>
      </p:grpSp>
      <p:sp>
        <p:nvSpPr>
          <p:cNvPr id="64" name="Title 1">
            <a:extLst>
              <a:ext uri="{FF2B5EF4-FFF2-40B4-BE49-F238E27FC236}">
                <a16:creationId xmlns:a16="http://schemas.microsoft.com/office/drawing/2014/main" id="{B2EFB266-6358-3E60-E013-D49E1EC0072A}"/>
              </a:ext>
            </a:extLst>
          </p:cNvPr>
          <p:cNvSpPr>
            <a:spLocks noGrp="1"/>
          </p:cNvSpPr>
          <p:nvPr>
            <p:ph type="title"/>
          </p:nvPr>
        </p:nvSpPr>
        <p:spPr>
          <a:xfrm>
            <a:off x="0" y="0"/>
            <a:ext cx="12192000" cy="413880"/>
          </a:xfrm>
          <a:solidFill>
            <a:schemeClr val="accent6">
              <a:lumMod val="60000"/>
              <a:lumOff val="40000"/>
            </a:schemeClr>
          </a:solidFill>
        </p:spPr>
        <p:txBody>
          <a:bodyPr>
            <a:noAutofit/>
          </a:bodyPr>
          <a:lstStyle/>
          <a:p>
            <a:pPr algn="ctr"/>
            <a:r>
              <a:rPr lang="en-GB" sz="3200" dirty="0"/>
              <a:t>Phase 1-4: power on/boot </a:t>
            </a:r>
            <a:r>
              <a:rPr lang="en-GB" sz="3200" dirty="0" err="1"/>
              <a:t>fsm</a:t>
            </a:r>
            <a:r>
              <a:rPr lang="en-GB" sz="3200" dirty="0"/>
              <a:t>/fuse programming/firmware load</a:t>
            </a:r>
          </a:p>
        </p:txBody>
      </p:sp>
    </p:spTree>
    <p:extLst>
      <p:ext uri="{BB962C8B-B14F-4D97-AF65-F5344CB8AC3E}">
        <p14:creationId xmlns:p14="http://schemas.microsoft.com/office/powerpoint/2010/main" val="3581288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8C92F-2744-0FAB-EF4A-5E1D9C82AB02}"/>
            </a:ext>
          </a:extLst>
        </p:cNvPr>
        <p:cNvGrpSpPr/>
        <p:nvPr/>
      </p:nvGrpSpPr>
      <p:grpSpPr>
        <a:xfrm>
          <a:off x="0" y="0"/>
          <a:ext cx="0" cy="0"/>
          <a:chOff x="0" y="0"/>
          <a:chExt cx="0" cy="0"/>
        </a:xfrm>
      </p:grpSpPr>
      <p:grpSp>
        <p:nvGrpSpPr>
          <p:cNvPr id="81" name="Group 80">
            <a:extLst>
              <a:ext uri="{FF2B5EF4-FFF2-40B4-BE49-F238E27FC236}">
                <a16:creationId xmlns:a16="http://schemas.microsoft.com/office/drawing/2014/main" id="{68BB1A47-F10A-E480-5AA1-666CC2B12C19}"/>
              </a:ext>
            </a:extLst>
          </p:cNvPr>
          <p:cNvGrpSpPr/>
          <p:nvPr/>
        </p:nvGrpSpPr>
        <p:grpSpPr>
          <a:xfrm>
            <a:off x="800723" y="649999"/>
            <a:ext cx="10590553" cy="6050605"/>
            <a:chOff x="680801" y="125343"/>
            <a:chExt cx="10590553" cy="6050605"/>
          </a:xfrm>
        </p:grpSpPr>
        <p:cxnSp>
          <p:nvCxnSpPr>
            <p:cNvPr id="5" name="Straight Connector 4">
              <a:extLst>
                <a:ext uri="{FF2B5EF4-FFF2-40B4-BE49-F238E27FC236}">
                  <a16:creationId xmlns:a16="http://schemas.microsoft.com/office/drawing/2014/main" id="{BACF7E48-A4BF-8E1C-0C8D-7DA059B5BA8B}"/>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A9672DCB-78BA-85CF-A99D-0AAB6D0AE251}"/>
                </a:ext>
              </a:extLst>
            </p:cNvPr>
            <p:cNvCxnSpPr/>
            <p:nvPr/>
          </p:nvCxnSpPr>
          <p:spPr>
            <a:xfrm>
              <a:off x="2805660" y="494674"/>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15491C3B-8B86-3CFA-7607-AAAC7CC06723}"/>
                </a:ext>
              </a:extLst>
            </p:cNvPr>
            <p:cNvCxnSpPr/>
            <p:nvPr/>
          </p:nvCxnSpPr>
          <p:spPr>
            <a:xfrm>
              <a:off x="4769371"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6D170BDF-B3A6-7487-4EFB-1EEEAF217C6B}"/>
                </a:ext>
              </a:extLst>
            </p:cNvPr>
            <p:cNvCxnSpPr/>
            <p:nvPr/>
          </p:nvCxnSpPr>
          <p:spPr>
            <a:xfrm>
              <a:off x="662815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CC5B2C27-A5B7-DE5A-DD26-6A8B06DAF255}"/>
                </a:ext>
              </a:extLst>
            </p:cNvPr>
            <p:cNvCxnSpPr/>
            <p:nvPr/>
          </p:nvCxnSpPr>
          <p:spPr>
            <a:xfrm>
              <a:off x="853190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25A48CFD-0C8C-7A63-E9BC-C03D95820B23}"/>
                </a:ext>
              </a:extLst>
            </p:cNvPr>
            <p:cNvSpPr txBox="1"/>
            <p:nvPr/>
          </p:nvSpPr>
          <p:spPr>
            <a:xfrm>
              <a:off x="680801" y="125343"/>
              <a:ext cx="1304144" cy="369332"/>
            </a:xfrm>
            <a:prstGeom prst="rect">
              <a:avLst/>
            </a:prstGeom>
            <a:noFill/>
          </p:spPr>
          <p:txBody>
            <a:bodyPr wrap="square" rtlCol="0">
              <a:spAutoFit/>
            </a:bodyPr>
            <a:lstStyle/>
            <a:p>
              <a:r>
                <a:rPr lang="en-GB" b="1" dirty="0"/>
                <a:t>SoC</a:t>
              </a:r>
            </a:p>
          </p:txBody>
        </p:sp>
        <p:sp>
          <p:nvSpPr>
            <p:cNvPr id="11" name="TextBox 10">
              <a:extLst>
                <a:ext uri="{FF2B5EF4-FFF2-40B4-BE49-F238E27FC236}">
                  <a16:creationId xmlns:a16="http://schemas.microsoft.com/office/drawing/2014/main" id="{AF119A64-CD80-A81C-BAE0-CED3D33E58E4}"/>
                </a:ext>
              </a:extLst>
            </p:cNvPr>
            <p:cNvSpPr txBox="1"/>
            <p:nvPr/>
          </p:nvSpPr>
          <p:spPr>
            <a:xfrm>
              <a:off x="2284748" y="132839"/>
              <a:ext cx="1753847" cy="369332"/>
            </a:xfrm>
            <a:prstGeom prst="rect">
              <a:avLst/>
            </a:prstGeom>
            <a:noFill/>
          </p:spPr>
          <p:txBody>
            <a:bodyPr wrap="square" rtlCol="0">
              <a:spAutoFit/>
            </a:bodyPr>
            <a:lstStyle/>
            <a:p>
              <a:r>
                <a:rPr lang="en-GB" b="1" dirty="0"/>
                <a:t>AXI Interface</a:t>
              </a:r>
            </a:p>
          </p:txBody>
        </p:sp>
        <p:sp>
          <p:nvSpPr>
            <p:cNvPr id="12" name="TextBox 11">
              <a:extLst>
                <a:ext uri="{FF2B5EF4-FFF2-40B4-BE49-F238E27FC236}">
                  <a16:creationId xmlns:a16="http://schemas.microsoft.com/office/drawing/2014/main" id="{69A33198-C9A8-6179-CEDC-449A841E45F6}"/>
                </a:ext>
              </a:extLst>
            </p:cNvPr>
            <p:cNvSpPr txBox="1"/>
            <p:nvPr/>
          </p:nvSpPr>
          <p:spPr>
            <a:xfrm>
              <a:off x="4379625" y="125343"/>
              <a:ext cx="1304144" cy="369332"/>
            </a:xfrm>
            <a:prstGeom prst="rect">
              <a:avLst/>
            </a:prstGeom>
            <a:noFill/>
          </p:spPr>
          <p:txBody>
            <a:bodyPr wrap="square" rtlCol="0">
              <a:spAutoFit/>
            </a:bodyPr>
            <a:lstStyle/>
            <a:p>
              <a:r>
                <a:rPr lang="en-GB" b="1" dirty="0"/>
                <a:t>Boot FSM</a:t>
              </a:r>
            </a:p>
          </p:txBody>
        </p:sp>
        <p:sp>
          <p:nvSpPr>
            <p:cNvPr id="13" name="TextBox 12">
              <a:extLst>
                <a:ext uri="{FF2B5EF4-FFF2-40B4-BE49-F238E27FC236}">
                  <a16:creationId xmlns:a16="http://schemas.microsoft.com/office/drawing/2014/main" id="{A5DCABFC-A718-8EB9-8203-EE9F103B330C}"/>
                </a:ext>
              </a:extLst>
            </p:cNvPr>
            <p:cNvSpPr txBox="1"/>
            <p:nvPr/>
          </p:nvSpPr>
          <p:spPr>
            <a:xfrm>
              <a:off x="6227161" y="125343"/>
              <a:ext cx="1304144" cy="369332"/>
            </a:xfrm>
            <a:prstGeom prst="rect">
              <a:avLst/>
            </a:prstGeom>
            <a:noFill/>
          </p:spPr>
          <p:txBody>
            <a:bodyPr wrap="square" rtlCol="0">
              <a:spAutoFit/>
            </a:bodyPr>
            <a:lstStyle/>
            <a:p>
              <a:r>
                <a:rPr lang="en-GB" b="1" dirty="0" err="1"/>
                <a:t>VeeR</a:t>
              </a:r>
              <a:r>
                <a:rPr lang="en-GB" b="1" dirty="0"/>
                <a:t> EL2</a:t>
              </a:r>
            </a:p>
          </p:txBody>
        </p:sp>
        <p:sp>
          <p:nvSpPr>
            <p:cNvPr id="14" name="TextBox 13">
              <a:extLst>
                <a:ext uri="{FF2B5EF4-FFF2-40B4-BE49-F238E27FC236}">
                  <a16:creationId xmlns:a16="http://schemas.microsoft.com/office/drawing/2014/main" id="{44596222-920F-722F-1E8D-192A7FADD6CB}"/>
                </a:ext>
              </a:extLst>
            </p:cNvPr>
            <p:cNvSpPr txBox="1"/>
            <p:nvPr/>
          </p:nvSpPr>
          <p:spPr>
            <a:xfrm>
              <a:off x="8213365" y="125343"/>
              <a:ext cx="1304144" cy="369332"/>
            </a:xfrm>
            <a:prstGeom prst="rect">
              <a:avLst/>
            </a:prstGeom>
            <a:noFill/>
          </p:spPr>
          <p:txBody>
            <a:bodyPr wrap="square" rtlCol="0">
              <a:spAutoFit/>
            </a:bodyPr>
            <a:lstStyle/>
            <a:p>
              <a:r>
                <a:rPr lang="en-GB" b="1" dirty="0"/>
                <a:t>Crypto</a:t>
              </a:r>
            </a:p>
          </p:txBody>
        </p:sp>
        <p:sp>
          <p:nvSpPr>
            <p:cNvPr id="15" name="TextBox 14">
              <a:extLst>
                <a:ext uri="{FF2B5EF4-FFF2-40B4-BE49-F238E27FC236}">
                  <a16:creationId xmlns:a16="http://schemas.microsoft.com/office/drawing/2014/main" id="{17F89EEB-4931-068D-17D2-6178D57C6A7D}"/>
                </a:ext>
              </a:extLst>
            </p:cNvPr>
            <p:cNvSpPr txBox="1"/>
            <p:nvPr/>
          </p:nvSpPr>
          <p:spPr>
            <a:xfrm>
              <a:off x="9967210" y="125343"/>
              <a:ext cx="1304144" cy="369332"/>
            </a:xfrm>
            <a:prstGeom prst="rect">
              <a:avLst/>
            </a:prstGeom>
            <a:noFill/>
          </p:spPr>
          <p:txBody>
            <a:bodyPr wrap="square" rtlCol="0">
              <a:spAutoFit/>
            </a:bodyPr>
            <a:lstStyle/>
            <a:p>
              <a:r>
                <a:rPr lang="en-GB" b="1" dirty="0"/>
                <a:t>Mailbox</a:t>
              </a:r>
            </a:p>
          </p:txBody>
        </p:sp>
        <p:cxnSp>
          <p:nvCxnSpPr>
            <p:cNvPr id="16" name="Straight Connector 15">
              <a:extLst>
                <a:ext uri="{FF2B5EF4-FFF2-40B4-BE49-F238E27FC236}">
                  <a16:creationId xmlns:a16="http://schemas.microsoft.com/office/drawing/2014/main" id="{8531EBFC-BE2D-672F-A843-1458471F97A6}"/>
                </a:ext>
              </a:extLst>
            </p:cNvPr>
            <p:cNvCxnSpPr/>
            <p:nvPr/>
          </p:nvCxnSpPr>
          <p:spPr>
            <a:xfrm>
              <a:off x="10348210"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2D90D5BD-EB5B-8A99-1787-7C42207D04D6}"/>
                </a:ext>
              </a:extLst>
            </p:cNvPr>
            <p:cNvCxnSpPr>
              <a:cxnSpLocks/>
            </p:cNvCxnSpPr>
            <p:nvPr/>
          </p:nvCxnSpPr>
          <p:spPr>
            <a:xfrm flipH="1" flipV="1">
              <a:off x="6636571" y="1939454"/>
              <a:ext cx="1915621" cy="7415"/>
            </a:xfrm>
            <a:prstGeom prst="straightConnector1">
              <a:avLst/>
            </a:prstGeom>
            <a:ln w="28575">
              <a:solidFill>
                <a:schemeClr val="bg2">
                  <a:lumMod val="25000"/>
                </a:schemeClr>
              </a:solidFill>
              <a:prstDash val="dash"/>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FC690C1E-2C7F-E55C-0259-8238D4812802}"/>
                </a:ext>
              </a:extLst>
            </p:cNvPr>
            <p:cNvCxnSpPr>
              <a:cxnSpLocks/>
            </p:cNvCxnSpPr>
            <p:nvPr/>
          </p:nvCxnSpPr>
          <p:spPr>
            <a:xfrm>
              <a:off x="6645178" y="1366817"/>
              <a:ext cx="1915621" cy="0"/>
            </a:xfrm>
            <a:prstGeom prst="straightConnector1">
              <a:avLst/>
            </a:prstGeom>
            <a:ln w="28575">
              <a:solidFill>
                <a:schemeClr val="bg2">
                  <a:lumMod val="25000"/>
                </a:schemeClr>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8F806DF5-D5E0-75FB-E382-DA394835B96E}"/>
                </a:ext>
              </a:extLst>
            </p:cNvPr>
            <p:cNvSpPr txBox="1"/>
            <p:nvPr/>
          </p:nvSpPr>
          <p:spPr>
            <a:xfrm>
              <a:off x="6865646" y="623822"/>
              <a:ext cx="2557067" cy="646331"/>
            </a:xfrm>
            <a:prstGeom prst="rect">
              <a:avLst/>
            </a:prstGeom>
            <a:noFill/>
          </p:spPr>
          <p:txBody>
            <a:bodyPr wrap="square" rtlCol="0">
              <a:spAutoFit/>
            </a:bodyPr>
            <a:lstStyle/>
            <a:p>
              <a:r>
                <a:rPr lang="en-GB" dirty="0" err="1">
                  <a:solidFill>
                    <a:schemeClr val="bg2">
                      <a:lumMod val="10000"/>
                    </a:schemeClr>
                  </a:solidFill>
                </a:rPr>
                <a:t>AHB_write</a:t>
              </a:r>
              <a:r>
                <a:rPr lang="en-GB" dirty="0">
                  <a:solidFill>
                    <a:schemeClr val="bg2">
                      <a:lumMod val="10000"/>
                    </a:schemeClr>
                  </a:solidFill>
                </a:rPr>
                <a:t>: sha512_block</a:t>
              </a:r>
            </a:p>
          </p:txBody>
        </p:sp>
        <p:cxnSp>
          <p:nvCxnSpPr>
            <p:cNvPr id="4" name="Straight Arrow Connector 3">
              <a:extLst>
                <a:ext uri="{FF2B5EF4-FFF2-40B4-BE49-F238E27FC236}">
                  <a16:creationId xmlns:a16="http://schemas.microsoft.com/office/drawing/2014/main" id="{545E7E83-B4EF-4F6C-6F70-E75719EE141F}"/>
                </a:ext>
              </a:extLst>
            </p:cNvPr>
            <p:cNvCxnSpPr>
              <a:cxnSpLocks/>
            </p:cNvCxnSpPr>
            <p:nvPr/>
          </p:nvCxnSpPr>
          <p:spPr>
            <a:xfrm>
              <a:off x="6644386" y="2682924"/>
              <a:ext cx="1915621" cy="0"/>
            </a:xfrm>
            <a:prstGeom prst="straightConnector1">
              <a:avLst/>
            </a:prstGeom>
            <a:ln w="28575">
              <a:solidFill>
                <a:schemeClr val="bg2">
                  <a:lumMod val="25000"/>
                </a:schemeClr>
              </a:solidFill>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33A5263-A760-162B-821F-8AE57FD84F1E}"/>
                </a:ext>
              </a:extLst>
            </p:cNvPr>
            <p:cNvCxnSpPr>
              <a:cxnSpLocks/>
            </p:cNvCxnSpPr>
            <p:nvPr/>
          </p:nvCxnSpPr>
          <p:spPr>
            <a:xfrm flipH="1" flipV="1">
              <a:off x="6628152" y="3129886"/>
              <a:ext cx="1915621" cy="7415"/>
            </a:xfrm>
            <a:prstGeom prst="straightConnector1">
              <a:avLst/>
            </a:prstGeom>
            <a:ln w="28575">
              <a:solidFill>
                <a:schemeClr val="bg2">
                  <a:lumMod val="25000"/>
                </a:schemeClr>
              </a:solidFill>
              <a:prstDash val="dash"/>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C17CAC61-0278-5D09-7207-42989454FF7F}"/>
                </a:ext>
              </a:extLst>
            </p:cNvPr>
            <p:cNvCxnSpPr>
              <a:cxnSpLocks/>
            </p:cNvCxnSpPr>
            <p:nvPr/>
          </p:nvCxnSpPr>
          <p:spPr>
            <a:xfrm>
              <a:off x="6644386" y="3905364"/>
              <a:ext cx="1915621" cy="0"/>
            </a:xfrm>
            <a:prstGeom prst="straightConnector1">
              <a:avLst/>
            </a:prstGeom>
            <a:ln w="28575">
              <a:solidFill>
                <a:schemeClr val="bg2">
                  <a:lumMod val="25000"/>
                </a:schemeClr>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582664A4-E970-0522-83A1-D589A94F4AEE}"/>
                </a:ext>
              </a:extLst>
            </p:cNvPr>
            <p:cNvCxnSpPr>
              <a:cxnSpLocks/>
            </p:cNvCxnSpPr>
            <p:nvPr/>
          </p:nvCxnSpPr>
          <p:spPr>
            <a:xfrm flipH="1" flipV="1">
              <a:off x="6644386" y="4528256"/>
              <a:ext cx="1915621" cy="7415"/>
            </a:xfrm>
            <a:prstGeom prst="straightConnector1">
              <a:avLst/>
            </a:prstGeom>
            <a:ln w="28575">
              <a:solidFill>
                <a:schemeClr val="bg2">
                  <a:lumMod val="25000"/>
                </a:schemeClr>
              </a:solidFill>
              <a:prstDash val="dash"/>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45F428E8-0DC3-2B27-6666-F85D08C5BB36}"/>
                </a:ext>
              </a:extLst>
            </p:cNvPr>
            <p:cNvCxnSpPr>
              <a:cxnSpLocks/>
            </p:cNvCxnSpPr>
            <p:nvPr/>
          </p:nvCxnSpPr>
          <p:spPr>
            <a:xfrm>
              <a:off x="6628152" y="5464296"/>
              <a:ext cx="1915621" cy="0"/>
            </a:xfrm>
            <a:prstGeom prst="straightConnector1">
              <a:avLst/>
            </a:prstGeom>
            <a:ln w="28575">
              <a:solidFill>
                <a:schemeClr val="bg2">
                  <a:lumMod val="25000"/>
                </a:schemeClr>
              </a:solidFill>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F4D500D3-9B03-AC62-BD8A-CF9123BB6F4C}"/>
                </a:ext>
              </a:extLst>
            </p:cNvPr>
            <p:cNvCxnSpPr>
              <a:cxnSpLocks/>
            </p:cNvCxnSpPr>
            <p:nvPr/>
          </p:nvCxnSpPr>
          <p:spPr>
            <a:xfrm flipH="1" flipV="1">
              <a:off x="6599741" y="5924403"/>
              <a:ext cx="1915621" cy="7415"/>
            </a:xfrm>
            <a:prstGeom prst="straightConnector1">
              <a:avLst/>
            </a:prstGeom>
            <a:ln w="28575">
              <a:solidFill>
                <a:schemeClr val="bg2">
                  <a:lumMod val="25000"/>
                </a:schemeClr>
              </a:solidFill>
              <a:prstDash val="dash"/>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2E2389DB-16F6-3133-6D9C-7CDB15F574A6}"/>
                </a:ext>
              </a:extLst>
            </p:cNvPr>
            <p:cNvSpPr txBox="1"/>
            <p:nvPr/>
          </p:nvSpPr>
          <p:spPr>
            <a:xfrm>
              <a:off x="6870191" y="1492492"/>
              <a:ext cx="1689816" cy="369321"/>
            </a:xfrm>
            <a:prstGeom prst="rect">
              <a:avLst/>
            </a:prstGeom>
            <a:noFill/>
          </p:spPr>
          <p:txBody>
            <a:bodyPr wrap="square" rtlCol="0">
              <a:spAutoFit/>
            </a:bodyPr>
            <a:lstStyle/>
            <a:p>
              <a:r>
                <a:rPr lang="en-GB" dirty="0">
                  <a:solidFill>
                    <a:schemeClr val="bg2">
                      <a:lumMod val="10000"/>
                    </a:schemeClr>
                  </a:solidFill>
                </a:rPr>
                <a:t>sha512_valid</a:t>
              </a:r>
            </a:p>
          </p:txBody>
        </p:sp>
        <p:sp>
          <p:nvSpPr>
            <p:cNvPr id="30" name="TextBox 29">
              <a:extLst>
                <a:ext uri="{FF2B5EF4-FFF2-40B4-BE49-F238E27FC236}">
                  <a16:creationId xmlns:a16="http://schemas.microsoft.com/office/drawing/2014/main" id="{284BAB35-70BC-64BD-AEFA-66C3A3F4E39D}"/>
                </a:ext>
              </a:extLst>
            </p:cNvPr>
            <p:cNvSpPr txBox="1"/>
            <p:nvPr/>
          </p:nvSpPr>
          <p:spPr>
            <a:xfrm>
              <a:off x="7009153" y="1992502"/>
              <a:ext cx="2006492" cy="646331"/>
            </a:xfrm>
            <a:prstGeom prst="rect">
              <a:avLst/>
            </a:prstGeom>
            <a:noFill/>
          </p:spPr>
          <p:txBody>
            <a:bodyPr wrap="square" rtlCol="0">
              <a:spAutoFit/>
            </a:bodyPr>
            <a:lstStyle/>
            <a:p>
              <a:r>
                <a:rPr lang="en-GB" dirty="0" err="1">
                  <a:solidFill>
                    <a:schemeClr val="bg2">
                      <a:lumMod val="10000"/>
                    </a:schemeClr>
                  </a:solidFill>
                </a:rPr>
                <a:t>AHB_write</a:t>
              </a:r>
              <a:r>
                <a:rPr lang="en-GB" dirty="0">
                  <a:solidFill>
                    <a:schemeClr val="bg2">
                      <a:lumMod val="10000"/>
                    </a:schemeClr>
                  </a:solidFill>
                </a:rPr>
                <a:t>: </a:t>
              </a:r>
              <a:r>
                <a:rPr lang="en-GB" dirty="0" err="1">
                  <a:solidFill>
                    <a:schemeClr val="bg2">
                      <a:lumMod val="10000"/>
                    </a:schemeClr>
                  </a:solidFill>
                </a:rPr>
                <a:t>ecc_cmd</a:t>
              </a:r>
              <a:endParaRPr lang="en-GB" dirty="0">
                <a:solidFill>
                  <a:schemeClr val="bg2">
                    <a:lumMod val="10000"/>
                  </a:schemeClr>
                </a:solidFill>
              </a:endParaRPr>
            </a:p>
          </p:txBody>
        </p:sp>
        <p:sp>
          <p:nvSpPr>
            <p:cNvPr id="34" name="TextBox 33">
              <a:extLst>
                <a:ext uri="{FF2B5EF4-FFF2-40B4-BE49-F238E27FC236}">
                  <a16:creationId xmlns:a16="http://schemas.microsoft.com/office/drawing/2014/main" id="{21B45B6D-5E40-FD14-EC7A-58B4985FC4BA}"/>
                </a:ext>
              </a:extLst>
            </p:cNvPr>
            <p:cNvSpPr txBox="1"/>
            <p:nvPr/>
          </p:nvSpPr>
          <p:spPr>
            <a:xfrm>
              <a:off x="6919385" y="2682924"/>
              <a:ext cx="1689816" cy="369321"/>
            </a:xfrm>
            <a:prstGeom prst="rect">
              <a:avLst/>
            </a:prstGeom>
            <a:noFill/>
          </p:spPr>
          <p:txBody>
            <a:bodyPr wrap="square" rtlCol="0">
              <a:spAutoFit/>
            </a:bodyPr>
            <a:lstStyle/>
            <a:p>
              <a:r>
                <a:rPr lang="en-GB" dirty="0" err="1">
                  <a:solidFill>
                    <a:schemeClr val="bg2">
                      <a:lumMod val="10000"/>
                    </a:schemeClr>
                  </a:solidFill>
                </a:rPr>
                <a:t>ecc_valid</a:t>
              </a:r>
              <a:endParaRPr lang="en-GB" dirty="0">
                <a:solidFill>
                  <a:schemeClr val="bg2">
                    <a:lumMod val="10000"/>
                  </a:schemeClr>
                </a:solidFill>
              </a:endParaRPr>
            </a:p>
          </p:txBody>
        </p:sp>
        <p:sp>
          <p:nvSpPr>
            <p:cNvPr id="36" name="TextBox 35">
              <a:extLst>
                <a:ext uri="{FF2B5EF4-FFF2-40B4-BE49-F238E27FC236}">
                  <a16:creationId xmlns:a16="http://schemas.microsoft.com/office/drawing/2014/main" id="{C9389E2D-B274-06F9-69EC-FA3B8069F0A4}"/>
                </a:ext>
              </a:extLst>
            </p:cNvPr>
            <p:cNvSpPr txBox="1"/>
            <p:nvPr/>
          </p:nvSpPr>
          <p:spPr>
            <a:xfrm>
              <a:off x="6733082" y="3181392"/>
              <a:ext cx="2006492" cy="646331"/>
            </a:xfrm>
            <a:prstGeom prst="rect">
              <a:avLst/>
            </a:prstGeom>
            <a:noFill/>
          </p:spPr>
          <p:txBody>
            <a:bodyPr wrap="square" rtlCol="0">
              <a:spAutoFit/>
            </a:bodyPr>
            <a:lstStyle/>
            <a:p>
              <a:r>
                <a:rPr lang="en-GB" dirty="0" err="1">
                  <a:solidFill>
                    <a:schemeClr val="bg2">
                      <a:lumMod val="10000"/>
                    </a:schemeClr>
                  </a:solidFill>
                </a:rPr>
                <a:t>AHB_write</a:t>
              </a:r>
              <a:r>
                <a:rPr lang="en-GB" dirty="0">
                  <a:solidFill>
                    <a:schemeClr val="bg2">
                      <a:lumMod val="10000"/>
                    </a:schemeClr>
                  </a:solidFill>
                </a:rPr>
                <a:t>: </a:t>
              </a:r>
              <a:r>
                <a:rPr lang="en-GB" dirty="0" err="1">
                  <a:solidFill>
                    <a:schemeClr val="bg2">
                      <a:lumMod val="10000"/>
                    </a:schemeClr>
                  </a:solidFill>
                </a:rPr>
                <a:t>hmac_key</a:t>
              </a:r>
              <a:r>
                <a:rPr lang="en-GB" dirty="0">
                  <a:solidFill>
                    <a:schemeClr val="bg2">
                      <a:lumMod val="10000"/>
                    </a:schemeClr>
                  </a:solidFill>
                </a:rPr>
                <a:t>, block</a:t>
              </a:r>
            </a:p>
          </p:txBody>
        </p:sp>
        <p:sp>
          <p:nvSpPr>
            <p:cNvPr id="37" name="TextBox 36">
              <a:extLst>
                <a:ext uri="{FF2B5EF4-FFF2-40B4-BE49-F238E27FC236}">
                  <a16:creationId xmlns:a16="http://schemas.microsoft.com/office/drawing/2014/main" id="{6A266245-761E-BD2D-1AB7-ACC95E20209D}"/>
                </a:ext>
              </a:extLst>
            </p:cNvPr>
            <p:cNvSpPr txBox="1"/>
            <p:nvPr/>
          </p:nvSpPr>
          <p:spPr>
            <a:xfrm>
              <a:off x="6813982" y="4060647"/>
              <a:ext cx="1689816" cy="369321"/>
            </a:xfrm>
            <a:prstGeom prst="rect">
              <a:avLst/>
            </a:prstGeom>
            <a:noFill/>
          </p:spPr>
          <p:txBody>
            <a:bodyPr wrap="square" rtlCol="0">
              <a:spAutoFit/>
            </a:bodyPr>
            <a:lstStyle/>
            <a:p>
              <a:r>
                <a:rPr lang="en-GB" dirty="0" err="1">
                  <a:solidFill>
                    <a:schemeClr val="bg2">
                      <a:lumMod val="10000"/>
                    </a:schemeClr>
                  </a:solidFill>
                </a:rPr>
                <a:t>hmac_valid</a:t>
              </a:r>
              <a:endParaRPr lang="en-GB" dirty="0">
                <a:solidFill>
                  <a:schemeClr val="bg2">
                    <a:lumMod val="10000"/>
                  </a:schemeClr>
                </a:solidFill>
              </a:endParaRPr>
            </a:p>
          </p:txBody>
        </p:sp>
        <p:sp>
          <p:nvSpPr>
            <p:cNvPr id="44" name="TextBox 43">
              <a:extLst>
                <a:ext uri="{FF2B5EF4-FFF2-40B4-BE49-F238E27FC236}">
                  <a16:creationId xmlns:a16="http://schemas.microsoft.com/office/drawing/2014/main" id="{AB01854D-3D3C-7857-F543-3903015CA289}"/>
                </a:ext>
              </a:extLst>
            </p:cNvPr>
            <p:cNvSpPr txBox="1"/>
            <p:nvPr/>
          </p:nvSpPr>
          <p:spPr>
            <a:xfrm>
              <a:off x="6857856" y="4682407"/>
              <a:ext cx="2006492" cy="646331"/>
            </a:xfrm>
            <a:prstGeom prst="rect">
              <a:avLst/>
            </a:prstGeom>
            <a:noFill/>
          </p:spPr>
          <p:txBody>
            <a:bodyPr wrap="square" rtlCol="0">
              <a:spAutoFit/>
            </a:bodyPr>
            <a:lstStyle/>
            <a:p>
              <a:r>
                <a:rPr lang="en-GB" dirty="0" err="1">
                  <a:solidFill>
                    <a:schemeClr val="bg2">
                      <a:lumMod val="10000"/>
                    </a:schemeClr>
                  </a:solidFill>
                </a:rPr>
                <a:t>AHB_write</a:t>
              </a:r>
              <a:r>
                <a:rPr lang="en-GB" dirty="0">
                  <a:solidFill>
                    <a:schemeClr val="bg2">
                      <a:lumMod val="10000"/>
                    </a:schemeClr>
                  </a:solidFill>
                </a:rPr>
                <a:t>: </a:t>
              </a:r>
              <a:r>
                <a:rPr lang="en-GB" dirty="0" err="1">
                  <a:solidFill>
                    <a:schemeClr val="bg2">
                      <a:lumMod val="10000"/>
                    </a:schemeClr>
                  </a:solidFill>
                </a:rPr>
                <a:t>pcr_extend</a:t>
              </a:r>
              <a:endParaRPr lang="en-GB" dirty="0">
                <a:solidFill>
                  <a:schemeClr val="bg2">
                    <a:lumMod val="10000"/>
                  </a:schemeClr>
                </a:solidFill>
              </a:endParaRPr>
            </a:p>
          </p:txBody>
        </p:sp>
        <p:sp>
          <p:nvSpPr>
            <p:cNvPr id="48" name="TextBox 47">
              <a:extLst>
                <a:ext uri="{FF2B5EF4-FFF2-40B4-BE49-F238E27FC236}">
                  <a16:creationId xmlns:a16="http://schemas.microsoft.com/office/drawing/2014/main" id="{D43FF666-964F-6361-4042-4548484538A0}"/>
                </a:ext>
              </a:extLst>
            </p:cNvPr>
            <p:cNvSpPr txBox="1"/>
            <p:nvPr/>
          </p:nvSpPr>
          <p:spPr>
            <a:xfrm>
              <a:off x="7011570" y="5464296"/>
              <a:ext cx="1181254" cy="371661"/>
            </a:xfrm>
            <a:prstGeom prst="rect">
              <a:avLst/>
            </a:prstGeom>
            <a:noFill/>
          </p:spPr>
          <p:txBody>
            <a:bodyPr wrap="square" rtlCol="0">
              <a:spAutoFit/>
            </a:bodyPr>
            <a:lstStyle/>
            <a:p>
              <a:r>
                <a:rPr lang="en-GB" dirty="0" err="1">
                  <a:solidFill>
                    <a:schemeClr val="bg2">
                      <a:lumMod val="10000"/>
                    </a:schemeClr>
                  </a:solidFill>
                </a:rPr>
                <a:t>pcr_valid</a:t>
              </a:r>
              <a:endParaRPr lang="en-GB" dirty="0">
                <a:solidFill>
                  <a:schemeClr val="bg2">
                    <a:lumMod val="10000"/>
                  </a:schemeClr>
                </a:solidFill>
              </a:endParaRPr>
            </a:p>
          </p:txBody>
        </p:sp>
      </p:grpSp>
      <p:sp>
        <p:nvSpPr>
          <p:cNvPr id="82" name="Title 1">
            <a:extLst>
              <a:ext uri="{FF2B5EF4-FFF2-40B4-BE49-F238E27FC236}">
                <a16:creationId xmlns:a16="http://schemas.microsoft.com/office/drawing/2014/main" id="{E9795FE5-93D9-7026-7159-E084B9069413}"/>
              </a:ext>
            </a:extLst>
          </p:cNvPr>
          <p:cNvSpPr>
            <a:spLocks noGrp="1"/>
          </p:cNvSpPr>
          <p:nvPr>
            <p:ph type="title"/>
          </p:nvPr>
        </p:nvSpPr>
        <p:spPr>
          <a:xfrm>
            <a:off x="0" y="-1"/>
            <a:ext cx="12192000" cy="435157"/>
          </a:xfrm>
          <a:solidFill>
            <a:schemeClr val="accent6">
              <a:lumMod val="60000"/>
              <a:lumOff val="40000"/>
            </a:schemeClr>
          </a:solidFill>
        </p:spPr>
        <p:txBody>
          <a:bodyPr>
            <a:normAutofit fontScale="90000"/>
          </a:bodyPr>
          <a:lstStyle/>
          <a:p>
            <a:pPr algn="ctr"/>
            <a:r>
              <a:rPr lang="en-GB" sz="3200" dirty="0"/>
              <a:t>Phase 5: Crypto Operations</a:t>
            </a:r>
          </a:p>
        </p:txBody>
      </p:sp>
    </p:spTree>
    <p:extLst>
      <p:ext uri="{BB962C8B-B14F-4D97-AF65-F5344CB8AC3E}">
        <p14:creationId xmlns:p14="http://schemas.microsoft.com/office/powerpoint/2010/main" val="3498594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1FDAD-D69A-3C22-EF91-62C9697D6A3B}"/>
            </a:ext>
          </a:extLst>
        </p:cNvPr>
        <p:cNvGrpSpPr/>
        <p:nvPr/>
      </p:nvGrpSpPr>
      <p:grpSpPr>
        <a:xfrm>
          <a:off x="0" y="0"/>
          <a:ext cx="0" cy="0"/>
          <a:chOff x="0" y="0"/>
          <a:chExt cx="0" cy="0"/>
        </a:xfrm>
      </p:grpSpPr>
      <p:grpSp>
        <p:nvGrpSpPr>
          <p:cNvPr id="81" name="Group 80">
            <a:extLst>
              <a:ext uri="{FF2B5EF4-FFF2-40B4-BE49-F238E27FC236}">
                <a16:creationId xmlns:a16="http://schemas.microsoft.com/office/drawing/2014/main" id="{BBE8FCFE-4A2B-B11A-7E18-9FA8DC9DBB1D}"/>
              </a:ext>
            </a:extLst>
          </p:cNvPr>
          <p:cNvGrpSpPr/>
          <p:nvPr/>
        </p:nvGrpSpPr>
        <p:grpSpPr>
          <a:xfrm>
            <a:off x="800723" y="649999"/>
            <a:ext cx="10590553" cy="6050605"/>
            <a:chOff x="680801" y="125343"/>
            <a:chExt cx="10590553" cy="6050605"/>
          </a:xfrm>
        </p:grpSpPr>
        <p:cxnSp>
          <p:nvCxnSpPr>
            <p:cNvPr id="5" name="Straight Connector 4">
              <a:extLst>
                <a:ext uri="{FF2B5EF4-FFF2-40B4-BE49-F238E27FC236}">
                  <a16:creationId xmlns:a16="http://schemas.microsoft.com/office/drawing/2014/main" id="{29CEDCA2-F08F-5B3B-AEC5-CD281EC874FA}"/>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9D86538C-6492-A21C-AB4B-156D1869B97A}"/>
                </a:ext>
              </a:extLst>
            </p:cNvPr>
            <p:cNvCxnSpPr/>
            <p:nvPr/>
          </p:nvCxnSpPr>
          <p:spPr>
            <a:xfrm>
              <a:off x="2805660" y="494674"/>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741FEC20-21CA-2BD0-8FB9-5F7E02C924CD}"/>
                </a:ext>
              </a:extLst>
            </p:cNvPr>
            <p:cNvCxnSpPr/>
            <p:nvPr/>
          </p:nvCxnSpPr>
          <p:spPr>
            <a:xfrm>
              <a:off x="4769371"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73522DEC-B331-1AC1-3C62-28D9886562BE}"/>
                </a:ext>
              </a:extLst>
            </p:cNvPr>
            <p:cNvCxnSpPr/>
            <p:nvPr/>
          </p:nvCxnSpPr>
          <p:spPr>
            <a:xfrm>
              <a:off x="662815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D8D3C6F7-313E-E3F8-62E3-B22DA8D4530A}"/>
                </a:ext>
              </a:extLst>
            </p:cNvPr>
            <p:cNvCxnSpPr/>
            <p:nvPr/>
          </p:nvCxnSpPr>
          <p:spPr>
            <a:xfrm>
              <a:off x="853190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5F76ED0B-426E-3A41-BB98-FAF986ED0C0C}"/>
                </a:ext>
              </a:extLst>
            </p:cNvPr>
            <p:cNvSpPr txBox="1"/>
            <p:nvPr/>
          </p:nvSpPr>
          <p:spPr>
            <a:xfrm>
              <a:off x="680801" y="125343"/>
              <a:ext cx="1304144" cy="369332"/>
            </a:xfrm>
            <a:prstGeom prst="rect">
              <a:avLst/>
            </a:prstGeom>
            <a:noFill/>
          </p:spPr>
          <p:txBody>
            <a:bodyPr wrap="square" rtlCol="0">
              <a:spAutoFit/>
            </a:bodyPr>
            <a:lstStyle/>
            <a:p>
              <a:r>
                <a:rPr lang="en-GB" b="1" dirty="0"/>
                <a:t>SoC</a:t>
              </a:r>
            </a:p>
          </p:txBody>
        </p:sp>
        <p:sp>
          <p:nvSpPr>
            <p:cNvPr id="11" name="TextBox 10">
              <a:extLst>
                <a:ext uri="{FF2B5EF4-FFF2-40B4-BE49-F238E27FC236}">
                  <a16:creationId xmlns:a16="http://schemas.microsoft.com/office/drawing/2014/main" id="{3181A95C-CC3F-4805-F902-B6ABC3933B49}"/>
                </a:ext>
              </a:extLst>
            </p:cNvPr>
            <p:cNvSpPr txBox="1"/>
            <p:nvPr/>
          </p:nvSpPr>
          <p:spPr>
            <a:xfrm>
              <a:off x="2284748" y="132839"/>
              <a:ext cx="1753847" cy="369332"/>
            </a:xfrm>
            <a:prstGeom prst="rect">
              <a:avLst/>
            </a:prstGeom>
            <a:noFill/>
          </p:spPr>
          <p:txBody>
            <a:bodyPr wrap="square" rtlCol="0">
              <a:spAutoFit/>
            </a:bodyPr>
            <a:lstStyle/>
            <a:p>
              <a:r>
                <a:rPr lang="en-GB" b="1" dirty="0"/>
                <a:t>AXI Interface</a:t>
              </a:r>
            </a:p>
          </p:txBody>
        </p:sp>
        <p:sp>
          <p:nvSpPr>
            <p:cNvPr id="12" name="TextBox 11">
              <a:extLst>
                <a:ext uri="{FF2B5EF4-FFF2-40B4-BE49-F238E27FC236}">
                  <a16:creationId xmlns:a16="http://schemas.microsoft.com/office/drawing/2014/main" id="{E51813D0-9F4A-E230-C768-1A4CEA8A84F0}"/>
                </a:ext>
              </a:extLst>
            </p:cNvPr>
            <p:cNvSpPr txBox="1"/>
            <p:nvPr/>
          </p:nvSpPr>
          <p:spPr>
            <a:xfrm>
              <a:off x="4379625" y="125343"/>
              <a:ext cx="1304144" cy="369332"/>
            </a:xfrm>
            <a:prstGeom prst="rect">
              <a:avLst/>
            </a:prstGeom>
            <a:noFill/>
          </p:spPr>
          <p:txBody>
            <a:bodyPr wrap="square" rtlCol="0">
              <a:spAutoFit/>
            </a:bodyPr>
            <a:lstStyle/>
            <a:p>
              <a:r>
                <a:rPr lang="en-GB" b="1" dirty="0"/>
                <a:t>Boot FSM</a:t>
              </a:r>
            </a:p>
          </p:txBody>
        </p:sp>
        <p:sp>
          <p:nvSpPr>
            <p:cNvPr id="13" name="TextBox 12">
              <a:extLst>
                <a:ext uri="{FF2B5EF4-FFF2-40B4-BE49-F238E27FC236}">
                  <a16:creationId xmlns:a16="http://schemas.microsoft.com/office/drawing/2014/main" id="{879DF7A1-A8C7-095E-D9A7-6D1A5D1BF6EE}"/>
                </a:ext>
              </a:extLst>
            </p:cNvPr>
            <p:cNvSpPr txBox="1"/>
            <p:nvPr/>
          </p:nvSpPr>
          <p:spPr>
            <a:xfrm>
              <a:off x="6227161" y="125343"/>
              <a:ext cx="1304144" cy="369332"/>
            </a:xfrm>
            <a:prstGeom prst="rect">
              <a:avLst/>
            </a:prstGeom>
            <a:noFill/>
          </p:spPr>
          <p:txBody>
            <a:bodyPr wrap="square" rtlCol="0">
              <a:spAutoFit/>
            </a:bodyPr>
            <a:lstStyle/>
            <a:p>
              <a:r>
                <a:rPr lang="en-GB" b="1" dirty="0" err="1"/>
                <a:t>VeeR</a:t>
              </a:r>
              <a:r>
                <a:rPr lang="en-GB" b="1" dirty="0"/>
                <a:t> EL2</a:t>
              </a:r>
            </a:p>
          </p:txBody>
        </p:sp>
        <p:sp>
          <p:nvSpPr>
            <p:cNvPr id="14" name="TextBox 13">
              <a:extLst>
                <a:ext uri="{FF2B5EF4-FFF2-40B4-BE49-F238E27FC236}">
                  <a16:creationId xmlns:a16="http://schemas.microsoft.com/office/drawing/2014/main" id="{0436146D-450A-7E6C-ACA7-C17254ADA034}"/>
                </a:ext>
              </a:extLst>
            </p:cNvPr>
            <p:cNvSpPr txBox="1"/>
            <p:nvPr/>
          </p:nvSpPr>
          <p:spPr>
            <a:xfrm>
              <a:off x="8213365" y="125343"/>
              <a:ext cx="1304144" cy="369332"/>
            </a:xfrm>
            <a:prstGeom prst="rect">
              <a:avLst/>
            </a:prstGeom>
            <a:noFill/>
          </p:spPr>
          <p:txBody>
            <a:bodyPr wrap="square" rtlCol="0">
              <a:spAutoFit/>
            </a:bodyPr>
            <a:lstStyle/>
            <a:p>
              <a:r>
                <a:rPr lang="en-GB" b="1" dirty="0"/>
                <a:t>Crypto</a:t>
              </a:r>
            </a:p>
          </p:txBody>
        </p:sp>
        <p:sp>
          <p:nvSpPr>
            <p:cNvPr id="15" name="TextBox 14">
              <a:extLst>
                <a:ext uri="{FF2B5EF4-FFF2-40B4-BE49-F238E27FC236}">
                  <a16:creationId xmlns:a16="http://schemas.microsoft.com/office/drawing/2014/main" id="{3E7BF03E-4BBF-687B-3695-F434ACF0F6F0}"/>
                </a:ext>
              </a:extLst>
            </p:cNvPr>
            <p:cNvSpPr txBox="1"/>
            <p:nvPr/>
          </p:nvSpPr>
          <p:spPr>
            <a:xfrm>
              <a:off x="9967210" y="125343"/>
              <a:ext cx="1304144" cy="369332"/>
            </a:xfrm>
            <a:prstGeom prst="rect">
              <a:avLst/>
            </a:prstGeom>
            <a:noFill/>
          </p:spPr>
          <p:txBody>
            <a:bodyPr wrap="square" rtlCol="0">
              <a:spAutoFit/>
            </a:bodyPr>
            <a:lstStyle/>
            <a:p>
              <a:r>
                <a:rPr lang="en-GB" b="1" dirty="0"/>
                <a:t>Mailbox</a:t>
              </a:r>
            </a:p>
          </p:txBody>
        </p:sp>
        <p:cxnSp>
          <p:nvCxnSpPr>
            <p:cNvPr id="16" name="Straight Connector 15">
              <a:extLst>
                <a:ext uri="{FF2B5EF4-FFF2-40B4-BE49-F238E27FC236}">
                  <a16:creationId xmlns:a16="http://schemas.microsoft.com/office/drawing/2014/main" id="{B20650A4-96EF-CDF4-AAF0-B1449B3BB2D1}"/>
                </a:ext>
              </a:extLst>
            </p:cNvPr>
            <p:cNvCxnSpPr/>
            <p:nvPr/>
          </p:nvCxnSpPr>
          <p:spPr>
            <a:xfrm>
              <a:off x="10348210"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CBFDCCC0-283E-656D-3352-B0BCD6D2C77B}"/>
                </a:ext>
              </a:extLst>
            </p:cNvPr>
            <p:cNvCxnSpPr>
              <a:cxnSpLocks/>
            </p:cNvCxnSpPr>
            <p:nvPr/>
          </p:nvCxnSpPr>
          <p:spPr>
            <a:xfrm flipH="1">
              <a:off x="6644386" y="4528256"/>
              <a:ext cx="3666041" cy="0"/>
            </a:xfrm>
            <a:prstGeom prst="straightConnector1">
              <a:avLst/>
            </a:prstGeom>
            <a:ln w="28575">
              <a:solidFill>
                <a:srgbClr val="FFC000"/>
              </a:solidFill>
              <a:prstDash val="dash"/>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EF374B1E-E65E-946F-7E78-8B6F963094FD}"/>
                </a:ext>
              </a:extLst>
            </p:cNvPr>
            <p:cNvCxnSpPr>
              <a:cxnSpLocks/>
            </p:cNvCxnSpPr>
            <p:nvPr/>
          </p:nvCxnSpPr>
          <p:spPr>
            <a:xfrm>
              <a:off x="6644386" y="5209464"/>
              <a:ext cx="3699921" cy="0"/>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F1974534-3D03-0B31-F901-E9794520768E}"/>
                </a:ext>
              </a:extLst>
            </p:cNvPr>
            <p:cNvSpPr txBox="1"/>
            <p:nvPr/>
          </p:nvSpPr>
          <p:spPr>
            <a:xfrm>
              <a:off x="4909925" y="1276800"/>
              <a:ext cx="1689816" cy="369332"/>
            </a:xfrm>
            <a:prstGeom prst="rect">
              <a:avLst/>
            </a:prstGeom>
            <a:noFill/>
          </p:spPr>
          <p:txBody>
            <a:bodyPr wrap="square" rtlCol="0">
              <a:spAutoFit/>
            </a:bodyPr>
            <a:lstStyle/>
            <a:p>
              <a:r>
                <a:rPr lang="en-GB" b="1" dirty="0">
                  <a:solidFill>
                    <a:srgbClr val="FFC000"/>
                  </a:solidFill>
                </a:rPr>
                <a:t>lock granted</a:t>
              </a:r>
            </a:p>
          </p:txBody>
        </p:sp>
        <p:sp>
          <p:nvSpPr>
            <p:cNvPr id="30" name="TextBox 29">
              <a:extLst>
                <a:ext uri="{FF2B5EF4-FFF2-40B4-BE49-F238E27FC236}">
                  <a16:creationId xmlns:a16="http://schemas.microsoft.com/office/drawing/2014/main" id="{75068168-EF9E-B592-AAF3-F7B14F121D26}"/>
                </a:ext>
              </a:extLst>
            </p:cNvPr>
            <p:cNvSpPr txBox="1"/>
            <p:nvPr/>
          </p:nvSpPr>
          <p:spPr>
            <a:xfrm>
              <a:off x="6850049" y="4769967"/>
              <a:ext cx="3175873" cy="369332"/>
            </a:xfrm>
            <a:prstGeom prst="rect">
              <a:avLst/>
            </a:prstGeom>
            <a:noFill/>
          </p:spPr>
          <p:txBody>
            <a:bodyPr wrap="square" rtlCol="0">
              <a:spAutoFit/>
            </a:bodyPr>
            <a:lstStyle/>
            <a:p>
              <a:r>
                <a:rPr lang="en-GB" b="1" dirty="0" err="1">
                  <a:solidFill>
                    <a:srgbClr val="FFC000"/>
                  </a:solidFill>
                </a:rPr>
                <a:t>AHB_read</a:t>
              </a:r>
              <a:r>
                <a:rPr lang="en-GB" b="1" dirty="0">
                  <a:solidFill>
                    <a:srgbClr val="FFC000"/>
                  </a:solidFill>
                </a:rPr>
                <a:t>: </a:t>
              </a:r>
              <a:r>
                <a:rPr lang="en-GB" b="1" dirty="0" err="1">
                  <a:solidFill>
                    <a:srgbClr val="FFC000"/>
                  </a:solidFill>
                </a:rPr>
                <a:t>mbox_cmd</a:t>
              </a:r>
              <a:r>
                <a:rPr lang="en-GB" b="1" dirty="0">
                  <a:solidFill>
                    <a:srgbClr val="FFC000"/>
                  </a:solidFill>
                </a:rPr>
                <a:t>, data</a:t>
              </a:r>
            </a:p>
          </p:txBody>
        </p:sp>
        <p:sp>
          <p:nvSpPr>
            <p:cNvPr id="36" name="TextBox 35">
              <a:extLst>
                <a:ext uri="{FF2B5EF4-FFF2-40B4-BE49-F238E27FC236}">
                  <a16:creationId xmlns:a16="http://schemas.microsoft.com/office/drawing/2014/main" id="{A55BD144-92D5-6A37-C6AD-27963E6A21E0}"/>
                </a:ext>
              </a:extLst>
            </p:cNvPr>
            <p:cNvSpPr txBox="1"/>
            <p:nvPr/>
          </p:nvSpPr>
          <p:spPr>
            <a:xfrm>
              <a:off x="4142795" y="1925778"/>
              <a:ext cx="3666565" cy="369332"/>
            </a:xfrm>
            <a:prstGeom prst="rect">
              <a:avLst/>
            </a:prstGeom>
            <a:noFill/>
          </p:spPr>
          <p:txBody>
            <a:bodyPr wrap="square" rtlCol="0">
              <a:spAutoFit/>
            </a:bodyPr>
            <a:lstStyle/>
            <a:p>
              <a:r>
                <a:rPr lang="en-GB" b="1" dirty="0">
                  <a:solidFill>
                    <a:srgbClr val="FFC000"/>
                  </a:solidFill>
                </a:rPr>
                <a:t>AXI write: </a:t>
              </a:r>
              <a:r>
                <a:rPr lang="en-GB" b="1" dirty="0" err="1">
                  <a:solidFill>
                    <a:srgbClr val="FFC000"/>
                  </a:solidFill>
                </a:rPr>
                <a:t>mbox_cmd</a:t>
              </a:r>
              <a:r>
                <a:rPr lang="en-GB" b="1" dirty="0">
                  <a:solidFill>
                    <a:srgbClr val="FFC000"/>
                  </a:solidFill>
                </a:rPr>
                <a:t>, </a:t>
              </a:r>
              <a:r>
                <a:rPr lang="en-GB" b="1" dirty="0" err="1">
                  <a:solidFill>
                    <a:srgbClr val="FFC000"/>
                  </a:solidFill>
                </a:rPr>
                <a:t>mbox_dlen</a:t>
              </a:r>
              <a:endParaRPr lang="en-GB" b="1" dirty="0">
                <a:solidFill>
                  <a:srgbClr val="FFC000"/>
                </a:solidFill>
              </a:endParaRPr>
            </a:p>
          </p:txBody>
        </p:sp>
        <p:sp>
          <p:nvSpPr>
            <p:cNvPr id="37" name="TextBox 36">
              <a:extLst>
                <a:ext uri="{FF2B5EF4-FFF2-40B4-BE49-F238E27FC236}">
                  <a16:creationId xmlns:a16="http://schemas.microsoft.com/office/drawing/2014/main" id="{B43DFB3B-8F25-578E-4603-3F59C33CB2D9}"/>
                </a:ext>
              </a:extLst>
            </p:cNvPr>
            <p:cNvSpPr txBox="1"/>
            <p:nvPr/>
          </p:nvSpPr>
          <p:spPr>
            <a:xfrm>
              <a:off x="6813981" y="4060647"/>
              <a:ext cx="2703528" cy="369332"/>
            </a:xfrm>
            <a:prstGeom prst="rect">
              <a:avLst/>
            </a:prstGeom>
            <a:noFill/>
          </p:spPr>
          <p:txBody>
            <a:bodyPr wrap="square" rtlCol="0">
              <a:spAutoFit/>
            </a:bodyPr>
            <a:lstStyle/>
            <a:p>
              <a:r>
                <a:rPr lang="en-GB" b="1" dirty="0" err="1">
                  <a:solidFill>
                    <a:srgbClr val="FFC000"/>
                  </a:solidFill>
                </a:rPr>
                <a:t>mbox_notif</a:t>
              </a:r>
              <a:r>
                <a:rPr lang="en-GB" b="1" dirty="0">
                  <a:solidFill>
                    <a:srgbClr val="FFC000"/>
                  </a:solidFill>
                </a:rPr>
                <a:t> interrupt</a:t>
              </a:r>
            </a:p>
          </p:txBody>
        </p:sp>
      </p:grpSp>
      <p:sp>
        <p:nvSpPr>
          <p:cNvPr id="2" name="Title 1">
            <a:extLst>
              <a:ext uri="{FF2B5EF4-FFF2-40B4-BE49-F238E27FC236}">
                <a16:creationId xmlns:a16="http://schemas.microsoft.com/office/drawing/2014/main" id="{447BA48E-61BC-F6C0-E2A8-F0E09E3EBC4F}"/>
              </a:ext>
            </a:extLst>
          </p:cNvPr>
          <p:cNvSpPr>
            <a:spLocks noGrp="1"/>
          </p:cNvSpPr>
          <p:nvPr>
            <p:ph type="title"/>
          </p:nvPr>
        </p:nvSpPr>
        <p:spPr>
          <a:xfrm>
            <a:off x="0" y="-59582"/>
            <a:ext cx="12192000" cy="475367"/>
          </a:xfrm>
          <a:solidFill>
            <a:schemeClr val="accent6">
              <a:lumMod val="60000"/>
              <a:lumOff val="40000"/>
            </a:schemeClr>
          </a:solidFill>
        </p:spPr>
        <p:txBody>
          <a:bodyPr>
            <a:normAutofit fontScale="90000"/>
          </a:bodyPr>
          <a:lstStyle/>
          <a:p>
            <a:pPr algn="ctr"/>
            <a:r>
              <a:rPr lang="en-GB" sz="3200" dirty="0"/>
              <a:t>Phase 6: Mailbox Command</a:t>
            </a:r>
          </a:p>
        </p:txBody>
      </p:sp>
      <p:sp>
        <p:nvSpPr>
          <p:cNvPr id="3" name="TextBox 2">
            <a:extLst>
              <a:ext uri="{FF2B5EF4-FFF2-40B4-BE49-F238E27FC236}">
                <a16:creationId xmlns:a16="http://schemas.microsoft.com/office/drawing/2014/main" id="{AA11278F-FEC3-0A0F-04E1-054349BEE3A1}"/>
              </a:ext>
            </a:extLst>
          </p:cNvPr>
          <p:cNvSpPr txBox="1"/>
          <p:nvPr/>
        </p:nvSpPr>
        <p:spPr>
          <a:xfrm>
            <a:off x="1314603" y="1121810"/>
            <a:ext cx="1403308" cy="646331"/>
          </a:xfrm>
          <a:prstGeom prst="rect">
            <a:avLst/>
          </a:prstGeom>
          <a:noFill/>
        </p:spPr>
        <p:txBody>
          <a:bodyPr wrap="square" rtlCol="0">
            <a:spAutoFit/>
          </a:bodyPr>
          <a:lstStyle/>
          <a:p>
            <a:r>
              <a:rPr lang="en-GB" b="1" dirty="0">
                <a:solidFill>
                  <a:srgbClr val="FFC000"/>
                </a:solidFill>
              </a:rPr>
              <a:t>AXI write: </a:t>
            </a:r>
            <a:r>
              <a:rPr lang="en-GB" b="1" dirty="0" err="1">
                <a:solidFill>
                  <a:srgbClr val="FFC000"/>
                </a:solidFill>
              </a:rPr>
              <a:t>mbox_lock</a:t>
            </a:r>
            <a:endParaRPr lang="en-GB" b="1" dirty="0">
              <a:solidFill>
                <a:srgbClr val="FFC000"/>
              </a:solidFill>
            </a:endParaRPr>
          </a:p>
        </p:txBody>
      </p:sp>
      <p:cxnSp>
        <p:nvCxnSpPr>
          <p:cNvPr id="18" name="Straight Arrow Connector 17">
            <a:extLst>
              <a:ext uri="{FF2B5EF4-FFF2-40B4-BE49-F238E27FC236}">
                <a16:creationId xmlns:a16="http://schemas.microsoft.com/office/drawing/2014/main" id="{D3CECD8B-16BE-8535-1CD9-93CC90216340}"/>
              </a:ext>
            </a:extLst>
          </p:cNvPr>
          <p:cNvCxnSpPr>
            <a:cxnSpLocks/>
          </p:cNvCxnSpPr>
          <p:nvPr/>
        </p:nvCxnSpPr>
        <p:spPr>
          <a:xfrm>
            <a:off x="1147056" y="1926664"/>
            <a:ext cx="1778526" cy="0"/>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682854D0-0E0D-4434-5E05-FA6750520CFE}"/>
              </a:ext>
            </a:extLst>
          </p:cNvPr>
          <p:cNvCxnSpPr>
            <a:cxnSpLocks/>
          </p:cNvCxnSpPr>
          <p:nvPr/>
        </p:nvCxnSpPr>
        <p:spPr>
          <a:xfrm flipV="1">
            <a:off x="2925582" y="2215011"/>
            <a:ext cx="7542550" cy="6889"/>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A698D469-7DF1-DD14-17E4-C6EEEA5119E9}"/>
              </a:ext>
            </a:extLst>
          </p:cNvPr>
          <p:cNvCxnSpPr>
            <a:cxnSpLocks/>
          </p:cNvCxnSpPr>
          <p:nvPr/>
        </p:nvCxnSpPr>
        <p:spPr>
          <a:xfrm>
            <a:off x="1071491" y="2857407"/>
            <a:ext cx="9321076" cy="29702"/>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286CC2BA-6437-C2F3-F348-66D5F21DCEF0}"/>
              </a:ext>
            </a:extLst>
          </p:cNvPr>
          <p:cNvCxnSpPr>
            <a:cxnSpLocks/>
          </p:cNvCxnSpPr>
          <p:nvPr/>
        </p:nvCxnSpPr>
        <p:spPr>
          <a:xfrm>
            <a:off x="1109273" y="3519480"/>
            <a:ext cx="9321076" cy="29702"/>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6C6848BF-D576-471F-1F3D-F18AD7F4D453}"/>
              </a:ext>
            </a:extLst>
          </p:cNvPr>
          <p:cNvSpPr txBox="1"/>
          <p:nvPr/>
        </p:nvSpPr>
        <p:spPr>
          <a:xfrm>
            <a:off x="4300790" y="3082369"/>
            <a:ext cx="3666565" cy="369332"/>
          </a:xfrm>
          <a:prstGeom prst="rect">
            <a:avLst/>
          </a:prstGeom>
          <a:noFill/>
        </p:spPr>
        <p:txBody>
          <a:bodyPr wrap="square" rtlCol="0">
            <a:spAutoFit/>
          </a:bodyPr>
          <a:lstStyle/>
          <a:p>
            <a:r>
              <a:rPr lang="en-GB" b="1" dirty="0">
                <a:solidFill>
                  <a:srgbClr val="FFC000"/>
                </a:solidFill>
              </a:rPr>
              <a:t>AXI write: </a:t>
            </a:r>
            <a:r>
              <a:rPr lang="en-GB" b="1" dirty="0" err="1">
                <a:solidFill>
                  <a:srgbClr val="FFC000"/>
                </a:solidFill>
              </a:rPr>
              <a:t>mbox_datain</a:t>
            </a:r>
            <a:endParaRPr lang="en-GB" b="1" dirty="0">
              <a:solidFill>
                <a:srgbClr val="FFC000"/>
              </a:solidFill>
            </a:endParaRPr>
          </a:p>
        </p:txBody>
      </p:sp>
      <p:cxnSp>
        <p:nvCxnSpPr>
          <p:cNvPr id="33" name="Straight Arrow Connector 32">
            <a:extLst>
              <a:ext uri="{FF2B5EF4-FFF2-40B4-BE49-F238E27FC236}">
                <a16:creationId xmlns:a16="http://schemas.microsoft.com/office/drawing/2014/main" id="{16549DFB-5B56-0891-0750-344C51BC3315}"/>
              </a:ext>
            </a:extLst>
          </p:cNvPr>
          <p:cNvCxnSpPr>
            <a:cxnSpLocks/>
          </p:cNvCxnSpPr>
          <p:nvPr/>
        </p:nvCxnSpPr>
        <p:spPr>
          <a:xfrm>
            <a:off x="1143153" y="4286196"/>
            <a:ext cx="9321076" cy="29702"/>
          </a:xfrm>
          <a:prstGeom prst="straightConnector1">
            <a:avLst/>
          </a:prstGeom>
          <a:ln w="28575">
            <a:solidFill>
              <a:srgbClr val="FFC000"/>
            </a:solidFill>
            <a:tailEnd type="triangle"/>
          </a:ln>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796B0CD3-0294-1023-E8B4-BACF5B8A0B53}"/>
              </a:ext>
            </a:extLst>
          </p:cNvPr>
          <p:cNvSpPr txBox="1"/>
          <p:nvPr/>
        </p:nvSpPr>
        <p:spPr>
          <a:xfrm>
            <a:off x="4262717" y="3759315"/>
            <a:ext cx="3666565" cy="369332"/>
          </a:xfrm>
          <a:prstGeom prst="rect">
            <a:avLst/>
          </a:prstGeom>
          <a:noFill/>
        </p:spPr>
        <p:txBody>
          <a:bodyPr wrap="square" rtlCol="0">
            <a:spAutoFit/>
          </a:bodyPr>
          <a:lstStyle/>
          <a:p>
            <a:r>
              <a:rPr lang="en-GB" b="1" dirty="0">
                <a:solidFill>
                  <a:srgbClr val="FFC000"/>
                </a:solidFill>
              </a:rPr>
              <a:t>AXI write: </a:t>
            </a:r>
            <a:r>
              <a:rPr lang="en-GB" b="1" dirty="0" err="1">
                <a:solidFill>
                  <a:srgbClr val="FFC000"/>
                </a:solidFill>
              </a:rPr>
              <a:t>mbox_execute</a:t>
            </a:r>
            <a:r>
              <a:rPr lang="en-GB" b="1" dirty="0">
                <a:solidFill>
                  <a:srgbClr val="FFC000"/>
                </a:solidFill>
              </a:rPr>
              <a:t> = 1</a:t>
            </a:r>
          </a:p>
        </p:txBody>
      </p:sp>
    </p:spTree>
    <p:extLst>
      <p:ext uri="{BB962C8B-B14F-4D97-AF65-F5344CB8AC3E}">
        <p14:creationId xmlns:p14="http://schemas.microsoft.com/office/powerpoint/2010/main" val="4103844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6E114-B944-C2D8-0384-3B09A754DFFF}"/>
            </a:ext>
          </a:extLst>
        </p:cNvPr>
        <p:cNvGrpSpPr/>
        <p:nvPr/>
      </p:nvGrpSpPr>
      <p:grpSpPr>
        <a:xfrm>
          <a:off x="0" y="0"/>
          <a:ext cx="0" cy="0"/>
          <a:chOff x="0" y="0"/>
          <a:chExt cx="0" cy="0"/>
        </a:xfrm>
      </p:grpSpPr>
      <p:grpSp>
        <p:nvGrpSpPr>
          <p:cNvPr id="81" name="Group 80">
            <a:extLst>
              <a:ext uri="{FF2B5EF4-FFF2-40B4-BE49-F238E27FC236}">
                <a16:creationId xmlns:a16="http://schemas.microsoft.com/office/drawing/2014/main" id="{A610774A-1F6C-3072-A186-E2E88B1AA719}"/>
              </a:ext>
            </a:extLst>
          </p:cNvPr>
          <p:cNvGrpSpPr/>
          <p:nvPr/>
        </p:nvGrpSpPr>
        <p:grpSpPr>
          <a:xfrm>
            <a:off x="800723" y="649999"/>
            <a:ext cx="10590553" cy="6050605"/>
            <a:chOff x="680801" y="125343"/>
            <a:chExt cx="10590553" cy="6050605"/>
          </a:xfrm>
        </p:grpSpPr>
        <p:cxnSp>
          <p:nvCxnSpPr>
            <p:cNvPr id="5" name="Straight Connector 4">
              <a:extLst>
                <a:ext uri="{FF2B5EF4-FFF2-40B4-BE49-F238E27FC236}">
                  <a16:creationId xmlns:a16="http://schemas.microsoft.com/office/drawing/2014/main" id="{9F888791-0D7C-8086-5584-F6F2505AC664}"/>
                </a:ext>
              </a:extLst>
            </p:cNvPr>
            <p:cNvCxnSpPr/>
            <p:nvPr/>
          </p:nvCxnSpPr>
          <p:spPr>
            <a:xfrm>
              <a:off x="989351" y="494675"/>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37781D7E-7429-9241-7ECC-55FC585A6DD5}"/>
                </a:ext>
              </a:extLst>
            </p:cNvPr>
            <p:cNvCxnSpPr/>
            <p:nvPr/>
          </p:nvCxnSpPr>
          <p:spPr>
            <a:xfrm>
              <a:off x="2805660" y="494674"/>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DD77E855-EFAB-2A95-745C-6DC1C784C0E1}"/>
                </a:ext>
              </a:extLst>
            </p:cNvPr>
            <p:cNvCxnSpPr/>
            <p:nvPr/>
          </p:nvCxnSpPr>
          <p:spPr>
            <a:xfrm>
              <a:off x="4769371"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9247702E-8E70-1CEA-48C6-3A563DD16CDA}"/>
                </a:ext>
              </a:extLst>
            </p:cNvPr>
            <p:cNvCxnSpPr/>
            <p:nvPr/>
          </p:nvCxnSpPr>
          <p:spPr>
            <a:xfrm>
              <a:off x="662815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A6E45F4B-A201-4EE6-B2FD-F32E43D83802}"/>
                </a:ext>
              </a:extLst>
            </p:cNvPr>
            <p:cNvCxnSpPr/>
            <p:nvPr/>
          </p:nvCxnSpPr>
          <p:spPr>
            <a:xfrm>
              <a:off x="8531902" y="494673"/>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4FD48222-DCD4-A88E-AE0E-A2762B35F8CA}"/>
                </a:ext>
              </a:extLst>
            </p:cNvPr>
            <p:cNvSpPr txBox="1"/>
            <p:nvPr/>
          </p:nvSpPr>
          <p:spPr>
            <a:xfrm>
              <a:off x="680801" y="125343"/>
              <a:ext cx="1304144" cy="369332"/>
            </a:xfrm>
            <a:prstGeom prst="rect">
              <a:avLst/>
            </a:prstGeom>
            <a:noFill/>
          </p:spPr>
          <p:txBody>
            <a:bodyPr wrap="square" rtlCol="0">
              <a:spAutoFit/>
            </a:bodyPr>
            <a:lstStyle/>
            <a:p>
              <a:r>
                <a:rPr lang="en-GB" b="1" dirty="0"/>
                <a:t>SoC</a:t>
              </a:r>
            </a:p>
          </p:txBody>
        </p:sp>
        <p:sp>
          <p:nvSpPr>
            <p:cNvPr id="11" name="TextBox 10">
              <a:extLst>
                <a:ext uri="{FF2B5EF4-FFF2-40B4-BE49-F238E27FC236}">
                  <a16:creationId xmlns:a16="http://schemas.microsoft.com/office/drawing/2014/main" id="{4ED38E3A-2ACF-2936-D112-A9D39146F210}"/>
                </a:ext>
              </a:extLst>
            </p:cNvPr>
            <p:cNvSpPr txBox="1"/>
            <p:nvPr/>
          </p:nvSpPr>
          <p:spPr>
            <a:xfrm>
              <a:off x="2284748" y="132839"/>
              <a:ext cx="1753847" cy="369332"/>
            </a:xfrm>
            <a:prstGeom prst="rect">
              <a:avLst/>
            </a:prstGeom>
            <a:noFill/>
          </p:spPr>
          <p:txBody>
            <a:bodyPr wrap="square" rtlCol="0">
              <a:spAutoFit/>
            </a:bodyPr>
            <a:lstStyle/>
            <a:p>
              <a:r>
                <a:rPr lang="en-GB" b="1" dirty="0"/>
                <a:t>AXI Interface</a:t>
              </a:r>
            </a:p>
          </p:txBody>
        </p:sp>
        <p:sp>
          <p:nvSpPr>
            <p:cNvPr id="12" name="TextBox 11">
              <a:extLst>
                <a:ext uri="{FF2B5EF4-FFF2-40B4-BE49-F238E27FC236}">
                  <a16:creationId xmlns:a16="http://schemas.microsoft.com/office/drawing/2014/main" id="{0BAA2254-8DF0-5A22-FA55-D7BFE2A05E86}"/>
                </a:ext>
              </a:extLst>
            </p:cNvPr>
            <p:cNvSpPr txBox="1"/>
            <p:nvPr/>
          </p:nvSpPr>
          <p:spPr>
            <a:xfrm>
              <a:off x="4379625" y="125343"/>
              <a:ext cx="1304144" cy="369332"/>
            </a:xfrm>
            <a:prstGeom prst="rect">
              <a:avLst/>
            </a:prstGeom>
            <a:noFill/>
          </p:spPr>
          <p:txBody>
            <a:bodyPr wrap="square" rtlCol="0">
              <a:spAutoFit/>
            </a:bodyPr>
            <a:lstStyle/>
            <a:p>
              <a:r>
                <a:rPr lang="en-GB" b="1" dirty="0"/>
                <a:t>Boot FSM</a:t>
              </a:r>
            </a:p>
          </p:txBody>
        </p:sp>
        <p:sp>
          <p:nvSpPr>
            <p:cNvPr id="13" name="TextBox 12">
              <a:extLst>
                <a:ext uri="{FF2B5EF4-FFF2-40B4-BE49-F238E27FC236}">
                  <a16:creationId xmlns:a16="http://schemas.microsoft.com/office/drawing/2014/main" id="{E34512BE-F394-CAD9-9290-BBFC0327235B}"/>
                </a:ext>
              </a:extLst>
            </p:cNvPr>
            <p:cNvSpPr txBox="1"/>
            <p:nvPr/>
          </p:nvSpPr>
          <p:spPr>
            <a:xfrm>
              <a:off x="6227161" y="125343"/>
              <a:ext cx="1304144" cy="369332"/>
            </a:xfrm>
            <a:prstGeom prst="rect">
              <a:avLst/>
            </a:prstGeom>
            <a:noFill/>
          </p:spPr>
          <p:txBody>
            <a:bodyPr wrap="square" rtlCol="0">
              <a:spAutoFit/>
            </a:bodyPr>
            <a:lstStyle/>
            <a:p>
              <a:r>
                <a:rPr lang="en-GB" b="1" dirty="0" err="1"/>
                <a:t>VeeR</a:t>
              </a:r>
              <a:r>
                <a:rPr lang="en-GB" b="1" dirty="0"/>
                <a:t> EL2</a:t>
              </a:r>
            </a:p>
          </p:txBody>
        </p:sp>
        <p:sp>
          <p:nvSpPr>
            <p:cNvPr id="14" name="TextBox 13">
              <a:extLst>
                <a:ext uri="{FF2B5EF4-FFF2-40B4-BE49-F238E27FC236}">
                  <a16:creationId xmlns:a16="http://schemas.microsoft.com/office/drawing/2014/main" id="{4D4617BF-098A-D3B4-5603-A5AE78C2B82A}"/>
                </a:ext>
              </a:extLst>
            </p:cNvPr>
            <p:cNvSpPr txBox="1"/>
            <p:nvPr/>
          </p:nvSpPr>
          <p:spPr>
            <a:xfrm>
              <a:off x="8213365" y="125343"/>
              <a:ext cx="1304144" cy="369332"/>
            </a:xfrm>
            <a:prstGeom prst="rect">
              <a:avLst/>
            </a:prstGeom>
            <a:noFill/>
          </p:spPr>
          <p:txBody>
            <a:bodyPr wrap="square" rtlCol="0">
              <a:spAutoFit/>
            </a:bodyPr>
            <a:lstStyle/>
            <a:p>
              <a:r>
                <a:rPr lang="en-GB" b="1" dirty="0"/>
                <a:t>Crypto</a:t>
              </a:r>
            </a:p>
          </p:txBody>
        </p:sp>
        <p:sp>
          <p:nvSpPr>
            <p:cNvPr id="15" name="TextBox 14">
              <a:extLst>
                <a:ext uri="{FF2B5EF4-FFF2-40B4-BE49-F238E27FC236}">
                  <a16:creationId xmlns:a16="http://schemas.microsoft.com/office/drawing/2014/main" id="{FD8AC816-9BD2-068C-4A3C-C05DF24D6F59}"/>
                </a:ext>
              </a:extLst>
            </p:cNvPr>
            <p:cNvSpPr txBox="1"/>
            <p:nvPr/>
          </p:nvSpPr>
          <p:spPr>
            <a:xfrm>
              <a:off x="9967210" y="125343"/>
              <a:ext cx="1304144" cy="369332"/>
            </a:xfrm>
            <a:prstGeom prst="rect">
              <a:avLst/>
            </a:prstGeom>
            <a:noFill/>
          </p:spPr>
          <p:txBody>
            <a:bodyPr wrap="square" rtlCol="0">
              <a:spAutoFit/>
            </a:bodyPr>
            <a:lstStyle/>
            <a:p>
              <a:r>
                <a:rPr lang="en-GB" b="1" dirty="0"/>
                <a:t>Mailbox</a:t>
              </a:r>
            </a:p>
          </p:txBody>
        </p:sp>
        <p:cxnSp>
          <p:nvCxnSpPr>
            <p:cNvPr id="16" name="Straight Connector 15">
              <a:extLst>
                <a:ext uri="{FF2B5EF4-FFF2-40B4-BE49-F238E27FC236}">
                  <a16:creationId xmlns:a16="http://schemas.microsoft.com/office/drawing/2014/main" id="{97F9A68A-866F-5909-AE3E-7F433B7AD2E7}"/>
                </a:ext>
              </a:extLst>
            </p:cNvPr>
            <p:cNvCxnSpPr/>
            <p:nvPr/>
          </p:nvCxnSpPr>
          <p:spPr>
            <a:xfrm>
              <a:off x="10348210" y="494672"/>
              <a:ext cx="0" cy="5681273"/>
            </a:xfrm>
            <a:prstGeom prst="line">
              <a:avLst/>
            </a:prstGeom>
            <a:ln w="28575">
              <a:solidFill>
                <a:schemeClr val="tx1"/>
              </a:solidFill>
              <a:prstDash val="dash"/>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82CDEE86-9C68-9007-67A6-4BE7BBF157A8}"/>
                </a:ext>
              </a:extLst>
            </p:cNvPr>
            <p:cNvCxnSpPr>
              <a:cxnSpLocks/>
            </p:cNvCxnSpPr>
            <p:nvPr/>
          </p:nvCxnSpPr>
          <p:spPr>
            <a:xfrm flipH="1" flipV="1">
              <a:off x="6636571" y="1939454"/>
              <a:ext cx="1915621" cy="7415"/>
            </a:xfrm>
            <a:prstGeom prst="straightConnector1">
              <a:avLst/>
            </a:prstGeom>
            <a:ln w="28575">
              <a:solidFill>
                <a:srgbClr val="FF0000"/>
              </a:solidFill>
              <a:prstDash val="dash"/>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4906C17E-26AC-4682-44AC-967776746994}"/>
                </a:ext>
              </a:extLst>
            </p:cNvPr>
            <p:cNvCxnSpPr>
              <a:cxnSpLocks/>
            </p:cNvCxnSpPr>
            <p:nvPr/>
          </p:nvCxnSpPr>
          <p:spPr>
            <a:xfrm>
              <a:off x="6645178" y="1366817"/>
              <a:ext cx="1915621" cy="0"/>
            </a:xfrm>
            <a:prstGeom prst="straightConnector1">
              <a:avLst/>
            </a:prstGeom>
            <a:ln w="28575">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35DFDDC4-162D-CAF6-85BB-7F1EFB21D205}"/>
                </a:ext>
              </a:extLst>
            </p:cNvPr>
            <p:cNvSpPr txBox="1"/>
            <p:nvPr/>
          </p:nvSpPr>
          <p:spPr>
            <a:xfrm>
              <a:off x="6796164" y="696252"/>
              <a:ext cx="1763842" cy="646331"/>
            </a:xfrm>
            <a:prstGeom prst="rect">
              <a:avLst/>
            </a:prstGeom>
            <a:noFill/>
          </p:spPr>
          <p:txBody>
            <a:bodyPr wrap="square" rtlCol="0">
              <a:spAutoFit/>
            </a:bodyPr>
            <a:lstStyle/>
            <a:p>
              <a:r>
                <a:rPr lang="en-GB" dirty="0" err="1">
                  <a:solidFill>
                    <a:srgbClr val="FF0000"/>
                  </a:solidFill>
                </a:rPr>
                <a:t>AHB_write</a:t>
              </a:r>
              <a:r>
                <a:rPr lang="en-GB" dirty="0">
                  <a:solidFill>
                    <a:srgbClr val="FF0000"/>
                  </a:solidFill>
                </a:rPr>
                <a:t>: </a:t>
              </a:r>
              <a:r>
                <a:rPr lang="en-GB" dirty="0" err="1">
                  <a:solidFill>
                    <a:srgbClr val="FF0000"/>
                  </a:solidFill>
                </a:rPr>
                <a:t>ecc_sign_r</a:t>
              </a:r>
              <a:r>
                <a:rPr lang="en-GB" dirty="0">
                  <a:solidFill>
                    <a:srgbClr val="FF0000"/>
                  </a:solidFill>
                </a:rPr>
                <a:t>/s</a:t>
              </a:r>
            </a:p>
          </p:txBody>
        </p:sp>
        <p:cxnSp>
          <p:nvCxnSpPr>
            <p:cNvPr id="4" name="Straight Arrow Connector 3">
              <a:extLst>
                <a:ext uri="{FF2B5EF4-FFF2-40B4-BE49-F238E27FC236}">
                  <a16:creationId xmlns:a16="http://schemas.microsoft.com/office/drawing/2014/main" id="{2A33B8A4-AC7B-2AE7-7E0D-4862BAE250C8}"/>
                </a:ext>
              </a:extLst>
            </p:cNvPr>
            <p:cNvCxnSpPr>
              <a:cxnSpLocks/>
            </p:cNvCxnSpPr>
            <p:nvPr/>
          </p:nvCxnSpPr>
          <p:spPr>
            <a:xfrm>
              <a:off x="6644386" y="2682924"/>
              <a:ext cx="3703824" cy="0"/>
            </a:xfrm>
            <a:prstGeom prst="straightConnector1">
              <a:avLst/>
            </a:prstGeom>
            <a:ln w="28575">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5517016C-6AD6-F901-B3A9-640126EFBBAF}"/>
                </a:ext>
              </a:extLst>
            </p:cNvPr>
            <p:cNvCxnSpPr>
              <a:cxnSpLocks/>
            </p:cNvCxnSpPr>
            <p:nvPr/>
          </p:nvCxnSpPr>
          <p:spPr>
            <a:xfrm>
              <a:off x="6644386" y="3515620"/>
              <a:ext cx="3703824" cy="0"/>
            </a:xfrm>
            <a:prstGeom prst="straightConnector1">
              <a:avLst/>
            </a:prstGeom>
            <a:ln w="28575">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45250CEC-2979-E938-DA72-65A1F59BDA38}"/>
                </a:ext>
              </a:extLst>
            </p:cNvPr>
            <p:cNvCxnSpPr>
              <a:cxnSpLocks/>
            </p:cNvCxnSpPr>
            <p:nvPr/>
          </p:nvCxnSpPr>
          <p:spPr>
            <a:xfrm flipH="1" flipV="1">
              <a:off x="989351" y="4294958"/>
              <a:ext cx="9329963" cy="15789"/>
            </a:xfrm>
            <a:prstGeom prst="straightConnector1">
              <a:avLst/>
            </a:prstGeom>
            <a:ln w="28575">
              <a:solidFill>
                <a:srgbClr val="FF0000"/>
              </a:solidFill>
              <a:prstDash val="solid"/>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7C9BB8A0-DBB9-EEDA-8363-57ED8BD165B3}"/>
                </a:ext>
              </a:extLst>
            </p:cNvPr>
            <p:cNvCxnSpPr>
              <a:cxnSpLocks/>
            </p:cNvCxnSpPr>
            <p:nvPr/>
          </p:nvCxnSpPr>
          <p:spPr>
            <a:xfrm>
              <a:off x="1027134" y="5910908"/>
              <a:ext cx="9292180" cy="0"/>
            </a:xfrm>
            <a:prstGeom prst="straightConnector1">
              <a:avLst/>
            </a:prstGeom>
            <a:ln w="28575">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B9448B32-C2C5-F9AD-2509-4B36633E54DE}"/>
                </a:ext>
              </a:extLst>
            </p:cNvPr>
            <p:cNvCxnSpPr>
              <a:cxnSpLocks/>
            </p:cNvCxnSpPr>
            <p:nvPr/>
          </p:nvCxnSpPr>
          <p:spPr>
            <a:xfrm flipH="1">
              <a:off x="994970" y="5282546"/>
              <a:ext cx="9324344" cy="86379"/>
            </a:xfrm>
            <a:prstGeom prst="straightConnector1">
              <a:avLst/>
            </a:prstGeom>
            <a:ln w="28575">
              <a:solidFill>
                <a:srgbClr val="FF0000"/>
              </a:solidFill>
              <a:prstDash val="dash"/>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B14BACE7-3DBC-578C-836B-3AFEE818D37A}"/>
                </a:ext>
              </a:extLst>
            </p:cNvPr>
            <p:cNvSpPr txBox="1"/>
            <p:nvPr/>
          </p:nvSpPr>
          <p:spPr>
            <a:xfrm>
              <a:off x="6870191" y="1492492"/>
              <a:ext cx="1689816" cy="369321"/>
            </a:xfrm>
            <a:prstGeom prst="rect">
              <a:avLst/>
            </a:prstGeom>
            <a:noFill/>
          </p:spPr>
          <p:txBody>
            <a:bodyPr wrap="square" rtlCol="0">
              <a:spAutoFit/>
            </a:bodyPr>
            <a:lstStyle/>
            <a:p>
              <a:r>
                <a:rPr lang="en-GB" dirty="0" err="1">
                  <a:solidFill>
                    <a:srgbClr val="FF0000"/>
                  </a:solidFill>
                </a:rPr>
                <a:t>ecc_sign_valid</a:t>
              </a:r>
              <a:endParaRPr lang="en-GB" dirty="0">
                <a:solidFill>
                  <a:srgbClr val="FF0000"/>
                </a:solidFill>
              </a:endParaRPr>
            </a:p>
          </p:txBody>
        </p:sp>
        <p:sp>
          <p:nvSpPr>
            <p:cNvPr id="30" name="TextBox 29">
              <a:extLst>
                <a:ext uri="{FF2B5EF4-FFF2-40B4-BE49-F238E27FC236}">
                  <a16:creationId xmlns:a16="http://schemas.microsoft.com/office/drawing/2014/main" id="{6851A3A8-1F2C-6A69-AD03-235B981B2925}"/>
                </a:ext>
              </a:extLst>
            </p:cNvPr>
            <p:cNvSpPr txBox="1"/>
            <p:nvPr/>
          </p:nvSpPr>
          <p:spPr>
            <a:xfrm>
              <a:off x="6857856" y="2260670"/>
              <a:ext cx="2958047" cy="369332"/>
            </a:xfrm>
            <a:prstGeom prst="rect">
              <a:avLst/>
            </a:prstGeom>
            <a:noFill/>
          </p:spPr>
          <p:txBody>
            <a:bodyPr wrap="square" rtlCol="0">
              <a:spAutoFit/>
            </a:bodyPr>
            <a:lstStyle/>
            <a:p>
              <a:r>
                <a:rPr lang="en-GB" dirty="0" err="1">
                  <a:solidFill>
                    <a:srgbClr val="FF0000"/>
                  </a:solidFill>
                </a:rPr>
                <a:t>AHB_write</a:t>
              </a:r>
              <a:r>
                <a:rPr lang="en-GB" dirty="0">
                  <a:solidFill>
                    <a:srgbClr val="FF0000"/>
                  </a:solidFill>
                </a:rPr>
                <a:t>: </a:t>
              </a:r>
              <a:r>
                <a:rPr lang="en-GB" dirty="0" err="1">
                  <a:solidFill>
                    <a:srgbClr val="FF0000"/>
                  </a:solidFill>
                </a:rPr>
                <a:t>mbox_dataout</a:t>
              </a:r>
              <a:endParaRPr lang="en-GB" dirty="0">
                <a:solidFill>
                  <a:srgbClr val="FF0000"/>
                </a:solidFill>
              </a:endParaRPr>
            </a:p>
          </p:txBody>
        </p:sp>
        <p:sp>
          <p:nvSpPr>
            <p:cNvPr id="36" name="TextBox 35">
              <a:extLst>
                <a:ext uri="{FF2B5EF4-FFF2-40B4-BE49-F238E27FC236}">
                  <a16:creationId xmlns:a16="http://schemas.microsoft.com/office/drawing/2014/main" id="{7D03168F-079F-F960-6EE2-7636A1CF2296}"/>
                </a:ext>
              </a:extLst>
            </p:cNvPr>
            <p:cNvSpPr txBox="1"/>
            <p:nvPr/>
          </p:nvSpPr>
          <p:spPr>
            <a:xfrm>
              <a:off x="6445148" y="3121926"/>
              <a:ext cx="4229717" cy="369332"/>
            </a:xfrm>
            <a:prstGeom prst="rect">
              <a:avLst/>
            </a:prstGeom>
            <a:noFill/>
          </p:spPr>
          <p:txBody>
            <a:bodyPr wrap="square" rtlCol="0">
              <a:spAutoFit/>
            </a:bodyPr>
            <a:lstStyle/>
            <a:p>
              <a:r>
                <a:rPr lang="en-GB" dirty="0" err="1">
                  <a:solidFill>
                    <a:srgbClr val="FF0000"/>
                  </a:solidFill>
                </a:rPr>
                <a:t>AHB_write</a:t>
              </a:r>
              <a:r>
                <a:rPr lang="en-GB" dirty="0">
                  <a:solidFill>
                    <a:srgbClr val="FF0000"/>
                  </a:solidFill>
                </a:rPr>
                <a:t>: </a:t>
              </a:r>
              <a:r>
                <a:rPr lang="en-GB" dirty="0" err="1">
                  <a:solidFill>
                    <a:srgbClr val="FF0000"/>
                  </a:solidFill>
                </a:rPr>
                <a:t>mbox_status</a:t>
              </a:r>
              <a:r>
                <a:rPr lang="en-GB" dirty="0">
                  <a:solidFill>
                    <a:srgbClr val="FF0000"/>
                  </a:solidFill>
                </a:rPr>
                <a:t> = DATA_READY</a:t>
              </a:r>
            </a:p>
          </p:txBody>
        </p:sp>
        <p:sp>
          <p:nvSpPr>
            <p:cNvPr id="37" name="TextBox 36">
              <a:extLst>
                <a:ext uri="{FF2B5EF4-FFF2-40B4-BE49-F238E27FC236}">
                  <a16:creationId xmlns:a16="http://schemas.microsoft.com/office/drawing/2014/main" id="{FCE5309E-0004-91C4-4DD7-6A157D4CD281}"/>
                </a:ext>
              </a:extLst>
            </p:cNvPr>
            <p:cNvSpPr txBox="1"/>
            <p:nvPr/>
          </p:nvSpPr>
          <p:spPr>
            <a:xfrm>
              <a:off x="4057489" y="3865396"/>
              <a:ext cx="4086690" cy="369332"/>
            </a:xfrm>
            <a:prstGeom prst="rect">
              <a:avLst/>
            </a:prstGeom>
            <a:noFill/>
          </p:spPr>
          <p:txBody>
            <a:bodyPr wrap="square" rtlCol="0">
              <a:spAutoFit/>
            </a:bodyPr>
            <a:lstStyle/>
            <a:p>
              <a:r>
                <a:rPr lang="en-GB" dirty="0" err="1">
                  <a:solidFill>
                    <a:srgbClr val="FF0000"/>
                  </a:solidFill>
                </a:rPr>
                <a:t>mbox_data_avail</a:t>
              </a:r>
              <a:r>
                <a:rPr lang="en-GB" dirty="0">
                  <a:solidFill>
                    <a:srgbClr val="FF0000"/>
                  </a:solidFill>
                </a:rPr>
                <a:t> interrupt</a:t>
              </a:r>
            </a:p>
          </p:txBody>
        </p:sp>
        <p:sp>
          <p:nvSpPr>
            <p:cNvPr id="44" name="TextBox 43">
              <a:extLst>
                <a:ext uri="{FF2B5EF4-FFF2-40B4-BE49-F238E27FC236}">
                  <a16:creationId xmlns:a16="http://schemas.microsoft.com/office/drawing/2014/main" id="{73DF40CB-1EED-1026-7F44-DD29BDBF76E4}"/>
                </a:ext>
              </a:extLst>
            </p:cNvPr>
            <p:cNvSpPr txBox="1"/>
            <p:nvPr/>
          </p:nvSpPr>
          <p:spPr>
            <a:xfrm>
              <a:off x="4094816" y="4344363"/>
              <a:ext cx="2878027" cy="369332"/>
            </a:xfrm>
            <a:prstGeom prst="rect">
              <a:avLst/>
            </a:prstGeom>
            <a:noFill/>
          </p:spPr>
          <p:txBody>
            <a:bodyPr wrap="square" rtlCol="0">
              <a:spAutoFit/>
            </a:bodyPr>
            <a:lstStyle/>
            <a:p>
              <a:r>
                <a:rPr lang="en-GB" dirty="0">
                  <a:solidFill>
                    <a:srgbClr val="FF0000"/>
                  </a:solidFill>
                </a:rPr>
                <a:t>AXI read: </a:t>
              </a:r>
              <a:r>
                <a:rPr lang="en-GB" dirty="0" err="1">
                  <a:solidFill>
                    <a:srgbClr val="FF0000"/>
                  </a:solidFill>
                </a:rPr>
                <a:t>mbox_dataout</a:t>
              </a:r>
              <a:endParaRPr lang="en-GB" dirty="0">
                <a:solidFill>
                  <a:srgbClr val="FF0000"/>
                </a:solidFill>
              </a:endParaRPr>
            </a:p>
          </p:txBody>
        </p:sp>
        <p:sp>
          <p:nvSpPr>
            <p:cNvPr id="48" name="TextBox 47">
              <a:extLst>
                <a:ext uri="{FF2B5EF4-FFF2-40B4-BE49-F238E27FC236}">
                  <a16:creationId xmlns:a16="http://schemas.microsoft.com/office/drawing/2014/main" id="{B6F9365A-1BA6-D5BB-BB6D-008F81480623}"/>
                </a:ext>
              </a:extLst>
            </p:cNvPr>
            <p:cNvSpPr txBox="1"/>
            <p:nvPr/>
          </p:nvSpPr>
          <p:spPr>
            <a:xfrm>
              <a:off x="4379624" y="4860314"/>
              <a:ext cx="2803161" cy="369332"/>
            </a:xfrm>
            <a:prstGeom prst="rect">
              <a:avLst/>
            </a:prstGeom>
            <a:noFill/>
          </p:spPr>
          <p:txBody>
            <a:bodyPr wrap="square" rtlCol="0">
              <a:spAutoFit/>
            </a:bodyPr>
            <a:lstStyle/>
            <a:p>
              <a:r>
                <a:rPr lang="en-GB" dirty="0">
                  <a:solidFill>
                    <a:srgbClr val="FF0000"/>
                  </a:solidFill>
                </a:rPr>
                <a:t>cert/signature data</a:t>
              </a:r>
            </a:p>
          </p:txBody>
        </p:sp>
      </p:grpSp>
      <p:sp>
        <p:nvSpPr>
          <p:cNvPr id="82" name="Title 1">
            <a:extLst>
              <a:ext uri="{FF2B5EF4-FFF2-40B4-BE49-F238E27FC236}">
                <a16:creationId xmlns:a16="http://schemas.microsoft.com/office/drawing/2014/main" id="{328DA6CA-F316-B59F-56CD-AF057F15C0A8}"/>
              </a:ext>
            </a:extLst>
          </p:cNvPr>
          <p:cNvSpPr>
            <a:spLocks noGrp="1"/>
          </p:cNvSpPr>
          <p:nvPr>
            <p:ph type="title"/>
          </p:nvPr>
        </p:nvSpPr>
        <p:spPr>
          <a:xfrm>
            <a:off x="0" y="0"/>
            <a:ext cx="12192000" cy="392458"/>
          </a:xfrm>
          <a:solidFill>
            <a:schemeClr val="accent6">
              <a:lumMod val="60000"/>
              <a:lumOff val="40000"/>
            </a:schemeClr>
          </a:solidFill>
        </p:spPr>
        <p:txBody>
          <a:bodyPr>
            <a:normAutofit fontScale="90000"/>
          </a:bodyPr>
          <a:lstStyle/>
          <a:p>
            <a:pPr algn="ctr"/>
            <a:r>
              <a:rPr lang="en-GB" sz="3200" dirty="0"/>
              <a:t>Phase 7: Attestation Response</a:t>
            </a:r>
          </a:p>
        </p:txBody>
      </p:sp>
      <p:cxnSp>
        <p:nvCxnSpPr>
          <p:cNvPr id="22" name="Straight Arrow Connector 21">
            <a:extLst>
              <a:ext uri="{FF2B5EF4-FFF2-40B4-BE49-F238E27FC236}">
                <a16:creationId xmlns:a16="http://schemas.microsoft.com/office/drawing/2014/main" id="{9912EA47-93EA-55A6-025E-40C3576713F1}"/>
              </a:ext>
            </a:extLst>
          </p:cNvPr>
          <p:cNvCxnSpPr>
            <a:cxnSpLocks/>
          </p:cNvCxnSpPr>
          <p:nvPr/>
        </p:nvCxnSpPr>
        <p:spPr>
          <a:xfrm>
            <a:off x="1109273" y="5271968"/>
            <a:ext cx="9329963" cy="0"/>
          </a:xfrm>
          <a:prstGeom prst="straightConnector1">
            <a:avLst/>
          </a:prstGeom>
          <a:ln w="28575">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0224A5F1-84CE-2F45-89D1-D501E17EBD98}"/>
              </a:ext>
            </a:extLst>
          </p:cNvPr>
          <p:cNvSpPr txBox="1"/>
          <p:nvPr/>
        </p:nvSpPr>
        <p:spPr>
          <a:xfrm>
            <a:off x="4158517" y="5973147"/>
            <a:ext cx="2878027" cy="369332"/>
          </a:xfrm>
          <a:prstGeom prst="rect">
            <a:avLst/>
          </a:prstGeom>
          <a:noFill/>
        </p:spPr>
        <p:txBody>
          <a:bodyPr wrap="square" rtlCol="0">
            <a:spAutoFit/>
          </a:bodyPr>
          <a:lstStyle/>
          <a:p>
            <a:r>
              <a:rPr lang="en-GB" dirty="0">
                <a:solidFill>
                  <a:srgbClr val="FF0000"/>
                </a:solidFill>
              </a:rPr>
              <a:t>AXI write: </a:t>
            </a:r>
            <a:r>
              <a:rPr lang="en-GB" dirty="0" err="1">
                <a:solidFill>
                  <a:srgbClr val="FF0000"/>
                </a:solidFill>
              </a:rPr>
              <a:t>mbox_unlock</a:t>
            </a:r>
            <a:r>
              <a:rPr lang="en-GB" dirty="0">
                <a:solidFill>
                  <a:srgbClr val="FF0000"/>
                </a:solidFill>
              </a:rPr>
              <a:t> = 1</a:t>
            </a:r>
          </a:p>
        </p:txBody>
      </p:sp>
    </p:spTree>
    <p:extLst>
      <p:ext uri="{BB962C8B-B14F-4D97-AF65-F5344CB8AC3E}">
        <p14:creationId xmlns:p14="http://schemas.microsoft.com/office/powerpoint/2010/main" val="229398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865CE-CA55-3DD2-18B3-8A32FE7C41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9106658-C129-7431-A2BA-4EB9DD72D3D9}"/>
              </a:ext>
            </a:extLst>
          </p:cNvPr>
          <p:cNvSpPr>
            <a:spLocks noGrp="1"/>
          </p:cNvSpPr>
          <p:nvPr>
            <p:ph idx="1"/>
          </p:nvPr>
        </p:nvSpPr>
        <p:spPr/>
        <p:txBody>
          <a:bodyPr vert="horz" lIns="91440" tIns="45720" rIns="91440" bIns="45720" rtlCol="0" anchor="t">
            <a:normAutofit/>
          </a:bodyPr>
          <a:lstStyle/>
          <a:p>
            <a:r>
              <a:rPr lang="en-US"/>
              <a:t>Jishnu – ICCM, DCCM</a:t>
            </a:r>
          </a:p>
          <a:p>
            <a:r>
              <a:rPr lang="en-US" dirty="0"/>
              <a:t>SROM, Pipelines – IFU (Fetch control, branch predictor, </a:t>
            </a:r>
            <a:r>
              <a:rPr lang="en-US"/>
              <a:t>instruction aligner)</a:t>
            </a:r>
          </a:p>
          <a:p>
            <a:r>
              <a:rPr lang="en-US" dirty="0"/>
              <a:t>Lokesh – SHA512,256,HMAC, DRBG. (power reduction technique </a:t>
            </a:r>
            <a:r>
              <a:rPr lang="en-US"/>
              <a:t>application)</a:t>
            </a:r>
            <a:r>
              <a:rPr lang="en-US" dirty="0"/>
              <a:t> </a:t>
            </a:r>
          </a:p>
          <a:p>
            <a:r>
              <a:rPr lang="en-US" dirty="0"/>
              <a:t>Sravanthi – Address Decoder, DMA ASSIST Engine, Fuse Registers, Functional Registers, power reduction </a:t>
            </a:r>
            <a:r>
              <a:rPr lang="en-US"/>
              <a:t>technique application), Interface</a:t>
            </a:r>
            <a:r>
              <a:rPr lang="en-US" dirty="0"/>
              <a:t> Signals.</a:t>
            </a:r>
          </a:p>
        </p:txBody>
      </p:sp>
    </p:spTree>
    <p:extLst>
      <p:ext uri="{BB962C8B-B14F-4D97-AF65-F5344CB8AC3E}">
        <p14:creationId xmlns:p14="http://schemas.microsoft.com/office/powerpoint/2010/main" val="2456014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CAF54-712A-A746-D9E1-6FCE8178A1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F06A1-558D-58D1-7CBB-6C053EACAC46}"/>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AHB-SROM Interface</a:t>
            </a:r>
            <a:endParaRPr lang="en-US" dirty="0"/>
          </a:p>
        </p:txBody>
      </p:sp>
      <p:pic>
        <p:nvPicPr>
          <p:cNvPr id="3" name="Picture 2">
            <a:extLst>
              <a:ext uri="{FF2B5EF4-FFF2-40B4-BE49-F238E27FC236}">
                <a16:creationId xmlns:a16="http://schemas.microsoft.com/office/drawing/2014/main" id="{3086F086-7519-510A-E686-942066F28EB7}"/>
              </a:ext>
            </a:extLst>
          </p:cNvPr>
          <p:cNvPicPr>
            <a:picLocks noChangeAspect="1"/>
          </p:cNvPicPr>
          <p:nvPr/>
        </p:nvPicPr>
        <p:blipFill>
          <a:blip r:embed="rId2"/>
          <a:stretch>
            <a:fillRect/>
          </a:stretch>
        </p:blipFill>
        <p:spPr>
          <a:xfrm>
            <a:off x="2196469" y="864972"/>
            <a:ext cx="7788763" cy="5457568"/>
          </a:xfrm>
          <a:prstGeom prst="rect">
            <a:avLst/>
          </a:prstGeom>
        </p:spPr>
      </p:pic>
    </p:spTree>
    <p:extLst>
      <p:ext uri="{BB962C8B-B14F-4D97-AF65-F5344CB8AC3E}">
        <p14:creationId xmlns:p14="http://schemas.microsoft.com/office/powerpoint/2010/main" val="1378927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671AD-9DA5-B462-AD94-E4D162BEB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F5CB4-41A5-FEF2-8469-44E678CA507A}"/>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a:t>AHB-SROM Interface</a:t>
            </a:r>
            <a:endParaRPr lang="en-US"/>
          </a:p>
        </p:txBody>
      </p:sp>
      <p:pic>
        <p:nvPicPr>
          <p:cNvPr id="4" name="Picture 3" descr="A blue rectangular object with black text">
            <a:extLst>
              <a:ext uri="{FF2B5EF4-FFF2-40B4-BE49-F238E27FC236}">
                <a16:creationId xmlns:a16="http://schemas.microsoft.com/office/drawing/2014/main" id="{DA2B772D-C1E8-A6A2-8C59-80DB74734411}"/>
              </a:ext>
            </a:extLst>
          </p:cNvPr>
          <p:cNvPicPr>
            <a:picLocks noChangeAspect="1"/>
          </p:cNvPicPr>
          <p:nvPr/>
        </p:nvPicPr>
        <p:blipFill>
          <a:blip r:embed="rId2"/>
          <a:stretch>
            <a:fillRect/>
          </a:stretch>
        </p:blipFill>
        <p:spPr>
          <a:xfrm>
            <a:off x="1696038" y="844378"/>
            <a:ext cx="9489843" cy="5539946"/>
          </a:xfrm>
          <a:prstGeom prst="rect">
            <a:avLst/>
          </a:prstGeom>
        </p:spPr>
      </p:pic>
    </p:spTree>
    <p:extLst>
      <p:ext uri="{BB962C8B-B14F-4D97-AF65-F5344CB8AC3E}">
        <p14:creationId xmlns:p14="http://schemas.microsoft.com/office/powerpoint/2010/main" val="364907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E7EED-D803-FCA3-D5A1-A081390A1B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C36C0-2769-D7A0-F327-68618552483B}"/>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dirty="0"/>
              <a:t>Instruction </a:t>
            </a:r>
            <a:r>
              <a:rPr lang="en-GB"/>
              <a:t>Fetch</a:t>
            </a:r>
            <a:r>
              <a:rPr lang="en-GB" dirty="0"/>
              <a:t> Unit (IFU) - Fetch Control</a:t>
            </a:r>
            <a:endParaRPr lang="en-US" dirty="0"/>
          </a:p>
        </p:txBody>
      </p:sp>
      <p:pic>
        <p:nvPicPr>
          <p:cNvPr id="4" name="Picture 3" descr="A screenshot of a computer">
            <a:extLst>
              <a:ext uri="{FF2B5EF4-FFF2-40B4-BE49-F238E27FC236}">
                <a16:creationId xmlns:a16="http://schemas.microsoft.com/office/drawing/2014/main" id="{E9EE2E2A-3A53-8394-8369-A30252FF296B}"/>
              </a:ext>
            </a:extLst>
          </p:cNvPr>
          <p:cNvPicPr>
            <a:picLocks noChangeAspect="1"/>
          </p:cNvPicPr>
          <p:nvPr/>
        </p:nvPicPr>
        <p:blipFill>
          <a:blip r:embed="rId2"/>
          <a:stretch>
            <a:fillRect/>
          </a:stretch>
        </p:blipFill>
        <p:spPr>
          <a:xfrm>
            <a:off x="2379912" y="689919"/>
            <a:ext cx="7566041" cy="6085703"/>
          </a:xfrm>
          <a:prstGeom prst="rect">
            <a:avLst/>
          </a:prstGeom>
        </p:spPr>
      </p:pic>
    </p:spTree>
    <p:extLst>
      <p:ext uri="{BB962C8B-B14F-4D97-AF65-F5344CB8AC3E}">
        <p14:creationId xmlns:p14="http://schemas.microsoft.com/office/powerpoint/2010/main" val="3351561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46E9A-F3D6-8521-C7B1-EA3A7CC4B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FE1D5-1A1C-4E0F-1568-50E370BBF192}"/>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dirty="0"/>
              <a:t>Instruction </a:t>
            </a:r>
            <a:r>
              <a:rPr lang="en-GB"/>
              <a:t>Fetch</a:t>
            </a:r>
            <a:r>
              <a:rPr lang="en-GB" dirty="0"/>
              <a:t> Unit (IFU) - Fetch Control</a:t>
            </a:r>
            <a:endParaRPr lang="en-US" dirty="0"/>
          </a:p>
        </p:txBody>
      </p:sp>
      <p:pic>
        <p:nvPicPr>
          <p:cNvPr id="3" name="Picture 2" descr="A blue rectangle with black text">
            <a:extLst>
              <a:ext uri="{FF2B5EF4-FFF2-40B4-BE49-F238E27FC236}">
                <a16:creationId xmlns:a16="http://schemas.microsoft.com/office/drawing/2014/main" id="{27A3A4B5-2DB0-83E8-D071-04E3352BAFD8}"/>
              </a:ext>
            </a:extLst>
          </p:cNvPr>
          <p:cNvPicPr>
            <a:picLocks noChangeAspect="1"/>
          </p:cNvPicPr>
          <p:nvPr/>
        </p:nvPicPr>
        <p:blipFill>
          <a:blip r:embed="rId2"/>
          <a:stretch>
            <a:fillRect/>
          </a:stretch>
        </p:blipFill>
        <p:spPr>
          <a:xfrm>
            <a:off x="1613018" y="901521"/>
            <a:ext cx="9159149" cy="5602310"/>
          </a:xfrm>
          <a:prstGeom prst="rect">
            <a:avLst/>
          </a:prstGeom>
        </p:spPr>
      </p:pic>
    </p:spTree>
    <p:extLst>
      <p:ext uri="{BB962C8B-B14F-4D97-AF65-F5344CB8AC3E}">
        <p14:creationId xmlns:p14="http://schemas.microsoft.com/office/powerpoint/2010/main" val="3781945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46ADA-0549-1897-02C1-4964C07DA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A2CBD5-D575-62EB-8160-12ABCDC6DCE0}"/>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dirty="0"/>
              <a:t>Instruction </a:t>
            </a:r>
            <a:r>
              <a:rPr lang="en-GB"/>
              <a:t>Fetch</a:t>
            </a:r>
            <a:r>
              <a:rPr lang="en-GB" dirty="0"/>
              <a:t> Unit (IFU) - Branch Predictor</a:t>
            </a:r>
            <a:endParaRPr lang="en-US" dirty="0"/>
          </a:p>
        </p:txBody>
      </p:sp>
      <p:pic>
        <p:nvPicPr>
          <p:cNvPr id="4" name="Picture 3" descr="A screenshot of a computer">
            <a:extLst>
              <a:ext uri="{FF2B5EF4-FFF2-40B4-BE49-F238E27FC236}">
                <a16:creationId xmlns:a16="http://schemas.microsoft.com/office/drawing/2014/main" id="{C5C78922-A5F7-7698-997A-43A563FFBFB0}"/>
              </a:ext>
            </a:extLst>
          </p:cNvPr>
          <p:cNvPicPr>
            <a:picLocks noChangeAspect="1"/>
          </p:cNvPicPr>
          <p:nvPr/>
        </p:nvPicPr>
        <p:blipFill>
          <a:blip r:embed="rId2"/>
          <a:stretch>
            <a:fillRect/>
          </a:stretch>
        </p:blipFill>
        <p:spPr>
          <a:xfrm>
            <a:off x="728534" y="568817"/>
            <a:ext cx="11024705" cy="6289184"/>
          </a:xfrm>
          <a:prstGeom prst="rect">
            <a:avLst/>
          </a:prstGeom>
        </p:spPr>
      </p:pic>
    </p:spTree>
    <p:extLst>
      <p:ext uri="{BB962C8B-B14F-4D97-AF65-F5344CB8AC3E}">
        <p14:creationId xmlns:p14="http://schemas.microsoft.com/office/powerpoint/2010/main" val="2127406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3D504-C0CC-7410-D6CC-DF752F5C8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E7AF7-D36F-1E3F-118C-E374F5228002}"/>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dirty="0"/>
              <a:t>Instruction </a:t>
            </a:r>
            <a:r>
              <a:rPr lang="en-GB"/>
              <a:t>Fetch</a:t>
            </a:r>
            <a:r>
              <a:rPr lang="en-GB" dirty="0"/>
              <a:t> Unit (IFU) - Branch Predictor</a:t>
            </a:r>
            <a:endParaRPr lang="en-US" dirty="0"/>
          </a:p>
        </p:txBody>
      </p:sp>
      <p:pic>
        <p:nvPicPr>
          <p:cNvPr id="3" name="Picture 2" descr="A blue rectangle with black text&#10;&#10;AI-generated content may be incorrect.">
            <a:extLst>
              <a:ext uri="{FF2B5EF4-FFF2-40B4-BE49-F238E27FC236}">
                <a16:creationId xmlns:a16="http://schemas.microsoft.com/office/drawing/2014/main" id="{D9899D53-3786-B3A6-6C23-7575DA367C67}"/>
              </a:ext>
            </a:extLst>
          </p:cNvPr>
          <p:cNvPicPr>
            <a:picLocks noChangeAspect="1"/>
          </p:cNvPicPr>
          <p:nvPr/>
        </p:nvPicPr>
        <p:blipFill>
          <a:blip r:embed="rId2"/>
          <a:stretch>
            <a:fillRect/>
          </a:stretch>
        </p:blipFill>
        <p:spPr>
          <a:xfrm>
            <a:off x="1296239" y="710368"/>
            <a:ext cx="9160076" cy="6042339"/>
          </a:xfrm>
          <a:prstGeom prst="rect">
            <a:avLst/>
          </a:prstGeom>
        </p:spPr>
      </p:pic>
    </p:spTree>
    <p:extLst>
      <p:ext uri="{BB962C8B-B14F-4D97-AF65-F5344CB8AC3E}">
        <p14:creationId xmlns:p14="http://schemas.microsoft.com/office/powerpoint/2010/main" val="1397130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DDAB7-46AD-BBCA-B185-07B1219CA2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31FB8-FE66-6E0F-0841-2E823F6EB1E1}"/>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dirty="0"/>
              <a:t>Instruction </a:t>
            </a:r>
            <a:r>
              <a:rPr lang="en-GB"/>
              <a:t>Fetch</a:t>
            </a:r>
            <a:r>
              <a:rPr lang="en-GB" dirty="0"/>
              <a:t> Unit (IFU) - </a:t>
            </a:r>
            <a:r>
              <a:rPr lang="en-GB"/>
              <a:t>Instruction</a:t>
            </a:r>
            <a:r>
              <a:rPr lang="en-GB" dirty="0"/>
              <a:t> Aligner</a:t>
            </a:r>
            <a:endParaRPr lang="en-US" dirty="0"/>
          </a:p>
        </p:txBody>
      </p:sp>
      <p:pic>
        <p:nvPicPr>
          <p:cNvPr id="4" name="Picture 3" descr="A screenshot of a computer&#10;&#10;AI-generated content may be incorrect.">
            <a:extLst>
              <a:ext uri="{FF2B5EF4-FFF2-40B4-BE49-F238E27FC236}">
                <a16:creationId xmlns:a16="http://schemas.microsoft.com/office/drawing/2014/main" id="{6A397CFB-9BCA-3EDC-0092-F8C6BDDAA30D}"/>
              </a:ext>
            </a:extLst>
          </p:cNvPr>
          <p:cNvPicPr>
            <a:picLocks noChangeAspect="1"/>
          </p:cNvPicPr>
          <p:nvPr/>
        </p:nvPicPr>
        <p:blipFill>
          <a:blip r:embed="rId2"/>
          <a:stretch>
            <a:fillRect/>
          </a:stretch>
        </p:blipFill>
        <p:spPr>
          <a:xfrm>
            <a:off x="1353821" y="694408"/>
            <a:ext cx="9476965" cy="5939693"/>
          </a:xfrm>
          <a:prstGeom prst="rect">
            <a:avLst/>
          </a:prstGeom>
        </p:spPr>
      </p:pic>
    </p:spTree>
    <p:extLst>
      <p:ext uri="{BB962C8B-B14F-4D97-AF65-F5344CB8AC3E}">
        <p14:creationId xmlns:p14="http://schemas.microsoft.com/office/powerpoint/2010/main" val="1422390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F0E9C-FCA9-73D0-1DD5-00C1207C0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ABE804-5956-D600-D8E6-64A557C7B9C1}"/>
              </a:ext>
            </a:extLst>
          </p:cNvPr>
          <p:cNvSpPr>
            <a:spLocks noGrp="1"/>
          </p:cNvSpPr>
          <p:nvPr>
            <p:ph type="title"/>
          </p:nvPr>
        </p:nvSpPr>
        <p:spPr>
          <a:xfrm>
            <a:off x="0" y="0"/>
            <a:ext cx="12192000" cy="521877"/>
          </a:xfrm>
          <a:solidFill>
            <a:schemeClr val="accent6">
              <a:lumMod val="60000"/>
              <a:lumOff val="40000"/>
            </a:schemeClr>
          </a:solidFill>
        </p:spPr>
        <p:txBody>
          <a:bodyPr>
            <a:normAutofit fontScale="90000"/>
          </a:bodyPr>
          <a:lstStyle/>
          <a:p>
            <a:pPr algn="ctr"/>
            <a:r>
              <a:rPr lang="en-GB" dirty="0"/>
              <a:t>Instruction Fetch Unit (IFU) - Instruction Aligner</a:t>
            </a:r>
            <a:endParaRPr lang="en-US" dirty="0"/>
          </a:p>
        </p:txBody>
      </p:sp>
      <p:pic>
        <p:nvPicPr>
          <p:cNvPr id="5" name="Picture 4" descr="A blue rectangle with black text">
            <a:extLst>
              <a:ext uri="{FF2B5EF4-FFF2-40B4-BE49-F238E27FC236}">
                <a16:creationId xmlns:a16="http://schemas.microsoft.com/office/drawing/2014/main" id="{96DD1452-71B2-389A-FA53-A17DC4611662}"/>
              </a:ext>
            </a:extLst>
          </p:cNvPr>
          <p:cNvPicPr>
            <a:picLocks noChangeAspect="1"/>
          </p:cNvPicPr>
          <p:nvPr/>
        </p:nvPicPr>
        <p:blipFill>
          <a:blip r:embed="rId2"/>
          <a:stretch>
            <a:fillRect/>
          </a:stretch>
        </p:blipFill>
        <p:spPr>
          <a:xfrm>
            <a:off x="1744909" y="729802"/>
            <a:ext cx="8712916" cy="5956479"/>
          </a:xfrm>
          <a:prstGeom prst="rect">
            <a:avLst/>
          </a:prstGeom>
        </p:spPr>
      </p:pic>
    </p:spTree>
    <p:extLst>
      <p:ext uri="{BB962C8B-B14F-4D97-AF65-F5344CB8AC3E}">
        <p14:creationId xmlns:p14="http://schemas.microsoft.com/office/powerpoint/2010/main" val="3119016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7B2DA-B32E-5920-8BAA-F7139FDE6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9A78A-AA09-B061-8B64-E5B03F66EFDB}"/>
              </a:ext>
            </a:extLst>
          </p:cNvPr>
          <p:cNvSpPr>
            <a:spLocks noGrp="1"/>
          </p:cNvSpPr>
          <p:nvPr>
            <p:ph type="title"/>
          </p:nvPr>
        </p:nvSpPr>
        <p:spPr>
          <a:xfrm>
            <a:off x="0" y="0"/>
            <a:ext cx="12192000" cy="521877"/>
          </a:xfrm>
          <a:solidFill>
            <a:schemeClr val="accent6">
              <a:lumMod val="60000"/>
              <a:lumOff val="40000"/>
            </a:schemeClr>
          </a:solidFill>
        </p:spPr>
        <p:txBody>
          <a:bodyPr>
            <a:noAutofit/>
          </a:bodyPr>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SoC Interface Address Decode &amp; Arbitration</a:t>
            </a:r>
            <a:endParaRPr lang="en-US" sz="3600" dirty="0"/>
          </a:p>
        </p:txBody>
      </p:sp>
      <p:sp>
        <p:nvSpPr>
          <p:cNvPr id="5" name="TextBox 4">
            <a:extLst>
              <a:ext uri="{FF2B5EF4-FFF2-40B4-BE49-F238E27FC236}">
                <a16:creationId xmlns:a16="http://schemas.microsoft.com/office/drawing/2014/main" id="{998FD791-5D8D-F3D7-7B63-4BAADEBDE3D0}"/>
              </a:ext>
            </a:extLst>
          </p:cNvPr>
          <p:cNvSpPr txBox="1"/>
          <p:nvPr/>
        </p:nvSpPr>
        <p:spPr>
          <a:xfrm>
            <a:off x="214184" y="1192072"/>
            <a:ext cx="11162270" cy="3785652"/>
          </a:xfrm>
          <a:prstGeom prst="rect">
            <a:avLst/>
          </a:prstGeom>
          <a:noFill/>
        </p:spPr>
        <p:txBody>
          <a:bodyPr wrap="square">
            <a:spAutoFit/>
          </a:bodyPr>
          <a:lstStyle/>
          <a:p>
            <a:pPr marL="742950" lvl="1" indent="-28575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The SoC Interface Address Decode &amp; Arbitration is the central arbitration and address decoding block used in the SoC Interface subsystem. </a:t>
            </a:r>
          </a:p>
          <a:p>
            <a:pPr marL="742950" lvl="1" indent="-28575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The module receives requests from two masters, namely the UC (Microcontroller) and the external SoC, and routes these requests to different internal peripherals such as the Mailbox, SHA Engine, DMA Register block, and SOC IFC Register block.</a:t>
            </a:r>
          </a:p>
          <a:p>
            <a:pPr marL="742950" lvl="1" indent="-28575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 The arbiter performs address decoding by checking the incoming request address against predefined address ranges. Based on the decoded address, the request is directed to the corresponding destination block. </a:t>
            </a:r>
          </a:p>
          <a:p>
            <a:pPr marL="742950" lvl="1" indent="-28575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The module also validates access permissions for protected resources such as the Mailbox, SHA engine, and Fuse registers using user validation signals.</a:t>
            </a:r>
          </a:p>
        </p:txBody>
      </p:sp>
    </p:spTree>
    <p:extLst>
      <p:ext uri="{BB962C8B-B14F-4D97-AF65-F5344CB8AC3E}">
        <p14:creationId xmlns:p14="http://schemas.microsoft.com/office/powerpoint/2010/main" val="3414167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23D9F-96BB-0A67-4441-D54FE01F6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279AEB-7584-F533-6456-D894F4C71037}"/>
              </a:ext>
            </a:extLst>
          </p:cNvPr>
          <p:cNvSpPr>
            <a:spLocks noGrp="1"/>
          </p:cNvSpPr>
          <p:nvPr>
            <p:ph type="title"/>
          </p:nvPr>
        </p:nvSpPr>
        <p:spPr>
          <a:xfrm>
            <a:off x="0" y="0"/>
            <a:ext cx="12192000" cy="521877"/>
          </a:xfrm>
          <a:solidFill>
            <a:schemeClr val="accent6">
              <a:lumMod val="60000"/>
              <a:lumOff val="40000"/>
            </a:schemeClr>
          </a:solidFill>
        </p:spPr>
        <p:txBody>
          <a:bodyPr>
            <a:noAutofit/>
          </a:bodyPr>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SoC Interface Address Decode &amp; Arbitration</a:t>
            </a:r>
            <a:endParaRPr lang="en-US" sz="3600" dirty="0"/>
          </a:p>
        </p:txBody>
      </p:sp>
      <p:sp>
        <p:nvSpPr>
          <p:cNvPr id="5" name="TextBox 4">
            <a:extLst>
              <a:ext uri="{FF2B5EF4-FFF2-40B4-BE49-F238E27FC236}">
                <a16:creationId xmlns:a16="http://schemas.microsoft.com/office/drawing/2014/main" id="{CFD0867A-59C1-5ADA-03B6-4D59B6DC79F5}"/>
              </a:ext>
            </a:extLst>
          </p:cNvPr>
          <p:cNvSpPr txBox="1"/>
          <p:nvPr/>
        </p:nvSpPr>
        <p:spPr>
          <a:xfrm>
            <a:off x="214184" y="1192072"/>
            <a:ext cx="11162270" cy="3785652"/>
          </a:xfrm>
          <a:prstGeom prst="rect">
            <a:avLst/>
          </a:prstGeom>
          <a:noFill/>
        </p:spPr>
        <p:txBody>
          <a:bodyPr wrap="square">
            <a:spAutoFit/>
          </a:bodyPr>
          <a:lstStyle/>
          <a:p>
            <a:pPr marL="742950" lvl="1" indent="-28575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The SoC Interface Address Decode &amp; Arbitration is the central arbitration and address decoding block used in the SoC Interface subsystem. </a:t>
            </a:r>
          </a:p>
          <a:p>
            <a:pPr marL="742950" lvl="1" indent="-28575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The module receives requests from two masters, namely the UC (Microcontroller) and the external SoC, and routes these requests to different internal peripherals such as the Mailbox, SHA Engine, DMA Register block, and SOC IFC Register block.</a:t>
            </a:r>
          </a:p>
          <a:p>
            <a:pPr marL="742950" lvl="1" indent="-28575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 The arbiter performs address decoding by checking the incoming request address against predefined address ranges. Based on the decoded address, the request is directed to the corresponding destination block. </a:t>
            </a:r>
          </a:p>
          <a:p>
            <a:pPr marL="742950" lvl="1" indent="-28575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The module also validates access permissions for protected resources such as the Mailbox, SHA engine, and Fuse registers using user validation signals.</a:t>
            </a:r>
          </a:p>
        </p:txBody>
      </p:sp>
    </p:spTree>
    <p:extLst>
      <p:ext uri="{BB962C8B-B14F-4D97-AF65-F5344CB8AC3E}">
        <p14:creationId xmlns:p14="http://schemas.microsoft.com/office/powerpoint/2010/main" val="3703646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0BB9E5490EEBB438C23297E1D25285B" ma:contentTypeVersion="10" ma:contentTypeDescription="Create a new document." ma:contentTypeScope="" ma:versionID="f1ce0bbb77ae981bb3236c4ff3e5e8c2">
  <xsd:schema xmlns:xsd="http://www.w3.org/2001/XMLSchema" xmlns:xs="http://www.w3.org/2001/XMLSchema" xmlns:p="http://schemas.microsoft.com/office/2006/metadata/properties" xmlns:ns3="ec91e78c-53b9-49d2-80fe-2267c9de2ac1" targetNamespace="http://schemas.microsoft.com/office/2006/metadata/properties" ma:root="true" ma:fieldsID="2211f0910273cfef75d430a4eb610fe0" ns3:_="">
    <xsd:import namespace="ec91e78c-53b9-49d2-80fe-2267c9de2ac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91e78c-53b9-49d2-80fe-2267c9de2ac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c91e78c-53b9-49d2-80fe-2267c9de2ac1" xsi:nil="true"/>
  </documentManagement>
</p:properties>
</file>

<file path=customXml/itemProps1.xml><?xml version="1.0" encoding="utf-8"?>
<ds:datastoreItem xmlns:ds="http://schemas.openxmlformats.org/officeDocument/2006/customXml" ds:itemID="{527C2D84-14EC-4435-A8A4-2AE8081300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91e78c-53b9-49d2-80fe-2267c9de2a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966F8B1-50BC-4B03-AB19-419D6B37EF71}">
  <ds:schemaRefs>
    <ds:schemaRef ds:uri="http://schemas.microsoft.com/sharepoint/v3/contenttype/forms"/>
  </ds:schemaRefs>
</ds:datastoreItem>
</file>

<file path=customXml/itemProps3.xml><?xml version="1.0" encoding="utf-8"?>
<ds:datastoreItem xmlns:ds="http://schemas.openxmlformats.org/officeDocument/2006/customXml" ds:itemID="{FDA2BD8C-1E88-4B45-874D-7F38498E941E}">
  <ds:schemaRefs>
    <ds:schemaRef ds:uri="http://schemas.microsoft.com/office/2006/documentManagement/types"/>
    <ds:schemaRef ds:uri="http://schemas.openxmlformats.org/package/2006/metadata/core-properties"/>
    <ds:schemaRef ds:uri="http://purl.org/dc/dcmitype/"/>
    <ds:schemaRef ds:uri="ec91e78c-53b9-49d2-80fe-2267c9de2ac1"/>
    <ds:schemaRef ds:uri="http://purl.org/dc/terms/"/>
    <ds:schemaRef ds:uri="http://www.w3.org/XML/1998/namespace"/>
    <ds:schemaRef ds:uri="http://schemas.microsoft.com/office/infopath/2007/PartnerControl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office theme</Template>
  <TotalTime>5</TotalTime>
  <Words>1092</Words>
  <Application>Microsoft Office PowerPoint</Application>
  <PresentationFormat>Widescreen</PresentationFormat>
  <Paragraphs>193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Wingdings</vt:lpstr>
      <vt:lpstr>office theme</vt:lpstr>
      <vt:lpstr>ChipTrust Security IP - MicroArchitecture</vt:lpstr>
      <vt:lpstr>PowerPoint Presentation</vt:lpstr>
      <vt:lpstr>PowerPoint Presentation</vt:lpstr>
      <vt:lpstr>Firmware Stack</vt:lpstr>
      <vt:lpstr>Crypto subsystem, Peripherals and SoC Interface Blocks</vt:lpstr>
      <vt:lpstr>Phase 1-4: power on/boot fsm/fuse programming/firmware load</vt:lpstr>
      <vt:lpstr>Phase 5: Crypto Operations</vt:lpstr>
      <vt:lpstr>Phase 6: Mailbox Command</vt:lpstr>
      <vt:lpstr>Phase 7: Attestation Response</vt:lpstr>
      <vt:lpstr>PowerPoint Presentation</vt:lpstr>
      <vt:lpstr>AHB-SROM Interface</vt:lpstr>
      <vt:lpstr>AHB-SROM Interface</vt:lpstr>
      <vt:lpstr>Instruction Fetch Unit (IFU) - Fetch Control</vt:lpstr>
      <vt:lpstr>Instruction Fetch Unit (IFU) - Fetch Control</vt:lpstr>
      <vt:lpstr>Instruction Fetch Unit (IFU) - Branch Predictor</vt:lpstr>
      <vt:lpstr>Instruction Fetch Unit (IFU) - Branch Predictor</vt:lpstr>
      <vt:lpstr>Instruction Fetch Unit (IFU) - Instruction Aligner</vt:lpstr>
      <vt:lpstr>Instruction Fetch Unit (IFU) - Instruction Aligner</vt:lpstr>
      <vt:lpstr>SoC Interface Address Decode &amp; Arbitration</vt:lpstr>
      <vt:lpstr>SoC Interface Address Decode &amp; Arbitration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sravanthi vennapusa</dc:creator>
  <cp:lastModifiedBy>sravanthi Vennapusa</cp:lastModifiedBy>
  <cp:revision>159</cp:revision>
  <dcterms:created xsi:type="dcterms:W3CDTF">2026-06-02T09:50:28Z</dcterms:created>
  <dcterms:modified xsi:type="dcterms:W3CDTF">2026-06-03T05:36:29Z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0x010100F0BB9E5490EEBB438C23297E1D25285B</vt:lpwstr>
  </property>
</Properties>
</file>