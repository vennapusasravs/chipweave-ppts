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87" r:id="rId4"/>
    <p:sldId id="258" r:id="rId5"/>
    <p:sldId id="261" r:id="rId6"/>
    <p:sldId id="262" r:id="rId7"/>
    <p:sldId id="259" r:id="rId8"/>
    <p:sldId id="260" r:id="rId9"/>
    <p:sldId id="263" r:id="rId10"/>
    <p:sldId id="264" r:id="rId11"/>
    <p:sldId id="265" r:id="rId12"/>
    <p:sldId id="268" r:id="rId13"/>
    <p:sldId id="269" r:id="rId14"/>
    <p:sldId id="270" r:id="rId15"/>
    <p:sldId id="271" r:id="rId16"/>
    <p:sldId id="290" r:id="rId17"/>
    <p:sldId id="291" r:id="rId18"/>
    <p:sldId id="292" r:id="rId19"/>
    <p:sldId id="293" r:id="rId20"/>
    <p:sldId id="294" r:id="rId21"/>
    <p:sldId id="285" r:id="rId22"/>
    <p:sldId id="286" r:id="rId23"/>
    <p:sldId id="288" r:id="rId24"/>
    <p:sldId id="289" r:id="rId25"/>
    <p:sldId id="277" r:id="rId26"/>
    <p:sldId id="278" r:id="rId27"/>
    <p:sldId id="279" r:id="rId28"/>
    <p:sldId id="28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4C21FA-5F42-4E88-B940-8DC7A5842B4A}" v="56" dt="2026-01-12T04:38:45.53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9649" autoAdjust="0"/>
    <p:restoredTop sz="94660"/>
  </p:normalViewPr>
  <p:slideViewPr>
    <p:cSldViewPr snapToGrid="0">
      <p:cViewPr varScale="1">
        <p:scale>
          <a:sx n="81" d="100"/>
          <a:sy n="81" d="100"/>
        </p:scale>
        <p:origin x="8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1/22/2026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9C9CA7B-DFD4-44B5-8C60-D14B8CD1FB59}"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BDB8791-F1B0-41E7-B7FD-A781E65C4266}" type="datetimeFigureOut">
              <a:rPr lang="en-US" dirty="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FDD63B2-E120-4ED8-B27B-C685F510A5FE}" type="datetimeFigureOut">
              <a:rPr lang="en-US" dirty="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p>
        </p:txBody>
      </p:sp>
      <p:sp>
        <p:nvSpPr>
          <p:cNvPr id="3" name="Date Placeholder 2"/>
          <p:cNvSpPr>
            <a:spLocks noGrp="1"/>
          </p:cNvSpPr>
          <p:nvPr>
            <p:ph type="dt" sz="half" idx="10"/>
          </p:nvPr>
        </p:nvSpPr>
        <p:spPr/>
        <p:txBody>
          <a:bodyPr/>
          <a:lstStyle/>
          <a:p>
            <a:fld id="{7AA18ACC-A947-437B-A130-35BD54FDF1E9}" type="datetimeFigureOut">
              <a:rPr lang="en-US" dirty="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1/22/2026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1/22/2026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1/22/2026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1/22/2026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1/22/2026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1/22/2026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1/22/2026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03C56-5225-1B26-6759-5C98DC4FA37D}"/>
              </a:ext>
            </a:extLst>
          </p:cNvPr>
          <p:cNvSpPr>
            <a:spLocks noGrp="1"/>
          </p:cNvSpPr>
          <p:nvPr>
            <p:ph type="ctrTitle"/>
          </p:nvPr>
        </p:nvSpPr>
        <p:spPr/>
        <p:txBody>
          <a:bodyPr/>
          <a:lstStyle/>
          <a:p>
            <a:r>
              <a:rPr lang="en-IN"/>
              <a:t>AXI4 PROTOCOL</a:t>
            </a:r>
          </a:p>
        </p:txBody>
      </p:sp>
      <p:sp>
        <p:nvSpPr>
          <p:cNvPr id="3" name="Subtitle 2">
            <a:extLst>
              <a:ext uri="{FF2B5EF4-FFF2-40B4-BE49-F238E27FC236}">
                <a16:creationId xmlns:a16="http://schemas.microsoft.com/office/drawing/2014/main" id="{DC253209-386C-45A2-0C0D-D24C74B7F716}"/>
              </a:ext>
            </a:extLst>
          </p:cNvPr>
          <p:cNvSpPr>
            <a:spLocks noGrp="1"/>
          </p:cNvSpPr>
          <p:nvPr>
            <p:ph type="subTitle" idx="1"/>
          </p:nvPr>
        </p:nvSpPr>
        <p:spPr/>
        <p:txBody>
          <a:bodyPr/>
          <a:lstStyle/>
          <a:p>
            <a:r>
              <a:rPr lang="en-IN" err="1"/>
              <a:t>SRavanthi</a:t>
            </a:r>
            <a:endParaRPr lang="en-IN"/>
          </a:p>
          <a:p>
            <a:r>
              <a:rPr lang="en-IN" err="1"/>
              <a:t>Chipweave</a:t>
            </a:r>
            <a:r>
              <a:rPr lang="en-IN"/>
              <a:t> technologies </a:t>
            </a:r>
            <a:r>
              <a:rPr lang="en-IN" err="1"/>
              <a:t>pvt</a:t>
            </a:r>
            <a:r>
              <a:rPr lang="en-IN"/>
              <a:t> </a:t>
            </a:r>
            <a:r>
              <a:rPr lang="en-IN" err="1"/>
              <a:t>lmd</a:t>
            </a:r>
            <a:endParaRPr lang="en-IN"/>
          </a:p>
        </p:txBody>
      </p:sp>
    </p:spTree>
    <p:extLst>
      <p:ext uri="{BB962C8B-B14F-4D97-AF65-F5344CB8AC3E}">
        <p14:creationId xmlns:p14="http://schemas.microsoft.com/office/powerpoint/2010/main" val="2655955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DA37-D9E5-2BB7-BCD2-BC7B10EEF3A8}"/>
              </a:ext>
            </a:extLst>
          </p:cNvPr>
          <p:cNvSpPr>
            <a:spLocks noGrp="1"/>
          </p:cNvSpPr>
          <p:nvPr>
            <p:ph type="title"/>
          </p:nvPr>
        </p:nvSpPr>
        <p:spPr/>
        <p:txBody>
          <a:bodyPr/>
          <a:lstStyle/>
          <a:p>
            <a:r>
              <a:rPr lang="en-IN"/>
              <a:t>                  Introduction</a:t>
            </a:r>
          </a:p>
        </p:txBody>
      </p:sp>
      <p:sp>
        <p:nvSpPr>
          <p:cNvPr id="3" name="Content Placeholder 2">
            <a:extLst>
              <a:ext uri="{FF2B5EF4-FFF2-40B4-BE49-F238E27FC236}">
                <a16:creationId xmlns:a16="http://schemas.microsoft.com/office/drawing/2014/main" id="{51C8BB03-C0F1-5154-3B1F-3F697456A4AF}"/>
              </a:ext>
            </a:extLst>
          </p:cNvPr>
          <p:cNvSpPr>
            <a:spLocks noGrp="1"/>
          </p:cNvSpPr>
          <p:nvPr>
            <p:ph idx="1"/>
          </p:nvPr>
        </p:nvSpPr>
        <p:spPr/>
        <p:txBody>
          <a:bodyPr/>
          <a:lstStyle/>
          <a:p>
            <a:r>
              <a:rPr lang="en-GB"/>
              <a:t>AXI (Advanced </a:t>
            </a:r>
            <a:r>
              <a:rPr lang="en-GB" err="1"/>
              <a:t>eXtensible</a:t>
            </a:r>
            <a:r>
              <a:rPr lang="en-GB"/>
              <a:t> Interface) Protocol is a high-performance, on-chip communication protocol used in soc  designs.</a:t>
            </a:r>
          </a:p>
          <a:p>
            <a:r>
              <a:rPr lang="en-IN"/>
              <a:t>It is designed to support high speed data transfer and allows multiple masters and slaves</a:t>
            </a:r>
          </a:p>
          <a:p>
            <a:endParaRPr lang="en-IN"/>
          </a:p>
        </p:txBody>
      </p:sp>
    </p:spTree>
    <p:extLst>
      <p:ext uri="{BB962C8B-B14F-4D97-AF65-F5344CB8AC3E}">
        <p14:creationId xmlns:p14="http://schemas.microsoft.com/office/powerpoint/2010/main" val="2295404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AA3D1-C5F0-5E46-52CF-37E66FA987A2}"/>
              </a:ext>
            </a:extLst>
          </p:cNvPr>
          <p:cNvSpPr>
            <a:spLocks noGrp="1"/>
          </p:cNvSpPr>
          <p:nvPr>
            <p:ph type="title"/>
          </p:nvPr>
        </p:nvSpPr>
        <p:spPr/>
        <p:txBody>
          <a:bodyPr/>
          <a:lstStyle/>
          <a:p>
            <a:r>
              <a:rPr lang="en-IN"/>
              <a:t>                AXI3 VS AXI4</a:t>
            </a:r>
          </a:p>
        </p:txBody>
      </p:sp>
      <p:sp>
        <p:nvSpPr>
          <p:cNvPr id="3" name="Content Placeholder 2">
            <a:extLst>
              <a:ext uri="{FF2B5EF4-FFF2-40B4-BE49-F238E27FC236}">
                <a16:creationId xmlns:a16="http://schemas.microsoft.com/office/drawing/2014/main" id="{23A8EEE3-9535-D7CD-CAB3-87E14A92F748}"/>
              </a:ext>
            </a:extLst>
          </p:cNvPr>
          <p:cNvSpPr>
            <a:spLocks noGrp="1"/>
          </p:cNvSpPr>
          <p:nvPr>
            <p:ph idx="1"/>
          </p:nvPr>
        </p:nvSpPr>
        <p:spPr/>
        <p:txBody>
          <a:bodyPr/>
          <a:lstStyle/>
          <a:p>
            <a:r>
              <a:rPr lang="en-GB"/>
              <a:t>For the write address channel, the AWLEN signal is wider for the AXI4 protocol. Therefore, AXI4 is able to generate longer bursts than AXI3. </a:t>
            </a:r>
          </a:p>
          <a:p>
            <a:r>
              <a:rPr lang="en-GB"/>
              <a:t>AXI4 reduces the AWLOCK signal to a single bit to only accommodate exclusive transfers because locked transfers are not supported.</a:t>
            </a:r>
          </a:p>
          <a:p>
            <a:r>
              <a:rPr lang="en-GB"/>
              <a:t> AXI4 adds the AWQOS signal to the AW channel. This signal supports the concept of quality of service (QoS) in the AXI4 protocol. </a:t>
            </a:r>
          </a:p>
          <a:p>
            <a:endParaRPr lang="en-IN"/>
          </a:p>
        </p:txBody>
      </p:sp>
    </p:spTree>
    <p:extLst>
      <p:ext uri="{BB962C8B-B14F-4D97-AF65-F5344CB8AC3E}">
        <p14:creationId xmlns:p14="http://schemas.microsoft.com/office/powerpoint/2010/main" val="2886004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0B12D-CE90-4E6C-388C-0950E51788FD}"/>
              </a:ext>
            </a:extLst>
          </p:cNvPr>
          <p:cNvSpPr>
            <a:spLocks noGrp="1"/>
          </p:cNvSpPr>
          <p:nvPr>
            <p:ph type="title"/>
          </p:nvPr>
        </p:nvSpPr>
        <p:spPr/>
        <p:txBody>
          <a:bodyPr/>
          <a:lstStyle/>
          <a:p>
            <a:r>
              <a:rPr lang="en-IN"/>
              <a:t>         AXI in a multi-master system</a:t>
            </a:r>
          </a:p>
        </p:txBody>
      </p:sp>
      <p:pic>
        <p:nvPicPr>
          <p:cNvPr id="5" name="Content Placeholder 4" descr="A diagram of a computer&#10;&#10;Description automatically generated with medium confidence">
            <a:extLst>
              <a:ext uri="{FF2B5EF4-FFF2-40B4-BE49-F238E27FC236}">
                <a16:creationId xmlns:a16="http://schemas.microsoft.com/office/drawing/2014/main" id="{068ED392-FE2B-9AE8-4A84-46BBC35F660B}"/>
              </a:ext>
            </a:extLst>
          </p:cNvPr>
          <p:cNvPicPr>
            <a:picLocks noGrp="1" noChangeAspect="1"/>
          </p:cNvPicPr>
          <p:nvPr>
            <p:ph idx="1"/>
          </p:nvPr>
        </p:nvPicPr>
        <p:blipFill>
          <a:blip r:embed="rId2"/>
          <a:stretch>
            <a:fillRect/>
          </a:stretch>
        </p:blipFill>
        <p:spPr>
          <a:xfrm>
            <a:off x="1636361" y="2603500"/>
            <a:ext cx="7863591" cy="3416300"/>
          </a:xfrm>
        </p:spPr>
      </p:pic>
    </p:spTree>
    <p:extLst>
      <p:ext uri="{BB962C8B-B14F-4D97-AF65-F5344CB8AC3E}">
        <p14:creationId xmlns:p14="http://schemas.microsoft.com/office/powerpoint/2010/main" val="2112307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C658D-688C-A449-6E47-065F12F34C45}"/>
              </a:ext>
            </a:extLst>
          </p:cNvPr>
          <p:cNvSpPr>
            <a:spLocks noGrp="1"/>
          </p:cNvSpPr>
          <p:nvPr>
            <p:ph type="title"/>
          </p:nvPr>
        </p:nvSpPr>
        <p:spPr/>
        <p:txBody>
          <a:bodyPr/>
          <a:lstStyle/>
          <a:p>
            <a:r>
              <a:rPr lang="en-IN"/>
              <a:t>       AXI Features</a:t>
            </a:r>
          </a:p>
        </p:txBody>
      </p:sp>
      <p:sp>
        <p:nvSpPr>
          <p:cNvPr id="3" name="Content Placeholder 2">
            <a:extLst>
              <a:ext uri="{FF2B5EF4-FFF2-40B4-BE49-F238E27FC236}">
                <a16:creationId xmlns:a16="http://schemas.microsoft.com/office/drawing/2014/main" id="{7EE865E5-1749-9347-AF59-ADE6586C6D5A}"/>
              </a:ext>
            </a:extLst>
          </p:cNvPr>
          <p:cNvSpPr>
            <a:spLocks noGrp="1"/>
          </p:cNvSpPr>
          <p:nvPr>
            <p:ph idx="1"/>
          </p:nvPr>
        </p:nvSpPr>
        <p:spPr>
          <a:xfrm>
            <a:off x="1090708" y="2413810"/>
            <a:ext cx="8825659" cy="3416300"/>
          </a:xfrm>
        </p:spPr>
        <p:txBody>
          <a:bodyPr/>
          <a:lstStyle/>
          <a:p>
            <a:r>
              <a:rPr lang="en-GB" b="1"/>
              <a:t>Independent read and write channels </a:t>
            </a:r>
            <a:r>
              <a:rPr lang="en-GB"/>
              <a:t>:</a:t>
            </a:r>
          </a:p>
          <a:p>
            <a:pPr marL="0" indent="0">
              <a:buNone/>
            </a:pPr>
            <a:r>
              <a:rPr lang="en-GB" sz="1600"/>
              <a:t>AXI supports two different sets of channels, one for write operations, and one for read operations. Having two independent sets of channel helps to improve the bandwidth performances of the interfaces. This is because read and write operations can happen at the same time. </a:t>
            </a:r>
          </a:p>
          <a:p>
            <a:r>
              <a:rPr lang="en-GB" b="1"/>
              <a:t>Multiple outstanding addresses :</a:t>
            </a:r>
          </a:p>
          <a:p>
            <a:pPr marL="0" indent="0">
              <a:buNone/>
            </a:pPr>
            <a:r>
              <a:rPr lang="en-GB" sz="1600"/>
              <a:t>AXI allows for multiple outstanding addresses. This means that a master can issue transactions without waiting for earlier transactions to complete. </a:t>
            </a:r>
            <a:endParaRPr lang="en-IN" sz="1600"/>
          </a:p>
        </p:txBody>
      </p:sp>
    </p:spTree>
    <p:extLst>
      <p:ext uri="{BB962C8B-B14F-4D97-AF65-F5344CB8AC3E}">
        <p14:creationId xmlns:p14="http://schemas.microsoft.com/office/powerpoint/2010/main" val="2739814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CA331-B6C2-DC64-2029-816950B4632B}"/>
              </a:ext>
            </a:extLst>
          </p:cNvPr>
          <p:cNvSpPr>
            <a:spLocks noGrp="1"/>
          </p:cNvSpPr>
          <p:nvPr>
            <p:ph type="title"/>
          </p:nvPr>
        </p:nvSpPr>
        <p:spPr/>
        <p:txBody>
          <a:bodyPr/>
          <a:lstStyle/>
          <a:p>
            <a:r>
              <a:rPr lang="en-IN"/>
              <a:t>       AXI Features  </a:t>
            </a:r>
          </a:p>
        </p:txBody>
      </p:sp>
      <p:sp>
        <p:nvSpPr>
          <p:cNvPr id="3" name="Content Placeholder 2">
            <a:extLst>
              <a:ext uri="{FF2B5EF4-FFF2-40B4-BE49-F238E27FC236}">
                <a16:creationId xmlns:a16="http://schemas.microsoft.com/office/drawing/2014/main" id="{C2A2FA6C-53D8-A1A9-59F8-2877C07FAF2A}"/>
              </a:ext>
            </a:extLst>
          </p:cNvPr>
          <p:cNvSpPr>
            <a:spLocks noGrp="1"/>
          </p:cNvSpPr>
          <p:nvPr>
            <p:ph idx="1"/>
          </p:nvPr>
        </p:nvSpPr>
        <p:spPr/>
        <p:txBody>
          <a:bodyPr/>
          <a:lstStyle/>
          <a:p>
            <a:r>
              <a:rPr lang="en-GB" b="1"/>
              <a:t>Burst transactions based on start address :</a:t>
            </a:r>
          </a:p>
          <a:p>
            <a:pPr marL="0" indent="0">
              <a:buNone/>
            </a:pPr>
            <a:r>
              <a:rPr lang="en-GB"/>
              <a:t>  </a:t>
            </a:r>
            <a:r>
              <a:rPr lang="en-GB" sz="1600"/>
              <a:t>AXI masters only issue the starting address for the first transfer. For any following transfers, the slave will calculate the next transfer address based on the burst type.</a:t>
            </a:r>
          </a:p>
          <a:p>
            <a:r>
              <a:rPr lang="en-GB" b="1"/>
              <a:t>No strict timing relationship between address and data operations </a:t>
            </a:r>
            <a:r>
              <a:rPr lang="en-GB"/>
              <a:t>:</a:t>
            </a:r>
          </a:p>
          <a:p>
            <a:pPr marL="0" indent="0">
              <a:buNone/>
            </a:pPr>
            <a:r>
              <a:rPr lang="en-GB" sz="1600"/>
              <a:t>With AXI, there is no strict timing relationship between the address and data operations. This means that, for example, a master could issue a write address on the Write Address channel, but there is no time requirement for when the master has to provide the corresponding data to write on the Write Data channel. </a:t>
            </a:r>
          </a:p>
        </p:txBody>
      </p:sp>
    </p:spTree>
    <p:extLst>
      <p:ext uri="{BB962C8B-B14F-4D97-AF65-F5344CB8AC3E}">
        <p14:creationId xmlns:p14="http://schemas.microsoft.com/office/powerpoint/2010/main" val="1174961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F83468-2FEC-B2A3-4FDC-6B078D14A01B}"/>
              </a:ext>
            </a:extLst>
          </p:cNvPr>
          <p:cNvSpPr>
            <a:spLocks noGrp="1"/>
          </p:cNvSpPr>
          <p:nvPr>
            <p:ph type="title"/>
          </p:nvPr>
        </p:nvSpPr>
        <p:spPr/>
        <p:txBody>
          <a:bodyPr/>
          <a:lstStyle/>
          <a:p>
            <a:r>
              <a:rPr lang="en-IN"/>
              <a:t>                 AXI channels</a:t>
            </a:r>
          </a:p>
        </p:txBody>
      </p:sp>
      <p:pic>
        <p:nvPicPr>
          <p:cNvPr id="5" name="Content Placeholder 4" descr="A diagram of a software flow&#10;&#10;Description automatically generated with medium confidence">
            <a:extLst>
              <a:ext uri="{FF2B5EF4-FFF2-40B4-BE49-F238E27FC236}">
                <a16:creationId xmlns:a16="http://schemas.microsoft.com/office/drawing/2014/main" id="{CCDA4A23-0D27-9584-5D21-9EB8A61A87BB}"/>
              </a:ext>
            </a:extLst>
          </p:cNvPr>
          <p:cNvPicPr>
            <a:picLocks noGrp="1" noChangeAspect="1"/>
          </p:cNvPicPr>
          <p:nvPr>
            <p:ph idx="1"/>
          </p:nvPr>
        </p:nvPicPr>
        <p:blipFill>
          <a:blip r:embed="rId2"/>
          <a:stretch>
            <a:fillRect/>
          </a:stretch>
        </p:blipFill>
        <p:spPr>
          <a:xfrm>
            <a:off x="1384082" y="2603500"/>
            <a:ext cx="8368149" cy="3416300"/>
          </a:xfrm>
        </p:spPr>
      </p:pic>
    </p:spTree>
    <p:extLst>
      <p:ext uri="{BB962C8B-B14F-4D97-AF65-F5344CB8AC3E}">
        <p14:creationId xmlns:p14="http://schemas.microsoft.com/office/powerpoint/2010/main" val="27299188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CB288-1631-7689-3BEB-63379E9C0558}"/>
              </a:ext>
            </a:extLst>
          </p:cNvPr>
          <p:cNvSpPr>
            <a:spLocks noGrp="1"/>
          </p:cNvSpPr>
          <p:nvPr>
            <p:ph type="title"/>
          </p:nvPr>
        </p:nvSpPr>
        <p:spPr/>
        <p:txBody>
          <a:bodyPr/>
          <a:lstStyle/>
          <a:p>
            <a:r>
              <a:rPr lang="en-IN"/>
              <a:t>Channel Transfers and Transactions</a:t>
            </a:r>
          </a:p>
        </p:txBody>
      </p:sp>
      <p:sp>
        <p:nvSpPr>
          <p:cNvPr id="3" name="Content Placeholder 2">
            <a:extLst>
              <a:ext uri="{FF2B5EF4-FFF2-40B4-BE49-F238E27FC236}">
                <a16:creationId xmlns:a16="http://schemas.microsoft.com/office/drawing/2014/main" id="{0E29DBCA-145A-D76B-88B6-4F75D5D18688}"/>
              </a:ext>
            </a:extLst>
          </p:cNvPr>
          <p:cNvSpPr>
            <a:spLocks noGrp="1"/>
          </p:cNvSpPr>
          <p:nvPr>
            <p:ph idx="1"/>
          </p:nvPr>
        </p:nvSpPr>
        <p:spPr/>
        <p:txBody>
          <a:bodyPr/>
          <a:lstStyle/>
          <a:p>
            <a:r>
              <a:rPr lang="en-GB"/>
              <a:t>A transfer is a single exchange of information, with one VALID and READY handshake. </a:t>
            </a:r>
          </a:p>
          <a:p>
            <a:pPr marL="0" indent="0">
              <a:buNone/>
            </a:pPr>
            <a:r>
              <a:rPr lang="en-GB"/>
              <a:t>    </a:t>
            </a:r>
            <a:endParaRPr lang="en-IN"/>
          </a:p>
        </p:txBody>
      </p:sp>
      <p:pic>
        <p:nvPicPr>
          <p:cNvPr id="5" name="Picture 4" descr="A diagram of a blue rectangle with black arrows&#10;&#10;Description automatically generated">
            <a:extLst>
              <a:ext uri="{FF2B5EF4-FFF2-40B4-BE49-F238E27FC236}">
                <a16:creationId xmlns:a16="http://schemas.microsoft.com/office/drawing/2014/main" id="{CEA41B0C-66A3-3F49-7AE3-43D3F587550D}"/>
              </a:ext>
            </a:extLst>
          </p:cNvPr>
          <p:cNvPicPr>
            <a:picLocks noChangeAspect="1"/>
          </p:cNvPicPr>
          <p:nvPr/>
        </p:nvPicPr>
        <p:blipFill>
          <a:blip r:embed="rId2"/>
          <a:stretch>
            <a:fillRect/>
          </a:stretch>
        </p:blipFill>
        <p:spPr>
          <a:xfrm>
            <a:off x="1988457" y="3708400"/>
            <a:ext cx="6974114" cy="2605314"/>
          </a:xfrm>
          <a:prstGeom prst="rect">
            <a:avLst/>
          </a:prstGeom>
        </p:spPr>
      </p:pic>
    </p:spTree>
    <p:extLst>
      <p:ext uri="{BB962C8B-B14F-4D97-AF65-F5344CB8AC3E}">
        <p14:creationId xmlns:p14="http://schemas.microsoft.com/office/powerpoint/2010/main" val="22674723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4FE53-68A1-3114-BA58-2A467246F0CF}"/>
              </a:ext>
            </a:extLst>
          </p:cNvPr>
          <p:cNvSpPr>
            <a:spLocks noGrp="1"/>
          </p:cNvSpPr>
          <p:nvPr>
            <p:ph type="title"/>
          </p:nvPr>
        </p:nvSpPr>
        <p:spPr/>
        <p:txBody>
          <a:bodyPr/>
          <a:lstStyle/>
          <a:p>
            <a:r>
              <a:rPr lang="en-IN"/>
              <a:t>                Transactions</a:t>
            </a:r>
          </a:p>
        </p:txBody>
      </p:sp>
      <p:sp>
        <p:nvSpPr>
          <p:cNvPr id="3" name="Content Placeholder 2">
            <a:extLst>
              <a:ext uri="{FF2B5EF4-FFF2-40B4-BE49-F238E27FC236}">
                <a16:creationId xmlns:a16="http://schemas.microsoft.com/office/drawing/2014/main" id="{6F15515C-DEBE-7601-52FB-36936CE576BD}"/>
              </a:ext>
            </a:extLst>
          </p:cNvPr>
          <p:cNvSpPr>
            <a:spLocks noGrp="1"/>
          </p:cNvSpPr>
          <p:nvPr>
            <p:ph idx="1"/>
          </p:nvPr>
        </p:nvSpPr>
        <p:spPr/>
        <p:txBody>
          <a:bodyPr/>
          <a:lstStyle/>
          <a:p>
            <a:r>
              <a:rPr lang="en-GB"/>
              <a:t>A transaction is an entire burst of transfers, containing an address transfer, one or more data transfers, and, for write sequences, a response transfer</a:t>
            </a:r>
          </a:p>
          <a:p>
            <a:endParaRPr lang="en-GB"/>
          </a:p>
          <a:p>
            <a:pPr marL="0" indent="0">
              <a:buNone/>
            </a:pPr>
            <a:endParaRPr lang="en-IN"/>
          </a:p>
        </p:txBody>
      </p:sp>
      <p:pic>
        <p:nvPicPr>
          <p:cNvPr id="5" name="Picture 4" descr="A diagram of a data processing process&#10;&#10;Description automatically generated">
            <a:extLst>
              <a:ext uri="{FF2B5EF4-FFF2-40B4-BE49-F238E27FC236}">
                <a16:creationId xmlns:a16="http://schemas.microsoft.com/office/drawing/2014/main" id="{C2248EB0-282D-070B-EE78-6276648D7053}"/>
              </a:ext>
            </a:extLst>
          </p:cNvPr>
          <p:cNvPicPr>
            <a:picLocks noChangeAspect="1"/>
          </p:cNvPicPr>
          <p:nvPr/>
        </p:nvPicPr>
        <p:blipFill>
          <a:blip r:embed="rId2"/>
          <a:stretch>
            <a:fillRect/>
          </a:stretch>
        </p:blipFill>
        <p:spPr>
          <a:xfrm>
            <a:off x="1959430" y="3429000"/>
            <a:ext cx="7670800" cy="3077029"/>
          </a:xfrm>
          <a:prstGeom prst="rect">
            <a:avLst/>
          </a:prstGeom>
        </p:spPr>
      </p:pic>
    </p:spTree>
    <p:extLst>
      <p:ext uri="{BB962C8B-B14F-4D97-AF65-F5344CB8AC3E}">
        <p14:creationId xmlns:p14="http://schemas.microsoft.com/office/powerpoint/2010/main" val="1597562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ED86E-2535-D849-FC68-6B68D4806EF9}"/>
              </a:ext>
            </a:extLst>
          </p:cNvPr>
          <p:cNvSpPr>
            <a:spLocks noGrp="1"/>
          </p:cNvSpPr>
          <p:nvPr>
            <p:ph type="title"/>
          </p:nvPr>
        </p:nvSpPr>
        <p:spPr/>
        <p:txBody>
          <a:bodyPr/>
          <a:lstStyle/>
          <a:p>
            <a:r>
              <a:rPr lang="en-IN"/>
              <a:t>        Channel Transfer examples</a:t>
            </a:r>
          </a:p>
        </p:txBody>
      </p:sp>
      <p:pic>
        <p:nvPicPr>
          <p:cNvPr id="5" name="Content Placeholder 4" descr="A diagram of a graph">
            <a:extLst>
              <a:ext uri="{FF2B5EF4-FFF2-40B4-BE49-F238E27FC236}">
                <a16:creationId xmlns:a16="http://schemas.microsoft.com/office/drawing/2014/main" id="{B1F31A25-7518-E711-8F89-0DCA6C5F3700}"/>
              </a:ext>
            </a:extLst>
          </p:cNvPr>
          <p:cNvPicPr>
            <a:picLocks noGrp="1" noChangeAspect="1"/>
          </p:cNvPicPr>
          <p:nvPr>
            <p:ph idx="1"/>
          </p:nvPr>
        </p:nvPicPr>
        <p:blipFill>
          <a:blip r:embed="rId2"/>
          <a:stretch>
            <a:fillRect/>
          </a:stretch>
        </p:blipFill>
        <p:spPr>
          <a:xfrm>
            <a:off x="2093953" y="2603500"/>
            <a:ext cx="6948406" cy="3416300"/>
          </a:xfrm>
        </p:spPr>
      </p:pic>
    </p:spTree>
    <p:extLst>
      <p:ext uri="{BB962C8B-B14F-4D97-AF65-F5344CB8AC3E}">
        <p14:creationId xmlns:p14="http://schemas.microsoft.com/office/powerpoint/2010/main" val="5305787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6F91DB-C6D1-2A03-5787-4F4027253851}"/>
              </a:ext>
            </a:extLst>
          </p:cNvPr>
          <p:cNvSpPr>
            <a:spLocks noGrp="1"/>
          </p:cNvSpPr>
          <p:nvPr>
            <p:ph type="title"/>
          </p:nvPr>
        </p:nvSpPr>
        <p:spPr/>
        <p:txBody>
          <a:bodyPr/>
          <a:lstStyle/>
          <a:p>
            <a:r>
              <a:rPr lang="en-IN"/>
              <a:t>             Write Transaction</a:t>
            </a:r>
          </a:p>
        </p:txBody>
      </p:sp>
      <p:sp>
        <p:nvSpPr>
          <p:cNvPr id="3" name="Content Placeholder 2">
            <a:extLst>
              <a:ext uri="{FF2B5EF4-FFF2-40B4-BE49-F238E27FC236}">
                <a16:creationId xmlns:a16="http://schemas.microsoft.com/office/drawing/2014/main" id="{08E6FD98-A405-7A1E-0F86-E5038094C6B4}"/>
              </a:ext>
            </a:extLst>
          </p:cNvPr>
          <p:cNvSpPr>
            <a:spLocks noGrp="1"/>
          </p:cNvSpPr>
          <p:nvPr>
            <p:ph idx="1"/>
          </p:nvPr>
        </p:nvSpPr>
        <p:spPr>
          <a:xfrm>
            <a:off x="1154954" y="2329543"/>
            <a:ext cx="8825659" cy="4455885"/>
          </a:xfrm>
        </p:spPr>
        <p:txBody>
          <a:bodyPr/>
          <a:lstStyle/>
          <a:p>
            <a:r>
              <a:rPr lang="en-IN"/>
              <a:t>Write transaction can be done in 2 ways 1.Single Data Item</a:t>
            </a:r>
          </a:p>
          <a:p>
            <a:pPr marL="0" indent="0">
              <a:buNone/>
            </a:pPr>
            <a:r>
              <a:rPr lang="en-IN"/>
              <a:t>                                                                             2.Multiple Data Items</a:t>
            </a:r>
          </a:p>
          <a:p>
            <a:pPr marL="0" indent="0">
              <a:buNone/>
            </a:pPr>
            <a:endParaRPr lang="en-IN"/>
          </a:p>
        </p:txBody>
      </p:sp>
      <p:pic>
        <p:nvPicPr>
          <p:cNvPr id="6" name="Content Placeholder 8" descr="A diagram with blue and yellow lines&#10;&#10;Description automatically generated">
            <a:extLst>
              <a:ext uri="{FF2B5EF4-FFF2-40B4-BE49-F238E27FC236}">
                <a16:creationId xmlns:a16="http://schemas.microsoft.com/office/drawing/2014/main" id="{E00B1752-2709-5168-3CD9-BEC087C0BE26}"/>
              </a:ext>
            </a:extLst>
          </p:cNvPr>
          <p:cNvPicPr>
            <a:picLocks noChangeAspect="1"/>
          </p:cNvPicPr>
          <p:nvPr/>
        </p:nvPicPr>
        <p:blipFill>
          <a:blip r:embed="rId2"/>
          <a:stretch>
            <a:fillRect/>
          </a:stretch>
        </p:blipFill>
        <p:spPr>
          <a:xfrm>
            <a:off x="973364" y="3137807"/>
            <a:ext cx="10130971" cy="3416300"/>
          </a:xfrm>
          <a:prstGeom prst="rect">
            <a:avLst/>
          </a:prstGeom>
        </p:spPr>
      </p:pic>
    </p:spTree>
    <p:extLst>
      <p:ext uri="{BB962C8B-B14F-4D97-AF65-F5344CB8AC3E}">
        <p14:creationId xmlns:p14="http://schemas.microsoft.com/office/powerpoint/2010/main" val="799503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62C94-BD99-793A-E2DE-3CF77A8E8494}"/>
              </a:ext>
            </a:extLst>
          </p:cNvPr>
          <p:cNvSpPr>
            <a:spLocks noGrp="1"/>
          </p:cNvSpPr>
          <p:nvPr>
            <p:ph type="title"/>
          </p:nvPr>
        </p:nvSpPr>
        <p:spPr/>
        <p:txBody>
          <a:bodyPr/>
          <a:lstStyle/>
          <a:p>
            <a:r>
              <a:rPr lang="en-IN" dirty="0"/>
              <a:t>       Multiple Write Data Transactions </a:t>
            </a:r>
          </a:p>
        </p:txBody>
      </p:sp>
      <p:pic>
        <p:nvPicPr>
          <p:cNvPr id="5" name="Content Placeholder 4">
            <a:extLst>
              <a:ext uri="{FF2B5EF4-FFF2-40B4-BE49-F238E27FC236}">
                <a16:creationId xmlns:a16="http://schemas.microsoft.com/office/drawing/2014/main" id="{EBA68F82-B322-506E-0AFB-70EF5AB0E034}"/>
              </a:ext>
            </a:extLst>
          </p:cNvPr>
          <p:cNvPicPr>
            <a:picLocks noGrp="1" noChangeAspect="1"/>
          </p:cNvPicPr>
          <p:nvPr>
            <p:ph idx="1"/>
          </p:nvPr>
        </p:nvPicPr>
        <p:blipFill>
          <a:blip r:embed="rId2"/>
          <a:stretch>
            <a:fillRect/>
          </a:stretch>
        </p:blipFill>
        <p:spPr>
          <a:xfrm>
            <a:off x="892629" y="2603500"/>
            <a:ext cx="10922000" cy="3695700"/>
          </a:xfrm>
        </p:spPr>
      </p:pic>
    </p:spTree>
    <p:extLst>
      <p:ext uri="{BB962C8B-B14F-4D97-AF65-F5344CB8AC3E}">
        <p14:creationId xmlns:p14="http://schemas.microsoft.com/office/powerpoint/2010/main" val="1127014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328C-BDF2-56EE-9A16-0EF8B07C4684}"/>
              </a:ext>
            </a:extLst>
          </p:cNvPr>
          <p:cNvSpPr>
            <a:spLocks noGrp="1"/>
          </p:cNvSpPr>
          <p:nvPr>
            <p:ph type="title"/>
          </p:nvPr>
        </p:nvSpPr>
        <p:spPr/>
        <p:txBody>
          <a:bodyPr/>
          <a:lstStyle/>
          <a:p>
            <a:r>
              <a:rPr lang="en-IN"/>
              <a:t>           Read Transaction    </a:t>
            </a:r>
          </a:p>
        </p:txBody>
      </p:sp>
      <p:sp>
        <p:nvSpPr>
          <p:cNvPr id="3" name="Content Placeholder 2">
            <a:extLst>
              <a:ext uri="{FF2B5EF4-FFF2-40B4-BE49-F238E27FC236}">
                <a16:creationId xmlns:a16="http://schemas.microsoft.com/office/drawing/2014/main" id="{A2A3E9BF-A81F-AB34-2B3D-17C9998DC0F3}"/>
              </a:ext>
            </a:extLst>
          </p:cNvPr>
          <p:cNvSpPr>
            <a:spLocks noGrp="1"/>
          </p:cNvSpPr>
          <p:nvPr>
            <p:ph idx="1"/>
          </p:nvPr>
        </p:nvSpPr>
        <p:spPr>
          <a:xfrm>
            <a:off x="1154954" y="2603500"/>
            <a:ext cx="8825659" cy="4254500"/>
          </a:xfrm>
        </p:spPr>
        <p:txBody>
          <a:bodyPr/>
          <a:lstStyle/>
          <a:p>
            <a:r>
              <a:rPr lang="en-IN"/>
              <a:t>Read transaction can be done in 2 ways. 1.Single Data Transfer</a:t>
            </a:r>
          </a:p>
          <a:p>
            <a:pPr marL="0" indent="0">
              <a:buNone/>
            </a:pPr>
            <a:r>
              <a:rPr lang="en-IN"/>
              <a:t>                                                                               2.Multiple Data Transfer</a:t>
            </a:r>
          </a:p>
        </p:txBody>
      </p:sp>
      <p:pic>
        <p:nvPicPr>
          <p:cNvPr id="7" name="Picture 6" descr="A diagram of a computer">
            <a:extLst>
              <a:ext uri="{FF2B5EF4-FFF2-40B4-BE49-F238E27FC236}">
                <a16:creationId xmlns:a16="http://schemas.microsoft.com/office/drawing/2014/main" id="{D2600FE3-BDC3-8802-C36B-2E3112512514}"/>
              </a:ext>
            </a:extLst>
          </p:cNvPr>
          <p:cNvPicPr>
            <a:picLocks noChangeAspect="1"/>
          </p:cNvPicPr>
          <p:nvPr/>
        </p:nvPicPr>
        <p:blipFill>
          <a:blip r:embed="rId2"/>
          <a:stretch>
            <a:fillRect/>
          </a:stretch>
        </p:blipFill>
        <p:spPr>
          <a:xfrm>
            <a:off x="635000" y="3797299"/>
            <a:ext cx="11195050" cy="2762251"/>
          </a:xfrm>
          <a:prstGeom prst="rect">
            <a:avLst/>
          </a:prstGeom>
        </p:spPr>
      </p:pic>
    </p:spTree>
    <p:extLst>
      <p:ext uri="{BB962C8B-B14F-4D97-AF65-F5344CB8AC3E}">
        <p14:creationId xmlns:p14="http://schemas.microsoft.com/office/powerpoint/2010/main" val="963182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AEF00-C246-CD7E-6B70-604D8D2EFCEB}"/>
              </a:ext>
            </a:extLst>
          </p:cNvPr>
          <p:cNvSpPr>
            <a:spLocks noGrp="1"/>
          </p:cNvSpPr>
          <p:nvPr>
            <p:ph type="title"/>
          </p:nvPr>
        </p:nvSpPr>
        <p:spPr/>
        <p:txBody>
          <a:bodyPr/>
          <a:lstStyle/>
          <a:p>
            <a:r>
              <a:rPr lang="en-IN" dirty="0"/>
              <a:t>        Multiple Read Data Transactions</a:t>
            </a:r>
          </a:p>
        </p:txBody>
      </p:sp>
      <p:pic>
        <p:nvPicPr>
          <p:cNvPr id="5" name="Content Placeholder 4" descr="A diagram of a diagram&#10;&#10;Description automatically generated with medium confidence">
            <a:extLst>
              <a:ext uri="{FF2B5EF4-FFF2-40B4-BE49-F238E27FC236}">
                <a16:creationId xmlns:a16="http://schemas.microsoft.com/office/drawing/2014/main" id="{1CB4A008-F4C2-EB77-C8C9-17BF30C1C945}"/>
              </a:ext>
            </a:extLst>
          </p:cNvPr>
          <p:cNvPicPr>
            <a:picLocks noGrp="1" noChangeAspect="1"/>
          </p:cNvPicPr>
          <p:nvPr>
            <p:ph idx="1"/>
          </p:nvPr>
        </p:nvPicPr>
        <p:blipFill>
          <a:blip r:embed="rId2"/>
          <a:stretch>
            <a:fillRect/>
          </a:stretch>
        </p:blipFill>
        <p:spPr>
          <a:xfrm>
            <a:off x="1333567" y="2603500"/>
            <a:ext cx="8469179" cy="3416300"/>
          </a:xfrm>
        </p:spPr>
      </p:pic>
    </p:spTree>
    <p:extLst>
      <p:ext uri="{BB962C8B-B14F-4D97-AF65-F5344CB8AC3E}">
        <p14:creationId xmlns:p14="http://schemas.microsoft.com/office/powerpoint/2010/main" val="3172124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0BEBE-02B8-3A31-D816-85B7AF0BAB39}"/>
              </a:ext>
            </a:extLst>
          </p:cNvPr>
          <p:cNvSpPr>
            <a:spLocks noGrp="1"/>
          </p:cNvSpPr>
          <p:nvPr>
            <p:ph type="title"/>
          </p:nvPr>
        </p:nvSpPr>
        <p:spPr/>
        <p:txBody>
          <a:bodyPr/>
          <a:lstStyle/>
          <a:p>
            <a:r>
              <a:rPr lang="en-IN" dirty="0"/>
              <a:t>              Channel Signals</a:t>
            </a:r>
          </a:p>
        </p:txBody>
      </p:sp>
      <p:sp>
        <p:nvSpPr>
          <p:cNvPr id="3" name="Content Placeholder 2">
            <a:extLst>
              <a:ext uri="{FF2B5EF4-FFF2-40B4-BE49-F238E27FC236}">
                <a16:creationId xmlns:a16="http://schemas.microsoft.com/office/drawing/2014/main" id="{CD45260D-7ABE-6327-1299-36CDBAC5C59C}"/>
              </a:ext>
            </a:extLst>
          </p:cNvPr>
          <p:cNvSpPr>
            <a:spLocks noGrp="1"/>
          </p:cNvSpPr>
          <p:nvPr>
            <p:ph idx="1"/>
          </p:nvPr>
        </p:nvSpPr>
        <p:spPr/>
        <p:txBody>
          <a:bodyPr/>
          <a:lstStyle/>
          <a:p>
            <a:pPr marL="0" indent="0">
              <a:buNone/>
            </a:pPr>
            <a:r>
              <a:rPr lang="en-GB" dirty="0"/>
              <a:t>The AXI protocol defines five channels: three for write signals, and two for read signals.</a:t>
            </a:r>
          </a:p>
          <a:p>
            <a:r>
              <a:rPr lang="en-GB" b="1" dirty="0"/>
              <a:t>Write Channel Signals</a:t>
            </a:r>
            <a:r>
              <a:rPr lang="en-GB" dirty="0"/>
              <a:t>:1)Write Address(AW)</a:t>
            </a:r>
          </a:p>
          <a:p>
            <a:pPr marL="0" indent="0">
              <a:buNone/>
            </a:pPr>
            <a:r>
              <a:rPr lang="en-GB" dirty="0"/>
              <a:t>                                            2)Write Data(W)</a:t>
            </a:r>
          </a:p>
          <a:p>
            <a:pPr marL="0" indent="0">
              <a:buNone/>
            </a:pPr>
            <a:r>
              <a:rPr lang="en-GB" dirty="0"/>
              <a:t>                                            3)Write Response(B)</a:t>
            </a:r>
          </a:p>
          <a:p>
            <a:r>
              <a:rPr lang="en-GB" b="1" dirty="0"/>
              <a:t>Read Channel Signals:</a:t>
            </a:r>
            <a:r>
              <a:rPr lang="en-GB" dirty="0"/>
              <a:t>1)Read Address(AR)</a:t>
            </a:r>
          </a:p>
          <a:p>
            <a:pPr marL="0" indent="0">
              <a:buNone/>
            </a:pPr>
            <a:r>
              <a:rPr lang="en-GB" dirty="0"/>
              <a:t>                                             2)Read Data(R)</a:t>
            </a:r>
          </a:p>
          <a:p>
            <a:pPr marL="0" indent="0">
              <a:buNone/>
            </a:pPr>
            <a:r>
              <a:rPr lang="en-GB" b="1" dirty="0"/>
              <a:t>                                             </a:t>
            </a:r>
          </a:p>
        </p:txBody>
      </p:sp>
    </p:spTree>
    <p:extLst>
      <p:ext uri="{BB962C8B-B14F-4D97-AF65-F5344CB8AC3E}">
        <p14:creationId xmlns:p14="http://schemas.microsoft.com/office/powerpoint/2010/main" val="37505987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F0F8A-D357-765D-639D-AFB792598AA7}"/>
              </a:ext>
            </a:extLst>
          </p:cNvPr>
          <p:cNvSpPr>
            <a:spLocks noGrp="1"/>
          </p:cNvSpPr>
          <p:nvPr>
            <p:ph type="title"/>
          </p:nvPr>
        </p:nvSpPr>
        <p:spPr>
          <a:xfrm>
            <a:off x="1154954" y="419100"/>
            <a:ext cx="8761413" cy="1261532"/>
          </a:xfrm>
        </p:spPr>
        <p:txBody>
          <a:bodyPr/>
          <a:lstStyle/>
          <a:p>
            <a:r>
              <a:rPr lang="en-IN"/>
              <a:t>     Write Address Signals</a:t>
            </a:r>
          </a:p>
        </p:txBody>
      </p:sp>
      <p:graphicFrame>
        <p:nvGraphicFramePr>
          <p:cNvPr id="4" name="Table 4">
            <a:extLst>
              <a:ext uri="{FF2B5EF4-FFF2-40B4-BE49-F238E27FC236}">
                <a16:creationId xmlns:a16="http://schemas.microsoft.com/office/drawing/2014/main" id="{0350B45D-377C-00DB-2516-19A6824B87E1}"/>
              </a:ext>
            </a:extLst>
          </p:cNvPr>
          <p:cNvGraphicFramePr>
            <a:graphicFrameLocks noGrp="1"/>
          </p:cNvGraphicFramePr>
          <p:nvPr>
            <p:ph idx="1"/>
            <p:extLst>
              <p:ext uri="{D42A27DB-BD31-4B8C-83A1-F6EECF244321}">
                <p14:modId xmlns:p14="http://schemas.microsoft.com/office/powerpoint/2010/main" val="584076356"/>
              </p:ext>
            </p:extLst>
          </p:nvPr>
        </p:nvGraphicFramePr>
        <p:xfrm>
          <a:off x="10964" y="2028345"/>
          <a:ext cx="12177279" cy="5354674"/>
        </p:xfrm>
        <a:graphic>
          <a:graphicData uri="http://schemas.openxmlformats.org/drawingml/2006/table">
            <a:tbl>
              <a:tblPr firstRow="1" bandRow="1">
                <a:tableStyleId>{5C22544A-7EE6-4342-B048-85BDC9FD1C3A}</a:tableStyleId>
              </a:tblPr>
              <a:tblGrid>
                <a:gridCol w="2345531">
                  <a:extLst>
                    <a:ext uri="{9D8B030D-6E8A-4147-A177-3AD203B41FA5}">
                      <a16:colId xmlns:a16="http://schemas.microsoft.com/office/drawing/2014/main" val="1795738887"/>
                    </a:ext>
                  </a:extLst>
                </a:gridCol>
                <a:gridCol w="4915874">
                  <a:extLst>
                    <a:ext uri="{9D8B030D-6E8A-4147-A177-3AD203B41FA5}">
                      <a16:colId xmlns:a16="http://schemas.microsoft.com/office/drawing/2014/main" val="1080843666"/>
                    </a:ext>
                  </a:extLst>
                </a:gridCol>
                <a:gridCol w="4915874">
                  <a:extLst>
                    <a:ext uri="{9D8B030D-6E8A-4147-A177-3AD203B41FA5}">
                      <a16:colId xmlns:a16="http://schemas.microsoft.com/office/drawing/2014/main" val="2981852267"/>
                    </a:ext>
                  </a:extLst>
                </a:gridCol>
              </a:tblGrid>
              <a:tr h="357174">
                <a:tc>
                  <a:txBody>
                    <a:bodyPr/>
                    <a:lstStyle/>
                    <a:p>
                      <a:r>
                        <a:rPr lang="en-IN"/>
                        <a:t>             Signal</a:t>
                      </a:r>
                    </a:p>
                  </a:txBody>
                  <a:tcPr/>
                </a:tc>
                <a:tc>
                  <a:txBody>
                    <a:bodyPr/>
                    <a:lstStyle/>
                    <a:p>
                      <a:r>
                        <a:rPr lang="en-IN"/>
                        <a:t>       Width</a:t>
                      </a:r>
                    </a:p>
                  </a:txBody>
                  <a:tcPr/>
                </a:tc>
                <a:tc>
                  <a:txBody>
                    <a:bodyPr/>
                    <a:lstStyle/>
                    <a:p>
                      <a:r>
                        <a:rPr lang="en-IN"/>
                        <a:t>          Description</a:t>
                      </a:r>
                    </a:p>
                  </a:txBody>
                  <a:tcPr/>
                </a:tc>
                <a:extLst>
                  <a:ext uri="{0D108BD9-81ED-4DB2-BD59-A6C34878D82A}">
                    <a16:rowId xmlns:a16="http://schemas.microsoft.com/office/drawing/2014/main" val="1983996061"/>
                  </a:ext>
                </a:extLst>
              </a:tr>
              <a:tr h="380217">
                <a:tc>
                  <a:txBody>
                    <a:bodyPr/>
                    <a:lstStyle/>
                    <a:p>
                      <a:r>
                        <a:rPr lang="en-IN"/>
                        <a:t>AWVALID</a:t>
                      </a:r>
                    </a:p>
                  </a:txBody>
                  <a:tcPr/>
                </a:tc>
                <a:tc>
                  <a:txBody>
                    <a:bodyPr/>
                    <a:lstStyle/>
                    <a:p>
                      <a:pPr algn="ctr"/>
                      <a:r>
                        <a:rPr lang="en-IN"/>
                        <a:t> 1</a:t>
                      </a:r>
                    </a:p>
                  </a:txBody>
                  <a:tcPr/>
                </a:tc>
                <a:tc>
                  <a:txBody>
                    <a:bodyPr/>
                    <a:lstStyle/>
                    <a:p>
                      <a:r>
                        <a:rPr lang="en-IN"/>
                        <a:t>Valid </a:t>
                      </a:r>
                      <a:r>
                        <a:rPr lang="en-IN" err="1"/>
                        <a:t>Indicaator</a:t>
                      </a:r>
                      <a:endParaRPr lang="en-IN"/>
                    </a:p>
                  </a:txBody>
                  <a:tcPr/>
                </a:tc>
                <a:extLst>
                  <a:ext uri="{0D108BD9-81ED-4DB2-BD59-A6C34878D82A}">
                    <a16:rowId xmlns:a16="http://schemas.microsoft.com/office/drawing/2014/main" val="3880185906"/>
                  </a:ext>
                </a:extLst>
              </a:tr>
              <a:tr h="391739">
                <a:tc>
                  <a:txBody>
                    <a:bodyPr/>
                    <a:lstStyle/>
                    <a:p>
                      <a:r>
                        <a:rPr lang="en-IN"/>
                        <a:t>AWREADY</a:t>
                      </a:r>
                    </a:p>
                  </a:txBody>
                  <a:tcPr/>
                </a:tc>
                <a:tc>
                  <a:txBody>
                    <a:bodyPr/>
                    <a:lstStyle/>
                    <a:p>
                      <a:pPr algn="ctr"/>
                      <a:r>
                        <a:rPr lang="en-IN"/>
                        <a:t>1</a:t>
                      </a:r>
                    </a:p>
                  </a:txBody>
                  <a:tcPr/>
                </a:tc>
                <a:tc>
                  <a:txBody>
                    <a:bodyPr/>
                    <a:lstStyle/>
                    <a:p>
                      <a:r>
                        <a:rPr lang="en-IN"/>
                        <a:t>Ready Indicator</a:t>
                      </a:r>
                    </a:p>
                  </a:txBody>
                  <a:tcPr/>
                </a:tc>
                <a:extLst>
                  <a:ext uri="{0D108BD9-81ED-4DB2-BD59-A6C34878D82A}">
                    <a16:rowId xmlns:a16="http://schemas.microsoft.com/office/drawing/2014/main" val="3171050357"/>
                  </a:ext>
                </a:extLst>
              </a:tr>
              <a:tr h="380217">
                <a:tc>
                  <a:txBody>
                    <a:bodyPr/>
                    <a:lstStyle/>
                    <a:p>
                      <a:r>
                        <a:rPr lang="en-IN"/>
                        <a:t>AWADDR</a:t>
                      </a:r>
                    </a:p>
                  </a:txBody>
                  <a:tcPr/>
                </a:tc>
                <a:tc>
                  <a:txBody>
                    <a:bodyPr/>
                    <a:lstStyle/>
                    <a:p>
                      <a:pPr algn="ctr"/>
                      <a:r>
                        <a:rPr lang="en-IN"/>
                        <a:t>32</a:t>
                      </a:r>
                    </a:p>
                  </a:txBody>
                  <a:tcPr/>
                </a:tc>
                <a:tc>
                  <a:txBody>
                    <a:bodyPr/>
                    <a:lstStyle/>
                    <a:p>
                      <a:r>
                        <a:rPr lang="en-IN"/>
                        <a:t>Transaction address</a:t>
                      </a:r>
                    </a:p>
                  </a:txBody>
                  <a:tcPr/>
                </a:tc>
                <a:extLst>
                  <a:ext uri="{0D108BD9-81ED-4DB2-BD59-A6C34878D82A}">
                    <a16:rowId xmlns:a16="http://schemas.microsoft.com/office/drawing/2014/main" val="3137325728"/>
                  </a:ext>
                </a:extLst>
              </a:tr>
              <a:tr h="391739">
                <a:tc>
                  <a:txBody>
                    <a:bodyPr/>
                    <a:lstStyle/>
                    <a:p>
                      <a:r>
                        <a:rPr lang="en-IN"/>
                        <a:t>AWSIZE</a:t>
                      </a:r>
                    </a:p>
                  </a:txBody>
                  <a:tcPr/>
                </a:tc>
                <a:tc>
                  <a:txBody>
                    <a:bodyPr/>
                    <a:lstStyle/>
                    <a:p>
                      <a:pPr algn="ctr"/>
                      <a:r>
                        <a:rPr lang="en-IN"/>
                        <a:t>3</a:t>
                      </a:r>
                    </a:p>
                  </a:txBody>
                  <a:tcPr/>
                </a:tc>
                <a:tc>
                  <a:txBody>
                    <a:bodyPr/>
                    <a:lstStyle/>
                    <a:p>
                      <a:r>
                        <a:rPr lang="en-IN"/>
                        <a:t>Transaction Size</a:t>
                      </a:r>
                    </a:p>
                  </a:txBody>
                  <a:tcPr/>
                </a:tc>
                <a:extLst>
                  <a:ext uri="{0D108BD9-81ED-4DB2-BD59-A6C34878D82A}">
                    <a16:rowId xmlns:a16="http://schemas.microsoft.com/office/drawing/2014/main" val="3621710847"/>
                  </a:ext>
                </a:extLst>
              </a:tr>
              <a:tr h="668262">
                <a:tc>
                  <a:txBody>
                    <a:bodyPr/>
                    <a:lstStyle/>
                    <a:p>
                      <a:r>
                        <a:rPr lang="en-IN"/>
                        <a:t>AWBURST</a:t>
                      </a:r>
                    </a:p>
                  </a:txBody>
                  <a:tcPr/>
                </a:tc>
                <a:tc>
                  <a:txBody>
                    <a:bodyPr/>
                    <a:lstStyle/>
                    <a:p>
                      <a:pPr algn="ctr"/>
                      <a:r>
                        <a:rPr lang="en-IN"/>
                        <a:t>2</a:t>
                      </a:r>
                    </a:p>
                  </a:txBody>
                  <a:tcPr/>
                </a:tc>
                <a:tc>
                  <a:txBody>
                    <a:bodyPr/>
                    <a:lstStyle/>
                    <a:p>
                      <a:r>
                        <a:rPr lang="en-IN"/>
                        <a:t>Burst Attribute (</a:t>
                      </a:r>
                      <a:r>
                        <a:rPr lang="en-IN" err="1"/>
                        <a:t>Fixed,Incrementing</a:t>
                      </a:r>
                      <a:r>
                        <a:rPr lang="en-IN"/>
                        <a:t> or wrapping)</a:t>
                      </a:r>
                    </a:p>
                  </a:txBody>
                  <a:tcPr/>
                </a:tc>
                <a:extLst>
                  <a:ext uri="{0D108BD9-81ED-4DB2-BD59-A6C34878D82A}">
                    <a16:rowId xmlns:a16="http://schemas.microsoft.com/office/drawing/2014/main" val="3676490630"/>
                  </a:ext>
                </a:extLst>
              </a:tr>
              <a:tr h="668262">
                <a:tc>
                  <a:txBody>
                    <a:bodyPr/>
                    <a:lstStyle/>
                    <a:p>
                      <a:r>
                        <a:rPr lang="en-IN"/>
                        <a:t>AWCACHE</a:t>
                      </a:r>
                    </a:p>
                  </a:txBody>
                  <a:tcPr/>
                </a:tc>
                <a:tc>
                  <a:txBody>
                    <a:bodyPr/>
                    <a:lstStyle/>
                    <a:p>
                      <a:pPr algn="ctr"/>
                      <a:r>
                        <a:rPr lang="en-IN"/>
                        <a:t>4</a:t>
                      </a:r>
                    </a:p>
                  </a:txBody>
                  <a:tcPr/>
                </a:tc>
                <a:tc>
                  <a:txBody>
                    <a:bodyPr/>
                    <a:lstStyle/>
                    <a:p>
                      <a:r>
                        <a:rPr lang="en-IN"/>
                        <a:t>Explains about Buffered or </a:t>
                      </a:r>
                      <a:r>
                        <a:rPr lang="en-IN" err="1"/>
                        <a:t>not,modified</a:t>
                      </a:r>
                      <a:r>
                        <a:rPr lang="en-IN"/>
                        <a:t> ,RA,WA</a:t>
                      </a:r>
                    </a:p>
                  </a:txBody>
                  <a:tcPr/>
                </a:tc>
                <a:extLst>
                  <a:ext uri="{0D108BD9-81ED-4DB2-BD59-A6C34878D82A}">
                    <a16:rowId xmlns:a16="http://schemas.microsoft.com/office/drawing/2014/main" val="1071622570"/>
                  </a:ext>
                </a:extLst>
              </a:tr>
              <a:tr h="944783">
                <a:tc>
                  <a:txBody>
                    <a:bodyPr/>
                    <a:lstStyle/>
                    <a:p>
                      <a:r>
                        <a:rPr lang="en-IN"/>
                        <a:t>AWPROT</a:t>
                      </a:r>
                    </a:p>
                  </a:txBody>
                  <a:tcPr/>
                </a:tc>
                <a:tc>
                  <a:txBody>
                    <a:bodyPr/>
                    <a:lstStyle/>
                    <a:p>
                      <a:pPr algn="ctr"/>
                      <a:r>
                        <a:rPr lang="en-IN"/>
                        <a:t>3</a:t>
                      </a:r>
                    </a:p>
                  </a:txBody>
                  <a:tcPr/>
                </a:tc>
                <a:tc>
                  <a:txBody>
                    <a:bodyPr/>
                    <a:lstStyle/>
                    <a:p>
                      <a:r>
                        <a:rPr lang="en-IN"/>
                        <a:t>Explains about </a:t>
                      </a:r>
                      <a:r>
                        <a:rPr lang="en-IN" err="1"/>
                        <a:t>previliged,secure,data</a:t>
                      </a:r>
                      <a:r>
                        <a:rPr lang="en-IN"/>
                        <a:t> or instruction</a:t>
                      </a:r>
                    </a:p>
                  </a:txBody>
                  <a:tcPr/>
                </a:tc>
                <a:extLst>
                  <a:ext uri="{0D108BD9-81ED-4DB2-BD59-A6C34878D82A}">
                    <a16:rowId xmlns:a16="http://schemas.microsoft.com/office/drawing/2014/main" val="770674517"/>
                  </a:ext>
                </a:extLst>
              </a:tr>
              <a:tr h="391739">
                <a:tc>
                  <a:txBody>
                    <a:bodyPr/>
                    <a:lstStyle/>
                    <a:p>
                      <a:r>
                        <a:rPr lang="en-IN"/>
                        <a:t>AWLEN</a:t>
                      </a:r>
                    </a:p>
                  </a:txBody>
                  <a:tcPr/>
                </a:tc>
                <a:tc>
                  <a:txBody>
                    <a:bodyPr/>
                    <a:lstStyle/>
                    <a:p>
                      <a:pPr algn="ctr"/>
                      <a:r>
                        <a:rPr lang="en-IN"/>
                        <a:t>4</a:t>
                      </a:r>
                    </a:p>
                  </a:txBody>
                  <a:tcPr/>
                </a:tc>
                <a:tc>
                  <a:txBody>
                    <a:bodyPr/>
                    <a:lstStyle/>
                    <a:p>
                      <a:r>
                        <a:rPr lang="en-IN"/>
                        <a:t>Length of data in AXI3</a:t>
                      </a:r>
                    </a:p>
                  </a:txBody>
                  <a:tcPr/>
                </a:tc>
                <a:extLst>
                  <a:ext uri="{0D108BD9-81ED-4DB2-BD59-A6C34878D82A}">
                    <a16:rowId xmlns:a16="http://schemas.microsoft.com/office/drawing/2014/main" val="741890908"/>
                  </a:ext>
                </a:extLst>
              </a:tr>
              <a:tr h="391739">
                <a:tc>
                  <a:txBody>
                    <a:bodyPr/>
                    <a:lstStyle/>
                    <a:p>
                      <a:r>
                        <a:rPr lang="en-IN"/>
                        <a:t>AWLEN</a:t>
                      </a:r>
                    </a:p>
                  </a:txBody>
                  <a:tcPr/>
                </a:tc>
                <a:tc>
                  <a:txBody>
                    <a:bodyPr/>
                    <a:lstStyle/>
                    <a:p>
                      <a:pPr algn="ctr"/>
                      <a:r>
                        <a:rPr lang="en-IN"/>
                        <a:t>8</a:t>
                      </a:r>
                    </a:p>
                  </a:txBody>
                  <a:tcPr/>
                </a:tc>
                <a:tc>
                  <a:txBody>
                    <a:bodyPr/>
                    <a:lstStyle/>
                    <a:p>
                      <a:r>
                        <a:rPr lang="en-IN"/>
                        <a:t>Length of data in AXI4</a:t>
                      </a:r>
                    </a:p>
                  </a:txBody>
                  <a:tcPr/>
                </a:tc>
                <a:extLst>
                  <a:ext uri="{0D108BD9-81ED-4DB2-BD59-A6C34878D82A}">
                    <a16:rowId xmlns:a16="http://schemas.microsoft.com/office/drawing/2014/main" val="1037853371"/>
                  </a:ext>
                </a:extLst>
              </a:tr>
              <a:tr h="380217">
                <a:tc>
                  <a:txBody>
                    <a:bodyPr/>
                    <a:lstStyle/>
                    <a:p>
                      <a:r>
                        <a:rPr lang="en-IN"/>
                        <a:t>AWLOCK</a:t>
                      </a:r>
                    </a:p>
                  </a:txBody>
                  <a:tcPr/>
                </a:tc>
                <a:tc>
                  <a:txBody>
                    <a:bodyPr/>
                    <a:lstStyle/>
                    <a:p>
                      <a:pPr algn="ctr"/>
                      <a:r>
                        <a:rPr lang="en-IN"/>
                        <a:t>2</a:t>
                      </a:r>
                    </a:p>
                  </a:txBody>
                  <a:tcPr/>
                </a:tc>
                <a:tc>
                  <a:txBody>
                    <a:bodyPr/>
                    <a:lstStyle/>
                    <a:p>
                      <a:r>
                        <a:rPr lang="en-IN"/>
                        <a:t>Explain about normal or exclusive</a:t>
                      </a:r>
                    </a:p>
                  </a:txBody>
                  <a:tcPr/>
                </a:tc>
                <a:extLst>
                  <a:ext uri="{0D108BD9-81ED-4DB2-BD59-A6C34878D82A}">
                    <a16:rowId xmlns:a16="http://schemas.microsoft.com/office/drawing/2014/main" val="858933565"/>
                  </a:ext>
                </a:extLst>
              </a:tr>
            </a:tbl>
          </a:graphicData>
        </a:graphic>
      </p:graphicFrame>
    </p:spTree>
    <p:extLst>
      <p:ext uri="{BB962C8B-B14F-4D97-AF65-F5344CB8AC3E}">
        <p14:creationId xmlns:p14="http://schemas.microsoft.com/office/powerpoint/2010/main" val="2582684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72DFF-1683-840C-F8B4-B4BA8A0EEBB0}"/>
              </a:ext>
            </a:extLst>
          </p:cNvPr>
          <p:cNvSpPr>
            <a:spLocks noGrp="1"/>
          </p:cNvSpPr>
          <p:nvPr>
            <p:ph type="title"/>
          </p:nvPr>
        </p:nvSpPr>
        <p:spPr/>
        <p:txBody>
          <a:bodyPr/>
          <a:lstStyle/>
          <a:p>
            <a:r>
              <a:rPr lang="en-IN"/>
              <a:t>Write Data Signals</a:t>
            </a:r>
          </a:p>
        </p:txBody>
      </p:sp>
      <p:graphicFrame>
        <p:nvGraphicFramePr>
          <p:cNvPr id="4" name="Table 4">
            <a:extLst>
              <a:ext uri="{FF2B5EF4-FFF2-40B4-BE49-F238E27FC236}">
                <a16:creationId xmlns:a16="http://schemas.microsoft.com/office/drawing/2014/main" id="{381C4714-FD10-E773-3BE2-0C7800365018}"/>
              </a:ext>
            </a:extLst>
          </p:cNvPr>
          <p:cNvGraphicFramePr>
            <a:graphicFrameLocks noGrp="1"/>
          </p:cNvGraphicFramePr>
          <p:nvPr>
            <p:ph idx="1"/>
            <p:extLst>
              <p:ext uri="{D42A27DB-BD31-4B8C-83A1-F6EECF244321}">
                <p14:modId xmlns:p14="http://schemas.microsoft.com/office/powerpoint/2010/main" val="1036391213"/>
              </p:ext>
            </p:extLst>
          </p:nvPr>
        </p:nvGraphicFramePr>
        <p:xfrm>
          <a:off x="1091457" y="2101850"/>
          <a:ext cx="8824911" cy="4754880"/>
        </p:xfrm>
        <a:graphic>
          <a:graphicData uri="http://schemas.openxmlformats.org/drawingml/2006/table">
            <a:tbl>
              <a:tblPr firstRow="1" bandRow="1">
                <a:tableStyleId>{5C22544A-7EE6-4342-B048-85BDC9FD1C3A}</a:tableStyleId>
              </a:tblPr>
              <a:tblGrid>
                <a:gridCol w="2941637">
                  <a:extLst>
                    <a:ext uri="{9D8B030D-6E8A-4147-A177-3AD203B41FA5}">
                      <a16:colId xmlns:a16="http://schemas.microsoft.com/office/drawing/2014/main" val="1278023183"/>
                    </a:ext>
                  </a:extLst>
                </a:gridCol>
                <a:gridCol w="2941637">
                  <a:extLst>
                    <a:ext uri="{9D8B030D-6E8A-4147-A177-3AD203B41FA5}">
                      <a16:colId xmlns:a16="http://schemas.microsoft.com/office/drawing/2014/main" val="3545946959"/>
                    </a:ext>
                  </a:extLst>
                </a:gridCol>
                <a:gridCol w="2941637">
                  <a:extLst>
                    <a:ext uri="{9D8B030D-6E8A-4147-A177-3AD203B41FA5}">
                      <a16:colId xmlns:a16="http://schemas.microsoft.com/office/drawing/2014/main" val="2238564591"/>
                    </a:ext>
                  </a:extLst>
                </a:gridCol>
              </a:tblGrid>
              <a:tr h="357945">
                <a:tc>
                  <a:txBody>
                    <a:bodyPr/>
                    <a:lstStyle/>
                    <a:p>
                      <a:r>
                        <a:rPr lang="en-IN"/>
                        <a:t>Signal</a:t>
                      </a:r>
                    </a:p>
                  </a:txBody>
                  <a:tcPr/>
                </a:tc>
                <a:tc>
                  <a:txBody>
                    <a:bodyPr/>
                    <a:lstStyle/>
                    <a:p>
                      <a:r>
                        <a:rPr lang="en-IN"/>
                        <a:t>width</a:t>
                      </a:r>
                    </a:p>
                  </a:txBody>
                  <a:tcPr/>
                </a:tc>
                <a:tc>
                  <a:txBody>
                    <a:bodyPr/>
                    <a:lstStyle/>
                    <a:p>
                      <a:r>
                        <a:rPr lang="en-IN"/>
                        <a:t>Description</a:t>
                      </a:r>
                    </a:p>
                  </a:txBody>
                  <a:tcPr/>
                </a:tc>
                <a:extLst>
                  <a:ext uri="{0D108BD9-81ED-4DB2-BD59-A6C34878D82A}">
                    <a16:rowId xmlns:a16="http://schemas.microsoft.com/office/drawing/2014/main" val="1287173426"/>
                  </a:ext>
                </a:extLst>
              </a:tr>
              <a:tr h="1163320">
                <a:tc>
                  <a:txBody>
                    <a:bodyPr/>
                    <a:lstStyle/>
                    <a:p>
                      <a:r>
                        <a:rPr lang="en-IN"/>
                        <a:t>WVALID</a:t>
                      </a:r>
                    </a:p>
                  </a:txBody>
                  <a:tcPr/>
                </a:tc>
                <a:tc>
                  <a:txBody>
                    <a:bodyPr/>
                    <a:lstStyle/>
                    <a:p>
                      <a:r>
                        <a:rPr lang="en-IN"/>
                        <a:t>1</a:t>
                      </a:r>
                    </a:p>
                  </a:txBody>
                  <a:tcPr/>
                </a:tc>
                <a:tc>
                  <a:txBody>
                    <a:bodyPr/>
                    <a:lstStyle/>
                    <a:p>
                      <a:r>
                        <a:rPr lang="en-GB"/>
                        <a:t>Indicates that the master is driving valid write data on the W channel.</a:t>
                      </a:r>
                      <a:endParaRPr lang="en-IN"/>
                    </a:p>
                  </a:txBody>
                  <a:tcPr/>
                </a:tc>
                <a:extLst>
                  <a:ext uri="{0D108BD9-81ED-4DB2-BD59-A6C34878D82A}">
                    <a16:rowId xmlns:a16="http://schemas.microsoft.com/office/drawing/2014/main" val="4245367953"/>
                  </a:ext>
                </a:extLst>
              </a:tr>
              <a:tr h="894862">
                <a:tc>
                  <a:txBody>
                    <a:bodyPr/>
                    <a:lstStyle/>
                    <a:p>
                      <a:r>
                        <a:rPr lang="en-IN"/>
                        <a:t>WREADY</a:t>
                      </a:r>
                    </a:p>
                  </a:txBody>
                  <a:tcPr/>
                </a:tc>
                <a:tc>
                  <a:txBody>
                    <a:bodyPr/>
                    <a:lstStyle/>
                    <a:p>
                      <a:r>
                        <a:rPr lang="en-IN"/>
                        <a:t>1</a:t>
                      </a:r>
                    </a:p>
                  </a:txBody>
                  <a:tcPr/>
                </a:tc>
                <a:tc>
                  <a:txBody>
                    <a:bodyPr/>
                    <a:lstStyle/>
                    <a:p>
                      <a:r>
                        <a:rPr lang="en-GB"/>
                        <a:t>Indicates that the slave is ready to accept write data.</a:t>
                      </a:r>
                      <a:endParaRPr lang="en-IN"/>
                    </a:p>
                  </a:txBody>
                  <a:tcPr/>
                </a:tc>
                <a:extLst>
                  <a:ext uri="{0D108BD9-81ED-4DB2-BD59-A6C34878D82A}">
                    <a16:rowId xmlns:a16="http://schemas.microsoft.com/office/drawing/2014/main" val="1688724135"/>
                  </a:ext>
                </a:extLst>
              </a:tr>
              <a:tr h="626403">
                <a:tc>
                  <a:txBody>
                    <a:bodyPr/>
                    <a:lstStyle/>
                    <a:p>
                      <a:r>
                        <a:rPr lang="en-IN"/>
                        <a:t>WLAST</a:t>
                      </a:r>
                    </a:p>
                  </a:txBody>
                  <a:tcPr/>
                </a:tc>
                <a:tc>
                  <a:txBody>
                    <a:bodyPr/>
                    <a:lstStyle/>
                    <a:p>
                      <a:r>
                        <a:rPr lang="en-IN"/>
                        <a:t>1</a:t>
                      </a:r>
                    </a:p>
                  </a:txBody>
                  <a:tcPr/>
                </a:tc>
                <a:tc>
                  <a:txBody>
                    <a:bodyPr/>
                    <a:lstStyle/>
                    <a:p>
                      <a:r>
                        <a:rPr lang="en-GB"/>
                        <a:t>Indicates the last data beat of a write burst</a:t>
                      </a:r>
                      <a:endParaRPr lang="en-IN"/>
                    </a:p>
                  </a:txBody>
                  <a:tcPr/>
                </a:tc>
                <a:extLst>
                  <a:ext uri="{0D108BD9-81ED-4DB2-BD59-A6C34878D82A}">
                    <a16:rowId xmlns:a16="http://schemas.microsoft.com/office/drawing/2014/main" val="2280934603"/>
                  </a:ext>
                </a:extLst>
              </a:tr>
              <a:tr h="626403">
                <a:tc>
                  <a:txBody>
                    <a:bodyPr/>
                    <a:lstStyle/>
                    <a:p>
                      <a:r>
                        <a:rPr lang="en-IN"/>
                        <a:t>WDATA</a:t>
                      </a:r>
                    </a:p>
                  </a:txBody>
                  <a:tcPr/>
                </a:tc>
                <a:tc>
                  <a:txBody>
                    <a:bodyPr/>
                    <a:lstStyle/>
                    <a:p>
                      <a:r>
                        <a:rPr lang="en-IN" err="1"/>
                        <a:t>Databus</a:t>
                      </a:r>
                      <a:r>
                        <a:rPr lang="en-IN"/>
                        <a:t> width</a:t>
                      </a:r>
                    </a:p>
                  </a:txBody>
                  <a:tcPr/>
                </a:tc>
                <a:tc>
                  <a:txBody>
                    <a:bodyPr/>
                    <a:lstStyle/>
                    <a:p>
                      <a:r>
                        <a:rPr lang="en-GB"/>
                        <a:t>Carries the actual data to be written.</a:t>
                      </a:r>
                      <a:endParaRPr lang="en-IN"/>
                    </a:p>
                  </a:txBody>
                  <a:tcPr/>
                </a:tc>
                <a:extLst>
                  <a:ext uri="{0D108BD9-81ED-4DB2-BD59-A6C34878D82A}">
                    <a16:rowId xmlns:a16="http://schemas.microsoft.com/office/drawing/2014/main" val="3089282465"/>
                  </a:ext>
                </a:extLst>
              </a:tr>
              <a:tr h="626403">
                <a:tc>
                  <a:txBody>
                    <a:bodyPr/>
                    <a:lstStyle/>
                    <a:p>
                      <a:r>
                        <a:rPr lang="en-IN"/>
                        <a:t>WSTRB</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err="1"/>
                        <a:t>Datawidth</a:t>
                      </a:r>
                      <a:r>
                        <a:rPr lang="en-IN"/>
                        <a:t>/8</a:t>
                      </a:r>
                    </a:p>
                    <a:p>
                      <a:endParaRPr lang="en-IN"/>
                    </a:p>
                  </a:txBody>
                  <a:tcPr/>
                </a:tc>
                <a:tc>
                  <a:txBody>
                    <a:bodyPr/>
                    <a:lstStyle/>
                    <a:p>
                      <a:r>
                        <a:rPr lang="en-GB"/>
                        <a:t>Indicates which bytes are valid.</a:t>
                      </a:r>
                      <a:endParaRPr lang="en-IN"/>
                    </a:p>
                  </a:txBody>
                  <a:tcPr/>
                </a:tc>
                <a:extLst>
                  <a:ext uri="{0D108BD9-81ED-4DB2-BD59-A6C34878D82A}">
                    <a16:rowId xmlns:a16="http://schemas.microsoft.com/office/drawing/2014/main" val="1038440175"/>
                  </a:ext>
                </a:extLst>
              </a:tr>
              <a:tr h="357945">
                <a:tc>
                  <a:txBody>
                    <a:bodyPr/>
                    <a:lstStyle/>
                    <a:p>
                      <a:endParaRPr lang="en-IN"/>
                    </a:p>
                  </a:txBody>
                  <a:tcPr/>
                </a:tc>
                <a:tc>
                  <a:txBody>
                    <a:bodyPr/>
                    <a:lstStyle/>
                    <a:p>
                      <a:endParaRPr lang="en-IN"/>
                    </a:p>
                  </a:txBody>
                  <a:tcPr/>
                </a:tc>
                <a:tc>
                  <a:txBody>
                    <a:bodyPr/>
                    <a:lstStyle/>
                    <a:p>
                      <a:endParaRPr lang="en-IN"/>
                    </a:p>
                  </a:txBody>
                  <a:tcPr/>
                </a:tc>
                <a:extLst>
                  <a:ext uri="{0D108BD9-81ED-4DB2-BD59-A6C34878D82A}">
                    <a16:rowId xmlns:a16="http://schemas.microsoft.com/office/drawing/2014/main" val="78151611"/>
                  </a:ext>
                </a:extLst>
              </a:tr>
            </a:tbl>
          </a:graphicData>
        </a:graphic>
      </p:graphicFrame>
    </p:spTree>
    <p:extLst>
      <p:ext uri="{BB962C8B-B14F-4D97-AF65-F5344CB8AC3E}">
        <p14:creationId xmlns:p14="http://schemas.microsoft.com/office/powerpoint/2010/main" val="7925162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D4083-1FB5-F290-30FF-48140DDC901B}"/>
              </a:ext>
            </a:extLst>
          </p:cNvPr>
          <p:cNvSpPr>
            <a:spLocks noGrp="1"/>
          </p:cNvSpPr>
          <p:nvPr>
            <p:ph type="title"/>
          </p:nvPr>
        </p:nvSpPr>
        <p:spPr/>
        <p:txBody>
          <a:bodyPr/>
          <a:lstStyle/>
          <a:p>
            <a:r>
              <a:rPr lang="en-IN"/>
              <a:t>  Write Response Signals</a:t>
            </a:r>
          </a:p>
        </p:txBody>
      </p:sp>
      <p:graphicFrame>
        <p:nvGraphicFramePr>
          <p:cNvPr id="4" name="Table 4">
            <a:extLst>
              <a:ext uri="{FF2B5EF4-FFF2-40B4-BE49-F238E27FC236}">
                <a16:creationId xmlns:a16="http://schemas.microsoft.com/office/drawing/2014/main" id="{CBD7FBC8-9495-47E8-845A-5E23EA65C205}"/>
              </a:ext>
            </a:extLst>
          </p:cNvPr>
          <p:cNvGraphicFramePr>
            <a:graphicFrameLocks noGrp="1"/>
          </p:cNvGraphicFramePr>
          <p:nvPr>
            <p:ph idx="1"/>
            <p:extLst>
              <p:ext uri="{D42A27DB-BD31-4B8C-83A1-F6EECF244321}">
                <p14:modId xmlns:p14="http://schemas.microsoft.com/office/powerpoint/2010/main" val="611591832"/>
              </p:ext>
            </p:extLst>
          </p:nvPr>
        </p:nvGraphicFramePr>
        <p:xfrm>
          <a:off x="1155700" y="2603500"/>
          <a:ext cx="8824911" cy="2397760"/>
        </p:xfrm>
        <a:graphic>
          <a:graphicData uri="http://schemas.openxmlformats.org/drawingml/2006/table">
            <a:tbl>
              <a:tblPr firstRow="1" bandRow="1">
                <a:tableStyleId>{5C22544A-7EE6-4342-B048-85BDC9FD1C3A}</a:tableStyleId>
              </a:tblPr>
              <a:tblGrid>
                <a:gridCol w="2941637">
                  <a:extLst>
                    <a:ext uri="{9D8B030D-6E8A-4147-A177-3AD203B41FA5}">
                      <a16:colId xmlns:a16="http://schemas.microsoft.com/office/drawing/2014/main" val="63863077"/>
                    </a:ext>
                  </a:extLst>
                </a:gridCol>
                <a:gridCol w="2941637">
                  <a:extLst>
                    <a:ext uri="{9D8B030D-6E8A-4147-A177-3AD203B41FA5}">
                      <a16:colId xmlns:a16="http://schemas.microsoft.com/office/drawing/2014/main" val="2861681002"/>
                    </a:ext>
                  </a:extLst>
                </a:gridCol>
                <a:gridCol w="2941637">
                  <a:extLst>
                    <a:ext uri="{9D8B030D-6E8A-4147-A177-3AD203B41FA5}">
                      <a16:colId xmlns:a16="http://schemas.microsoft.com/office/drawing/2014/main" val="957304009"/>
                    </a:ext>
                  </a:extLst>
                </a:gridCol>
              </a:tblGrid>
              <a:tr h="370840">
                <a:tc>
                  <a:txBody>
                    <a:bodyPr/>
                    <a:lstStyle/>
                    <a:p>
                      <a:r>
                        <a:rPr lang="en-IN"/>
                        <a:t>Signal</a:t>
                      </a:r>
                    </a:p>
                  </a:txBody>
                  <a:tcPr/>
                </a:tc>
                <a:tc>
                  <a:txBody>
                    <a:bodyPr/>
                    <a:lstStyle/>
                    <a:p>
                      <a:r>
                        <a:rPr lang="en-IN"/>
                        <a:t> Width</a:t>
                      </a:r>
                    </a:p>
                  </a:txBody>
                  <a:tcPr/>
                </a:tc>
                <a:tc>
                  <a:txBody>
                    <a:bodyPr/>
                    <a:lstStyle/>
                    <a:p>
                      <a:r>
                        <a:rPr lang="en-IN"/>
                        <a:t>Description</a:t>
                      </a:r>
                    </a:p>
                  </a:txBody>
                  <a:tcPr/>
                </a:tc>
                <a:extLst>
                  <a:ext uri="{0D108BD9-81ED-4DB2-BD59-A6C34878D82A}">
                    <a16:rowId xmlns:a16="http://schemas.microsoft.com/office/drawing/2014/main" val="3148564932"/>
                  </a:ext>
                </a:extLst>
              </a:tr>
              <a:tr h="370840">
                <a:tc>
                  <a:txBody>
                    <a:bodyPr/>
                    <a:lstStyle/>
                    <a:p>
                      <a:r>
                        <a:rPr lang="en-IN"/>
                        <a:t>BVALID</a:t>
                      </a:r>
                    </a:p>
                  </a:txBody>
                  <a:tcPr/>
                </a:tc>
                <a:tc>
                  <a:txBody>
                    <a:bodyPr/>
                    <a:lstStyle/>
                    <a:p>
                      <a:r>
                        <a:rPr lang="en-IN"/>
                        <a:t>1</a:t>
                      </a:r>
                    </a:p>
                  </a:txBody>
                  <a:tcPr/>
                </a:tc>
                <a:tc>
                  <a:txBody>
                    <a:bodyPr/>
                    <a:lstStyle/>
                    <a:p>
                      <a:r>
                        <a:rPr lang="en-IN"/>
                        <a:t>Valid or not</a:t>
                      </a:r>
                    </a:p>
                  </a:txBody>
                  <a:tcPr/>
                </a:tc>
                <a:extLst>
                  <a:ext uri="{0D108BD9-81ED-4DB2-BD59-A6C34878D82A}">
                    <a16:rowId xmlns:a16="http://schemas.microsoft.com/office/drawing/2014/main" val="4011988250"/>
                  </a:ext>
                </a:extLst>
              </a:tr>
              <a:tr h="370840">
                <a:tc>
                  <a:txBody>
                    <a:bodyPr/>
                    <a:lstStyle/>
                    <a:p>
                      <a:r>
                        <a:rPr lang="en-IN"/>
                        <a:t>BREADY</a:t>
                      </a:r>
                    </a:p>
                  </a:txBody>
                  <a:tcPr/>
                </a:tc>
                <a:tc>
                  <a:txBody>
                    <a:bodyPr/>
                    <a:lstStyle/>
                    <a:p>
                      <a:r>
                        <a:rPr lang="en-IN"/>
                        <a:t>1</a:t>
                      </a:r>
                    </a:p>
                  </a:txBody>
                  <a:tcPr/>
                </a:tc>
                <a:tc>
                  <a:txBody>
                    <a:bodyPr/>
                    <a:lstStyle/>
                    <a:p>
                      <a:r>
                        <a:rPr lang="en-IN"/>
                        <a:t>Slave is ready or not</a:t>
                      </a:r>
                    </a:p>
                  </a:txBody>
                  <a:tcPr/>
                </a:tc>
                <a:extLst>
                  <a:ext uri="{0D108BD9-81ED-4DB2-BD59-A6C34878D82A}">
                    <a16:rowId xmlns:a16="http://schemas.microsoft.com/office/drawing/2014/main" val="3154801949"/>
                  </a:ext>
                </a:extLst>
              </a:tr>
              <a:tr h="370840">
                <a:tc>
                  <a:txBody>
                    <a:bodyPr/>
                    <a:lstStyle/>
                    <a:p>
                      <a:r>
                        <a:rPr lang="en-IN"/>
                        <a:t>BRESP</a:t>
                      </a:r>
                    </a:p>
                  </a:txBody>
                  <a:tcPr/>
                </a:tc>
                <a:tc>
                  <a:txBody>
                    <a:bodyPr/>
                    <a:lstStyle/>
                    <a:p>
                      <a:r>
                        <a:rPr lang="en-IN"/>
                        <a:t>2</a:t>
                      </a:r>
                    </a:p>
                  </a:txBody>
                  <a:tcPr/>
                </a:tc>
                <a:tc>
                  <a:txBody>
                    <a:bodyPr/>
                    <a:lstStyle/>
                    <a:p>
                      <a:r>
                        <a:rPr lang="en-IN"/>
                        <a:t>Explains about OKAY,EXOKAY,SLVERR,DECRR</a:t>
                      </a:r>
                    </a:p>
                  </a:txBody>
                  <a:tcPr/>
                </a:tc>
                <a:extLst>
                  <a:ext uri="{0D108BD9-81ED-4DB2-BD59-A6C34878D82A}">
                    <a16:rowId xmlns:a16="http://schemas.microsoft.com/office/drawing/2014/main" val="1064724481"/>
                  </a:ext>
                </a:extLst>
              </a:tr>
              <a:tr h="370840">
                <a:tc>
                  <a:txBody>
                    <a:bodyPr/>
                    <a:lstStyle/>
                    <a:p>
                      <a:r>
                        <a:rPr lang="en-IN"/>
                        <a:t>BUSER</a:t>
                      </a:r>
                    </a:p>
                  </a:txBody>
                  <a:tcPr/>
                </a:tc>
                <a:tc>
                  <a:txBody>
                    <a:bodyPr/>
                    <a:lstStyle/>
                    <a:p>
                      <a:r>
                        <a:rPr lang="en-IN" err="1"/>
                        <a:t>Buser</a:t>
                      </a:r>
                      <a:r>
                        <a:rPr lang="en-IN"/>
                        <a:t> width</a:t>
                      </a:r>
                    </a:p>
                  </a:txBody>
                  <a:tcPr/>
                </a:tc>
                <a:tc>
                  <a:txBody>
                    <a:bodyPr/>
                    <a:lstStyle/>
                    <a:p>
                      <a:r>
                        <a:rPr lang="en-IN"/>
                        <a:t>User defined signal</a:t>
                      </a:r>
                    </a:p>
                  </a:txBody>
                  <a:tcPr/>
                </a:tc>
                <a:extLst>
                  <a:ext uri="{0D108BD9-81ED-4DB2-BD59-A6C34878D82A}">
                    <a16:rowId xmlns:a16="http://schemas.microsoft.com/office/drawing/2014/main" val="1556838071"/>
                  </a:ext>
                </a:extLst>
              </a:tr>
            </a:tbl>
          </a:graphicData>
        </a:graphic>
      </p:graphicFrame>
    </p:spTree>
    <p:extLst>
      <p:ext uri="{BB962C8B-B14F-4D97-AF65-F5344CB8AC3E}">
        <p14:creationId xmlns:p14="http://schemas.microsoft.com/office/powerpoint/2010/main" val="3758292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70B1-0D46-5907-FDC3-9F32ADF733C0}"/>
              </a:ext>
            </a:extLst>
          </p:cNvPr>
          <p:cNvSpPr>
            <a:spLocks noGrp="1"/>
          </p:cNvSpPr>
          <p:nvPr>
            <p:ph type="title"/>
          </p:nvPr>
        </p:nvSpPr>
        <p:spPr/>
        <p:txBody>
          <a:bodyPr/>
          <a:lstStyle/>
          <a:p>
            <a:r>
              <a:rPr lang="en-IN"/>
              <a:t>Read Address Signals</a:t>
            </a:r>
          </a:p>
        </p:txBody>
      </p:sp>
      <p:graphicFrame>
        <p:nvGraphicFramePr>
          <p:cNvPr id="4" name="Table 4">
            <a:extLst>
              <a:ext uri="{FF2B5EF4-FFF2-40B4-BE49-F238E27FC236}">
                <a16:creationId xmlns:a16="http://schemas.microsoft.com/office/drawing/2014/main" id="{AC764E44-0F2D-7588-D4B7-9E66F83921FA}"/>
              </a:ext>
            </a:extLst>
          </p:cNvPr>
          <p:cNvGraphicFramePr>
            <a:graphicFrameLocks noGrp="1"/>
          </p:cNvGraphicFramePr>
          <p:nvPr>
            <p:ph idx="1"/>
            <p:extLst>
              <p:ext uri="{D42A27DB-BD31-4B8C-83A1-F6EECF244321}">
                <p14:modId xmlns:p14="http://schemas.microsoft.com/office/powerpoint/2010/main" val="140360223"/>
              </p:ext>
            </p:extLst>
          </p:nvPr>
        </p:nvGraphicFramePr>
        <p:xfrm>
          <a:off x="168274" y="1955800"/>
          <a:ext cx="11855451" cy="5577840"/>
        </p:xfrm>
        <a:graphic>
          <a:graphicData uri="http://schemas.openxmlformats.org/drawingml/2006/table">
            <a:tbl>
              <a:tblPr firstRow="1" bandRow="1">
                <a:tableStyleId>{5C22544A-7EE6-4342-B048-85BDC9FD1C3A}</a:tableStyleId>
              </a:tblPr>
              <a:tblGrid>
                <a:gridCol w="3951817">
                  <a:extLst>
                    <a:ext uri="{9D8B030D-6E8A-4147-A177-3AD203B41FA5}">
                      <a16:colId xmlns:a16="http://schemas.microsoft.com/office/drawing/2014/main" val="1437153662"/>
                    </a:ext>
                  </a:extLst>
                </a:gridCol>
                <a:gridCol w="3951817">
                  <a:extLst>
                    <a:ext uri="{9D8B030D-6E8A-4147-A177-3AD203B41FA5}">
                      <a16:colId xmlns:a16="http://schemas.microsoft.com/office/drawing/2014/main" val="2036532485"/>
                    </a:ext>
                  </a:extLst>
                </a:gridCol>
                <a:gridCol w="3951817">
                  <a:extLst>
                    <a:ext uri="{9D8B030D-6E8A-4147-A177-3AD203B41FA5}">
                      <a16:colId xmlns:a16="http://schemas.microsoft.com/office/drawing/2014/main" val="1694347819"/>
                    </a:ext>
                  </a:extLst>
                </a:gridCol>
              </a:tblGrid>
              <a:tr h="342692">
                <a:tc>
                  <a:txBody>
                    <a:bodyPr/>
                    <a:lstStyle/>
                    <a:p>
                      <a:r>
                        <a:rPr lang="en-IN"/>
                        <a:t>Signal</a:t>
                      </a:r>
                    </a:p>
                  </a:txBody>
                  <a:tcPr/>
                </a:tc>
                <a:tc>
                  <a:txBody>
                    <a:bodyPr/>
                    <a:lstStyle/>
                    <a:p>
                      <a:r>
                        <a:rPr lang="en-IN"/>
                        <a:t>Width</a:t>
                      </a:r>
                    </a:p>
                  </a:txBody>
                  <a:tcPr/>
                </a:tc>
                <a:tc>
                  <a:txBody>
                    <a:bodyPr/>
                    <a:lstStyle/>
                    <a:p>
                      <a:r>
                        <a:rPr lang="en-IN"/>
                        <a:t>Description</a:t>
                      </a:r>
                    </a:p>
                  </a:txBody>
                  <a:tcPr/>
                </a:tc>
                <a:extLst>
                  <a:ext uri="{0D108BD9-81ED-4DB2-BD59-A6C34878D82A}">
                    <a16:rowId xmlns:a16="http://schemas.microsoft.com/office/drawing/2014/main" val="205911073"/>
                  </a:ext>
                </a:extLst>
              </a:tr>
              <a:tr h="59971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ARVALID</a:t>
                      </a:r>
                    </a:p>
                    <a:p>
                      <a:endParaRPr lang="en-IN"/>
                    </a:p>
                  </a:txBody>
                  <a:tcPr/>
                </a:tc>
                <a:tc>
                  <a:txBody>
                    <a:bodyPr/>
                    <a:lstStyle/>
                    <a:p>
                      <a:r>
                        <a:rPr lang="en-IN"/>
                        <a:t>1</a:t>
                      </a:r>
                    </a:p>
                  </a:txBody>
                  <a:tcPr/>
                </a:tc>
                <a:tc>
                  <a:txBody>
                    <a:bodyPr/>
                    <a:lstStyle/>
                    <a:p>
                      <a:r>
                        <a:rPr lang="en-GB"/>
                        <a:t>Indicates that the master has a valid read</a:t>
                      </a:r>
                      <a:endParaRPr lang="en-IN"/>
                    </a:p>
                  </a:txBody>
                  <a:tcPr/>
                </a:tc>
                <a:extLst>
                  <a:ext uri="{0D108BD9-81ED-4DB2-BD59-A6C34878D82A}">
                    <a16:rowId xmlns:a16="http://schemas.microsoft.com/office/drawing/2014/main" val="530067349"/>
                  </a:ext>
                </a:extLst>
              </a:tr>
              <a:tr h="599711">
                <a:tc>
                  <a:txBody>
                    <a:bodyPr/>
                    <a:lstStyle/>
                    <a:p>
                      <a:r>
                        <a:rPr lang="en-IN" dirty="0"/>
                        <a:t>AREADY</a:t>
                      </a:r>
                    </a:p>
                  </a:txBody>
                  <a:tcPr/>
                </a:tc>
                <a:tc>
                  <a:txBody>
                    <a:bodyPr/>
                    <a:lstStyle/>
                    <a:p>
                      <a:r>
                        <a:rPr lang="en-IN"/>
                        <a:t>1</a:t>
                      </a:r>
                    </a:p>
                  </a:txBody>
                  <a:tcPr/>
                </a:tc>
                <a:tc>
                  <a:txBody>
                    <a:bodyPr/>
                    <a:lstStyle/>
                    <a:p>
                      <a:r>
                        <a:rPr lang="en-IN"/>
                        <a:t>I</a:t>
                      </a:r>
                      <a:r>
                        <a:rPr lang="en-GB" err="1"/>
                        <a:t>ndicates</a:t>
                      </a:r>
                      <a:r>
                        <a:rPr lang="en-GB"/>
                        <a:t> that the slave is ready to accept the read address</a:t>
                      </a:r>
                      <a:endParaRPr lang="en-IN"/>
                    </a:p>
                  </a:txBody>
                  <a:tcPr/>
                </a:tc>
                <a:extLst>
                  <a:ext uri="{0D108BD9-81ED-4DB2-BD59-A6C34878D82A}">
                    <a16:rowId xmlns:a16="http://schemas.microsoft.com/office/drawing/2014/main" val="2118850486"/>
                  </a:ext>
                </a:extLst>
              </a:tr>
              <a:tr h="342692">
                <a:tc>
                  <a:txBody>
                    <a:bodyPr/>
                    <a:lstStyle/>
                    <a:p>
                      <a:r>
                        <a:rPr lang="en-IN"/>
                        <a:t>ARADDR</a:t>
                      </a:r>
                    </a:p>
                  </a:txBody>
                  <a:tcPr/>
                </a:tc>
                <a:tc>
                  <a:txBody>
                    <a:bodyPr/>
                    <a:lstStyle/>
                    <a:p>
                      <a:r>
                        <a:rPr lang="en-IN"/>
                        <a:t>32</a:t>
                      </a:r>
                    </a:p>
                  </a:txBody>
                  <a:tcPr/>
                </a:tc>
                <a:tc>
                  <a:txBody>
                    <a:bodyPr/>
                    <a:lstStyle/>
                    <a:p>
                      <a:r>
                        <a:rPr lang="en-IN"/>
                        <a:t>Address</a:t>
                      </a:r>
                    </a:p>
                  </a:txBody>
                  <a:tcPr/>
                </a:tc>
                <a:extLst>
                  <a:ext uri="{0D108BD9-81ED-4DB2-BD59-A6C34878D82A}">
                    <a16:rowId xmlns:a16="http://schemas.microsoft.com/office/drawing/2014/main" val="249692257"/>
                  </a:ext>
                </a:extLst>
              </a:tr>
              <a:tr h="342692">
                <a:tc>
                  <a:txBody>
                    <a:bodyPr/>
                    <a:lstStyle/>
                    <a:p>
                      <a:r>
                        <a:rPr lang="en-IN"/>
                        <a:t>ARSIZE</a:t>
                      </a:r>
                    </a:p>
                  </a:txBody>
                  <a:tcPr/>
                </a:tc>
                <a:tc>
                  <a:txBody>
                    <a:bodyPr/>
                    <a:lstStyle/>
                    <a:p>
                      <a:r>
                        <a:rPr lang="en-IN"/>
                        <a:t>3</a:t>
                      </a:r>
                    </a:p>
                  </a:txBody>
                  <a:tcPr/>
                </a:tc>
                <a:tc>
                  <a:txBody>
                    <a:bodyPr/>
                    <a:lstStyle/>
                    <a:p>
                      <a:r>
                        <a:rPr lang="en-IN"/>
                        <a:t>Size of data</a:t>
                      </a:r>
                    </a:p>
                  </a:txBody>
                  <a:tcPr/>
                </a:tc>
                <a:extLst>
                  <a:ext uri="{0D108BD9-81ED-4DB2-BD59-A6C34878D82A}">
                    <a16:rowId xmlns:a16="http://schemas.microsoft.com/office/drawing/2014/main" val="3117687014"/>
                  </a:ext>
                </a:extLst>
              </a:tr>
              <a:tr h="342692">
                <a:tc>
                  <a:txBody>
                    <a:bodyPr/>
                    <a:lstStyle/>
                    <a:p>
                      <a:r>
                        <a:rPr lang="en-IN"/>
                        <a:t>ARBURST</a:t>
                      </a:r>
                    </a:p>
                  </a:txBody>
                  <a:tcPr/>
                </a:tc>
                <a:tc>
                  <a:txBody>
                    <a:bodyPr/>
                    <a:lstStyle/>
                    <a:p>
                      <a:r>
                        <a:rPr lang="en-IN"/>
                        <a:t>2</a:t>
                      </a:r>
                    </a:p>
                  </a:txBody>
                  <a:tcPr/>
                </a:tc>
                <a:tc>
                  <a:txBody>
                    <a:bodyPr/>
                    <a:lstStyle/>
                    <a:p>
                      <a:r>
                        <a:rPr lang="en-IN" err="1"/>
                        <a:t>Fixed,incrementing</a:t>
                      </a:r>
                      <a:r>
                        <a:rPr lang="en-IN"/>
                        <a:t> or wrapping</a:t>
                      </a:r>
                    </a:p>
                  </a:txBody>
                  <a:tcPr/>
                </a:tc>
                <a:extLst>
                  <a:ext uri="{0D108BD9-81ED-4DB2-BD59-A6C34878D82A}">
                    <a16:rowId xmlns:a16="http://schemas.microsoft.com/office/drawing/2014/main" val="1796994682"/>
                  </a:ext>
                </a:extLst>
              </a:tr>
              <a:tr h="599711">
                <a:tc>
                  <a:txBody>
                    <a:bodyPr/>
                    <a:lstStyle/>
                    <a:p>
                      <a:r>
                        <a:rPr lang="en-IN"/>
                        <a:t>ARCACHE</a:t>
                      </a:r>
                    </a:p>
                  </a:txBody>
                  <a:tcPr/>
                </a:tc>
                <a:tc>
                  <a:txBody>
                    <a:bodyPr/>
                    <a:lstStyle/>
                    <a:p>
                      <a:r>
                        <a:rPr lang="en-IN"/>
                        <a:t>4</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Explains about Buffered or </a:t>
                      </a:r>
                      <a:r>
                        <a:rPr lang="en-IN" err="1"/>
                        <a:t>not,modified</a:t>
                      </a:r>
                      <a:r>
                        <a:rPr lang="en-IN"/>
                        <a:t> ,RA,WA</a:t>
                      </a:r>
                    </a:p>
                  </a:txBody>
                  <a:tcPr/>
                </a:tc>
                <a:extLst>
                  <a:ext uri="{0D108BD9-81ED-4DB2-BD59-A6C34878D82A}">
                    <a16:rowId xmlns:a16="http://schemas.microsoft.com/office/drawing/2014/main" val="3335223577"/>
                  </a:ext>
                </a:extLst>
              </a:tr>
              <a:tr h="1113748">
                <a:tc>
                  <a:txBody>
                    <a:bodyPr/>
                    <a:lstStyle/>
                    <a:p>
                      <a:r>
                        <a:rPr lang="en-IN"/>
                        <a:t>ARPROT</a:t>
                      </a:r>
                    </a:p>
                  </a:txBody>
                  <a:tcPr/>
                </a:tc>
                <a:tc>
                  <a:txBody>
                    <a:bodyPr/>
                    <a:lstStyle/>
                    <a:p>
                      <a:r>
                        <a:rPr lang="en-IN"/>
                        <a:t>3</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Explains about </a:t>
                      </a:r>
                      <a:r>
                        <a:rPr lang="en-IN" err="1"/>
                        <a:t>previliged,secure,data</a:t>
                      </a:r>
                      <a:r>
                        <a:rPr lang="en-IN"/>
                        <a:t> or instruction</a:t>
                      </a:r>
                    </a:p>
                    <a:p>
                      <a:endParaRPr lang="en-IN"/>
                    </a:p>
                  </a:txBody>
                  <a:tcPr/>
                </a:tc>
                <a:extLst>
                  <a:ext uri="{0D108BD9-81ED-4DB2-BD59-A6C34878D82A}">
                    <a16:rowId xmlns:a16="http://schemas.microsoft.com/office/drawing/2014/main" val="741747923"/>
                  </a:ext>
                </a:extLst>
              </a:tr>
              <a:tr h="342692">
                <a:tc>
                  <a:txBody>
                    <a:bodyPr/>
                    <a:lstStyle/>
                    <a:p>
                      <a:r>
                        <a:rPr lang="en-IN"/>
                        <a:t>ARLEN</a:t>
                      </a:r>
                    </a:p>
                  </a:txBody>
                  <a:tcPr/>
                </a:tc>
                <a:tc>
                  <a:txBody>
                    <a:bodyPr/>
                    <a:lstStyle/>
                    <a:p>
                      <a:r>
                        <a:rPr lang="en-IN"/>
                        <a:t>8</a:t>
                      </a:r>
                    </a:p>
                  </a:txBody>
                  <a:tcPr/>
                </a:tc>
                <a:tc>
                  <a:txBody>
                    <a:bodyPr/>
                    <a:lstStyle/>
                    <a:p>
                      <a:r>
                        <a:rPr lang="en-IN"/>
                        <a:t>Data length</a:t>
                      </a:r>
                    </a:p>
                  </a:txBody>
                  <a:tcPr/>
                </a:tc>
                <a:extLst>
                  <a:ext uri="{0D108BD9-81ED-4DB2-BD59-A6C34878D82A}">
                    <a16:rowId xmlns:a16="http://schemas.microsoft.com/office/drawing/2014/main" val="1432526087"/>
                  </a:ext>
                </a:extLst>
              </a:tr>
              <a:tr h="599711">
                <a:tc>
                  <a:txBody>
                    <a:bodyPr/>
                    <a:lstStyle/>
                    <a:p>
                      <a:r>
                        <a:rPr lang="en-IN"/>
                        <a:t>ARLOCK</a:t>
                      </a:r>
                    </a:p>
                  </a:txBody>
                  <a:tcPr/>
                </a:tc>
                <a:tc>
                  <a:txBody>
                    <a:bodyPr/>
                    <a:lstStyle/>
                    <a:p>
                      <a:r>
                        <a:rPr lang="en-IN"/>
                        <a:t>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t>Explain about normal or exclusive</a:t>
                      </a:r>
                    </a:p>
                    <a:p>
                      <a:endParaRPr lang="en-IN" dirty="0"/>
                    </a:p>
                  </a:txBody>
                  <a:tcPr/>
                </a:tc>
                <a:extLst>
                  <a:ext uri="{0D108BD9-81ED-4DB2-BD59-A6C34878D82A}">
                    <a16:rowId xmlns:a16="http://schemas.microsoft.com/office/drawing/2014/main" val="2191506854"/>
                  </a:ext>
                </a:extLst>
              </a:tr>
            </a:tbl>
          </a:graphicData>
        </a:graphic>
      </p:graphicFrame>
    </p:spTree>
    <p:extLst>
      <p:ext uri="{BB962C8B-B14F-4D97-AF65-F5344CB8AC3E}">
        <p14:creationId xmlns:p14="http://schemas.microsoft.com/office/powerpoint/2010/main" val="31171956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F983F-FB64-8AD5-02EF-8535867EA4CB}"/>
              </a:ext>
            </a:extLst>
          </p:cNvPr>
          <p:cNvSpPr>
            <a:spLocks noGrp="1"/>
          </p:cNvSpPr>
          <p:nvPr>
            <p:ph type="title"/>
          </p:nvPr>
        </p:nvSpPr>
        <p:spPr/>
        <p:txBody>
          <a:bodyPr/>
          <a:lstStyle/>
          <a:p>
            <a:r>
              <a:rPr lang="en-IN"/>
              <a:t>Read Data Signals</a:t>
            </a:r>
          </a:p>
        </p:txBody>
      </p:sp>
      <p:graphicFrame>
        <p:nvGraphicFramePr>
          <p:cNvPr id="4" name="Table 4">
            <a:extLst>
              <a:ext uri="{FF2B5EF4-FFF2-40B4-BE49-F238E27FC236}">
                <a16:creationId xmlns:a16="http://schemas.microsoft.com/office/drawing/2014/main" id="{565E4F13-2D8E-C8D1-B59C-EF13D8392E8D}"/>
              </a:ext>
            </a:extLst>
          </p:cNvPr>
          <p:cNvGraphicFramePr>
            <a:graphicFrameLocks noGrp="1"/>
          </p:cNvGraphicFramePr>
          <p:nvPr>
            <p:ph idx="1"/>
            <p:extLst>
              <p:ext uri="{D42A27DB-BD31-4B8C-83A1-F6EECF244321}">
                <p14:modId xmlns:p14="http://schemas.microsoft.com/office/powerpoint/2010/main" val="3150018055"/>
              </p:ext>
            </p:extLst>
          </p:nvPr>
        </p:nvGraphicFramePr>
        <p:xfrm>
          <a:off x="1156705" y="2280517"/>
          <a:ext cx="8824911" cy="4500227"/>
        </p:xfrm>
        <a:graphic>
          <a:graphicData uri="http://schemas.openxmlformats.org/drawingml/2006/table">
            <a:tbl>
              <a:tblPr firstRow="1" bandRow="1">
                <a:tableStyleId>{5C22544A-7EE6-4342-B048-85BDC9FD1C3A}</a:tableStyleId>
              </a:tblPr>
              <a:tblGrid>
                <a:gridCol w="2941637">
                  <a:extLst>
                    <a:ext uri="{9D8B030D-6E8A-4147-A177-3AD203B41FA5}">
                      <a16:colId xmlns:a16="http://schemas.microsoft.com/office/drawing/2014/main" val="498451570"/>
                    </a:ext>
                  </a:extLst>
                </a:gridCol>
                <a:gridCol w="2941637">
                  <a:extLst>
                    <a:ext uri="{9D8B030D-6E8A-4147-A177-3AD203B41FA5}">
                      <a16:colId xmlns:a16="http://schemas.microsoft.com/office/drawing/2014/main" val="531664371"/>
                    </a:ext>
                  </a:extLst>
                </a:gridCol>
                <a:gridCol w="2941637">
                  <a:extLst>
                    <a:ext uri="{9D8B030D-6E8A-4147-A177-3AD203B41FA5}">
                      <a16:colId xmlns:a16="http://schemas.microsoft.com/office/drawing/2014/main" val="1966345312"/>
                    </a:ext>
                  </a:extLst>
                </a:gridCol>
              </a:tblGrid>
              <a:tr h="659747">
                <a:tc>
                  <a:txBody>
                    <a:bodyPr/>
                    <a:lstStyle/>
                    <a:p>
                      <a:r>
                        <a:rPr lang="en-IN"/>
                        <a:t>Signal</a:t>
                      </a:r>
                    </a:p>
                  </a:txBody>
                  <a:tcPr/>
                </a:tc>
                <a:tc>
                  <a:txBody>
                    <a:bodyPr/>
                    <a:lstStyle/>
                    <a:p>
                      <a:r>
                        <a:rPr lang="en-IN"/>
                        <a:t>width</a:t>
                      </a:r>
                    </a:p>
                  </a:txBody>
                  <a:tcPr/>
                </a:tc>
                <a:tc>
                  <a:txBody>
                    <a:bodyPr/>
                    <a:lstStyle/>
                    <a:p>
                      <a:r>
                        <a:rPr lang="en-IN"/>
                        <a:t>description</a:t>
                      </a:r>
                    </a:p>
                  </a:txBody>
                  <a:tcPr/>
                </a:tc>
                <a:extLst>
                  <a:ext uri="{0D108BD9-81ED-4DB2-BD59-A6C34878D82A}">
                    <a16:rowId xmlns:a16="http://schemas.microsoft.com/office/drawing/2014/main" val="2426994619"/>
                  </a:ext>
                </a:extLst>
              </a:tr>
              <a:tr h="614248">
                <a:tc>
                  <a:txBody>
                    <a:bodyPr/>
                    <a:lstStyle/>
                    <a:p>
                      <a:r>
                        <a:rPr lang="en-IN"/>
                        <a:t>RVALID</a:t>
                      </a:r>
                    </a:p>
                  </a:txBody>
                  <a:tcPr/>
                </a:tc>
                <a:tc>
                  <a:txBody>
                    <a:bodyPr/>
                    <a:lstStyle/>
                    <a:p>
                      <a:r>
                        <a:rPr lang="en-IN"/>
                        <a:t>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Valid or not</a:t>
                      </a:r>
                    </a:p>
                    <a:p>
                      <a:endParaRPr lang="en-IN"/>
                    </a:p>
                  </a:txBody>
                  <a:tcPr/>
                </a:tc>
                <a:extLst>
                  <a:ext uri="{0D108BD9-81ED-4DB2-BD59-A6C34878D82A}">
                    <a16:rowId xmlns:a16="http://schemas.microsoft.com/office/drawing/2014/main" val="1759144937"/>
                  </a:ext>
                </a:extLst>
              </a:tr>
              <a:tr h="352623">
                <a:tc>
                  <a:txBody>
                    <a:bodyPr/>
                    <a:lstStyle/>
                    <a:p>
                      <a:r>
                        <a:rPr lang="en-IN"/>
                        <a:t>READY</a:t>
                      </a:r>
                    </a:p>
                  </a:txBody>
                  <a:tcPr/>
                </a:tc>
                <a:tc>
                  <a:txBody>
                    <a:bodyPr/>
                    <a:lstStyle/>
                    <a:p>
                      <a:r>
                        <a:rPr lang="en-IN"/>
                        <a:t>1</a:t>
                      </a:r>
                    </a:p>
                  </a:txBody>
                  <a:tcPr/>
                </a:tc>
                <a:tc>
                  <a:txBody>
                    <a:bodyPr/>
                    <a:lstStyle/>
                    <a:p>
                      <a:r>
                        <a:rPr lang="en-IN"/>
                        <a:t>Ready to read or not</a:t>
                      </a:r>
                    </a:p>
                  </a:txBody>
                  <a:tcPr/>
                </a:tc>
                <a:extLst>
                  <a:ext uri="{0D108BD9-81ED-4DB2-BD59-A6C34878D82A}">
                    <a16:rowId xmlns:a16="http://schemas.microsoft.com/office/drawing/2014/main" val="2691065920"/>
                  </a:ext>
                </a:extLst>
              </a:tr>
              <a:tr h="614248">
                <a:tc>
                  <a:txBody>
                    <a:bodyPr/>
                    <a:lstStyle/>
                    <a:p>
                      <a:r>
                        <a:rPr lang="en-IN"/>
                        <a:t>RLAST</a:t>
                      </a:r>
                    </a:p>
                  </a:txBody>
                  <a:tcPr/>
                </a:tc>
                <a:tc>
                  <a:txBody>
                    <a:bodyPr/>
                    <a:lstStyle/>
                    <a:p>
                      <a:r>
                        <a:rPr lang="en-IN"/>
                        <a:t>1</a:t>
                      </a:r>
                    </a:p>
                  </a:txBody>
                  <a:tcPr/>
                </a:tc>
                <a:tc>
                  <a:txBody>
                    <a:bodyPr/>
                    <a:lstStyle/>
                    <a:p>
                      <a:r>
                        <a:rPr lang="en-IN"/>
                        <a:t>Explains about last data or not</a:t>
                      </a:r>
                    </a:p>
                  </a:txBody>
                  <a:tcPr/>
                </a:tc>
                <a:extLst>
                  <a:ext uri="{0D108BD9-81ED-4DB2-BD59-A6C34878D82A}">
                    <a16:rowId xmlns:a16="http://schemas.microsoft.com/office/drawing/2014/main" val="3021922655"/>
                  </a:ext>
                </a:extLst>
              </a:tr>
              <a:tr h="352623">
                <a:tc>
                  <a:txBody>
                    <a:bodyPr/>
                    <a:lstStyle/>
                    <a:p>
                      <a:r>
                        <a:rPr lang="en-IN"/>
                        <a:t>RDATA</a:t>
                      </a:r>
                    </a:p>
                  </a:txBody>
                  <a:tcPr/>
                </a:tc>
                <a:tc>
                  <a:txBody>
                    <a:bodyPr/>
                    <a:lstStyle/>
                    <a:p>
                      <a:r>
                        <a:rPr lang="en-IN"/>
                        <a:t>Data Size</a:t>
                      </a:r>
                    </a:p>
                  </a:txBody>
                  <a:tcPr/>
                </a:tc>
                <a:tc>
                  <a:txBody>
                    <a:bodyPr/>
                    <a:lstStyle/>
                    <a:p>
                      <a:r>
                        <a:rPr lang="en-IN"/>
                        <a:t>Size of data</a:t>
                      </a:r>
                    </a:p>
                  </a:txBody>
                  <a:tcPr/>
                </a:tc>
                <a:extLst>
                  <a:ext uri="{0D108BD9-81ED-4DB2-BD59-A6C34878D82A}">
                    <a16:rowId xmlns:a16="http://schemas.microsoft.com/office/drawing/2014/main" val="1083814373"/>
                  </a:ext>
                </a:extLst>
              </a:tr>
              <a:tr h="1137495">
                <a:tc>
                  <a:txBody>
                    <a:bodyPr/>
                    <a:lstStyle/>
                    <a:p>
                      <a:r>
                        <a:rPr lang="en-IN"/>
                        <a:t>RRESP</a:t>
                      </a:r>
                    </a:p>
                  </a:txBody>
                  <a:tcPr/>
                </a:tc>
                <a:tc>
                  <a:txBody>
                    <a:bodyPr/>
                    <a:lstStyle/>
                    <a:p>
                      <a:r>
                        <a:rPr lang="en-IN"/>
                        <a:t>2</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Explains about OKAY,EXOKAY,SLVERR,DECRR</a:t>
                      </a:r>
                    </a:p>
                    <a:p>
                      <a:endParaRPr lang="en-IN"/>
                    </a:p>
                  </a:txBody>
                  <a:tcPr/>
                </a:tc>
                <a:extLst>
                  <a:ext uri="{0D108BD9-81ED-4DB2-BD59-A6C34878D82A}">
                    <a16:rowId xmlns:a16="http://schemas.microsoft.com/office/drawing/2014/main" val="3796943892"/>
                  </a:ext>
                </a:extLst>
              </a:tr>
              <a:tr h="614248">
                <a:tc>
                  <a:txBody>
                    <a:bodyPr/>
                    <a:lstStyle/>
                    <a:p>
                      <a:r>
                        <a:rPr lang="en-IN"/>
                        <a:t>RUSER</a:t>
                      </a:r>
                    </a:p>
                  </a:txBody>
                  <a:tcPr/>
                </a:tc>
                <a:tc>
                  <a:txBody>
                    <a:bodyPr/>
                    <a:lstStyle/>
                    <a:p>
                      <a:r>
                        <a:rPr lang="en-IN"/>
                        <a:t>User defined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a:t>User defined signal</a:t>
                      </a:r>
                    </a:p>
                    <a:p>
                      <a:endParaRPr lang="en-IN"/>
                    </a:p>
                  </a:txBody>
                  <a:tcPr/>
                </a:tc>
                <a:extLst>
                  <a:ext uri="{0D108BD9-81ED-4DB2-BD59-A6C34878D82A}">
                    <a16:rowId xmlns:a16="http://schemas.microsoft.com/office/drawing/2014/main" val="1157982436"/>
                  </a:ext>
                </a:extLst>
              </a:tr>
            </a:tbl>
          </a:graphicData>
        </a:graphic>
      </p:graphicFrame>
    </p:spTree>
    <p:extLst>
      <p:ext uri="{BB962C8B-B14F-4D97-AF65-F5344CB8AC3E}">
        <p14:creationId xmlns:p14="http://schemas.microsoft.com/office/powerpoint/2010/main" val="15413607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C43D7-BB2A-DC4A-C08C-71BD46A7C564}"/>
              </a:ext>
            </a:extLst>
          </p:cNvPr>
          <p:cNvSpPr>
            <a:spLocks noGrp="1"/>
          </p:cNvSpPr>
          <p:nvPr>
            <p:ph type="title"/>
          </p:nvPr>
        </p:nvSpPr>
        <p:spPr/>
        <p:txBody>
          <a:bodyPr/>
          <a:lstStyle/>
          <a:p>
            <a:r>
              <a:rPr lang="en-GB"/>
              <a:t>Data size, length, and burst type</a:t>
            </a:r>
            <a:endParaRPr lang="en-IN"/>
          </a:p>
        </p:txBody>
      </p:sp>
      <p:sp>
        <p:nvSpPr>
          <p:cNvPr id="3" name="Content Placeholder 2">
            <a:extLst>
              <a:ext uri="{FF2B5EF4-FFF2-40B4-BE49-F238E27FC236}">
                <a16:creationId xmlns:a16="http://schemas.microsoft.com/office/drawing/2014/main" id="{DA83CD48-E9F9-2829-4AB3-27C83B542CE1}"/>
              </a:ext>
            </a:extLst>
          </p:cNvPr>
          <p:cNvSpPr>
            <a:spLocks noGrp="1"/>
          </p:cNvSpPr>
          <p:nvPr>
            <p:ph idx="1"/>
          </p:nvPr>
        </p:nvSpPr>
        <p:spPr/>
        <p:txBody>
          <a:bodyPr/>
          <a:lstStyle/>
          <a:p>
            <a:r>
              <a:rPr lang="en-GB" dirty="0" err="1"/>
              <a:t>AxLEN</a:t>
            </a:r>
            <a:r>
              <a:rPr lang="en-GB" dirty="0"/>
              <a:t> describes the length of the transaction in the number of transfers. o For AXI3, </a:t>
            </a:r>
            <a:r>
              <a:rPr lang="en-GB" dirty="0" err="1"/>
              <a:t>AxLEN</a:t>
            </a:r>
            <a:r>
              <a:rPr lang="en-GB" dirty="0"/>
              <a:t>[3:0] has 4 bits, which specifies a range of 1-16 transfers in a transaction. For AXI4, </a:t>
            </a:r>
            <a:r>
              <a:rPr lang="en-GB" dirty="0" err="1"/>
              <a:t>AxLEN</a:t>
            </a:r>
            <a:r>
              <a:rPr lang="en-GB" dirty="0"/>
              <a:t>[7:0] has 8 bits, which specifies a range of 1-256 data transfers in a transaction. </a:t>
            </a:r>
          </a:p>
          <a:p>
            <a:r>
              <a:rPr lang="en-GB" dirty="0"/>
              <a:t>  </a:t>
            </a:r>
            <a:r>
              <a:rPr lang="en-GB" dirty="0" err="1"/>
              <a:t>AxSize</a:t>
            </a:r>
            <a:r>
              <a:rPr lang="en-GB" dirty="0"/>
              <a:t>[2:0] describes the maximum number of bytes to transfer in each data transfer. Three bits of encoding indicate 1, 2, 4, 8, 16, 32, 64, or 128 bytes per transfer.</a:t>
            </a:r>
          </a:p>
          <a:p>
            <a:r>
              <a:rPr lang="en-GB" dirty="0"/>
              <a:t> </a:t>
            </a:r>
            <a:r>
              <a:rPr lang="en-GB" dirty="0" err="1"/>
              <a:t>AxBURST</a:t>
            </a:r>
            <a:r>
              <a:rPr lang="en-GB" dirty="0"/>
              <a:t>[1:0] describes the burst type of the transaction: fixed, incrementing, or wrapping. </a:t>
            </a:r>
            <a:endParaRPr lang="en-IN" dirty="0"/>
          </a:p>
        </p:txBody>
      </p:sp>
    </p:spTree>
    <p:extLst>
      <p:ext uri="{BB962C8B-B14F-4D97-AF65-F5344CB8AC3E}">
        <p14:creationId xmlns:p14="http://schemas.microsoft.com/office/powerpoint/2010/main" val="3059387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82950-9FE5-8D4D-552A-A2015CDCB546}"/>
              </a:ext>
            </a:extLst>
          </p:cNvPr>
          <p:cNvSpPr>
            <a:spLocks noGrp="1"/>
          </p:cNvSpPr>
          <p:nvPr>
            <p:ph type="title"/>
          </p:nvPr>
        </p:nvSpPr>
        <p:spPr/>
        <p:txBody>
          <a:bodyPr/>
          <a:lstStyle/>
          <a:p>
            <a:r>
              <a:rPr lang="en-IN"/>
              <a:t>Burst Types</a:t>
            </a:r>
          </a:p>
        </p:txBody>
      </p:sp>
      <p:pic>
        <p:nvPicPr>
          <p:cNvPr id="5" name="Content Placeholder 4">
            <a:extLst>
              <a:ext uri="{FF2B5EF4-FFF2-40B4-BE49-F238E27FC236}">
                <a16:creationId xmlns:a16="http://schemas.microsoft.com/office/drawing/2014/main" id="{7D9AD62E-CB36-E306-C68C-C3E26479C3E4}"/>
              </a:ext>
            </a:extLst>
          </p:cNvPr>
          <p:cNvPicPr>
            <a:picLocks noGrp="1" noChangeAspect="1"/>
          </p:cNvPicPr>
          <p:nvPr>
            <p:ph idx="1"/>
          </p:nvPr>
        </p:nvPicPr>
        <p:blipFill>
          <a:blip r:embed="rId2"/>
          <a:stretch>
            <a:fillRect/>
          </a:stretch>
        </p:blipFill>
        <p:spPr>
          <a:xfrm>
            <a:off x="561761" y="2190517"/>
            <a:ext cx="10433050" cy="4419600"/>
          </a:xfrm>
        </p:spPr>
      </p:pic>
    </p:spTree>
    <p:extLst>
      <p:ext uri="{BB962C8B-B14F-4D97-AF65-F5344CB8AC3E}">
        <p14:creationId xmlns:p14="http://schemas.microsoft.com/office/powerpoint/2010/main" val="2874995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13639-906C-2F9B-168D-4F37F23F96B9}"/>
              </a:ext>
            </a:extLst>
          </p:cNvPr>
          <p:cNvSpPr>
            <a:spLocks noGrp="1"/>
          </p:cNvSpPr>
          <p:nvPr>
            <p:ph type="title"/>
          </p:nvPr>
        </p:nvSpPr>
        <p:spPr/>
        <p:txBody>
          <a:bodyPr/>
          <a:lstStyle/>
          <a:p>
            <a:r>
              <a:rPr lang="en-IN"/>
              <a:t>Transaction Response</a:t>
            </a:r>
          </a:p>
        </p:txBody>
      </p:sp>
      <p:pic>
        <p:nvPicPr>
          <p:cNvPr id="2054" name="Picture 6" descr="A screenshot of a computer&#10;&#10;AI-generated content may be incorrect.">
            <a:extLst>
              <a:ext uri="{FF2B5EF4-FFF2-40B4-BE49-F238E27FC236}">
                <a16:creationId xmlns:a16="http://schemas.microsoft.com/office/drawing/2014/main" id="{20E17F45-C87B-8597-7DD8-5B76F92078B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17795" y="2603500"/>
            <a:ext cx="7900723" cy="341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9398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F5C5B-9BE3-A419-B798-733D54FC48FC}"/>
              </a:ext>
            </a:extLst>
          </p:cNvPr>
          <p:cNvSpPr>
            <a:spLocks noGrp="1"/>
          </p:cNvSpPr>
          <p:nvPr>
            <p:ph type="title"/>
          </p:nvPr>
        </p:nvSpPr>
        <p:spPr/>
        <p:txBody>
          <a:bodyPr/>
          <a:lstStyle/>
          <a:p>
            <a:r>
              <a:rPr lang="en-IN"/>
              <a:t>Write Strobe</a:t>
            </a:r>
          </a:p>
        </p:txBody>
      </p:sp>
      <p:pic>
        <p:nvPicPr>
          <p:cNvPr id="6" name="Content Placeholder 5">
            <a:extLst>
              <a:ext uri="{FF2B5EF4-FFF2-40B4-BE49-F238E27FC236}">
                <a16:creationId xmlns:a16="http://schemas.microsoft.com/office/drawing/2014/main" id="{A1F6416A-2B86-984D-3DB7-AA5729A48C36}"/>
              </a:ext>
            </a:extLst>
          </p:cNvPr>
          <p:cNvPicPr>
            <a:picLocks noGrp="1" noChangeAspect="1"/>
          </p:cNvPicPr>
          <p:nvPr>
            <p:ph idx="1"/>
          </p:nvPr>
        </p:nvPicPr>
        <p:blipFill>
          <a:blip r:embed="rId2"/>
          <a:stretch>
            <a:fillRect/>
          </a:stretch>
        </p:blipFill>
        <p:spPr>
          <a:xfrm>
            <a:off x="1847788" y="2603500"/>
            <a:ext cx="7440736" cy="3416300"/>
          </a:xfrm>
        </p:spPr>
      </p:pic>
    </p:spTree>
    <p:extLst>
      <p:ext uri="{BB962C8B-B14F-4D97-AF65-F5344CB8AC3E}">
        <p14:creationId xmlns:p14="http://schemas.microsoft.com/office/powerpoint/2010/main" val="1205011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79B7F-8BAD-D7A0-3AC5-795B06CB2480}"/>
              </a:ext>
            </a:extLst>
          </p:cNvPr>
          <p:cNvSpPr>
            <a:spLocks noGrp="1"/>
          </p:cNvSpPr>
          <p:nvPr>
            <p:ph type="title"/>
          </p:nvPr>
        </p:nvSpPr>
        <p:spPr/>
        <p:txBody>
          <a:bodyPr/>
          <a:lstStyle/>
          <a:p>
            <a:r>
              <a:rPr lang="en-IN" dirty="0"/>
              <a:t>          Atomic Access</a:t>
            </a:r>
          </a:p>
        </p:txBody>
      </p:sp>
      <p:sp>
        <p:nvSpPr>
          <p:cNvPr id="3" name="Content Placeholder 2">
            <a:extLst>
              <a:ext uri="{FF2B5EF4-FFF2-40B4-BE49-F238E27FC236}">
                <a16:creationId xmlns:a16="http://schemas.microsoft.com/office/drawing/2014/main" id="{E458383F-2C6A-5EA4-8FF3-343F175EE9D6}"/>
              </a:ext>
            </a:extLst>
          </p:cNvPr>
          <p:cNvSpPr>
            <a:spLocks noGrp="1"/>
          </p:cNvSpPr>
          <p:nvPr>
            <p:ph idx="1"/>
          </p:nvPr>
        </p:nvSpPr>
        <p:spPr/>
        <p:txBody>
          <a:bodyPr>
            <a:noAutofit/>
          </a:bodyPr>
          <a:lstStyle/>
          <a:p>
            <a:r>
              <a:rPr lang="en-GB" dirty="0"/>
              <a:t>Atomic accesses are used by masters when they would like to perform a sequence of accesses to a particular memory region, while being sure that the original data in the region are not corrupted by writes from other masters</a:t>
            </a:r>
          </a:p>
          <a:p>
            <a:r>
              <a:rPr lang="en-GB" dirty="0"/>
              <a:t>There are two types of atomic accesses: </a:t>
            </a:r>
          </a:p>
          <a:p>
            <a:pPr marL="0" indent="0">
              <a:buNone/>
            </a:pPr>
            <a:r>
              <a:rPr lang="en-GB" dirty="0"/>
              <a:t>  • Locked Access:</a:t>
            </a:r>
          </a:p>
          <a:p>
            <a:pPr marL="0" indent="0">
              <a:buNone/>
            </a:pPr>
            <a:r>
              <a:rPr lang="en-GB" dirty="0"/>
              <a:t> While a master is performing a transaction sequence with locked accesses, accesses from any other masters to the same slave are rejected.</a:t>
            </a:r>
          </a:p>
          <a:p>
            <a:pPr marL="0" indent="0">
              <a:buNone/>
            </a:pPr>
            <a:r>
              <a:rPr lang="en-GB" dirty="0"/>
              <a:t> • Exclusive Access:</a:t>
            </a:r>
          </a:p>
          <a:p>
            <a:pPr marL="0" indent="0">
              <a:buNone/>
            </a:pPr>
            <a:r>
              <a:rPr lang="en-GB" dirty="0"/>
              <a:t>When a master successfully performs a transaction sequence with exclusive accesses, other masters can access the slave but not the memory region that is being accessed.</a:t>
            </a:r>
            <a:endParaRPr lang="en-IN" dirty="0"/>
          </a:p>
        </p:txBody>
      </p:sp>
    </p:spTree>
    <p:extLst>
      <p:ext uri="{BB962C8B-B14F-4D97-AF65-F5344CB8AC3E}">
        <p14:creationId xmlns:p14="http://schemas.microsoft.com/office/powerpoint/2010/main" val="35132271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C5717-05CF-4FB7-817C-0E66F1B54C0E}"/>
              </a:ext>
            </a:extLst>
          </p:cNvPr>
          <p:cNvSpPr>
            <a:spLocks noGrp="1"/>
          </p:cNvSpPr>
          <p:nvPr>
            <p:ph type="title"/>
          </p:nvPr>
        </p:nvSpPr>
        <p:spPr/>
        <p:txBody>
          <a:bodyPr/>
          <a:lstStyle/>
          <a:p>
            <a:r>
              <a:rPr lang="en-IN"/>
              <a:t>           Locked Access</a:t>
            </a:r>
          </a:p>
        </p:txBody>
      </p:sp>
      <p:sp>
        <p:nvSpPr>
          <p:cNvPr id="3" name="Content Placeholder 2">
            <a:extLst>
              <a:ext uri="{FF2B5EF4-FFF2-40B4-BE49-F238E27FC236}">
                <a16:creationId xmlns:a16="http://schemas.microsoft.com/office/drawing/2014/main" id="{1E6ABEB8-D4FC-00BF-4F84-12E5534D4C5C}"/>
              </a:ext>
            </a:extLst>
          </p:cNvPr>
          <p:cNvSpPr>
            <a:spLocks noGrp="1"/>
          </p:cNvSpPr>
          <p:nvPr>
            <p:ph idx="1"/>
          </p:nvPr>
        </p:nvSpPr>
        <p:spPr/>
        <p:txBody>
          <a:bodyPr/>
          <a:lstStyle/>
          <a:p>
            <a:r>
              <a:rPr lang="en-GB" dirty="0"/>
              <a:t>A transaction with the </a:t>
            </a:r>
            <a:r>
              <a:rPr lang="en-GB" dirty="0" err="1"/>
              <a:t>AxLOCK</a:t>
            </a:r>
            <a:r>
              <a:rPr lang="en-GB" dirty="0"/>
              <a:t> signal set indicates a locked transaction.</a:t>
            </a:r>
          </a:p>
          <a:p>
            <a:r>
              <a:rPr lang="en-GB" dirty="0"/>
              <a:t> A locked sequence of transactions forces the interconnect to reject access to the slave from any other masters. </a:t>
            </a:r>
          </a:p>
          <a:p>
            <a:endParaRPr lang="en-GB" dirty="0"/>
          </a:p>
        </p:txBody>
      </p:sp>
      <p:pic>
        <p:nvPicPr>
          <p:cNvPr id="5" name="Picture 4">
            <a:extLst>
              <a:ext uri="{FF2B5EF4-FFF2-40B4-BE49-F238E27FC236}">
                <a16:creationId xmlns:a16="http://schemas.microsoft.com/office/drawing/2014/main" id="{B35CFCAC-A790-F13B-CCB8-ED44A6D675D7}"/>
              </a:ext>
            </a:extLst>
          </p:cNvPr>
          <p:cNvPicPr>
            <a:picLocks noChangeAspect="1"/>
          </p:cNvPicPr>
          <p:nvPr/>
        </p:nvPicPr>
        <p:blipFill>
          <a:blip r:embed="rId2"/>
          <a:stretch>
            <a:fillRect/>
          </a:stretch>
        </p:blipFill>
        <p:spPr>
          <a:xfrm>
            <a:off x="1593850" y="3949700"/>
            <a:ext cx="8322517" cy="2692399"/>
          </a:xfrm>
          <a:prstGeom prst="rect">
            <a:avLst/>
          </a:prstGeom>
        </p:spPr>
      </p:pic>
    </p:spTree>
    <p:extLst>
      <p:ext uri="{BB962C8B-B14F-4D97-AF65-F5344CB8AC3E}">
        <p14:creationId xmlns:p14="http://schemas.microsoft.com/office/powerpoint/2010/main" val="1932927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7D513-02E8-BF02-906C-664C2EAE9C71}"/>
              </a:ext>
            </a:extLst>
          </p:cNvPr>
          <p:cNvSpPr>
            <a:spLocks noGrp="1"/>
          </p:cNvSpPr>
          <p:nvPr>
            <p:ph type="title"/>
          </p:nvPr>
        </p:nvSpPr>
        <p:spPr/>
        <p:txBody>
          <a:bodyPr/>
          <a:lstStyle/>
          <a:p>
            <a:r>
              <a:rPr lang="en-IN"/>
              <a:t>           Exclusive Access</a:t>
            </a:r>
          </a:p>
        </p:txBody>
      </p:sp>
      <p:sp>
        <p:nvSpPr>
          <p:cNvPr id="3" name="Content Placeholder 2">
            <a:extLst>
              <a:ext uri="{FF2B5EF4-FFF2-40B4-BE49-F238E27FC236}">
                <a16:creationId xmlns:a16="http://schemas.microsoft.com/office/drawing/2014/main" id="{5A06637C-48E3-1E16-2D5E-98E10E6A9176}"/>
              </a:ext>
            </a:extLst>
          </p:cNvPr>
          <p:cNvSpPr>
            <a:spLocks noGrp="1"/>
          </p:cNvSpPr>
          <p:nvPr>
            <p:ph idx="1"/>
          </p:nvPr>
        </p:nvSpPr>
        <p:spPr/>
        <p:txBody>
          <a:bodyPr>
            <a:normAutofit lnSpcReduction="10000"/>
          </a:bodyPr>
          <a:lstStyle/>
          <a:p>
            <a:r>
              <a:rPr lang="en-GB" dirty="0"/>
              <a:t>In an exclusive access sequence, other masters can access the slave at the same time, but only one master will be granted access to the same memory range. </a:t>
            </a:r>
          </a:p>
          <a:p>
            <a:r>
              <a:rPr lang="en-GB" dirty="0"/>
              <a:t>The response from the exclusive access monitor hardware is one of the following: </a:t>
            </a:r>
          </a:p>
          <a:p>
            <a:pPr marL="0" indent="0">
              <a:buNone/>
            </a:pPr>
            <a:r>
              <a:rPr lang="en-GB" dirty="0"/>
              <a:t>      • </a:t>
            </a:r>
            <a:r>
              <a:rPr lang="en-GB" b="1" dirty="0"/>
              <a:t>EXOKAY:</a:t>
            </a:r>
            <a:r>
              <a:rPr lang="en-GB" dirty="0"/>
              <a:t> No other master has written to that location since the exclusive read access, so the write is successful. In this case, the exclusive write updates memory. </a:t>
            </a:r>
          </a:p>
          <a:p>
            <a:pPr marL="0" indent="0">
              <a:buNone/>
            </a:pPr>
            <a:r>
              <a:rPr lang="en-GB" dirty="0"/>
              <a:t>      • </a:t>
            </a:r>
            <a:r>
              <a:rPr lang="en-GB" b="1" dirty="0" err="1"/>
              <a:t>OKAY:</a:t>
            </a:r>
            <a:r>
              <a:rPr lang="en-GB" dirty="0" err="1"/>
              <a:t>Another</a:t>
            </a:r>
            <a:r>
              <a:rPr lang="en-GB" dirty="0"/>
              <a:t> master, for example M1, has written to the location since the exclusive read access, so the write fails. In this case, the memory location is not updated. </a:t>
            </a:r>
            <a:endParaRPr lang="en-IN" b="1" dirty="0"/>
          </a:p>
        </p:txBody>
      </p:sp>
    </p:spTree>
    <p:extLst>
      <p:ext uri="{BB962C8B-B14F-4D97-AF65-F5344CB8AC3E}">
        <p14:creationId xmlns:p14="http://schemas.microsoft.com/office/powerpoint/2010/main" val="6090451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9FA54-4000-5791-C02D-46F708C7BD51}"/>
              </a:ext>
            </a:extLst>
          </p:cNvPr>
          <p:cNvSpPr>
            <a:spLocks noGrp="1"/>
          </p:cNvSpPr>
          <p:nvPr>
            <p:ph type="title"/>
          </p:nvPr>
        </p:nvSpPr>
        <p:spPr/>
        <p:txBody>
          <a:bodyPr/>
          <a:lstStyle/>
          <a:p>
            <a:endParaRPr lang="en-IN"/>
          </a:p>
        </p:txBody>
      </p:sp>
      <p:pic>
        <p:nvPicPr>
          <p:cNvPr id="4" name="Picture 6" descr="Business Thank-You Letter Examples">
            <a:extLst>
              <a:ext uri="{FF2B5EF4-FFF2-40B4-BE49-F238E27FC236}">
                <a16:creationId xmlns:a16="http://schemas.microsoft.com/office/drawing/2014/main" id="{8F7439D8-F973-83EF-2E31-CB159967E5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900" y="-48250"/>
            <a:ext cx="11899900" cy="601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6885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169</TotalTime>
  <Words>1230</Words>
  <Application>Microsoft Office PowerPoint</Application>
  <PresentationFormat>Widescreen</PresentationFormat>
  <Paragraphs>188</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Century Gothic</vt:lpstr>
      <vt:lpstr>Wingdings 3</vt:lpstr>
      <vt:lpstr>Ion Boardroom</vt:lpstr>
      <vt:lpstr>AXI4 PROTOCOL</vt:lpstr>
      <vt:lpstr>                  Introduction</vt:lpstr>
      <vt:lpstr>                AXI3 VS AXI4</vt:lpstr>
      <vt:lpstr>         AXI in a multi-master system</vt:lpstr>
      <vt:lpstr>       AXI Features</vt:lpstr>
      <vt:lpstr>       AXI Features  </vt:lpstr>
      <vt:lpstr>                 AXI channels</vt:lpstr>
      <vt:lpstr>Channel Transfers and Transactions</vt:lpstr>
      <vt:lpstr>                Transactions</vt:lpstr>
      <vt:lpstr>        Channel Transfer examples</vt:lpstr>
      <vt:lpstr>             Write Transaction</vt:lpstr>
      <vt:lpstr>       Multiple Write Data Transactions </vt:lpstr>
      <vt:lpstr>           Read Transaction    </vt:lpstr>
      <vt:lpstr>        Multiple Read Data Transactions</vt:lpstr>
      <vt:lpstr>              Channel Signals</vt:lpstr>
      <vt:lpstr>     Write Address Signals</vt:lpstr>
      <vt:lpstr>Write Data Signals</vt:lpstr>
      <vt:lpstr>  Write Response Signals</vt:lpstr>
      <vt:lpstr>Read Address Signals</vt:lpstr>
      <vt:lpstr>Read Data Signals</vt:lpstr>
      <vt:lpstr>Data size, length, and burst type</vt:lpstr>
      <vt:lpstr>Burst Types</vt:lpstr>
      <vt:lpstr>Transaction Response</vt:lpstr>
      <vt:lpstr>Write Strobe</vt:lpstr>
      <vt:lpstr>          Atomic Access</vt:lpstr>
      <vt:lpstr>           Locked Access</vt:lpstr>
      <vt:lpstr>           Exclusive Access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AXI PROTOCOL</dc:title>
  <dc:creator>Penchala Narayana Reddy Kadapana</dc:creator>
  <cp:lastModifiedBy>sravanthi vennapusa</cp:lastModifiedBy>
  <cp:revision>2</cp:revision>
  <dcterms:created xsi:type="dcterms:W3CDTF">2026-01-07T04:22:19Z</dcterms:created>
  <dcterms:modified xsi:type="dcterms:W3CDTF">2026-01-22T11:10:09Z</dcterms:modified>
</cp:coreProperties>
</file>