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6"/>
  </p:notesMasterIdLst>
  <p:sldIdLst>
    <p:sldId id="256" r:id="rId5"/>
    <p:sldId id="258" r:id="rId6"/>
    <p:sldId id="374" r:id="rId7"/>
    <p:sldId id="471" r:id="rId8"/>
    <p:sldId id="389" r:id="rId9"/>
    <p:sldId id="405" r:id="rId10"/>
    <p:sldId id="437" r:id="rId11"/>
    <p:sldId id="434" r:id="rId12"/>
    <p:sldId id="438" r:id="rId13"/>
    <p:sldId id="387" r:id="rId14"/>
    <p:sldId id="439" r:id="rId15"/>
    <p:sldId id="386" r:id="rId16"/>
    <p:sldId id="440" r:id="rId17"/>
    <p:sldId id="441" r:id="rId18"/>
    <p:sldId id="442" r:id="rId19"/>
    <p:sldId id="444" r:id="rId20"/>
    <p:sldId id="443" r:id="rId21"/>
    <p:sldId id="445" r:id="rId22"/>
    <p:sldId id="446" r:id="rId23"/>
    <p:sldId id="447" r:id="rId24"/>
    <p:sldId id="448" r:id="rId25"/>
    <p:sldId id="449" r:id="rId26"/>
    <p:sldId id="450" r:id="rId27"/>
    <p:sldId id="451" r:id="rId28"/>
    <p:sldId id="452" r:id="rId29"/>
    <p:sldId id="453" r:id="rId30"/>
    <p:sldId id="455" r:id="rId31"/>
    <p:sldId id="456" r:id="rId32"/>
    <p:sldId id="472" r:id="rId33"/>
    <p:sldId id="457" r:id="rId34"/>
    <p:sldId id="32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3033E9-2784-4B7B-B8EB-D58AC8B8AD3F}" v="1" dt="2026-05-14T11:37:32.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F5E06-6981-4B6A-B6C7-45F3B83D4C44}" type="datetimeFigureOut">
              <a:rPr lang="en-IN" smtClean="0"/>
              <a:t>15-05-2026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EEAEB-03EA-44AF-9346-99919EF069E2}" type="slidenum">
              <a:rPr lang="en-IN" smtClean="0"/>
              <a:t>‹#›</a:t>
            </a:fld>
            <a:endParaRPr lang="en-IN"/>
          </a:p>
        </p:txBody>
      </p:sp>
    </p:spTree>
    <p:extLst>
      <p:ext uri="{BB962C8B-B14F-4D97-AF65-F5344CB8AC3E}">
        <p14:creationId xmlns:p14="http://schemas.microsoft.com/office/powerpoint/2010/main" val="256829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2F04417-6DAD-4BC2-9008-3F10C8C46168}"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27AB5D-075E-4B65-92B1-A38925A13DB1}"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F76EF-278F-436E-B915-E286BE6ACEBE}"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52B00A-4951-46C5-8D24-31F2DE065EAD}"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D93282-3257-4AF7-9E29-C785978D7628}" type="datetime1">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316D657-9AA6-4EC2-9227-6F9550B5518E}" type="datetime1">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AC7A9-8647-4FD2-B159-9ABE2A5A9516}" type="datetime1">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035195-BD93-495E-ACB7-B86F2895F59B}"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CB8A3C-CF08-4E0A-994B-EC05225E442F}" type="datetime1">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4A28F7-09BB-4B57-94F1-2FB678F6E27D}"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1F49FD-57D8-4BDC-A5E5-C43F5D6125AD}" type="datetime1">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6DF1E2-272E-42C9-B716-C75BDD98159F}" type="datetime1">
              <a:rPr lang="en-US" smtClean="0"/>
              <a:t>5/15/2026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88558" y="729469"/>
            <a:ext cx="9014348" cy="2402006"/>
          </a:xfrm>
        </p:spPr>
        <p:txBody>
          <a:bodyPr anchor="b">
            <a:norm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CALIPTRA SoC IFC Microarchitecture-Phase 1</a:t>
            </a: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608618" y="5079628"/>
            <a:ext cx="5018944" cy="1020664"/>
          </a:xfrm>
        </p:spPr>
        <p:txBody>
          <a:bodyPr anchor="ctr">
            <a:normAutofit fontScale="85000" lnSpcReduction="20000"/>
          </a:bodyPr>
          <a:lstStyle/>
          <a:p>
            <a:pPr algn="l"/>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V.SRAVANTHI</a:t>
            </a:r>
          </a:p>
          <a:p>
            <a:pPr algn="l"/>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DESIGN ENGINEER</a:t>
            </a:r>
          </a:p>
          <a:p>
            <a:pPr algn="l"/>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CHIPWEAVE TECHNOLOGIES PVT LTD</a:t>
            </a:r>
          </a:p>
        </p:txBody>
      </p:sp>
      <p:sp>
        <p:nvSpPr>
          <p:cNvPr id="6" name="Slide Number Placeholder 5">
            <a:extLst>
              <a:ext uri="{FF2B5EF4-FFF2-40B4-BE49-F238E27FC236}">
                <a16:creationId xmlns:a16="http://schemas.microsoft.com/office/drawing/2014/main" id="{99F80CE0-DCF5-72BD-92D1-7F70EDC6CEEA}"/>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1B35B5-1EF0-7F98-DE21-64AEB3584BC4}"/>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sz="2400">
              <a:latin typeface="Calibri" panose="020F0502020204030204" pitchFamily="34" charset="0"/>
              <a:ea typeface="Calibri" panose="020F0502020204030204" pitchFamily="34" charset="0"/>
              <a:cs typeface="Calibri" panose="020F0502020204030204" pitchFamily="34" charset="0"/>
            </a:endParaRPr>
          </a:p>
          <a:p>
            <a:r>
              <a:rPr lang="en-US" sz="2400">
                <a:latin typeface="Calibri" panose="020F0502020204030204" pitchFamily="34" charset="0"/>
                <a:ea typeface="Calibri" panose="020F0502020204030204" pitchFamily="34" charset="0"/>
                <a:cs typeface="Calibri" panose="020F0502020204030204" pitchFamily="34" charset="0"/>
              </a:rPr>
              <a:t>High level Block Diagram of Caliptra</a:t>
            </a:r>
          </a:p>
          <a:p>
            <a:r>
              <a:rPr lang="en-US" sz="2400">
                <a:latin typeface="Calibri" panose="020F0502020204030204" pitchFamily="34" charset="0"/>
                <a:ea typeface="Calibri" panose="020F0502020204030204" pitchFamily="34" charset="0"/>
                <a:cs typeface="Calibri" panose="020F0502020204030204" pitchFamily="34" charset="0"/>
              </a:rPr>
              <a:t>SoC-Interface Introduction &amp; Block Diagram</a:t>
            </a:r>
          </a:p>
          <a:p>
            <a:r>
              <a:rPr lang="en-US" sz="2400">
                <a:latin typeface="Calibri" panose="020F0502020204030204" pitchFamily="34" charset="0"/>
                <a:ea typeface="Calibri" panose="020F0502020204030204" pitchFamily="34" charset="0"/>
                <a:cs typeface="Calibri" panose="020F0502020204030204" pitchFamily="34" charset="0"/>
              </a:rPr>
              <a:t>Mailbox Introduction &amp; Block Diagram</a:t>
            </a:r>
          </a:p>
          <a:p>
            <a:r>
              <a:rPr lang="en-US" sz="2400">
                <a:latin typeface="Calibri" panose="020F0502020204030204" pitchFamily="34" charset="0"/>
                <a:ea typeface="Calibri" panose="020F0502020204030204" pitchFamily="34" charset="0"/>
                <a:cs typeface="Calibri" panose="020F0502020204030204" pitchFamily="34" charset="0"/>
              </a:rPr>
              <a:t>Signal list and working of Mailbox</a:t>
            </a:r>
          </a:p>
          <a:p>
            <a:r>
              <a:rPr lang="en-US" sz="2400">
                <a:latin typeface="Calibri" panose="020F0502020204030204" pitchFamily="34" charset="0"/>
                <a:ea typeface="Calibri" panose="020F0502020204030204" pitchFamily="34" charset="0"/>
                <a:cs typeface="Calibri" panose="020F0502020204030204" pitchFamily="34" charset="0"/>
              </a:rPr>
              <a:t>SHA 512 Accelerator Introduction &amp; Block Diagram</a:t>
            </a:r>
          </a:p>
          <a:p>
            <a:r>
              <a:rPr lang="en-US" sz="2400">
                <a:latin typeface="Calibri" panose="020F0502020204030204" pitchFamily="34" charset="0"/>
                <a:ea typeface="Calibri" panose="020F0502020204030204" pitchFamily="34" charset="0"/>
                <a:cs typeface="Calibri" panose="020F0502020204030204" pitchFamily="34" charset="0"/>
              </a:rPr>
              <a:t>Signal list and working of SHA 512 Accelerator </a:t>
            </a:r>
          </a:p>
        </p:txBody>
      </p:sp>
      <p:sp>
        <p:nvSpPr>
          <p:cNvPr id="5" name="Title 1">
            <a:extLst>
              <a:ext uri="{FF2B5EF4-FFF2-40B4-BE49-F238E27FC236}">
                <a16:creationId xmlns:a16="http://schemas.microsoft.com/office/drawing/2014/main" id="{08C32F6C-B7EE-A57C-0B32-A168B30F2069}"/>
              </a:ext>
            </a:extLst>
          </p:cNvPr>
          <p:cNvSpPr>
            <a:spLocks noGrp="1"/>
          </p:cNvSpPr>
          <p:nvPr>
            <p:ph type="title"/>
          </p:nvPr>
        </p:nvSpPr>
        <p:spPr>
          <a:xfrm>
            <a:off x="1" y="0"/>
            <a:ext cx="12192000" cy="871180"/>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CONTENTS</a:t>
            </a:r>
          </a:p>
        </p:txBody>
      </p:sp>
      <p:sp>
        <p:nvSpPr>
          <p:cNvPr id="6" name="Slide Number Placeholder 5">
            <a:extLst>
              <a:ext uri="{FF2B5EF4-FFF2-40B4-BE49-F238E27FC236}">
                <a16:creationId xmlns:a16="http://schemas.microsoft.com/office/drawing/2014/main" id="{F85E02A3-85D3-6075-30E9-38D7BFA71DAF}"/>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905354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04399-4EAA-A6BB-B34E-BDD5A6978E8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67F4991-F64F-F08C-A73B-0A69A70F8FF6}"/>
              </a:ext>
            </a:extLst>
          </p:cNvPr>
          <p:cNvSpPr>
            <a:spLocks noGrp="1"/>
          </p:cNvSpPr>
          <p:nvPr>
            <p:ph type="title"/>
          </p:nvPr>
        </p:nvSpPr>
        <p:spPr>
          <a:xfrm>
            <a:off x="0" y="1"/>
            <a:ext cx="12192000" cy="871180"/>
          </a:xfrm>
          <a:solidFill>
            <a:schemeClr val="accent6"/>
          </a:solidFill>
        </p:spPr>
        <p:txBody>
          <a:bodyPr>
            <a:normAutofit/>
          </a:bodyPr>
          <a:lstStyle/>
          <a:p>
            <a:pPr algn="ctr"/>
            <a:r>
              <a:rPr lang="en-IN" sz="2800">
                <a:latin typeface="Calibri" panose="020F0502020204030204" pitchFamily="34" charset="0"/>
                <a:ea typeface="Calibri" panose="020F0502020204030204" pitchFamily="34" charset="0"/>
                <a:cs typeface="Calibri" panose="020F0502020204030204" pitchFamily="34" charset="0"/>
              </a:rPr>
              <a:t>High Level Block Diagram of Caliptra</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673FCC95-3EDE-E768-19EC-CBF20D88516E}"/>
              </a:ext>
            </a:extLst>
          </p:cNvPr>
          <p:cNvSpPr>
            <a:spLocks noGrp="1"/>
          </p:cNvSpPr>
          <p:nvPr>
            <p:ph idx="1"/>
          </p:nvPr>
        </p:nvSpPr>
        <p:spPr/>
        <p:txBody>
          <a:bodyPr/>
          <a:lstStyle/>
          <a:p>
            <a:pPr marL="0" indent="0">
              <a:buNone/>
            </a:pPr>
            <a:endParaRPr lang="en-IN"/>
          </a:p>
          <a:p>
            <a:pPr marL="0" indent="0">
              <a:buNone/>
            </a:pPr>
            <a:endParaRPr lang="en-IN"/>
          </a:p>
        </p:txBody>
      </p:sp>
      <p:pic>
        <p:nvPicPr>
          <p:cNvPr id="8" name="Picture 7">
            <a:extLst>
              <a:ext uri="{FF2B5EF4-FFF2-40B4-BE49-F238E27FC236}">
                <a16:creationId xmlns:a16="http://schemas.microsoft.com/office/drawing/2014/main" id="{1A425BFF-4A55-CA20-5035-17B9D2602983}"/>
              </a:ext>
            </a:extLst>
          </p:cNvPr>
          <p:cNvPicPr>
            <a:picLocks noChangeAspect="1"/>
          </p:cNvPicPr>
          <p:nvPr/>
        </p:nvPicPr>
        <p:blipFill>
          <a:blip r:embed="rId2"/>
          <a:stretch>
            <a:fillRect/>
          </a:stretch>
        </p:blipFill>
        <p:spPr>
          <a:xfrm>
            <a:off x="0" y="802984"/>
            <a:ext cx="12192000" cy="5963231"/>
          </a:xfrm>
          <a:prstGeom prst="rect">
            <a:avLst/>
          </a:prstGeom>
        </p:spPr>
      </p:pic>
      <p:pic>
        <p:nvPicPr>
          <p:cNvPr id="9" name="Picture 8">
            <a:extLst>
              <a:ext uri="{FF2B5EF4-FFF2-40B4-BE49-F238E27FC236}">
                <a16:creationId xmlns:a16="http://schemas.microsoft.com/office/drawing/2014/main" id="{C982A8D7-9213-D43F-9279-D15567461E10}"/>
              </a:ext>
            </a:extLst>
          </p:cNvPr>
          <p:cNvPicPr>
            <a:picLocks noChangeAspect="1"/>
          </p:cNvPicPr>
          <p:nvPr/>
        </p:nvPicPr>
        <p:blipFill>
          <a:blip r:embed="rId2"/>
          <a:stretch>
            <a:fillRect/>
          </a:stretch>
        </p:blipFill>
        <p:spPr>
          <a:xfrm>
            <a:off x="0" y="871181"/>
            <a:ext cx="12192000" cy="5963231"/>
          </a:xfrm>
          <a:prstGeom prst="rect">
            <a:avLst/>
          </a:prstGeom>
        </p:spPr>
      </p:pic>
      <p:sp>
        <p:nvSpPr>
          <p:cNvPr id="12" name="Slide Number Placeholder 11">
            <a:extLst>
              <a:ext uri="{FF2B5EF4-FFF2-40B4-BE49-F238E27FC236}">
                <a16:creationId xmlns:a16="http://schemas.microsoft.com/office/drawing/2014/main" id="{69EE495F-F1B1-F3CF-74DC-C797B7632F11}"/>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2388394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2C5EA-D16B-4C98-038C-E48090AB52B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93FC9B4-80C7-C2C0-9E02-79BA1A3783D8}"/>
              </a:ext>
            </a:extLst>
          </p:cNvPr>
          <p:cNvSpPr>
            <a:spLocks noGrp="1"/>
          </p:cNvSpPr>
          <p:nvPr>
            <p:ph type="title"/>
          </p:nvPr>
        </p:nvSpPr>
        <p:spPr>
          <a:xfrm>
            <a:off x="0" y="1"/>
            <a:ext cx="12192000" cy="871180"/>
          </a:xfrm>
          <a:solidFill>
            <a:schemeClr val="accent6"/>
          </a:solidFill>
        </p:spPr>
        <p:txBody>
          <a:bodyPr>
            <a:normAutofit/>
          </a:bodyPr>
          <a:lstStyle/>
          <a:p>
            <a:pPr algn="ctr"/>
            <a:r>
              <a:rPr lang="en-IN" sz="2800">
                <a:latin typeface="Calibri" panose="020F0502020204030204" pitchFamily="34" charset="0"/>
                <a:ea typeface="Calibri" panose="020F0502020204030204" pitchFamily="34" charset="0"/>
                <a:cs typeface="Calibri" panose="020F0502020204030204" pitchFamily="34" charset="0"/>
              </a:rPr>
              <a:t>Block Diagram of SoC-IFC</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91390262-0A30-78EC-50D9-115F89073BB3}"/>
              </a:ext>
            </a:extLst>
          </p:cNvPr>
          <p:cNvSpPr>
            <a:spLocks noGrp="1"/>
          </p:cNvSpPr>
          <p:nvPr>
            <p:ph idx="1"/>
          </p:nvPr>
        </p:nvSpPr>
        <p:spPr/>
        <p:txBody>
          <a:bodyPr/>
          <a:lstStyle/>
          <a:p>
            <a:pPr marL="0" indent="0">
              <a:buNone/>
            </a:pPr>
            <a:endParaRPr lang="en-IN"/>
          </a:p>
          <a:p>
            <a:pPr marL="0" indent="0">
              <a:buNone/>
            </a:pPr>
            <a:endParaRPr lang="en-IN"/>
          </a:p>
        </p:txBody>
      </p:sp>
      <p:pic>
        <p:nvPicPr>
          <p:cNvPr id="3" name="Picture 2">
            <a:extLst>
              <a:ext uri="{FF2B5EF4-FFF2-40B4-BE49-F238E27FC236}">
                <a16:creationId xmlns:a16="http://schemas.microsoft.com/office/drawing/2014/main" id="{9C82014F-DEE9-E0FD-A5AD-87FB1A6A3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814" y="956734"/>
            <a:ext cx="9199971" cy="5545666"/>
          </a:xfrm>
          <a:prstGeom prst="rect">
            <a:avLst/>
          </a:prstGeom>
        </p:spPr>
      </p:pic>
      <p:sp>
        <p:nvSpPr>
          <p:cNvPr id="7" name="Slide Number Placeholder 6">
            <a:extLst>
              <a:ext uri="{FF2B5EF4-FFF2-40B4-BE49-F238E27FC236}">
                <a16:creationId xmlns:a16="http://schemas.microsoft.com/office/drawing/2014/main" id="{117A529F-5F5E-AACA-4934-3D6BA5B6F172}"/>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1468114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B66D-8A6D-7AFC-1470-1676B0F882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7CBC681-0698-7AFF-1627-8E70FF1AE837}"/>
              </a:ext>
            </a:extLst>
          </p:cNvPr>
          <p:cNvSpPr>
            <a:spLocks noGrp="1"/>
          </p:cNvSpPr>
          <p:nvPr>
            <p:ph type="title"/>
          </p:nvPr>
        </p:nvSpPr>
        <p:spPr>
          <a:xfrm>
            <a:off x="0" y="1"/>
            <a:ext cx="12192000" cy="871180"/>
          </a:xfrm>
          <a:solidFill>
            <a:schemeClr val="accent6"/>
          </a:solidFill>
        </p:spPr>
        <p:txBody>
          <a:bodyPr>
            <a:noAutofit/>
          </a:bodyPr>
          <a:lstStyle/>
          <a:p>
            <a:pPr algn="ctr"/>
            <a:br>
              <a:rPr lang="en-IN" sz="2800" b="1">
                <a:latin typeface="Calibri" panose="020F0502020204030204" pitchFamily="34" charset="0"/>
                <a:ea typeface="Calibri" panose="020F0502020204030204" pitchFamily="34" charset="0"/>
                <a:cs typeface="Calibri" panose="020F0502020204030204" pitchFamily="34" charset="0"/>
              </a:rPr>
            </a:br>
            <a:r>
              <a:rPr lang="en-IN" sz="2800" b="1">
                <a:latin typeface="Calibri" panose="020F0502020204030204" pitchFamily="34" charset="0"/>
                <a:ea typeface="Calibri" panose="020F0502020204030204" pitchFamily="34" charset="0"/>
                <a:cs typeface="Calibri" panose="020F0502020204030204" pitchFamily="34" charset="0"/>
              </a:rPr>
              <a:t>Mailbox </a:t>
            </a:r>
            <a:br>
              <a:rPr lang="en-IN" sz="2800" b="1">
                <a:latin typeface="Calibri" panose="020F0502020204030204" pitchFamily="34" charset="0"/>
                <a:ea typeface="Calibri" panose="020F0502020204030204" pitchFamily="34" charset="0"/>
                <a:cs typeface="Calibri" panose="020F0502020204030204" pitchFamily="34" charset="0"/>
              </a:rPr>
            </a:b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B02E569F-4874-F5DA-ADD5-8A2B4580A35A}"/>
              </a:ext>
            </a:extLst>
          </p:cNvPr>
          <p:cNvSpPr>
            <a:spLocks noGrp="1"/>
          </p:cNvSpPr>
          <p:nvPr>
            <p:ph idx="1"/>
          </p:nvPr>
        </p:nvSpPr>
        <p:spPr>
          <a:xfrm>
            <a:off x="668867" y="1049867"/>
            <a:ext cx="10820400" cy="5127096"/>
          </a:xfrm>
        </p:spPr>
        <p:txBody>
          <a:bodyPr>
            <a:noAutofit/>
          </a:bodyPr>
          <a:lstStyle/>
          <a:p>
            <a:pPr marL="0" lvl="0" indent="0" eaLnBrk="0" fontAlgn="base" hangingPunct="0">
              <a:lnSpc>
                <a:spcPct val="100000"/>
              </a:lnSpc>
              <a:spcBef>
                <a:spcPct val="0"/>
              </a:spcBef>
              <a:spcAft>
                <a:spcPct val="0"/>
              </a:spcAft>
              <a:buFontTx/>
              <a:buChar char="•"/>
            </a:pPr>
            <a:r>
              <a:rPr lang="en-US" altLang="en-US" sz="2400">
                <a:latin typeface="Calibri" panose="020F0502020204030204" pitchFamily="34" charset="0"/>
                <a:ea typeface="Calibri" panose="020F0502020204030204" pitchFamily="34" charset="0"/>
                <a:cs typeface="Calibri" panose="020F0502020204030204" pitchFamily="34" charset="0"/>
              </a:rPr>
              <a:t>The mailbox is a hardware communication block used to exchange data between SoC, uC, DMA, and SHA accelerator. </a:t>
            </a:r>
          </a:p>
          <a:p>
            <a:pPr marL="0" lvl="0" indent="0" eaLnBrk="0" fontAlgn="base" hangingPunct="0">
              <a:lnSpc>
                <a:spcPct val="100000"/>
              </a:lnSpc>
              <a:spcBef>
                <a:spcPct val="0"/>
              </a:spcBef>
              <a:spcAft>
                <a:spcPct val="0"/>
              </a:spcAft>
              <a:buFontTx/>
              <a:buChar char="•"/>
            </a:pPr>
            <a:r>
              <a:rPr lang="en-US" altLang="en-US" sz="2400">
                <a:latin typeface="Calibri" panose="020F0502020204030204" pitchFamily="34" charset="0"/>
                <a:ea typeface="Calibri" panose="020F0502020204030204" pitchFamily="34" charset="0"/>
                <a:cs typeface="Calibri" panose="020F0502020204030204" pitchFamily="34" charset="0"/>
              </a:rPr>
              <a:t>It uses a finite state machine (FSM) to control the sequence: </a:t>
            </a:r>
          </a:p>
          <a:p>
            <a:pPr marL="0" lvl="0" indent="0"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                             IDLE → CMD → DLEN → DATA → EXECUTE. </a:t>
            </a:r>
          </a:p>
          <a:p>
            <a:pPr marL="0" lvl="0" indent="0" eaLnBrk="0" fontAlgn="base" hangingPunct="0">
              <a:lnSpc>
                <a:spcPct val="100000"/>
              </a:lnSpc>
              <a:spcBef>
                <a:spcPct val="0"/>
              </a:spcBef>
              <a:spcAft>
                <a:spcPct val="0"/>
              </a:spcAft>
              <a:buFontTx/>
              <a:buChar char="•"/>
            </a:pPr>
            <a:r>
              <a:rPr lang="en-US" altLang="en-US" sz="2400">
                <a:latin typeface="Calibri" panose="020F0502020204030204" pitchFamily="34" charset="0"/>
                <a:ea typeface="Calibri" panose="020F0502020204030204" pitchFamily="34" charset="0"/>
                <a:cs typeface="Calibri" panose="020F0502020204030204" pitchFamily="34" charset="0"/>
              </a:rPr>
              <a:t>A lock mechanism ensures only one master (SoC, uC, or TAP) accesses the mailbox at a time. </a:t>
            </a:r>
          </a:p>
          <a:p>
            <a:pPr marL="0" lvl="0" indent="0" eaLnBrk="0" fontAlgn="base" hangingPunct="0">
              <a:lnSpc>
                <a:spcPct val="100000"/>
              </a:lnSpc>
              <a:spcBef>
                <a:spcPct val="0"/>
              </a:spcBef>
              <a:spcAft>
                <a:spcPct val="0"/>
              </a:spcAft>
              <a:buFontTx/>
              <a:buChar char="•"/>
            </a:pPr>
            <a:r>
              <a:rPr lang="en-US" altLang="en-US" sz="2400">
                <a:latin typeface="Calibri" panose="020F0502020204030204" pitchFamily="34" charset="0"/>
                <a:ea typeface="Calibri" panose="020F0502020204030204" pitchFamily="34" charset="0"/>
                <a:cs typeface="Calibri" panose="020F0502020204030204" pitchFamily="34" charset="0"/>
              </a:rPr>
              <a:t>Data is stored in an internal SRAM memory, organized using read and write pointers. </a:t>
            </a:r>
          </a:p>
          <a:p>
            <a:pPr marL="0" lvl="0" indent="0" eaLnBrk="0" fontAlgn="base" hangingPunct="0">
              <a:lnSpc>
                <a:spcPct val="100000"/>
              </a:lnSpc>
              <a:spcBef>
                <a:spcPct val="0"/>
              </a:spcBef>
              <a:spcAft>
                <a:spcPct val="0"/>
              </a:spcAft>
              <a:buFontTx/>
              <a:buChar char="•"/>
            </a:pPr>
            <a:r>
              <a:rPr lang="en-US" altLang="en-US" sz="2400">
                <a:latin typeface="Calibri" panose="020F0502020204030204" pitchFamily="34" charset="0"/>
                <a:ea typeface="Calibri" panose="020F0502020204030204" pitchFamily="34" charset="0"/>
                <a:cs typeface="Calibri" panose="020F0502020204030204" pitchFamily="34" charset="0"/>
              </a:rPr>
              <a:t>The CSR registers (CMD, DLEN, STATUS, DATA) control mailbox configuration and operation.</a:t>
            </a:r>
          </a:p>
        </p:txBody>
      </p:sp>
      <p:sp>
        <p:nvSpPr>
          <p:cNvPr id="6" name="Slide Number Placeholder 5">
            <a:extLst>
              <a:ext uri="{FF2B5EF4-FFF2-40B4-BE49-F238E27FC236}">
                <a16:creationId xmlns:a16="http://schemas.microsoft.com/office/drawing/2014/main" id="{2848C8F7-E4B7-F26F-5A5C-A5E24626EE15}"/>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2327629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8663C-E85D-6ED3-A7F9-E6B4240F46A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A91060-4A40-BD3F-CEA9-02776D61035F}"/>
              </a:ext>
            </a:extLst>
          </p:cNvPr>
          <p:cNvSpPr>
            <a:spLocks noGrp="1"/>
          </p:cNvSpPr>
          <p:nvPr>
            <p:ph type="title"/>
          </p:nvPr>
        </p:nvSpPr>
        <p:spPr>
          <a:xfrm>
            <a:off x="1" y="0"/>
            <a:ext cx="12192000" cy="865489"/>
          </a:xfrm>
          <a:solidFill>
            <a:schemeClr val="accent6"/>
          </a:solidFill>
        </p:spPr>
        <p:txBody>
          <a:bodyPr>
            <a:noAutofit/>
          </a:bodyPr>
          <a:lstStyle/>
          <a:p>
            <a:pPr algn="ctr"/>
            <a:r>
              <a:rPr lang="en-IN" sz="2800" b="1">
                <a:latin typeface="Calibri" panose="020F0502020204030204" pitchFamily="34" charset="0"/>
                <a:ea typeface="Calibri" panose="020F0502020204030204" pitchFamily="34" charset="0"/>
                <a:cs typeface="Calibri" panose="020F0502020204030204" pitchFamily="34" charset="0"/>
              </a:rPr>
              <a:t>Block Diagram of Mailbox</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7">
            <a:extLst>
              <a:ext uri="{FF2B5EF4-FFF2-40B4-BE49-F238E27FC236}">
                <a16:creationId xmlns:a16="http://schemas.microsoft.com/office/drawing/2014/main" id="{0A32DB0A-D61C-4CE3-1593-7A7EAC40BC65}"/>
              </a:ext>
            </a:extLst>
          </p:cNvPr>
          <p:cNvSpPr>
            <a:spLocks noGrp="1"/>
          </p:cNvSpPr>
          <p:nvPr>
            <p:ph idx="1"/>
          </p:nvPr>
        </p:nvSpPr>
        <p:spPr>
          <a:xfrm>
            <a:off x="705394" y="1463040"/>
            <a:ext cx="10648406" cy="4713923"/>
          </a:xfrm>
        </p:spPr>
        <p:txBody>
          <a:bodyPr>
            <a:normAutofit/>
          </a:bodyPr>
          <a:lstStyle/>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4BB6817-B3C8-1FC5-38FD-5C32CCFE9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2573" y="1695461"/>
            <a:ext cx="7544853" cy="3620005"/>
          </a:xfrm>
          <a:prstGeom prst="rect">
            <a:avLst/>
          </a:prstGeom>
        </p:spPr>
      </p:pic>
      <p:sp>
        <p:nvSpPr>
          <p:cNvPr id="4" name="TextBox 3">
            <a:extLst>
              <a:ext uri="{FF2B5EF4-FFF2-40B4-BE49-F238E27FC236}">
                <a16:creationId xmlns:a16="http://schemas.microsoft.com/office/drawing/2014/main" id="{60F45CB6-B8AA-3B8F-014E-B118D87B04CA}"/>
              </a:ext>
            </a:extLst>
          </p:cNvPr>
          <p:cNvSpPr txBox="1"/>
          <p:nvPr/>
        </p:nvSpPr>
        <p:spPr>
          <a:xfrm>
            <a:off x="3505199" y="5130800"/>
            <a:ext cx="4119305" cy="369332"/>
          </a:xfrm>
          <a:prstGeom prst="rect">
            <a:avLst/>
          </a:prstGeom>
          <a:noFill/>
        </p:spPr>
        <p:txBody>
          <a:bodyPr wrap="square" rtlCol="0">
            <a:spAutoFit/>
          </a:bodyPr>
          <a:lstStyle/>
          <a:p>
            <a:r>
              <a:rPr lang="en-IN"/>
              <a:t>Fig 1.Block Diagram of Mailbox</a:t>
            </a:r>
          </a:p>
        </p:txBody>
      </p:sp>
      <p:sp>
        <p:nvSpPr>
          <p:cNvPr id="7" name="Slide Number Placeholder 6">
            <a:extLst>
              <a:ext uri="{FF2B5EF4-FFF2-40B4-BE49-F238E27FC236}">
                <a16:creationId xmlns:a16="http://schemas.microsoft.com/office/drawing/2014/main" id="{6C04FDFC-6C72-4530-4AAF-8CBB96ECEAEC}"/>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355439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76B69-8A05-7BCB-B572-EC518034643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5CE54D3-2CAB-BBA0-7088-5382339DFCBA}"/>
              </a:ext>
            </a:extLst>
          </p:cNvPr>
          <p:cNvSpPr>
            <a:spLocks noGrp="1"/>
          </p:cNvSpPr>
          <p:nvPr>
            <p:ph type="title"/>
          </p:nvPr>
        </p:nvSpPr>
        <p:spPr>
          <a:xfrm>
            <a:off x="1" y="0"/>
            <a:ext cx="12192000" cy="865489"/>
          </a:xfrm>
          <a:solidFill>
            <a:schemeClr val="accent6"/>
          </a:solidFill>
        </p:spPr>
        <p:txBody>
          <a:bodyPr>
            <a:noAutofit/>
          </a:bodyPr>
          <a:lstStyle/>
          <a:p>
            <a:pPr algn="ctr"/>
            <a:r>
              <a:rPr lang="en-IN" sz="2800" b="1">
                <a:latin typeface="Calibri" panose="020F0502020204030204" pitchFamily="34" charset="0"/>
                <a:ea typeface="Calibri" panose="020F0502020204030204" pitchFamily="34" charset="0"/>
                <a:cs typeface="Calibri" panose="020F0502020204030204" pitchFamily="34" charset="0"/>
              </a:rPr>
              <a:t>Pin Diagram of Mailbox</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7">
            <a:extLst>
              <a:ext uri="{FF2B5EF4-FFF2-40B4-BE49-F238E27FC236}">
                <a16:creationId xmlns:a16="http://schemas.microsoft.com/office/drawing/2014/main" id="{9A7AFCCC-D170-E0BE-21E1-FAD5AD95875C}"/>
              </a:ext>
            </a:extLst>
          </p:cNvPr>
          <p:cNvSpPr>
            <a:spLocks noGrp="1"/>
          </p:cNvSpPr>
          <p:nvPr>
            <p:ph idx="1"/>
          </p:nvPr>
        </p:nvSpPr>
        <p:spPr>
          <a:xfrm>
            <a:off x="705394" y="1463040"/>
            <a:ext cx="10648406" cy="4713923"/>
          </a:xfrm>
        </p:spPr>
        <p:txBody>
          <a:bodyPr>
            <a:normAutofit/>
          </a:bodyPr>
          <a:lstStyle/>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ED25790-8AF1-4FE3-F9CD-5C742D3A7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1467" y="948266"/>
            <a:ext cx="7061095" cy="5461001"/>
          </a:xfrm>
          <a:prstGeom prst="rect">
            <a:avLst/>
          </a:prstGeom>
        </p:spPr>
      </p:pic>
      <p:sp>
        <p:nvSpPr>
          <p:cNvPr id="6" name="TextBox 5">
            <a:extLst>
              <a:ext uri="{FF2B5EF4-FFF2-40B4-BE49-F238E27FC236}">
                <a16:creationId xmlns:a16="http://schemas.microsoft.com/office/drawing/2014/main" id="{371E0A8F-7C83-5AE6-B6E1-B317C8B0E7DB}"/>
              </a:ext>
            </a:extLst>
          </p:cNvPr>
          <p:cNvSpPr txBox="1"/>
          <p:nvPr/>
        </p:nvSpPr>
        <p:spPr>
          <a:xfrm>
            <a:off x="4368799" y="6409267"/>
            <a:ext cx="2862066" cy="369332"/>
          </a:xfrm>
          <a:prstGeom prst="rect">
            <a:avLst/>
          </a:prstGeom>
          <a:noFill/>
        </p:spPr>
        <p:txBody>
          <a:bodyPr wrap="none" rtlCol="0">
            <a:spAutoFit/>
          </a:bodyPr>
          <a:lstStyle/>
          <a:p>
            <a:r>
              <a:rPr lang="en-IN">
                <a:latin typeface="Calibri" panose="020F0502020204030204" pitchFamily="34" charset="0"/>
                <a:ea typeface="Calibri" panose="020F0502020204030204" pitchFamily="34" charset="0"/>
                <a:cs typeface="Calibri" panose="020F0502020204030204" pitchFamily="34" charset="0"/>
              </a:rPr>
              <a:t>Fig 2.Pin Diagram of Mailbox</a:t>
            </a:r>
            <a:endParaRPr lang="en-IN"/>
          </a:p>
        </p:txBody>
      </p:sp>
      <p:sp>
        <p:nvSpPr>
          <p:cNvPr id="7" name="Slide Number Placeholder 6">
            <a:extLst>
              <a:ext uri="{FF2B5EF4-FFF2-40B4-BE49-F238E27FC236}">
                <a16:creationId xmlns:a16="http://schemas.microsoft.com/office/drawing/2014/main" id="{2116E36C-74DE-5867-7E31-510FC727B920}"/>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4260435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2BD26-0810-0EC0-7733-126EEA688DC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3FF31BC-8F4A-2505-6AB4-DC3BE890D80C}"/>
              </a:ext>
            </a:extLst>
          </p:cNvPr>
          <p:cNvSpPr>
            <a:spLocks noGrp="1"/>
          </p:cNvSpPr>
          <p:nvPr>
            <p:ph type="title"/>
          </p:nvPr>
        </p:nvSpPr>
        <p:spPr>
          <a:xfrm>
            <a:off x="1" y="0"/>
            <a:ext cx="12192000" cy="865489"/>
          </a:xfrm>
          <a:solidFill>
            <a:schemeClr val="accent6"/>
          </a:solidFill>
        </p:spPr>
        <p:txBody>
          <a:bodyPr>
            <a:noAutofit/>
          </a:bodyPr>
          <a:lstStyle/>
          <a:p>
            <a:pPr algn="ctr"/>
            <a:r>
              <a:rPr lang="en-IN" sz="2800" b="1">
                <a:latin typeface="Calibri" panose="020F0502020204030204" pitchFamily="34" charset="0"/>
                <a:ea typeface="Calibri" panose="020F0502020204030204" pitchFamily="34" charset="0"/>
                <a:cs typeface="Calibri" panose="020F0502020204030204" pitchFamily="34" charset="0"/>
              </a:rPr>
              <a:t>Mailbox Input Signal Description</a:t>
            </a:r>
            <a:endParaRPr lang="en-US" sz="280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Content Placeholder 3">
            <a:extLst>
              <a:ext uri="{FF2B5EF4-FFF2-40B4-BE49-F238E27FC236}">
                <a16:creationId xmlns:a16="http://schemas.microsoft.com/office/drawing/2014/main" id="{292617E8-211B-B135-9DAB-C07BDE9C1141}"/>
              </a:ext>
            </a:extLst>
          </p:cNvPr>
          <p:cNvGraphicFramePr>
            <a:graphicFrameLocks noGrp="1"/>
          </p:cNvGraphicFramePr>
          <p:nvPr>
            <p:ph idx="1"/>
            <p:extLst>
              <p:ext uri="{D42A27DB-BD31-4B8C-83A1-F6EECF244321}">
                <p14:modId xmlns:p14="http://schemas.microsoft.com/office/powerpoint/2010/main" val="4090654616"/>
              </p:ext>
            </p:extLst>
          </p:nvPr>
        </p:nvGraphicFramePr>
        <p:xfrm>
          <a:off x="584200" y="1251187"/>
          <a:ext cx="9406466" cy="5337867"/>
        </p:xfrm>
        <a:graphic>
          <a:graphicData uri="http://schemas.openxmlformats.org/drawingml/2006/table">
            <a:tbl>
              <a:tblPr firstRow="1" bandRow="1">
                <a:tableStyleId>{5C22544A-7EE6-4342-B048-85BDC9FD1C3A}</a:tableStyleId>
              </a:tblPr>
              <a:tblGrid>
                <a:gridCol w="2710481">
                  <a:extLst>
                    <a:ext uri="{9D8B030D-6E8A-4147-A177-3AD203B41FA5}">
                      <a16:colId xmlns:a16="http://schemas.microsoft.com/office/drawing/2014/main" val="2831848341"/>
                    </a:ext>
                  </a:extLst>
                </a:gridCol>
                <a:gridCol w="805726">
                  <a:extLst>
                    <a:ext uri="{9D8B030D-6E8A-4147-A177-3AD203B41FA5}">
                      <a16:colId xmlns:a16="http://schemas.microsoft.com/office/drawing/2014/main" val="1868363008"/>
                    </a:ext>
                  </a:extLst>
                </a:gridCol>
                <a:gridCol w="1321637">
                  <a:extLst>
                    <a:ext uri="{9D8B030D-6E8A-4147-A177-3AD203B41FA5}">
                      <a16:colId xmlns:a16="http://schemas.microsoft.com/office/drawing/2014/main" val="2097480457"/>
                    </a:ext>
                  </a:extLst>
                </a:gridCol>
                <a:gridCol w="4568622">
                  <a:extLst>
                    <a:ext uri="{9D8B030D-6E8A-4147-A177-3AD203B41FA5}">
                      <a16:colId xmlns:a16="http://schemas.microsoft.com/office/drawing/2014/main" val="291154275"/>
                    </a:ext>
                  </a:extLst>
                </a:gridCol>
              </a:tblGrid>
              <a:tr h="340439">
                <a:tc>
                  <a:txBody>
                    <a:bodyPr/>
                    <a:lstStyle/>
                    <a:p>
                      <a:pPr algn="ctr">
                        <a:buNone/>
                      </a:pPr>
                      <a:r>
                        <a:rPr lang="en-IN"/>
                        <a:t>Signal Name</a:t>
                      </a:r>
                    </a:p>
                  </a:txBody>
                  <a:tcPr anchor="ctr"/>
                </a:tc>
                <a:tc>
                  <a:txBody>
                    <a:bodyPr/>
                    <a:lstStyle/>
                    <a:p>
                      <a:pPr algn="ctr">
                        <a:buNone/>
                      </a:pPr>
                      <a:r>
                        <a:rPr lang="en-IN"/>
                        <a:t>Width</a:t>
                      </a:r>
                    </a:p>
                  </a:txBody>
                  <a:tcPr anchor="ctr"/>
                </a:tc>
                <a:tc>
                  <a:txBody>
                    <a:bodyPr/>
                    <a:lstStyle/>
                    <a:p>
                      <a:pPr algn="ctr">
                        <a:buNone/>
                      </a:pPr>
                      <a:r>
                        <a:rPr lang="en-IN"/>
                        <a:t>Direction</a:t>
                      </a:r>
                    </a:p>
                  </a:txBody>
                  <a:tcPr anchor="ctr"/>
                </a:tc>
                <a:tc>
                  <a:txBody>
                    <a:bodyPr/>
                    <a:lstStyle/>
                    <a:p>
                      <a:pPr algn="ctr">
                        <a:buNone/>
                      </a:pPr>
                      <a:r>
                        <a:rPr lang="en-IN"/>
                        <a:t>Description</a:t>
                      </a:r>
                    </a:p>
                  </a:txBody>
                  <a:tcPr anchor="ctr"/>
                </a:tc>
                <a:extLst>
                  <a:ext uri="{0D108BD9-81ED-4DB2-BD59-A6C34878D82A}">
                    <a16:rowId xmlns:a16="http://schemas.microsoft.com/office/drawing/2014/main" val="1671174811"/>
                  </a:ext>
                </a:extLst>
              </a:tr>
              <a:tr h="340439">
                <a:tc>
                  <a:txBody>
                    <a:bodyPr/>
                    <a:lstStyle/>
                    <a:p>
                      <a:pPr algn="ctr">
                        <a:buNone/>
                      </a:pPr>
                      <a:r>
                        <a:rPr lang="en-IN" dirty="0" err="1">
                          <a:latin typeface="Courier New" panose="02070309020205020404" pitchFamily="49" charset="0"/>
                        </a:rPr>
                        <a:t>clk</a:t>
                      </a:r>
                      <a:endParaRPr lang="en-IN" dirty="0"/>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System clock</a:t>
                      </a:r>
                    </a:p>
                  </a:txBody>
                  <a:tcPr anchor="ctr"/>
                </a:tc>
                <a:extLst>
                  <a:ext uri="{0D108BD9-81ED-4DB2-BD59-A6C34878D82A}">
                    <a16:rowId xmlns:a16="http://schemas.microsoft.com/office/drawing/2014/main" val="3008149279"/>
                  </a:ext>
                </a:extLst>
              </a:tr>
              <a:tr h="340439">
                <a:tc>
                  <a:txBody>
                    <a:bodyPr/>
                    <a:lstStyle/>
                    <a:p>
                      <a:pPr algn="ctr">
                        <a:buNone/>
                      </a:pPr>
                      <a:r>
                        <a:rPr lang="en-IN" dirty="0" err="1">
                          <a:latin typeface="Courier New" panose="02070309020205020404" pitchFamily="49" charset="0"/>
                        </a:rPr>
                        <a:t>rst_b</a:t>
                      </a:r>
                      <a:endParaRPr lang="en-IN" dirty="0"/>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Active low reset</a:t>
                      </a:r>
                    </a:p>
                  </a:txBody>
                  <a:tcPr anchor="ctr"/>
                </a:tc>
                <a:extLst>
                  <a:ext uri="{0D108BD9-81ED-4DB2-BD59-A6C34878D82A}">
                    <a16:rowId xmlns:a16="http://schemas.microsoft.com/office/drawing/2014/main" val="1759613706"/>
                  </a:ext>
                </a:extLst>
              </a:tr>
              <a:tr h="340439">
                <a:tc>
                  <a:txBody>
                    <a:bodyPr/>
                    <a:lstStyle/>
                    <a:p>
                      <a:pPr algn="ctr">
                        <a:buNone/>
                      </a:pPr>
                      <a:r>
                        <a:rPr lang="en-IN" dirty="0" err="1">
                          <a:latin typeface="Courier New" panose="02070309020205020404" pitchFamily="49" charset="0"/>
                        </a:rPr>
                        <a:t>req_dv</a:t>
                      </a:r>
                      <a:endParaRPr lang="en-IN" dirty="0"/>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Request valid signal</a:t>
                      </a:r>
                    </a:p>
                  </a:txBody>
                  <a:tcPr anchor="ctr"/>
                </a:tc>
                <a:extLst>
                  <a:ext uri="{0D108BD9-81ED-4DB2-BD59-A6C34878D82A}">
                    <a16:rowId xmlns:a16="http://schemas.microsoft.com/office/drawing/2014/main" val="3306855197"/>
                  </a:ext>
                </a:extLst>
              </a:tr>
              <a:tr h="340439">
                <a:tc>
                  <a:txBody>
                    <a:bodyPr/>
                    <a:lstStyle/>
                    <a:p>
                      <a:pPr algn="ctr">
                        <a:buNone/>
                      </a:pPr>
                      <a:r>
                        <a:rPr lang="en-IN">
                          <a:latin typeface="Courier New" panose="02070309020205020404" pitchFamily="49" charset="0"/>
                        </a:rPr>
                        <a:t>dir_req_dv</a:t>
                      </a:r>
                      <a:endParaRPr lang="en-IN"/>
                    </a:p>
                  </a:txBody>
                  <a:tcPr anchor="ctr"/>
                </a:tc>
                <a:tc>
                  <a:txBody>
                    <a:bodyPr/>
                    <a:lstStyle/>
                    <a:p>
                      <a:pPr algn="ctr">
                        <a:buNone/>
                      </a:pPr>
                      <a:r>
                        <a:rPr lang="en-IN" dirty="0"/>
                        <a:t>1</a:t>
                      </a:r>
                    </a:p>
                  </a:txBody>
                  <a:tcPr anchor="ctr"/>
                </a:tc>
                <a:tc>
                  <a:txBody>
                    <a:bodyPr/>
                    <a:lstStyle/>
                    <a:p>
                      <a:pPr algn="ctr">
                        <a:buNone/>
                      </a:pPr>
                      <a:r>
                        <a:rPr lang="en-IN"/>
                        <a:t>Input</a:t>
                      </a:r>
                    </a:p>
                  </a:txBody>
                  <a:tcPr anchor="ctr"/>
                </a:tc>
                <a:tc>
                  <a:txBody>
                    <a:bodyPr/>
                    <a:lstStyle/>
                    <a:p>
                      <a:pPr algn="ctr">
                        <a:buNone/>
                      </a:pPr>
                      <a:r>
                        <a:rPr lang="en-IN"/>
                        <a:t>Direct access request</a:t>
                      </a:r>
                    </a:p>
                  </a:txBody>
                  <a:tcPr anchor="ctr"/>
                </a:tc>
                <a:extLst>
                  <a:ext uri="{0D108BD9-81ED-4DB2-BD59-A6C34878D82A}">
                    <a16:rowId xmlns:a16="http://schemas.microsoft.com/office/drawing/2014/main" val="41012534"/>
                  </a:ext>
                </a:extLst>
              </a:tr>
              <a:tr h="340439">
                <a:tc>
                  <a:txBody>
                    <a:bodyPr/>
                    <a:lstStyle/>
                    <a:p>
                      <a:pPr algn="ctr">
                        <a:buNone/>
                      </a:pPr>
                      <a:r>
                        <a:rPr lang="en-IN">
                          <a:latin typeface="Courier New" panose="02070309020205020404" pitchFamily="49" charset="0"/>
                        </a:rPr>
                        <a:t>req_data_write</a:t>
                      </a:r>
                      <a:endParaRPr lang="en-IN"/>
                    </a:p>
                  </a:txBody>
                  <a:tcPr anchor="ctr"/>
                </a:tc>
                <a:tc>
                  <a:txBody>
                    <a:bodyPr/>
                    <a:lstStyle/>
                    <a:p>
                      <a:pPr algn="ctr">
                        <a:buNone/>
                      </a:pPr>
                      <a:r>
                        <a:rPr lang="en-IN" dirty="0"/>
                        <a:t>1</a:t>
                      </a:r>
                    </a:p>
                  </a:txBody>
                  <a:tcPr anchor="ctr"/>
                </a:tc>
                <a:tc>
                  <a:txBody>
                    <a:bodyPr/>
                    <a:lstStyle/>
                    <a:p>
                      <a:pPr algn="ctr">
                        <a:buNone/>
                      </a:pPr>
                      <a:r>
                        <a:rPr lang="en-IN"/>
                        <a:t>Input</a:t>
                      </a:r>
                    </a:p>
                  </a:txBody>
                  <a:tcPr anchor="ctr"/>
                </a:tc>
                <a:tc>
                  <a:txBody>
                    <a:bodyPr/>
                    <a:lstStyle/>
                    <a:p>
                      <a:pPr algn="ctr">
                        <a:buNone/>
                      </a:pPr>
                      <a:r>
                        <a:rPr lang="en-IN"/>
                        <a:t>Write enable signal</a:t>
                      </a:r>
                    </a:p>
                  </a:txBody>
                  <a:tcPr anchor="ctr"/>
                </a:tc>
                <a:extLst>
                  <a:ext uri="{0D108BD9-81ED-4DB2-BD59-A6C34878D82A}">
                    <a16:rowId xmlns:a16="http://schemas.microsoft.com/office/drawing/2014/main" val="2319380310"/>
                  </a:ext>
                </a:extLst>
              </a:tr>
              <a:tr h="340439">
                <a:tc>
                  <a:txBody>
                    <a:bodyPr/>
                    <a:lstStyle/>
                    <a:p>
                      <a:pPr algn="ctr">
                        <a:buNone/>
                      </a:pPr>
                      <a:r>
                        <a:rPr lang="en-IN" err="1">
                          <a:latin typeface="Courier New" panose="02070309020205020404" pitchFamily="49" charset="0"/>
                        </a:rPr>
                        <a:t>req_data_soc_req</a:t>
                      </a:r>
                      <a:endParaRPr lang="en-IN"/>
                    </a:p>
                  </a:txBody>
                  <a:tcPr anchor="ctr"/>
                </a:tc>
                <a:tc>
                  <a:txBody>
                    <a:bodyPr/>
                    <a:lstStyle/>
                    <a:p>
                      <a:pPr algn="ctr">
                        <a:buNone/>
                      </a:pPr>
                      <a:r>
                        <a:rPr lang="en-IN"/>
                        <a:t>1</a:t>
                      </a:r>
                    </a:p>
                  </a:txBody>
                  <a:tcPr anchor="ctr"/>
                </a:tc>
                <a:tc>
                  <a:txBody>
                    <a:bodyPr/>
                    <a:lstStyle/>
                    <a:p>
                      <a:pPr algn="ctr">
                        <a:buNone/>
                      </a:pPr>
                      <a:r>
                        <a:rPr lang="en-IN" dirty="0"/>
                        <a:t>Input</a:t>
                      </a:r>
                    </a:p>
                  </a:txBody>
                  <a:tcPr anchor="ctr"/>
                </a:tc>
                <a:tc>
                  <a:txBody>
                    <a:bodyPr/>
                    <a:lstStyle/>
                    <a:p>
                      <a:pPr algn="ctr">
                        <a:buNone/>
                      </a:pPr>
                      <a:r>
                        <a:rPr lang="en-IN"/>
                        <a:t>Indicates SoC request</a:t>
                      </a:r>
                    </a:p>
                  </a:txBody>
                  <a:tcPr anchor="ctr"/>
                </a:tc>
                <a:extLst>
                  <a:ext uri="{0D108BD9-81ED-4DB2-BD59-A6C34878D82A}">
                    <a16:rowId xmlns:a16="http://schemas.microsoft.com/office/drawing/2014/main" val="3158513177"/>
                  </a:ext>
                </a:extLst>
              </a:tr>
              <a:tr h="340439">
                <a:tc>
                  <a:txBody>
                    <a:bodyPr/>
                    <a:lstStyle/>
                    <a:p>
                      <a:pPr algn="ctr">
                        <a:buNone/>
                      </a:pPr>
                      <a:r>
                        <a:rPr lang="en-IN">
                          <a:latin typeface="Courier New" panose="02070309020205020404" pitchFamily="49" charset="0"/>
                        </a:rPr>
                        <a:t>sha_sram_req_dv</a:t>
                      </a:r>
                      <a:endParaRPr lang="en-IN"/>
                    </a:p>
                  </a:txBody>
                  <a:tcPr anchor="ctr"/>
                </a:tc>
                <a:tc>
                  <a:txBody>
                    <a:bodyPr/>
                    <a:lstStyle/>
                    <a:p>
                      <a:pPr algn="ctr">
                        <a:buNone/>
                      </a:pPr>
                      <a:r>
                        <a:rPr lang="en-IN"/>
                        <a:t>1</a:t>
                      </a:r>
                    </a:p>
                  </a:txBody>
                  <a:tcPr anchor="ctr"/>
                </a:tc>
                <a:tc>
                  <a:txBody>
                    <a:bodyPr/>
                    <a:lstStyle/>
                    <a:p>
                      <a:pPr algn="ctr">
                        <a:buNone/>
                      </a:pPr>
                      <a:r>
                        <a:rPr lang="en-IN" dirty="0"/>
                        <a:t>Input</a:t>
                      </a:r>
                    </a:p>
                  </a:txBody>
                  <a:tcPr anchor="ctr"/>
                </a:tc>
                <a:tc>
                  <a:txBody>
                    <a:bodyPr/>
                    <a:lstStyle/>
                    <a:p>
                      <a:pPr algn="ctr">
                        <a:buNone/>
                      </a:pPr>
                      <a:r>
                        <a:rPr lang="en-IN"/>
                        <a:t>SHA SRAM request valid</a:t>
                      </a:r>
                    </a:p>
                  </a:txBody>
                  <a:tcPr anchor="ctr"/>
                </a:tc>
                <a:extLst>
                  <a:ext uri="{0D108BD9-81ED-4DB2-BD59-A6C34878D82A}">
                    <a16:rowId xmlns:a16="http://schemas.microsoft.com/office/drawing/2014/main" val="3431164207"/>
                  </a:ext>
                </a:extLst>
              </a:tr>
              <a:tr h="340439">
                <a:tc>
                  <a:txBody>
                    <a:bodyPr/>
                    <a:lstStyle/>
                    <a:p>
                      <a:pPr algn="ctr">
                        <a:buNone/>
                      </a:pPr>
                      <a:r>
                        <a:rPr lang="en-IN">
                          <a:latin typeface="Courier New" panose="02070309020205020404" pitchFamily="49" charset="0"/>
                        </a:rPr>
                        <a:t>dma_sram_req_dv</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DMA request valid</a:t>
                      </a:r>
                    </a:p>
                  </a:txBody>
                  <a:tcPr anchor="ctr"/>
                </a:tc>
                <a:extLst>
                  <a:ext uri="{0D108BD9-81ED-4DB2-BD59-A6C34878D82A}">
                    <a16:rowId xmlns:a16="http://schemas.microsoft.com/office/drawing/2014/main" val="484135928"/>
                  </a:ext>
                </a:extLst>
              </a:tr>
              <a:tr h="582987">
                <a:tc>
                  <a:txBody>
                    <a:bodyPr/>
                    <a:lstStyle/>
                    <a:p>
                      <a:pPr algn="ctr">
                        <a:buNone/>
                      </a:pPr>
                      <a:r>
                        <a:rPr lang="en-IN">
                          <a:latin typeface="Courier New" panose="02070309020205020404" pitchFamily="49" charset="0"/>
                        </a:rPr>
                        <a:t>dma_sram_req_write</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dirty="0"/>
                        <a:t>DMA write enable</a:t>
                      </a:r>
                    </a:p>
                  </a:txBody>
                  <a:tcPr anchor="ctr"/>
                </a:tc>
                <a:extLst>
                  <a:ext uri="{0D108BD9-81ED-4DB2-BD59-A6C34878D82A}">
                    <a16:rowId xmlns:a16="http://schemas.microsoft.com/office/drawing/2014/main" val="3651893290"/>
                  </a:ext>
                </a:extLst>
              </a:tr>
              <a:tr h="340439">
                <a:tc>
                  <a:txBody>
                    <a:bodyPr/>
                    <a:lstStyle/>
                    <a:p>
                      <a:pPr algn="ctr">
                        <a:buNone/>
                      </a:pPr>
                      <a:r>
                        <a:rPr lang="en-IN">
                          <a:latin typeface="Courier New" panose="02070309020205020404" pitchFamily="49" charset="0"/>
                        </a:rPr>
                        <a:t>dmi_mbox_avail</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dirty="0"/>
                        <a:t>DMI mailbox availability</a:t>
                      </a:r>
                    </a:p>
                  </a:txBody>
                  <a:tcPr anchor="ctr"/>
                </a:tc>
                <a:extLst>
                  <a:ext uri="{0D108BD9-81ED-4DB2-BD59-A6C34878D82A}">
                    <a16:rowId xmlns:a16="http://schemas.microsoft.com/office/drawing/2014/main" val="3383936336"/>
                  </a:ext>
                </a:extLst>
              </a:tr>
              <a:tr h="340439">
                <a:tc>
                  <a:txBody>
                    <a:bodyPr/>
                    <a:lstStyle/>
                    <a:p>
                      <a:pPr algn="ctr">
                        <a:buNone/>
                      </a:pPr>
                      <a:r>
                        <a:rPr lang="en-IN">
                          <a:latin typeface="Courier New" panose="02070309020205020404" pitchFamily="49" charset="0"/>
                        </a:rPr>
                        <a:t>dmi_inc_rdptr</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Increment read pointer</a:t>
                      </a:r>
                    </a:p>
                  </a:txBody>
                  <a:tcPr anchor="ctr"/>
                </a:tc>
                <a:extLst>
                  <a:ext uri="{0D108BD9-81ED-4DB2-BD59-A6C34878D82A}">
                    <a16:rowId xmlns:a16="http://schemas.microsoft.com/office/drawing/2014/main" val="3043876383"/>
                  </a:ext>
                </a:extLst>
              </a:tr>
              <a:tr h="340439">
                <a:tc>
                  <a:txBody>
                    <a:bodyPr/>
                    <a:lstStyle/>
                    <a:p>
                      <a:pPr algn="ctr">
                        <a:buNone/>
                      </a:pPr>
                      <a:r>
                        <a:rPr lang="en-IN">
                          <a:latin typeface="Courier New" panose="02070309020205020404" pitchFamily="49" charset="0"/>
                        </a:rPr>
                        <a:t>dmi_inc_wrptr</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Increment write pointer</a:t>
                      </a:r>
                    </a:p>
                  </a:txBody>
                  <a:tcPr anchor="ctr"/>
                </a:tc>
                <a:extLst>
                  <a:ext uri="{0D108BD9-81ED-4DB2-BD59-A6C34878D82A}">
                    <a16:rowId xmlns:a16="http://schemas.microsoft.com/office/drawing/2014/main" val="24903451"/>
                  </a:ext>
                </a:extLst>
              </a:tr>
              <a:tr h="340439">
                <a:tc>
                  <a:txBody>
                    <a:bodyPr/>
                    <a:lstStyle/>
                    <a:p>
                      <a:pPr algn="ctr">
                        <a:buNone/>
                      </a:pPr>
                      <a:r>
                        <a:rPr lang="en-IN">
                          <a:latin typeface="Courier New" panose="02070309020205020404" pitchFamily="49" charset="0"/>
                        </a:rPr>
                        <a:t>dmi_reg_wen</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dirty="0"/>
                        <a:t>DMI register write enable</a:t>
                      </a:r>
                    </a:p>
                  </a:txBody>
                  <a:tcPr anchor="ctr"/>
                </a:tc>
                <a:extLst>
                  <a:ext uri="{0D108BD9-81ED-4DB2-BD59-A6C34878D82A}">
                    <a16:rowId xmlns:a16="http://schemas.microsoft.com/office/drawing/2014/main" val="2985284555"/>
                  </a:ext>
                </a:extLst>
              </a:tr>
            </a:tbl>
          </a:graphicData>
        </a:graphic>
      </p:graphicFrame>
      <p:sp>
        <p:nvSpPr>
          <p:cNvPr id="7" name="TextBox 6">
            <a:extLst>
              <a:ext uri="{FF2B5EF4-FFF2-40B4-BE49-F238E27FC236}">
                <a16:creationId xmlns:a16="http://schemas.microsoft.com/office/drawing/2014/main" id="{1A413CF7-06A6-C6D8-46FF-27DD1C56F032}"/>
              </a:ext>
            </a:extLst>
          </p:cNvPr>
          <p:cNvSpPr txBox="1"/>
          <p:nvPr/>
        </p:nvSpPr>
        <p:spPr>
          <a:xfrm rot="10800000" flipV="1">
            <a:off x="2548465" y="892211"/>
            <a:ext cx="5257801" cy="369332"/>
          </a:xfrm>
          <a:prstGeom prst="rect">
            <a:avLst/>
          </a:prstGeom>
          <a:noFill/>
        </p:spPr>
        <p:txBody>
          <a:bodyPr wrap="square">
            <a:spAutoFit/>
          </a:bodyPr>
          <a:lstStyle/>
          <a:p>
            <a:r>
              <a:rPr lang="en-IN"/>
              <a:t>Table 1.</a:t>
            </a:r>
            <a:r>
              <a:rPr lang="en-IN">
                <a:latin typeface="Calibri" panose="020F0502020204030204" pitchFamily="34" charset="0"/>
                <a:ea typeface="Calibri" panose="020F0502020204030204" pitchFamily="34" charset="0"/>
                <a:cs typeface="Calibri" panose="020F0502020204030204" pitchFamily="34" charset="0"/>
              </a:rPr>
              <a:t> Mailbox Input Signal Description</a:t>
            </a:r>
            <a:endParaRPr lang="en-IN"/>
          </a:p>
        </p:txBody>
      </p:sp>
      <p:sp>
        <p:nvSpPr>
          <p:cNvPr id="6" name="Slide Number Placeholder 5">
            <a:extLst>
              <a:ext uri="{FF2B5EF4-FFF2-40B4-BE49-F238E27FC236}">
                <a16:creationId xmlns:a16="http://schemas.microsoft.com/office/drawing/2014/main" id="{6AF5DA1D-8857-05E5-CD78-C5B7DC03E959}"/>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1981909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3CBDB-FC4F-4C7E-1E4C-668696C2438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0B7264-EFA8-1B82-3447-02A4E7712077}"/>
              </a:ext>
            </a:extLst>
          </p:cNvPr>
          <p:cNvSpPr>
            <a:spLocks noGrp="1"/>
          </p:cNvSpPr>
          <p:nvPr>
            <p:ph type="title"/>
          </p:nvPr>
        </p:nvSpPr>
        <p:spPr>
          <a:xfrm>
            <a:off x="1" y="0"/>
            <a:ext cx="12192000" cy="865489"/>
          </a:xfrm>
          <a:solidFill>
            <a:schemeClr val="accent6"/>
          </a:solidFill>
        </p:spPr>
        <p:txBody>
          <a:bodyPr>
            <a:noAutofit/>
          </a:bodyPr>
          <a:lstStyle/>
          <a:p>
            <a:pPr algn="ctr"/>
            <a:r>
              <a:rPr lang="en-IN" sz="2800" b="1">
                <a:latin typeface="Calibri" panose="020F0502020204030204" pitchFamily="34" charset="0"/>
                <a:ea typeface="Calibri" panose="020F0502020204030204" pitchFamily="34" charset="0"/>
                <a:cs typeface="Calibri" panose="020F0502020204030204" pitchFamily="34" charset="0"/>
              </a:rPr>
              <a:t>Mailbox Input Signal Description(Contd..)</a:t>
            </a:r>
            <a:endParaRPr lang="en-US" sz="280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Content Placeholder 3">
            <a:extLst>
              <a:ext uri="{FF2B5EF4-FFF2-40B4-BE49-F238E27FC236}">
                <a16:creationId xmlns:a16="http://schemas.microsoft.com/office/drawing/2014/main" id="{DA46EE24-8BE5-6BD6-CA82-F4E1C3C82922}"/>
              </a:ext>
            </a:extLst>
          </p:cNvPr>
          <p:cNvGraphicFramePr>
            <a:graphicFrameLocks noGrp="1"/>
          </p:cNvGraphicFramePr>
          <p:nvPr>
            <p:ph idx="1"/>
            <p:extLst>
              <p:ext uri="{D42A27DB-BD31-4B8C-83A1-F6EECF244321}">
                <p14:modId xmlns:p14="http://schemas.microsoft.com/office/powerpoint/2010/main" val="2510899035"/>
              </p:ext>
            </p:extLst>
          </p:nvPr>
        </p:nvGraphicFramePr>
        <p:xfrm>
          <a:off x="745066" y="1303866"/>
          <a:ext cx="10033000" cy="5357922"/>
        </p:xfrm>
        <a:graphic>
          <a:graphicData uri="http://schemas.openxmlformats.org/drawingml/2006/table">
            <a:tbl>
              <a:tblPr firstRow="1" bandRow="1">
                <a:tableStyleId>{5C22544A-7EE6-4342-B048-85BDC9FD1C3A}</a:tableStyleId>
              </a:tblPr>
              <a:tblGrid>
                <a:gridCol w="2865114">
                  <a:extLst>
                    <a:ext uri="{9D8B030D-6E8A-4147-A177-3AD203B41FA5}">
                      <a16:colId xmlns:a16="http://schemas.microsoft.com/office/drawing/2014/main" val="2831848341"/>
                    </a:ext>
                  </a:extLst>
                </a:gridCol>
                <a:gridCol w="2061951">
                  <a:extLst>
                    <a:ext uri="{9D8B030D-6E8A-4147-A177-3AD203B41FA5}">
                      <a16:colId xmlns:a16="http://schemas.microsoft.com/office/drawing/2014/main" val="1868363008"/>
                    </a:ext>
                  </a:extLst>
                </a:gridCol>
                <a:gridCol w="1270536">
                  <a:extLst>
                    <a:ext uri="{9D8B030D-6E8A-4147-A177-3AD203B41FA5}">
                      <a16:colId xmlns:a16="http://schemas.microsoft.com/office/drawing/2014/main" val="2097480457"/>
                    </a:ext>
                  </a:extLst>
                </a:gridCol>
                <a:gridCol w="3835399">
                  <a:extLst>
                    <a:ext uri="{9D8B030D-6E8A-4147-A177-3AD203B41FA5}">
                      <a16:colId xmlns:a16="http://schemas.microsoft.com/office/drawing/2014/main" val="291154275"/>
                    </a:ext>
                  </a:extLst>
                </a:gridCol>
              </a:tblGrid>
              <a:tr h="665730">
                <a:tc>
                  <a:txBody>
                    <a:bodyPr/>
                    <a:lstStyle/>
                    <a:p>
                      <a:pPr algn="ctr">
                        <a:buNone/>
                      </a:pPr>
                      <a:r>
                        <a:rPr lang="en-IN"/>
                        <a:t>Signal Name</a:t>
                      </a:r>
                    </a:p>
                  </a:txBody>
                  <a:tcPr anchor="ctr"/>
                </a:tc>
                <a:tc>
                  <a:txBody>
                    <a:bodyPr/>
                    <a:lstStyle/>
                    <a:p>
                      <a:pPr algn="ctr">
                        <a:buNone/>
                      </a:pPr>
                      <a:r>
                        <a:rPr lang="en-IN"/>
                        <a:t>Width</a:t>
                      </a:r>
                    </a:p>
                  </a:txBody>
                  <a:tcPr anchor="ctr"/>
                </a:tc>
                <a:tc>
                  <a:txBody>
                    <a:bodyPr/>
                    <a:lstStyle/>
                    <a:p>
                      <a:pPr algn="ctr">
                        <a:buNone/>
                      </a:pPr>
                      <a:r>
                        <a:rPr lang="en-IN"/>
                        <a:t>Direction</a:t>
                      </a:r>
                    </a:p>
                  </a:txBody>
                  <a:tcPr anchor="ctr"/>
                </a:tc>
                <a:tc>
                  <a:txBody>
                    <a:bodyPr/>
                    <a:lstStyle/>
                    <a:p>
                      <a:pPr algn="ctr">
                        <a:buNone/>
                      </a:pPr>
                      <a:r>
                        <a:rPr lang="en-IN"/>
                        <a:t>Description</a:t>
                      </a:r>
                    </a:p>
                  </a:txBody>
                  <a:tcPr anchor="ctr"/>
                </a:tc>
                <a:extLst>
                  <a:ext uri="{0D108BD9-81ED-4DB2-BD59-A6C34878D82A}">
                    <a16:rowId xmlns:a16="http://schemas.microsoft.com/office/drawing/2014/main" val="1671174811"/>
                  </a:ext>
                </a:extLst>
              </a:tr>
              <a:tr h="400152">
                <a:tc>
                  <a:txBody>
                    <a:bodyPr/>
                    <a:lstStyle/>
                    <a:p>
                      <a:pPr algn="ctr">
                        <a:buNone/>
                      </a:pPr>
                      <a:r>
                        <a:rPr lang="en-IN">
                          <a:latin typeface="Courier New" panose="02070309020205020404" pitchFamily="49" charset="0"/>
                        </a:rPr>
                        <a:t>dmi_reg_ren</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DMI register read enable</a:t>
                      </a:r>
                    </a:p>
                  </a:txBody>
                  <a:tcPr anchor="ctr"/>
                </a:tc>
                <a:extLst>
                  <a:ext uri="{0D108BD9-81ED-4DB2-BD59-A6C34878D82A}">
                    <a16:rowId xmlns:a16="http://schemas.microsoft.com/office/drawing/2014/main" val="3008149279"/>
                  </a:ext>
                </a:extLst>
              </a:tr>
              <a:tr h="400152">
                <a:tc>
                  <a:txBody>
                    <a:bodyPr/>
                    <a:lstStyle/>
                    <a:p>
                      <a:pPr algn="ctr">
                        <a:buNone/>
                      </a:pPr>
                      <a:r>
                        <a:rPr lang="en-IN">
                          <a:latin typeface="Courier New" panose="02070309020205020404" pitchFamily="49" charset="0"/>
                        </a:rPr>
                        <a:t>req_data_wstrb</a:t>
                      </a:r>
                      <a:endParaRPr lang="en-IN"/>
                    </a:p>
                  </a:txBody>
                  <a:tcPr anchor="ctr"/>
                </a:tc>
                <a:tc>
                  <a:txBody>
                    <a:bodyPr/>
                    <a:lstStyle/>
                    <a:p>
                      <a:pPr algn="ctr">
                        <a:buNone/>
                      </a:pPr>
                      <a:r>
                        <a:rPr lang="en-IN"/>
                        <a:t>4</a:t>
                      </a:r>
                    </a:p>
                  </a:txBody>
                  <a:tcPr anchor="ctr"/>
                </a:tc>
                <a:tc>
                  <a:txBody>
                    <a:bodyPr/>
                    <a:lstStyle/>
                    <a:p>
                      <a:pPr algn="ctr">
                        <a:buNone/>
                      </a:pPr>
                      <a:r>
                        <a:rPr lang="en-IN"/>
                        <a:t>Input</a:t>
                      </a:r>
                    </a:p>
                  </a:txBody>
                  <a:tcPr anchor="ctr"/>
                </a:tc>
                <a:tc>
                  <a:txBody>
                    <a:bodyPr/>
                    <a:lstStyle/>
                    <a:p>
                      <a:pPr algn="ctr">
                        <a:buNone/>
                      </a:pPr>
                      <a:r>
                        <a:rPr lang="en-IN"/>
                        <a:t>Byte-wise write strobe</a:t>
                      </a:r>
                    </a:p>
                  </a:txBody>
                  <a:tcPr anchor="ctr"/>
                </a:tc>
                <a:extLst>
                  <a:ext uri="{0D108BD9-81ED-4DB2-BD59-A6C34878D82A}">
                    <a16:rowId xmlns:a16="http://schemas.microsoft.com/office/drawing/2014/main" val="1759613706"/>
                  </a:ext>
                </a:extLst>
              </a:tr>
              <a:tr h="400152">
                <a:tc>
                  <a:txBody>
                    <a:bodyPr/>
                    <a:lstStyle/>
                    <a:p>
                      <a:pPr algn="ctr">
                        <a:buNone/>
                      </a:pPr>
                      <a:r>
                        <a:rPr lang="en-IN" err="1">
                          <a:latin typeface="Courier New" panose="02070309020205020404" pitchFamily="49" charset="0"/>
                        </a:rPr>
                        <a:t>dmi_reg_addr</a:t>
                      </a:r>
                      <a:endParaRPr lang="en-IN"/>
                    </a:p>
                  </a:txBody>
                  <a:tcPr anchor="ctr"/>
                </a:tc>
                <a:tc>
                  <a:txBody>
                    <a:bodyPr/>
                    <a:lstStyle/>
                    <a:p>
                      <a:pPr algn="ctr">
                        <a:buNone/>
                      </a:pPr>
                      <a:r>
                        <a:rPr lang="en-IN"/>
                        <a:t>8</a:t>
                      </a:r>
                    </a:p>
                  </a:txBody>
                  <a:tcPr anchor="ctr"/>
                </a:tc>
                <a:tc>
                  <a:txBody>
                    <a:bodyPr/>
                    <a:lstStyle/>
                    <a:p>
                      <a:pPr algn="ctr">
                        <a:buNone/>
                      </a:pPr>
                      <a:r>
                        <a:rPr lang="en-IN"/>
                        <a:t>Input</a:t>
                      </a:r>
                    </a:p>
                  </a:txBody>
                  <a:tcPr anchor="ctr"/>
                </a:tc>
                <a:tc>
                  <a:txBody>
                    <a:bodyPr/>
                    <a:lstStyle/>
                    <a:p>
                      <a:pPr algn="ctr">
                        <a:buNone/>
                      </a:pPr>
                      <a:r>
                        <a:rPr lang="en-IN"/>
                        <a:t>DMI register address</a:t>
                      </a:r>
                    </a:p>
                  </a:txBody>
                  <a:tcPr anchor="ctr"/>
                </a:tc>
                <a:extLst>
                  <a:ext uri="{0D108BD9-81ED-4DB2-BD59-A6C34878D82A}">
                    <a16:rowId xmlns:a16="http://schemas.microsoft.com/office/drawing/2014/main" val="41012534"/>
                  </a:ext>
                </a:extLst>
              </a:tr>
              <a:tr h="400152">
                <a:tc>
                  <a:txBody>
                    <a:bodyPr/>
                    <a:lstStyle/>
                    <a:p>
                      <a:pPr algn="ctr">
                        <a:buNone/>
                      </a:pPr>
                      <a:r>
                        <a:rPr lang="en-IN">
                          <a:latin typeface="Courier New" panose="02070309020205020404" pitchFamily="49" charset="0"/>
                        </a:rPr>
                        <a:t>mbox_sram_resp_ecc</a:t>
                      </a:r>
                      <a:endParaRPr lang="en-IN"/>
                    </a:p>
                  </a:txBody>
                  <a:tcPr anchor="ctr"/>
                </a:tc>
                <a:tc>
                  <a:txBody>
                    <a:bodyPr/>
                    <a:lstStyle/>
                    <a:p>
                      <a:pPr algn="ctr">
                        <a:buNone/>
                      </a:pPr>
                      <a:r>
                        <a:rPr lang="en-IN"/>
                        <a:t>8</a:t>
                      </a:r>
                    </a:p>
                  </a:txBody>
                  <a:tcPr anchor="ctr"/>
                </a:tc>
                <a:tc>
                  <a:txBody>
                    <a:bodyPr/>
                    <a:lstStyle/>
                    <a:p>
                      <a:pPr algn="ctr">
                        <a:buNone/>
                      </a:pPr>
                      <a:r>
                        <a:rPr lang="en-IN"/>
                        <a:t>Input</a:t>
                      </a:r>
                    </a:p>
                  </a:txBody>
                  <a:tcPr anchor="ctr"/>
                </a:tc>
                <a:tc>
                  <a:txBody>
                    <a:bodyPr/>
                    <a:lstStyle/>
                    <a:p>
                      <a:pPr algn="ctr">
                        <a:buNone/>
                      </a:pPr>
                      <a:r>
                        <a:rPr lang="en-US"/>
                        <a:t>ECC bits read from SRAM</a:t>
                      </a:r>
                    </a:p>
                  </a:txBody>
                  <a:tcPr anchor="ctr"/>
                </a:tc>
                <a:extLst>
                  <a:ext uri="{0D108BD9-81ED-4DB2-BD59-A6C34878D82A}">
                    <a16:rowId xmlns:a16="http://schemas.microsoft.com/office/drawing/2014/main" val="2319380310"/>
                  </a:ext>
                </a:extLst>
              </a:tr>
              <a:tr h="400152">
                <a:tc>
                  <a:txBody>
                    <a:bodyPr/>
                    <a:lstStyle/>
                    <a:p>
                      <a:pPr algn="ctr">
                        <a:buNone/>
                      </a:pPr>
                      <a:r>
                        <a:rPr lang="en-IN">
                          <a:latin typeface="Courier New" panose="02070309020205020404" pitchFamily="49" charset="0"/>
                        </a:rPr>
                        <a:t>sha_sram_req_addr</a:t>
                      </a:r>
                      <a:endParaRPr lang="en-IN"/>
                    </a:p>
                  </a:txBody>
                  <a:tcPr anchor="ctr"/>
                </a:tc>
                <a:tc>
                  <a:txBody>
                    <a:bodyPr/>
                    <a:lstStyle/>
                    <a:p>
                      <a:pPr algn="ctr">
                        <a:buNone/>
                      </a:pPr>
                      <a:r>
                        <a:rPr lang="en-IN" b="1">
                          <a:latin typeface="Courier New" panose="02070309020205020404" pitchFamily="49" charset="0"/>
                        </a:rPr>
                        <a:t>32</a:t>
                      </a:r>
                      <a:endParaRPr lang="en-IN" b="1"/>
                    </a:p>
                  </a:txBody>
                  <a:tcPr anchor="ctr"/>
                </a:tc>
                <a:tc>
                  <a:txBody>
                    <a:bodyPr/>
                    <a:lstStyle/>
                    <a:p>
                      <a:pPr algn="ctr">
                        <a:buNone/>
                      </a:pPr>
                      <a:r>
                        <a:rPr lang="en-IN"/>
                        <a:t>Input</a:t>
                      </a:r>
                    </a:p>
                  </a:txBody>
                  <a:tcPr anchor="ctr"/>
                </a:tc>
                <a:tc>
                  <a:txBody>
                    <a:bodyPr/>
                    <a:lstStyle/>
                    <a:p>
                      <a:pPr algn="ctr">
                        <a:buNone/>
                      </a:pPr>
                      <a:r>
                        <a:rPr lang="en-IN"/>
                        <a:t>Address for SHA access</a:t>
                      </a:r>
                    </a:p>
                  </a:txBody>
                  <a:tcPr anchor="ctr"/>
                </a:tc>
                <a:extLst>
                  <a:ext uri="{0D108BD9-81ED-4DB2-BD59-A6C34878D82A}">
                    <a16:rowId xmlns:a16="http://schemas.microsoft.com/office/drawing/2014/main" val="3158513177"/>
                  </a:ext>
                </a:extLst>
              </a:tr>
              <a:tr h="400152">
                <a:tc>
                  <a:txBody>
                    <a:bodyPr/>
                    <a:lstStyle/>
                    <a:p>
                      <a:pPr algn="ctr">
                        <a:buNone/>
                      </a:pPr>
                      <a:r>
                        <a:rPr lang="en-IN" err="1">
                          <a:latin typeface="Courier New" panose="02070309020205020404" pitchFamily="49" charset="0"/>
                        </a:rPr>
                        <a:t>req_data_addr</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Request address</a:t>
                      </a:r>
                    </a:p>
                  </a:txBody>
                  <a:tcPr anchor="ctr"/>
                </a:tc>
                <a:extLst>
                  <a:ext uri="{0D108BD9-81ED-4DB2-BD59-A6C34878D82A}">
                    <a16:rowId xmlns:a16="http://schemas.microsoft.com/office/drawing/2014/main" val="3431164207"/>
                  </a:ext>
                </a:extLst>
              </a:tr>
              <a:tr h="400152">
                <a:tc>
                  <a:txBody>
                    <a:bodyPr/>
                    <a:lstStyle/>
                    <a:p>
                      <a:pPr algn="ctr">
                        <a:buNone/>
                      </a:pPr>
                      <a:r>
                        <a:rPr lang="en-IN">
                          <a:latin typeface="Courier New" panose="02070309020205020404" pitchFamily="49" charset="0"/>
                        </a:rPr>
                        <a:t>req_data_wdata</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Write data</a:t>
                      </a:r>
                    </a:p>
                  </a:txBody>
                  <a:tcPr anchor="ctr"/>
                </a:tc>
                <a:extLst>
                  <a:ext uri="{0D108BD9-81ED-4DB2-BD59-A6C34878D82A}">
                    <a16:rowId xmlns:a16="http://schemas.microsoft.com/office/drawing/2014/main" val="484135928"/>
                  </a:ext>
                </a:extLst>
              </a:tr>
              <a:tr h="690672">
                <a:tc>
                  <a:txBody>
                    <a:bodyPr/>
                    <a:lstStyle/>
                    <a:p>
                      <a:pPr algn="ctr">
                        <a:buNone/>
                      </a:pPr>
                      <a:r>
                        <a:rPr lang="en-IN">
                          <a:latin typeface="Courier New" panose="02070309020205020404" pitchFamily="49" charset="0"/>
                        </a:rPr>
                        <a:t>req_data_user</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AXI user ID</a:t>
                      </a:r>
                    </a:p>
                  </a:txBody>
                  <a:tcPr anchor="ctr"/>
                </a:tc>
                <a:extLst>
                  <a:ext uri="{0D108BD9-81ED-4DB2-BD59-A6C34878D82A}">
                    <a16:rowId xmlns:a16="http://schemas.microsoft.com/office/drawing/2014/main" val="3651893290"/>
                  </a:ext>
                </a:extLst>
              </a:tr>
              <a:tr h="400152">
                <a:tc>
                  <a:txBody>
                    <a:bodyPr/>
                    <a:lstStyle/>
                    <a:p>
                      <a:pPr algn="ctr">
                        <a:buNone/>
                      </a:pPr>
                      <a:r>
                        <a:rPr lang="en-IN">
                          <a:latin typeface="Courier New" panose="02070309020205020404" pitchFamily="49" charset="0"/>
                        </a:rPr>
                        <a:t>dma_sram_req_addr</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DMA request address</a:t>
                      </a:r>
                    </a:p>
                  </a:txBody>
                  <a:tcPr anchor="ctr"/>
                </a:tc>
                <a:extLst>
                  <a:ext uri="{0D108BD9-81ED-4DB2-BD59-A6C34878D82A}">
                    <a16:rowId xmlns:a16="http://schemas.microsoft.com/office/drawing/2014/main" val="3383936336"/>
                  </a:ext>
                </a:extLst>
              </a:tr>
              <a:tr h="400152">
                <a:tc>
                  <a:txBody>
                    <a:bodyPr/>
                    <a:lstStyle/>
                    <a:p>
                      <a:pPr algn="ctr">
                        <a:buNone/>
                      </a:pPr>
                      <a:r>
                        <a:rPr lang="en-IN">
                          <a:latin typeface="Courier New" panose="02070309020205020404" pitchFamily="49" charset="0"/>
                        </a:rPr>
                        <a:t>dma_sram_req_wdata</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DMA write data</a:t>
                      </a:r>
                    </a:p>
                  </a:txBody>
                  <a:tcPr anchor="ctr"/>
                </a:tc>
                <a:extLst>
                  <a:ext uri="{0D108BD9-81ED-4DB2-BD59-A6C34878D82A}">
                    <a16:rowId xmlns:a16="http://schemas.microsoft.com/office/drawing/2014/main" val="3043876383"/>
                  </a:ext>
                </a:extLst>
              </a:tr>
              <a:tr h="400152">
                <a:tc>
                  <a:txBody>
                    <a:bodyPr/>
                    <a:lstStyle/>
                    <a:p>
                      <a:pPr algn="ctr">
                        <a:buNone/>
                      </a:pPr>
                      <a:r>
                        <a:rPr lang="en-IN">
                          <a:latin typeface="Courier New" panose="02070309020205020404" pitchFamily="49" charset="0"/>
                        </a:rPr>
                        <a:t>mbox_sram_resp_data</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Data read from SRAM</a:t>
                      </a:r>
                    </a:p>
                  </a:txBody>
                  <a:tcPr anchor="ctr"/>
                </a:tc>
                <a:extLst>
                  <a:ext uri="{0D108BD9-81ED-4DB2-BD59-A6C34878D82A}">
                    <a16:rowId xmlns:a16="http://schemas.microsoft.com/office/drawing/2014/main" val="24903451"/>
                  </a:ext>
                </a:extLst>
              </a:tr>
            </a:tbl>
          </a:graphicData>
        </a:graphic>
      </p:graphicFrame>
      <p:sp>
        <p:nvSpPr>
          <p:cNvPr id="2" name="TextBox 1">
            <a:extLst>
              <a:ext uri="{FF2B5EF4-FFF2-40B4-BE49-F238E27FC236}">
                <a16:creationId xmlns:a16="http://schemas.microsoft.com/office/drawing/2014/main" id="{7FEA7C18-2E0A-F727-18A1-6375A8CA9502}"/>
              </a:ext>
            </a:extLst>
          </p:cNvPr>
          <p:cNvSpPr txBox="1"/>
          <p:nvPr/>
        </p:nvSpPr>
        <p:spPr>
          <a:xfrm>
            <a:off x="2074332" y="865489"/>
            <a:ext cx="6663267" cy="369332"/>
          </a:xfrm>
          <a:prstGeom prst="rect">
            <a:avLst/>
          </a:prstGeom>
          <a:noFill/>
        </p:spPr>
        <p:txBody>
          <a:bodyPr wrap="square" rtlCol="0">
            <a:spAutoFit/>
          </a:bodyPr>
          <a:lstStyle/>
          <a:p>
            <a:r>
              <a:rPr lang="en-IN"/>
              <a:t>Table 2.</a:t>
            </a:r>
            <a:r>
              <a:rPr lang="en-IN">
                <a:latin typeface="Calibri" panose="020F0502020204030204" pitchFamily="34" charset="0"/>
                <a:ea typeface="Calibri" panose="020F0502020204030204" pitchFamily="34" charset="0"/>
                <a:cs typeface="Calibri" panose="020F0502020204030204" pitchFamily="34" charset="0"/>
              </a:rPr>
              <a:t> Mailbox Input Signal Description </a:t>
            </a:r>
            <a:endParaRPr lang="en-IN"/>
          </a:p>
        </p:txBody>
      </p:sp>
      <p:sp>
        <p:nvSpPr>
          <p:cNvPr id="7" name="Slide Number Placeholder 6">
            <a:extLst>
              <a:ext uri="{FF2B5EF4-FFF2-40B4-BE49-F238E27FC236}">
                <a16:creationId xmlns:a16="http://schemas.microsoft.com/office/drawing/2014/main" id="{49B1445C-9700-0078-D322-C64690875AB5}"/>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34831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F98A-8A77-5762-51AE-2AFA03698A3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1CDD6FA-7748-5CCA-C11E-0382AEF0FA64}"/>
              </a:ext>
            </a:extLst>
          </p:cNvPr>
          <p:cNvSpPr>
            <a:spLocks noGrp="1"/>
          </p:cNvSpPr>
          <p:nvPr>
            <p:ph type="title"/>
          </p:nvPr>
        </p:nvSpPr>
        <p:spPr>
          <a:xfrm>
            <a:off x="0" y="1"/>
            <a:ext cx="12192000" cy="871180"/>
          </a:xfrm>
          <a:solidFill>
            <a:schemeClr val="accent6"/>
          </a:solidFill>
        </p:spPr>
        <p:txBody>
          <a:bodyPr>
            <a:noAutofit/>
          </a:bodyPr>
          <a:lstStyle/>
          <a:p>
            <a:pPr algn="ctr"/>
            <a:r>
              <a:rPr lang="en-IN" sz="2800" b="1">
                <a:latin typeface="Calibri" panose="020F0502020204030204" pitchFamily="34" charset="0"/>
                <a:ea typeface="Calibri" panose="020F0502020204030204" pitchFamily="34" charset="0"/>
                <a:cs typeface="Calibri" panose="020F0502020204030204" pitchFamily="34" charset="0"/>
              </a:rPr>
              <a:t>Mailbox Output Signal Description</a:t>
            </a:r>
            <a:endParaRPr lang="en-US" sz="2800" b="1">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Content Placeholder 1">
            <a:extLst>
              <a:ext uri="{FF2B5EF4-FFF2-40B4-BE49-F238E27FC236}">
                <a16:creationId xmlns:a16="http://schemas.microsoft.com/office/drawing/2014/main" id="{8CEBD4FF-2564-59C2-2C4F-A213D864AB44}"/>
              </a:ext>
            </a:extLst>
          </p:cNvPr>
          <p:cNvGraphicFramePr>
            <a:graphicFrameLocks noGrp="1"/>
          </p:cNvGraphicFramePr>
          <p:nvPr>
            <p:ph idx="1"/>
            <p:extLst>
              <p:ext uri="{D42A27DB-BD31-4B8C-83A1-F6EECF244321}">
                <p14:modId xmlns:p14="http://schemas.microsoft.com/office/powerpoint/2010/main" val="1957643990"/>
              </p:ext>
            </p:extLst>
          </p:nvPr>
        </p:nvGraphicFramePr>
        <p:xfrm>
          <a:off x="606286" y="1399464"/>
          <a:ext cx="10507131" cy="5458535"/>
        </p:xfrm>
        <a:graphic>
          <a:graphicData uri="http://schemas.openxmlformats.org/drawingml/2006/table">
            <a:tbl>
              <a:tblPr firstRow="1" bandRow="1">
                <a:tableStyleId>{5C22544A-7EE6-4342-B048-85BDC9FD1C3A}</a:tableStyleId>
              </a:tblPr>
              <a:tblGrid>
                <a:gridCol w="3206283">
                  <a:extLst>
                    <a:ext uri="{9D8B030D-6E8A-4147-A177-3AD203B41FA5}">
                      <a16:colId xmlns:a16="http://schemas.microsoft.com/office/drawing/2014/main" val="809626005"/>
                    </a:ext>
                  </a:extLst>
                </a:gridCol>
                <a:gridCol w="1089356">
                  <a:extLst>
                    <a:ext uri="{9D8B030D-6E8A-4147-A177-3AD203B41FA5}">
                      <a16:colId xmlns:a16="http://schemas.microsoft.com/office/drawing/2014/main" val="2253165285"/>
                    </a:ext>
                  </a:extLst>
                </a:gridCol>
                <a:gridCol w="1503474">
                  <a:extLst>
                    <a:ext uri="{9D8B030D-6E8A-4147-A177-3AD203B41FA5}">
                      <a16:colId xmlns:a16="http://schemas.microsoft.com/office/drawing/2014/main" val="2085765372"/>
                    </a:ext>
                  </a:extLst>
                </a:gridCol>
                <a:gridCol w="4708018">
                  <a:extLst>
                    <a:ext uri="{9D8B030D-6E8A-4147-A177-3AD203B41FA5}">
                      <a16:colId xmlns:a16="http://schemas.microsoft.com/office/drawing/2014/main" val="4188353295"/>
                    </a:ext>
                  </a:extLst>
                </a:gridCol>
              </a:tblGrid>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82577021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Stall signal to hold request</a:t>
                      </a:r>
                    </a:p>
                  </a:txBody>
                  <a:tcPr anchor="ctr"/>
                </a:tc>
                <a:extLst>
                  <a:ext uri="{0D108BD9-81ED-4DB2-BD59-A6C34878D82A}">
                    <a16:rowId xmlns:a16="http://schemas.microsoft.com/office/drawing/2014/main" val="182022325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Read/write error indication</a:t>
                      </a:r>
                    </a:p>
                  </a:txBody>
                  <a:tcPr anchor="ctr"/>
                </a:tc>
                <a:extLst>
                  <a:ext uri="{0D108BD9-81ED-4DB2-BD59-A6C34878D82A}">
                    <a16:rowId xmlns:a16="http://schemas.microsoft.com/office/drawing/2014/main" val="2932054478"/>
                  </a:ext>
                </a:extLst>
              </a:tr>
              <a:tr h="435435">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sha_sram_hold</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Hold signal for SHA access</a:t>
                      </a:r>
                    </a:p>
                  </a:txBody>
                  <a:tcPr anchor="ctr"/>
                </a:tc>
                <a:extLst>
                  <a:ext uri="{0D108BD9-81ED-4DB2-BD59-A6C34878D82A}">
                    <a16:rowId xmlns:a16="http://schemas.microsoft.com/office/drawing/2014/main" val="1051029799"/>
                  </a:ext>
                </a:extLst>
              </a:tr>
              <a:tr h="435435">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dma_sram_hold</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Hold signal for DMA access</a:t>
                      </a:r>
                    </a:p>
                  </a:txBody>
                  <a:tcPr anchor="ctr"/>
                </a:tc>
                <a:extLst>
                  <a:ext uri="{0D108BD9-81ED-4DB2-BD59-A6C34878D82A}">
                    <a16:rowId xmlns:a16="http://schemas.microsoft.com/office/drawing/2014/main" val="2078279641"/>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dma_sram_error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error indication</a:t>
                      </a:r>
                    </a:p>
                  </a:txBody>
                  <a:tcPr anchor="ctr"/>
                </a:tc>
                <a:extLst>
                  <a:ext uri="{0D108BD9-81ED-4DB2-BD59-A6C34878D82A}">
                    <a16:rowId xmlns:a16="http://schemas.microsoft.com/office/drawing/2014/main" val="334736188"/>
                  </a:ext>
                </a:extLst>
              </a:tr>
              <a:tr h="412673">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mbox_sram_req_cs</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SRAM chip select</a:t>
                      </a:r>
                    </a:p>
                  </a:txBody>
                  <a:tcPr anchor="ctr"/>
                </a:tc>
                <a:extLst>
                  <a:ext uri="{0D108BD9-81ED-4DB2-BD59-A6C34878D82A}">
                    <a16:rowId xmlns:a16="http://schemas.microsoft.com/office/drawing/2014/main" val="285612651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mbox_sram_req_we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SRAM write enable</a:t>
                      </a:r>
                    </a:p>
                  </a:txBody>
                  <a:tcPr anchor="ctr"/>
                </a:tc>
                <a:extLst>
                  <a:ext uri="{0D108BD9-81ED-4DB2-BD59-A6C34878D82A}">
                    <a16:rowId xmlns:a16="http://schemas.microsoft.com/office/drawing/2014/main" val="162104145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sram_single_ecc_error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Single-bit ECC error detected</a:t>
                      </a:r>
                    </a:p>
                  </a:txBody>
                  <a:tcPr anchor="ctr"/>
                </a:tc>
                <a:extLst>
                  <a:ext uri="{0D108BD9-81ED-4DB2-BD59-A6C34878D82A}">
                    <a16:rowId xmlns:a16="http://schemas.microsoft.com/office/drawing/2014/main" val="3722155293"/>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sram_double_ecc_error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Double-bit ECC error detected</a:t>
                      </a:r>
                    </a:p>
                  </a:txBody>
                  <a:tcPr anchor="ctr"/>
                </a:tc>
                <a:extLst>
                  <a:ext uri="{0D108BD9-81ED-4DB2-BD59-A6C34878D82A}">
                    <a16:rowId xmlns:a16="http://schemas.microsoft.com/office/drawing/2014/main" val="1634158503"/>
                  </a:ext>
                </a:extLst>
              </a:tr>
              <a:tr h="381142">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uc_mbox_lock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 owns mailbox lock</a:t>
                      </a:r>
                    </a:p>
                  </a:txBody>
                  <a:tcPr anchor="ctr"/>
                </a:tc>
                <a:extLst>
                  <a:ext uri="{0D108BD9-81ED-4DB2-BD59-A6C34878D82A}">
                    <a16:rowId xmlns:a16="http://schemas.microsoft.com/office/drawing/2014/main" val="2647679897"/>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uc_mbox_data_avail</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Data available for uC</a:t>
                      </a:r>
                    </a:p>
                  </a:txBody>
                  <a:tcPr anchor="ctr"/>
                </a:tc>
                <a:extLst>
                  <a:ext uri="{0D108BD9-81ED-4DB2-BD59-A6C34878D82A}">
                    <a16:rowId xmlns:a16="http://schemas.microsoft.com/office/drawing/2014/main" val="2499737237"/>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soc_mbox_data_avail</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Data available for SoC</a:t>
                      </a:r>
                    </a:p>
                  </a:txBody>
                  <a:tcPr anchor="ctr"/>
                </a:tc>
                <a:extLst>
                  <a:ext uri="{0D108BD9-81ED-4DB2-BD59-A6C34878D82A}">
                    <a16:rowId xmlns:a16="http://schemas.microsoft.com/office/drawing/2014/main" val="1917401848"/>
                  </a:ext>
                </a:extLst>
              </a:tr>
              <a:tr h="379385">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soc_req_mbox_lock</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 requesting mailbox lock</a:t>
                      </a:r>
                    </a:p>
                  </a:txBody>
                  <a:tcPr anchor="ctr"/>
                </a:tc>
                <a:extLst>
                  <a:ext uri="{0D108BD9-81ED-4DB2-BD59-A6C34878D82A}">
                    <a16:rowId xmlns:a16="http://schemas.microsoft.com/office/drawing/2014/main" val="3316851861"/>
                  </a:ext>
                </a:extLst>
              </a:tr>
            </a:tbl>
          </a:graphicData>
        </a:graphic>
      </p:graphicFrame>
      <p:sp>
        <p:nvSpPr>
          <p:cNvPr id="6" name="TextBox 5">
            <a:extLst>
              <a:ext uri="{FF2B5EF4-FFF2-40B4-BE49-F238E27FC236}">
                <a16:creationId xmlns:a16="http://schemas.microsoft.com/office/drawing/2014/main" id="{D31A44E3-9441-180E-A7A6-7101B027BBA8}"/>
              </a:ext>
            </a:extLst>
          </p:cNvPr>
          <p:cNvSpPr txBox="1"/>
          <p:nvPr/>
        </p:nvSpPr>
        <p:spPr>
          <a:xfrm>
            <a:off x="2422663" y="950656"/>
            <a:ext cx="6097656" cy="369332"/>
          </a:xfrm>
          <a:prstGeom prst="rect">
            <a:avLst/>
          </a:prstGeom>
          <a:noFill/>
        </p:spPr>
        <p:txBody>
          <a:bodyPr wrap="square">
            <a:spAutoFit/>
          </a:bodyPr>
          <a:lstStyle/>
          <a:p>
            <a:r>
              <a:rPr lang="en-IN"/>
              <a:t>Table 3.</a:t>
            </a:r>
            <a:r>
              <a:rPr lang="en-IN">
                <a:latin typeface="Calibri" panose="020F0502020204030204" pitchFamily="34" charset="0"/>
                <a:ea typeface="Calibri" panose="020F0502020204030204" pitchFamily="34" charset="0"/>
                <a:cs typeface="Calibri" panose="020F0502020204030204" pitchFamily="34" charset="0"/>
              </a:rPr>
              <a:t> Mailbox Output Signal Description </a:t>
            </a:r>
            <a:endParaRPr lang="en-IN"/>
          </a:p>
        </p:txBody>
      </p:sp>
      <p:sp>
        <p:nvSpPr>
          <p:cNvPr id="7" name="Slide Number Placeholder 6">
            <a:extLst>
              <a:ext uri="{FF2B5EF4-FFF2-40B4-BE49-F238E27FC236}">
                <a16:creationId xmlns:a16="http://schemas.microsoft.com/office/drawing/2014/main" id="{2E37123E-74E6-3B6A-A2C2-D874779A3FCC}"/>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761067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4414-9E41-086B-D016-6AAE17F29AB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953668C-4395-2863-549B-B19E30389A0F}"/>
              </a:ext>
            </a:extLst>
          </p:cNvPr>
          <p:cNvSpPr>
            <a:spLocks noGrp="1"/>
          </p:cNvSpPr>
          <p:nvPr>
            <p:ph type="title"/>
          </p:nvPr>
        </p:nvSpPr>
        <p:spPr>
          <a:xfrm>
            <a:off x="0" y="1"/>
            <a:ext cx="12192000" cy="871180"/>
          </a:xfrm>
          <a:solidFill>
            <a:schemeClr val="accent6"/>
          </a:solidFill>
        </p:spPr>
        <p:txBody>
          <a:bodyPr>
            <a:noAutofit/>
          </a:bodyPr>
          <a:lstStyle/>
          <a:p>
            <a:pPr algn="ctr"/>
            <a:r>
              <a:rPr lang="en-IN" sz="2800" b="1">
                <a:latin typeface="Calibri" panose="020F0502020204030204" pitchFamily="34" charset="0"/>
                <a:ea typeface="Calibri" panose="020F0502020204030204" pitchFamily="34" charset="0"/>
                <a:cs typeface="Calibri" panose="020F0502020204030204" pitchFamily="34" charset="0"/>
              </a:rPr>
              <a:t>Mailbox Output Signal Description(Contd..)</a:t>
            </a:r>
            <a:endParaRPr lang="en-US" sz="2800" b="1">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Content Placeholder 1">
            <a:extLst>
              <a:ext uri="{FF2B5EF4-FFF2-40B4-BE49-F238E27FC236}">
                <a16:creationId xmlns:a16="http://schemas.microsoft.com/office/drawing/2014/main" id="{DBEC505F-7DD7-7AFA-3DA0-F4B339159D83}"/>
              </a:ext>
            </a:extLst>
          </p:cNvPr>
          <p:cNvGraphicFramePr>
            <a:graphicFrameLocks noGrp="1"/>
          </p:cNvGraphicFramePr>
          <p:nvPr>
            <p:ph idx="1"/>
            <p:extLst>
              <p:ext uri="{D42A27DB-BD31-4B8C-83A1-F6EECF244321}">
                <p14:modId xmlns:p14="http://schemas.microsoft.com/office/powerpoint/2010/main" val="3071488537"/>
              </p:ext>
            </p:extLst>
          </p:nvPr>
        </p:nvGraphicFramePr>
        <p:xfrm>
          <a:off x="651933" y="1399464"/>
          <a:ext cx="10461484" cy="4699765"/>
        </p:xfrm>
        <a:graphic>
          <a:graphicData uri="http://schemas.openxmlformats.org/drawingml/2006/table">
            <a:tbl>
              <a:tblPr firstRow="1" bandRow="1">
                <a:tableStyleId>{5C22544A-7EE6-4342-B048-85BDC9FD1C3A}</a:tableStyleId>
              </a:tblPr>
              <a:tblGrid>
                <a:gridCol w="3160636">
                  <a:extLst>
                    <a:ext uri="{9D8B030D-6E8A-4147-A177-3AD203B41FA5}">
                      <a16:colId xmlns:a16="http://schemas.microsoft.com/office/drawing/2014/main" val="809626005"/>
                    </a:ext>
                  </a:extLst>
                </a:gridCol>
                <a:gridCol w="1089356">
                  <a:extLst>
                    <a:ext uri="{9D8B030D-6E8A-4147-A177-3AD203B41FA5}">
                      <a16:colId xmlns:a16="http://schemas.microsoft.com/office/drawing/2014/main" val="2253165285"/>
                    </a:ext>
                  </a:extLst>
                </a:gridCol>
                <a:gridCol w="1503474">
                  <a:extLst>
                    <a:ext uri="{9D8B030D-6E8A-4147-A177-3AD203B41FA5}">
                      <a16:colId xmlns:a16="http://schemas.microsoft.com/office/drawing/2014/main" val="2085765372"/>
                    </a:ext>
                  </a:extLst>
                </a:gridCol>
                <a:gridCol w="4708018">
                  <a:extLst>
                    <a:ext uri="{9D8B030D-6E8A-4147-A177-3AD203B41FA5}">
                      <a16:colId xmlns:a16="http://schemas.microsoft.com/office/drawing/2014/main" val="4188353295"/>
                    </a:ext>
                  </a:extLst>
                </a:gridCol>
              </a:tblGrid>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82577021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mbox_inv_axi_user_axs</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Invalid AXI access detected</a:t>
                      </a:r>
                    </a:p>
                  </a:txBody>
                  <a:tcPr anchor="ctr"/>
                </a:tc>
                <a:extLst>
                  <a:ext uri="{0D108BD9-81ED-4DB2-BD59-A6C34878D82A}">
                    <a16:rowId xmlns:a16="http://schemas.microsoft.com/office/drawing/2014/main" val="3872023705"/>
                  </a:ext>
                </a:extLst>
              </a:tr>
              <a:tr h="379385">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sha_sram_resp_ecc</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8</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ECC response to SHA</a:t>
                      </a:r>
                    </a:p>
                  </a:txBody>
                  <a:tcPr anchor="ctr"/>
                </a:tc>
                <a:extLst>
                  <a:ext uri="{0D108BD9-81ED-4DB2-BD59-A6C34878D82A}">
                    <a16:rowId xmlns:a16="http://schemas.microsoft.com/office/drawing/2014/main" val="1820223252"/>
                  </a:ext>
                </a:extLst>
              </a:tr>
              <a:tr h="379385">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mbox_sram_req_ecc</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8</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ECC bits generated for SRAM write</a:t>
                      </a:r>
                    </a:p>
                  </a:txBody>
                  <a:tcPr anchor="ctr"/>
                </a:tc>
                <a:extLst>
                  <a:ext uri="{0D108BD9-81ED-4DB2-BD59-A6C34878D82A}">
                    <a16:rowId xmlns:a16="http://schemas.microsoft.com/office/drawing/2014/main" val="2932054478"/>
                  </a:ext>
                </a:extLst>
              </a:tr>
              <a:tr h="43543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mbox_sram_req_addr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Address to SRAM</a:t>
                      </a:r>
                    </a:p>
                  </a:txBody>
                  <a:tcPr anchor="ctr"/>
                </a:tc>
                <a:extLst>
                  <a:ext uri="{0D108BD9-81ED-4DB2-BD59-A6C34878D82A}">
                    <a16:rowId xmlns:a16="http://schemas.microsoft.com/office/drawing/2014/main" val="1051029799"/>
                  </a:ext>
                </a:extLst>
              </a:tr>
              <a:tr h="43543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 output</a:t>
                      </a:r>
                    </a:p>
                  </a:txBody>
                  <a:tcPr anchor="ctr"/>
                </a:tc>
                <a:extLst>
                  <a:ext uri="{0D108BD9-81ED-4DB2-BD59-A6C34878D82A}">
                    <a16:rowId xmlns:a16="http://schemas.microsoft.com/office/drawing/2014/main" val="2078279641"/>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 read data</a:t>
                      </a:r>
                    </a:p>
                  </a:txBody>
                  <a:tcPr anchor="ctr"/>
                </a:tc>
                <a:extLst>
                  <a:ext uri="{0D108BD9-81ED-4DB2-BD59-A6C34878D82A}">
                    <a16:rowId xmlns:a16="http://schemas.microsoft.com/office/drawing/2014/main" val="334736188"/>
                  </a:ext>
                </a:extLst>
              </a:tr>
              <a:tr h="412673">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dma_sram_rdata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read data</a:t>
                      </a:r>
                    </a:p>
                  </a:txBody>
                  <a:tcPr anchor="ctr"/>
                </a:tc>
                <a:extLst>
                  <a:ext uri="{0D108BD9-81ED-4DB2-BD59-A6C34878D82A}">
                    <a16:rowId xmlns:a16="http://schemas.microsoft.com/office/drawing/2014/main" val="285612651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mbox_sram_req_wdata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Data written to SRAM</a:t>
                      </a:r>
                    </a:p>
                  </a:txBody>
                  <a:tcPr anchor="ctr"/>
                </a:tc>
                <a:extLst>
                  <a:ext uri="{0D108BD9-81ED-4DB2-BD59-A6C34878D82A}">
                    <a16:rowId xmlns:a16="http://schemas.microsoft.com/office/drawing/2014/main" val="1621041452"/>
                  </a:ext>
                </a:extLst>
              </a:tr>
              <a:tr h="379385">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sha_sram_resp_data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Data returned to SHA</a:t>
                      </a:r>
                    </a:p>
                  </a:txBody>
                  <a:tcPr anchor="ctr"/>
                </a:tc>
                <a:extLst>
                  <a:ext uri="{0D108BD9-81ED-4DB2-BD59-A6C34878D82A}">
                    <a16:rowId xmlns:a16="http://schemas.microsoft.com/office/drawing/2014/main" val="3722155293"/>
                  </a:ext>
                </a:extLst>
              </a:tr>
              <a:tr h="379385">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mbox_protocol_error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64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protocol error information</a:t>
                      </a:r>
                    </a:p>
                  </a:txBody>
                  <a:tcPr anchor="ctr"/>
                </a:tc>
                <a:extLst>
                  <a:ext uri="{0D108BD9-81ED-4DB2-BD59-A6C34878D82A}">
                    <a16:rowId xmlns:a16="http://schemas.microsoft.com/office/drawing/2014/main" val="1634158503"/>
                  </a:ext>
                </a:extLst>
              </a:tr>
              <a:tr h="381142">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dmi_reg</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64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DMI register output bundle</a:t>
                      </a:r>
                    </a:p>
                  </a:txBody>
                  <a:tcPr anchor="ctr"/>
                </a:tc>
                <a:extLst>
                  <a:ext uri="{0D108BD9-81ED-4DB2-BD59-A6C34878D82A}">
                    <a16:rowId xmlns:a16="http://schemas.microsoft.com/office/drawing/2014/main" val="2647679897"/>
                  </a:ext>
                </a:extLst>
              </a:tr>
            </a:tbl>
          </a:graphicData>
        </a:graphic>
      </p:graphicFrame>
      <p:sp>
        <p:nvSpPr>
          <p:cNvPr id="6" name="TextBox 5">
            <a:extLst>
              <a:ext uri="{FF2B5EF4-FFF2-40B4-BE49-F238E27FC236}">
                <a16:creationId xmlns:a16="http://schemas.microsoft.com/office/drawing/2014/main" id="{E232EBD0-15B5-3253-256F-8BF9F28102D3}"/>
              </a:ext>
            </a:extLst>
          </p:cNvPr>
          <p:cNvSpPr txBox="1"/>
          <p:nvPr/>
        </p:nvSpPr>
        <p:spPr>
          <a:xfrm>
            <a:off x="2422663" y="950656"/>
            <a:ext cx="6097656" cy="369332"/>
          </a:xfrm>
          <a:prstGeom prst="rect">
            <a:avLst/>
          </a:prstGeom>
          <a:noFill/>
        </p:spPr>
        <p:txBody>
          <a:bodyPr wrap="square">
            <a:spAutoFit/>
          </a:bodyPr>
          <a:lstStyle/>
          <a:p>
            <a:r>
              <a:rPr lang="en-IN"/>
              <a:t>Table 4 .</a:t>
            </a:r>
            <a:r>
              <a:rPr lang="en-IN">
                <a:latin typeface="Calibri" panose="020F0502020204030204" pitchFamily="34" charset="0"/>
                <a:ea typeface="Calibri" panose="020F0502020204030204" pitchFamily="34" charset="0"/>
                <a:cs typeface="Calibri" panose="020F0502020204030204" pitchFamily="34" charset="0"/>
              </a:rPr>
              <a:t> Mailbox Output Signal Description </a:t>
            </a:r>
            <a:endParaRPr lang="en-IN"/>
          </a:p>
        </p:txBody>
      </p:sp>
      <p:sp>
        <p:nvSpPr>
          <p:cNvPr id="7" name="Slide Number Placeholder 6">
            <a:extLst>
              <a:ext uri="{FF2B5EF4-FFF2-40B4-BE49-F238E27FC236}">
                <a16:creationId xmlns:a16="http://schemas.microsoft.com/office/drawing/2014/main" id="{E18E5202-A6D1-F4DB-0870-1E88A067F713}"/>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4162544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9E916-D65B-F4E4-0F00-E26C0BC6C93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8AC5F06-CE61-D912-47D3-FDD119858106}"/>
              </a:ext>
            </a:extLst>
          </p:cNvPr>
          <p:cNvSpPr>
            <a:spLocks noGrp="1"/>
          </p:cNvSpPr>
          <p:nvPr>
            <p:ph type="title"/>
          </p:nvPr>
        </p:nvSpPr>
        <p:spPr>
          <a:xfrm>
            <a:off x="0" y="1"/>
            <a:ext cx="12192000" cy="871180"/>
          </a:xfrm>
          <a:solidFill>
            <a:schemeClr val="accent6"/>
          </a:solidFill>
        </p:spPr>
        <p:txBody>
          <a:bodyPr>
            <a:noAutofit/>
          </a:bodyPr>
          <a:lstStyle/>
          <a:p>
            <a:r>
              <a:rPr lang="en-US" sz="2800" b="1"/>
              <a:t>                                                             Mailbox Working</a:t>
            </a:r>
          </a:p>
        </p:txBody>
      </p:sp>
      <p:sp>
        <p:nvSpPr>
          <p:cNvPr id="4" name="Content Placeholder 3">
            <a:extLst>
              <a:ext uri="{FF2B5EF4-FFF2-40B4-BE49-F238E27FC236}">
                <a16:creationId xmlns:a16="http://schemas.microsoft.com/office/drawing/2014/main" id="{82F97759-9609-ABA0-049E-645ACD328454}"/>
              </a:ext>
            </a:extLst>
          </p:cNvPr>
          <p:cNvSpPr>
            <a:spLocks noGrp="1"/>
          </p:cNvSpPr>
          <p:nvPr>
            <p:ph idx="1"/>
          </p:nvPr>
        </p:nvSpPr>
        <p:spPr>
          <a:xfrm>
            <a:off x="736601" y="1100667"/>
            <a:ext cx="10634132" cy="5076296"/>
          </a:xfrm>
        </p:spPr>
        <p:txBody>
          <a:bodyPr>
            <a:normAutofit/>
          </a:bodyPr>
          <a:lstStyle/>
          <a:p>
            <a:r>
              <a:rPr lang="en-US" sz="2400"/>
              <a:t>The Mailbox is a hardware communication block used for data exchange between the SoC, microcontroller (uC), DMA, and SHA engine. </a:t>
            </a:r>
          </a:p>
          <a:p>
            <a:r>
              <a:rPr lang="en-US" sz="2400"/>
              <a:t>It works like a shared memory system where one module writes data and another module reads the data. </a:t>
            </a:r>
          </a:p>
          <a:p>
            <a:r>
              <a:rPr lang="en-US" sz="2400"/>
              <a:t>The mailbox operation is controlled using a lock mechanism and FSM to avoid conflicts and maintain proper communication flow. </a:t>
            </a:r>
          </a:p>
          <a:p>
            <a:r>
              <a:rPr lang="en-US" sz="2400"/>
              <a:t>Only one requester can access the mailbox at a time, which helps maintain data integrity and synchronization. </a:t>
            </a:r>
          </a:p>
        </p:txBody>
      </p:sp>
      <p:sp>
        <p:nvSpPr>
          <p:cNvPr id="6" name="Slide Number Placeholder 5">
            <a:extLst>
              <a:ext uri="{FF2B5EF4-FFF2-40B4-BE49-F238E27FC236}">
                <a16:creationId xmlns:a16="http://schemas.microsoft.com/office/drawing/2014/main" id="{6777714C-9573-ECEB-22A5-84C48C793C0C}"/>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1074057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B30F-B4BC-CA64-A1BF-703E7E7B95A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60A64A-795A-2F0E-F518-0E3823D2BAE6}"/>
              </a:ext>
            </a:extLst>
          </p:cNvPr>
          <p:cNvSpPr>
            <a:spLocks noGrp="1"/>
          </p:cNvSpPr>
          <p:nvPr>
            <p:ph type="title"/>
          </p:nvPr>
        </p:nvSpPr>
        <p:spPr>
          <a:xfrm>
            <a:off x="0" y="1"/>
            <a:ext cx="12192000" cy="871180"/>
          </a:xfrm>
          <a:solidFill>
            <a:schemeClr val="accent6"/>
          </a:solidFill>
        </p:spPr>
        <p:txBody>
          <a:bodyPr>
            <a:noAutofit/>
          </a:bodyPr>
          <a:lstStyle/>
          <a:p>
            <a:r>
              <a:rPr lang="en-US" sz="2800" b="1"/>
              <a:t>                                                             Mailbox Working(Contd..)</a:t>
            </a:r>
          </a:p>
        </p:txBody>
      </p:sp>
      <p:sp>
        <p:nvSpPr>
          <p:cNvPr id="4" name="Content Placeholder 3">
            <a:extLst>
              <a:ext uri="{FF2B5EF4-FFF2-40B4-BE49-F238E27FC236}">
                <a16:creationId xmlns:a16="http://schemas.microsoft.com/office/drawing/2014/main" id="{98639B7D-727E-6FD5-DDF7-092DDB83F445}"/>
              </a:ext>
            </a:extLst>
          </p:cNvPr>
          <p:cNvSpPr>
            <a:spLocks noGrp="1"/>
          </p:cNvSpPr>
          <p:nvPr>
            <p:ph idx="1"/>
          </p:nvPr>
        </p:nvSpPr>
        <p:spPr>
          <a:xfrm>
            <a:off x="736601" y="1100667"/>
            <a:ext cx="10634132" cy="5076296"/>
          </a:xfrm>
        </p:spPr>
        <p:txBody>
          <a:bodyPr>
            <a:noAutofit/>
          </a:bodyPr>
          <a:lstStyle/>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Finite State Machine (FSM)</a:t>
            </a:r>
          </a:p>
          <a:p>
            <a:r>
              <a:rPr lang="en-US" sz="2400">
                <a:latin typeface="Calibri" panose="020F0502020204030204" pitchFamily="34" charset="0"/>
                <a:ea typeface="Calibri" panose="020F0502020204030204" pitchFamily="34" charset="0"/>
                <a:cs typeface="Calibri" panose="020F0502020204030204" pitchFamily="34" charset="0"/>
              </a:rPr>
              <a:t>The FSM controls the complete mailbox operation.</a:t>
            </a:r>
          </a:p>
          <a:p>
            <a:r>
              <a:rPr lang="en-US" sz="2400">
                <a:latin typeface="Calibri" panose="020F0502020204030204" pitchFamily="34" charset="0"/>
                <a:ea typeface="Calibri" panose="020F0502020204030204" pitchFamily="34" charset="0"/>
                <a:cs typeface="Calibri" panose="020F0502020204030204" pitchFamily="34" charset="0"/>
              </a:rPr>
              <a:t>It moves through different states such as: </a:t>
            </a:r>
          </a:p>
          <a:p>
            <a:pPr lvl="1"/>
            <a:r>
              <a:rPr lang="en-US">
                <a:latin typeface="Calibri" panose="020F0502020204030204" pitchFamily="34" charset="0"/>
                <a:ea typeface="Calibri" panose="020F0502020204030204" pitchFamily="34" charset="0"/>
                <a:cs typeface="Calibri" panose="020F0502020204030204" pitchFamily="34" charset="0"/>
              </a:rPr>
              <a:t>IDLE </a:t>
            </a:r>
          </a:p>
          <a:p>
            <a:pPr lvl="1"/>
            <a:r>
              <a:rPr lang="en-US">
                <a:latin typeface="Calibri" panose="020F0502020204030204" pitchFamily="34" charset="0"/>
                <a:ea typeface="Calibri" panose="020F0502020204030204" pitchFamily="34" charset="0"/>
                <a:cs typeface="Calibri" panose="020F0502020204030204" pitchFamily="34" charset="0"/>
              </a:rPr>
              <a:t>Ready for Command </a:t>
            </a:r>
          </a:p>
          <a:p>
            <a:pPr lvl="1"/>
            <a:r>
              <a:rPr lang="en-US">
                <a:latin typeface="Calibri" panose="020F0502020204030204" pitchFamily="34" charset="0"/>
                <a:ea typeface="Calibri" panose="020F0502020204030204" pitchFamily="34" charset="0"/>
                <a:cs typeface="Calibri" panose="020F0502020204030204" pitchFamily="34" charset="0"/>
              </a:rPr>
              <a:t>Ready for Data Length </a:t>
            </a:r>
          </a:p>
          <a:p>
            <a:pPr lvl="1"/>
            <a:r>
              <a:rPr lang="en-US">
                <a:latin typeface="Calibri" panose="020F0502020204030204" pitchFamily="34" charset="0"/>
                <a:ea typeface="Calibri" panose="020F0502020204030204" pitchFamily="34" charset="0"/>
                <a:cs typeface="Calibri" panose="020F0502020204030204" pitchFamily="34" charset="0"/>
              </a:rPr>
              <a:t>Ready for Data </a:t>
            </a:r>
          </a:p>
          <a:p>
            <a:pPr lvl="1"/>
            <a:r>
              <a:rPr lang="en-US">
                <a:latin typeface="Calibri" panose="020F0502020204030204" pitchFamily="34" charset="0"/>
                <a:ea typeface="Calibri" panose="020F0502020204030204" pitchFamily="34" charset="0"/>
                <a:cs typeface="Calibri" panose="020F0502020204030204" pitchFamily="34" charset="0"/>
              </a:rPr>
              <a:t>Execute State </a:t>
            </a:r>
          </a:p>
          <a:p>
            <a:pPr marL="457200" lvl="1" indent="0">
              <a:buNone/>
            </a:pPr>
            <a:endParaRPr lang="en-US">
              <a:latin typeface="Calibri" panose="020F0502020204030204" pitchFamily="34" charset="0"/>
              <a:ea typeface="Calibri" panose="020F0502020204030204" pitchFamily="34" charset="0"/>
              <a:cs typeface="Calibri" panose="020F0502020204030204" pitchFamily="34" charset="0"/>
            </a:endParaRPr>
          </a:p>
          <a:p>
            <a:r>
              <a:rPr lang="en-US" sz="2400">
                <a:latin typeface="Calibri" panose="020F0502020204030204" pitchFamily="34" charset="0"/>
                <a:ea typeface="Calibri" panose="020F0502020204030204" pitchFamily="34" charset="0"/>
                <a:cs typeface="Calibri" panose="020F0502020204030204" pitchFamily="34" charset="0"/>
              </a:rPr>
              <a:t>Each state ensures that mailbox operations happen in the correct order. </a:t>
            </a:r>
          </a:p>
          <a:p>
            <a:r>
              <a:rPr lang="en-US" sz="2400">
                <a:latin typeface="Calibri" panose="020F0502020204030204" pitchFamily="34" charset="0"/>
                <a:ea typeface="Calibri" panose="020F0502020204030204" pitchFamily="34" charset="0"/>
                <a:cs typeface="Calibri" panose="020F0502020204030204" pitchFamily="34" charset="0"/>
              </a:rPr>
              <a:t>The FSM prevents invalid accesses and enforces mailbox communication rules. </a:t>
            </a:r>
          </a:p>
          <a:p>
            <a:endParaRPr lang="en-US" sz="240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9F4FA826-AA5A-1E3C-7E71-2D29F979CD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2134" y="871181"/>
            <a:ext cx="4478866" cy="3552497"/>
          </a:xfrm>
          <a:prstGeom prst="rect">
            <a:avLst/>
          </a:prstGeom>
        </p:spPr>
      </p:pic>
      <p:sp>
        <p:nvSpPr>
          <p:cNvPr id="6" name="TextBox 5">
            <a:extLst>
              <a:ext uri="{FF2B5EF4-FFF2-40B4-BE49-F238E27FC236}">
                <a16:creationId xmlns:a16="http://schemas.microsoft.com/office/drawing/2014/main" id="{158AE904-8F8D-BE7E-C608-5B5EA447EA3F}"/>
              </a:ext>
            </a:extLst>
          </p:cNvPr>
          <p:cNvSpPr txBox="1"/>
          <p:nvPr/>
        </p:nvSpPr>
        <p:spPr>
          <a:xfrm>
            <a:off x="8915400" y="4283832"/>
            <a:ext cx="1961627" cy="369332"/>
          </a:xfrm>
          <a:prstGeom prst="rect">
            <a:avLst/>
          </a:prstGeom>
          <a:noFill/>
        </p:spPr>
        <p:txBody>
          <a:bodyPr wrap="none" rtlCol="0">
            <a:spAutoFit/>
          </a:bodyPr>
          <a:lstStyle/>
          <a:p>
            <a:r>
              <a:rPr lang="en-IN"/>
              <a:t>Fig 3.Mailbox FSM</a:t>
            </a:r>
          </a:p>
        </p:txBody>
      </p:sp>
      <p:sp>
        <p:nvSpPr>
          <p:cNvPr id="8" name="Slide Number Placeholder 7">
            <a:extLst>
              <a:ext uri="{FF2B5EF4-FFF2-40B4-BE49-F238E27FC236}">
                <a16:creationId xmlns:a16="http://schemas.microsoft.com/office/drawing/2014/main" id="{70DC2200-F13B-1A8A-B3CD-EADE6432EC88}"/>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3673215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C9E0E-309A-0FDE-A75D-A04D76907F2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857C2CA-3385-5F63-16DE-7FAB88AD35AE}"/>
              </a:ext>
            </a:extLst>
          </p:cNvPr>
          <p:cNvSpPr>
            <a:spLocks noGrp="1"/>
          </p:cNvSpPr>
          <p:nvPr>
            <p:ph type="title"/>
          </p:nvPr>
        </p:nvSpPr>
        <p:spPr>
          <a:xfrm>
            <a:off x="0" y="1"/>
            <a:ext cx="12192000" cy="871180"/>
          </a:xfrm>
          <a:solidFill>
            <a:schemeClr val="accent6"/>
          </a:solidFill>
        </p:spPr>
        <p:txBody>
          <a:bodyPr>
            <a:noAutofit/>
          </a:bodyPr>
          <a:lstStyle/>
          <a:p>
            <a:r>
              <a:rPr lang="en-US" sz="2800" b="1"/>
              <a:t>                                                             Mailbox Working(Contd..)</a:t>
            </a:r>
          </a:p>
        </p:txBody>
      </p:sp>
      <p:sp>
        <p:nvSpPr>
          <p:cNvPr id="4" name="Content Placeholder 3">
            <a:extLst>
              <a:ext uri="{FF2B5EF4-FFF2-40B4-BE49-F238E27FC236}">
                <a16:creationId xmlns:a16="http://schemas.microsoft.com/office/drawing/2014/main" id="{D7EB15C7-456D-783C-C6E7-6C0F0E2EEC00}"/>
              </a:ext>
            </a:extLst>
          </p:cNvPr>
          <p:cNvSpPr>
            <a:spLocks noGrp="1"/>
          </p:cNvSpPr>
          <p:nvPr>
            <p:ph idx="1"/>
          </p:nvPr>
        </p:nvSpPr>
        <p:spPr>
          <a:xfrm>
            <a:off x="736601" y="1100667"/>
            <a:ext cx="10634132" cy="5076296"/>
          </a:xfrm>
        </p:spPr>
        <p:txBody>
          <a:bodyPr>
            <a:noAutofit/>
          </a:bodyPr>
          <a:lstStyle/>
          <a:p>
            <a:pPr>
              <a:buFont typeface="Wingdings" panose="05000000000000000000" pitchFamily="2" charset="2"/>
              <a:buChar char="Ø"/>
            </a:pPr>
            <a:r>
              <a:rPr lang="en-US" sz="2400">
                <a:latin typeface="Calibri" panose="020F0502020204030204" pitchFamily="34" charset="0"/>
                <a:ea typeface="Calibri" panose="020F0502020204030204" pitchFamily="34" charset="0"/>
                <a:cs typeface="Calibri" panose="020F0502020204030204" pitchFamily="34" charset="0"/>
              </a:rPr>
              <a:t> </a:t>
            </a:r>
            <a:r>
              <a:rPr lang="en-US" sz="2400" b="1">
                <a:latin typeface="Calibri" panose="020F0502020204030204" pitchFamily="34" charset="0"/>
                <a:ea typeface="Calibri" panose="020F0502020204030204" pitchFamily="34" charset="0"/>
                <a:cs typeface="Calibri" panose="020F0502020204030204" pitchFamily="34" charset="0"/>
              </a:rPr>
              <a:t>Lock Mechanism</a:t>
            </a:r>
          </a:p>
          <a:p>
            <a:r>
              <a:rPr lang="en-US" sz="2400">
                <a:latin typeface="Calibri" panose="020F0502020204030204" pitchFamily="34" charset="0"/>
                <a:ea typeface="Calibri" panose="020F0502020204030204" pitchFamily="34" charset="0"/>
                <a:cs typeface="Calibri" panose="020F0502020204030204" pitchFamily="34" charset="0"/>
              </a:rPr>
              <a:t>The mailbox uses lock signals such as: </a:t>
            </a:r>
          </a:p>
          <a:p>
            <a:pPr lvl="1"/>
            <a:r>
              <a:rPr lang="en-US" err="1">
                <a:latin typeface="Calibri" panose="020F0502020204030204" pitchFamily="34" charset="0"/>
                <a:ea typeface="Calibri" panose="020F0502020204030204" pitchFamily="34" charset="0"/>
                <a:cs typeface="Calibri" panose="020F0502020204030204" pitchFamily="34" charset="0"/>
              </a:rPr>
              <a:t>soc_has_lock</a:t>
            </a:r>
            <a:r>
              <a:rPr lang="en-US">
                <a:latin typeface="Calibri" panose="020F0502020204030204" pitchFamily="34" charset="0"/>
                <a:ea typeface="Calibri" panose="020F0502020204030204" pitchFamily="34" charset="0"/>
                <a:cs typeface="Calibri" panose="020F0502020204030204" pitchFamily="34" charset="0"/>
              </a:rPr>
              <a:t> </a:t>
            </a:r>
          </a:p>
          <a:p>
            <a:pPr lvl="1"/>
            <a:r>
              <a:rPr lang="en-US" err="1">
                <a:latin typeface="Calibri" panose="020F0502020204030204" pitchFamily="34" charset="0"/>
                <a:ea typeface="Calibri" panose="020F0502020204030204" pitchFamily="34" charset="0"/>
                <a:cs typeface="Calibri" panose="020F0502020204030204" pitchFamily="34" charset="0"/>
              </a:rPr>
              <a:t>uc_has_lock</a:t>
            </a:r>
            <a:r>
              <a:rPr lang="en-US">
                <a:latin typeface="Calibri" panose="020F0502020204030204" pitchFamily="34" charset="0"/>
                <a:ea typeface="Calibri" panose="020F0502020204030204" pitchFamily="34" charset="0"/>
                <a:cs typeface="Calibri" panose="020F0502020204030204" pitchFamily="34" charset="0"/>
              </a:rPr>
              <a:t> </a:t>
            </a:r>
          </a:p>
          <a:p>
            <a:pPr lvl="1"/>
            <a:r>
              <a:rPr lang="en-US" err="1">
                <a:latin typeface="Calibri" panose="020F0502020204030204" pitchFamily="34" charset="0"/>
                <a:ea typeface="Calibri" panose="020F0502020204030204" pitchFamily="34" charset="0"/>
                <a:cs typeface="Calibri" panose="020F0502020204030204" pitchFamily="34" charset="0"/>
              </a:rPr>
              <a:t>tap_has_lock</a:t>
            </a:r>
            <a:r>
              <a:rPr lang="en-US">
                <a:latin typeface="Calibri" panose="020F0502020204030204" pitchFamily="34" charset="0"/>
                <a:ea typeface="Calibri" panose="020F0502020204030204" pitchFamily="34" charset="0"/>
                <a:cs typeface="Calibri" panose="020F0502020204030204" pitchFamily="34" charset="0"/>
              </a:rPr>
              <a:t> </a:t>
            </a:r>
          </a:p>
          <a:p>
            <a:r>
              <a:rPr lang="en-US" sz="2400">
                <a:latin typeface="Calibri" panose="020F0502020204030204" pitchFamily="34" charset="0"/>
                <a:ea typeface="Calibri" panose="020F0502020204030204" pitchFamily="34" charset="0"/>
                <a:cs typeface="Calibri" panose="020F0502020204030204" pitchFamily="34" charset="0"/>
              </a:rPr>
              <a:t>Only the requester holding the lock is allowed to access the mailbox. </a:t>
            </a:r>
          </a:p>
          <a:p>
            <a:r>
              <a:rPr lang="en-US" sz="2400">
                <a:latin typeface="Calibri" panose="020F0502020204030204" pitchFamily="34" charset="0"/>
                <a:ea typeface="Calibri" panose="020F0502020204030204" pitchFamily="34" charset="0"/>
                <a:cs typeface="Calibri" panose="020F0502020204030204" pitchFamily="34" charset="0"/>
              </a:rPr>
              <a:t>Before performing read or write operations, the requester must first acquire the mailbox lock. </a:t>
            </a:r>
          </a:p>
          <a:p>
            <a:r>
              <a:rPr lang="en-US" sz="2400">
                <a:latin typeface="Calibri" panose="020F0502020204030204" pitchFamily="34" charset="0"/>
                <a:ea typeface="Calibri" panose="020F0502020204030204" pitchFamily="34" charset="0"/>
                <a:cs typeface="Calibri" panose="020F0502020204030204" pitchFamily="34" charset="0"/>
              </a:rPr>
              <a:t>This mechanism prevents simultaneous access and protects data consistency. </a:t>
            </a:r>
          </a:p>
        </p:txBody>
      </p:sp>
      <p:sp>
        <p:nvSpPr>
          <p:cNvPr id="6" name="Slide Number Placeholder 5">
            <a:extLst>
              <a:ext uri="{FF2B5EF4-FFF2-40B4-BE49-F238E27FC236}">
                <a16:creationId xmlns:a16="http://schemas.microsoft.com/office/drawing/2014/main" id="{DDD7ECFD-48F7-EF6D-73BE-807C0DDC4A4E}"/>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4051604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D0FFE-292D-675E-111A-CBD5BBBE068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8FF1D61-FCF1-D2E1-7F63-AEB6000B4EA9}"/>
              </a:ext>
            </a:extLst>
          </p:cNvPr>
          <p:cNvSpPr>
            <a:spLocks noGrp="1"/>
          </p:cNvSpPr>
          <p:nvPr>
            <p:ph type="title"/>
          </p:nvPr>
        </p:nvSpPr>
        <p:spPr>
          <a:xfrm>
            <a:off x="0" y="1"/>
            <a:ext cx="12192000" cy="871180"/>
          </a:xfrm>
          <a:solidFill>
            <a:schemeClr val="accent6"/>
          </a:solidFill>
        </p:spPr>
        <p:txBody>
          <a:bodyPr>
            <a:noAutofit/>
          </a:bodyPr>
          <a:lstStyle/>
          <a:p>
            <a:r>
              <a:rPr lang="en-US" sz="2800" b="1"/>
              <a:t>                                                             Mailbox Working(Contd..)</a:t>
            </a:r>
          </a:p>
        </p:txBody>
      </p:sp>
      <p:sp>
        <p:nvSpPr>
          <p:cNvPr id="4" name="Content Placeholder 3">
            <a:extLst>
              <a:ext uri="{FF2B5EF4-FFF2-40B4-BE49-F238E27FC236}">
                <a16:creationId xmlns:a16="http://schemas.microsoft.com/office/drawing/2014/main" id="{121FEEDF-2117-95DD-2319-CC7D21185B04}"/>
              </a:ext>
            </a:extLst>
          </p:cNvPr>
          <p:cNvSpPr>
            <a:spLocks noGrp="1"/>
          </p:cNvSpPr>
          <p:nvPr>
            <p:ph idx="1"/>
          </p:nvPr>
        </p:nvSpPr>
        <p:spPr>
          <a:xfrm>
            <a:off x="736601" y="1100667"/>
            <a:ext cx="10634132" cy="5076296"/>
          </a:xfrm>
        </p:spPr>
        <p:txBody>
          <a:bodyPr>
            <a:noAutofit/>
          </a:bodyPr>
          <a:lstStyle/>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Request Validation</a:t>
            </a:r>
          </a:p>
          <a:p>
            <a:r>
              <a:rPr lang="en-US" sz="2400">
                <a:latin typeface="Calibri" panose="020F0502020204030204" pitchFamily="34" charset="0"/>
                <a:ea typeface="Calibri" panose="020F0502020204030204" pitchFamily="34" charset="0"/>
                <a:cs typeface="Calibri" panose="020F0502020204030204" pitchFamily="34" charset="0"/>
              </a:rPr>
              <a:t>The mailbox validates all incoming requests using signals such as: </a:t>
            </a:r>
          </a:p>
          <a:p>
            <a:pPr lvl="1"/>
            <a:r>
              <a:rPr lang="en-US" err="1">
                <a:latin typeface="Calibri" panose="020F0502020204030204" pitchFamily="34" charset="0"/>
                <a:ea typeface="Calibri" panose="020F0502020204030204" pitchFamily="34" charset="0"/>
                <a:cs typeface="Calibri" panose="020F0502020204030204" pitchFamily="34" charset="0"/>
              </a:rPr>
              <a:t>valid_requester</a:t>
            </a:r>
            <a:r>
              <a:rPr lang="en-US">
                <a:latin typeface="Calibri" panose="020F0502020204030204" pitchFamily="34" charset="0"/>
                <a:ea typeface="Calibri" panose="020F0502020204030204" pitchFamily="34" charset="0"/>
                <a:cs typeface="Calibri" panose="020F0502020204030204" pitchFamily="34" charset="0"/>
              </a:rPr>
              <a:t> </a:t>
            </a:r>
          </a:p>
          <a:p>
            <a:pPr lvl="1"/>
            <a:r>
              <a:rPr lang="en-US" err="1">
                <a:latin typeface="Calibri" panose="020F0502020204030204" pitchFamily="34" charset="0"/>
                <a:ea typeface="Calibri" panose="020F0502020204030204" pitchFamily="34" charset="0"/>
                <a:cs typeface="Calibri" panose="020F0502020204030204" pitchFamily="34" charset="0"/>
              </a:rPr>
              <a:t>valid_receiver</a:t>
            </a:r>
            <a:r>
              <a:rPr lang="en-US">
                <a:latin typeface="Calibri" panose="020F0502020204030204" pitchFamily="34" charset="0"/>
                <a:ea typeface="Calibri" panose="020F0502020204030204" pitchFamily="34" charset="0"/>
                <a:cs typeface="Calibri" panose="020F0502020204030204" pitchFamily="34" charset="0"/>
              </a:rPr>
              <a:t> </a:t>
            </a:r>
          </a:p>
          <a:p>
            <a:r>
              <a:rPr lang="en-US" sz="2400">
                <a:latin typeface="Calibri" panose="020F0502020204030204" pitchFamily="34" charset="0"/>
                <a:ea typeface="Calibri" panose="020F0502020204030204" pitchFamily="34" charset="0"/>
                <a:cs typeface="Calibri" panose="020F0502020204030204" pitchFamily="34" charset="0"/>
              </a:rPr>
              <a:t>A request is accepted only if it comes from the current lock owner. </a:t>
            </a:r>
          </a:p>
          <a:p>
            <a:r>
              <a:rPr lang="en-US" sz="2400">
                <a:latin typeface="Calibri" panose="020F0502020204030204" pitchFamily="34" charset="0"/>
                <a:ea typeface="Calibri" panose="020F0502020204030204" pitchFamily="34" charset="0"/>
                <a:cs typeface="Calibri" panose="020F0502020204030204" pitchFamily="34" charset="0"/>
              </a:rPr>
              <a:t>The request must also match the expected mailbox operation phase. </a:t>
            </a:r>
          </a:p>
          <a:p>
            <a:r>
              <a:rPr lang="en-US" sz="2400">
                <a:latin typeface="Calibri" panose="020F0502020204030204" pitchFamily="34" charset="0"/>
                <a:ea typeface="Calibri" panose="020F0502020204030204" pitchFamily="34" charset="0"/>
                <a:cs typeface="Calibri" panose="020F0502020204030204" pitchFamily="34" charset="0"/>
              </a:rPr>
              <a:t>Invalid or unauthorized accesses are blocked and reported as errors.</a:t>
            </a:r>
            <a:endParaRPr lang="en-US">
              <a:latin typeface="Calibri" panose="020F0502020204030204" pitchFamily="34" charset="0"/>
              <a:ea typeface="Calibri" panose="020F0502020204030204" pitchFamily="34" charset="0"/>
              <a:cs typeface="Calibri" panose="020F0502020204030204" pitchFamily="34" charset="0"/>
            </a:endParaRPr>
          </a:p>
          <a:p>
            <a:pPr lvl="1"/>
            <a:r>
              <a:rPr lang="en-US">
                <a:latin typeface="Calibri" panose="020F0502020204030204" pitchFamily="34" charset="0"/>
                <a:ea typeface="Calibri" panose="020F0502020204030204" pitchFamily="34" charset="0"/>
                <a:cs typeface="Calibri" panose="020F0502020204030204" pitchFamily="34" charset="0"/>
              </a:rPr>
              <a:t>Ready for Command </a:t>
            </a:r>
          </a:p>
          <a:p>
            <a:pPr lvl="1"/>
            <a:r>
              <a:rPr lang="en-US">
                <a:latin typeface="Calibri" panose="020F0502020204030204" pitchFamily="34" charset="0"/>
                <a:ea typeface="Calibri" panose="020F0502020204030204" pitchFamily="34" charset="0"/>
                <a:cs typeface="Calibri" panose="020F0502020204030204" pitchFamily="34" charset="0"/>
              </a:rPr>
              <a:t>Ready for Data Length </a:t>
            </a:r>
          </a:p>
          <a:p>
            <a:pPr lvl="1"/>
            <a:r>
              <a:rPr lang="en-US">
                <a:latin typeface="Calibri" panose="020F0502020204030204" pitchFamily="34" charset="0"/>
                <a:ea typeface="Calibri" panose="020F0502020204030204" pitchFamily="34" charset="0"/>
                <a:cs typeface="Calibri" panose="020F0502020204030204" pitchFamily="34" charset="0"/>
              </a:rPr>
              <a:t>Ready for Data </a:t>
            </a:r>
          </a:p>
          <a:p>
            <a:pPr lvl="1"/>
            <a:r>
              <a:rPr lang="en-US">
                <a:latin typeface="Calibri" panose="020F0502020204030204" pitchFamily="34" charset="0"/>
                <a:ea typeface="Calibri" panose="020F0502020204030204" pitchFamily="34" charset="0"/>
                <a:cs typeface="Calibri" panose="020F0502020204030204" pitchFamily="34" charset="0"/>
              </a:rPr>
              <a:t>Execute State </a:t>
            </a:r>
          </a:p>
          <a:p>
            <a:r>
              <a:rPr lang="en-US" sz="2400">
                <a:latin typeface="Calibri" panose="020F0502020204030204" pitchFamily="34" charset="0"/>
                <a:ea typeface="Calibri" panose="020F0502020204030204" pitchFamily="34" charset="0"/>
                <a:cs typeface="Calibri" panose="020F0502020204030204" pitchFamily="34" charset="0"/>
              </a:rPr>
              <a:t>Each state ensures that mailbox operations happen in the correct order. </a:t>
            </a:r>
          </a:p>
          <a:p>
            <a:r>
              <a:rPr lang="en-US" sz="2400">
                <a:latin typeface="Calibri" panose="020F0502020204030204" pitchFamily="34" charset="0"/>
                <a:ea typeface="Calibri" panose="020F0502020204030204" pitchFamily="34" charset="0"/>
                <a:cs typeface="Calibri" panose="020F0502020204030204" pitchFamily="34" charset="0"/>
              </a:rPr>
              <a:t>The FSM prevents invalid accesses and enforces mailbox communication rules. </a:t>
            </a:r>
          </a:p>
        </p:txBody>
      </p:sp>
      <p:sp>
        <p:nvSpPr>
          <p:cNvPr id="6" name="Slide Number Placeholder 5">
            <a:extLst>
              <a:ext uri="{FF2B5EF4-FFF2-40B4-BE49-F238E27FC236}">
                <a16:creationId xmlns:a16="http://schemas.microsoft.com/office/drawing/2014/main" id="{171AA7CE-38F5-FC62-2EA6-1E8AF10E2E8C}"/>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2224283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9D449-08B7-C932-DB86-F41EBC706AC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A25E125-1816-D676-D8DB-3F967224FCA7}"/>
              </a:ext>
            </a:extLst>
          </p:cNvPr>
          <p:cNvSpPr>
            <a:spLocks noGrp="1"/>
          </p:cNvSpPr>
          <p:nvPr>
            <p:ph type="title"/>
          </p:nvPr>
        </p:nvSpPr>
        <p:spPr>
          <a:xfrm>
            <a:off x="0" y="1"/>
            <a:ext cx="12192000" cy="871180"/>
          </a:xfrm>
          <a:solidFill>
            <a:schemeClr val="accent6"/>
          </a:solidFill>
        </p:spPr>
        <p:txBody>
          <a:bodyPr>
            <a:noAutofit/>
          </a:bodyPr>
          <a:lstStyle/>
          <a:p>
            <a:r>
              <a:rPr lang="en-US" sz="2800" b="1"/>
              <a:t>                                                             Mailbox Working(Contd..)</a:t>
            </a:r>
          </a:p>
        </p:txBody>
      </p:sp>
      <p:sp>
        <p:nvSpPr>
          <p:cNvPr id="4" name="Content Placeholder 3">
            <a:extLst>
              <a:ext uri="{FF2B5EF4-FFF2-40B4-BE49-F238E27FC236}">
                <a16:creationId xmlns:a16="http://schemas.microsoft.com/office/drawing/2014/main" id="{F814247B-D0E4-4496-008A-BD5DA44F990B}"/>
              </a:ext>
            </a:extLst>
          </p:cNvPr>
          <p:cNvSpPr>
            <a:spLocks noGrp="1"/>
          </p:cNvSpPr>
          <p:nvPr>
            <p:ph idx="1"/>
          </p:nvPr>
        </p:nvSpPr>
        <p:spPr>
          <a:xfrm>
            <a:off x="736601" y="1100667"/>
            <a:ext cx="10634132" cy="5076296"/>
          </a:xfrm>
        </p:spPr>
        <p:txBody>
          <a:bodyPr>
            <a:noAutofit/>
          </a:bodyPr>
          <a:lstStyle/>
          <a:p>
            <a:pPr>
              <a:buFont typeface="Wingdings" panose="05000000000000000000" pitchFamily="2" charset="2"/>
              <a:buChar char="Ø"/>
            </a:pPr>
            <a:r>
              <a:rPr lang="en-IN" sz="2400" b="1">
                <a:latin typeface="Calibri" panose="020F0502020204030204" pitchFamily="34" charset="0"/>
                <a:ea typeface="Calibri" panose="020F0502020204030204" pitchFamily="34" charset="0"/>
                <a:cs typeface="Calibri" panose="020F0502020204030204" pitchFamily="34" charset="0"/>
              </a:rPr>
              <a:t>CSR Register Block</a:t>
            </a:r>
          </a:p>
          <a:p>
            <a:r>
              <a:rPr lang="en-IN" sz="2400">
                <a:latin typeface="Calibri" panose="020F0502020204030204" pitchFamily="34" charset="0"/>
                <a:ea typeface="Calibri" panose="020F0502020204030204" pitchFamily="34" charset="0"/>
                <a:cs typeface="Calibri" panose="020F0502020204030204" pitchFamily="34" charset="0"/>
              </a:rPr>
              <a:t>The mailbox contains several control and status registers. </a:t>
            </a:r>
          </a:p>
          <a:p>
            <a:r>
              <a:rPr lang="en-IN" sz="2400">
                <a:latin typeface="Calibri" panose="020F0502020204030204" pitchFamily="34" charset="0"/>
                <a:ea typeface="Calibri" panose="020F0502020204030204" pitchFamily="34" charset="0"/>
                <a:cs typeface="Calibri" panose="020F0502020204030204" pitchFamily="34" charset="0"/>
              </a:rPr>
              <a:t>Important registers include: </a:t>
            </a:r>
          </a:p>
          <a:p>
            <a:pPr lvl="1"/>
            <a:r>
              <a:rPr lang="en-IN">
                <a:latin typeface="Calibri" panose="020F0502020204030204" pitchFamily="34" charset="0"/>
                <a:ea typeface="Calibri" panose="020F0502020204030204" pitchFamily="34" charset="0"/>
                <a:cs typeface="Calibri" panose="020F0502020204030204" pitchFamily="34" charset="0"/>
              </a:rPr>
              <a:t>Command Register </a:t>
            </a:r>
          </a:p>
          <a:p>
            <a:pPr lvl="1"/>
            <a:r>
              <a:rPr lang="en-IN">
                <a:latin typeface="Calibri" panose="020F0502020204030204" pitchFamily="34" charset="0"/>
                <a:ea typeface="Calibri" panose="020F0502020204030204" pitchFamily="34" charset="0"/>
                <a:cs typeface="Calibri" panose="020F0502020204030204" pitchFamily="34" charset="0"/>
              </a:rPr>
              <a:t>Data Length Register </a:t>
            </a:r>
          </a:p>
          <a:p>
            <a:pPr lvl="1"/>
            <a:r>
              <a:rPr lang="en-IN">
                <a:latin typeface="Calibri" panose="020F0502020204030204" pitchFamily="34" charset="0"/>
                <a:ea typeface="Calibri" panose="020F0502020204030204" pitchFamily="34" charset="0"/>
                <a:cs typeface="Calibri" panose="020F0502020204030204" pitchFamily="34" charset="0"/>
              </a:rPr>
              <a:t>Execute Register </a:t>
            </a:r>
          </a:p>
          <a:p>
            <a:pPr lvl="1"/>
            <a:r>
              <a:rPr lang="en-IN">
                <a:latin typeface="Calibri" panose="020F0502020204030204" pitchFamily="34" charset="0"/>
                <a:ea typeface="Calibri" panose="020F0502020204030204" pitchFamily="34" charset="0"/>
                <a:cs typeface="Calibri" panose="020F0502020204030204" pitchFamily="34" charset="0"/>
              </a:rPr>
              <a:t>Status Register </a:t>
            </a:r>
          </a:p>
          <a:p>
            <a:r>
              <a:rPr lang="en-IN" sz="2400">
                <a:latin typeface="Calibri" panose="020F0502020204030204" pitchFamily="34" charset="0"/>
                <a:ea typeface="Calibri" panose="020F0502020204030204" pitchFamily="34" charset="0"/>
                <a:cs typeface="Calibri" panose="020F0502020204030204" pitchFamily="34" charset="0"/>
              </a:rPr>
              <a:t>These registers are used to configure mailbox operations and monitor mailbox status. </a:t>
            </a:r>
          </a:p>
          <a:p>
            <a:r>
              <a:rPr lang="en-IN" sz="2400">
                <a:latin typeface="Calibri" panose="020F0502020204030204" pitchFamily="34" charset="0"/>
                <a:ea typeface="Calibri" panose="020F0502020204030204" pitchFamily="34" charset="0"/>
                <a:cs typeface="Calibri" panose="020F0502020204030204" pitchFamily="34" charset="0"/>
              </a:rPr>
              <a:t>They also provide a software interface for controlling mailbox communication.</a:t>
            </a:r>
          </a:p>
        </p:txBody>
      </p:sp>
      <p:sp>
        <p:nvSpPr>
          <p:cNvPr id="6" name="Slide Number Placeholder 5">
            <a:extLst>
              <a:ext uri="{FF2B5EF4-FFF2-40B4-BE49-F238E27FC236}">
                <a16:creationId xmlns:a16="http://schemas.microsoft.com/office/drawing/2014/main" id="{D9FC1C01-862E-A20C-5F7B-84B562C23736}"/>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3389536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37A52-1192-4DAF-9AC9-2616F207638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9512909-423B-D736-3370-16F4FA3A2150}"/>
              </a:ext>
            </a:extLst>
          </p:cNvPr>
          <p:cNvSpPr>
            <a:spLocks noGrp="1"/>
          </p:cNvSpPr>
          <p:nvPr>
            <p:ph type="title"/>
          </p:nvPr>
        </p:nvSpPr>
        <p:spPr>
          <a:xfrm>
            <a:off x="0" y="1"/>
            <a:ext cx="12192000" cy="871180"/>
          </a:xfrm>
          <a:solidFill>
            <a:schemeClr val="accent6"/>
          </a:solidFill>
        </p:spPr>
        <p:txBody>
          <a:bodyPr>
            <a:noAutofit/>
          </a:bodyPr>
          <a:lstStyle/>
          <a:p>
            <a:r>
              <a:rPr lang="en-US" sz="2800" b="1"/>
              <a:t>                                                             Mailbox Working(Contd..)</a:t>
            </a:r>
          </a:p>
        </p:txBody>
      </p:sp>
      <p:sp>
        <p:nvSpPr>
          <p:cNvPr id="4" name="Content Placeholder 3">
            <a:extLst>
              <a:ext uri="{FF2B5EF4-FFF2-40B4-BE49-F238E27FC236}">
                <a16:creationId xmlns:a16="http://schemas.microsoft.com/office/drawing/2014/main" id="{3C1D9AFA-D231-EA33-2E86-3EE6123D3EBA}"/>
              </a:ext>
            </a:extLst>
          </p:cNvPr>
          <p:cNvSpPr>
            <a:spLocks noGrp="1"/>
          </p:cNvSpPr>
          <p:nvPr>
            <p:ph idx="1"/>
          </p:nvPr>
        </p:nvSpPr>
        <p:spPr>
          <a:xfrm>
            <a:off x="736601" y="1100667"/>
            <a:ext cx="10634132" cy="5076296"/>
          </a:xfrm>
        </p:spPr>
        <p:txBody>
          <a:bodyPr>
            <a:noAutofit/>
          </a:bodyPr>
          <a:lstStyle/>
          <a:p>
            <a:pPr>
              <a:buFont typeface="Wingdings" panose="05000000000000000000" pitchFamily="2" charset="2"/>
              <a:buChar char="Ø"/>
            </a:pPr>
            <a:r>
              <a:rPr lang="en-IN" sz="2400" b="1">
                <a:latin typeface="Calibri" panose="020F0502020204030204" pitchFamily="34" charset="0"/>
                <a:ea typeface="Calibri" panose="020F0502020204030204" pitchFamily="34" charset="0"/>
                <a:cs typeface="Calibri" panose="020F0502020204030204" pitchFamily="34" charset="0"/>
              </a:rPr>
              <a:t>Data Storage (SRAM Interface)</a:t>
            </a:r>
          </a:p>
          <a:p>
            <a:r>
              <a:rPr lang="en-IN" sz="2400">
                <a:latin typeface="Calibri" panose="020F0502020204030204" pitchFamily="34" charset="0"/>
                <a:ea typeface="Calibri" panose="020F0502020204030204" pitchFamily="34" charset="0"/>
                <a:cs typeface="Calibri" panose="020F0502020204030204" pitchFamily="34" charset="0"/>
              </a:rPr>
              <a:t>The mailbox uses internal SRAM memory for storing transferred data. </a:t>
            </a:r>
          </a:p>
          <a:p>
            <a:r>
              <a:rPr lang="en-IN" sz="2400">
                <a:latin typeface="Calibri" panose="020F0502020204030204" pitchFamily="34" charset="0"/>
                <a:ea typeface="Calibri" panose="020F0502020204030204" pitchFamily="34" charset="0"/>
                <a:cs typeface="Calibri" panose="020F0502020204030204" pitchFamily="34" charset="0"/>
              </a:rPr>
              <a:t>Write operations store data into SRAM, while read operations retrieve data from SRAM. </a:t>
            </a:r>
          </a:p>
          <a:p>
            <a:r>
              <a:rPr lang="en-IN" sz="2400">
                <a:latin typeface="Calibri" panose="020F0502020204030204" pitchFamily="34" charset="0"/>
                <a:ea typeface="Calibri" panose="020F0502020204030204" pitchFamily="34" charset="0"/>
                <a:cs typeface="Calibri" panose="020F0502020204030204" pitchFamily="34" charset="0"/>
              </a:rPr>
              <a:t>The SRAM interface contains address, data, and ECC signals. </a:t>
            </a:r>
          </a:p>
          <a:p>
            <a:r>
              <a:rPr lang="en-IN" sz="2400">
                <a:latin typeface="Calibri" panose="020F0502020204030204" pitchFamily="34" charset="0"/>
                <a:ea typeface="Calibri" panose="020F0502020204030204" pitchFamily="34" charset="0"/>
                <a:cs typeface="Calibri" panose="020F0502020204030204" pitchFamily="34" charset="0"/>
              </a:rPr>
              <a:t>This interface ensures reliable and organized data storage. </a:t>
            </a:r>
          </a:p>
          <a:p>
            <a:pPr>
              <a:buFont typeface="Wingdings" panose="05000000000000000000" pitchFamily="2" charset="2"/>
              <a:buChar char="Ø"/>
            </a:pPr>
            <a:r>
              <a:rPr lang="en-IN" sz="2400" b="1">
                <a:latin typeface="Calibri" panose="020F0502020204030204" pitchFamily="34" charset="0"/>
                <a:ea typeface="Calibri" panose="020F0502020204030204" pitchFamily="34" charset="0"/>
                <a:cs typeface="Calibri" panose="020F0502020204030204" pitchFamily="34" charset="0"/>
              </a:rPr>
              <a:t>Read/Write Pointer Logic</a:t>
            </a:r>
          </a:p>
          <a:p>
            <a:r>
              <a:rPr lang="en-IN" sz="2400">
                <a:latin typeface="Calibri" panose="020F0502020204030204" pitchFamily="34" charset="0"/>
                <a:ea typeface="Calibri" panose="020F0502020204030204" pitchFamily="34" charset="0"/>
                <a:cs typeface="Calibri" panose="020F0502020204030204" pitchFamily="34" charset="0"/>
              </a:rPr>
              <a:t>The mailbox maintains separate read and write pointers: </a:t>
            </a:r>
          </a:p>
          <a:p>
            <a:pPr lvl="1"/>
            <a:r>
              <a:rPr lang="en-IN" err="1">
                <a:latin typeface="Calibri" panose="020F0502020204030204" pitchFamily="34" charset="0"/>
                <a:ea typeface="Calibri" panose="020F0502020204030204" pitchFamily="34" charset="0"/>
                <a:cs typeface="Calibri" panose="020F0502020204030204" pitchFamily="34" charset="0"/>
              </a:rPr>
              <a:t>mbox_rdptr</a:t>
            </a:r>
            <a:r>
              <a:rPr lang="en-IN">
                <a:latin typeface="Calibri" panose="020F0502020204030204" pitchFamily="34" charset="0"/>
                <a:ea typeface="Calibri" panose="020F0502020204030204" pitchFamily="34" charset="0"/>
                <a:cs typeface="Calibri" panose="020F0502020204030204" pitchFamily="34" charset="0"/>
              </a:rPr>
              <a:t> </a:t>
            </a:r>
          </a:p>
          <a:p>
            <a:pPr lvl="1"/>
            <a:r>
              <a:rPr lang="en-IN" err="1">
                <a:latin typeface="Calibri" panose="020F0502020204030204" pitchFamily="34" charset="0"/>
                <a:ea typeface="Calibri" panose="020F0502020204030204" pitchFamily="34" charset="0"/>
                <a:cs typeface="Calibri" panose="020F0502020204030204" pitchFamily="34" charset="0"/>
              </a:rPr>
              <a:t>mbox_wrptr</a:t>
            </a:r>
            <a:r>
              <a:rPr lang="en-IN">
                <a:latin typeface="Calibri" panose="020F0502020204030204" pitchFamily="34" charset="0"/>
                <a:ea typeface="Calibri" panose="020F0502020204030204" pitchFamily="34" charset="0"/>
                <a:cs typeface="Calibri" panose="020F0502020204030204" pitchFamily="34" charset="0"/>
              </a:rPr>
              <a:t> </a:t>
            </a:r>
          </a:p>
          <a:p>
            <a:r>
              <a:rPr lang="en-IN" sz="2400">
                <a:latin typeface="Calibri" panose="020F0502020204030204" pitchFamily="34" charset="0"/>
                <a:ea typeface="Calibri" panose="020F0502020204030204" pitchFamily="34" charset="0"/>
                <a:cs typeface="Calibri" panose="020F0502020204030204" pitchFamily="34" charset="0"/>
              </a:rPr>
              <a:t>The write pointer increments whenever new data is written into SRAM. </a:t>
            </a:r>
          </a:p>
          <a:p>
            <a:r>
              <a:rPr lang="en-IN" sz="2400">
                <a:latin typeface="Calibri" panose="020F0502020204030204" pitchFamily="34" charset="0"/>
                <a:ea typeface="Calibri" panose="020F0502020204030204" pitchFamily="34" charset="0"/>
                <a:cs typeface="Calibri" panose="020F0502020204030204" pitchFamily="34" charset="0"/>
              </a:rPr>
              <a:t>The read pointer increments whenever data is read from SRAM.</a:t>
            </a:r>
          </a:p>
        </p:txBody>
      </p:sp>
      <p:sp>
        <p:nvSpPr>
          <p:cNvPr id="6" name="Slide Number Placeholder 5">
            <a:extLst>
              <a:ext uri="{FF2B5EF4-FFF2-40B4-BE49-F238E27FC236}">
                <a16:creationId xmlns:a16="http://schemas.microsoft.com/office/drawing/2014/main" id="{AFC95B0F-E2B6-6223-1ABF-540A3C8BE66C}"/>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3328674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06C8B-954A-079D-5C2E-5D9F67D1A49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23679D2-C72F-2BE4-DD3D-16BA82FDB01B}"/>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t> Mailbox Working(Contd..)</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8B10B544-66AC-532C-051D-6B64AC9BDC63}"/>
              </a:ext>
            </a:extLst>
          </p:cNvPr>
          <p:cNvSpPr>
            <a:spLocks noGrp="1"/>
          </p:cNvSpPr>
          <p:nvPr>
            <p:ph idx="1"/>
          </p:nvPr>
        </p:nvSpPr>
        <p:spPr>
          <a:xfrm>
            <a:off x="677333" y="1075267"/>
            <a:ext cx="10676467" cy="5101696"/>
          </a:xfrm>
        </p:spPr>
        <p:txBody>
          <a:bodyPr>
            <a:noAutofit/>
          </a:bodyPr>
          <a:lstStyle/>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Multi-Master Arbitration</a:t>
            </a:r>
          </a:p>
          <a:p>
            <a:r>
              <a:rPr lang="en-US" sz="2400">
                <a:latin typeface="Calibri" panose="020F0502020204030204" pitchFamily="34" charset="0"/>
                <a:ea typeface="Calibri" panose="020F0502020204030204" pitchFamily="34" charset="0"/>
                <a:cs typeface="Calibri" panose="020F0502020204030204" pitchFamily="34" charset="0"/>
              </a:rPr>
              <a:t>The mailbox supports multiple masters such as: </a:t>
            </a:r>
          </a:p>
          <a:p>
            <a:pPr lvl="1"/>
            <a:r>
              <a:rPr lang="en-US">
                <a:latin typeface="Calibri" panose="020F0502020204030204" pitchFamily="34" charset="0"/>
                <a:ea typeface="Calibri" panose="020F0502020204030204" pitchFamily="34" charset="0"/>
                <a:cs typeface="Calibri" panose="020F0502020204030204" pitchFamily="34" charset="0"/>
              </a:rPr>
              <a:t>SHA </a:t>
            </a:r>
          </a:p>
          <a:p>
            <a:pPr lvl="1"/>
            <a:r>
              <a:rPr lang="en-US">
                <a:latin typeface="Calibri" panose="020F0502020204030204" pitchFamily="34" charset="0"/>
                <a:ea typeface="Calibri" panose="020F0502020204030204" pitchFamily="34" charset="0"/>
                <a:cs typeface="Calibri" panose="020F0502020204030204" pitchFamily="34" charset="0"/>
              </a:rPr>
              <a:t>DMA </a:t>
            </a:r>
          </a:p>
          <a:p>
            <a:pPr lvl="1"/>
            <a:r>
              <a:rPr lang="en-US">
                <a:latin typeface="Calibri" panose="020F0502020204030204" pitchFamily="34" charset="0"/>
                <a:ea typeface="Calibri" panose="020F0502020204030204" pitchFamily="34" charset="0"/>
                <a:cs typeface="Calibri" panose="020F0502020204030204" pitchFamily="34" charset="0"/>
              </a:rPr>
              <a:t>CPU </a:t>
            </a:r>
          </a:p>
          <a:p>
            <a:pPr lvl="1"/>
            <a:r>
              <a:rPr lang="en-US">
                <a:latin typeface="Calibri" panose="020F0502020204030204" pitchFamily="34" charset="0"/>
                <a:ea typeface="Calibri" panose="020F0502020204030204" pitchFamily="34" charset="0"/>
                <a:cs typeface="Calibri" panose="020F0502020204030204" pitchFamily="34" charset="0"/>
              </a:rPr>
              <a:t>Microcontroller </a:t>
            </a:r>
          </a:p>
          <a:p>
            <a:r>
              <a:rPr lang="en-US" sz="2400">
                <a:latin typeface="Calibri" panose="020F0502020204030204" pitchFamily="34" charset="0"/>
                <a:ea typeface="Calibri" panose="020F0502020204030204" pitchFamily="34" charset="0"/>
                <a:cs typeface="Calibri" panose="020F0502020204030204" pitchFamily="34" charset="0"/>
              </a:rPr>
              <a:t>Arbitration logic decides which master gets mailbox access. </a:t>
            </a:r>
          </a:p>
          <a:p>
            <a:r>
              <a:rPr lang="en-US" sz="2400">
                <a:latin typeface="Calibri" panose="020F0502020204030204" pitchFamily="34" charset="0"/>
                <a:ea typeface="Calibri" panose="020F0502020204030204" pitchFamily="34" charset="0"/>
                <a:cs typeface="Calibri" panose="020F0502020204030204" pitchFamily="34" charset="0"/>
              </a:rPr>
              <a:t>SHA requests are usually given the highest priority. </a:t>
            </a:r>
          </a:p>
          <a:p>
            <a:r>
              <a:rPr lang="en-US" sz="2400">
                <a:latin typeface="Calibri" panose="020F0502020204030204" pitchFamily="34" charset="0"/>
                <a:ea typeface="Calibri" panose="020F0502020204030204" pitchFamily="34" charset="0"/>
                <a:cs typeface="Calibri" panose="020F0502020204030204" pitchFamily="34" charset="0"/>
              </a:rPr>
              <a:t>DMA requests are handled next, followed by direct software accesses. </a:t>
            </a:r>
          </a:p>
        </p:txBody>
      </p:sp>
      <p:sp>
        <p:nvSpPr>
          <p:cNvPr id="6" name="Slide Number Placeholder 5">
            <a:extLst>
              <a:ext uri="{FF2B5EF4-FFF2-40B4-BE49-F238E27FC236}">
                <a16:creationId xmlns:a16="http://schemas.microsoft.com/office/drawing/2014/main" id="{5F1A3260-E490-D0A6-A5AB-8C5C009D4A5C}"/>
              </a:ext>
            </a:extLst>
          </p:cNvPr>
          <p:cNvSpPr>
            <a:spLocks noGrp="1"/>
          </p:cNvSpPr>
          <p:nvPr>
            <p:ph type="sldNum" sz="quarter" idx="12"/>
          </p:nvPr>
        </p:nvSpPr>
        <p:spPr/>
        <p:txBody>
          <a:bodyPr/>
          <a:lstStyle/>
          <a:p>
            <a:fld id="{330EA680-D336-4FF7-8B7A-9848BB0A1C32}" type="slidenum">
              <a:rPr lang="en-US" smtClean="0"/>
              <a:t>18</a:t>
            </a:fld>
            <a:endParaRPr lang="en-US"/>
          </a:p>
        </p:txBody>
      </p:sp>
    </p:spTree>
    <p:extLst>
      <p:ext uri="{BB962C8B-B14F-4D97-AF65-F5344CB8AC3E}">
        <p14:creationId xmlns:p14="http://schemas.microsoft.com/office/powerpoint/2010/main" val="4242704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D9D50-2253-5661-2B34-1EEB5DC44F9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A6FABA5-4D18-7216-3BA7-6DC0DF583FCE}"/>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t> Mailbox Working(Contd..)</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C785189D-8D6D-102D-6425-CEB2996E3D9E}"/>
              </a:ext>
            </a:extLst>
          </p:cNvPr>
          <p:cNvSpPr>
            <a:spLocks noGrp="1"/>
          </p:cNvSpPr>
          <p:nvPr>
            <p:ph idx="1"/>
          </p:nvPr>
        </p:nvSpPr>
        <p:spPr>
          <a:xfrm>
            <a:off x="677333" y="1075267"/>
            <a:ext cx="10676467" cy="5101696"/>
          </a:xfrm>
        </p:spPr>
        <p:txBody>
          <a:bodyPr>
            <a:noAutofit/>
          </a:bodyPr>
          <a:lstStyle/>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ECC (Error Correction Code)</a:t>
            </a:r>
          </a:p>
          <a:p>
            <a:r>
              <a:rPr lang="en-US" sz="2400">
                <a:latin typeface="Calibri" panose="020F0502020204030204" pitchFamily="34" charset="0"/>
                <a:ea typeface="Calibri" panose="020F0502020204030204" pitchFamily="34" charset="0"/>
                <a:cs typeface="Calibri" panose="020F0502020204030204" pitchFamily="34" charset="0"/>
              </a:rPr>
              <a:t>ECC logic improves memory reliability. </a:t>
            </a:r>
          </a:p>
          <a:p>
            <a:r>
              <a:rPr lang="en-US" sz="2400">
                <a:latin typeface="Calibri" panose="020F0502020204030204" pitchFamily="34" charset="0"/>
                <a:ea typeface="Calibri" panose="020F0502020204030204" pitchFamily="34" charset="0"/>
                <a:cs typeface="Calibri" panose="020F0502020204030204" pitchFamily="34" charset="0"/>
              </a:rPr>
              <a:t>ECC bits are generated whenever data is written into SRAM. </a:t>
            </a:r>
          </a:p>
          <a:p>
            <a:r>
              <a:rPr lang="en-US" sz="2400">
                <a:latin typeface="Calibri" panose="020F0502020204030204" pitchFamily="34" charset="0"/>
                <a:ea typeface="Calibri" panose="020F0502020204030204" pitchFamily="34" charset="0"/>
                <a:cs typeface="Calibri" panose="020F0502020204030204" pitchFamily="34" charset="0"/>
              </a:rPr>
              <a:t>During read operations, ECC is checked for possible memory errors. </a:t>
            </a:r>
          </a:p>
          <a:p>
            <a:r>
              <a:rPr lang="en-US" sz="2400">
                <a:latin typeface="Calibri" panose="020F0502020204030204" pitchFamily="34" charset="0"/>
                <a:ea typeface="Calibri" panose="020F0502020204030204" pitchFamily="34" charset="0"/>
                <a:cs typeface="Calibri" panose="020F0502020204030204" pitchFamily="34" charset="0"/>
              </a:rPr>
              <a:t>Single-bit errors can be corrected, while multi-bit errors can be detected. </a:t>
            </a:r>
          </a:p>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Interrupt and Status Signals</a:t>
            </a:r>
          </a:p>
          <a:p>
            <a:r>
              <a:rPr lang="en-US" sz="2400">
                <a:latin typeface="Calibri" panose="020F0502020204030204" pitchFamily="34" charset="0"/>
                <a:ea typeface="Calibri" panose="020F0502020204030204" pitchFamily="34" charset="0"/>
                <a:cs typeface="Calibri" panose="020F0502020204030204" pitchFamily="34" charset="0"/>
              </a:rPr>
              <a:t>The mailbox generates interrupt and status signals during operation. </a:t>
            </a:r>
          </a:p>
          <a:p>
            <a:r>
              <a:rPr lang="en-US" sz="2400">
                <a:latin typeface="Calibri" panose="020F0502020204030204" pitchFamily="34" charset="0"/>
                <a:ea typeface="Calibri" panose="020F0502020204030204" pitchFamily="34" charset="0"/>
                <a:cs typeface="Calibri" panose="020F0502020204030204" pitchFamily="34" charset="0"/>
              </a:rPr>
              <a:t>These signals indicate: </a:t>
            </a:r>
          </a:p>
          <a:p>
            <a:pPr lvl="1"/>
            <a:r>
              <a:rPr lang="en-US">
                <a:latin typeface="Calibri" panose="020F0502020204030204" pitchFamily="34" charset="0"/>
                <a:ea typeface="Calibri" panose="020F0502020204030204" pitchFamily="34" charset="0"/>
                <a:cs typeface="Calibri" panose="020F0502020204030204" pitchFamily="34" charset="0"/>
              </a:rPr>
              <a:t>Data availability </a:t>
            </a:r>
          </a:p>
          <a:p>
            <a:pPr lvl="1"/>
            <a:r>
              <a:rPr lang="en-US">
                <a:latin typeface="Calibri" panose="020F0502020204030204" pitchFamily="34" charset="0"/>
                <a:ea typeface="Calibri" panose="020F0502020204030204" pitchFamily="34" charset="0"/>
                <a:cs typeface="Calibri" panose="020F0502020204030204" pitchFamily="34" charset="0"/>
              </a:rPr>
              <a:t>Lock ownership </a:t>
            </a:r>
          </a:p>
          <a:p>
            <a:pPr lvl="1"/>
            <a:r>
              <a:rPr lang="en-US">
                <a:latin typeface="Calibri" panose="020F0502020204030204" pitchFamily="34" charset="0"/>
                <a:ea typeface="Calibri" panose="020F0502020204030204" pitchFamily="34" charset="0"/>
                <a:cs typeface="Calibri" panose="020F0502020204030204" pitchFamily="34" charset="0"/>
              </a:rPr>
              <a:t>Mailbox status </a:t>
            </a:r>
          </a:p>
          <a:p>
            <a:r>
              <a:rPr lang="en-US" sz="2400">
                <a:latin typeface="Calibri" panose="020F0502020204030204" pitchFamily="34" charset="0"/>
                <a:ea typeface="Calibri" panose="020F0502020204030204" pitchFamily="34" charset="0"/>
                <a:cs typeface="Calibri" panose="020F0502020204030204" pitchFamily="34" charset="0"/>
              </a:rPr>
              <a:t>Interrupts help notify the processor when mailbox operations are completed. </a:t>
            </a:r>
          </a:p>
          <a:p>
            <a:r>
              <a:rPr lang="en-US" sz="2400">
                <a:latin typeface="Calibri" panose="020F0502020204030204" pitchFamily="34" charset="0"/>
                <a:ea typeface="Calibri" panose="020F0502020204030204" pitchFamily="34" charset="0"/>
                <a:cs typeface="Calibri" panose="020F0502020204030204" pitchFamily="34" charset="0"/>
              </a:rPr>
              <a:t>Status signals help coordinate communication between sender and receiver.</a:t>
            </a:r>
          </a:p>
        </p:txBody>
      </p:sp>
      <p:sp>
        <p:nvSpPr>
          <p:cNvPr id="6" name="Slide Number Placeholder 5">
            <a:extLst>
              <a:ext uri="{FF2B5EF4-FFF2-40B4-BE49-F238E27FC236}">
                <a16:creationId xmlns:a16="http://schemas.microsoft.com/office/drawing/2014/main" id="{F83DA3F9-0ABE-7DD0-0B37-5E333AF3D0E5}"/>
              </a:ext>
            </a:extLst>
          </p:cNvPr>
          <p:cNvSpPr>
            <a:spLocks noGrp="1"/>
          </p:cNvSpPr>
          <p:nvPr>
            <p:ph type="sldNum" sz="quarter" idx="12"/>
          </p:nvPr>
        </p:nvSpPr>
        <p:spPr/>
        <p:txBody>
          <a:bodyPr/>
          <a:lstStyle/>
          <a:p>
            <a:fld id="{330EA680-D336-4FF7-8B7A-9848BB0A1C32}" type="slidenum">
              <a:rPr lang="en-US" smtClean="0"/>
              <a:t>19</a:t>
            </a:fld>
            <a:endParaRPr lang="en-US"/>
          </a:p>
        </p:txBody>
      </p:sp>
    </p:spTree>
    <p:extLst>
      <p:ext uri="{BB962C8B-B14F-4D97-AF65-F5344CB8AC3E}">
        <p14:creationId xmlns:p14="http://schemas.microsoft.com/office/powerpoint/2010/main" val="13302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A01E8-756F-1814-7305-BDFAD534F30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B3BBA06-85D8-69D4-CA0C-4CDB23376B7F}"/>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t> Mailbox Working(Contd..)</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44CFB2DD-7B5A-8521-4B84-2B4D92D6C8A1}"/>
              </a:ext>
            </a:extLst>
          </p:cNvPr>
          <p:cNvSpPr>
            <a:spLocks noGrp="1"/>
          </p:cNvSpPr>
          <p:nvPr>
            <p:ph idx="1"/>
          </p:nvPr>
        </p:nvSpPr>
        <p:spPr>
          <a:xfrm>
            <a:off x="677333" y="1075267"/>
            <a:ext cx="10676467" cy="5101696"/>
          </a:xfrm>
        </p:spPr>
        <p:txBody>
          <a:bodyPr>
            <a:noAutofit/>
          </a:bodyPr>
          <a:lstStyle/>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Error Handling and Protocol Checks</a:t>
            </a:r>
          </a:p>
          <a:p>
            <a:r>
              <a:rPr lang="en-US" sz="2400">
                <a:latin typeface="Calibri" panose="020F0502020204030204" pitchFamily="34" charset="0"/>
                <a:ea typeface="Calibri" panose="020F0502020204030204" pitchFamily="34" charset="0"/>
                <a:cs typeface="Calibri" panose="020F0502020204030204" pitchFamily="34" charset="0"/>
              </a:rPr>
              <a:t>The mailbox detects invalid operations and protocol violations. </a:t>
            </a:r>
          </a:p>
          <a:p>
            <a:r>
              <a:rPr lang="en-US" sz="2400">
                <a:latin typeface="Calibri" panose="020F0502020204030204" pitchFamily="34" charset="0"/>
                <a:ea typeface="Calibri" panose="020F0502020204030204" pitchFamily="34" charset="0"/>
                <a:cs typeface="Calibri" panose="020F0502020204030204" pitchFamily="34" charset="0"/>
              </a:rPr>
              <a:t>Errors may occur due to: </a:t>
            </a:r>
          </a:p>
          <a:p>
            <a:pPr lvl="1"/>
            <a:r>
              <a:rPr lang="en-US">
                <a:latin typeface="Calibri" panose="020F0502020204030204" pitchFamily="34" charset="0"/>
                <a:ea typeface="Calibri" panose="020F0502020204030204" pitchFamily="34" charset="0"/>
                <a:cs typeface="Calibri" panose="020F0502020204030204" pitchFamily="34" charset="0"/>
              </a:rPr>
              <a:t>Incorrect access order </a:t>
            </a:r>
          </a:p>
          <a:p>
            <a:pPr lvl="1"/>
            <a:r>
              <a:rPr lang="en-US">
                <a:latin typeface="Calibri" panose="020F0502020204030204" pitchFamily="34" charset="0"/>
                <a:ea typeface="Calibri" panose="020F0502020204030204" pitchFamily="34" charset="0"/>
                <a:cs typeface="Calibri" panose="020F0502020204030204" pitchFamily="34" charset="0"/>
              </a:rPr>
              <a:t>Access without lock ownership </a:t>
            </a:r>
          </a:p>
          <a:p>
            <a:pPr lvl="1"/>
            <a:r>
              <a:rPr lang="en-US">
                <a:latin typeface="Calibri" panose="020F0502020204030204" pitchFamily="34" charset="0"/>
                <a:ea typeface="Calibri" panose="020F0502020204030204" pitchFamily="34" charset="0"/>
                <a:cs typeface="Calibri" panose="020F0502020204030204" pitchFamily="34" charset="0"/>
              </a:rPr>
              <a:t>Invalid requests </a:t>
            </a:r>
          </a:p>
          <a:p>
            <a:r>
              <a:rPr lang="en-US" sz="2400">
                <a:latin typeface="Calibri" panose="020F0502020204030204" pitchFamily="34" charset="0"/>
                <a:ea typeface="Calibri" panose="020F0502020204030204" pitchFamily="34" charset="0"/>
                <a:cs typeface="Calibri" panose="020F0502020204030204" pitchFamily="34" charset="0"/>
              </a:rPr>
              <a:t>Such invalid operations are flagged using dedicated error signals. </a:t>
            </a:r>
          </a:p>
          <a:p>
            <a:r>
              <a:rPr lang="en-US" sz="2400">
                <a:latin typeface="Calibri" panose="020F0502020204030204" pitchFamily="34" charset="0"/>
                <a:ea typeface="Calibri" panose="020F0502020204030204" pitchFamily="34" charset="0"/>
                <a:cs typeface="Calibri" panose="020F0502020204030204" pitchFamily="34" charset="0"/>
              </a:rPr>
              <a:t>This helps maintain correct and secure mailbox functionality. </a:t>
            </a:r>
          </a:p>
        </p:txBody>
      </p:sp>
      <p:sp>
        <p:nvSpPr>
          <p:cNvPr id="6" name="Slide Number Placeholder 5">
            <a:extLst>
              <a:ext uri="{FF2B5EF4-FFF2-40B4-BE49-F238E27FC236}">
                <a16:creationId xmlns:a16="http://schemas.microsoft.com/office/drawing/2014/main" id="{4C34BCA1-809D-34E5-83A0-91E264AE8872}"/>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826072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9CF8C-F105-CC19-0729-06E0D35E86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320C1B4-B4ED-61B7-4D0A-743132D68E95}"/>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t> Mailbox Working(Contd..)</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D8A3DC5B-608A-7BBA-6FF4-C1E3BB56E940}"/>
              </a:ext>
            </a:extLst>
          </p:cNvPr>
          <p:cNvSpPr>
            <a:spLocks noGrp="1"/>
          </p:cNvSpPr>
          <p:nvPr>
            <p:ph idx="1"/>
          </p:nvPr>
        </p:nvSpPr>
        <p:spPr>
          <a:xfrm>
            <a:off x="677333" y="1075267"/>
            <a:ext cx="10676467" cy="5101696"/>
          </a:xfrm>
        </p:spPr>
        <p:txBody>
          <a:bodyPr>
            <a:noAutofit/>
          </a:bodyPr>
          <a:lstStyle/>
          <a:p>
            <a:pPr>
              <a:buFont typeface="Wingdings" panose="05000000000000000000" pitchFamily="2" charset="2"/>
              <a:buChar char="Ø"/>
            </a:pPr>
            <a:r>
              <a:rPr lang="en-US" sz="2400" b="1">
                <a:latin typeface="Calibri" panose="020F0502020204030204" pitchFamily="34" charset="0"/>
                <a:ea typeface="Calibri" panose="020F0502020204030204" pitchFamily="34" charset="0"/>
                <a:cs typeface="Calibri" panose="020F0502020204030204" pitchFamily="34" charset="0"/>
              </a:rPr>
              <a:t>Hold / Stall Logic</a:t>
            </a:r>
          </a:p>
          <a:p>
            <a:r>
              <a:rPr lang="en-US" sz="2400">
                <a:latin typeface="Calibri" panose="020F0502020204030204" pitchFamily="34" charset="0"/>
                <a:ea typeface="Calibri" panose="020F0502020204030204" pitchFamily="34" charset="0"/>
                <a:cs typeface="Calibri" panose="020F0502020204030204" pitchFamily="34" charset="0"/>
              </a:rPr>
              <a:t>Hold signals such as:</a:t>
            </a:r>
          </a:p>
          <a:p>
            <a:pPr lvl="1"/>
            <a:r>
              <a:rPr lang="en-US" err="1">
                <a:latin typeface="Calibri" panose="020F0502020204030204" pitchFamily="34" charset="0"/>
                <a:ea typeface="Calibri" panose="020F0502020204030204" pitchFamily="34" charset="0"/>
                <a:cs typeface="Calibri" panose="020F0502020204030204" pitchFamily="34" charset="0"/>
              </a:rPr>
              <a:t>req_hold</a:t>
            </a:r>
            <a:r>
              <a:rPr lang="en-US">
                <a:latin typeface="Calibri" panose="020F0502020204030204" pitchFamily="34" charset="0"/>
                <a:ea typeface="Calibri" panose="020F0502020204030204" pitchFamily="34" charset="0"/>
                <a:cs typeface="Calibri" panose="020F0502020204030204" pitchFamily="34" charset="0"/>
              </a:rPr>
              <a:t> </a:t>
            </a:r>
          </a:p>
          <a:p>
            <a:pPr lvl="1"/>
            <a:r>
              <a:rPr lang="en-US" err="1">
                <a:latin typeface="Calibri" panose="020F0502020204030204" pitchFamily="34" charset="0"/>
                <a:ea typeface="Calibri" panose="020F0502020204030204" pitchFamily="34" charset="0"/>
                <a:cs typeface="Calibri" panose="020F0502020204030204" pitchFamily="34" charset="0"/>
              </a:rPr>
              <a:t>dma_sram_hold</a:t>
            </a:r>
            <a:r>
              <a:rPr lang="en-US">
                <a:latin typeface="Calibri" panose="020F0502020204030204" pitchFamily="34" charset="0"/>
                <a:ea typeface="Calibri" panose="020F0502020204030204" pitchFamily="34" charset="0"/>
                <a:cs typeface="Calibri" panose="020F0502020204030204" pitchFamily="34" charset="0"/>
              </a:rPr>
              <a:t> </a:t>
            </a:r>
          </a:p>
          <a:p>
            <a:r>
              <a:rPr lang="en-US" sz="2400">
                <a:latin typeface="Calibri" panose="020F0502020204030204" pitchFamily="34" charset="0"/>
                <a:ea typeface="Calibri" panose="020F0502020204030204" pitchFamily="34" charset="0"/>
                <a:cs typeface="Calibri" panose="020F0502020204030204" pitchFamily="34" charset="0"/>
              </a:rPr>
              <a:t>are used to temporarily stall requests.</a:t>
            </a:r>
          </a:p>
          <a:p>
            <a:r>
              <a:rPr lang="en-US" sz="2400">
                <a:latin typeface="Calibri" panose="020F0502020204030204" pitchFamily="34" charset="0"/>
                <a:ea typeface="Calibri" panose="020F0502020204030204" pitchFamily="34" charset="0"/>
                <a:cs typeface="Calibri" panose="020F0502020204030204" pitchFamily="34" charset="0"/>
              </a:rPr>
              <a:t>Requests may be stalled when: </a:t>
            </a:r>
          </a:p>
          <a:p>
            <a:pPr lvl="1"/>
            <a:r>
              <a:rPr lang="en-US">
                <a:latin typeface="Calibri" panose="020F0502020204030204" pitchFamily="34" charset="0"/>
                <a:ea typeface="Calibri" panose="020F0502020204030204" pitchFamily="34" charset="0"/>
                <a:cs typeface="Calibri" panose="020F0502020204030204" pitchFamily="34" charset="0"/>
              </a:rPr>
              <a:t>Resources are busy </a:t>
            </a:r>
          </a:p>
          <a:p>
            <a:pPr lvl="1"/>
            <a:r>
              <a:rPr lang="en-US">
                <a:latin typeface="Calibri" panose="020F0502020204030204" pitchFamily="34" charset="0"/>
                <a:ea typeface="Calibri" panose="020F0502020204030204" pitchFamily="34" charset="0"/>
                <a:cs typeface="Calibri" panose="020F0502020204030204" pitchFamily="34" charset="0"/>
              </a:rPr>
              <a:t>Higher-priority accesses are active </a:t>
            </a:r>
          </a:p>
          <a:p>
            <a:r>
              <a:rPr lang="en-US" sz="2400">
                <a:latin typeface="Calibri" panose="020F0502020204030204" pitchFamily="34" charset="0"/>
                <a:ea typeface="Calibri" panose="020F0502020204030204" pitchFamily="34" charset="0"/>
                <a:cs typeface="Calibri" panose="020F0502020204030204" pitchFamily="34" charset="0"/>
              </a:rPr>
              <a:t>Stall logic helps synchronize operations between different masters. </a:t>
            </a:r>
          </a:p>
          <a:p>
            <a:r>
              <a:rPr lang="en-US" sz="2400">
                <a:latin typeface="Calibri" panose="020F0502020204030204" pitchFamily="34" charset="0"/>
                <a:ea typeface="Calibri" panose="020F0502020204030204" pitchFamily="34" charset="0"/>
                <a:cs typeface="Calibri" panose="020F0502020204030204" pitchFamily="34" charset="0"/>
              </a:rPr>
              <a:t>This ensures safe and orderly access to shared resources. </a:t>
            </a:r>
          </a:p>
          <a:p>
            <a:pPr lvl="1"/>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9A7406F3-2CAF-631B-88A6-1B7AAE7DE75E}"/>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2512812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8C75A-9A0E-08C5-A2FD-9A0CECCC826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C5D9980-ADEF-2E3F-8680-9225676DD11F}"/>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latin typeface="Calibri" panose="020F0502020204030204" pitchFamily="34" charset="0"/>
                <a:ea typeface="Calibri" panose="020F0502020204030204" pitchFamily="34" charset="0"/>
                <a:cs typeface="Calibri" panose="020F0502020204030204" pitchFamily="34" charset="0"/>
              </a:rPr>
              <a:t>SHA512 Accelerator</a:t>
            </a:r>
          </a:p>
        </p:txBody>
      </p:sp>
      <p:sp>
        <p:nvSpPr>
          <p:cNvPr id="4" name="Content Placeholder 3">
            <a:extLst>
              <a:ext uri="{FF2B5EF4-FFF2-40B4-BE49-F238E27FC236}">
                <a16:creationId xmlns:a16="http://schemas.microsoft.com/office/drawing/2014/main" id="{0BAC27E1-8342-68A4-242D-E84388F3D2C4}"/>
              </a:ext>
            </a:extLst>
          </p:cNvPr>
          <p:cNvSpPr>
            <a:spLocks noGrp="1"/>
          </p:cNvSpPr>
          <p:nvPr>
            <p:ph idx="1"/>
          </p:nvPr>
        </p:nvSpPr>
        <p:spPr>
          <a:xfrm>
            <a:off x="592667" y="1075267"/>
            <a:ext cx="10761133" cy="5101696"/>
          </a:xfrm>
        </p:spPr>
        <p:txBody>
          <a:bodyPr>
            <a:noAutofit/>
          </a:bodyPr>
          <a:lstStyle/>
          <a:p>
            <a:pPr lvl="1"/>
            <a:r>
              <a:rPr lang="en-US">
                <a:latin typeface="Calibri" panose="020F0502020204030204" pitchFamily="34" charset="0"/>
                <a:ea typeface="Calibri" panose="020F0502020204030204" pitchFamily="34" charset="0"/>
                <a:cs typeface="Calibri" panose="020F0502020204030204" pitchFamily="34" charset="0"/>
              </a:rPr>
              <a:t>The SHA512 Accelerator in the SoC Interface (SoC IFC) of Caliptra is a dedicated hardware module designed to perform high-speed SHA-512 and SHA-384 cryptographic hash operations.</a:t>
            </a:r>
          </a:p>
          <a:p>
            <a:pPr lvl="1"/>
            <a:r>
              <a:rPr lang="en-US">
                <a:latin typeface="Calibri" panose="020F0502020204030204" pitchFamily="34" charset="0"/>
                <a:ea typeface="Calibri" panose="020F0502020204030204" pitchFamily="34" charset="0"/>
                <a:cs typeface="Calibri" panose="020F0502020204030204" pitchFamily="34" charset="0"/>
              </a:rPr>
              <a:t>It enables secure and efficient message digest generation for firmware authentication, integrity verification, and secure boot processes.</a:t>
            </a:r>
          </a:p>
          <a:p>
            <a:pPr lvl="1"/>
            <a:r>
              <a:rPr lang="en-US">
                <a:latin typeface="Calibri" panose="020F0502020204030204" pitchFamily="34" charset="0"/>
                <a:ea typeface="Calibri" panose="020F0502020204030204" pitchFamily="34" charset="0"/>
                <a:cs typeface="Calibri" panose="020F0502020204030204" pitchFamily="34" charset="0"/>
              </a:rPr>
              <a:t> The accelerator supports both streaming mode and mailbox mode for flexible data input handling.</a:t>
            </a:r>
          </a:p>
          <a:p>
            <a:pPr lvl="1"/>
            <a:r>
              <a:rPr lang="en-US">
                <a:latin typeface="Calibri" panose="020F0502020204030204" pitchFamily="34" charset="0"/>
                <a:ea typeface="Calibri" panose="020F0502020204030204" pitchFamily="34" charset="0"/>
                <a:cs typeface="Calibri" panose="020F0502020204030204" pitchFamily="34" charset="0"/>
              </a:rPr>
              <a:t> It includes internal control FSMs, padding logic, block buffers, and a SHA512 compression core to process 1024-bit message blocks.</a:t>
            </a:r>
          </a:p>
        </p:txBody>
      </p:sp>
      <p:sp>
        <p:nvSpPr>
          <p:cNvPr id="6" name="Slide Number Placeholder 5">
            <a:extLst>
              <a:ext uri="{FF2B5EF4-FFF2-40B4-BE49-F238E27FC236}">
                <a16:creationId xmlns:a16="http://schemas.microsoft.com/office/drawing/2014/main" id="{51B22CD5-3A54-B405-CA9D-BF8761913504}"/>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2468073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90E3-32EC-9DEA-B108-DA26C282840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8C58F21-4BC3-6A3E-4A8B-610D9DA8E44D}"/>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latin typeface="Calibri" panose="020F0502020204030204" pitchFamily="34" charset="0"/>
                <a:ea typeface="Calibri" panose="020F0502020204030204" pitchFamily="34" charset="0"/>
                <a:cs typeface="Calibri" panose="020F0502020204030204" pitchFamily="34" charset="0"/>
              </a:rPr>
              <a:t>Block diagram of SHA512 Accelerator</a:t>
            </a:r>
          </a:p>
        </p:txBody>
      </p:sp>
      <p:pic>
        <p:nvPicPr>
          <p:cNvPr id="3" name="Content Placeholder 2">
            <a:extLst>
              <a:ext uri="{FF2B5EF4-FFF2-40B4-BE49-F238E27FC236}">
                <a16:creationId xmlns:a16="http://schemas.microsoft.com/office/drawing/2014/main" id="{4F0B4982-6209-5336-6934-B51C4C3627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1575" y="1108605"/>
            <a:ext cx="7584388" cy="5102225"/>
          </a:xfrm>
          <a:prstGeom prst="rect">
            <a:avLst/>
          </a:prstGeom>
        </p:spPr>
      </p:pic>
      <p:sp>
        <p:nvSpPr>
          <p:cNvPr id="6" name="TextBox 5">
            <a:extLst>
              <a:ext uri="{FF2B5EF4-FFF2-40B4-BE49-F238E27FC236}">
                <a16:creationId xmlns:a16="http://schemas.microsoft.com/office/drawing/2014/main" id="{A5111D20-7303-724E-62CD-B08BE8670727}"/>
              </a:ext>
            </a:extLst>
          </p:cNvPr>
          <p:cNvSpPr txBox="1"/>
          <p:nvPr/>
        </p:nvSpPr>
        <p:spPr>
          <a:xfrm>
            <a:off x="4182534" y="6078922"/>
            <a:ext cx="4437882" cy="369332"/>
          </a:xfrm>
          <a:prstGeom prst="rect">
            <a:avLst/>
          </a:prstGeom>
          <a:noFill/>
        </p:spPr>
        <p:txBody>
          <a:bodyPr wrap="none" rtlCol="0">
            <a:spAutoFit/>
          </a:bodyPr>
          <a:lstStyle/>
          <a:p>
            <a:r>
              <a:rPr lang="en-IN"/>
              <a:t>Fig 4.Block Diagram of SHA512 Accelerator</a:t>
            </a:r>
          </a:p>
        </p:txBody>
      </p:sp>
      <p:sp>
        <p:nvSpPr>
          <p:cNvPr id="7" name="Slide Number Placeholder 6">
            <a:extLst>
              <a:ext uri="{FF2B5EF4-FFF2-40B4-BE49-F238E27FC236}">
                <a16:creationId xmlns:a16="http://schemas.microsoft.com/office/drawing/2014/main" id="{78487E19-54E7-66E1-C64F-6E5319CBB4F9}"/>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4141011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0C03B-B85B-20E7-188B-2F434A9E71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3C8F595-2CD6-F65D-E415-B31EF3BED2DC}"/>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latin typeface="Calibri" panose="020F0502020204030204" pitchFamily="34" charset="0"/>
                <a:ea typeface="Calibri" panose="020F0502020204030204" pitchFamily="34" charset="0"/>
                <a:cs typeface="Calibri" panose="020F0502020204030204" pitchFamily="34" charset="0"/>
              </a:rPr>
              <a:t>Pin diagram of SHA512 Accelerator</a:t>
            </a:r>
          </a:p>
        </p:txBody>
      </p:sp>
      <p:sp>
        <p:nvSpPr>
          <p:cNvPr id="6" name="TextBox 5">
            <a:extLst>
              <a:ext uri="{FF2B5EF4-FFF2-40B4-BE49-F238E27FC236}">
                <a16:creationId xmlns:a16="http://schemas.microsoft.com/office/drawing/2014/main" id="{20E4479C-8D3F-35D3-32B3-252A69A25986}"/>
              </a:ext>
            </a:extLst>
          </p:cNvPr>
          <p:cNvSpPr txBox="1"/>
          <p:nvPr/>
        </p:nvSpPr>
        <p:spPr>
          <a:xfrm>
            <a:off x="3999687" y="5697922"/>
            <a:ext cx="4192623" cy="369332"/>
          </a:xfrm>
          <a:prstGeom prst="rect">
            <a:avLst/>
          </a:prstGeom>
          <a:noFill/>
        </p:spPr>
        <p:txBody>
          <a:bodyPr wrap="none" rtlCol="0">
            <a:spAutoFit/>
          </a:bodyPr>
          <a:lstStyle/>
          <a:p>
            <a:r>
              <a:rPr lang="en-IN"/>
              <a:t>Fig 5.Pin Diagram of SHA512 Accelerator</a:t>
            </a:r>
          </a:p>
        </p:txBody>
      </p:sp>
      <p:pic>
        <p:nvPicPr>
          <p:cNvPr id="8" name="Content Placeholder 7">
            <a:extLst>
              <a:ext uri="{FF2B5EF4-FFF2-40B4-BE49-F238E27FC236}">
                <a16:creationId xmlns:a16="http://schemas.microsoft.com/office/drawing/2014/main" id="{FD703345-3F37-E7E2-BF0D-5F6B87AF5C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0837" y="1941540"/>
            <a:ext cx="6630325" cy="3391373"/>
          </a:xfrm>
          <a:prstGeom prst="rect">
            <a:avLst/>
          </a:prstGeom>
        </p:spPr>
      </p:pic>
      <p:sp>
        <p:nvSpPr>
          <p:cNvPr id="4" name="Slide Number Placeholder 3">
            <a:extLst>
              <a:ext uri="{FF2B5EF4-FFF2-40B4-BE49-F238E27FC236}">
                <a16:creationId xmlns:a16="http://schemas.microsoft.com/office/drawing/2014/main" id="{2E64C28E-345D-0E2F-89FF-9C4FEB841723}"/>
              </a:ext>
            </a:extLst>
          </p:cNvPr>
          <p:cNvSpPr>
            <a:spLocks noGrp="1"/>
          </p:cNvSpPr>
          <p:nvPr>
            <p:ph type="sldNum" sz="quarter" idx="12"/>
          </p:nvPr>
        </p:nvSpPr>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486333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DEAF1-1D4F-CD53-C4D9-83F4366DC0C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E5FF6DE-DFB7-3BAB-1E08-38B33A0C3502}"/>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latin typeface="Calibri" panose="020F0502020204030204" pitchFamily="34" charset="0"/>
                <a:ea typeface="Calibri" panose="020F0502020204030204" pitchFamily="34" charset="0"/>
                <a:cs typeface="Calibri" panose="020F0502020204030204" pitchFamily="34" charset="0"/>
              </a:rPr>
              <a:t>SHA512 Accelerator Input Signal Description</a:t>
            </a:r>
          </a:p>
        </p:txBody>
      </p:sp>
      <p:sp>
        <p:nvSpPr>
          <p:cNvPr id="6" name="TextBox 5">
            <a:extLst>
              <a:ext uri="{FF2B5EF4-FFF2-40B4-BE49-F238E27FC236}">
                <a16:creationId xmlns:a16="http://schemas.microsoft.com/office/drawing/2014/main" id="{FAD5467C-B801-147C-6A6A-640F94321F82}"/>
              </a:ext>
            </a:extLst>
          </p:cNvPr>
          <p:cNvSpPr txBox="1"/>
          <p:nvPr/>
        </p:nvSpPr>
        <p:spPr>
          <a:xfrm>
            <a:off x="1684868" y="1278467"/>
            <a:ext cx="6180494" cy="369332"/>
          </a:xfrm>
          <a:prstGeom prst="rect">
            <a:avLst/>
          </a:prstGeom>
          <a:noFill/>
        </p:spPr>
        <p:txBody>
          <a:bodyPr wrap="square" rtlCol="0">
            <a:spAutoFit/>
          </a:bodyPr>
          <a:lstStyle/>
          <a:p>
            <a:r>
              <a:rPr lang="en-IN"/>
              <a:t>Table 5.Inputs of SHA512 Accelerator</a:t>
            </a:r>
          </a:p>
        </p:txBody>
      </p:sp>
      <p:graphicFrame>
        <p:nvGraphicFramePr>
          <p:cNvPr id="4" name="Content Placeholder 3">
            <a:extLst>
              <a:ext uri="{FF2B5EF4-FFF2-40B4-BE49-F238E27FC236}">
                <a16:creationId xmlns:a16="http://schemas.microsoft.com/office/drawing/2014/main" id="{065C89B8-85CB-9C04-56FD-1BE24E9453B3}"/>
              </a:ext>
            </a:extLst>
          </p:cNvPr>
          <p:cNvGraphicFramePr>
            <a:graphicFrameLocks noGrp="1"/>
          </p:cNvGraphicFramePr>
          <p:nvPr>
            <p:ph idx="1"/>
            <p:extLst>
              <p:ext uri="{D42A27DB-BD31-4B8C-83A1-F6EECF244321}">
                <p14:modId xmlns:p14="http://schemas.microsoft.com/office/powerpoint/2010/main" val="1862205822"/>
              </p:ext>
            </p:extLst>
          </p:nvPr>
        </p:nvGraphicFramePr>
        <p:xfrm>
          <a:off x="838200" y="1825625"/>
          <a:ext cx="10515600" cy="32359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994006140"/>
                    </a:ext>
                  </a:extLst>
                </a:gridCol>
                <a:gridCol w="2628900">
                  <a:extLst>
                    <a:ext uri="{9D8B030D-6E8A-4147-A177-3AD203B41FA5}">
                      <a16:colId xmlns:a16="http://schemas.microsoft.com/office/drawing/2014/main" val="2835950470"/>
                    </a:ext>
                  </a:extLst>
                </a:gridCol>
                <a:gridCol w="2628900">
                  <a:extLst>
                    <a:ext uri="{9D8B030D-6E8A-4147-A177-3AD203B41FA5}">
                      <a16:colId xmlns:a16="http://schemas.microsoft.com/office/drawing/2014/main" val="319358864"/>
                    </a:ext>
                  </a:extLst>
                </a:gridCol>
                <a:gridCol w="2628900">
                  <a:extLst>
                    <a:ext uri="{9D8B030D-6E8A-4147-A177-3AD203B41FA5}">
                      <a16:colId xmlns:a16="http://schemas.microsoft.com/office/drawing/2014/main" val="3934034749"/>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225360353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clk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System clock</a:t>
                      </a:r>
                    </a:p>
                  </a:txBody>
                  <a:tcPr anchor="ctr"/>
                </a:tc>
                <a:extLst>
                  <a:ext uri="{0D108BD9-81ED-4DB2-BD59-A6C34878D82A}">
                    <a16:rowId xmlns:a16="http://schemas.microsoft.com/office/drawing/2014/main" val="2651196822"/>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rst_b</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Active low reset</a:t>
                      </a:r>
                    </a:p>
                  </a:txBody>
                  <a:tcPr anchor="ctr"/>
                </a:tc>
                <a:extLst>
                  <a:ext uri="{0D108BD9-81ED-4DB2-BD59-A6C34878D82A}">
                    <a16:rowId xmlns:a16="http://schemas.microsoft.com/office/drawing/2014/main" val="785433779"/>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cptra_pwrgood</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Power-good signal</a:t>
                      </a:r>
                    </a:p>
                  </a:txBody>
                  <a:tcPr anchor="ctr"/>
                </a:tc>
                <a:extLst>
                  <a:ext uri="{0D108BD9-81ED-4DB2-BD59-A6C34878D82A}">
                    <a16:rowId xmlns:a16="http://schemas.microsoft.com/office/drawing/2014/main" val="285320978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req_dv</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Request valid signal</a:t>
                      </a:r>
                    </a:p>
                  </a:txBody>
                  <a:tcPr anchor="ctr"/>
                </a:tc>
                <a:extLst>
                  <a:ext uri="{0D108BD9-81ED-4DB2-BD59-A6C34878D82A}">
                    <a16:rowId xmlns:a16="http://schemas.microsoft.com/office/drawing/2014/main" val="844929661"/>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sha_sram_hold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SRAM hold/stall signal</a:t>
                      </a:r>
                    </a:p>
                  </a:txBody>
                  <a:tcPr anchor="ctr"/>
                </a:tc>
                <a:extLst>
                  <a:ext uri="{0D108BD9-81ED-4DB2-BD59-A6C34878D82A}">
                    <a16:rowId xmlns:a16="http://schemas.microsoft.com/office/drawing/2014/main" val="138611525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sha_sram_resp</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SRAM read response</a:t>
                      </a:r>
                    </a:p>
                  </a:txBody>
                  <a:tcPr anchor="ctr"/>
                </a:tc>
                <a:extLst>
                  <a:ext uri="{0D108BD9-81ED-4DB2-BD59-A6C34878D82A}">
                    <a16:rowId xmlns:a16="http://schemas.microsoft.com/office/drawing/2014/main" val="1235698402"/>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req_data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AXI/AHB request packet</a:t>
                      </a:r>
                    </a:p>
                  </a:txBody>
                  <a:tcPr anchor="ctr"/>
                </a:tc>
                <a:extLst>
                  <a:ext uri="{0D108BD9-81ED-4DB2-BD59-A6C34878D82A}">
                    <a16:rowId xmlns:a16="http://schemas.microsoft.com/office/drawing/2014/main" val="3767520572"/>
                  </a:ext>
                </a:extLst>
              </a:tr>
            </a:tbl>
          </a:graphicData>
        </a:graphic>
      </p:graphicFrame>
      <p:sp>
        <p:nvSpPr>
          <p:cNvPr id="7" name="Slide Number Placeholder 6">
            <a:extLst>
              <a:ext uri="{FF2B5EF4-FFF2-40B4-BE49-F238E27FC236}">
                <a16:creationId xmlns:a16="http://schemas.microsoft.com/office/drawing/2014/main" id="{AB887817-2B3C-2165-156D-A6A5D4B1E492}"/>
              </a:ext>
            </a:extLst>
          </p:cNvPr>
          <p:cNvSpPr>
            <a:spLocks noGrp="1"/>
          </p:cNvSpPr>
          <p:nvPr>
            <p:ph type="sldNum" sz="quarter" idx="12"/>
          </p:nvPr>
        </p:nvSpPr>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2186491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0015E-0ED7-BF6E-E31D-86EFFE528FF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F6842BC-9D22-58C8-D7DC-C7DB27DF596E}"/>
              </a:ext>
            </a:extLst>
          </p:cNvPr>
          <p:cNvSpPr>
            <a:spLocks noGrp="1"/>
          </p:cNvSpPr>
          <p:nvPr>
            <p:ph type="title"/>
          </p:nvPr>
        </p:nvSpPr>
        <p:spPr>
          <a:xfrm>
            <a:off x="0" y="1"/>
            <a:ext cx="12192000" cy="871180"/>
          </a:xfrm>
          <a:solidFill>
            <a:schemeClr val="accent6"/>
          </a:solidFill>
        </p:spPr>
        <p:txBody>
          <a:bodyPr>
            <a:noAutofit/>
          </a:bodyPr>
          <a:lstStyle/>
          <a:p>
            <a:pPr algn="ctr"/>
            <a:r>
              <a:rPr lang="en-US" sz="2800" b="1">
                <a:latin typeface="Calibri" panose="020F0502020204030204" pitchFamily="34" charset="0"/>
                <a:ea typeface="Calibri" panose="020F0502020204030204" pitchFamily="34" charset="0"/>
                <a:cs typeface="Calibri" panose="020F0502020204030204" pitchFamily="34" charset="0"/>
              </a:rPr>
              <a:t>SHA512 Accelerator Output Signal Description</a:t>
            </a:r>
          </a:p>
        </p:txBody>
      </p:sp>
      <p:sp>
        <p:nvSpPr>
          <p:cNvPr id="6" name="TextBox 5">
            <a:extLst>
              <a:ext uri="{FF2B5EF4-FFF2-40B4-BE49-F238E27FC236}">
                <a16:creationId xmlns:a16="http://schemas.microsoft.com/office/drawing/2014/main" id="{AB4B4E9F-8767-8222-B531-56B63AE0AC72}"/>
              </a:ext>
            </a:extLst>
          </p:cNvPr>
          <p:cNvSpPr txBox="1"/>
          <p:nvPr/>
        </p:nvSpPr>
        <p:spPr>
          <a:xfrm>
            <a:off x="1684868" y="1278467"/>
            <a:ext cx="6180494" cy="369332"/>
          </a:xfrm>
          <a:prstGeom prst="rect">
            <a:avLst/>
          </a:prstGeom>
          <a:noFill/>
        </p:spPr>
        <p:txBody>
          <a:bodyPr wrap="square" rtlCol="0">
            <a:spAutoFit/>
          </a:bodyPr>
          <a:lstStyle/>
          <a:p>
            <a:r>
              <a:rPr lang="en-IN"/>
              <a:t>Table 6. Outputs of SHA512 Accelerator</a:t>
            </a:r>
          </a:p>
        </p:txBody>
      </p:sp>
      <p:graphicFrame>
        <p:nvGraphicFramePr>
          <p:cNvPr id="4" name="Content Placeholder 3">
            <a:extLst>
              <a:ext uri="{FF2B5EF4-FFF2-40B4-BE49-F238E27FC236}">
                <a16:creationId xmlns:a16="http://schemas.microsoft.com/office/drawing/2014/main" id="{B44330E0-B927-B5E0-2044-154808911359}"/>
              </a:ext>
            </a:extLst>
          </p:cNvPr>
          <p:cNvGraphicFramePr>
            <a:graphicFrameLocks noGrp="1"/>
          </p:cNvGraphicFramePr>
          <p:nvPr>
            <p:ph idx="1"/>
            <p:extLst>
              <p:ext uri="{D42A27DB-BD31-4B8C-83A1-F6EECF244321}">
                <p14:modId xmlns:p14="http://schemas.microsoft.com/office/powerpoint/2010/main" val="3139503602"/>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994006140"/>
                    </a:ext>
                  </a:extLst>
                </a:gridCol>
                <a:gridCol w="2628900">
                  <a:extLst>
                    <a:ext uri="{9D8B030D-6E8A-4147-A177-3AD203B41FA5}">
                      <a16:colId xmlns:a16="http://schemas.microsoft.com/office/drawing/2014/main" val="2835950470"/>
                    </a:ext>
                  </a:extLst>
                </a:gridCol>
                <a:gridCol w="2628900">
                  <a:extLst>
                    <a:ext uri="{9D8B030D-6E8A-4147-A177-3AD203B41FA5}">
                      <a16:colId xmlns:a16="http://schemas.microsoft.com/office/drawing/2014/main" val="319358864"/>
                    </a:ext>
                  </a:extLst>
                </a:gridCol>
                <a:gridCol w="2628900">
                  <a:extLst>
                    <a:ext uri="{9D8B030D-6E8A-4147-A177-3AD203B41FA5}">
                      <a16:colId xmlns:a16="http://schemas.microsoft.com/office/drawing/2014/main" val="3934034749"/>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225360353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Stall request</a:t>
                      </a:r>
                    </a:p>
                  </a:txBody>
                  <a:tcPr anchor="ctr"/>
                </a:tc>
                <a:extLst>
                  <a:ext uri="{0D108BD9-81ED-4DB2-BD59-A6C34878D82A}">
                    <a16:rowId xmlns:a16="http://schemas.microsoft.com/office/drawing/2014/main" val="2651196822"/>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err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Error indicator</a:t>
                      </a:r>
                    </a:p>
                  </a:txBody>
                  <a:tcPr anchor="ctr"/>
                </a:tc>
                <a:extLst>
                  <a:ext uri="{0D108BD9-81ED-4DB2-BD59-A6C34878D82A}">
                    <a16:rowId xmlns:a16="http://schemas.microsoft.com/office/drawing/2014/main" val="78543377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sha_sram_req_dv</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read enable</a:t>
                      </a:r>
                    </a:p>
                  </a:txBody>
                  <a:tcPr anchor="ctr"/>
                </a:tc>
                <a:extLst>
                  <a:ext uri="{0D108BD9-81ED-4DB2-BD59-A6C34878D82A}">
                    <a16:rowId xmlns:a16="http://schemas.microsoft.com/office/drawing/2014/main" val="285320978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error_intr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Error interrupt</a:t>
                      </a:r>
                    </a:p>
                  </a:txBody>
                  <a:tcPr anchor="ctr"/>
                </a:tc>
                <a:extLst>
                  <a:ext uri="{0D108BD9-81ED-4DB2-BD59-A6C34878D82A}">
                    <a16:rowId xmlns:a16="http://schemas.microsoft.com/office/drawing/2014/main" val="844929661"/>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notif_intr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Completion interrupt</a:t>
                      </a:r>
                    </a:p>
                  </a:txBody>
                  <a:tcPr anchor="ctr"/>
                </a:tc>
                <a:extLst>
                  <a:ext uri="{0D108BD9-81ED-4DB2-BD59-A6C34878D82A}">
                    <a16:rowId xmlns:a16="http://schemas.microsoft.com/office/drawing/2014/main" val="138611525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sha_sram_req_addr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read address</a:t>
                      </a:r>
                    </a:p>
                  </a:txBody>
                  <a:tcPr anchor="ctr"/>
                </a:tc>
                <a:extLst>
                  <a:ext uri="{0D108BD9-81ED-4DB2-BD59-A6C34878D82A}">
                    <a16:rowId xmlns:a16="http://schemas.microsoft.com/office/drawing/2014/main" val="1235698402"/>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a:t>
                      </a:r>
                    </a:p>
                  </a:txBody>
                  <a:tcPr anchor="ctr"/>
                </a:tc>
                <a:extLst>
                  <a:ext uri="{0D108BD9-81ED-4DB2-BD59-A6C34878D82A}">
                    <a16:rowId xmlns:a16="http://schemas.microsoft.com/office/drawing/2014/main" val="3767520572"/>
                  </a:ext>
                </a:extLst>
              </a:tr>
            </a:tbl>
          </a:graphicData>
        </a:graphic>
      </p:graphicFrame>
      <p:sp>
        <p:nvSpPr>
          <p:cNvPr id="7" name="Slide Number Placeholder 6">
            <a:extLst>
              <a:ext uri="{FF2B5EF4-FFF2-40B4-BE49-F238E27FC236}">
                <a16:creationId xmlns:a16="http://schemas.microsoft.com/office/drawing/2014/main" id="{4B7F9BCB-42BB-39A9-F14B-DB6F27623D97}"/>
              </a:ext>
            </a:extLst>
          </p:cNvPr>
          <p:cNvSpPr>
            <a:spLocks noGrp="1"/>
          </p:cNvSpPr>
          <p:nvPr>
            <p:ph type="sldNum" sz="quarter" idx="12"/>
          </p:nvPr>
        </p:nvSpPr>
        <p:spPr/>
        <p:txBody>
          <a:bodyPr/>
          <a:lstStyle/>
          <a:p>
            <a:fld id="{330EA680-D336-4FF7-8B7A-9848BB0A1C32}" type="slidenum">
              <a:rPr lang="en-US" smtClean="0"/>
              <a:t>26</a:t>
            </a:fld>
            <a:endParaRPr lang="en-US"/>
          </a:p>
        </p:txBody>
      </p:sp>
    </p:spTree>
    <p:extLst>
      <p:ext uri="{BB962C8B-B14F-4D97-AF65-F5344CB8AC3E}">
        <p14:creationId xmlns:p14="http://schemas.microsoft.com/office/powerpoint/2010/main" val="2798206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F292D-1613-2B93-7CF1-83B034D192E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5245B81-6D57-8FE2-CFF9-41E0B3139351}"/>
              </a:ext>
            </a:extLst>
          </p:cNvPr>
          <p:cNvSpPr>
            <a:spLocks noGrp="1"/>
          </p:cNvSpPr>
          <p:nvPr>
            <p:ph type="title"/>
          </p:nvPr>
        </p:nvSpPr>
        <p:spPr>
          <a:xfrm>
            <a:off x="0" y="1"/>
            <a:ext cx="12192000" cy="871180"/>
          </a:xfrm>
          <a:solidFill>
            <a:schemeClr val="accent6"/>
          </a:solidFill>
        </p:spPr>
        <p:txBody>
          <a:bodyPr>
            <a:noAutofit/>
          </a:bodyPr>
          <a:lstStyle/>
          <a:p>
            <a:r>
              <a:rPr lang="en-US" sz="2800" b="1">
                <a:latin typeface="Calibri" panose="020F0502020204030204" pitchFamily="34" charset="0"/>
                <a:ea typeface="Calibri" panose="020F0502020204030204" pitchFamily="34" charset="0"/>
                <a:cs typeface="Calibri" panose="020F0502020204030204" pitchFamily="34" charset="0"/>
              </a:rPr>
              <a:t>                                            SHA512 Accelerator Working</a:t>
            </a:r>
          </a:p>
        </p:txBody>
      </p:sp>
      <p:sp>
        <p:nvSpPr>
          <p:cNvPr id="4" name="Content Placeholder 3">
            <a:extLst>
              <a:ext uri="{FF2B5EF4-FFF2-40B4-BE49-F238E27FC236}">
                <a16:creationId xmlns:a16="http://schemas.microsoft.com/office/drawing/2014/main" id="{61827175-252F-B198-480A-485EC7A87BAD}"/>
              </a:ext>
            </a:extLst>
          </p:cNvPr>
          <p:cNvSpPr>
            <a:spLocks noGrp="1"/>
          </p:cNvSpPr>
          <p:nvPr>
            <p:ph idx="1"/>
          </p:nvPr>
        </p:nvSpPr>
        <p:spPr>
          <a:xfrm>
            <a:off x="736601" y="1100667"/>
            <a:ext cx="10634132" cy="5076296"/>
          </a:xfrm>
        </p:spPr>
        <p:txBody>
          <a:bodyPr>
            <a:normAutofit/>
          </a:bodyPr>
          <a:lstStyle/>
          <a:p>
            <a:r>
              <a:rPr lang="en-US" sz="2400">
                <a:latin typeface="Calibri" panose="020F0502020204030204" pitchFamily="34" charset="0"/>
                <a:ea typeface="Calibri" panose="020F0502020204030204" pitchFamily="34" charset="0"/>
                <a:cs typeface="Calibri" panose="020F0502020204030204" pitchFamily="34" charset="0"/>
              </a:rPr>
              <a:t>The sha512 Accelerator is a hardware-based SHA accelerator used in Caliptra to generate secure SHA-512 or SHA-384 hashes.</a:t>
            </a:r>
          </a:p>
          <a:p>
            <a:r>
              <a:rPr lang="en-US" sz="2400">
                <a:latin typeface="Calibri" panose="020F0502020204030204" pitchFamily="34" charset="0"/>
                <a:ea typeface="Calibri" panose="020F0502020204030204" pitchFamily="34" charset="0"/>
                <a:cs typeface="Calibri" panose="020F0502020204030204" pitchFamily="34" charset="0"/>
              </a:rPr>
              <a:t>Initially, software acquires ownership of the SHA engine using the LOCK register. This prevents unauthorized access while a hashing operation is in progress.</a:t>
            </a:r>
          </a:p>
          <a:p>
            <a:r>
              <a:rPr lang="en-US" sz="2400">
                <a:latin typeface="Calibri" panose="020F0502020204030204" pitchFamily="34" charset="0"/>
                <a:ea typeface="Calibri" panose="020F0502020204030204" pitchFamily="34" charset="0"/>
                <a:cs typeface="Calibri" panose="020F0502020204030204" pitchFamily="34" charset="0"/>
              </a:rPr>
              <a:t>Once the lock is obtained, the operating mode and SHA algorithm are selected using the MODE register. </a:t>
            </a:r>
          </a:p>
        </p:txBody>
      </p:sp>
      <p:graphicFrame>
        <p:nvGraphicFramePr>
          <p:cNvPr id="2" name="Table 1">
            <a:extLst>
              <a:ext uri="{FF2B5EF4-FFF2-40B4-BE49-F238E27FC236}">
                <a16:creationId xmlns:a16="http://schemas.microsoft.com/office/drawing/2014/main" id="{BB72037F-5F55-9DF8-4FD1-8AA0D13B8657}"/>
              </a:ext>
            </a:extLst>
          </p:cNvPr>
          <p:cNvGraphicFramePr>
            <a:graphicFrameLocks noGrp="1"/>
          </p:cNvGraphicFramePr>
          <p:nvPr>
            <p:extLst>
              <p:ext uri="{D42A27DB-BD31-4B8C-83A1-F6EECF244321}">
                <p14:modId xmlns:p14="http://schemas.microsoft.com/office/powerpoint/2010/main" val="4206255351"/>
              </p:ext>
            </p:extLst>
          </p:nvPr>
        </p:nvGraphicFramePr>
        <p:xfrm>
          <a:off x="1443566" y="3429000"/>
          <a:ext cx="9304867" cy="3401128"/>
        </p:xfrm>
        <a:graphic>
          <a:graphicData uri="http://schemas.openxmlformats.org/drawingml/2006/table">
            <a:tbl>
              <a:tblPr firstRow="1" bandRow="1">
                <a:tableStyleId>{5C22544A-7EE6-4342-B048-85BDC9FD1C3A}</a:tableStyleId>
              </a:tblPr>
              <a:tblGrid>
                <a:gridCol w="1524001">
                  <a:extLst>
                    <a:ext uri="{9D8B030D-6E8A-4147-A177-3AD203B41FA5}">
                      <a16:colId xmlns:a16="http://schemas.microsoft.com/office/drawing/2014/main" val="1024242471"/>
                    </a:ext>
                  </a:extLst>
                </a:gridCol>
                <a:gridCol w="2565399">
                  <a:extLst>
                    <a:ext uri="{9D8B030D-6E8A-4147-A177-3AD203B41FA5}">
                      <a16:colId xmlns:a16="http://schemas.microsoft.com/office/drawing/2014/main" val="1242991835"/>
                    </a:ext>
                  </a:extLst>
                </a:gridCol>
                <a:gridCol w="5215467">
                  <a:extLst>
                    <a:ext uri="{9D8B030D-6E8A-4147-A177-3AD203B41FA5}">
                      <a16:colId xmlns:a16="http://schemas.microsoft.com/office/drawing/2014/main" val="3039717727"/>
                    </a:ext>
                  </a:extLst>
                </a:gridCol>
              </a:tblGrid>
              <a:tr h="0">
                <a:tc>
                  <a:txBody>
                    <a:bodyPr/>
                    <a:lstStyle/>
                    <a:p>
                      <a:pPr>
                        <a:buNone/>
                      </a:pPr>
                      <a:r>
                        <a:rPr lang="en-IN"/>
                        <a:t>Mode Value</a:t>
                      </a:r>
                    </a:p>
                  </a:txBody>
                  <a:tcPr anchor="ctr"/>
                </a:tc>
                <a:tc>
                  <a:txBody>
                    <a:bodyPr/>
                    <a:lstStyle/>
                    <a:p>
                      <a:pPr>
                        <a:buNone/>
                      </a:pPr>
                      <a:r>
                        <a:rPr lang="en-IN"/>
                        <a:t>SHA Mode</a:t>
                      </a:r>
                    </a:p>
                  </a:txBody>
                  <a:tcPr anchor="ctr"/>
                </a:tc>
                <a:tc>
                  <a:txBody>
                    <a:bodyPr/>
                    <a:lstStyle/>
                    <a:p>
                      <a:pPr>
                        <a:buNone/>
                      </a:pPr>
                      <a:r>
                        <a:rPr lang="en-IN"/>
                        <a:t>Description</a:t>
                      </a:r>
                    </a:p>
                  </a:txBody>
                  <a:tcPr anchor="ctr"/>
                </a:tc>
                <a:extLst>
                  <a:ext uri="{0D108BD9-81ED-4DB2-BD59-A6C34878D82A}">
                    <a16:rowId xmlns:a16="http://schemas.microsoft.com/office/drawing/2014/main" val="2790173586"/>
                  </a:ext>
                </a:extLst>
              </a:tr>
              <a:tr h="431423">
                <a:tc>
                  <a:txBody>
                    <a:bodyPr/>
                    <a:lstStyle/>
                    <a:p>
                      <a:pPr>
                        <a:buNone/>
                      </a:pPr>
                      <a:r>
                        <a:rPr lang="en-IN">
                          <a:latin typeface="Courier New" panose="02070309020205020404" pitchFamily="49" charset="0"/>
                        </a:rPr>
                        <a:t>2'b00</a:t>
                      </a:r>
                      <a:endParaRPr lang="en-IN"/>
                    </a:p>
                  </a:txBody>
                  <a:tcPr anchor="ctr"/>
                </a:tc>
                <a:tc>
                  <a:txBody>
                    <a:bodyPr/>
                    <a:lstStyle/>
                    <a:p>
                      <a:pPr>
                        <a:buNone/>
                      </a:pPr>
                      <a:r>
                        <a:rPr lang="en-IN"/>
                        <a:t>SHA384 Streaming Mode</a:t>
                      </a:r>
                    </a:p>
                  </a:txBody>
                  <a:tcPr anchor="ctr"/>
                </a:tc>
                <a:tc>
                  <a:txBody>
                    <a:bodyPr/>
                    <a:lstStyle/>
                    <a:p>
                      <a:pPr>
                        <a:buNone/>
                      </a:pPr>
                      <a:r>
                        <a:rPr lang="en-US"/>
                        <a:t>Performs SHA-384 hashing in streaming mode. Data is processed continuously from the input stream.</a:t>
                      </a:r>
                    </a:p>
                  </a:txBody>
                  <a:tcPr anchor="ctr"/>
                </a:tc>
                <a:extLst>
                  <a:ext uri="{0D108BD9-81ED-4DB2-BD59-A6C34878D82A}">
                    <a16:rowId xmlns:a16="http://schemas.microsoft.com/office/drawing/2014/main" val="4151574695"/>
                  </a:ext>
                </a:extLst>
              </a:tr>
              <a:tr h="460210">
                <a:tc>
                  <a:txBody>
                    <a:bodyPr/>
                    <a:lstStyle/>
                    <a:p>
                      <a:pPr>
                        <a:buNone/>
                      </a:pPr>
                      <a:r>
                        <a:rPr lang="en-IN">
                          <a:latin typeface="Courier New" panose="02070309020205020404" pitchFamily="49" charset="0"/>
                        </a:rPr>
                        <a:t>2'b01</a:t>
                      </a:r>
                      <a:endParaRPr lang="en-IN"/>
                    </a:p>
                  </a:txBody>
                  <a:tcPr anchor="ctr"/>
                </a:tc>
                <a:tc>
                  <a:txBody>
                    <a:bodyPr/>
                    <a:lstStyle/>
                    <a:p>
                      <a:pPr>
                        <a:buNone/>
                      </a:pPr>
                      <a:r>
                        <a:rPr lang="en-IN"/>
                        <a:t>SHA512 Streaming Mode</a:t>
                      </a:r>
                    </a:p>
                  </a:txBody>
                  <a:tcPr anchor="ctr"/>
                </a:tc>
                <a:tc>
                  <a:txBody>
                    <a:bodyPr/>
                    <a:lstStyle/>
                    <a:p>
                      <a:pPr>
                        <a:buNone/>
                      </a:pPr>
                      <a:r>
                        <a:rPr lang="en-US"/>
                        <a:t>Performs SHA-512 hashing in streaming mode. Supports continuous data hashing operation.</a:t>
                      </a:r>
                    </a:p>
                  </a:txBody>
                  <a:tcPr anchor="ctr"/>
                </a:tc>
                <a:extLst>
                  <a:ext uri="{0D108BD9-81ED-4DB2-BD59-A6C34878D82A}">
                    <a16:rowId xmlns:a16="http://schemas.microsoft.com/office/drawing/2014/main" val="2580832155"/>
                  </a:ext>
                </a:extLst>
              </a:tr>
              <a:tr h="829602">
                <a:tc>
                  <a:txBody>
                    <a:bodyPr/>
                    <a:lstStyle/>
                    <a:p>
                      <a:pPr>
                        <a:buNone/>
                      </a:pPr>
                      <a:r>
                        <a:rPr lang="en-IN">
                          <a:latin typeface="Courier New" panose="02070309020205020404" pitchFamily="49" charset="0"/>
                        </a:rPr>
                        <a:t>2'b10</a:t>
                      </a:r>
                      <a:endParaRPr lang="en-IN"/>
                    </a:p>
                  </a:txBody>
                  <a:tcPr anchor="ctr"/>
                </a:tc>
                <a:tc>
                  <a:txBody>
                    <a:bodyPr/>
                    <a:lstStyle/>
                    <a:p>
                      <a:pPr>
                        <a:buNone/>
                      </a:pPr>
                      <a:r>
                        <a:rPr lang="en-IN"/>
                        <a:t>SHA384 Mailbox Mode</a:t>
                      </a:r>
                    </a:p>
                  </a:txBody>
                  <a:tcPr anchor="ctr"/>
                </a:tc>
                <a:tc>
                  <a:txBody>
                    <a:bodyPr/>
                    <a:lstStyle/>
                    <a:p>
                      <a:pPr>
                        <a:buNone/>
                      </a:pPr>
                      <a:r>
                        <a:rPr lang="en-US"/>
                        <a:t>Performs SHA-384 hashing using mailbox data. Valid only for Caliptra internal requests and invalid for SoC requests.</a:t>
                      </a:r>
                    </a:p>
                  </a:txBody>
                  <a:tcPr anchor="ctr"/>
                </a:tc>
                <a:extLst>
                  <a:ext uri="{0D108BD9-81ED-4DB2-BD59-A6C34878D82A}">
                    <a16:rowId xmlns:a16="http://schemas.microsoft.com/office/drawing/2014/main" val="663130612"/>
                  </a:ext>
                </a:extLst>
              </a:tr>
              <a:tr h="566488">
                <a:tc>
                  <a:txBody>
                    <a:bodyPr/>
                    <a:lstStyle/>
                    <a:p>
                      <a:pPr>
                        <a:buNone/>
                      </a:pPr>
                      <a:r>
                        <a:rPr lang="en-IN">
                          <a:latin typeface="Courier New" panose="02070309020205020404" pitchFamily="49" charset="0"/>
                        </a:rPr>
                        <a:t>2'b11</a:t>
                      </a:r>
                      <a:endParaRPr lang="en-IN"/>
                    </a:p>
                  </a:txBody>
                  <a:tcPr anchor="ctr"/>
                </a:tc>
                <a:tc>
                  <a:txBody>
                    <a:bodyPr/>
                    <a:lstStyle/>
                    <a:p>
                      <a:pPr>
                        <a:buNone/>
                      </a:pPr>
                      <a:r>
                        <a:rPr lang="en-IN"/>
                        <a:t>SHA512 Mailbox Mode</a:t>
                      </a:r>
                    </a:p>
                  </a:txBody>
                  <a:tcPr anchor="ctr"/>
                </a:tc>
                <a:tc>
                  <a:txBody>
                    <a:bodyPr/>
                    <a:lstStyle/>
                    <a:p>
                      <a:pPr>
                        <a:buNone/>
                      </a:pPr>
                      <a:r>
                        <a:rPr lang="en-US"/>
                        <a:t>Performs SHA-512 hashing using mailbox data.</a:t>
                      </a:r>
                    </a:p>
                  </a:txBody>
                  <a:tcPr anchor="ctr"/>
                </a:tc>
                <a:extLst>
                  <a:ext uri="{0D108BD9-81ED-4DB2-BD59-A6C34878D82A}">
                    <a16:rowId xmlns:a16="http://schemas.microsoft.com/office/drawing/2014/main" val="1836566552"/>
                  </a:ext>
                </a:extLst>
              </a:tr>
            </a:tbl>
          </a:graphicData>
        </a:graphic>
      </p:graphicFrame>
      <p:sp>
        <p:nvSpPr>
          <p:cNvPr id="7" name="Slide Number Placeholder 6">
            <a:extLst>
              <a:ext uri="{FF2B5EF4-FFF2-40B4-BE49-F238E27FC236}">
                <a16:creationId xmlns:a16="http://schemas.microsoft.com/office/drawing/2014/main" id="{7FFC8D87-B580-1F47-B306-FE3FC175A564}"/>
              </a:ext>
            </a:extLst>
          </p:cNvPr>
          <p:cNvSpPr>
            <a:spLocks noGrp="1"/>
          </p:cNvSpPr>
          <p:nvPr>
            <p:ph type="sldNum" sz="quarter" idx="12"/>
          </p:nvPr>
        </p:nvSpPr>
        <p:spPr/>
        <p:txBody>
          <a:bodyPr/>
          <a:lstStyle/>
          <a:p>
            <a:fld id="{330EA680-D336-4FF7-8B7A-9848BB0A1C32}" type="slidenum">
              <a:rPr lang="en-US" smtClean="0"/>
              <a:t>27</a:t>
            </a:fld>
            <a:endParaRPr lang="en-US"/>
          </a:p>
        </p:txBody>
      </p:sp>
    </p:spTree>
    <p:extLst>
      <p:ext uri="{BB962C8B-B14F-4D97-AF65-F5344CB8AC3E}">
        <p14:creationId xmlns:p14="http://schemas.microsoft.com/office/powerpoint/2010/main" val="2698639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54FA5-53F5-8CCD-5190-A299DA2A7B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F40C576-069C-2E29-ED58-B6D9E1C37093}"/>
              </a:ext>
            </a:extLst>
          </p:cNvPr>
          <p:cNvSpPr>
            <a:spLocks noGrp="1"/>
          </p:cNvSpPr>
          <p:nvPr>
            <p:ph type="title"/>
          </p:nvPr>
        </p:nvSpPr>
        <p:spPr>
          <a:xfrm>
            <a:off x="0" y="1"/>
            <a:ext cx="12192000" cy="871180"/>
          </a:xfrm>
          <a:solidFill>
            <a:schemeClr val="accent6"/>
          </a:solidFill>
        </p:spPr>
        <p:txBody>
          <a:bodyPr>
            <a:noAutofit/>
          </a:bodyPr>
          <a:lstStyle/>
          <a:p>
            <a:r>
              <a:rPr lang="en-US" sz="2800" b="1">
                <a:latin typeface="Calibri" panose="020F0502020204030204" pitchFamily="34" charset="0"/>
                <a:ea typeface="Calibri" panose="020F0502020204030204" pitchFamily="34" charset="0"/>
                <a:cs typeface="Calibri" panose="020F0502020204030204" pitchFamily="34" charset="0"/>
              </a:rPr>
              <a:t>                                            SHA512 Accelerator Working(Contd..)</a:t>
            </a:r>
          </a:p>
        </p:txBody>
      </p:sp>
      <p:sp>
        <p:nvSpPr>
          <p:cNvPr id="4" name="Content Placeholder 3">
            <a:extLst>
              <a:ext uri="{FF2B5EF4-FFF2-40B4-BE49-F238E27FC236}">
                <a16:creationId xmlns:a16="http://schemas.microsoft.com/office/drawing/2014/main" id="{973396E3-9C88-A0B8-A6FC-50542D43A05D}"/>
              </a:ext>
            </a:extLst>
          </p:cNvPr>
          <p:cNvSpPr>
            <a:spLocks noGrp="1"/>
          </p:cNvSpPr>
          <p:nvPr>
            <p:ph idx="1"/>
          </p:nvPr>
        </p:nvSpPr>
        <p:spPr>
          <a:xfrm>
            <a:off x="736601" y="1100667"/>
            <a:ext cx="10634132" cy="5076296"/>
          </a:xfrm>
        </p:spPr>
        <p:txBody>
          <a:bodyPr>
            <a:normAutofit/>
          </a:bodyPr>
          <a:lstStyle/>
          <a:p>
            <a:r>
              <a:rPr lang="en-US" sz="2400">
                <a:latin typeface="Calibri" panose="020F0502020204030204" pitchFamily="34" charset="0"/>
                <a:ea typeface="Calibri" panose="020F0502020204030204" pitchFamily="34" charset="0"/>
                <a:cs typeface="Calibri" panose="020F0502020204030204" pitchFamily="34" charset="0"/>
              </a:rPr>
              <a:t>The padded message blocks are then processed by the instantiated sha512 core. The SHA core performs multiple compression rounds internally and generates the final digest value.</a:t>
            </a:r>
          </a:p>
          <a:p>
            <a:r>
              <a:rPr lang="en-US" sz="2400">
                <a:latin typeface="Calibri" panose="020F0502020204030204" pitchFamily="34" charset="0"/>
                <a:ea typeface="Calibri" panose="020F0502020204030204" pitchFamily="34" charset="0"/>
                <a:cs typeface="Calibri" panose="020F0502020204030204" pitchFamily="34" charset="0"/>
              </a:rPr>
              <a:t> The computed digest is stored inside digest registers and can be read by software through the register interface.</a:t>
            </a:r>
          </a:p>
        </p:txBody>
      </p:sp>
      <p:sp>
        <p:nvSpPr>
          <p:cNvPr id="10" name="Slide Number Placeholder 9">
            <a:extLst>
              <a:ext uri="{FF2B5EF4-FFF2-40B4-BE49-F238E27FC236}">
                <a16:creationId xmlns:a16="http://schemas.microsoft.com/office/drawing/2014/main" id="{10E3E548-59C6-DB42-E234-B786569545D4}"/>
              </a:ext>
            </a:extLst>
          </p:cNvPr>
          <p:cNvSpPr>
            <a:spLocks noGrp="1"/>
          </p:cNvSpPr>
          <p:nvPr>
            <p:ph type="sldNum" sz="quarter" idx="12"/>
          </p:nvPr>
        </p:nvSpPr>
        <p:spPr/>
        <p:txBody>
          <a:bodyPr/>
          <a:lstStyle/>
          <a:p>
            <a:fld id="{330EA680-D336-4FF7-8B7A-9848BB0A1C32}" type="slidenum">
              <a:rPr lang="en-US" smtClean="0"/>
              <a:t>28</a:t>
            </a:fld>
            <a:endParaRPr lang="en-US"/>
          </a:p>
        </p:txBody>
      </p:sp>
    </p:spTree>
    <p:extLst>
      <p:ext uri="{BB962C8B-B14F-4D97-AF65-F5344CB8AC3E}">
        <p14:creationId xmlns:p14="http://schemas.microsoft.com/office/powerpoint/2010/main" val="1438601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54FA5-53F5-8CCD-5190-A299DA2A7B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F40C576-069C-2E29-ED58-B6D9E1C37093}"/>
              </a:ext>
            </a:extLst>
          </p:cNvPr>
          <p:cNvSpPr>
            <a:spLocks noGrp="1"/>
          </p:cNvSpPr>
          <p:nvPr>
            <p:ph type="title"/>
          </p:nvPr>
        </p:nvSpPr>
        <p:spPr>
          <a:xfrm>
            <a:off x="0" y="1"/>
            <a:ext cx="12192000" cy="871180"/>
          </a:xfrm>
          <a:solidFill>
            <a:schemeClr val="accent6"/>
          </a:solidFill>
        </p:spPr>
        <p:txBody>
          <a:bodyPr>
            <a:noAutofit/>
          </a:bodyPr>
          <a:lstStyle/>
          <a:p>
            <a:r>
              <a:rPr lang="en-US" sz="2800" b="1">
                <a:latin typeface="Calibri" panose="020F0502020204030204" pitchFamily="34" charset="0"/>
                <a:ea typeface="Calibri" panose="020F0502020204030204" pitchFamily="34" charset="0"/>
                <a:cs typeface="Calibri" panose="020F0502020204030204" pitchFamily="34" charset="0"/>
              </a:rPr>
              <a:t>                                            SHA512 Accelerator Working(Contd..)</a:t>
            </a:r>
          </a:p>
        </p:txBody>
      </p:sp>
      <p:sp>
        <p:nvSpPr>
          <p:cNvPr id="4" name="Content Placeholder 3">
            <a:extLst>
              <a:ext uri="{FF2B5EF4-FFF2-40B4-BE49-F238E27FC236}">
                <a16:creationId xmlns:a16="http://schemas.microsoft.com/office/drawing/2014/main" id="{973396E3-9C88-A0B8-A6FC-50542D43A05D}"/>
              </a:ext>
            </a:extLst>
          </p:cNvPr>
          <p:cNvSpPr>
            <a:spLocks noGrp="1"/>
          </p:cNvSpPr>
          <p:nvPr>
            <p:ph idx="1"/>
          </p:nvPr>
        </p:nvSpPr>
        <p:spPr>
          <a:xfrm>
            <a:off x="736601" y="1100667"/>
            <a:ext cx="10634132" cy="5076296"/>
          </a:xfrm>
        </p:spPr>
        <p:txBody>
          <a:bodyPr>
            <a:normAutofit/>
          </a:bodyPr>
          <a:lstStyle/>
          <a:p>
            <a:r>
              <a:rPr lang="en-US" sz="2400">
                <a:latin typeface="Calibri" panose="020F0502020204030204" pitchFamily="34" charset="0"/>
                <a:ea typeface="Calibri" panose="020F0502020204030204" pitchFamily="34" charset="0"/>
                <a:cs typeface="Calibri" panose="020F0502020204030204" pitchFamily="34" charset="0"/>
              </a:rPr>
              <a:t>The padded message blocks are then processed by the instantiated sha512 core. The SHA core performs multiple compression rounds internally and generates the final digest value.</a:t>
            </a:r>
          </a:p>
          <a:p>
            <a:r>
              <a:rPr lang="en-US" sz="2400">
                <a:latin typeface="Calibri" panose="020F0502020204030204" pitchFamily="34" charset="0"/>
                <a:ea typeface="Calibri" panose="020F0502020204030204" pitchFamily="34" charset="0"/>
                <a:cs typeface="Calibri" panose="020F0502020204030204" pitchFamily="34" charset="0"/>
              </a:rPr>
              <a:t> The computed digest is stored inside digest registers and can be read by software through the register interface.</a:t>
            </a:r>
          </a:p>
        </p:txBody>
      </p:sp>
      <p:pic>
        <p:nvPicPr>
          <p:cNvPr id="7" name="Picture 6">
            <a:extLst>
              <a:ext uri="{FF2B5EF4-FFF2-40B4-BE49-F238E27FC236}">
                <a16:creationId xmlns:a16="http://schemas.microsoft.com/office/drawing/2014/main" id="{578A6865-6707-9951-5936-A41300762AD3}"/>
              </a:ext>
            </a:extLst>
          </p:cNvPr>
          <p:cNvPicPr>
            <a:picLocks noChangeAspect="1"/>
          </p:cNvPicPr>
          <p:nvPr/>
        </p:nvPicPr>
        <p:blipFill>
          <a:blip r:embed="rId2"/>
          <a:stretch>
            <a:fillRect/>
          </a:stretch>
        </p:blipFill>
        <p:spPr>
          <a:xfrm>
            <a:off x="1731926" y="3030496"/>
            <a:ext cx="8169348" cy="3375953"/>
          </a:xfrm>
          <a:prstGeom prst="rect">
            <a:avLst/>
          </a:prstGeom>
        </p:spPr>
      </p:pic>
      <p:sp>
        <p:nvSpPr>
          <p:cNvPr id="10" name="Slide Number Placeholder 9">
            <a:extLst>
              <a:ext uri="{FF2B5EF4-FFF2-40B4-BE49-F238E27FC236}">
                <a16:creationId xmlns:a16="http://schemas.microsoft.com/office/drawing/2014/main" id="{10E3E548-59C6-DB42-E234-B786569545D4}"/>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2477045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ECC20-2A5E-1833-0536-4F1252A363A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F799104-D771-678C-5EE0-8F5FF474DD47}"/>
              </a:ext>
            </a:extLst>
          </p:cNvPr>
          <p:cNvSpPr>
            <a:spLocks noGrp="1"/>
          </p:cNvSpPr>
          <p:nvPr>
            <p:ph type="title"/>
          </p:nvPr>
        </p:nvSpPr>
        <p:spPr>
          <a:xfrm>
            <a:off x="0" y="1"/>
            <a:ext cx="12192000" cy="871180"/>
          </a:xfrm>
          <a:solidFill>
            <a:schemeClr val="accent6"/>
          </a:solidFill>
        </p:spPr>
        <p:txBody>
          <a:bodyPr>
            <a:noAutofit/>
          </a:bodyPr>
          <a:lstStyle/>
          <a:p>
            <a:r>
              <a:rPr lang="en-US" sz="2800" b="1">
                <a:latin typeface="Calibri" panose="020F0502020204030204" pitchFamily="34" charset="0"/>
                <a:ea typeface="Calibri" panose="020F0502020204030204" pitchFamily="34" charset="0"/>
                <a:cs typeface="Calibri" panose="020F0502020204030204" pitchFamily="34" charset="0"/>
              </a:rPr>
              <a:t>                                            SHA512 Accelerator Working(Contd..)</a:t>
            </a:r>
          </a:p>
        </p:txBody>
      </p:sp>
      <p:sp>
        <p:nvSpPr>
          <p:cNvPr id="4" name="Content Placeholder 3">
            <a:extLst>
              <a:ext uri="{FF2B5EF4-FFF2-40B4-BE49-F238E27FC236}">
                <a16:creationId xmlns:a16="http://schemas.microsoft.com/office/drawing/2014/main" id="{A5F038E4-AA93-5B78-E8A7-C67CF03B59D7}"/>
              </a:ext>
            </a:extLst>
          </p:cNvPr>
          <p:cNvSpPr>
            <a:spLocks noGrp="1"/>
          </p:cNvSpPr>
          <p:nvPr>
            <p:ph idx="1"/>
          </p:nvPr>
        </p:nvSpPr>
        <p:spPr>
          <a:xfrm>
            <a:off x="736601" y="1100667"/>
            <a:ext cx="10634132" cy="5076296"/>
          </a:xfrm>
        </p:spPr>
        <p:txBody>
          <a:bodyPr>
            <a:normAutofit/>
          </a:bodyPr>
          <a:lstStyle/>
          <a:p>
            <a:endParaRPr lang="en-US" sz="2400">
              <a:latin typeface="Calibri" panose="020F0502020204030204" pitchFamily="34" charset="0"/>
              <a:ea typeface="Calibri" panose="020F0502020204030204" pitchFamily="34" charset="0"/>
              <a:cs typeface="Calibri" panose="020F0502020204030204" pitchFamily="34" charset="0"/>
            </a:endParaRPr>
          </a:p>
          <a:p>
            <a:endParaRPr lang="en-US" sz="2400">
              <a:latin typeface="Calibri" panose="020F0502020204030204" pitchFamily="34" charset="0"/>
              <a:ea typeface="Calibri" panose="020F0502020204030204" pitchFamily="34" charset="0"/>
              <a:cs typeface="Calibri" panose="020F0502020204030204" pitchFamily="34" charset="0"/>
            </a:endParaRPr>
          </a:p>
          <a:p>
            <a:endParaRPr lang="en-US"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a:latin typeface="Calibri" panose="020F0502020204030204" pitchFamily="34" charset="0"/>
              <a:ea typeface="Calibri" panose="020F0502020204030204" pitchFamily="34" charset="0"/>
              <a:cs typeface="Calibri" panose="020F0502020204030204" pitchFamily="34" charset="0"/>
            </a:endParaRPr>
          </a:p>
          <a:p>
            <a:endParaRPr lang="en-US"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a:latin typeface="Calibri" panose="020F0502020204030204" pitchFamily="34" charset="0"/>
              <a:ea typeface="Calibri" panose="020F0502020204030204" pitchFamily="34" charset="0"/>
              <a:cs typeface="Calibri" panose="020F0502020204030204" pitchFamily="34" charset="0"/>
            </a:endParaRPr>
          </a:p>
          <a:p>
            <a:endParaRPr lang="en-US" sz="2400">
              <a:latin typeface="Calibri" panose="020F0502020204030204" pitchFamily="34" charset="0"/>
              <a:ea typeface="Calibri" panose="020F0502020204030204" pitchFamily="34" charset="0"/>
              <a:cs typeface="Calibri" panose="020F0502020204030204" pitchFamily="34" charset="0"/>
            </a:endParaRPr>
          </a:p>
          <a:p>
            <a:r>
              <a:rPr lang="en-US" sz="2400">
                <a:latin typeface="Calibri" panose="020F0502020204030204" pitchFamily="34" charset="0"/>
                <a:ea typeface="Calibri" panose="020F0502020204030204" pitchFamily="34" charset="0"/>
                <a:cs typeface="Calibri" panose="020F0502020204030204" pitchFamily="34" charset="0"/>
              </a:rPr>
              <a:t>Throughout the operation, the FSM transitions through multiple states such as SHA IDLE,SHA BLOCK 0, SHA BLOCK N, SHA PAD0, SHA PAD1, and SHA DONE to control block loading, padding, and digest generation.</a:t>
            </a:r>
          </a:p>
          <a:p>
            <a:r>
              <a:rPr lang="en-US" sz="2400"/>
              <a:t>After hashing completion, the accelerator updates the STATUS register and generates notification or error interrupts based on operation status.</a:t>
            </a:r>
          </a:p>
        </p:txBody>
      </p:sp>
      <p:pic>
        <p:nvPicPr>
          <p:cNvPr id="3" name="Picture 2">
            <a:extLst>
              <a:ext uri="{FF2B5EF4-FFF2-40B4-BE49-F238E27FC236}">
                <a16:creationId xmlns:a16="http://schemas.microsoft.com/office/drawing/2014/main" id="{A5CA6CF4-AE49-6329-0C20-132565EB0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2735" y="930448"/>
            <a:ext cx="4936067" cy="2917840"/>
          </a:xfrm>
          <a:prstGeom prst="rect">
            <a:avLst/>
          </a:prstGeom>
        </p:spPr>
      </p:pic>
      <p:sp>
        <p:nvSpPr>
          <p:cNvPr id="6" name="TextBox 5">
            <a:extLst>
              <a:ext uri="{FF2B5EF4-FFF2-40B4-BE49-F238E27FC236}">
                <a16:creationId xmlns:a16="http://schemas.microsoft.com/office/drawing/2014/main" id="{4E838FF9-A0FF-00A8-5F16-515DE0BA73C6}"/>
              </a:ext>
            </a:extLst>
          </p:cNvPr>
          <p:cNvSpPr txBox="1"/>
          <p:nvPr/>
        </p:nvSpPr>
        <p:spPr>
          <a:xfrm>
            <a:off x="4521200" y="3893108"/>
            <a:ext cx="2029210" cy="369332"/>
          </a:xfrm>
          <a:prstGeom prst="rect">
            <a:avLst/>
          </a:prstGeom>
          <a:noFill/>
        </p:spPr>
        <p:txBody>
          <a:bodyPr wrap="none" rtlCol="0">
            <a:spAutoFit/>
          </a:bodyPr>
          <a:lstStyle/>
          <a:p>
            <a:r>
              <a:rPr lang="en-IN"/>
              <a:t>Fig 6.SHA 512 FSM</a:t>
            </a:r>
          </a:p>
        </p:txBody>
      </p:sp>
      <p:sp>
        <p:nvSpPr>
          <p:cNvPr id="8" name="Slide Number Placeholder 7">
            <a:extLst>
              <a:ext uri="{FF2B5EF4-FFF2-40B4-BE49-F238E27FC236}">
                <a16:creationId xmlns:a16="http://schemas.microsoft.com/office/drawing/2014/main" id="{C9FE784C-860B-5970-BB4D-0E797C31DDC1}"/>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1293822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93A3-2D76-9FE3-82BE-5A795B11F035}"/>
              </a:ext>
            </a:extLst>
          </p:cNvPr>
          <p:cNvSpPr>
            <a:spLocks noGrp="1"/>
          </p:cNvSpPr>
          <p:nvPr>
            <p:ph type="title"/>
          </p:nvPr>
        </p:nvSpPr>
        <p:spPr/>
        <p:txBody>
          <a:bodyPr>
            <a:normAutofit fontScale="90000"/>
          </a:bodyPr>
          <a:lstStyle/>
          <a:p>
            <a:br>
              <a:rPr lang="en-IN"/>
            </a:br>
            <a:br>
              <a:rPr lang="en-IN"/>
            </a:br>
            <a:br>
              <a:rPr lang="en-IN"/>
            </a:br>
            <a:br>
              <a:rPr lang="en-IN"/>
            </a:br>
            <a:br>
              <a:rPr lang="en-IN"/>
            </a:br>
            <a:br>
              <a:rPr lang="en-IN"/>
            </a:br>
            <a:br>
              <a:rPr lang="en-IN"/>
            </a:br>
            <a:br>
              <a:rPr lang="en-IN"/>
            </a:br>
            <a:br>
              <a:rPr lang="en-IN"/>
            </a:br>
            <a:br>
              <a:rPr lang="en-IN"/>
            </a:br>
            <a:br>
              <a:rPr lang="en-IN"/>
            </a:br>
            <a:endParaRPr lang="en-IN"/>
          </a:p>
        </p:txBody>
      </p:sp>
      <p:pic>
        <p:nvPicPr>
          <p:cNvPr id="4" name="Picture 6" descr="Business Thank-You Letter Examples">
            <a:extLst>
              <a:ext uri="{FF2B5EF4-FFF2-40B4-BE49-F238E27FC236}">
                <a16:creationId xmlns:a16="http://schemas.microsoft.com/office/drawing/2014/main" id="{7ECFFA39-EA56-82BF-8033-38007A3886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138" y="261386"/>
            <a:ext cx="11705862" cy="659661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8BE145F8-D441-11CC-DF66-E3A14895CD80}"/>
              </a:ext>
            </a:extLst>
          </p:cNvPr>
          <p:cNvSpPr>
            <a:spLocks noGrp="1"/>
          </p:cNvSpPr>
          <p:nvPr>
            <p:ph type="sldNum" sz="quarter" idx="12"/>
          </p:nvPr>
        </p:nvSpPr>
        <p:spPr/>
        <p:txBody>
          <a:bodyPr/>
          <a:lstStyle/>
          <a:p>
            <a:fld id="{330EA680-D336-4FF7-8B7A-9848BB0A1C32}" type="slidenum">
              <a:rPr lang="en-US" smtClean="0"/>
              <a:t>31</a:t>
            </a:fld>
            <a:endParaRPr lang="en-US"/>
          </a:p>
        </p:txBody>
      </p:sp>
    </p:spTree>
    <p:extLst>
      <p:ext uri="{BB962C8B-B14F-4D97-AF65-F5344CB8AC3E}">
        <p14:creationId xmlns:p14="http://schemas.microsoft.com/office/powerpoint/2010/main" val="3140598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10" ma:contentTypeDescription="Create a new document." ma:contentTypeScope="" ma:versionID="f1ce0bbb77ae981bb3236c4ff3e5e8c2">
  <xsd:schema xmlns:xsd="http://www.w3.org/2001/XMLSchema" xmlns:xs="http://www.w3.org/2001/XMLSchema" xmlns:p="http://schemas.microsoft.com/office/2006/metadata/properties" xmlns:ns3="ec91e78c-53b9-49d2-80fe-2267c9de2ac1" targetNamespace="http://schemas.microsoft.com/office/2006/metadata/properties" ma:root="true" ma:fieldsID="2211f0910273cfef75d430a4eb610fe0"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0063AF5-BEA8-4C62-8980-B3BDDFE1EDDD}">
  <ds:schemaRefs>
    <ds:schemaRef ds:uri="ec91e78c-53b9-49d2-80fe-2267c9de2a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0C30E90-35A2-433D-8294-0F950042F531}">
  <ds:schemaRefs>
    <ds:schemaRef ds:uri="http://www.w3.org/XML/1998/namespace"/>
    <ds:schemaRef ds:uri="http://purl.org/dc/terms/"/>
    <ds:schemaRef ds:uri="http://schemas.microsoft.com/office/2006/documentManagement/types"/>
    <ds:schemaRef ds:uri="ec91e78c-53b9-49d2-80fe-2267c9de2ac1"/>
    <ds:schemaRef ds:uri="http://purl.org/dc/dcmitype/"/>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F8666954-3D43-40F3-AF96-B2753E1830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caliptra_micro</Template>
  <TotalTime>142</TotalTime>
  <Words>2177</Words>
  <Application>Microsoft Office PowerPoint</Application>
  <PresentationFormat>Widescreen</PresentationFormat>
  <Paragraphs>496</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Calibri</vt:lpstr>
      <vt:lpstr>Courier New</vt:lpstr>
      <vt:lpstr>Wingdings</vt:lpstr>
      <vt:lpstr>Office Theme</vt:lpstr>
      <vt:lpstr>CALIPTRA SoC IFC Microarchitecture-Phase 1</vt:lpstr>
      <vt:lpstr>CONTENTS</vt:lpstr>
      <vt:lpstr>High Level Block Diagram of Caliptra</vt:lpstr>
      <vt:lpstr>Block Diagram of SoC-IFC</vt:lpstr>
      <vt:lpstr> Mailbox  </vt:lpstr>
      <vt:lpstr>Block Diagram of Mailbox</vt:lpstr>
      <vt:lpstr>Pin Diagram of Mailbox</vt:lpstr>
      <vt:lpstr>Mailbox Input Signal Description</vt:lpstr>
      <vt:lpstr>Mailbox Input Signal Description(Contd..)</vt:lpstr>
      <vt:lpstr>Mailbox Output Signal Description</vt:lpstr>
      <vt:lpstr>Mailbox Output Signal Description(Contd..)</vt:lpstr>
      <vt:lpstr>                                                             Mailbox Working</vt:lpstr>
      <vt:lpstr>                                                             Mailbox Working(Contd..)</vt:lpstr>
      <vt:lpstr>                                                             Mailbox Working(Contd..)</vt:lpstr>
      <vt:lpstr>                                                             Mailbox Working(Contd..)</vt:lpstr>
      <vt:lpstr>                                                             Mailbox Working(Contd..)</vt:lpstr>
      <vt:lpstr>                                                             Mailbox Working(Contd..)</vt:lpstr>
      <vt:lpstr> Mailbox Working(Contd..)</vt:lpstr>
      <vt:lpstr> Mailbox Working(Contd..)</vt:lpstr>
      <vt:lpstr> Mailbox Working(Contd..)</vt:lpstr>
      <vt:lpstr> Mailbox Working(Contd..)</vt:lpstr>
      <vt:lpstr>SHA512 Accelerator</vt:lpstr>
      <vt:lpstr>Block diagram of SHA512 Accelerator</vt:lpstr>
      <vt:lpstr>Pin diagram of SHA512 Accelerator</vt:lpstr>
      <vt:lpstr>SHA512 Accelerator Input Signal Description</vt:lpstr>
      <vt:lpstr>SHA512 Accelerator Output Signal Description</vt:lpstr>
      <vt:lpstr>                                            SHA512 Accelerator Working</vt:lpstr>
      <vt:lpstr>                                            SHA512 Accelerator Working(Contd..)</vt:lpstr>
      <vt:lpstr>                                            SHA512 Accelerator Working(Contd..)</vt:lpstr>
      <vt:lpstr>                                            SHA512 Accelerator Working(Contd..)</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2</cp:revision>
  <dcterms:created xsi:type="dcterms:W3CDTF">2026-05-14T03:28:09Z</dcterms:created>
  <dcterms:modified xsi:type="dcterms:W3CDTF">2026-05-15T12:13:36Z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