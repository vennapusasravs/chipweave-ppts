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8" r:id="rId6"/>
    <p:sldId id="289" r:id="rId7"/>
    <p:sldId id="339" r:id="rId8"/>
    <p:sldId id="340" r:id="rId9"/>
    <p:sldId id="341" r:id="rId10"/>
    <p:sldId id="342" r:id="rId11"/>
    <p:sldId id="343" r:id="rId12"/>
    <p:sldId id="344" r:id="rId13"/>
    <p:sldId id="345" r:id="rId14"/>
    <p:sldId id="346" r:id="rId15"/>
    <p:sldId id="347" r:id="rId16"/>
    <p:sldId id="348" r:id="rId17"/>
    <p:sldId id="350" r:id="rId18"/>
    <p:sldId id="349" r:id="rId19"/>
    <p:sldId id="351" r:id="rId20"/>
    <p:sldId id="352" r:id="rId21"/>
    <p:sldId id="353" r:id="rId22"/>
    <p:sldId id="362" r:id="rId23"/>
    <p:sldId id="363" r:id="rId24"/>
    <p:sldId id="364" r:id="rId25"/>
    <p:sldId id="365" r:id="rId26"/>
    <p:sldId id="366" r:id="rId27"/>
    <p:sldId id="354" r:id="rId28"/>
    <p:sldId id="355" r:id="rId29"/>
    <p:sldId id="356" r:id="rId30"/>
    <p:sldId id="358" r:id="rId31"/>
    <p:sldId id="357" r:id="rId32"/>
    <p:sldId id="359" r:id="rId33"/>
    <p:sldId id="360" r:id="rId34"/>
    <p:sldId id="367" r:id="rId35"/>
    <p:sldId id="370" r:id="rId36"/>
    <p:sldId id="371" r:id="rId37"/>
    <p:sldId id="372" r:id="rId38"/>
    <p:sldId id="373" r:id="rId39"/>
    <p:sldId id="262" r:id="rId40"/>
    <p:sldId id="263" r:id="rId41"/>
    <p:sldId id="264" r:id="rId42"/>
    <p:sldId id="265" r:id="rId43"/>
    <p:sldId id="266" r:id="rId44"/>
    <p:sldId id="267" r:id="rId45"/>
    <p:sldId id="268" r:id="rId46"/>
    <p:sldId id="272" r:id="rId47"/>
    <p:sldId id="273" r:id="rId48"/>
    <p:sldId id="274" r:id="rId49"/>
    <p:sldId id="275" r:id="rId50"/>
    <p:sldId id="276" r:id="rId51"/>
    <p:sldId id="277" r:id="rId52"/>
    <p:sldId id="278" r:id="rId53"/>
    <p:sldId id="279" r:id="rId54"/>
    <p:sldId id="280" r:id="rId55"/>
    <p:sldId id="281" r:id="rId56"/>
    <p:sldId id="282" r:id="rId57"/>
    <p:sldId id="284" r:id="rId58"/>
    <p:sldId id="291" r:id="rId59"/>
    <p:sldId id="292" r:id="rId60"/>
    <p:sldId id="293" r:id="rId61"/>
    <p:sldId id="294" r:id="rId62"/>
    <p:sldId id="296" r:id="rId63"/>
    <p:sldId id="297" r:id="rId64"/>
    <p:sldId id="298" r:id="rId65"/>
    <p:sldId id="299" r:id="rId66"/>
    <p:sldId id="300" r:id="rId67"/>
    <p:sldId id="301" r:id="rId68"/>
    <p:sldId id="302" r:id="rId69"/>
    <p:sldId id="303" r:id="rId70"/>
    <p:sldId id="304" r:id="rId71"/>
    <p:sldId id="305" r:id="rId72"/>
    <p:sldId id="32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0FE7CB-4F55-4FC8-A1E5-AB3060B41655}" v="180" dt="2026-02-23T05:40:35.933"/>
    <p1510:client id="{7A7AEB6F-4AF5-4827-8492-754CA1085D7B}" v="39" dt="2026-02-24T04:22:58.0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60"/>
  </p:normalViewPr>
  <p:slideViewPr>
    <p:cSldViewPr snapToGrid="0">
      <p:cViewPr varScale="1">
        <p:scale>
          <a:sx n="74" d="100"/>
          <a:sy n="74" d="100"/>
        </p:scale>
        <p:origin x="72" y="7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thi Vennapusa" userId="06105391-ac9e-4186-a41e-395274e1b189" providerId="ADAL" clId="{9B2BFCF3-BB9D-4917-9B53-4ED52D43BFF8}"/>
    <pc:docChg chg="undo custSel addSld delSld modSld sldOrd">
      <pc:chgData name="sravanthi Vennapusa" userId="06105391-ac9e-4186-a41e-395274e1b189" providerId="ADAL" clId="{9B2BFCF3-BB9D-4917-9B53-4ED52D43BFF8}" dt="2026-02-24T04:29:28.164" v="486" actId="47"/>
      <pc:docMkLst>
        <pc:docMk/>
      </pc:docMkLst>
      <pc:sldChg chg="modSp mod">
        <pc:chgData name="sravanthi Vennapusa" userId="06105391-ac9e-4186-a41e-395274e1b189" providerId="ADAL" clId="{9B2BFCF3-BB9D-4917-9B53-4ED52D43BFF8}" dt="2026-02-24T04:27:34.693" v="460" actId="20577"/>
        <pc:sldMkLst>
          <pc:docMk/>
          <pc:sldMk cId="905354433" sldId="258"/>
        </pc:sldMkLst>
        <pc:spChg chg="mod">
          <ac:chgData name="sravanthi Vennapusa" userId="06105391-ac9e-4186-a41e-395274e1b189" providerId="ADAL" clId="{9B2BFCF3-BB9D-4917-9B53-4ED52D43BFF8}" dt="2026-02-24T04:27:34.693" v="460" actId="20577"/>
          <ac:spMkLst>
            <pc:docMk/>
            <pc:sldMk cId="905354433" sldId="258"/>
            <ac:spMk id="3" creationId="{381B35B5-1EF0-7F98-DE21-64AEB3584BC4}"/>
          </ac:spMkLst>
        </pc:spChg>
      </pc:sldChg>
      <pc:sldChg chg="add del">
        <pc:chgData name="sravanthi Vennapusa" userId="06105391-ac9e-4186-a41e-395274e1b189" providerId="ADAL" clId="{9B2BFCF3-BB9D-4917-9B53-4ED52D43BFF8}" dt="2026-02-24T04:23:15.115" v="410" actId="47"/>
        <pc:sldMkLst>
          <pc:docMk/>
          <pc:sldMk cId="2239300462" sldId="259"/>
        </pc:sldMkLst>
      </pc:sldChg>
      <pc:sldChg chg="add del">
        <pc:chgData name="sravanthi Vennapusa" userId="06105391-ac9e-4186-a41e-395274e1b189" providerId="ADAL" clId="{9B2BFCF3-BB9D-4917-9B53-4ED52D43BFF8}" dt="2026-02-24T04:23:18.081" v="412" actId="47"/>
        <pc:sldMkLst>
          <pc:docMk/>
          <pc:sldMk cId="1468097909" sldId="260"/>
        </pc:sldMkLst>
      </pc:sldChg>
      <pc:sldChg chg="add del">
        <pc:chgData name="sravanthi Vennapusa" userId="06105391-ac9e-4186-a41e-395274e1b189" providerId="ADAL" clId="{9B2BFCF3-BB9D-4917-9B53-4ED52D43BFF8}" dt="2026-02-24T04:23:19.263" v="413" actId="47"/>
        <pc:sldMkLst>
          <pc:docMk/>
          <pc:sldMk cId="3867557509" sldId="261"/>
        </pc:sldMkLst>
      </pc:sldChg>
      <pc:sldChg chg="add">
        <pc:chgData name="sravanthi Vennapusa" userId="06105391-ac9e-4186-a41e-395274e1b189" providerId="ADAL" clId="{9B2BFCF3-BB9D-4917-9B53-4ED52D43BFF8}" dt="2026-02-24T04:22:58.070" v="408"/>
        <pc:sldMkLst>
          <pc:docMk/>
          <pc:sldMk cId="986543705" sldId="262"/>
        </pc:sldMkLst>
      </pc:sldChg>
      <pc:sldChg chg="add">
        <pc:chgData name="sravanthi Vennapusa" userId="06105391-ac9e-4186-a41e-395274e1b189" providerId="ADAL" clId="{9B2BFCF3-BB9D-4917-9B53-4ED52D43BFF8}" dt="2026-02-24T04:22:58.070" v="408"/>
        <pc:sldMkLst>
          <pc:docMk/>
          <pc:sldMk cId="3584949908" sldId="263"/>
        </pc:sldMkLst>
      </pc:sldChg>
      <pc:sldChg chg="add">
        <pc:chgData name="sravanthi Vennapusa" userId="06105391-ac9e-4186-a41e-395274e1b189" providerId="ADAL" clId="{9B2BFCF3-BB9D-4917-9B53-4ED52D43BFF8}" dt="2026-02-24T04:22:58.070" v="408"/>
        <pc:sldMkLst>
          <pc:docMk/>
          <pc:sldMk cId="1883057383" sldId="264"/>
        </pc:sldMkLst>
      </pc:sldChg>
      <pc:sldChg chg="add">
        <pc:chgData name="sravanthi Vennapusa" userId="06105391-ac9e-4186-a41e-395274e1b189" providerId="ADAL" clId="{9B2BFCF3-BB9D-4917-9B53-4ED52D43BFF8}" dt="2026-02-24T04:22:58.070" v="408"/>
        <pc:sldMkLst>
          <pc:docMk/>
          <pc:sldMk cId="3253073936" sldId="265"/>
        </pc:sldMkLst>
      </pc:sldChg>
      <pc:sldChg chg="add">
        <pc:chgData name="sravanthi Vennapusa" userId="06105391-ac9e-4186-a41e-395274e1b189" providerId="ADAL" clId="{9B2BFCF3-BB9D-4917-9B53-4ED52D43BFF8}" dt="2026-02-24T04:22:58.070" v="408"/>
        <pc:sldMkLst>
          <pc:docMk/>
          <pc:sldMk cId="2527648826" sldId="266"/>
        </pc:sldMkLst>
      </pc:sldChg>
      <pc:sldChg chg="add">
        <pc:chgData name="sravanthi Vennapusa" userId="06105391-ac9e-4186-a41e-395274e1b189" providerId="ADAL" clId="{9B2BFCF3-BB9D-4917-9B53-4ED52D43BFF8}" dt="2026-02-24T04:22:58.070" v="408"/>
        <pc:sldMkLst>
          <pc:docMk/>
          <pc:sldMk cId="2031930981" sldId="267"/>
        </pc:sldMkLst>
      </pc:sldChg>
      <pc:sldChg chg="add">
        <pc:chgData name="sravanthi Vennapusa" userId="06105391-ac9e-4186-a41e-395274e1b189" providerId="ADAL" clId="{9B2BFCF3-BB9D-4917-9B53-4ED52D43BFF8}" dt="2026-02-24T04:22:58.070" v="408"/>
        <pc:sldMkLst>
          <pc:docMk/>
          <pc:sldMk cId="4148479772" sldId="268"/>
        </pc:sldMkLst>
      </pc:sldChg>
      <pc:sldChg chg="add del">
        <pc:chgData name="sravanthi Vennapusa" userId="06105391-ac9e-4186-a41e-395274e1b189" providerId="ADAL" clId="{9B2BFCF3-BB9D-4917-9B53-4ED52D43BFF8}" dt="2026-02-24T04:24:22.345" v="416" actId="47"/>
        <pc:sldMkLst>
          <pc:docMk/>
          <pc:sldMk cId="927747311" sldId="269"/>
        </pc:sldMkLst>
      </pc:sldChg>
      <pc:sldChg chg="add del">
        <pc:chgData name="sravanthi Vennapusa" userId="06105391-ac9e-4186-a41e-395274e1b189" providerId="ADAL" clId="{9B2BFCF3-BB9D-4917-9B53-4ED52D43BFF8}" dt="2026-02-24T04:24:24.824" v="417" actId="47"/>
        <pc:sldMkLst>
          <pc:docMk/>
          <pc:sldMk cId="1516272029" sldId="270"/>
        </pc:sldMkLst>
      </pc:sldChg>
      <pc:sldChg chg="add">
        <pc:chgData name="sravanthi Vennapusa" userId="06105391-ac9e-4186-a41e-395274e1b189" providerId="ADAL" clId="{9B2BFCF3-BB9D-4917-9B53-4ED52D43BFF8}" dt="2026-02-24T04:22:58.070" v="408"/>
        <pc:sldMkLst>
          <pc:docMk/>
          <pc:sldMk cId="2906629382" sldId="272"/>
        </pc:sldMkLst>
      </pc:sldChg>
      <pc:sldChg chg="add">
        <pc:chgData name="sravanthi Vennapusa" userId="06105391-ac9e-4186-a41e-395274e1b189" providerId="ADAL" clId="{9B2BFCF3-BB9D-4917-9B53-4ED52D43BFF8}" dt="2026-02-24T04:22:58.070" v="408"/>
        <pc:sldMkLst>
          <pc:docMk/>
          <pc:sldMk cId="1428747340" sldId="273"/>
        </pc:sldMkLst>
      </pc:sldChg>
      <pc:sldChg chg="add">
        <pc:chgData name="sravanthi Vennapusa" userId="06105391-ac9e-4186-a41e-395274e1b189" providerId="ADAL" clId="{9B2BFCF3-BB9D-4917-9B53-4ED52D43BFF8}" dt="2026-02-24T04:22:58.070" v="408"/>
        <pc:sldMkLst>
          <pc:docMk/>
          <pc:sldMk cId="3908115267" sldId="274"/>
        </pc:sldMkLst>
      </pc:sldChg>
      <pc:sldChg chg="add">
        <pc:chgData name="sravanthi Vennapusa" userId="06105391-ac9e-4186-a41e-395274e1b189" providerId="ADAL" clId="{9B2BFCF3-BB9D-4917-9B53-4ED52D43BFF8}" dt="2026-02-24T04:22:58.070" v="408"/>
        <pc:sldMkLst>
          <pc:docMk/>
          <pc:sldMk cId="3645696294" sldId="275"/>
        </pc:sldMkLst>
      </pc:sldChg>
      <pc:sldChg chg="add">
        <pc:chgData name="sravanthi Vennapusa" userId="06105391-ac9e-4186-a41e-395274e1b189" providerId="ADAL" clId="{9B2BFCF3-BB9D-4917-9B53-4ED52D43BFF8}" dt="2026-02-24T04:22:58.070" v="408"/>
        <pc:sldMkLst>
          <pc:docMk/>
          <pc:sldMk cId="3153727014" sldId="276"/>
        </pc:sldMkLst>
      </pc:sldChg>
      <pc:sldChg chg="add">
        <pc:chgData name="sravanthi Vennapusa" userId="06105391-ac9e-4186-a41e-395274e1b189" providerId="ADAL" clId="{9B2BFCF3-BB9D-4917-9B53-4ED52D43BFF8}" dt="2026-02-24T04:22:58.070" v="408"/>
        <pc:sldMkLst>
          <pc:docMk/>
          <pc:sldMk cId="1491517838" sldId="277"/>
        </pc:sldMkLst>
      </pc:sldChg>
      <pc:sldChg chg="add">
        <pc:chgData name="sravanthi Vennapusa" userId="06105391-ac9e-4186-a41e-395274e1b189" providerId="ADAL" clId="{9B2BFCF3-BB9D-4917-9B53-4ED52D43BFF8}" dt="2026-02-24T04:22:58.070" v="408"/>
        <pc:sldMkLst>
          <pc:docMk/>
          <pc:sldMk cId="2033464780" sldId="278"/>
        </pc:sldMkLst>
      </pc:sldChg>
      <pc:sldChg chg="add">
        <pc:chgData name="sravanthi Vennapusa" userId="06105391-ac9e-4186-a41e-395274e1b189" providerId="ADAL" clId="{9B2BFCF3-BB9D-4917-9B53-4ED52D43BFF8}" dt="2026-02-24T04:22:58.070" v="408"/>
        <pc:sldMkLst>
          <pc:docMk/>
          <pc:sldMk cId="2206920687" sldId="279"/>
        </pc:sldMkLst>
      </pc:sldChg>
      <pc:sldChg chg="add">
        <pc:chgData name="sravanthi Vennapusa" userId="06105391-ac9e-4186-a41e-395274e1b189" providerId="ADAL" clId="{9B2BFCF3-BB9D-4917-9B53-4ED52D43BFF8}" dt="2026-02-24T04:22:58.070" v="408"/>
        <pc:sldMkLst>
          <pc:docMk/>
          <pc:sldMk cId="1140684069" sldId="280"/>
        </pc:sldMkLst>
      </pc:sldChg>
      <pc:sldChg chg="add">
        <pc:chgData name="sravanthi Vennapusa" userId="06105391-ac9e-4186-a41e-395274e1b189" providerId="ADAL" clId="{9B2BFCF3-BB9D-4917-9B53-4ED52D43BFF8}" dt="2026-02-24T04:22:58.070" v="408"/>
        <pc:sldMkLst>
          <pc:docMk/>
          <pc:sldMk cId="2494907874" sldId="281"/>
        </pc:sldMkLst>
      </pc:sldChg>
      <pc:sldChg chg="add">
        <pc:chgData name="sravanthi Vennapusa" userId="06105391-ac9e-4186-a41e-395274e1b189" providerId="ADAL" clId="{9B2BFCF3-BB9D-4917-9B53-4ED52D43BFF8}" dt="2026-02-24T04:22:58.070" v="408"/>
        <pc:sldMkLst>
          <pc:docMk/>
          <pc:sldMk cId="879002229" sldId="282"/>
        </pc:sldMkLst>
      </pc:sldChg>
      <pc:sldChg chg="add">
        <pc:chgData name="sravanthi Vennapusa" userId="06105391-ac9e-4186-a41e-395274e1b189" providerId="ADAL" clId="{9B2BFCF3-BB9D-4917-9B53-4ED52D43BFF8}" dt="2026-02-24T04:22:58.070" v="408"/>
        <pc:sldMkLst>
          <pc:docMk/>
          <pc:sldMk cId="506260058" sldId="284"/>
        </pc:sldMkLst>
      </pc:sldChg>
      <pc:sldChg chg="add del">
        <pc:chgData name="sravanthi Vennapusa" userId="06105391-ac9e-4186-a41e-395274e1b189" providerId="ADAL" clId="{9B2BFCF3-BB9D-4917-9B53-4ED52D43BFF8}" dt="2026-02-24T04:24:46.464" v="418" actId="47"/>
        <pc:sldMkLst>
          <pc:docMk/>
          <pc:sldMk cId="2877298659" sldId="285"/>
        </pc:sldMkLst>
      </pc:sldChg>
      <pc:sldChg chg="add del">
        <pc:chgData name="sravanthi Vennapusa" userId="06105391-ac9e-4186-a41e-395274e1b189" providerId="ADAL" clId="{9B2BFCF3-BB9D-4917-9B53-4ED52D43BFF8}" dt="2026-02-24T04:24:48.343" v="419" actId="47"/>
        <pc:sldMkLst>
          <pc:docMk/>
          <pc:sldMk cId="887379428" sldId="286"/>
        </pc:sldMkLst>
      </pc:sldChg>
      <pc:sldChg chg="add del">
        <pc:chgData name="sravanthi Vennapusa" userId="06105391-ac9e-4186-a41e-395274e1b189" providerId="ADAL" clId="{9B2BFCF3-BB9D-4917-9B53-4ED52D43BFF8}" dt="2026-02-24T04:24:52.024" v="420" actId="47"/>
        <pc:sldMkLst>
          <pc:docMk/>
          <pc:sldMk cId="2680188829" sldId="287"/>
        </pc:sldMkLst>
      </pc:sldChg>
      <pc:sldChg chg="add del">
        <pc:chgData name="sravanthi Vennapusa" userId="06105391-ac9e-4186-a41e-395274e1b189" providerId="ADAL" clId="{9B2BFCF3-BB9D-4917-9B53-4ED52D43BFF8}" dt="2026-02-24T04:24:52.941" v="421" actId="47"/>
        <pc:sldMkLst>
          <pc:docMk/>
          <pc:sldMk cId="435354407" sldId="288"/>
        </pc:sldMkLst>
      </pc:sldChg>
      <pc:sldChg chg="add del">
        <pc:chgData name="sravanthi Vennapusa" userId="06105391-ac9e-4186-a41e-395274e1b189" providerId="ADAL" clId="{9B2BFCF3-BB9D-4917-9B53-4ED52D43BFF8}" dt="2026-02-24T04:24:59.047" v="423" actId="47"/>
        <pc:sldMkLst>
          <pc:docMk/>
          <pc:sldMk cId="3970787877" sldId="290"/>
        </pc:sldMkLst>
      </pc:sldChg>
      <pc:sldChg chg="add del">
        <pc:chgData name="sravanthi Vennapusa" userId="06105391-ac9e-4186-a41e-395274e1b189" providerId="ADAL" clId="{9B2BFCF3-BB9D-4917-9B53-4ED52D43BFF8}" dt="2026-02-24T04:25:04.611" v="425" actId="47"/>
        <pc:sldMkLst>
          <pc:docMk/>
          <pc:sldMk cId="27365564" sldId="291"/>
        </pc:sldMkLst>
      </pc:sldChg>
      <pc:sldChg chg="add">
        <pc:chgData name="sravanthi Vennapusa" userId="06105391-ac9e-4186-a41e-395274e1b189" providerId="ADAL" clId="{9B2BFCF3-BB9D-4917-9B53-4ED52D43BFF8}" dt="2026-02-24T04:22:58.070" v="408"/>
        <pc:sldMkLst>
          <pc:docMk/>
          <pc:sldMk cId="1955099518" sldId="292"/>
        </pc:sldMkLst>
      </pc:sldChg>
      <pc:sldChg chg="add">
        <pc:chgData name="sravanthi Vennapusa" userId="06105391-ac9e-4186-a41e-395274e1b189" providerId="ADAL" clId="{9B2BFCF3-BB9D-4917-9B53-4ED52D43BFF8}" dt="2026-02-24T04:22:58.070" v="408"/>
        <pc:sldMkLst>
          <pc:docMk/>
          <pc:sldMk cId="2667843051" sldId="293"/>
        </pc:sldMkLst>
      </pc:sldChg>
      <pc:sldChg chg="add">
        <pc:chgData name="sravanthi Vennapusa" userId="06105391-ac9e-4186-a41e-395274e1b189" providerId="ADAL" clId="{9B2BFCF3-BB9D-4917-9B53-4ED52D43BFF8}" dt="2026-02-24T04:22:58.070" v="408"/>
        <pc:sldMkLst>
          <pc:docMk/>
          <pc:sldMk cId="1030431257" sldId="294"/>
        </pc:sldMkLst>
      </pc:sldChg>
      <pc:sldChg chg="add del">
        <pc:chgData name="sravanthi Vennapusa" userId="06105391-ac9e-4186-a41e-395274e1b189" providerId="ADAL" clId="{9B2BFCF3-BB9D-4917-9B53-4ED52D43BFF8}" dt="2026-02-24T04:23:13.671" v="409" actId="47"/>
        <pc:sldMkLst>
          <pc:docMk/>
          <pc:sldMk cId="2135628551" sldId="295"/>
        </pc:sldMkLst>
      </pc:sldChg>
      <pc:sldChg chg="add">
        <pc:chgData name="sravanthi Vennapusa" userId="06105391-ac9e-4186-a41e-395274e1b189" providerId="ADAL" clId="{9B2BFCF3-BB9D-4917-9B53-4ED52D43BFF8}" dt="2026-02-24T04:22:58.070" v="408"/>
        <pc:sldMkLst>
          <pc:docMk/>
          <pc:sldMk cId="2501937227" sldId="296"/>
        </pc:sldMkLst>
      </pc:sldChg>
      <pc:sldChg chg="add">
        <pc:chgData name="sravanthi Vennapusa" userId="06105391-ac9e-4186-a41e-395274e1b189" providerId="ADAL" clId="{9B2BFCF3-BB9D-4917-9B53-4ED52D43BFF8}" dt="2026-02-24T04:22:58.070" v="408"/>
        <pc:sldMkLst>
          <pc:docMk/>
          <pc:sldMk cId="2968192578" sldId="297"/>
        </pc:sldMkLst>
      </pc:sldChg>
      <pc:sldChg chg="add">
        <pc:chgData name="sravanthi Vennapusa" userId="06105391-ac9e-4186-a41e-395274e1b189" providerId="ADAL" clId="{9B2BFCF3-BB9D-4917-9B53-4ED52D43BFF8}" dt="2026-02-24T04:22:58.070" v="408"/>
        <pc:sldMkLst>
          <pc:docMk/>
          <pc:sldMk cId="3643799050" sldId="298"/>
        </pc:sldMkLst>
      </pc:sldChg>
      <pc:sldChg chg="add">
        <pc:chgData name="sravanthi Vennapusa" userId="06105391-ac9e-4186-a41e-395274e1b189" providerId="ADAL" clId="{9B2BFCF3-BB9D-4917-9B53-4ED52D43BFF8}" dt="2026-02-24T04:22:58.070" v="408"/>
        <pc:sldMkLst>
          <pc:docMk/>
          <pc:sldMk cId="4018026373" sldId="299"/>
        </pc:sldMkLst>
      </pc:sldChg>
      <pc:sldChg chg="add">
        <pc:chgData name="sravanthi Vennapusa" userId="06105391-ac9e-4186-a41e-395274e1b189" providerId="ADAL" clId="{9B2BFCF3-BB9D-4917-9B53-4ED52D43BFF8}" dt="2026-02-24T04:22:58.070" v="408"/>
        <pc:sldMkLst>
          <pc:docMk/>
          <pc:sldMk cId="1108990351" sldId="300"/>
        </pc:sldMkLst>
      </pc:sldChg>
      <pc:sldChg chg="add">
        <pc:chgData name="sravanthi Vennapusa" userId="06105391-ac9e-4186-a41e-395274e1b189" providerId="ADAL" clId="{9B2BFCF3-BB9D-4917-9B53-4ED52D43BFF8}" dt="2026-02-24T04:22:58.070" v="408"/>
        <pc:sldMkLst>
          <pc:docMk/>
          <pc:sldMk cId="2715424711" sldId="301"/>
        </pc:sldMkLst>
      </pc:sldChg>
      <pc:sldChg chg="add">
        <pc:chgData name="sravanthi Vennapusa" userId="06105391-ac9e-4186-a41e-395274e1b189" providerId="ADAL" clId="{9B2BFCF3-BB9D-4917-9B53-4ED52D43BFF8}" dt="2026-02-24T04:22:58.070" v="408"/>
        <pc:sldMkLst>
          <pc:docMk/>
          <pc:sldMk cId="911392416" sldId="302"/>
        </pc:sldMkLst>
      </pc:sldChg>
      <pc:sldChg chg="add">
        <pc:chgData name="sravanthi Vennapusa" userId="06105391-ac9e-4186-a41e-395274e1b189" providerId="ADAL" clId="{9B2BFCF3-BB9D-4917-9B53-4ED52D43BFF8}" dt="2026-02-24T04:22:58.070" v="408"/>
        <pc:sldMkLst>
          <pc:docMk/>
          <pc:sldMk cId="155456999" sldId="303"/>
        </pc:sldMkLst>
      </pc:sldChg>
      <pc:sldChg chg="add">
        <pc:chgData name="sravanthi Vennapusa" userId="06105391-ac9e-4186-a41e-395274e1b189" providerId="ADAL" clId="{9B2BFCF3-BB9D-4917-9B53-4ED52D43BFF8}" dt="2026-02-24T04:22:58.070" v="408"/>
        <pc:sldMkLst>
          <pc:docMk/>
          <pc:sldMk cId="2246764692" sldId="304"/>
        </pc:sldMkLst>
      </pc:sldChg>
      <pc:sldChg chg="add">
        <pc:chgData name="sravanthi Vennapusa" userId="06105391-ac9e-4186-a41e-395274e1b189" providerId="ADAL" clId="{9B2BFCF3-BB9D-4917-9B53-4ED52D43BFF8}" dt="2026-02-24T04:22:58.070" v="408"/>
        <pc:sldMkLst>
          <pc:docMk/>
          <pc:sldMk cId="1985370357" sldId="305"/>
        </pc:sldMkLst>
      </pc:sldChg>
      <pc:sldChg chg="add del">
        <pc:chgData name="sravanthi Vennapusa" userId="06105391-ac9e-4186-a41e-395274e1b189" providerId="ADAL" clId="{9B2BFCF3-BB9D-4917-9B53-4ED52D43BFF8}" dt="2026-02-24T04:25:38.597" v="426" actId="47"/>
        <pc:sldMkLst>
          <pc:docMk/>
          <pc:sldMk cId="1237095455" sldId="306"/>
        </pc:sldMkLst>
      </pc:sldChg>
      <pc:sldChg chg="modSp add del mod">
        <pc:chgData name="sravanthi Vennapusa" userId="06105391-ac9e-4186-a41e-395274e1b189" providerId="ADAL" clId="{9B2BFCF3-BB9D-4917-9B53-4ED52D43BFF8}" dt="2026-02-24T04:29:28.164" v="486" actId="47"/>
        <pc:sldMkLst>
          <pc:docMk/>
          <pc:sldMk cId="1880535523" sldId="307"/>
        </pc:sldMkLst>
        <pc:spChg chg="mod">
          <ac:chgData name="sravanthi Vennapusa" userId="06105391-ac9e-4186-a41e-395274e1b189" providerId="ADAL" clId="{9B2BFCF3-BB9D-4917-9B53-4ED52D43BFF8}" dt="2026-02-24T04:29:18.917" v="485" actId="20577"/>
          <ac:spMkLst>
            <pc:docMk/>
            <pc:sldMk cId="1880535523" sldId="307"/>
            <ac:spMk id="5" creationId="{C09BD47A-C053-9364-D7A2-0B8A8AAF56F8}"/>
          </ac:spMkLst>
        </pc:spChg>
      </pc:sldChg>
      <pc:sldChg chg="modSp mod">
        <pc:chgData name="sravanthi Vennapusa" userId="06105391-ac9e-4186-a41e-395274e1b189" providerId="ADAL" clId="{9B2BFCF3-BB9D-4917-9B53-4ED52D43BFF8}" dt="2026-02-24T03:42:25.127" v="1" actId="27636"/>
        <pc:sldMkLst>
          <pc:docMk/>
          <pc:sldMk cId="3000938833" sldId="340"/>
        </pc:sldMkLst>
        <pc:spChg chg="mod">
          <ac:chgData name="sravanthi Vennapusa" userId="06105391-ac9e-4186-a41e-395274e1b189" providerId="ADAL" clId="{9B2BFCF3-BB9D-4917-9B53-4ED52D43BFF8}" dt="2026-02-24T03:42:25.127" v="1" actId="27636"/>
          <ac:spMkLst>
            <pc:docMk/>
            <pc:sldMk cId="3000938833" sldId="340"/>
            <ac:spMk id="5" creationId="{7677E159-7A15-B8BB-ADF3-07F80BC9E74F}"/>
          </ac:spMkLst>
        </pc:spChg>
      </pc:sldChg>
      <pc:sldChg chg="addSp delSp modSp mod">
        <pc:chgData name="sravanthi Vennapusa" userId="06105391-ac9e-4186-a41e-395274e1b189" providerId="ADAL" clId="{9B2BFCF3-BB9D-4917-9B53-4ED52D43BFF8}" dt="2026-02-24T03:48:36.238" v="111" actId="20577"/>
        <pc:sldMkLst>
          <pc:docMk/>
          <pc:sldMk cId="3024634720" sldId="357"/>
        </pc:sldMkLst>
        <pc:spChg chg="del">
          <ac:chgData name="sravanthi Vennapusa" userId="06105391-ac9e-4186-a41e-395274e1b189" providerId="ADAL" clId="{9B2BFCF3-BB9D-4917-9B53-4ED52D43BFF8}" dt="2026-02-24T03:45:48.589" v="32" actId="3680"/>
          <ac:spMkLst>
            <pc:docMk/>
            <pc:sldMk cId="3024634720" sldId="357"/>
            <ac:spMk id="3" creationId="{A56D59DA-36F6-D812-9C2F-DA747BBA633C}"/>
          </ac:spMkLst>
        </pc:spChg>
        <pc:spChg chg="mod">
          <ac:chgData name="sravanthi Vennapusa" userId="06105391-ac9e-4186-a41e-395274e1b189" providerId="ADAL" clId="{9B2BFCF3-BB9D-4917-9B53-4ED52D43BFF8}" dt="2026-02-24T03:48:36.238" v="111" actId="20577"/>
          <ac:spMkLst>
            <pc:docMk/>
            <pc:sldMk cId="3024634720" sldId="357"/>
            <ac:spMk id="5" creationId="{DF7FA145-1DD1-F115-9E22-C1A6805798AE}"/>
          </ac:spMkLst>
        </pc:spChg>
        <pc:graphicFrameChg chg="add mod ord modGraphic">
          <ac:chgData name="sravanthi Vennapusa" userId="06105391-ac9e-4186-a41e-395274e1b189" providerId="ADAL" clId="{9B2BFCF3-BB9D-4917-9B53-4ED52D43BFF8}" dt="2026-02-24T03:47:38.096" v="81" actId="20577"/>
          <ac:graphicFrameMkLst>
            <pc:docMk/>
            <pc:sldMk cId="3024634720" sldId="357"/>
            <ac:graphicFrameMk id="2" creationId="{A7004D41-EB73-CDEF-260A-A8A223557FE9}"/>
          </ac:graphicFrameMkLst>
        </pc:graphicFrameChg>
      </pc:sldChg>
      <pc:sldChg chg="modSp mod ord">
        <pc:chgData name="sravanthi Vennapusa" userId="06105391-ac9e-4186-a41e-395274e1b189" providerId="ADAL" clId="{9B2BFCF3-BB9D-4917-9B53-4ED52D43BFF8}" dt="2026-02-24T03:48:46.818" v="117" actId="20577"/>
        <pc:sldMkLst>
          <pc:docMk/>
          <pc:sldMk cId="3513924967" sldId="358"/>
        </pc:sldMkLst>
        <pc:spChg chg="mod">
          <ac:chgData name="sravanthi Vennapusa" userId="06105391-ac9e-4186-a41e-395274e1b189" providerId="ADAL" clId="{9B2BFCF3-BB9D-4917-9B53-4ED52D43BFF8}" dt="2026-02-24T03:44:50.532" v="2"/>
          <ac:spMkLst>
            <pc:docMk/>
            <pc:sldMk cId="3513924967" sldId="358"/>
            <ac:spMk id="3" creationId="{FAED80FE-8C7C-CB6A-FA3C-DBA61EB6645B}"/>
          </ac:spMkLst>
        </pc:spChg>
        <pc:spChg chg="mod">
          <ac:chgData name="sravanthi Vennapusa" userId="06105391-ac9e-4186-a41e-395274e1b189" providerId="ADAL" clId="{9B2BFCF3-BB9D-4917-9B53-4ED52D43BFF8}" dt="2026-02-24T03:48:46.818" v="117" actId="20577"/>
          <ac:spMkLst>
            <pc:docMk/>
            <pc:sldMk cId="3513924967" sldId="358"/>
            <ac:spMk id="5" creationId="{CB78163A-06D3-6B43-C13C-30782A5F861A}"/>
          </ac:spMkLst>
        </pc:spChg>
      </pc:sldChg>
      <pc:sldChg chg="addSp delSp modSp mod">
        <pc:chgData name="sravanthi Vennapusa" userId="06105391-ac9e-4186-a41e-395274e1b189" providerId="ADAL" clId="{9B2BFCF3-BB9D-4917-9B53-4ED52D43BFF8}" dt="2026-02-24T03:48:28.311" v="98" actId="20577"/>
        <pc:sldMkLst>
          <pc:docMk/>
          <pc:sldMk cId="913317563" sldId="359"/>
        </pc:sldMkLst>
        <pc:spChg chg="del">
          <ac:chgData name="sravanthi Vennapusa" userId="06105391-ac9e-4186-a41e-395274e1b189" providerId="ADAL" clId="{9B2BFCF3-BB9D-4917-9B53-4ED52D43BFF8}" dt="2026-02-24T03:48:17.572" v="82" actId="3680"/>
          <ac:spMkLst>
            <pc:docMk/>
            <pc:sldMk cId="913317563" sldId="359"/>
            <ac:spMk id="3" creationId="{11A508BE-EA45-7FF9-C435-A13C88DB7CBF}"/>
          </ac:spMkLst>
        </pc:spChg>
        <pc:spChg chg="mod">
          <ac:chgData name="sravanthi Vennapusa" userId="06105391-ac9e-4186-a41e-395274e1b189" providerId="ADAL" clId="{9B2BFCF3-BB9D-4917-9B53-4ED52D43BFF8}" dt="2026-02-24T03:48:28.311" v="98" actId="20577"/>
          <ac:spMkLst>
            <pc:docMk/>
            <pc:sldMk cId="913317563" sldId="359"/>
            <ac:spMk id="5" creationId="{CA0F17CA-C184-6D4E-9D3A-95B559B6CB48}"/>
          </ac:spMkLst>
        </pc:spChg>
        <pc:graphicFrameChg chg="add mod ord modGraphic">
          <ac:chgData name="sravanthi Vennapusa" userId="06105391-ac9e-4186-a41e-395274e1b189" providerId="ADAL" clId="{9B2BFCF3-BB9D-4917-9B53-4ED52D43BFF8}" dt="2026-02-24T03:48:19.438" v="83"/>
          <ac:graphicFrameMkLst>
            <pc:docMk/>
            <pc:sldMk cId="913317563" sldId="359"/>
            <ac:graphicFrameMk id="2" creationId="{99BA93D3-6E6B-EF0D-A365-1B4869BAA57C}"/>
          </ac:graphicFrameMkLst>
        </pc:graphicFrameChg>
      </pc:sldChg>
      <pc:sldChg chg="addSp delSp modSp mod">
        <pc:chgData name="sravanthi Vennapusa" userId="06105391-ac9e-4186-a41e-395274e1b189" providerId="ADAL" clId="{9B2BFCF3-BB9D-4917-9B53-4ED52D43BFF8}" dt="2026-02-24T04:08:53.851" v="344" actId="20577"/>
        <pc:sldMkLst>
          <pc:docMk/>
          <pc:sldMk cId="1837357350" sldId="360"/>
        </pc:sldMkLst>
        <pc:spChg chg="del">
          <ac:chgData name="sravanthi Vennapusa" userId="06105391-ac9e-4186-a41e-395274e1b189" providerId="ADAL" clId="{9B2BFCF3-BB9D-4917-9B53-4ED52D43BFF8}" dt="2026-02-24T03:54:48.343" v="142" actId="3680"/>
          <ac:spMkLst>
            <pc:docMk/>
            <pc:sldMk cId="1837357350" sldId="360"/>
            <ac:spMk id="3" creationId="{EF9ED44F-2EC5-53AE-7564-313A4D429103}"/>
          </ac:spMkLst>
        </pc:spChg>
        <pc:spChg chg="mod">
          <ac:chgData name="sravanthi Vennapusa" userId="06105391-ac9e-4186-a41e-395274e1b189" providerId="ADAL" clId="{9B2BFCF3-BB9D-4917-9B53-4ED52D43BFF8}" dt="2026-02-24T04:08:53.851" v="344" actId="20577"/>
          <ac:spMkLst>
            <pc:docMk/>
            <pc:sldMk cId="1837357350" sldId="360"/>
            <ac:spMk id="5" creationId="{CB24071D-CD55-D045-4FD3-734A1E4DF43D}"/>
          </ac:spMkLst>
        </pc:spChg>
        <pc:spChg chg="add del mod">
          <ac:chgData name="sravanthi Vennapusa" userId="06105391-ac9e-4186-a41e-395274e1b189" providerId="ADAL" clId="{9B2BFCF3-BB9D-4917-9B53-4ED52D43BFF8}" dt="2026-02-24T03:58:41.044" v="171" actId="21"/>
          <ac:spMkLst>
            <pc:docMk/>
            <pc:sldMk cId="1837357350" sldId="360"/>
            <ac:spMk id="6" creationId="{BE780449-C012-8264-657E-AF2CA11DD163}"/>
          </ac:spMkLst>
        </pc:spChg>
        <pc:graphicFrameChg chg="add del mod ord modGraphic">
          <ac:chgData name="sravanthi Vennapusa" userId="06105391-ac9e-4186-a41e-395274e1b189" providerId="ADAL" clId="{9B2BFCF3-BB9D-4917-9B53-4ED52D43BFF8}" dt="2026-02-24T03:59:05.242" v="174" actId="14734"/>
          <ac:graphicFrameMkLst>
            <pc:docMk/>
            <pc:sldMk cId="1837357350" sldId="360"/>
            <ac:graphicFrameMk id="2" creationId="{195BAD43-EC90-EB49-A537-39D2AFC6097D}"/>
          </ac:graphicFrameMkLst>
        </pc:graphicFrameChg>
      </pc:sldChg>
      <pc:sldChg chg="del">
        <pc:chgData name="sravanthi Vennapusa" userId="06105391-ac9e-4186-a41e-395274e1b189" providerId="ADAL" clId="{9B2BFCF3-BB9D-4917-9B53-4ED52D43BFF8}" dt="2026-02-24T04:23:17.425" v="411" actId="47"/>
        <pc:sldMkLst>
          <pc:docMk/>
          <pc:sldMk cId="2665416084" sldId="361"/>
        </pc:sldMkLst>
      </pc:sldChg>
      <pc:sldChg chg="addSp delSp modSp add mod">
        <pc:chgData name="sravanthi Vennapusa" userId="06105391-ac9e-4186-a41e-395274e1b189" providerId="ADAL" clId="{9B2BFCF3-BB9D-4917-9B53-4ED52D43BFF8}" dt="2026-02-24T04:09:12.437" v="350" actId="20577"/>
        <pc:sldMkLst>
          <pc:docMk/>
          <pc:sldMk cId="2291774204" sldId="367"/>
        </pc:sldMkLst>
        <pc:spChg chg="del">
          <ac:chgData name="sravanthi Vennapusa" userId="06105391-ac9e-4186-a41e-395274e1b189" providerId="ADAL" clId="{9B2BFCF3-BB9D-4917-9B53-4ED52D43BFF8}" dt="2026-02-24T04:00:39.189" v="175" actId="3680"/>
          <ac:spMkLst>
            <pc:docMk/>
            <pc:sldMk cId="2291774204" sldId="367"/>
            <ac:spMk id="3" creationId="{1381BACF-B7E0-2A34-19AE-2AE42473AFDA}"/>
          </ac:spMkLst>
        </pc:spChg>
        <pc:spChg chg="mod">
          <ac:chgData name="sravanthi Vennapusa" userId="06105391-ac9e-4186-a41e-395274e1b189" providerId="ADAL" clId="{9B2BFCF3-BB9D-4917-9B53-4ED52D43BFF8}" dt="2026-02-24T04:09:12.437" v="350" actId="20577"/>
          <ac:spMkLst>
            <pc:docMk/>
            <pc:sldMk cId="2291774204" sldId="367"/>
            <ac:spMk id="5" creationId="{8EC4C42C-2B07-8432-3538-8930A10A89A2}"/>
          </ac:spMkLst>
        </pc:spChg>
        <pc:graphicFrameChg chg="add mod ord modGraphic">
          <ac:chgData name="sravanthi Vennapusa" userId="06105391-ac9e-4186-a41e-395274e1b189" providerId="ADAL" clId="{9B2BFCF3-BB9D-4917-9B53-4ED52D43BFF8}" dt="2026-02-24T04:08:36.452" v="342" actId="14100"/>
          <ac:graphicFrameMkLst>
            <pc:docMk/>
            <pc:sldMk cId="2291774204" sldId="367"/>
            <ac:graphicFrameMk id="2" creationId="{82BD177F-5B8D-6DEF-6F88-A753F9CA6EF0}"/>
          </ac:graphicFrameMkLst>
        </pc:graphicFrameChg>
      </pc:sldChg>
      <pc:sldChg chg="add del">
        <pc:chgData name="sravanthi Vennapusa" userId="06105391-ac9e-4186-a41e-395274e1b189" providerId="ADAL" clId="{9B2BFCF3-BB9D-4917-9B53-4ED52D43BFF8}" dt="2026-02-24T04:20:37.737" v="397" actId="47"/>
        <pc:sldMkLst>
          <pc:docMk/>
          <pc:sldMk cId="475408874" sldId="368"/>
        </pc:sldMkLst>
      </pc:sldChg>
      <pc:sldChg chg="new del">
        <pc:chgData name="sravanthi Vennapusa" userId="06105391-ac9e-4186-a41e-395274e1b189" providerId="ADAL" clId="{9B2BFCF3-BB9D-4917-9B53-4ED52D43BFF8}" dt="2026-02-24T04:23:20.155" v="414" actId="47"/>
        <pc:sldMkLst>
          <pc:docMk/>
          <pc:sldMk cId="2083907445" sldId="368"/>
        </pc:sldMkLst>
      </pc:sldChg>
      <pc:sldChg chg="add del setBg">
        <pc:chgData name="sravanthi Vennapusa" userId="06105391-ac9e-4186-a41e-395274e1b189" providerId="ADAL" clId="{9B2BFCF3-BB9D-4917-9B53-4ED52D43BFF8}" dt="2026-02-24T04:23:21.749" v="415" actId="47"/>
        <pc:sldMkLst>
          <pc:docMk/>
          <pc:sldMk cId="139451447" sldId="369"/>
        </pc:sldMkLst>
      </pc:sldChg>
      <pc:sldChg chg="add del">
        <pc:chgData name="sravanthi Vennapusa" userId="06105391-ac9e-4186-a41e-395274e1b189" providerId="ADAL" clId="{9B2BFCF3-BB9D-4917-9B53-4ED52D43BFF8}" dt="2026-02-24T04:21:09.750" v="400" actId="47"/>
        <pc:sldMkLst>
          <pc:docMk/>
          <pc:sldMk cId="2432031250" sldId="369"/>
        </pc:sldMkLst>
      </pc:sldChg>
      <pc:sldChg chg="add">
        <pc:chgData name="sravanthi Vennapusa" userId="06105391-ac9e-4186-a41e-395274e1b189" providerId="ADAL" clId="{9B2BFCF3-BB9D-4917-9B53-4ED52D43BFF8}" dt="2026-02-24T04:22:58.070" v="408"/>
        <pc:sldMkLst>
          <pc:docMk/>
          <pc:sldMk cId="621666641" sldId="370"/>
        </pc:sldMkLst>
      </pc:sldChg>
      <pc:sldChg chg="add del">
        <pc:chgData name="sravanthi Vennapusa" userId="06105391-ac9e-4186-a41e-395274e1b189" providerId="ADAL" clId="{9B2BFCF3-BB9D-4917-9B53-4ED52D43BFF8}" dt="2026-02-24T04:21:08.272" v="399" actId="47"/>
        <pc:sldMkLst>
          <pc:docMk/>
          <pc:sldMk cId="3315629216" sldId="370"/>
        </pc:sldMkLst>
      </pc:sldChg>
      <pc:sldChg chg="add">
        <pc:chgData name="sravanthi Vennapusa" userId="06105391-ac9e-4186-a41e-395274e1b189" providerId="ADAL" clId="{9B2BFCF3-BB9D-4917-9B53-4ED52D43BFF8}" dt="2026-02-24T04:22:58.070" v="408"/>
        <pc:sldMkLst>
          <pc:docMk/>
          <pc:sldMk cId="505878861" sldId="371"/>
        </pc:sldMkLst>
      </pc:sldChg>
      <pc:sldChg chg="add del">
        <pc:chgData name="sravanthi Vennapusa" userId="06105391-ac9e-4186-a41e-395274e1b189" providerId="ADAL" clId="{9B2BFCF3-BB9D-4917-9B53-4ED52D43BFF8}" dt="2026-02-24T04:21:12.325" v="401" actId="47"/>
        <pc:sldMkLst>
          <pc:docMk/>
          <pc:sldMk cId="832827428" sldId="371"/>
        </pc:sldMkLst>
      </pc:sldChg>
      <pc:sldChg chg="add">
        <pc:chgData name="sravanthi Vennapusa" userId="06105391-ac9e-4186-a41e-395274e1b189" providerId="ADAL" clId="{9B2BFCF3-BB9D-4917-9B53-4ED52D43BFF8}" dt="2026-02-24T04:22:58.070" v="408"/>
        <pc:sldMkLst>
          <pc:docMk/>
          <pc:sldMk cId="1277165151" sldId="372"/>
        </pc:sldMkLst>
      </pc:sldChg>
      <pc:sldChg chg="add del">
        <pc:chgData name="sravanthi Vennapusa" userId="06105391-ac9e-4186-a41e-395274e1b189" providerId="ADAL" clId="{9B2BFCF3-BB9D-4917-9B53-4ED52D43BFF8}" dt="2026-02-24T04:21:17.873" v="404" actId="47"/>
        <pc:sldMkLst>
          <pc:docMk/>
          <pc:sldMk cId="3989564858" sldId="372"/>
        </pc:sldMkLst>
      </pc:sldChg>
      <pc:sldChg chg="add del">
        <pc:chgData name="sravanthi Vennapusa" userId="06105391-ac9e-4186-a41e-395274e1b189" providerId="ADAL" clId="{9B2BFCF3-BB9D-4917-9B53-4ED52D43BFF8}" dt="2026-02-24T04:21:14.199" v="402" actId="47"/>
        <pc:sldMkLst>
          <pc:docMk/>
          <pc:sldMk cId="618977026" sldId="373"/>
        </pc:sldMkLst>
      </pc:sldChg>
      <pc:sldChg chg="add">
        <pc:chgData name="sravanthi Vennapusa" userId="06105391-ac9e-4186-a41e-395274e1b189" providerId="ADAL" clId="{9B2BFCF3-BB9D-4917-9B53-4ED52D43BFF8}" dt="2026-02-24T04:22:58.070" v="408"/>
        <pc:sldMkLst>
          <pc:docMk/>
          <pc:sldMk cId="3174156450" sldId="373"/>
        </pc:sldMkLst>
      </pc:sldChg>
      <pc:sldChg chg="add del">
        <pc:chgData name="sravanthi Vennapusa" userId="06105391-ac9e-4186-a41e-395274e1b189" providerId="ADAL" clId="{9B2BFCF3-BB9D-4917-9B53-4ED52D43BFF8}" dt="2026-02-24T04:21:16.259" v="403" actId="47"/>
        <pc:sldMkLst>
          <pc:docMk/>
          <pc:sldMk cId="2982577244" sldId="374"/>
        </pc:sldMkLst>
      </pc:sldChg>
      <pc:sldChg chg="add del">
        <pc:chgData name="sravanthi Vennapusa" userId="06105391-ac9e-4186-a41e-395274e1b189" providerId="ADAL" clId="{9B2BFCF3-BB9D-4917-9B53-4ED52D43BFF8}" dt="2026-02-24T04:24:58.092" v="422" actId="47"/>
        <pc:sldMkLst>
          <pc:docMk/>
          <pc:sldMk cId="3339780016" sldId="37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88558" y="729469"/>
            <a:ext cx="9014348" cy="2402006"/>
          </a:xfrm>
        </p:spPr>
        <p:txBody>
          <a:bodyPr anchor="b">
            <a:normAutofit/>
          </a:bodyPr>
          <a:lstStyle/>
          <a:p>
            <a:r>
              <a:rPr lang="en-US" sz="4400" dirty="0"/>
              <a:t>PIPE</a:t>
            </a:r>
            <a:r>
              <a:rPr lang="en-US" sz="4800" dirty="0"/>
              <a:t>(</a:t>
            </a:r>
            <a:r>
              <a:rPr lang="en-US" sz="4000" dirty="0"/>
              <a:t>PHY Interface for the PCI Express</a:t>
            </a:r>
            <a:r>
              <a:rPr lang="en-US" dirty="0"/>
              <a:t>)</a:t>
            </a: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799576" y="5079628"/>
            <a:ext cx="3827986" cy="1020664"/>
          </a:xfrm>
        </p:spPr>
        <p:txBody>
          <a:bodyPr anchor="ctr">
            <a:normAutofit fontScale="92500" lnSpcReduction="20000"/>
          </a:bodyPr>
          <a:lstStyle/>
          <a:p>
            <a:pPr algn="l"/>
            <a:r>
              <a:rPr lang="en-US">
                <a:solidFill>
                  <a:srgbClr val="FFFFFF"/>
                </a:solidFill>
              </a:rPr>
              <a:t>           V.SRAVANTHI</a:t>
            </a:r>
          </a:p>
          <a:p>
            <a:pPr algn="l"/>
            <a:r>
              <a:rPr lang="en-US">
                <a:solidFill>
                  <a:srgbClr val="FFFFFF"/>
                </a:solidFill>
              </a:rPr>
              <a:t>CHIPWEAVE TECHNOLOGIES PVT LMD</a:t>
            </a:r>
            <a:endParaRPr lang="en-US" dirty="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1B35B5-1EF0-7F98-DE21-64AEB3584BC4}"/>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US" dirty="0"/>
              <a:t>INTRODUCTION</a:t>
            </a:r>
          </a:p>
          <a:p>
            <a:r>
              <a:rPr lang="en-US" dirty="0">
                <a:ea typeface="+mn-lt"/>
                <a:cs typeface="+mn-lt"/>
              </a:rPr>
              <a:t>FEATURES</a:t>
            </a:r>
          </a:p>
          <a:p>
            <a:r>
              <a:rPr lang="en-US" dirty="0">
                <a:ea typeface="+mn-lt"/>
                <a:cs typeface="+mn-lt"/>
              </a:rPr>
              <a:t>ARCHITECTURE</a:t>
            </a:r>
          </a:p>
          <a:p>
            <a:r>
              <a:rPr lang="en-US" dirty="0">
                <a:ea typeface="+mn-lt"/>
                <a:cs typeface="+mn-lt"/>
              </a:rPr>
              <a:t>INTERFACE SIGNAL DESCRIPTION</a:t>
            </a:r>
          </a:p>
          <a:p>
            <a:r>
              <a:rPr lang="en-US" dirty="0">
                <a:ea typeface="+mn-lt"/>
                <a:cs typeface="+mn-lt"/>
              </a:rPr>
              <a:t>MAC REGISTERS</a:t>
            </a:r>
          </a:p>
          <a:p>
            <a:r>
              <a:rPr lang="en-US" dirty="0">
                <a:ea typeface="+mn-lt"/>
                <a:cs typeface="+mn-lt"/>
              </a:rPr>
              <a:t>PHY REGISTERS</a:t>
            </a:r>
          </a:p>
          <a:p>
            <a:r>
              <a:rPr lang="en-US" dirty="0">
                <a:ea typeface="+mn-lt"/>
                <a:cs typeface="+mn-lt"/>
              </a:rPr>
              <a:t>PIPE Operational </a:t>
            </a:r>
            <a:r>
              <a:rPr lang="en-US" dirty="0" err="1">
                <a:ea typeface="+mn-lt"/>
                <a:cs typeface="+mn-lt"/>
              </a:rPr>
              <a:t>Behaviour</a:t>
            </a:r>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p:txBody>
      </p:sp>
      <p:sp>
        <p:nvSpPr>
          <p:cNvPr id="5" name="Title 1">
            <a:extLst>
              <a:ext uri="{FF2B5EF4-FFF2-40B4-BE49-F238E27FC236}">
                <a16:creationId xmlns:a16="http://schemas.microsoft.com/office/drawing/2014/main" id="{08C32F6C-B7EE-A57C-0B32-A168B30F2069}"/>
              </a:ext>
            </a:extLst>
          </p:cNvPr>
          <p:cNvSpPr>
            <a:spLocks noGrp="1"/>
          </p:cNvSpPr>
          <p:nvPr>
            <p:ph type="title"/>
          </p:nvPr>
        </p:nvSpPr>
        <p:spPr>
          <a:xfrm>
            <a:off x="4313" y="5691"/>
            <a:ext cx="12168996" cy="865489"/>
          </a:xfrm>
          <a:solidFill>
            <a:schemeClr val="accent6"/>
          </a:solidFill>
        </p:spPr>
        <p:txBody>
          <a:bodyPr/>
          <a:lstStyle/>
          <a:p>
            <a:pPr algn="ctr"/>
            <a:r>
              <a:rPr lang="en-US"/>
              <a:t>CONTENTS</a:t>
            </a:r>
          </a:p>
        </p:txBody>
      </p:sp>
    </p:spTree>
    <p:extLst>
      <p:ext uri="{BB962C8B-B14F-4D97-AF65-F5344CB8AC3E}">
        <p14:creationId xmlns:p14="http://schemas.microsoft.com/office/powerpoint/2010/main" val="905354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79F1A-FC7D-935D-9D47-C3E2ACA8E9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796F40-A93D-54C3-7C55-37D0E19C4218}"/>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IN" dirty="0"/>
              <a:t>PIPE stands for PHY Interface for PCI Express.</a:t>
            </a:r>
          </a:p>
          <a:p>
            <a:r>
              <a:rPr lang="en-IN" dirty="0"/>
              <a:t>PCIe Stands for Peripheral Component Interconnect Express.</a:t>
            </a:r>
          </a:p>
          <a:p>
            <a:pPr marL="0" indent="0">
              <a:buNone/>
            </a:pPr>
            <a:r>
              <a:rPr lang="en-IN" dirty="0">
                <a:solidFill>
                  <a:srgbClr val="0070C0"/>
                </a:solidFill>
              </a:rPr>
              <a:t>                         PCIe Physical Layer</a:t>
            </a:r>
          </a:p>
          <a:p>
            <a:r>
              <a:rPr lang="en-GB" dirty="0"/>
              <a:t>The PCIe PHY layer handles the low level PCIe protocol and </a:t>
            </a:r>
            <a:r>
              <a:rPr lang="en-GB" dirty="0" err="1"/>
              <a:t>signaling</a:t>
            </a:r>
            <a:r>
              <a:rPr lang="en-GB" dirty="0"/>
              <a:t>.</a:t>
            </a:r>
          </a:p>
          <a:p>
            <a:r>
              <a:rPr lang="en-GB" dirty="0"/>
              <a:t> It defines a standard interface between a PHY and a Media Access Layer (MAC) and a Link Layer ASIC</a:t>
            </a:r>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233035C6-705C-CBB5-32D4-2A616EAC3C89}"/>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Introduction</a:t>
            </a:r>
          </a:p>
        </p:txBody>
      </p:sp>
    </p:spTree>
    <p:extLst>
      <p:ext uri="{BB962C8B-B14F-4D97-AF65-F5344CB8AC3E}">
        <p14:creationId xmlns:p14="http://schemas.microsoft.com/office/powerpoint/2010/main" val="1746917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6D7DD-8C40-1369-1CEA-FA97273CBA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FFDF27-EC57-4010-6A7F-3BA7DBC2EB4A}"/>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GB" dirty="0"/>
              <a:t> </a:t>
            </a:r>
            <a:r>
              <a:rPr lang="en-GB" sz="2400" dirty="0"/>
              <a:t>The standard PHY interface enables multiple IP sources for the PCIe logical layer and provides a target interface for PCIe PHY vendors. </a:t>
            </a:r>
          </a:p>
          <a:p>
            <a:r>
              <a:rPr lang="en-GB" sz="2400" dirty="0"/>
              <a:t> Support for 2.5 GT/s ,5.0 GT/s, 8.0 GT/ s and 16 GT/s and 32 GT/s, 64 GT/s and 128 GT/s serial data transmission rate. </a:t>
            </a:r>
          </a:p>
          <a:p>
            <a:r>
              <a:rPr lang="en-GB" sz="2400" dirty="0"/>
              <a:t> Utilizes of 8-bit, 16-bit, or 32-bit parallel interfaces to transmit and receive PCIe data. Additionally, it supports a 64-bit interface (in SerDes architecture only). </a:t>
            </a:r>
          </a:p>
          <a:p>
            <a:r>
              <a:rPr lang="en-GB" sz="2400" dirty="0"/>
              <a:t> Allowed integration of high-speed components into a single functional block as seen by the endpoint device designer. </a:t>
            </a:r>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D178FE57-45C5-D054-18A1-1AB08CD9D787}"/>
              </a:ext>
            </a:extLst>
          </p:cNvPr>
          <p:cNvSpPr>
            <a:spLocks noGrp="1"/>
          </p:cNvSpPr>
          <p:nvPr>
            <p:ph type="title"/>
          </p:nvPr>
        </p:nvSpPr>
        <p:spPr>
          <a:xfrm>
            <a:off x="4313" y="5691"/>
            <a:ext cx="12168996" cy="865489"/>
          </a:xfrm>
          <a:solidFill>
            <a:schemeClr val="accent6"/>
          </a:solidFill>
        </p:spPr>
        <p:txBody>
          <a:bodyPr/>
          <a:lstStyle/>
          <a:p>
            <a:pPr algn="ctr"/>
            <a:r>
              <a:rPr lang="en-IN" sz="4000" dirty="0"/>
              <a:t>Features of PCIe PHY Layer</a:t>
            </a:r>
            <a:endParaRPr lang="en-US" sz="4000" dirty="0">
              <a:latin typeface="Aptos"/>
            </a:endParaRPr>
          </a:p>
        </p:txBody>
      </p:sp>
    </p:spTree>
    <p:extLst>
      <p:ext uri="{BB962C8B-B14F-4D97-AF65-F5344CB8AC3E}">
        <p14:creationId xmlns:p14="http://schemas.microsoft.com/office/powerpoint/2010/main" val="1255157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DEC1C-D8ED-10E2-2EE3-7849897C25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637361-54B6-1745-B5F7-97431C5BE02F}"/>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IN" dirty="0"/>
              <a:t>8b/10b encoding and decoding, and error indication.</a:t>
            </a:r>
          </a:p>
          <a:p>
            <a:r>
              <a:rPr lang="en-IN" dirty="0"/>
              <a:t> 128b/130b encoding and decoding, and error indication. </a:t>
            </a:r>
          </a:p>
          <a:p>
            <a:r>
              <a:rPr lang="en-IN" dirty="0"/>
              <a:t>Receiver detection. </a:t>
            </a:r>
          </a:p>
          <a:p>
            <a:r>
              <a:rPr lang="en-IN" dirty="0"/>
              <a:t> Beacon transmission and reception.</a:t>
            </a:r>
          </a:p>
          <a:p>
            <a:r>
              <a:rPr lang="en-GB" dirty="0"/>
              <a:t> Data and clock recovery from serial stream on the PCIe bus</a:t>
            </a:r>
            <a:endParaRPr lang="en-IN" dirty="0"/>
          </a:p>
          <a:p>
            <a:pPr marL="0" indent="0">
              <a:buNone/>
            </a:pPr>
            <a:endParaRPr lang="en-IN" dirty="0"/>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7677E159-7A15-B8BB-ADF3-07F80BC9E74F}"/>
              </a:ext>
            </a:extLst>
          </p:cNvPr>
          <p:cNvSpPr>
            <a:spLocks noGrp="1"/>
          </p:cNvSpPr>
          <p:nvPr>
            <p:ph type="title"/>
          </p:nvPr>
        </p:nvSpPr>
        <p:spPr>
          <a:xfrm>
            <a:off x="4313" y="5691"/>
            <a:ext cx="12168996" cy="865489"/>
          </a:xfrm>
          <a:solidFill>
            <a:schemeClr val="accent6"/>
          </a:solidFill>
        </p:spPr>
        <p:txBody>
          <a:bodyPr>
            <a:normAutofit/>
          </a:bodyPr>
          <a:lstStyle/>
          <a:p>
            <a:pPr algn="ctr"/>
            <a:r>
              <a:rPr lang="en-IN" sz="4000"/>
              <a:t>Features of PCIe PHY Layer</a:t>
            </a:r>
            <a:endParaRPr lang="en-US" sz="4000" dirty="0">
              <a:latin typeface="Aptos"/>
            </a:endParaRPr>
          </a:p>
        </p:txBody>
      </p:sp>
    </p:spTree>
    <p:extLst>
      <p:ext uri="{BB962C8B-B14F-4D97-AF65-F5344CB8AC3E}">
        <p14:creationId xmlns:p14="http://schemas.microsoft.com/office/powerpoint/2010/main" val="3000938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B9E36-1FD4-E24E-0219-C7182A62295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5966AEC-0E65-9650-2C58-C0A1FD3088BB}"/>
              </a:ext>
            </a:extLst>
          </p:cNvPr>
          <p:cNvSpPr>
            <a:spLocks noGrp="1"/>
          </p:cNvSpPr>
          <p:nvPr>
            <p:ph type="title"/>
          </p:nvPr>
        </p:nvSpPr>
        <p:spPr>
          <a:xfrm>
            <a:off x="4313" y="5691"/>
            <a:ext cx="12168996" cy="865489"/>
          </a:xfrm>
          <a:solidFill>
            <a:schemeClr val="accent6"/>
          </a:solidFill>
        </p:spPr>
        <p:txBody>
          <a:bodyPr/>
          <a:lstStyle/>
          <a:p>
            <a:pPr algn="ctr"/>
            <a:r>
              <a:rPr lang="en-IN" sz="4000" dirty="0"/>
              <a:t> Partitioning PHY layer for PCIe </a:t>
            </a:r>
            <a:endParaRPr lang="en-US" sz="4000" dirty="0">
              <a:latin typeface="Aptos"/>
            </a:endParaRPr>
          </a:p>
        </p:txBody>
      </p:sp>
      <p:pic>
        <p:nvPicPr>
          <p:cNvPr id="2" name="Content Placeholder 4">
            <a:extLst>
              <a:ext uri="{FF2B5EF4-FFF2-40B4-BE49-F238E27FC236}">
                <a16:creationId xmlns:a16="http://schemas.microsoft.com/office/drawing/2014/main" id="{6980B241-FE9E-5C4B-5B6F-768608BD142D}"/>
              </a:ext>
            </a:extLst>
          </p:cNvPr>
          <p:cNvPicPr>
            <a:picLocks noGrp="1" noChangeAspect="1"/>
          </p:cNvPicPr>
          <p:nvPr>
            <p:ph idx="1"/>
          </p:nvPr>
        </p:nvPicPr>
        <p:blipFill>
          <a:blip r:embed="rId2"/>
          <a:stretch>
            <a:fillRect/>
          </a:stretch>
        </p:blipFill>
        <p:spPr>
          <a:xfrm>
            <a:off x="1832741" y="1716033"/>
            <a:ext cx="8107418" cy="4351338"/>
          </a:xfrm>
        </p:spPr>
      </p:pic>
    </p:spTree>
    <p:extLst>
      <p:ext uri="{BB962C8B-B14F-4D97-AF65-F5344CB8AC3E}">
        <p14:creationId xmlns:p14="http://schemas.microsoft.com/office/powerpoint/2010/main" val="1541321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4E0CE-4414-6C22-8325-0D282D943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CB28DB-5622-7E39-88BA-54E3CF00A839}"/>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endParaRPr lang="en-US" dirty="0"/>
          </a:p>
          <a:p>
            <a:pPr marL="457200" indent="-457200">
              <a:buFont typeface="Wingdings" panose="020B0604020202020204" pitchFamily="34" charset="0"/>
              <a:buChar char="§"/>
            </a:pPr>
            <a:endParaRPr lang="en-US" dirty="0"/>
          </a:p>
          <a:p>
            <a:pPr marL="457200" indent="-457200">
              <a:buFont typeface="Wingdings" panose="020B0604020202020204" pitchFamily="34" charset="0"/>
              <a:buChar char="§"/>
            </a:pPr>
            <a:endParaRPr lang="en-US" dirty="0"/>
          </a:p>
          <a:p>
            <a:pPr marL="457200" indent="-457200">
              <a:buFont typeface="Wingdings" panose="020B0604020202020204" pitchFamily="34" charset="0"/>
              <a:buChar char="§"/>
            </a:pPr>
            <a:endParaRPr lang="en-US" sz="1200" dirty="0"/>
          </a:p>
          <a:p>
            <a:pPr marL="457200" indent="-457200">
              <a:buFont typeface="Wingdings" panose="020B0604020202020204" pitchFamily="34" charset="0"/>
              <a:buChar char="§"/>
            </a:pPr>
            <a:endParaRPr lang="en-US" sz="1200" dirty="0"/>
          </a:p>
          <a:p>
            <a:pPr marL="0" indent="0">
              <a:buNone/>
            </a:pPr>
            <a:r>
              <a:rPr lang="en-US" sz="1200" dirty="0"/>
              <a:t>                      Fig1:DPRX PHY/MAC Interface                                                                                                                                        </a:t>
            </a:r>
            <a:r>
              <a:rPr lang="en-US" sz="1100" dirty="0"/>
              <a:t>Fig2:DPTX PHY/MAC Interface</a:t>
            </a:r>
          </a:p>
        </p:txBody>
      </p:sp>
      <p:sp>
        <p:nvSpPr>
          <p:cNvPr id="5" name="Title 1">
            <a:extLst>
              <a:ext uri="{FF2B5EF4-FFF2-40B4-BE49-F238E27FC236}">
                <a16:creationId xmlns:a16="http://schemas.microsoft.com/office/drawing/2014/main" id="{6089613D-43BA-9DA8-09C7-46765237E874}"/>
              </a:ext>
            </a:extLst>
          </p:cNvPr>
          <p:cNvSpPr>
            <a:spLocks noGrp="1"/>
          </p:cNvSpPr>
          <p:nvPr>
            <p:ph type="title"/>
          </p:nvPr>
        </p:nvSpPr>
        <p:spPr>
          <a:xfrm>
            <a:off x="4313" y="5691"/>
            <a:ext cx="12168996" cy="865489"/>
          </a:xfrm>
          <a:solidFill>
            <a:schemeClr val="accent6"/>
          </a:solidFill>
        </p:spPr>
        <p:txBody>
          <a:bodyPr/>
          <a:lstStyle/>
          <a:p>
            <a:pPr algn="ctr"/>
            <a:r>
              <a:rPr lang="en-IN" sz="4000" dirty="0"/>
              <a:t>PHY/MAC Interface</a:t>
            </a:r>
            <a:endParaRPr lang="en-US" sz="4000" dirty="0">
              <a:latin typeface="Aptos"/>
            </a:endParaRPr>
          </a:p>
        </p:txBody>
      </p:sp>
      <p:pic>
        <p:nvPicPr>
          <p:cNvPr id="2" name="Picture 1">
            <a:extLst>
              <a:ext uri="{FF2B5EF4-FFF2-40B4-BE49-F238E27FC236}">
                <a16:creationId xmlns:a16="http://schemas.microsoft.com/office/drawing/2014/main" id="{F5330950-272E-640C-973A-59903F0CDF78}"/>
              </a:ext>
            </a:extLst>
          </p:cNvPr>
          <p:cNvPicPr>
            <a:picLocks noChangeAspect="1"/>
          </p:cNvPicPr>
          <p:nvPr/>
        </p:nvPicPr>
        <p:blipFill>
          <a:blip r:embed="rId2"/>
          <a:stretch>
            <a:fillRect/>
          </a:stretch>
        </p:blipFill>
        <p:spPr>
          <a:xfrm>
            <a:off x="2833188" y="3597311"/>
            <a:ext cx="6635983" cy="2913848"/>
          </a:xfrm>
          <a:prstGeom prst="rect">
            <a:avLst/>
          </a:prstGeom>
        </p:spPr>
      </p:pic>
      <p:pic>
        <p:nvPicPr>
          <p:cNvPr id="4" name="Picture 3">
            <a:extLst>
              <a:ext uri="{FF2B5EF4-FFF2-40B4-BE49-F238E27FC236}">
                <a16:creationId xmlns:a16="http://schemas.microsoft.com/office/drawing/2014/main" id="{B519856B-45A9-5731-CB2F-C654ED1DCC69}"/>
              </a:ext>
            </a:extLst>
          </p:cNvPr>
          <p:cNvPicPr>
            <a:picLocks noChangeAspect="1"/>
          </p:cNvPicPr>
          <p:nvPr/>
        </p:nvPicPr>
        <p:blipFill>
          <a:blip r:embed="rId3"/>
          <a:stretch>
            <a:fillRect/>
          </a:stretch>
        </p:blipFill>
        <p:spPr>
          <a:xfrm>
            <a:off x="5528441" y="950319"/>
            <a:ext cx="5370755" cy="2475881"/>
          </a:xfrm>
          <a:prstGeom prst="rect">
            <a:avLst/>
          </a:prstGeom>
        </p:spPr>
      </p:pic>
      <p:pic>
        <p:nvPicPr>
          <p:cNvPr id="6" name="Picture 5">
            <a:extLst>
              <a:ext uri="{FF2B5EF4-FFF2-40B4-BE49-F238E27FC236}">
                <a16:creationId xmlns:a16="http://schemas.microsoft.com/office/drawing/2014/main" id="{D8C32621-DADF-3BD7-50A1-A3BC8A85C632}"/>
              </a:ext>
            </a:extLst>
          </p:cNvPr>
          <p:cNvPicPr>
            <a:picLocks noChangeAspect="1"/>
          </p:cNvPicPr>
          <p:nvPr/>
        </p:nvPicPr>
        <p:blipFill>
          <a:blip r:embed="rId4"/>
          <a:stretch>
            <a:fillRect/>
          </a:stretch>
        </p:blipFill>
        <p:spPr>
          <a:xfrm>
            <a:off x="123959" y="871180"/>
            <a:ext cx="5008551" cy="2516409"/>
          </a:xfrm>
          <a:prstGeom prst="rect">
            <a:avLst/>
          </a:prstGeom>
        </p:spPr>
      </p:pic>
    </p:spTree>
    <p:extLst>
      <p:ext uri="{BB962C8B-B14F-4D97-AF65-F5344CB8AC3E}">
        <p14:creationId xmlns:p14="http://schemas.microsoft.com/office/powerpoint/2010/main" val="3652783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3CE1-62D7-FD80-EB13-E0ECE5A9E27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2972266-10F5-D9C5-ECFC-33BA849BA497}"/>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PIPE Architecture</a:t>
            </a:r>
          </a:p>
        </p:txBody>
      </p:sp>
      <p:sp>
        <p:nvSpPr>
          <p:cNvPr id="7" name="Content Placeholder 6">
            <a:extLst>
              <a:ext uri="{FF2B5EF4-FFF2-40B4-BE49-F238E27FC236}">
                <a16:creationId xmlns:a16="http://schemas.microsoft.com/office/drawing/2014/main" id="{7C06F1F4-C828-824D-FBA9-377D09A54E14}"/>
              </a:ext>
            </a:extLst>
          </p:cNvPr>
          <p:cNvSpPr>
            <a:spLocks noGrp="1"/>
          </p:cNvSpPr>
          <p:nvPr>
            <p:ph idx="1"/>
          </p:nvPr>
        </p:nvSpPr>
        <p:spPr>
          <a:xfrm>
            <a:off x="2798378" y="1016876"/>
            <a:ext cx="8555421" cy="5160087"/>
          </a:xfrm>
        </p:spPr>
        <p:txBody>
          <a:bodyPr/>
          <a:lstStyle/>
          <a:p>
            <a:pPr marL="0" indent="0">
              <a:buNone/>
            </a:pPr>
            <a:r>
              <a:rPr lang="en-IN" dirty="0"/>
              <a:t>Transmitter Block Diagram</a:t>
            </a:r>
          </a:p>
        </p:txBody>
      </p:sp>
      <p:pic>
        <p:nvPicPr>
          <p:cNvPr id="8" name="Picture 7">
            <a:extLst>
              <a:ext uri="{FF2B5EF4-FFF2-40B4-BE49-F238E27FC236}">
                <a16:creationId xmlns:a16="http://schemas.microsoft.com/office/drawing/2014/main" id="{1F916F96-232B-D997-F49E-C4948C6F83FB}"/>
              </a:ext>
            </a:extLst>
          </p:cNvPr>
          <p:cNvPicPr>
            <a:picLocks noChangeAspect="1"/>
          </p:cNvPicPr>
          <p:nvPr/>
        </p:nvPicPr>
        <p:blipFill>
          <a:blip r:embed="rId2"/>
          <a:stretch>
            <a:fillRect/>
          </a:stretch>
        </p:blipFill>
        <p:spPr>
          <a:xfrm>
            <a:off x="1983937" y="1953856"/>
            <a:ext cx="6713564" cy="3286126"/>
          </a:xfrm>
          <a:prstGeom prst="rect">
            <a:avLst/>
          </a:prstGeom>
        </p:spPr>
      </p:pic>
    </p:spTree>
    <p:extLst>
      <p:ext uri="{BB962C8B-B14F-4D97-AF65-F5344CB8AC3E}">
        <p14:creationId xmlns:p14="http://schemas.microsoft.com/office/powerpoint/2010/main" val="636955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97CC-7B84-CB53-4C00-11FABB625C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FB730-A998-ACCF-31EE-8334669C7F27}"/>
              </a:ext>
            </a:extLst>
          </p:cNvPr>
          <p:cNvSpPr>
            <a:spLocks noGrp="1"/>
          </p:cNvSpPr>
          <p:nvPr>
            <p:ph idx="1"/>
          </p:nvPr>
        </p:nvSpPr>
        <p:spPr>
          <a:xfrm>
            <a:off x="3492062" y="1064172"/>
            <a:ext cx="7545436" cy="4537697"/>
          </a:xfrm>
        </p:spPr>
        <p:txBody>
          <a:bodyPr vert="horz" lIns="91440" tIns="45720" rIns="91440" bIns="45720" rtlCol="0" anchor="t">
            <a:normAutofit/>
          </a:bodyPr>
          <a:lstStyle/>
          <a:p>
            <a:pPr marL="0" indent="0">
              <a:buNone/>
            </a:pPr>
            <a:r>
              <a:rPr lang="en-IN" dirty="0"/>
              <a:t>Receiver Block Diagram</a:t>
            </a:r>
          </a:p>
          <a:p>
            <a:pPr marL="0" indent="0">
              <a:buNone/>
            </a:pPr>
            <a:r>
              <a:rPr lang="en-IN" dirty="0"/>
              <a:t> </a:t>
            </a:r>
            <a:endParaRPr lang="en-US" dirty="0"/>
          </a:p>
        </p:txBody>
      </p:sp>
      <p:sp>
        <p:nvSpPr>
          <p:cNvPr id="5" name="Title 1">
            <a:extLst>
              <a:ext uri="{FF2B5EF4-FFF2-40B4-BE49-F238E27FC236}">
                <a16:creationId xmlns:a16="http://schemas.microsoft.com/office/drawing/2014/main" id="{F5236344-4E1E-2D8C-7708-99153EF2DF01}"/>
              </a:ext>
            </a:extLst>
          </p:cNvPr>
          <p:cNvSpPr>
            <a:spLocks noGrp="1"/>
          </p:cNvSpPr>
          <p:nvPr>
            <p:ph type="title"/>
          </p:nvPr>
        </p:nvSpPr>
        <p:spPr>
          <a:xfrm>
            <a:off x="4313" y="5691"/>
            <a:ext cx="12168996" cy="865489"/>
          </a:xfrm>
          <a:solidFill>
            <a:schemeClr val="accent6"/>
          </a:solidFill>
        </p:spPr>
        <p:txBody>
          <a:bodyPr>
            <a:normAutofit fontScale="90000"/>
          </a:bodyPr>
          <a:lstStyle/>
          <a:p>
            <a:pPr algn="ct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br>
              <a:rPr lang="en-US" sz="4000" dirty="0">
                <a:latin typeface="Aptos"/>
              </a:rPr>
            </a:br>
            <a:endParaRPr lang="en-US" sz="4000" dirty="0">
              <a:latin typeface="Aptos"/>
            </a:endParaRPr>
          </a:p>
        </p:txBody>
      </p:sp>
      <p:pic>
        <p:nvPicPr>
          <p:cNvPr id="2" name="Picture 1">
            <a:extLst>
              <a:ext uri="{FF2B5EF4-FFF2-40B4-BE49-F238E27FC236}">
                <a16:creationId xmlns:a16="http://schemas.microsoft.com/office/drawing/2014/main" id="{50F59A82-AEF5-F292-C7C8-5DD224BA0A92}"/>
              </a:ext>
            </a:extLst>
          </p:cNvPr>
          <p:cNvPicPr>
            <a:picLocks noChangeAspect="1"/>
          </p:cNvPicPr>
          <p:nvPr/>
        </p:nvPicPr>
        <p:blipFill>
          <a:blip r:embed="rId2"/>
          <a:stretch>
            <a:fillRect/>
          </a:stretch>
        </p:blipFill>
        <p:spPr>
          <a:xfrm>
            <a:off x="1016876" y="1675870"/>
            <a:ext cx="9104585" cy="4945647"/>
          </a:xfrm>
          <a:prstGeom prst="rect">
            <a:avLst/>
          </a:prstGeom>
        </p:spPr>
      </p:pic>
    </p:spTree>
    <p:extLst>
      <p:ext uri="{BB962C8B-B14F-4D97-AF65-F5344CB8AC3E}">
        <p14:creationId xmlns:p14="http://schemas.microsoft.com/office/powerpoint/2010/main" val="417130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C79C2-52DE-43C8-8ACD-8CEBC5AE85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BF688-6E2A-296E-656B-6FBFF74C08BC}"/>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US" sz="2400" dirty="0"/>
              <a:t>With the SerDes architecture, the PHY implements minimal digital logic compared to the original PIPE architecture.</a:t>
            </a:r>
          </a:p>
          <a:p>
            <a:pPr marL="457200" indent="-457200">
              <a:buFont typeface="Wingdings" panose="020B0604020202020204" pitchFamily="34" charset="0"/>
              <a:buChar char="§"/>
            </a:pPr>
            <a:endParaRPr lang="en-US" sz="2400" dirty="0"/>
          </a:p>
          <a:p>
            <a:pPr marL="0" indent="0">
              <a:buNone/>
            </a:pPr>
            <a:endParaRPr lang="en-US" sz="2400" dirty="0"/>
          </a:p>
        </p:txBody>
      </p:sp>
      <p:sp>
        <p:nvSpPr>
          <p:cNvPr id="5" name="Title 1">
            <a:extLst>
              <a:ext uri="{FF2B5EF4-FFF2-40B4-BE49-F238E27FC236}">
                <a16:creationId xmlns:a16="http://schemas.microsoft.com/office/drawing/2014/main" id="{79D51B58-D8D9-1457-8128-B063FCB18F9E}"/>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SerDes Architecture</a:t>
            </a:r>
          </a:p>
        </p:txBody>
      </p:sp>
      <p:pic>
        <p:nvPicPr>
          <p:cNvPr id="2" name="Picture 1">
            <a:extLst>
              <a:ext uri="{FF2B5EF4-FFF2-40B4-BE49-F238E27FC236}">
                <a16:creationId xmlns:a16="http://schemas.microsoft.com/office/drawing/2014/main" id="{7D8FE355-E69A-E7AB-305A-A0C061CC0C7B}"/>
              </a:ext>
            </a:extLst>
          </p:cNvPr>
          <p:cNvPicPr>
            <a:picLocks noChangeAspect="1"/>
          </p:cNvPicPr>
          <p:nvPr/>
        </p:nvPicPr>
        <p:blipFill>
          <a:blip r:embed="rId2"/>
          <a:stretch>
            <a:fillRect/>
          </a:stretch>
        </p:blipFill>
        <p:spPr>
          <a:xfrm>
            <a:off x="1937986" y="2301339"/>
            <a:ext cx="6890798" cy="3736853"/>
          </a:xfrm>
          <a:prstGeom prst="rect">
            <a:avLst/>
          </a:prstGeom>
        </p:spPr>
      </p:pic>
    </p:spTree>
    <p:extLst>
      <p:ext uri="{BB962C8B-B14F-4D97-AF65-F5344CB8AC3E}">
        <p14:creationId xmlns:p14="http://schemas.microsoft.com/office/powerpoint/2010/main" val="3625106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26AB-72F3-8583-8ECC-9F3A2D9B197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7B9A2E8-EA28-3AA8-A2D0-DFB0DD0D59CF}"/>
              </a:ext>
            </a:extLst>
          </p:cNvPr>
          <p:cNvSpPr>
            <a:spLocks noGrp="1"/>
          </p:cNvSpPr>
          <p:nvPr>
            <p:ph type="title"/>
          </p:nvPr>
        </p:nvSpPr>
        <p:spPr>
          <a:xfrm>
            <a:off x="4313" y="5691"/>
            <a:ext cx="12168996" cy="865489"/>
          </a:xfrm>
          <a:solidFill>
            <a:schemeClr val="accent6"/>
          </a:solidFill>
        </p:spPr>
        <p:txBody>
          <a:bodyPr>
            <a:normAutofit/>
          </a:bodyPr>
          <a:lstStyle/>
          <a:p>
            <a:pPr algn="ctr"/>
            <a:r>
              <a:rPr lang="en-GB" sz="4000" dirty="0"/>
              <a:t> PHY Receiver Block Diagram</a:t>
            </a:r>
            <a:endParaRPr lang="en-US" sz="4000" dirty="0">
              <a:latin typeface="Aptos"/>
            </a:endParaRPr>
          </a:p>
        </p:txBody>
      </p:sp>
      <p:pic>
        <p:nvPicPr>
          <p:cNvPr id="2" name="Content Placeholder 1">
            <a:extLst>
              <a:ext uri="{FF2B5EF4-FFF2-40B4-BE49-F238E27FC236}">
                <a16:creationId xmlns:a16="http://schemas.microsoft.com/office/drawing/2014/main" id="{0AF02BDF-EF67-9906-0B60-6869F29902DA}"/>
              </a:ext>
            </a:extLst>
          </p:cNvPr>
          <p:cNvPicPr>
            <a:picLocks noGrp="1" noChangeAspect="1"/>
          </p:cNvPicPr>
          <p:nvPr>
            <p:ph idx="1"/>
          </p:nvPr>
        </p:nvPicPr>
        <p:blipFill>
          <a:blip r:embed="rId2"/>
          <a:stretch>
            <a:fillRect/>
          </a:stretch>
        </p:blipFill>
        <p:spPr>
          <a:xfrm>
            <a:off x="2183524" y="1495315"/>
            <a:ext cx="7110248" cy="4351338"/>
          </a:xfrm>
          <a:prstGeom prst="rect">
            <a:avLst/>
          </a:prstGeom>
        </p:spPr>
      </p:pic>
    </p:spTree>
    <p:extLst>
      <p:ext uri="{BB962C8B-B14F-4D97-AF65-F5344CB8AC3E}">
        <p14:creationId xmlns:p14="http://schemas.microsoft.com/office/powerpoint/2010/main" val="257571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53206-FC11-0003-E3B3-78FB739F57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B963F-AD09-AE5A-1FAD-B0CE83C24ED6}"/>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r>
              <a:rPr lang="en-GB" sz="2000" b="1" dirty="0"/>
              <a:t>                                                  Tx Data Interface Input Signals </a:t>
            </a:r>
            <a:r>
              <a:rPr lang="en-US" sz="2000" dirty="0"/>
              <a:t>​</a:t>
            </a:r>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B615AAD8-5410-6C30-7AFE-58F421B942DF}"/>
              </a:ext>
            </a:extLst>
          </p:cNvPr>
          <p:cNvSpPr>
            <a:spLocks noGrp="1"/>
          </p:cNvSpPr>
          <p:nvPr>
            <p:ph type="title"/>
          </p:nvPr>
        </p:nvSpPr>
        <p:spPr>
          <a:xfrm>
            <a:off x="4313" y="5691"/>
            <a:ext cx="12168996" cy="865489"/>
          </a:xfrm>
          <a:solidFill>
            <a:schemeClr val="accent6"/>
          </a:solidFill>
        </p:spPr>
        <p:txBody>
          <a:bodyPr/>
          <a:lstStyle/>
          <a:p>
            <a:pPr algn="ctr"/>
            <a:r>
              <a:rPr lang="en-GB" b="1" dirty="0"/>
              <a:t>PIPE Interface Signal Descriptions</a:t>
            </a:r>
            <a:r>
              <a:rPr lang="en-GB" dirty="0"/>
              <a:t>​</a:t>
            </a:r>
            <a:endParaRPr lang="en-US" sz="4000" dirty="0">
              <a:latin typeface="Aptos"/>
            </a:endParaRPr>
          </a:p>
        </p:txBody>
      </p:sp>
      <p:graphicFrame>
        <p:nvGraphicFramePr>
          <p:cNvPr id="2" name="Table 1">
            <a:extLst>
              <a:ext uri="{FF2B5EF4-FFF2-40B4-BE49-F238E27FC236}">
                <a16:creationId xmlns:a16="http://schemas.microsoft.com/office/drawing/2014/main" id="{7FDAA106-81CA-1B05-861A-F1069D02DDEB}"/>
              </a:ext>
            </a:extLst>
          </p:cNvPr>
          <p:cNvGraphicFramePr>
            <a:graphicFrameLocks noGrp="1"/>
          </p:cNvGraphicFramePr>
          <p:nvPr>
            <p:extLst>
              <p:ext uri="{D42A27DB-BD31-4B8C-83A1-F6EECF244321}">
                <p14:modId xmlns:p14="http://schemas.microsoft.com/office/powerpoint/2010/main" val="3012265917"/>
              </p:ext>
            </p:extLst>
          </p:nvPr>
        </p:nvGraphicFramePr>
        <p:xfrm>
          <a:off x="1450428" y="1891863"/>
          <a:ext cx="9207062" cy="3580775"/>
        </p:xfrm>
        <a:graphic>
          <a:graphicData uri="http://schemas.openxmlformats.org/drawingml/2006/table">
            <a:tbl>
              <a:tblPr firstRow="1" bandRow="1">
                <a:tableStyleId>{5C22544A-7EE6-4342-B048-85BDC9FD1C3A}</a:tableStyleId>
              </a:tblPr>
              <a:tblGrid>
                <a:gridCol w="4603531">
                  <a:extLst>
                    <a:ext uri="{9D8B030D-6E8A-4147-A177-3AD203B41FA5}">
                      <a16:colId xmlns:a16="http://schemas.microsoft.com/office/drawing/2014/main" val="3392056616"/>
                    </a:ext>
                  </a:extLst>
                </a:gridCol>
                <a:gridCol w="4603531">
                  <a:extLst>
                    <a:ext uri="{9D8B030D-6E8A-4147-A177-3AD203B41FA5}">
                      <a16:colId xmlns:a16="http://schemas.microsoft.com/office/drawing/2014/main" val="2541278749"/>
                    </a:ext>
                  </a:extLst>
                </a:gridCol>
              </a:tblGrid>
              <a:tr h="456282">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3190015439"/>
                  </a:ext>
                </a:extLst>
              </a:tr>
              <a:tr h="1382355">
                <a:tc>
                  <a:txBody>
                    <a:bodyPr/>
                    <a:lstStyle/>
                    <a:p>
                      <a:pPr algn="l" rtl="0" fontAlgn="base">
                        <a:lnSpc>
                          <a:spcPts val="1725"/>
                        </a:lnSpc>
                        <a:buNone/>
                      </a:pPr>
                      <a:r>
                        <a:rPr lang="nn-NO" sz="1800" b="0" i="0" u="none" strike="noStrike" dirty="0">
                          <a:solidFill>
                            <a:srgbClr val="000000"/>
                          </a:solidFill>
                          <a:effectLst/>
                          <a:latin typeface="Calibri" panose="020F0502020204030204" pitchFamily="34" charset="0"/>
                        </a:rPr>
                        <a:t>Tx Data[31:0] for 32-bit interface</a:t>
                      </a:r>
                      <a:r>
                        <a:rPr lang="nn-NO" sz="1800" b="0" i="0" dirty="0">
                          <a:solidFill>
                            <a:srgbClr val="000000"/>
                          </a:solidFill>
                          <a:effectLst/>
                          <a:latin typeface="Calibri" panose="020F0502020204030204" pitchFamily="34" charset="0"/>
                        </a:rPr>
                        <a:t>​</a:t>
                      </a:r>
                      <a:endParaRPr lang="nn-NO" b="0" i="0" dirty="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GB" sz="1800" b="0" i="0" u="none" strike="noStrike">
                          <a:solidFill>
                            <a:srgbClr val="000000"/>
                          </a:solidFill>
                          <a:effectLst/>
                          <a:latin typeface="Calibri" panose="020F0502020204030204" pitchFamily="34" charset="0"/>
                        </a:rPr>
                        <a:t>32 bits represent the 4 symbols of Tx data. </a:t>
                      </a:r>
                      <a:r>
                        <a:rPr lang="en-GB" sz="1800" b="0" i="0">
                          <a:solidFill>
                            <a:srgbClr val="000000"/>
                          </a:solidFill>
                          <a:effectLst/>
                          <a:latin typeface="Calibri" panose="020F0502020204030204" pitchFamily="34" charset="0"/>
                        </a:rPr>
                        <a:t>​</a:t>
                      </a:r>
                      <a:endParaRPr lang="en-GB"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a:solidFill>
                            <a:srgbClr val="000000"/>
                          </a:solidFill>
                          <a:effectLst/>
                          <a:latin typeface="Consolas" panose="020B0609020204030204" pitchFamily="49" charset="0"/>
                        </a:rPr>
                        <a:t>Tx Data[7:0]</a:t>
                      </a:r>
                      <a:r>
                        <a:rPr lang="en-GB" sz="1800" b="0" i="0" u="none" strike="noStrike">
                          <a:solidFill>
                            <a:srgbClr val="000000"/>
                          </a:solidFill>
                          <a:effectLst/>
                          <a:latin typeface="Calibri" panose="020F0502020204030204" pitchFamily="34" charset="0"/>
                        </a:rPr>
                        <a:t> → 1st symbol</a:t>
                      </a:r>
                      <a:r>
                        <a:rPr lang="en-GB" sz="1800" b="0" i="0">
                          <a:solidFill>
                            <a:srgbClr val="000000"/>
                          </a:solidFill>
                          <a:effectLst/>
                          <a:latin typeface="Calibri" panose="020F0502020204030204" pitchFamily="34" charset="0"/>
                        </a:rPr>
                        <a:t>​</a:t>
                      </a:r>
                      <a:endParaRPr lang="en-GB"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a:solidFill>
                            <a:srgbClr val="000000"/>
                          </a:solidFill>
                          <a:effectLst/>
                          <a:latin typeface="Consolas" panose="020B0609020204030204" pitchFamily="49" charset="0"/>
                        </a:rPr>
                        <a:t>Tx Data[15:8]</a:t>
                      </a:r>
                      <a:r>
                        <a:rPr lang="en-GB" sz="1800" b="0" i="0" u="none" strike="noStrike">
                          <a:solidFill>
                            <a:srgbClr val="000000"/>
                          </a:solidFill>
                          <a:effectLst/>
                          <a:latin typeface="Calibri" panose="020F0502020204030204" pitchFamily="34" charset="0"/>
                        </a:rPr>
                        <a:t> → 2nd symbol</a:t>
                      </a:r>
                      <a:r>
                        <a:rPr lang="en-GB" sz="1800" b="0" i="0">
                          <a:solidFill>
                            <a:srgbClr val="000000"/>
                          </a:solidFill>
                          <a:effectLst/>
                          <a:latin typeface="Calibri" panose="020F0502020204030204" pitchFamily="34" charset="0"/>
                        </a:rPr>
                        <a:t>​</a:t>
                      </a:r>
                      <a:endParaRPr lang="en-GB"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a:solidFill>
                            <a:srgbClr val="000000"/>
                          </a:solidFill>
                          <a:effectLst/>
                          <a:latin typeface="Consolas" panose="020B0609020204030204" pitchFamily="49" charset="0"/>
                        </a:rPr>
                        <a:t>Tx Data[23:16]</a:t>
                      </a:r>
                      <a:r>
                        <a:rPr lang="en-GB" sz="1800" b="0" i="0" u="none" strike="noStrike">
                          <a:solidFill>
                            <a:srgbClr val="000000"/>
                          </a:solidFill>
                          <a:effectLst/>
                          <a:latin typeface="Calibri" panose="020F0502020204030204" pitchFamily="34" charset="0"/>
                        </a:rPr>
                        <a:t> → 3rd symbol</a:t>
                      </a:r>
                      <a:r>
                        <a:rPr lang="en-GB" sz="1800" b="0" i="0">
                          <a:solidFill>
                            <a:srgbClr val="000000"/>
                          </a:solidFill>
                          <a:effectLst/>
                          <a:latin typeface="Calibri" panose="020F0502020204030204" pitchFamily="34" charset="0"/>
                        </a:rPr>
                        <a:t>​</a:t>
                      </a:r>
                      <a:endParaRPr lang="en-GB"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a:solidFill>
                            <a:srgbClr val="000000"/>
                          </a:solidFill>
                          <a:effectLst/>
                          <a:latin typeface="Consolas" panose="020B0609020204030204" pitchFamily="49" charset="0"/>
                        </a:rPr>
                        <a:t>Tx Data[31:24]</a:t>
                      </a:r>
                      <a:r>
                        <a:rPr lang="en-GB" sz="1800" b="0" i="0" u="none" strike="noStrike">
                          <a:solidFill>
                            <a:srgbClr val="000000"/>
                          </a:solidFill>
                          <a:effectLst/>
                          <a:latin typeface="Calibri" panose="020F0502020204030204" pitchFamily="34" charset="0"/>
                        </a:rPr>
                        <a:t> → 4th symbol</a:t>
                      </a:r>
                      <a:r>
                        <a:rPr lang="en-GB" sz="1800" b="0" i="0">
                          <a:solidFill>
                            <a:srgbClr val="000000"/>
                          </a:solidFill>
                          <a:effectLst/>
                          <a:latin typeface="Calibri" panose="020F0502020204030204" pitchFamily="34" charset="0"/>
                        </a:rPr>
                        <a:t>​</a:t>
                      </a:r>
                      <a:endParaRPr lang="en-GB" b="0" i="0">
                        <a:solidFill>
                          <a:srgbClr val="000000"/>
                        </a:solidFill>
                        <a:effectLst/>
                        <a:latin typeface="Arial" panose="020B0604020202020204" pitchFamily="34" charset="0"/>
                      </a:endParaRPr>
                    </a:p>
                    <a:p>
                      <a:pPr algn="l" rtl="0" fontAlgn="base">
                        <a:lnSpc>
                          <a:spcPts val="1725"/>
                        </a:lnSpc>
                        <a:buNone/>
                      </a:pP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extLst>
                  <a:ext uri="{0D108BD9-81ED-4DB2-BD59-A6C34878D82A}">
                    <a16:rowId xmlns:a16="http://schemas.microsoft.com/office/drawing/2014/main" val="2600114765"/>
                  </a:ext>
                </a:extLst>
              </a:tr>
              <a:tr h="1011926">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Tx Data[15:0] for 16-bit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16 bits represent the 2 symbols of Tx data. </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a:solidFill>
                            <a:srgbClr val="000000"/>
                          </a:solidFill>
                          <a:effectLst/>
                          <a:latin typeface="Consolas" panose="020B0609020204030204" pitchFamily="49" charset="0"/>
                        </a:rPr>
                        <a:t>Tx Data[7:0]</a:t>
                      </a:r>
                      <a:r>
                        <a:rPr lang="en-US" sz="1800" b="0" i="0" u="none" strike="noStrike">
                          <a:solidFill>
                            <a:srgbClr val="000000"/>
                          </a:solidFill>
                          <a:effectLst/>
                          <a:latin typeface="Calibri" panose="020F0502020204030204" pitchFamily="34" charset="0"/>
                        </a:rPr>
                        <a:t> → first symbol</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a:solidFill>
                            <a:srgbClr val="000000"/>
                          </a:solidFill>
                          <a:effectLst/>
                          <a:latin typeface="Consolas" panose="020B0609020204030204" pitchFamily="49" charset="0"/>
                        </a:rPr>
                        <a:t>Tx Data[15:8]</a:t>
                      </a:r>
                      <a:r>
                        <a:rPr lang="en-US" sz="1800" b="0" i="0" u="none" strike="noStrike">
                          <a:solidFill>
                            <a:srgbClr val="000000"/>
                          </a:solidFill>
                          <a:effectLst/>
                          <a:latin typeface="Calibri" panose="020F0502020204030204" pitchFamily="34" charset="0"/>
                        </a:rPr>
                        <a:t> → second symbol</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1725"/>
                        </a:lnSpc>
                        <a:buNone/>
                      </a:pPr>
                      <a:r>
                        <a:rPr lang="en-US" sz="1800" b="0" i="0">
                          <a:solidFill>
                            <a:srgbClr val="000000"/>
                          </a:solidFill>
                          <a:effectLst/>
                          <a:latin typeface="Calibri" panose="020F0502020204030204" pitchFamily="34" charset="0"/>
                        </a:rPr>
                        <a:t>​</a:t>
                      </a:r>
                      <a:endParaRPr lang="en-US" b="0" i="0">
                        <a:solidFill>
                          <a:srgbClr val="000000"/>
                        </a:solidFill>
                        <a:effectLst/>
                      </a:endParaRPr>
                    </a:p>
                  </a:txBody>
                  <a:tcPr/>
                </a:tc>
                <a:extLst>
                  <a:ext uri="{0D108BD9-81ED-4DB2-BD59-A6C34878D82A}">
                    <a16:rowId xmlns:a16="http://schemas.microsoft.com/office/drawing/2014/main" val="15371256"/>
                  </a:ext>
                </a:extLst>
              </a:tr>
              <a:tr h="641497">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Tx Data[7:0] for 8-bit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8 bits represent the 1 symbols of Tx data.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None/>
                      </a:pPr>
                      <a:r>
                        <a:rPr lang="en-US" sz="1800" b="0" i="0" dirty="0">
                          <a:solidFill>
                            <a:srgbClr val="000000"/>
                          </a:solidFill>
                          <a:effectLst/>
                          <a:latin typeface="Calibri" panose="020F0502020204030204" pitchFamily="34" charset="0"/>
                        </a:rPr>
                        <a:t>​</a:t>
                      </a:r>
                      <a:endParaRPr lang="en-US" b="0" i="0" dirty="0">
                        <a:solidFill>
                          <a:srgbClr val="000000"/>
                        </a:solidFill>
                        <a:effectLst/>
                      </a:endParaRPr>
                    </a:p>
                  </a:txBody>
                  <a:tcPr/>
                </a:tc>
                <a:extLst>
                  <a:ext uri="{0D108BD9-81ED-4DB2-BD59-A6C34878D82A}">
                    <a16:rowId xmlns:a16="http://schemas.microsoft.com/office/drawing/2014/main" val="4164418781"/>
                  </a:ext>
                </a:extLst>
              </a:tr>
            </a:tbl>
          </a:graphicData>
        </a:graphic>
      </p:graphicFrame>
    </p:spTree>
    <p:extLst>
      <p:ext uri="{BB962C8B-B14F-4D97-AF65-F5344CB8AC3E}">
        <p14:creationId xmlns:p14="http://schemas.microsoft.com/office/powerpoint/2010/main" val="1926128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3F207-A8AC-603D-1C0D-3DA97D740DD2}"/>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AAF31E10-FDCD-2CC2-2E8B-7D205343D9A6}"/>
              </a:ext>
            </a:extLst>
          </p:cNvPr>
          <p:cNvGraphicFramePr>
            <a:graphicFrameLocks noGrp="1"/>
          </p:cNvGraphicFramePr>
          <p:nvPr>
            <p:ph idx="1"/>
            <p:extLst>
              <p:ext uri="{D42A27DB-BD31-4B8C-83A1-F6EECF244321}">
                <p14:modId xmlns:p14="http://schemas.microsoft.com/office/powerpoint/2010/main" val="2959270576"/>
              </p:ext>
            </p:extLst>
          </p:nvPr>
        </p:nvGraphicFramePr>
        <p:xfrm>
          <a:off x="838200" y="1825625"/>
          <a:ext cx="10515600" cy="2700020"/>
        </p:xfrm>
        <a:graphic>
          <a:graphicData uri="http://schemas.openxmlformats.org/drawingml/2006/table">
            <a:tbl>
              <a:tblPr firstRow="1" bandRow="1">
                <a:tableStyleId>{5C22544A-7EE6-4342-B048-85BDC9FD1C3A}</a:tableStyleId>
              </a:tblPr>
              <a:tblGrid>
                <a:gridCol w="4009697">
                  <a:extLst>
                    <a:ext uri="{9D8B030D-6E8A-4147-A177-3AD203B41FA5}">
                      <a16:colId xmlns:a16="http://schemas.microsoft.com/office/drawing/2014/main" val="1667173015"/>
                    </a:ext>
                  </a:extLst>
                </a:gridCol>
                <a:gridCol w="6505903">
                  <a:extLst>
                    <a:ext uri="{9D8B030D-6E8A-4147-A177-3AD203B41FA5}">
                      <a16:colId xmlns:a16="http://schemas.microsoft.com/office/drawing/2014/main" val="1641985809"/>
                    </a:ext>
                  </a:extLst>
                </a:gridCol>
              </a:tblGrid>
              <a:tr h="370840">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r>
                        <a:rPr lang="en-GB" sz="1800" b="1" i="0" u="none" strike="noStrike" dirty="0">
                          <a:solidFill>
                            <a:srgbClr val="000000"/>
                          </a:solidFill>
                          <a:effectLst/>
                          <a:latin typeface="Calibri" panose="020F0502020204030204" pitchFamily="34" charset="0"/>
                        </a:rPr>
                        <a:t>SerDes)</a:t>
                      </a:r>
                      <a:r>
                        <a:rPr lang="en-GB" sz="1800" b="1" i="0" dirty="0">
                          <a:solidFill>
                            <a:srgbClr val="000000"/>
                          </a:solidFill>
                          <a:effectLst/>
                          <a:latin typeface="Calibri" panose="020F0502020204030204" pitchFamily="34" charset="0"/>
                        </a:rPr>
                        <a:t>​</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3029528772"/>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Tx Data[159:0] for 160-bit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auto">
                        <a:lnSpc>
                          <a:spcPts val="1725"/>
                        </a:lnSpc>
                        <a:buNone/>
                      </a:pPr>
                      <a:r>
                        <a:rPr lang="en-US" sz="1800" b="0" i="0" u="none" strike="noStrike">
                          <a:solidFill>
                            <a:srgbClr val="000000"/>
                          </a:solidFill>
                          <a:effectLst/>
                          <a:latin typeface="Calibri" panose="020F0502020204030204" pitchFamily="34" charset="0"/>
                        </a:rPr>
                        <a:t>​</a:t>
                      </a:r>
                    </a:p>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160-bit interface, 160 bits represent 16 symbols of Tx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3731473373"/>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Tx Data[79:0] for 80-bit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For the 80-bit interface, 80 bits represent eight symbols of Tx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2241912024"/>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Tx Data[39:0] for 40-bit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For the 40-bit interface, 40 bits represent Four symbols of Tx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4134942631"/>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Tx Data[19:0] for 20-bit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For the 20-bit interface, 20 bits represent Two symbols of Tx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3545635427"/>
                  </a:ext>
                </a:extLst>
              </a:tr>
              <a:tr h="370840">
                <a:tc>
                  <a:txBody>
                    <a:bodyPr/>
                    <a:lstStyle/>
                    <a:p>
                      <a:pPr algn="l" rtl="0" fontAlgn="base">
                        <a:lnSpc>
                          <a:spcPts val="1725"/>
                        </a:lnSpc>
                        <a:buNone/>
                      </a:pPr>
                      <a:r>
                        <a:rPr lang="nn-NO" sz="1800" b="0" i="0" u="none" strike="noStrike" dirty="0">
                          <a:solidFill>
                            <a:srgbClr val="000000"/>
                          </a:solidFill>
                          <a:effectLst/>
                          <a:latin typeface="Calibri" panose="020F0502020204030204" pitchFamily="34" charset="0"/>
                        </a:rPr>
                        <a:t>Tx Data[9:0] for 10-bit interface</a:t>
                      </a:r>
                      <a:r>
                        <a:rPr lang="nn-NO" sz="1800" b="0" i="0" dirty="0">
                          <a:solidFill>
                            <a:srgbClr val="000000"/>
                          </a:solidFill>
                          <a:effectLst/>
                          <a:latin typeface="Calibri" panose="020F0502020204030204" pitchFamily="34" charset="0"/>
                        </a:rPr>
                        <a:t>​</a:t>
                      </a:r>
                      <a:endParaRPr lang="nn-NO" b="0" i="0" dirty="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For the 10-bit interface, 10 bits represent One symbols of Tx data</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3266526040"/>
                  </a:ext>
                </a:extLst>
              </a:tr>
            </a:tbl>
          </a:graphicData>
        </a:graphic>
      </p:graphicFrame>
      <p:sp>
        <p:nvSpPr>
          <p:cNvPr id="5" name="Title 1">
            <a:extLst>
              <a:ext uri="{FF2B5EF4-FFF2-40B4-BE49-F238E27FC236}">
                <a16:creationId xmlns:a16="http://schemas.microsoft.com/office/drawing/2014/main" id="{C6A6C3F5-A0B8-09C7-22D1-E41C21790EE1}"/>
              </a:ext>
            </a:extLst>
          </p:cNvPr>
          <p:cNvSpPr>
            <a:spLocks noGrp="1"/>
          </p:cNvSpPr>
          <p:nvPr>
            <p:ph type="title"/>
          </p:nvPr>
        </p:nvSpPr>
        <p:spPr>
          <a:xfrm>
            <a:off x="4313" y="5691"/>
            <a:ext cx="12168996" cy="865489"/>
          </a:xfrm>
          <a:solidFill>
            <a:schemeClr val="accent6"/>
          </a:solidFill>
        </p:spPr>
        <p:txBody>
          <a:bodyPr>
            <a:normAutofit fontScale="90000"/>
          </a:bodyPr>
          <a:lstStyle/>
          <a:p>
            <a:pPr algn="ctr"/>
            <a:br>
              <a:rPr lang="en-GB" sz="4000" b="1" dirty="0"/>
            </a:br>
            <a:r>
              <a:rPr lang="en-GB" sz="4000" b="1" dirty="0"/>
              <a:t>Tx Data Interface Input Signals </a:t>
            </a:r>
            <a:r>
              <a:rPr lang="en-US" sz="4000" dirty="0"/>
              <a:t>​</a:t>
            </a:r>
            <a:br>
              <a:rPr lang="en-US" sz="4000" dirty="0"/>
            </a:br>
            <a:endParaRPr lang="en-US" sz="4000" dirty="0">
              <a:latin typeface="Aptos"/>
            </a:endParaRPr>
          </a:p>
        </p:txBody>
      </p:sp>
      <p:graphicFrame>
        <p:nvGraphicFramePr>
          <p:cNvPr id="4" name="Table 3">
            <a:extLst>
              <a:ext uri="{FF2B5EF4-FFF2-40B4-BE49-F238E27FC236}">
                <a16:creationId xmlns:a16="http://schemas.microsoft.com/office/drawing/2014/main" id="{6113C0C7-7484-8452-A33A-923A7A0C49B9}"/>
              </a:ext>
            </a:extLst>
          </p:cNvPr>
          <p:cNvGraphicFramePr>
            <a:graphicFrameLocks noGrp="1"/>
          </p:cNvGraphicFramePr>
          <p:nvPr>
            <p:extLst>
              <p:ext uri="{D42A27DB-BD31-4B8C-83A1-F6EECF244321}">
                <p14:modId xmlns:p14="http://schemas.microsoft.com/office/powerpoint/2010/main" val="2252416990"/>
              </p:ext>
            </p:extLst>
          </p:nvPr>
        </p:nvGraphicFramePr>
        <p:xfrm>
          <a:off x="1521373" y="5108234"/>
          <a:ext cx="8214872" cy="527812"/>
        </p:xfrm>
        <a:graphic>
          <a:graphicData uri="http://schemas.openxmlformats.org/drawingml/2006/table">
            <a:tbl>
              <a:tblPr/>
              <a:tblGrid>
                <a:gridCol w="2629349">
                  <a:extLst>
                    <a:ext uri="{9D8B030D-6E8A-4147-A177-3AD203B41FA5}">
                      <a16:colId xmlns:a16="http://schemas.microsoft.com/office/drawing/2014/main" val="206495664"/>
                    </a:ext>
                  </a:extLst>
                </a:gridCol>
                <a:gridCol w="5585523">
                  <a:extLst>
                    <a:ext uri="{9D8B030D-6E8A-4147-A177-3AD203B41FA5}">
                      <a16:colId xmlns:a16="http://schemas.microsoft.com/office/drawing/2014/main" val="4120606264"/>
                    </a:ext>
                  </a:extLst>
                </a:gridCol>
              </a:tblGrid>
              <a:tr h="0">
                <a:tc>
                  <a:txBody>
                    <a:bodyPr/>
                    <a:lstStyle/>
                    <a:p>
                      <a:pPr algn="l" rtl="0" fontAlgn="base">
                        <a:lnSpc>
                          <a:spcPts val="1725"/>
                        </a:lnSpc>
                        <a:buNone/>
                      </a:pPr>
                      <a:r>
                        <a:rPr lang="en-GB" sz="1800" b="0" i="0" u="none" strike="noStrike" dirty="0">
                          <a:solidFill>
                            <a:srgbClr val="000000"/>
                          </a:solidFill>
                          <a:effectLst/>
                          <a:latin typeface="Calibri" panose="020F0502020204030204" pitchFamily="34" charset="0"/>
                        </a:rPr>
                        <a:t>Tx+, Tx -</a:t>
                      </a:r>
                      <a:r>
                        <a:rPr lang="en-GB" sz="1800" b="1" i="0" dirty="0">
                          <a:solidFill>
                            <a:srgbClr val="000000"/>
                          </a:solidFill>
                          <a:effectLst/>
                          <a:latin typeface="Calibri" panose="020F0502020204030204" pitchFamily="34" charset="0"/>
                        </a:rPr>
                        <a:t>​</a:t>
                      </a:r>
                      <a:endParaRPr lang="en-GB" b="1" i="0" dirty="0">
                        <a:solidFill>
                          <a:srgbClr val="000000"/>
                        </a:solidFill>
                        <a:effectLst/>
                      </a:endParaRPr>
                    </a:p>
                  </a:txBody>
                  <a:tcPr>
                    <a:lnL w="12700" cap="flat" cmpd="sng" algn="ctr">
                      <a:solidFill>
                        <a:srgbClr val="FFFFFF"/>
                      </a:solidFill>
                      <a:prstDash val="solid"/>
                      <a:round/>
                      <a:headEnd type="none" w="med" len="med"/>
                      <a:tailEnd type="none" w="med" len="med"/>
                    </a:lnL>
                    <a:lnR w="8123" cap="flat" cmpd="sng" algn="ctr">
                      <a:solidFill>
                        <a:srgbClr val="000000"/>
                      </a:solidFill>
                      <a:prstDash val="solid"/>
                      <a:round/>
                      <a:headEnd type="none" w="med" len="med"/>
                      <a:tailEnd type="none" w="med" len="med"/>
                    </a:lnR>
                    <a:lnT w="8123" cap="flat" cmpd="sng" algn="ctr">
                      <a:solidFill>
                        <a:srgbClr val="000000"/>
                      </a:solidFill>
                      <a:prstDash val="solid"/>
                      <a:round/>
                      <a:headEnd type="none" w="med" len="med"/>
                      <a:tailEnd type="none" w="med" len="med"/>
                    </a:lnT>
                    <a:lnB w="8123" cap="flat" cmpd="sng" algn="ctr">
                      <a:solidFill>
                        <a:srgbClr val="000000"/>
                      </a:solidFill>
                      <a:prstDash val="solid"/>
                      <a:round/>
                      <a:headEnd type="none" w="med" len="med"/>
                      <a:tailEnd type="none" w="med" len="med"/>
                    </a:lnB>
                    <a:noFill/>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Tx+/Tx-  are differential signal pairs used by the PHY to transmit  high-speed serial  on a PCIe lane.</a:t>
                      </a:r>
                      <a:r>
                        <a:rPr lang="en-US" sz="1800" b="1" i="0" dirty="0">
                          <a:solidFill>
                            <a:srgbClr val="000000"/>
                          </a:solidFill>
                          <a:effectLst/>
                          <a:latin typeface="Calibri" panose="020F0502020204030204" pitchFamily="34" charset="0"/>
                        </a:rPr>
                        <a:t>​</a:t>
                      </a:r>
                      <a:endParaRPr lang="en-US" b="1" i="0" dirty="0">
                        <a:solidFill>
                          <a:srgbClr val="000000"/>
                        </a:solidFill>
                        <a:effectLst/>
                        <a:latin typeface="Arial" panose="020B0604020202020204" pitchFamily="34" charset="0"/>
                      </a:endParaRPr>
                    </a:p>
                  </a:txBody>
                  <a:tcPr>
                    <a:lnL w="8123"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8123" cap="flat" cmpd="sng" algn="ctr">
                      <a:solidFill>
                        <a:srgbClr val="000000"/>
                      </a:solidFill>
                      <a:prstDash val="solid"/>
                      <a:round/>
                      <a:headEnd type="none" w="med" len="med"/>
                      <a:tailEnd type="none" w="med" len="med"/>
                    </a:lnT>
                    <a:lnB w="8123"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2612580"/>
                  </a:ext>
                </a:extLst>
              </a:tr>
            </a:tbl>
          </a:graphicData>
        </a:graphic>
      </p:graphicFrame>
    </p:spTree>
    <p:extLst>
      <p:ext uri="{BB962C8B-B14F-4D97-AF65-F5344CB8AC3E}">
        <p14:creationId xmlns:p14="http://schemas.microsoft.com/office/powerpoint/2010/main" val="376790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DA06-060E-D4E4-0C6C-5018FCD2A3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B693AF-B208-6123-FE02-060B81F7664C}"/>
              </a:ext>
            </a:extLst>
          </p:cNvPr>
          <p:cNvSpPr>
            <a:spLocks noGrp="1"/>
          </p:cNvSpPr>
          <p:nvPr>
            <p:ph type="title"/>
          </p:nvPr>
        </p:nvSpPr>
        <p:spPr>
          <a:xfrm>
            <a:off x="4313" y="5691"/>
            <a:ext cx="12168996" cy="865489"/>
          </a:xfrm>
          <a:solidFill>
            <a:schemeClr val="accent6"/>
          </a:solidFill>
        </p:spPr>
        <p:txBody>
          <a:bodyPr>
            <a:normAutofit/>
          </a:bodyPr>
          <a:lstStyle/>
          <a:p>
            <a:pPr algn="ctr"/>
            <a:r>
              <a:rPr lang="en-GB" sz="2800" b="1" dirty="0"/>
              <a:t>Rx Data Interface Input Signals</a:t>
            </a:r>
            <a:endParaRPr lang="en-US" sz="2800" dirty="0">
              <a:latin typeface="Aptos"/>
            </a:endParaRPr>
          </a:p>
        </p:txBody>
      </p:sp>
      <p:graphicFrame>
        <p:nvGraphicFramePr>
          <p:cNvPr id="12" name="Content Placeholder 11">
            <a:extLst>
              <a:ext uri="{FF2B5EF4-FFF2-40B4-BE49-F238E27FC236}">
                <a16:creationId xmlns:a16="http://schemas.microsoft.com/office/drawing/2014/main" id="{506CE560-FACE-4693-D954-24E9C1B12F64}"/>
              </a:ext>
            </a:extLst>
          </p:cNvPr>
          <p:cNvGraphicFramePr>
            <a:graphicFrameLocks noGrp="1"/>
          </p:cNvGraphicFramePr>
          <p:nvPr>
            <p:ph idx="1"/>
            <p:extLst>
              <p:ext uri="{D42A27DB-BD31-4B8C-83A1-F6EECF244321}">
                <p14:modId xmlns:p14="http://schemas.microsoft.com/office/powerpoint/2010/main" val="477153312"/>
              </p:ext>
            </p:extLst>
          </p:nvPr>
        </p:nvGraphicFramePr>
        <p:xfrm>
          <a:off x="764628" y="1453077"/>
          <a:ext cx="11059510" cy="1045758"/>
        </p:xfrm>
        <a:graphic>
          <a:graphicData uri="http://schemas.openxmlformats.org/drawingml/2006/table">
            <a:tbl>
              <a:tblPr firstRow="1" bandRow="1">
                <a:tableStyleId>{5C22544A-7EE6-4342-B048-85BDC9FD1C3A}</a:tableStyleId>
              </a:tblPr>
              <a:tblGrid>
                <a:gridCol w="3090041">
                  <a:extLst>
                    <a:ext uri="{9D8B030D-6E8A-4147-A177-3AD203B41FA5}">
                      <a16:colId xmlns:a16="http://schemas.microsoft.com/office/drawing/2014/main" val="627259293"/>
                    </a:ext>
                  </a:extLst>
                </a:gridCol>
                <a:gridCol w="7969469">
                  <a:extLst>
                    <a:ext uri="{9D8B030D-6E8A-4147-A177-3AD203B41FA5}">
                      <a16:colId xmlns:a16="http://schemas.microsoft.com/office/drawing/2014/main" val="2856423898"/>
                    </a:ext>
                  </a:extLst>
                </a:gridCol>
              </a:tblGrid>
              <a:tr h="431545">
                <a:tc>
                  <a:txBody>
                    <a:bodyPr/>
                    <a:lstStyle/>
                    <a:p>
                      <a:r>
                        <a:rPr lang="en-IN" dirty="0"/>
                        <a:t>                    Signal</a:t>
                      </a:r>
                    </a:p>
                  </a:txBody>
                  <a:tcPr/>
                </a:tc>
                <a:tc>
                  <a:txBody>
                    <a:bodyPr/>
                    <a:lstStyle/>
                    <a:p>
                      <a:r>
                        <a:rPr lang="en-IN" dirty="0"/>
                        <a:t>           Direction</a:t>
                      </a:r>
                    </a:p>
                  </a:txBody>
                  <a:tcPr/>
                </a:tc>
                <a:extLst>
                  <a:ext uri="{0D108BD9-81ED-4DB2-BD59-A6C34878D82A}">
                    <a16:rowId xmlns:a16="http://schemas.microsoft.com/office/drawing/2014/main" val="3417131643"/>
                  </a:ext>
                </a:extLst>
              </a:tr>
              <a:tr h="614213">
                <a:tc>
                  <a:txBody>
                    <a:bodyPr/>
                    <a:lstStyle/>
                    <a:p>
                      <a:pPr algn="l" rtl="0" fontAlgn="base">
                        <a:lnSpc>
                          <a:spcPts val="1725"/>
                        </a:lnSpc>
                        <a:buNone/>
                      </a:pPr>
                      <a:r>
                        <a:rPr lang="en-GB" sz="1800" b="0" i="0" u="none" strike="noStrike" dirty="0">
                          <a:solidFill>
                            <a:schemeClr val="tx1"/>
                          </a:solidFill>
                          <a:effectLst/>
                          <a:latin typeface="Calibri" panose="020F0502020204030204" pitchFamily="34" charset="0"/>
                        </a:rPr>
                        <a:t>Rx+, Rx -</a:t>
                      </a:r>
                      <a:r>
                        <a:rPr lang="en-GB" sz="1800" b="1" i="0" dirty="0">
                          <a:solidFill>
                            <a:schemeClr val="tx1"/>
                          </a:solidFill>
                          <a:effectLst/>
                          <a:latin typeface="Calibri" panose="020F0502020204030204" pitchFamily="34" charset="0"/>
                        </a:rPr>
                        <a:t>​</a:t>
                      </a:r>
                      <a:endParaRPr lang="en-GB" b="1" i="0" dirty="0">
                        <a:solidFill>
                          <a:schemeClr val="tx1"/>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Rx+/Rx-  are differential signal pairs used by the PHY to receive high-speed  data on a PCIe lane.</a:t>
                      </a:r>
                      <a:r>
                        <a:rPr lang="en-US" sz="1800" b="1" i="0" dirty="0">
                          <a:solidFill>
                            <a:srgbClr val="000000"/>
                          </a:solidFill>
                          <a:effectLst/>
                          <a:latin typeface="Calibri" panose="020F0502020204030204" pitchFamily="34" charset="0"/>
                        </a:rPr>
                        <a:t>​</a:t>
                      </a:r>
                      <a:endParaRPr lang="en-US" b="1"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2712676055"/>
                  </a:ext>
                </a:extLst>
              </a:tr>
            </a:tbl>
          </a:graphicData>
        </a:graphic>
      </p:graphicFrame>
      <p:sp>
        <p:nvSpPr>
          <p:cNvPr id="14" name="TextBox 13">
            <a:extLst>
              <a:ext uri="{FF2B5EF4-FFF2-40B4-BE49-F238E27FC236}">
                <a16:creationId xmlns:a16="http://schemas.microsoft.com/office/drawing/2014/main" id="{8B4F1DB7-623B-00AC-0D53-53B87DF08825}"/>
              </a:ext>
            </a:extLst>
          </p:cNvPr>
          <p:cNvSpPr txBox="1"/>
          <p:nvPr/>
        </p:nvSpPr>
        <p:spPr>
          <a:xfrm>
            <a:off x="2167759" y="977462"/>
            <a:ext cx="6978212" cy="369332"/>
          </a:xfrm>
          <a:prstGeom prst="rect">
            <a:avLst/>
          </a:prstGeom>
          <a:noFill/>
        </p:spPr>
        <p:txBody>
          <a:bodyPr wrap="square">
            <a:spAutoFit/>
          </a:bodyPr>
          <a:lstStyle/>
          <a:p>
            <a:pPr algn="l" rtl="0" fontAlgn="base"/>
            <a:r>
              <a:rPr lang="en-GB" sz="1800" b="1" i="0" u="none" strike="noStrike" dirty="0">
                <a:solidFill>
                  <a:srgbClr val="455F51"/>
                </a:solidFill>
                <a:effectLst/>
                <a:latin typeface="Calibri" panose="020F0502020204030204" pitchFamily="34" charset="0"/>
              </a:rPr>
              <a:t>Rx Data Interface Input Signals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p:txBody>
      </p:sp>
      <p:graphicFrame>
        <p:nvGraphicFramePr>
          <p:cNvPr id="15" name="Table 14">
            <a:extLst>
              <a:ext uri="{FF2B5EF4-FFF2-40B4-BE49-F238E27FC236}">
                <a16:creationId xmlns:a16="http://schemas.microsoft.com/office/drawing/2014/main" id="{1BDB47E9-C906-3D33-A274-24939E186743}"/>
              </a:ext>
            </a:extLst>
          </p:cNvPr>
          <p:cNvGraphicFramePr>
            <a:graphicFrameLocks noGrp="1"/>
          </p:cNvGraphicFramePr>
          <p:nvPr>
            <p:extLst>
              <p:ext uri="{D42A27DB-BD31-4B8C-83A1-F6EECF244321}">
                <p14:modId xmlns:p14="http://schemas.microsoft.com/office/powerpoint/2010/main" val="1406372916"/>
              </p:ext>
            </p:extLst>
          </p:nvPr>
        </p:nvGraphicFramePr>
        <p:xfrm>
          <a:off x="819807" y="2918952"/>
          <a:ext cx="10484070" cy="3422904"/>
        </p:xfrm>
        <a:graphic>
          <a:graphicData uri="http://schemas.openxmlformats.org/drawingml/2006/table">
            <a:tbl>
              <a:tblPr firstRow="1" bandRow="1">
                <a:tableStyleId>{5C22544A-7EE6-4342-B048-85BDC9FD1C3A}</a:tableStyleId>
              </a:tblPr>
              <a:tblGrid>
                <a:gridCol w="3440434">
                  <a:extLst>
                    <a:ext uri="{9D8B030D-6E8A-4147-A177-3AD203B41FA5}">
                      <a16:colId xmlns:a16="http://schemas.microsoft.com/office/drawing/2014/main" val="128791182"/>
                    </a:ext>
                  </a:extLst>
                </a:gridCol>
                <a:gridCol w="7043636">
                  <a:extLst>
                    <a:ext uri="{9D8B030D-6E8A-4147-A177-3AD203B41FA5}">
                      <a16:colId xmlns:a16="http://schemas.microsoft.com/office/drawing/2014/main" val="3897962812"/>
                    </a:ext>
                  </a:extLst>
                </a:gridCol>
              </a:tblGrid>
              <a:tr h="403626">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3247613093"/>
                  </a:ext>
                </a:extLst>
              </a:tr>
              <a:tr h="1058988">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Data[31:0] for 32-bit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GB" sz="1800" b="0" i="0" u="none" strike="noStrike" dirty="0">
                          <a:solidFill>
                            <a:srgbClr val="000000"/>
                          </a:solidFill>
                          <a:effectLst/>
                          <a:latin typeface="Calibri" panose="020F0502020204030204" pitchFamily="34" charset="0"/>
                        </a:rPr>
                        <a:t>32 bits represent the 4 symbols of Rx data. </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dirty="0">
                          <a:solidFill>
                            <a:srgbClr val="000000"/>
                          </a:solidFill>
                          <a:effectLst/>
                          <a:latin typeface="Consolas" panose="020B0609020204030204" pitchFamily="49" charset="0"/>
                        </a:rPr>
                        <a:t>Rx Data[7:0]</a:t>
                      </a:r>
                      <a:r>
                        <a:rPr lang="en-GB" sz="1800" b="0" i="0" u="none" strike="noStrike" dirty="0">
                          <a:solidFill>
                            <a:srgbClr val="000000"/>
                          </a:solidFill>
                          <a:effectLst/>
                          <a:latin typeface="Calibri" panose="020F0502020204030204" pitchFamily="34" charset="0"/>
                        </a:rPr>
                        <a:t> → 1st symbol</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dirty="0">
                          <a:solidFill>
                            <a:srgbClr val="000000"/>
                          </a:solidFill>
                          <a:effectLst/>
                          <a:latin typeface="Consolas" panose="020B0609020204030204" pitchFamily="49" charset="0"/>
                        </a:rPr>
                        <a:t>Rx Data[15:8]</a:t>
                      </a:r>
                      <a:r>
                        <a:rPr lang="en-GB" sz="1800" b="0" i="0" u="none" strike="noStrike" dirty="0">
                          <a:solidFill>
                            <a:srgbClr val="000000"/>
                          </a:solidFill>
                          <a:effectLst/>
                          <a:latin typeface="Calibri" panose="020F0502020204030204" pitchFamily="34" charset="0"/>
                        </a:rPr>
                        <a:t> → 2nd symbol</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dirty="0">
                          <a:solidFill>
                            <a:srgbClr val="000000"/>
                          </a:solidFill>
                          <a:effectLst/>
                          <a:latin typeface="Consolas" panose="020B0609020204030204" pitchFamily="49" charset="0"/>
                        </a:rPr>
                        <a:t>Rx Data[23:16]</a:t>
                      </a:r>
                      <a:r>
                        <a:rPr lang="en-GB" sz="1800" b="0" i="0" u="none" strike="noStrike" dirty="0">
                          <a:solidFill>
                            <a:srgbClr val="000000"/>
                          </a:solidFill>
                          <a:effectLst/>
                          <a:latin typeface="Calibri" panose="020F0502020204030204" pitchFamily="34" charset="0"/>
                        </a:rPr>
                        <a:t> → 3rd symbol</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dirty="0">
                          <a:solidFill>
                            <a:srgbClr val="000000"/>
                          </a:solidFill>
                          <a:effectLst/>
                          <a:latin typeface="Consolas" panose="020B0609020204030204" pitchFamily="49" charset="0"/>
                        </a:rPr>
                        <a:t>Rx Data[31:24]</a:t>
                      </a:r>
                      <a:r>
                        <a:rPr lang="en-GB" sz="1800" b="0" i="0" u="none" strike="noStrike" dirty="0">
                          <a:solidFill>
                            <a:srgbClr val="000000"/>
                          </a:solidFill>
                          <a:effectLst/>
                          <a:latin typeface="Calibri" panose="020F0502020204030204" pitchFamily="34" charset="0"/>
                        </a:rPr>
                        <a:t> → 4th symbol</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None/>
                      </a:pP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extLst>
                  <a:ext uri="{0D108BD9-81ED-4DB2-BD59-A6C34878D82A}">
                    <a16:rowId xmlns:a16="http://schemas.microsoft.com/office/drawing/2014/main" val="344369021"/>
                  </a:ext>
                </a:extLst>
              </a:tr>
              <a:tr h="731307">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Data[15:0] for 16-bit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16 bits represent the 2 symbols of Rx data.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dirty="0">
                          <a:solidFill>
                            <a:srgbClr val="000000"/>
                          </a:solidFill>
                          <a:effectLst/>
                          <a:latin typeface="Consolas" panose="020B0609020204030204" pitchFamily="49" charset="0"/>
                        </a:rPr>
                        <a:t>Rx Data[7:0]</a:t>
                      </a:r>
                      <a:r>
                        <a:rPr lang="en-US" sz="1800" b="0" i="0" u="none" strike="noStrike" dirty="0">
                          <a:solidFill>
                            <a:srgbClr val="000000"/>
                          </a:solidFill>
                          <a:effectLst/>
                          <a:latin typeface="Calibri" panose="020F0502020204030204" pitchFamily="34" charset="0"/>
                        </a:rPr>
                        <a:t> → first symbol</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dirty="0">
                          <a:solidFill>
                            <a:srgbClr val="000000"/>
                          </a:solidFill>
                          <a:effectLst/>
                          <a:latin typeface="Consolas" panose="020B0609020204030204" pitchFamily="49" charset="0"/>
                        </a:rPr>
                        <a:t>Rx Data[15:8]</a:t>
                      </a:r>
                      <a:r>
                        <a:rPr lang="en-US" sz="1800" b="0" i="0" u="none" strike="noStrike" dirty="0">
                          <a:solidFill>
                            <a:srgbClr val="000000"/>
                          </a:solidFill>
                          <a:effectLst/>
                          <a:latin typeface="Calibri" panose="020F0502020204030204" pitchFamily="34" charset="0"/>
                        </a:rPr>
                        <a:t> → second symbol</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None/>
                      </a:pPr>
                      <a:r>
                        <a:rPr lang="en-US" sz="1800" b="0" i="0" dirty="0">
                          <a:solidFill>
                            <a:srgbClr val="000000"/>
                          </a:solidFill>
                          <a:effectLst/>
                          <a:latin typeface="Calibri" panose="020F0502020204030204" pitchFamily="34" charset="0"/>
                        </a:rPr>
                        <a:t>​</a:t>
                      </a:r>
                      <a:endParaRPr lang="en-US" b="0" i="0" dirty="0">
                        <a:solidFill>
                          <a:srgbClr val="000000"/>
                        </a:solidFill>
                        <a:effectLst/>
                      </a:endParaRPr>
                    </a:p>
                  </a:txBody>
                  <a:tcPr/>
                </a:tc>
                <a:extLst>
                  <a:ext uri="{0D108BD9-81ED-4DB2-BD59-A6C34878D82A}">
                    <a16:rowId xmlns:a16="http://schemas.microsoft.com/office/drawing/2014/main" val="3142772144"/>
                  </a:ext>
                </a:extLst>
              </a:tr>
              <a:tr h="403626">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Data[7:0] for 8-bit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8 bits represent the 1 symbols of Rx data.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None/>
                      </a:pPr>
                      <a:r>
                        <a:rPr lang="en-US" sz="1800" b="0" i="0" dirty="0">
                          <a:solidFill>
                            <a:srgbClr val="000000"/>
                          </a:solidFill>
                          <a:effectLst/>
                          <a:latin typeface="Calibri" panose="020F0502020204030204" pitchFamily="34" charset="0"/>
                        </a:rPr>
                        <a:t>​</a:t>
                      </a:r>
                      <a:endParaRPr lang="en-US" b="0" i="0" dirty="0">
                        <a:solidFill>
                          <a:srgbClr val="000000"/>
                        </a:solidFill>
                        <a:effectLst/>
                      </a:endParaRPr>
                    </a:p>
                  </a:txBody>
                  <a:tcPr/>
                </a:tc>
                <a:extLst>
                  <a:ext uri="{0D108BD9-81ED-4DB2-BD59-A6C34878D82A}">
                    <a16:rowId xmlns:a16="http://schemas.microsoft.com/office/drawing/2014/main" val="1688439087"/>
                  </a:ext>
                </a:extLst>
              </a:tr>
            </a:tbl>
          </a:graphicData>
        </a:graphic>
      </p:graphicFrame>
      <p:sp>
        <p:nvSpPr>
          <p:cNvPr id="17" name="TextBox 16">
            <a:extLst>
              <a:ext uri="{FF2B5EF4-FFF2-40B4-BE49-F238E27FC236}">
                <a16:creationId xmlns:a16="http://schemas.microsoft.com/office/drawing/2014/main" id="{CF132C02-6D17-A67F-F564-EC7FE7F130D6}"/>
              </a:ext>
            </a:extLst>
          </p:cNvPr>
          <p:cNvSpPr txBox="1"/>
          <p:nvPr/>
        </p:nvSpPr>
        <p:spPr>
          <a:xfrm>
            <a:off x="1931276" y="2498835"/>
            <a:ext cx="7214695" cy="369332"/>
          </a:xfrm>
          <a:prstGeom prst="rect">
            <a:avLst/>
          </a:prstGeom>
          <a:noFill/>
        </p:spPr>
        <p:txBody>
          <a:bodyPr wrap="square">
            <a:spAutoFit/>
          </a:bodyPr>
          <a:lstStyle/>
          <a:p>
            <a:pPr algn="l" rtl="0" fontAlgn="base"/>
            <a:r>
              <a:rPr lang="en-GB" sz="1800" b="1" i="0" u="none" strike="noStrike" dirty="0">
                <a:solidFill>
                  <a:srgbClr val="455F51"/>
                </a:solidFill>
                <a:effectLst/>
                <a:latin typeface="Calibri" panose="020F0502020204030204" pitchFamily="34" charset="0"/>
              </a:rPr>
              <a:t>Rx Data Interface Output Signals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365929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A5EF3-EB25-71EA-BEB1-01D25B95936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5E9EF84-0668-94F7-C0D7-131C9D1E6050}"/>
              </a:ext>
            </a:extLst>
          </p:cNvPr>
          <p:cNvSpPr>
            <a:spLocks noGrp="1"/>
          </p:cNvSpPr>
          <p:nvPr>
            <p:ph type="title"/>
          </p:nvPr>
        </p:nvSpPr>
        <p:spPr>
          <a:xfrm>
            <a:off x="4313" y="5691"/>
            <a:ext cx="12168996" cy="865489"/>
          </a:xfrm>
          <a:solidFill>
            <a:schemeClr val="accent6"/>
          </a:solidFill>
        </p:spPr>
        <p:txBody>
          <a:bodyPr>
            <a:normAutofit fontScale="90000"/>
          </a:bodyPr>
          <a:lstStyle/>
          <a:p>
            <a:pPr algn="ctr"/>
            <a:br>
              <a:rPr lang="en-GB" b="1" dirty="0"/>
            </a:br>
            <a:r>
              <a:rPr lang="en-GB" sz="3100" b="1" dirty="0"/>
              <a:t>Rx Data Interface Output Signals </a:t>
            </a:r>
            <a:r>
              <a:rPr lang="en-US" dirty="0"/>
              <a:t>​</a:t>
            </a:r>
            <a:br>
              <a:rPr lang="en-US" dirty="0"/>
            </a:br>
            <a:endParaRPr lang="en-US" sz="4000" dirty="0">
              <a:latin typeface="Aptos"/>
            </a:endParaRPr>
          </a:p>
        </p:txBody>
      </p:sp>
      <p:graphicFrame>
        <p:nvGraphicFramePr>
          <p:cNvPr id="8" name="Content Placeholder 7">
            <a:extLst>
              <a:ext uri="{FF2B5EF4-FFF2-40B4-BE49-F238E27FC236}">
                <a16:creationId xmlns:a16="http://schemas.microsoft.com/office/drawing/2014/main" id="{E016B100-E941-C995-85D9-77F71207E4B9}"/>
              </a:ext>
            </a:extLst>
          </p:cNvPr>
          <p:cNvGraphicFramePr>
            <a:graphicFrameLocks noGrp="1"/>
          </p:cNvGraphicFramePr>
          <p:nvPr>
            <p:ph idx="1"/>
            <p:extLst>
              <p:ext uri="{D42A27DB-BD31-4B8C-83A1-F6EECF244321}">
                <p14:modId xmlns:p14="http://schemas.microsoft.com/office/powerpoint/2010/main" val="1278761344"/>
              </p:ext>
            </p:extLst>
          </p:nvPr>
        </p:nvGraphicFramePr>
        <p:xfrm>
          <a:off x="838200" y="1825625"/>
          <a:ext cx="10515600" cy="360273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047238772"/>
                    </a:ext>
                  </a:extLst>
                </a:gridCol>
                <a:gridCol w="5257800">
                  <a:extLst>
                    <a:ext uri="{9D8B030D-6E8A-4147-A177-3AD203B41FA5}">
                      <a16:colId xmlns:a16="http://schemas.microsoft.com/office/drawing/2014/main" val="2061230683"/>
                    </a:ext>
                  </a:extLst>
                </a:gridCol>
              </a:tblGrid>
              <a:tr h="370840">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r>
                        <a:rPr lang="en-GB" sz="1800" b="1" i="0" u="none" strike="noStrike" dirty="0">
                          <a:solidFill>
                            <a:srgbClr val="000000"/>
                          </a:solidFill>
                          <a:effectLst/>
                          <a:latin typeface="Calibri" panose="020F0502020204030204" pitchFamily="34" charset="0"/>
                        </a:rPr>
                        <a:t>SerDes)</a:t>
                      </a:r>
                      <a:r>
                        <a:rPr lang="en-GB" sz="1800" b="1" i="0" dirty="0">
                          <a:solidFill>
                            <a:srgbClr val="000000"/>
                          </a:solidFill>
                          <a:effectLst/>
                          <a:latin typeface="Calibri" panose="020F0502020204030204" pitchFamily="34" charset="0"/>
                        </a:rPr>
                        <a:t>​</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1259588698"/>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Data[159:0] for 160-bit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auto">
                        <a:lnSpc>
                          <a:spcPts val="1725"/>
                        </a:lnSpc>
                        <a:buNone/>
                      </a:pPr>
                      <a:r>
                        <a:rPr lang="en-US" sz="1800" b="0" i="0" u="none" strike="noStrike">
                          <a:solidFill>
                            <a:srgbClr val="000000"/>
                          </a:solidFill>
                          <a:effectLst/>
                          <a:latin typeface="Calibri" panose="020F0502020204030204" pitchFamily="34" charset="0"/>
                        </a:rPr>
                        <a:t>​</a:t>
                      </a:r>
                    </a:p>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160-bit interface, 160 bits represent 16 symbols of Rx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2918830643"/>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Data[79:0] for 80-bit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For the 80-bit interface, 80 bits represent eight symbols of Rx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396648260"/>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Data[39:0] for 40-bit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For the 40-bit interface, 40 bits represent Four symbols of Rx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4071795600"/>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Data[19:0] for 20-bit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For the 20-bit interface, 20 bits represent Two symbols of Rx data</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4041327798"/>
                  </a:ext>
                </a:extLst>
              </a:tr>
              <a:tr h="370840">
                <a:tc>
                  <a:txBody>
                    <a:bodyPr/>
                    <a:lstStyle/>
                    <a:p>
                      <a:pPr algn="l" rtl="0" fontAlgn="base">
                        <a:lnSpc>
                          <a:spcPts val="1725"/>
                        </a:lnSpc>
                        <a:buNone/>
                      </a:pPr>
                      <a:r>
                        <a:rPr lang="nn-NO" sz="1800" b="0" i="0" u="none" strike="noStrike">
                          <a:solidFill>
                            <a:srgbClr val="000000"/>
                          </a:solidFill>
                          <a:effectLst/>
                          <a:latin typeface="Calibri" panose="020F0502020204030204" pitchFamily="34" charset="0"/>
                        </a:rPr>
                        <a:t>Rx Data[9:0] for 10-bit interface</a:t>
                      </a:r>
                      <a:r>
                        <a:rPr lang="nn-NO" sz="1800" b="0" i="0">
                          <a:solidFill>
                            <a:srgbClr val="000000"/>
                          </a:solidFill>
                          <a:effectLst/>
                          <a:latin typeface="Calibri" panose="020F0502020204030204" pitchFamily="34" charset="0"/>
                        </a:rPr>
                        <a:t>​</a:t>
                      </a:r>
                      <a:endParaRPr lang="nn-NO"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For the 10-bit interface, 10 bits represent One symbols of Rx data</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1995335108"/>
                  </a:ext>
                </a:extLst>
              </a:tr>
            </a:tbl>
          </a:graphicData>
        </a:graphic>
      </p:graphicFrame>
    </p:spTree>
    <p:extLst>
      <p:ext uri="{BB962C8B-B14F-4D97-AF65-F5344CB8AC3E}">
        <p14:creationId xmlns:p14="http://schemas.microsoft.com/office/powerpoint/2010/main" val="3587976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BED3E-F274-C2F7-7847-FBD9C0A6CA82}"/>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F24C512-C057-32EF-DD9E-ABA04EEA00CE}"/>
              </a:ext>
            </a:extLst>
          </p:cNvPr>
          <p:cNvGraphicFramePr>
            <a:graphicFrameLocks noGrp="1"/>
          </p:cNvGraphicFramePr>
          <p:nvPr>
            <p:ph idx="1"/>
            <p:extLst>
              <p:ext uri="{D42A27DB-BD31-4B8C-83A1-F6EECF244321}">
                <p14:modId xmlns:p14="http://schemas.microsoft.com/office/powerpoint/2010/main" val="1024061988"/>
              </p:ext>
            </p:extLst>
          </p:nvPr>
        </p:nvGraphicFramePr>
        <p:xfrm>
          <a:off x="1845259" y="977980"/>
          <a:ext cx="8487104" cy="5811266"/>
        </p:xfrm>
        <a:graphic>
          <a:graphicData uri="http://schemas.openxmlformats.org/drawingml/2006/table">
            <a:tbl>
              <a:tblPr firstRow="1" bandRow="1">
                <a:tableStyleId>{5C22544A-7EE6-4342-B048-85BDC9FD1C3A}</a:tableStyleId>
              </a:tblPr>
              <a:tblGrid>
                <a:gridCol w="1789717">
                  <a:extLst>
                    <a:ext uri="{9D8B030D-6E8A-4147-A177-3AD203B41FA5}">
                      <a16:colId xmlns:a16="http://schemas.microsoft.com/office/drawing/2014/main" val="280836967"/>
                    </a:ext>
                  </a:extLst>
                </a:gridCol>
                <a:gridCol w="6697387">
                  <a:extLst>
                    <a:ext uri="{9D8B030D-6E8A-4147-A177-3AD203B41FA5}">
                      <a16:colId xmlns:a16="http://schemas.microsoft.com/office/drawing/2014/main" val="3130688938"/>
                    </a:ext>
                  </a:extLst>
                </a:gridCol>
              </a:tblGrid>
              <a:tr h="349144">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Description​</a:t>
                      </a:r>
                      <a:endParaRPr lang="en-GB" b="1" i="0" dirty="0">
                        <a:solidFill>
                          <a:srgbClr val="000000"/>
                        </a:solidFill>
                        <a:effectLst/>
                      </a:endParaRPr>
                    </a:p>
                  </a:txBody>
                  <a:tcPr/>
                </a:tc>
                <a:extLst>
                  <a:ext uri="{0D108BD9-81ED-4DB2-BD59-A6C34878D82A}">
                    <a16:rowId xmlns:a16="http://schemas.microsoft.com/office/drawing/2014/main" val="3101558837"/>
                  </a:ext>
                </a:extLst>
              </a:tr>
              <a:tr h="3465593">
                <a:tc>
                  <a:txBody>
                    <a:bodyPr/>
                    <a:lstStyle/>
                    <a:p>
                      <a:pPr algn="l" rtl="0" fontAlgn="base">
                        <a:lnSpc>
                          <a:spcPts val="1725"/>
                        </a:lnSpc>
                        <a:buNone/>
                      </a:pPr>
                      <a:r>
                        <a:rPr lang="en-GB" sz="1800" b="0" i="0" u="none" strike="noStrike" dirty="0">
                          <a:solidFill>
                            <a:srgbClr val="000000"/>
                          </a:solidFill>
                          <a:effectLst/>
                          <a:latin typeface="Calibri" panose="020F0502020204030204" pitchFamily="34" charset="0"/>
                        </a:rPr>
                        <a:t>PHY mode[3:0]</a:t>
                      </a: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tc>
                  <a:txBody>
                    <a:bodyPr/>
                    <a:lstStyle/>
                    <a:p>
                      <a:pPr algn="l" rtl="0" fontAlgn="auto">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Selects the PHY operating mode​</a:t>
                      </a: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algn="l" rtl="0" fontAlgn="auto">
                        <a:lnSpc>
                          <a:spcPts val="1725"/>
                        </a:lnSpc>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2026971368"/>
                  </a:ext>
                </a:extLst>
              </a:tr>
            </a:tbl>
          </a:graphicData>
        </a:graphic>
      </p:graphicFrame>
      <p:sp>
        <p:nvSpPr>
          <p:cNvPr id="5" name="Title 1">
            <a:extLst>
              <a:ext uri="{FF2B5EF4-FFF2-40B4-BE49-F238E27FC236}">
                <a16:creationId xmlns:a16="http://schemas.microsoft.com/office/drawing/2014/main" id="{7F844283-4C37-D42E-2BF2-8F50A01967A3}"/>
              </a:ext>
            </a:extLst>
          </p:cNvPr>
          <p:cNvSpPr>
            <a:spLocks noGrp="1"/>
          </p:cNvSpPr>
          <p:nvPr>
            <p:ph type="title"/>
          </p:nvPr>
        </p:nvSpPr>
        <p:spPr>
          <a:xfrm>
            <a:off x="4313" y="5691"/>
            <a:ext cx="12168996" cy="865489"/>
          </a:xfrm>
          <a:solidFill>
            <a:schemeClr val="accent6"/>
          </a:solidFill>
        </p:spPr>
        <p:txBody>
          <a:bodyPr>
            <a:normAutofit fontScale="90000"/>
          </a:bodyPr>
          <a:lstStyle/>
          <a:p>
            <a:pPr algn="ctr"/>
            <a:br>
              <a:rPr lang="en-GB" b="1" dirty="0"/>
            </a:br>
            <a:r>
              <a:rPr lang="en-GB" sz="3100" b="1" dirty="0"/>
              <a:t>Command Interface Input Signals</a:t>
            </a:r>
            <a:r>
              <a:rPr lang="en-US" sz="3100" dirty="0"/>
              <a:t>​</a:t>
            </a:r>
            <a:br>
              <a:rPr lang="en-US" sz="3100" dirty="0"/>
            </a:br>
            <a:endParaRPr lang="en-US" sz="3100" dirty="0">
              <a:latin typeface="Aptos"/>
            </a:endParaRPr>
          </a:p>
        </p:txBody>
      </p:sp>
      <p:graphicFrame>
        <p:nvGraphicFramePr>
          <p:cNvPr id="6" name="Table 5">
            <a:extLst>
              <a:ext uri="{FF2B5EF4-FFF2-40B4-BE49-F238E27FC236}">
                <a16:creationId xmlns:a16="http://schemas.microsoft.com/office/drawing/2014/main" id="{5AF8C340-0FD7-7693-A201-196AC233317A}"/>
              </a:ext>
            </a:extLst>
          </p:cNvPr>
          <p:cNvGraphicFramePr>
            <a:graphicFrameLocks noGrp="1"/>
          </p:cNvGraphicFramePr>
          <p:nvPr>
            <p:extLst>
              <p:ext uri="{D42A27DB-BD31-4B8C-83A1-F6EECF244321}">
                <p14:modId xmlns:p14="http://schemas.microsoft.com/office/powerpoint/2010/main" val="3357742124"/>
              </p:ext>
            </p:extLst>
          </p:nvPr>
        </p:nvGraphicFramePr>
        <p:xfrm>
          <a:off x="4059621" y="1891862"/>
          <a:ext cx="6193220" cy="2272338"/>
        </p:xfrm>
        <a:graphic>
          <a:graphicData uri="http://schemas.openxmlformats.org/drawingml/2006/table">
            <a:tbl>
              <a:tblPr firstRow="1" bandRow="1">
                <a:tableStyleId>{5C22544A-7EE6-4342-B048-85BDC9FD1C3A}</a:tableStyleId>
              </a:tblPr>
              <a:tblGrid>
                <a:gridCol w="1602631">
                  <a:extLst>
                    <a:ext uri="{9D8B030D-6E8A-4147-A177-3AD203B41FA5}">
                      <a16:colId xmlns:a16="http://schemas.microsoft.com/office/drawing/2014/main" val="3164432086"/>
                    </a:ext>
                  </a:extLst>
                </a:gridCol>
                <a:gridCol w="4590589">
                  <a:extLst>
                    <a:ext uri="{9D8B030D-6E8A-4147-A177-3AD203B41FA5}">
                      <a16:colId xmlns:a16="http://schemas.microsoft.com/office/drawing/2014/main" val="4059470067"/>
                    </a:ext>
                  </a:extLst>
                </a:gridCol>
              </a:tblGrid>
              <a:tr h="376482">
                <a:tc>
                  <a:txBody>
                    <a:bodyPr/>
                    <a:lstStyle/>
                    <a:p>
                      <a:pPr algn="l" rtl="0" fontAlgn="base">
                        <a:lnSpc>
                          <a:spcPts val="1725"/>
                        </a:lnSpc>
                        <a:buNone/>
                      </a:pPr>
                      <a:r>
                        <a:rPr lang="en-GB" sz="1800" b="1" i="0" dirty="0" err="1">
                          <a:solidFill>
                            <a:srgbClr val="000000"/>
                          </a:solidFill>
                          <a:effectLst/>
                          <a:latin typeface="Calibri" panose="020F0502020204030204" pitchFamily="34" charset="0"/>
                        </a:rPr>
                        <a:t>PHY_mode</a:t>
                      </a:r>
                      <a:r>
                        <a:rPr lang="en-GB" sz="1800" b="1" i="0" dirty="0">
                          <a:solidFill>
                            <a:srgbClr val="000000"/>
                          </a:solidFill>
                          <a:effectLst/>
                          <a:latin typeface="Calibri" panose="020F0502020204030204" pitchFamily="34" charset="0"/>
                        </a:rPr>
                        <a:t>​</a:t>
                      </a:r>
                      <a:endParaRPr lang="en-GB" b="1" i="0" dirty="0">
                        <a:solidFill>
                          <a:srgbClr val="000000"/>
                        </a:solidFill>
                        <a:effectLst/>
                      </a:endParaRPr>
                    </a:p>
                  </a:txBody>
                  <a:tcPr anchor="ctr"/>
                </a:tc>
                <a:tc>
                  <a:txBody>
                    <a:bodyPr/>
                    <a:lstStyle/>
                    <a:p>
                      <a:pPr algn="l" rtl="0" fontAlgn="base">
                        <a:lnSpc>
                          <a:spcPts val="1725"/>
                        </a:lnSpc>
                        <a:buNone/>
                      </a:pPr>
                      <a:r>
                        <a:rPr lang="en-GB" sz="1800" b="1" i="0">
                          <a:solidFill>
                            <a:srgbClr val="000000"/>
                          </a:solidFill>
                          <a:effectLst/>
                          <a:latin typeface="Calibri" panose="020F0502020204030204" pitchFamily="34" charset="0"/>
                        </a:rPr>
                        <a:t>Meaning​</a:t>
                      </a:r>
                      <a:endParaRPr lang="en-GB" b="1" i="0">
                        <a:solidFill>
                          <a:srgbClr val="000000"/>
                        </a:solidFill>
                        <a:effectLst/>
                      </a:endParaRPr>
                    </a:p>
                  </a:txBody>
                  <a:tcPr anchor="ctr"/>
                </a:tc>
                <a:extLst>
                  <a:ext uri="{0D108BD9-81ED-4DB2-BD59-A6C34878D82A}">
                    <a16:rowId xmlns:a16="http://schemas.microsoft.com/office/drawing/2014/main" val="4207729760"/>
                  </a:ext>
                </a:extLst>
              </a:tr>
              <a:tr h="223660">
                <a:tc>
                  <a:txBody>
                    <a:bodyPr/>
                    <a:lstStyle/>
                    <a:p>
                      <a:pPr algn="l" rtl="0" fontAlgn="base">
                        <a:lnSpc>
                          <a:spcPts val="1725"/>
                        </a:lnSpc>
                        <a:buNone/>
                      </a:pPr>
                      <a:r>
                        <a:rPr lang="en-GB" sz="1800" b="0" i="0" dirty="0">
                          <a:solidFill>
                            <a:srgbClr val="000000"/>
                          </a:solidFill>
                          <a:effectLst/>
                          <a:latin typeface="Calibri" panose="020F0502020204030204" pitchFamily="34" charset="0"/>
                        </a:rPr>
                        <a:t>0​</a:t>
                      </a:r>
                      <a:endParaRPr lang="en-GB" b="0" i="0" dirty="0">
                        <a:solidFill>
                          <a:srgbClr val="000000"/>
                        </a:solidFill>
                        <a:effectLst/>
                      </a:endParaRPr>
                    </a:p>
                  </a:txBody>
                  <a:tcPr anchor="ctr"/>
                </a:tc>
                <a:tc>
                  <a:txBody>
                    <a:bodyPr/>
                    <a:lstStyle/>
                    <a:p>
                      <a:pPr algn="l" rtl="0" fontAlgn="base">
                        <a:lnSpc>
                          <a:spcPts val="1725"/>
                        </a:lnSpc>
                        <a:buNone/>
                      </a:pPr>
                      <a:r>
                        <a:rPr lang="en-GB" sz="1800" b="0" i="0" dirty="0">
                          <a:solidFill>
                            <a:srgbClr val="000000"/>
                          </a:solidFill>
                          <a:effectLst/>
                          <a:latin typeface="Calibri" panose="020F0502020204030204" pitchFamily="34" charset="0"/>
                        </a:rPr>
                        <a:t>PCIe​</a:t>
                      </a:r>
                      <a:endParaRPr lang="en-GB" b="0" i="0" dirty="0">
                        <a:solidFill>
                          <a:srgbClr val="000000"/>
                        </a:solidFill>
                        <a:effectLst/>
                      </a:endParaRPr>
                    </a:p>
                  </a:txBody>
                  <a:tcPr anchor="ctr"/>
                </a:tc>
                <a:extLst>
                  <a:ext uri="{0D108BD9-81ED-4DB2-BD59-A6C34878D82A}">
                    <a16:rowId xmlns:a16="http://schemas.microsoft.com/office/drawing/2014/main" val="953856698"/>
                  </a:ext>
                </a:extLst>
              </a:tr>
              <a:tr h="223660">
                <a:tc>
                  <a:txBody>
                    <a:bodyPr/>
                    <a:lstStyle/>
                    <a:p>
                      <a:pPr algn="l" rtl="0" fontAlgn="base">
                        <a:lnSpc>
                          <a:spcPts val="1725"/>
                        </a:lnSpc>
                        <a:buNone/>
                      </a:pPr>
                      <a:r>
                        <a:rPr lang="en-GB" sz="1800" b="0" i="0">
                          <a:solidFill>
                            <a:srgbClr val="000000"/>
                          </a:solidFill>
                          <a:effectLst/>
                          <a:latin typeface="Calibri" panose="020F0502020204030204" pitchFamily="34" charset="0"/>
                        </a:rPr>
                        <a:t>1​</a:t>
                      </a:r>
                      <a:endParaRPr lang="en-GB" b="0" i="0">
                        <a:solidFill>
                          <a:srgbClr val="000000"/>
                        </a:solidFill>
                        <a:effectLst/>
                      </a:endParaRPr>
                    </a:p>
                  </a:txBody>
                  <a:tcPr anchor="ctr"/>
                </a:tc>
                <a:tc>
                  <a:txBody>
                    <a:bodyPr/>
                    <a:lstStyle/>
                    <a:p>
                      <a:pPr algn="l" rtl="0" fontAlgn="base">
                        <a:lnSpc>
                          <a:spcPts val="1725"/>
                        </a:lnSpc>
                        <a:buNone/>
                      </a:pPr>
                      <a:r>
                        <a:rPr lang="en-GB" sz="1800" b="0" i="0">
                          <a:solidFill>
                            <a:srgbClr val="000000"/>
                          </a:solidFill>
                          <a:effectLst/>
                          <a:latin typeface="Calibri" panose="020F0502020204030204" pitchFamily="34" charset="0"/>
                        </a:rPr>
                        <a:t>USB​</a:t>
                      </a:r>
                      <a:endParaRPr lang="en-GB" b="0" i="0">
                        <a:solidFill>
                          <a:srgbClr val="000000"/>
                        </a:solidFill>
                        <a:effectLst/>
                      </a:endParaRPr>
                    </a:p>
                  </a:txBody>
                  <a:tcPr anchor="ctr"/>
                </a:tc>
                <a:extLst>
                  <a:ext uri="{0D108BD9-81ED-4DB2-BD59-A6C34878D82A}">
                    <a16:rowId xmlns:a16="http://schemas.microsoft.com/office/drawing/2014/main" val="770153649"/>
                  </a:ext>
                </a:extLst>
              </a:tr>
              <a:tr h="223660">
                <a:tc>
                  <a:txBody>
                    <a:bodyPr/>
                    <a:lstStyle/>
                    <a:p>
                      <a:pPr algn="l" rtl="0" fontAlgn="base">
                        <a:lnSpc>
                          <a:spcPts val="1725"/>
                        </a:lnSpc>
                        <a:buNone/>
                      </a:pPr>
                      <a:r>
                        <a:rPr lang="en-GB" sz="1800" b="0" i="0">
                          <a:solidFill>
                            <a:srgbClr val="000000"/>
                          </a:solidFill>
                          <a:effectLst/>
                          <a:latin typeface="Calibri" panose="020F0502020204030204" pitchFamily="34" charset="0"/>
                        </a:rPr>
                        <a:t>2​</a:t>
                      </a:r>
                      <a:endParaRPr lang="en-GB" b="0" i="0">
                        <a:solidFill>
                          <a:srgbClr val="000000"/>
                        </a:solidFill>
                        <a:effectLst/>
                      </a:endParaRPr>
                    </a:p>
                  </a:txBody>
                  <a:tcPr anchor="ctr"/>
                </a:tc>
                <a:tc>
                  <a:txBody>
                    <a:bodyPr/>
                    <a:lstStyle/>
                    <a:p>
                      <a:pPr algn="l" rtl="0" fontAlgn="base">
                        <a:lnSpc>
                          <a:spcPts val="1725"/>
                        </a:lnSpc>
                        <a:buNone/>
                      </a:pPr>
                      <a:r>
                        <a:rPr lang="en-GB" sz="1800" b="0" i="0" dirty="0">
                          <a:solidFill>
                            <a:srgbClr val="000000"/>
                          </a:solidFill>
                          <a:effectLst/>
                          <a:latin typeface="Calibri" panose="020F0502020204030204" pitchFamily="34" charset="0"/>
                        </a:rPr>
                        <a:t>SATA​</a:t>
                      </a:r>
                      <a:endParaRPr lang="en-GB" b="0" i="0" dirty="0">
                        <a:solidFill>
                          <a:srgbClr val="000000"/>
                        </a:solidFill>
                        <a:effectLst/>
                      </a:endParaRPr>
                    </a:p>
                  </a:txBody>
                  <a:tcPr anchor="ctr"/>
                </a:tc>
                <a:extLst>
                  <a:ext uri="{0D108BD9-81ED-4DB2-BD59-A6C34878D82A}">
                    <a16:rowId xmlns:a16="http://schemas.microsoft.com/office/drawing/2014/main" val="3790542430"/>
                  </a:ext>
                </a:extLst>
              </a:tr>
              <a:tr h="223660">
                <a:tc>
                  <a:txBody>
                    <a:bodyPr/>
                    <a:lstStyle/>
                    <a:p>
                      <a:pPr algn="l" rtl="0" fontAlgn="base">
                        <a:lnSpc>
                          <a:spcPts val="1725"/>
                        </a:lnSpc>
                        <a:buNone/>
                      </a:pPr>
                      <a:r>
                        <a:rPr lang="en-GB" sz="1800" b="0" i="0">
                          <a:solidFill>
                            <a:srgbClr val="000000"/>
                          </a:solidFill>
                          <a:effectLst/>
                          <a:latin typeface="Calibri" panose="020F0502020204030204" pitchFamily="34" charset="0"/>
                        </a:rPr>
                        <a:t>3​</a:t>
                      </a:r>
                      <a:endParaRPr lang="en-GB" b="0" i="0">
                        <a:solidFill>
                          <a:srgbClr val="000000"/>
                        </a:solidFill>
                        <a:effectLst/>
                      </a:endParaRPr>
                    </a:p>
                  </a:txBody>
                  <a:tcPr anchor="ctr"/>
                </a:tc>
                <a:tc>
                  <a:txBody>
                    <a:bodyPr/>
                    <a:lstStyle/>
                    <a:p>
                      <a:pPr algn="l" rtl="0" fontAlgn="base">
                        <a:lnSpc>
                          <a:spcPts val="1725"/>
                        </a:lnSpc>
                        <a:buNone/>
                      </a:pPr>
                      <a:r>
                        <a:rPr lang="en-GB" sz="1800" b="0" i="0">
                          <a:solidFill>
                            <a:srgbClr val="000000"/>
                          </a:solidFill>
                          <a:effectLst/>
                          <a:latin typeface="Calibri" panose="020F0502020204030204" pitchFamily="34" charset="0"/>
                        </a:rPr>
                        <a:t>DisplayPort​</a:t>
                      </a:r>
                      <a:endParaRPr lang="en-GB" b="0" i="0">
                        <a:solidFill>
                          <a:srgbClr val="000000"/>
                        </a:solidFill>
                        <a:effectLst/>
                      </a:endParaRPr>
                    </a:p>
                  </a:txBody>
                  <a:tcPr anchor="ctr"/>
                </a:tc>
                <a:extLst>
                  <a:ext uri="{0D108BD9-81ED-4DB2-BD59-A6C34878D82A}">
                    <a16:rowId xmlns:a16="http://schemas.microsoft.com/office/drawing/2014/main" val="3528257809"/>
                  </a:ext>
                </a:extLst>
              </a:tr>
              <a:tr h="223660">
                <a:tc>
                  <a:txBody>
                    <a:bodyPr/>
                    <a:lstStyle/>
                    <a:p>
                      <a:pPr algn="l" rtl="0" fontAlgn="base">
                        <a:lnSpc>
                          <a:spcPts val="1725"/>
                        </a:lnSpc>
                        <a:buNone/>
                      </a:pPr>
                      <a:r>
                        <a:rPr lang="en-GB" sz="1800" b="0" i="0">
                          <a:solidFill>
                            <a:srgbClr val="000000"/>
                          </a:solidFill>
                          <a:effectLst/>
                          <a:latin typeface="Calibri" panose="020F0502020204030204" pitchFamily="34" charset="0"/>
                        </a:rPr>
                        <a:t>7​</a:t>
                      </a:r>
                      <a:endParaRPr lang="en-GB" b="0" i="0">
                        <a:solidFill>
                          <a:srgbClr val="000000"/>
                        </a:solidFill>
                        <a:effectLst/>
                      </a:endParaRPr>
                    </a:p>
                  </a:txBody>
                  <a:tcPr anchor="ctr"/>
                </a:tc>
                <a:tc>
                  <a:txBody>
                    <a:bodyPr/>
                    <a:lstStyle/>
                    <a:p>
                      <a:pPr algn="l" rtl="0" fontAlgn="base">
                        <a:lnSpc>
                          <a:spcPts val="1725"/>
                        </a:lnSpc>
                        <a:buNone/>
                      </a:pPr>
                      <a:r>
                        <a:rPr lang="en-GB" sz="1800" b="0" i="0">
                          <a:solidFill>
                            <a:srgbClr val="000000"/>
                          </a:solidFill>
                          <a:effectLst/>
                          <a:latin typeface="Calibri" panose="020F0502020204030204" pitchFamily="34" charset="0"/>
                        </a:rPr>
                        <a:t>USB4​</a:t>
                      </a:r>
                      <a:endParaRPr lang="en-GB" b="0" i="0">
                        <a:solidFill>
                          <a:srgbClr val="000000"/>
                        </a:solidFill>
                        <a:effectLst/>
                      </a:endParaRPr>
                    </a:p>
                  </a:txBody>
                  <a:tcPr anchor="ctr"/>
                </a:tc>
                <a:extLst>
                  <a:ext uri="{0D108BD9-81ED-4DB2-BD59-A6C34878D82A}">
                    <a16:rowId xmlns:a16="http://schemas.microsoft.com/office/drawing/2014/main" val="488629202"/>
                  </a:ext>
                </a:extLst>
              </a:tr>
              <a:tr h="223660">
                <a:tc>
                  <a:txBody>
                    <a:bodyPr/>
                    <a:lstStyle/>
                    <a:p>
                      <a:pPr algn="l" rtl="0" fontAlgn="base">
                        <a:lnSpc>
                          <a:spcPts val="1725"/>
                        </a:lnSpc>
                        <a:buNone/>
                      </a:pPr>
                      <a:r>
                        <a:rPr lang="en-GB" sz="1800" b="0" i="0">
                          <a:solidFill>
                            <a:srgbClr val="000000"/>
                          </a:solidFill>
                          <a:effectLst/>
                          <a:latin typeface="Calibri" panose="020F0502020204030204" pitchFamily="34" charset="0"/>
                        </a:rPr>
                        <a:t>Others​</a:t>
                      </a:r>
                      <a:endParaRPr lang="en-GB" b="0" i="0">
                        <a:solidFill>
                          <a:srgbClr val="000000"/>
                        </a:solidFill>
                        <a:effectLst/>
                      </a:endParaRPr>
                    </a:p>
                  </a:txBody>
                  <a:tcPr anchor="ctr"/>
                </a:tc>
                <a:tc>
                  <a:txBody>
                    <a:bodyPr/>
                    <a:lstStyle/>
                    <a:p>
                      <a:pPr algn="l" rtl="0" fontAlgn="base">
                        <a:lnSpc>
                          <a:spcPts val="1725"/>
                        </a:lnSpc>
                        <a:buNone/>
                      </a:pPr>
                      <a:r>
                        <a:rPr lang="en-GB" sz="1800" b="0" i="0" dirty="0">
                          <a:solidFill>
                            <a:srgbClr val="000000"/>
                          </a:solidFill>
                          <a:effectLst/>
                          <a:latin typeface="Calibri" panose="020F0502020204030204" pitchFamily="34" charset="0"/>
                        </a:rPr>
                        <a:t>Reserved​</a:t>
                      </a:r>
                      <a:endParaRPr lang="en-GB" b="0" i="0" dirty="0">
                        <a:solidFill>
                          <a:srgbClr val="000000"/>
                        </a:solidFill>
                        <a:effectLst/>
                      </a:endParaRPr>
                    </a:p>
                  </a:txBody>
                  <a:tcPr anchor="ctr"/>
                </a:tc>
                <a:extLst>
                  <a:ext uri="{0D108BD9-81ED-4DB2-BD59-A6C34878D82A}">
                    <a16:rowId xmlns:a16="http://schemas.microsoft.com/office/drawing/2014/main" val="753067177"/>
                  </a:ext>
                </a:extLst>
              </a:tr>
            </a:tbl>
          </a:graphicData>
        </a:graphic>
      </p:graphicFrame>
    </p:spTree>
    <p:extLst>
      <p:ext uri="{BB962C8B-B14F-4D97-AF65-F5344CB8AC3E}">
        <p14:creationId xmlns:p14="http://schemas.microsoft.com/office/powerpoint/2010/main" val="776414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9D0DA-76B4-E947-85AB-95F781640DCC}"/>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5FD7AD16-FADB-DBFB-0A75-D7B12199B6F2}"/>
              </a:ext>
            </a:extLst>
          </p:cNvPr>
          <p:cNvGraphicFramePr>
            <a:graphicFrameLocks noGrp="1"/>
          </p:cNvGraphicFramePr>
          <p:nvPr>
            <p:ph idx="1"/>
            <p:extLst>
              <p:ext uri="{D42A27DB-BD31-4B8C-83A1-F6EECF244321}">
                <p14:modId xmlns:p14="http://schemas.microsoft.com/office/powerpoint/2010/main" val="2803755376"/>
              </p:ext>
            </p:extLst>
          </p:nvPr>
        </p:nvGraphicFramePr>
        <p:xfrm>
          <a:off x="838200" y="1825625"/>
          <a:ext cx="10515600" cy="2867152"/>
        </p:xfrm>
        <a:graphic>
          <a:graphicData uri="http://schemas.openxmlformats.org/drawingml/2006/table">
            <a:tbl>
              <a:tblPr firstRow="1" bandRow="1">
                <a:tableStyleId>{5C22544A-7EE6-4342-B048-85BDC9FD1C3A}</a:tableStyleId>
              </a:tblPr>
              <a:tblGrid>
                <a:gridCol w="2969172">
                  <a:extLst>
                    <a:ext uri="{9D8B030D-6E8A-4147-A177-3AD203B41FA5}">
                      <a16:colId xmlns:a16="http://schemas.microsoft.com/office/drawing/2014/main" val="3291429343"/>
                    </a:ext>
                  </a:extLst>
                </a:gridCol>
                <a:gridCol w="7546428">
                  <a:extLst>
                    <a:ext uri="{9D8B030D-6E8A-4147-A177-3AD203B41FA5}">
                      <a16:colId xmlns:a16="http://schemas.microsoft.com/office/drawing/2014/main" val="2152810480"/>
                    </a:ext>
                  </a:extLst>
                </a:gridCol>
              </a:tblGrid>
              <a:tr h="370840">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3984097245"/>
                  </a:ext>
                </a:extLst>
              </a:tr>
              <a:tr h="370840">
                <a:tc>
                  <a:txBody>
                    <a:bodyPr/>
                    <a:lstStyle/>
                    <a:p>
                      <a:pPr algn="l" rtl="0" fontAlgn="auto">
                        <a:lnSpc>
                          <a:spcPts val="1725"/>
                        </a:lnSpc>
                        <a:buNone/>
                      </a:pPr>
                      <a:r>
                        <a:rPr lang="en-GB" sz="1800" b="0" i="0" u="none" strike="noStrike">
                          <a:solidFill>
                            <a:srgbClr val="000000"/>
                          </a:solidFill>
                          <a:effectLst/>
                          <a:latin typeface="Calibri" panose="020F0502020204030204" pitchFamily="34" charset="0"/>
                        </a:rPr>
                        <a:t>​</a:t>
                      </a:r>
                    </a:p>
                    <a:p>
                      <a:pPr algn="l" rtl="0" fontAlgn="base">
                        <a:lnSpc>
                          <a:spcPts val="1725"/>
                        </a:lnSpc>
                        <a:buNone/>
                      </a:pPr>
                      <a:r>
                        <a:rPr lang="en-GB" sz="1800" b="0" i="0" u="none" strike="noStrike">
                          <a:solidFill>
                            <a:srgbClr val="000000"/>
                          </a:solidFill>
                          <a:effectLst/>
                          <a:latin typeface="Calibri" panose="020F0502020204030204" pitchFamily="34" charset="0"/>
                        </a:rPr>
                        <a:t>SRISEnable </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auto">
                        <a:lnSpc>
                          <a:spcPts val="1725"/>
                        </a:lnSpc>
                        <a:buNone/>
                      </a:pPr>
                      <a:r>
                        <a:rPr lang="en-US" sz="1800" b="0" i="0" u="none" strike="noStrike">
                          <a:solidFill>
                            <a:srgbClr val="000000"/>
                          </a:solidFill>
                          <a:effectLst/>
                          <a:latin typeface="Calibri" panose="020F0502020204030204" pitchFamily="34" charset="0"/>
                        </a:rPr>
                        <a:t>​</a:t>
                      </a:r>
                    </a:p>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SRISEnable tells the PHY to operate in SRIS mode, where transmitter and receiver use independent reference clocks.</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2877290982"/>
                  </a:ext>
                </a:extLst>
              </a:tr>
              <a:tr h="370840">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TxDetectRx/ Loopback</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TxDetectRx/Loopback tells the PHY to perform receiver detection, loopback, or USB LFPS signaling depending on protocol and state.</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2333157782"/>
                  </a:ext>
                </a:extLst>
              </a:tr>
              <a:tr h="370840">
                <a:tc>
                  <a:txBody>
                    <a:bodyPr/>
                    <a:lstStyle/>
                    <a:p>
                      <a:pPr algn="l" rtl="0" fontAlgn="auto">
                        <a:lnSpc>
                          <a:spcPts val="1725"/>
                        </a:lnSpc>
                        <a:buNone/>
                      </a:pPr>
                      <a:r>
                        <a:rPr lang="en-GB" sz="1800" b="0" i="0" u="none" strike="noStrike">
                          <a:solidFill>
                            <a:srgbClr val="000000"/>
                          </a:solidFill>
                          <a:effectLst/>
                          <a:latin typeface="Calibri" panose="020F0502020204030204" pitchFamily="34" charset="0"/>
                        </a:rPr>
                        <a:t>​</a:t>
                      </a:r>
                    </a:p>
                    <a:p>
                      <a:pPr algn="l" rtl="0" fontAlgn="base">
                        <a:lnSpc>
                          <a:spcPts val="1725"/>
                        </a:lnSpc>
                        <a:buNone/>
                      </a:pPr>
                      <a:r>
                        <a:rPr lang="en-GB" sz="1800" b="0" i="0" u="none" strike="noStrike">
                          <a:solidFill>
                            <a:srgbClr val="000000"/>
                          </a:solidFill>
                          <a:effectLst/>
                          <a:latin typeface="Calibri" panose="020F0502020204030204" pitchFamily="34" charset="0"/>
                        </a:rPr>
                        <a:t>TxElecIdle[3:0]</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err="1">
                          <a:solidFill>
                            <a:srgbClr val="000000"/>
                          </a:solidFill>
                          <a:effectLst/>
                          <a:latin typeface="Calibri" panose="020F0502020204030204" pitchFamily="34" charset="0"/>
                        </a:rPr>
                        <a:t>TxElecIdle</a:t>
                      </a:r>
                      <a:r>
                        <a:rPr lang="en-US" sz="1800" b="0" i="0" u="none" strike="noStrike" dirty="0">
                          <a:solidFill>
                            <a:srgbClr val="000000"/>
                          </a:solidFill>
                          <a:effectLst/>
                          <a:latin typeface="Calibri" panose="020F0502020204030204" pitchFamily="34" charset="0"/>
                        </a:rPr>
                        <a:t> forces the PHY transmitter into electrical idle and is qualified by </a:t>
                      </a:r>
                      <a:r>
                        <a:rPr lang="en-US" sz="1800" b="0" i="0" u="none" strike="noStrike" dirty="0" err="1">
                          <a:solidFill>
                            <a:srgbClr val="000000"/>
                          </a:solidFill>
                          <a:effectLst/>
                          <a:latin typeface="Calibri" panose="020F0502020204030204" pitchFamily="34" charset="0"/>
                        </a:rPr>
                        <a:t>TxDataValid</a:t>
                      </a:r>
                      <a:r>
                        <a:rPr lang="en-US" sz="1800" b="0" i="0" u="none" strike="noStrike" dirty="0">
                          <a:solidFill>
                            <a:srgbClr val="000000"/>
                          </a:solidFill>
                          <a:effectLst/>
                          <a:latin typeface="Calibri" panose="020F0502020204030204" pitchFamily="34" charset="0"/>
                        </a:rPr>
                        <a:t>, with symbol-level control in PCIe SerDes modes.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1783111047"/>
                  </a:ext>
                </a:extLst>
              </a:tr>
              <a:tr h="370840">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Reset#</a:t>
                      </a:r>
                      <a:r>
                        <a:rPr lang="en-GB" sz="1800" b="0" i="0">
                          <a:solidFill>
                            <a:srgbClr val="000000"/>
                          </a:solidFill>
                          <a:effectLst/>
                          <a:latin typeface="Calibri" panose="020F0502020204030204" pitchFamily="34" charset="0"/>
                        </a:rPr>
                        <a:t>​</a:t>
                      </a:r>
                      <a:endParaRPr lang="en-GB" b="0" i="0">
                        <a:solidFill>
                          <a:srgbClr val="000000"/>
                        </a:solidFill>
                        <a:effectLst/>
                      </a:endParaRPr>
                    </a:p>
                    <a:p>
                      <a:pPr algn="l" rtl="0" fontAlgn="base">
                        <a:lnSpc>
                          <a:spcPts val="1725"/>
                        </a:lnSpc>
                        <a:buNone/>
                      </a:pP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Reset# is an asynchronous active-low signal that resets the PHY TX/RX and forces the PHY into its lowest power state</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1031501633"/>
                  </a:ext>
                </a:extLst>
              </a:tr>
            </a:tbl>
          </a:graphicData>
        </a:graphic>
      </p:graphicFrame>
      <p:sp>
        <p:nvSpPr>
          <p:cNvPr id="5" name="Title 1">
            <a:extLst>
              <a:ext uri="{FF2B5EF4-FFF2-40B4-BE49-F238E27FC236}">
                <a16:creationId xmlns:a16="http://schemas.microsoft.com/office/drawing/2014/main" id="{7F0FF859-A427-7CFF-DA53-C9E21213115F}"/>
              </a:ext>
            </a:extLst>
          </p:cNvPr>
          <p:cNvSpPr>
            <a:spLocks noGrp="1"/>
          </p:cNvSpPr>
          <p:nvPr>
            <p:ph type="title"/>
          </p:nvPr>
        </p:nvSpPr>
        <p:spPr>
          <a:xfrm>
            <a:off x="4313" y="5691"/>
            <a:ext cx="12168996" cy="865489"/>
          </a:xfrm>
          <a:solidFill>
            <a:schemeClr val="accent6"/>
          </a:solidFill>
        </p:spPr>
        <p:txBody>
          <a:bodyPr>
            <a:normAutofit fontScale="90000"/>
          </a:bodyPr>
          <a:lstStyle/>
          <a:p>
            <a:pPr algn="ctr"/>
            <a:br>
              <a:rPr lang="en-GB" b="1" dirty="0"/>
            </a:br>
            <a:r>
              <a:rPr lang="en-GB" b="1" dirty="0"/>
              <a:t>Command Interface Input Signals</a:t>
            </a:r>
            <a:r>
              <a:rPr lang="en-US" dirty="0"/>
              <a:t>​</a:t>
            </a:r>
            <a:br>
              <a:rPr lang="en-US" dirty="0"/>
            </a:br>
            <a:endParaRPr lang="en-US" sz="4000" dirty="0">
              <a:latin typeface="Aptos"/>
            </a:endParaRPr>
          </a:p>
        </p:txBody>
      </p:sp>
    </p:spTree>
    <p:extLst>
      <p:ext uri="{BB962C8B-B14F-4D97-AF65-F5344CB8AC3E}">
        <p14:creationId xmlns:p14="http://schemas.microsoft.com/office/powerpoint/2010/main" val="3993739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DE44-949B-6F80-7BFB-7651DB9803FE}"/>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A48E0827-5ADE-C67E-B8AF-73256F47B6E9}"/>
              </a:ext>
            </a:extLst>
          </p:cNvPr>
          <p:cNvGraphicFramePr>
            <a:graphicFrameLocks noGrp="1"/>
          </p:cNvGraphicFramePr>
          <p:nvPr>
            <p:ph idx="1"/>
            <p:extLst>
              <p:ext uri="{D42A27DB-BD31-4B8C-83A1-F6EECF244321}">
                <p14:modId xmlns:p14="http://schemas.microsoft.com/office/powerpoint/2010/main" val="2068616544"/>
              </p:ext>
            </p:extLst>
          </p:nvPr>
        </p:nvGraphicFramePr>
        <p:xfrm>
          <a:off x="838200" y="1316421"/>
          <a:ext cx="10515600" cy="4975985"/>
        </p:xfrm>
        <a:graphic>
          <a:graphicData uri="http://schemas.openxmlformats.org/drawingml/2006/table">
            <a:tbl>
              <a:tblPr firstRow="1" bandRow="1">
                <a:tableStyleId>{5C22544A-7EE6-4342-B048-85BDC9FD1C3A}</a:tableStyleId>
              </a:tblPr>
              <a:tblGrid>
                <a:gridCol w="3158359">
                  <a:extLst>
                    <a:ext uri="{9D8B030D-6E8A-4147-A177-3AD203B41FA5}">
                      <a16:colId xmlns:a16="http://schemas.microsoft.com/office/drawing/2014/main" val="3024354403"/>
                    </a:ext>
                  </a:extLst>
                </a:gridCol>
                <a:gridCol w="7357241">
                  <a:extLst>
                    <a:ext uri="{9D8B030D-6E8A-4147-A177-3AD203B41FA5}">
                      <a16:colId xmlns:a16="http://schemas.microsoft.com/office/drawing/2014/main" val="1262577001"/>
                    </a:ext>
                  </a:extLst>
                </a:gridCol>
              </a:tblGrid>
              <a:tr h="592509">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1353417317"/>
                  </a:ext>
                </a:extLst>
              </a:tr>
              <a:tr h="4383476">
                <a:tc>
                  <a:txBody>
                    <a:bodyPr/>
                    <a:lstStyle/>
                    <a:p>
                      <a:pPr algn="l" rtl="0" fontAlgn="auto">
                        <a:lnSpc>
                          <a:spcPts val="1725"/>
                        </a:lnSpc>
                        <a:buNone/>
                      </a:pPr>
                      <a:r>
                        <a:rPr lang="en-GB" sz="1800" b="0" i="0" u="none" strike="noStrike" dirty="0">
                          <a:solidFill>
                            <a:srgbClr val="000000"/>
                          </a:solidFill>
                          <a:effectLst/>
                          <a:latin typeface="Calibri" panose="020F0502020204030204" pitchFamily="34" charset="0"/>
                        </a:rPr>
                        <a:t>​</a:t>
                      </a:r>
                    </a:p>
                    <a:p>
                      <a:pPr algn="l" rtl="0" fontAlgn="base">
                        <a:lnSpc>
                          <a:spcPts val="1725"/>
                        </a:lnSpc>
                        <a:buNone/>
                      </a:pPr>
                      <a:r>
                        <a:rPr lang="en-GB" sz="1800" b="0" i="0" u="none" strike="noStrike" dirty="0" err="1">
                          <a:solidFill>
                            <a:srgbClr val="000000"/>
                          </a:solidFill>
                          <a:effectLst/>
                          <a:latin typeface="Calibri" panose="020F0502020204030204" pitchFamily="34" charset="0"/>
                        </a:rPr>
                        <a:t>PowerDown</a:t>
                      </a:r>
                      <a:r>
                        <a:rPr lang="en-GB" sz="1800" b="0" i="0" u="none" strike="noStrike" dirty="0">
                          <a:solidFill>
                            <a:srgbClr val="000000"/>
                          </a:solidFill>
                          <a:effectLst/>
                          <a:latin typeface="Calibri" panose="020F0502020204030204" pitchFamily="34" charset="0"/>
                        </a:rPr>
                        <a:t>[3:0]</a:t>
                      </a: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tc>
                  <a:txBody>
                    <a:bodyPr/>
                    <a:lstStyle/>
                    <a:p>
                      <a:pPr algn="l" rtl="0" fontAlgn="auto">
                        <a:lnSpc>
                          <a:spcPts val="1725"/>
                        </a:lnSpc>
                        <a:buNone/>
                      </a:pPr>
                      <a:r>
                        <a:rPr lang="en-US" sz="1800" b="0" i="0" u="none" strike="noStrike" dirty="0">
                          <a:solidFill>
                            <a:srgbClr val="000000"/>
                          </a:solidFill>
                          <a:effectLst/>
                          <a:latin typeface="Calibri" panose="020F0502020204030204" pitchFamily="34" charset="0"/>
                        </a:rPr>
                        <a:t>​</a:t>
                      </a:r>
                    </a:p>
                    <a:p>
                      <a:pPr algn="l" rtl="0" fontAlgn="base">
                        <a:lnSpc>
                          <a:spcPts val="1500"/>
                        </a:lnSpc>
                        <a:buFont typeface="Arial" panose="020B0604020202020204" pitchFamily="34" charset="0"/>
                        <a:buChar char="•"/>
                      </a:pPr>
                      <a:r>
                        <a:rPr lang="en-US" sz="1600" b="0" i="0" u="none" strike="noStrike" dirty="0" err="1">
                          <a:solidFill>
                            <a:srgbClr val="000000"/>
                          </a:solidFill>
                          <a:effectLst/>
                          <a:latin typeface="Calibri" panose="020F0502020204030204" pitchFamily="34" charset="0"/>
                        </a:rPr>
                        <a:t>PowerDown</a:t>
                      </a:r>
                      <a:r>
                        <a:rPr lang="en-US" sz="1600" b="0" i="0" u="none" strike="noStrike" dirty="0">
                          <a:solidFill>
                            <a:srgbClr val="000000"/>
                          </a:solidFill>
                          <a:effectLst/>
                          <a:latin typeface="Calibri" panose="020F0502020204030204" pitchFamily="34" charset="0"/>
                        </a:rPr>
                        <a:t>[3:0] is a PIPE command bus used by the MAC to control PHY power states</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[3] [2] [1] [0]    Description</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0   0   0     P0  – Normal operation</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0   0   1     P0s – Low recovery time latency, power saving state</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0   1   0     P1  – Longer recovery time latency, lower power state</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0   1   1     P2  – Lowest power state</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1   0   0     POWER_STATE_4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1   0   1     POWER_STATE_5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1   1   0     POWER_STATE_6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0   1   1   1     POWER_STATE_7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0   0   0     POWER_STATE_8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0   0   1     POWER_STATE_9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0   1   0     POWER_STATE_10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0   1   1     POWER_STATE_11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1   0   0     POWER_STATE_12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1   0   1     POWER_STATE_13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1   1   0     POWER_STATE_14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1   1   1   1     POWER_STATE_15  – PHY-specific</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txBody>
                  <a:tcPr/>
                </a:tc>
                <a:extLst>
                  <a:ext uri="{0D108BD9-81ED-4DB2-BD59-A6C34878D82A}">
                    <a16:rowId xmlns:a16="http://schemas.microsoft.com/office/drawing/2014/main" val="102842711"/>
                  </a:ext>
                </a:extLst>
              </a:tr>
            </a:tbl>
          </a:graphicData>
        </a:graphic>
      </p:graphicFrame>
      <p:sp>
        <p:nvSpPr>
          <p:cNvPr id="5" name="Title 1">
            <a:extLst>
              <a:ext uri="{FF2B5EF4-FFF2-40B4-BE49-F238E27FC236}">
                <a16:creationId xmlns:a16="http://schemas.microsoft.com/office/drawing/2014/main" id="{2C441F98-AA23-2FE3-D80C-DCC2AC313DA8}"/>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Command Interface Input Signals</a:t>
            </a:r>
          </a:p>
        </p:txBody>
      </p:sp>
    </p:spTree>
    <p:extLst>
      <p:ext uri="{BB962C8B-B14F-4D97-AF65-F5344CB8AC3E}">
        <p14:creationId xmlns:p14="http://schemas.microsoft.com/office/powerpoint/2010/main" val="1325600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CCFA-48E0-E385-8162-04CECA62C638}"/>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84D6E50D-8FFB-0566-FE5A-3FB1DC44AC22}"/>
              </a:ext>
            </a:extLst>
          </p:cNvPr>
          <p:cNvGraphicFramePr>
            <a:graphicFrameLocks noGrp="1"/>
          </p:cNvGraphicFramePr>
          <p:nvPr>
            <p:ph idx="1"/>
            <p:extLst>
              <p:ext uri="{D42A27DB-BD31-4B8C-83A1-F6EECF244321}">
                <p14:modId xmlns:p14="http://schemas.microsoft.com/office/powerpoint/2010/main" val="721495398"/>
              </p:ext>
            </p:extLst>
          </p:nvPr>
        </p:nvGraphicFramePr>
        <p:xfrm>
          <a:off x="838200" y="1825625"/>
          <a:ext cx="10515600" cy="397148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10469932"/>
                    </a:ext>
                  </a:extLst>
                </a:gridCol>
                <a:gridCol w="5257800">
                  <a:extLst>
                    <a:ext uri="{9D8B030D-6E8A-4147-A177-3AD203B41FA5}">
                      <a16:colId xmlns:a16="http://schemas.microsoft.com/office/drawing/2014/main" val="2324463191"/>
                    </a:ext>
                  </a:extLst>
                </a:gridCol>
              </a:tblGrid>
              <a:tr h="370840">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4023234980"/>
                  </a:ext>
                </a:extLst>
              </a:tr>
              <a:tr h="370840">
                <a:tc>
                  <a:txBody>
                    <a:bodyPr/>
                    <a:lstStyle/>
                    <a:p>
                      <a:pPr algn="l" rtl="0" fontAlgn="auto">
                        <a:lnSpc>
                          <a:spcPts val="1725"/>
                        </a:lnSpc>
                        <a:buNone/>
                      </a:pPr>
                      <a:r>
                        <a:rPr lang="en-GB" sz="1800" b="0" i="0" u="none" strike="noStrike">
                          <a:solidFill>
                            <a:srgbClr val="000000"/>
                          </a:solidFill>
                          <a:effectLst/>
                          <a:latin typeface="Calibri" panose="020F0502020204030204" pitchFamily="34" charset="0"/>
                        </a:rPr>
                        <a:t>​</a:t>
                      </a:r>
                    </a:p>
                    <a:p>
                      <a:pPr algn="l" rtl="0" fontAlgn="base">
                        <a:lnSpc>
                          <a:spcPts val="1725"/>
                        </a:lnSpc>
                        <a:buNone/>
                      </a:pPr>
                      <a:r>
                        <a:rPr lang="en-GB" sz="1800" b="0" i="0" u="none" strike="noStrike">
                          <a:solidFill>
                            <a:srgbClr val="000000"/>
                          </a:solidFill>
                          <a:effectLst/>
                          <a:latin typeface="Calibri" panose="020F0502020204030204" pitchFamily="34" charset="0"/>
                        </a:rPr>
                        <a:t>ShortChannelPowerControl[1:0]</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auto">
                        <a:lnSpc>
                          <a:spcPts val="1725"/>
                        </a:lnSpc>
                        <a:buNone/>
                      </a:pPr>
                      <a:r>
                        <a:rPr lang="en-US" sz="1800" b="0" i="0" u="none" strike="noStrike" dirty="0">
                          <a:solidFill>
                            <a:srgbClr val="000000"/>
                          </a:solidFill>
                          <a:effectLst/>
                          <a:latin typeface="Calibri" panose="020F0502020204030204" pitchFamily="34" charset="0"/>
                        </a:rPr>
                        <a:t>​</a:t>
                      </a:r>
                    </a:p>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This signal is optionally supported by the PHYs to enable multi-chip package solutions that can be optimized for power due to a shorter channel reach. This signal must be stable before Reset# is </a:t>
                      </a:r>
                      <a:r>
                        <a:rPr lang="en-US" sz="1600" b="0" i="0" u="none" strike="noStrike" dirty="0" err="1">
                          <a:solidFill>
                            <a:srgbClr val="000000"/>
                          </a:solidFill>
                          <a:effectLst/>
                          <a:latin typeface="Calibri" panose="020F0502020204030204" pitchFamily="34" charset="0"/>
                        </a:rPr>
                        <a:t>deasserted</a:t>
                      </a:r>
                      <a:r>
                        <a:rPr lang="en-US" sz="1600" b="0" i="0" u="none" strike="noStrike" dirty="0">
                          <a:solidFill>
                            <a:srgbClr val="000000"/>
                          </a:solidFill>
                          <a:effectLst/>
                          <a:latin typeface="Calibri" panose="020F0502020204030204" pitchFamily="34" charset="0"/>
                        </a:rPr>
                        <a:t> and cannot change value until the next Reset# assertion.</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PowerControlSetting0 (00b): Normal operation</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725"/>
                        </a:lnSpc>
                        <a:buNone/>
                      </a:pPr>
                      <a:r>
                        <a:rPr lang="en-US" sz="18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PowerControlSetting1 (01b): The most aggressive power-optimized setting</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                           for MCP (required if the </a:t>
                      </a:r>
                      <a:r>
                        <a:rPr lang="en-US" sz="1600" b="0" i="0" u="none" strike="noStrike" dirty="0" err="1">
                          <a:solidFill>
                            <a:srgbClr val="000000"/>
                          </a:solidFill>
                          <a:effectLst/>
                          <a:latin typeface="Calibri" panose="020F0502020204030204" pitchFamily="34" charset="0"/>
                        </a:rPr>
                        <a:t>ShortChannelPowerControl</a:t>
                      </a:r>
                      <a:r>
                        <a:rPr lang="en-US" sz="1600" b="0" i="0" u="none" strike="noStrike" dirty="0">
                          <a:solidFill>
                            <a:srgbClr val="000000"/>
                          </a:solidFill>
                          <a:effectLst/>
                          <a:latin typeface="Calibri" panose="020F0502020204030204" pitchFamily="34" charset="0"/>
                        </a:rPr>
                        <a:t>[1:0]</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                           signal is implemented)</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725"/>
                        </a:lnSpc>
                        <a:buNone/>
                      </a:pPr>
                      <a:r>
                        <a:rPr lang="en-US" sz="18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PowerControlSetting2 (10b): Optionally supported</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725"/>
                        </a:lnSpc>
                        <a:buNone/>
                      </a:pPr>
                      <a:r>
                        <a:rPr lang="en-US" sz="1800" b="0" i="0" dirty="0">
                          <a:solidFill>
                            <a:srgbClr val="000000"/>
                          </a:solidFill>
                          <a:effectLst/>
                          <a:latin typeface="Calibri" panose="020F0502020204030204" pitchFamily="34" charset="0"/>
                        </a:rPr>
                        <a:t>​</a:t>
                      </a:r>
                      <a:endParaRPr lang="en-US" b="0" i="0" dirty="0">
                        <a:solidFill>
                          <a:srgbClr val="000000"/>
                        </a:solidFill>
                        <a:effectLst/>
                      </a:endParaRPr>
                    </a:p>
                    <a:p>
                      <a:pPr algn="l" rtl="0" fontAlgn="base">
                        <a:lnSpc>
                          <a:spcPts val="1500"/>
                        </a:lnSpc>
                        <a:buNone/>
                      </a:pPr>
                      <a:r>
                        <a:rPr lang="en-US" sz="1600" b="0" i="0" u="none" strike="noStrike" dirty="0">
                          <a:solidFill>
                            <a:srgbClr val="000000"/>
                          </a:solidFill>
                          <a:effectLst/>
                          <a:latin typeface="Calibri" panose="020F0502020204030204" pitchFamily="34" charset="0"/>
                        </a:rPr>
                        <a:t>PowerControlSetting3 (11b): Optionally supported</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txBody>
                  <a:tcPr/>
                </a:tc>
                <a:extLst>
                  <a:ext uri="{0D108BD9-81ED-4DB2-BD59-A6C34878D82A}">
                    <a16:rowId xmlns:a16="http://schemas.microsoft.com/office/drawing/2014/main" val="1039278921"/>
                  </a:ext>
                </a:extLst>
              </a:tr>
            </a:tbl>
          </a:graphicData>
        </a:graphic>
      </p:graphicFrame>
      <p:sp>
        <p:nvSpPr>
          <p:cNvPr id="5" name="Title 1">
            <a:extLst>
              <a:ext uri="{FF2B5EF4-FFF2-40B4-BE49-F238E27FC236}">
                <a16:creationId xmlns:a16="http://schemas.microsoft.com/office/drawing/2014/main" id="{CE0292CA-732F-1BB1-8F43-55729FD140DC}"/>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Command Interface Input Signals</a:t>
            </a:r>
          </a:p>
        </p:txBody>
      </p:sp>
    </p:spTree>
    <p:extLst>
      <p:ext uri="{BB962C8B-B14F-4D97-AF65-F5344CB8AC3E}">
        <p14:creationId xmlns:p14="http://schemas.microsoft.com/office/powerpoint/2010/main" val="3816510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F4550-3BFF-02B8-96C1-0FFCD5F01FC3}"/>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73B8DFB8-AD83-8A9D-3AA5-1B3658B51002}"/>
              </a:ext>
            </a:extLst>
          </p:cNvPr>
          <p:cNvGraphicFramePr>
            <a:graphicFrameLocks noGrp="1"/>
          </p:cNvGraphicFramePr>
          <p:nvPr>
            <p:ph idx="1"/>
            <p:extLst>
              <p:ext uri="{D42A27DB-BD31-4B8C-83A1-F6EECF244321}">
                <p14:modId xmlns:p14="http://schemas.microsoft.com/office/powerpoint/2010/main" val="2382498989"/>
              </p:ext>
            </p:extLst>
          </p:nvPr>
        </p:nvGraphicFramePr>
        <p:xfrm>
          <a:off x="838200" y="1825625"/>
          <a:ext cx="10515600" cy="4490212"/>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678618214"/>
                    </a:ext>
                  </a:extLst>
                </a:gridCol>
                <a:gridCol w="5257800">
                  <a:extLst>
                    <a:ext uri="{9D8B030D-6E8A-4147-A177-3AD203B41FA5}">
                      <a16:colId xmlns:a16="http://schemas.microsoft.com/office/drawing/2014/main" val="922281418"/>
                    </a:ext>
                  </a:extLst>
                </a:gridCol>
              </a:tblGrid>
              <a:tr h="370840">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3654262927"/>
                  </a:ext>
                </a:extLst>
              </a:tr>
              <a:tr h="370840">
                <a:tc>
                  <a:txBody>
                    <a:bodyPr/>
                    <a:lstStyle/>
                    <a:p>
                      <a:pPr algn="l" rtl="0" fontAlgn="auto">
                        <a:lnSpc>
                          <a:spcPts val="1725"/>
                        </a:lnSpc>
                        <a:buNone/>
                      </a:pPr>
                      <a:r>
                        <a:rPr lang="en-GB" sz="1800" b="0" i="0" u="none" strike="noStrike">
                          <a:solidFill>
                            <a:srgbClr val="000000"/>
                          </a:solidFill>
                          <a:effectLst/>
                          <a:latin typeface="Calibri" panose="020F0502020204030204" pitchFamily="34" charset="0"/>
                        </a:rPr>
                        <a:t>​</a:t>
                      </a:r>
                    </a:p>
                    <a:p>
                      <a:pPr algn="l" rtl="0" fontAlgn="base">
                        <a:lnSpc>
                          <a:spcPts val="1725"/>
                        </a:lnSpc>
                        <a:buNone/>
                      </a:pPr>
                      <a:r>
                        <a:rPr lang="en-GB" sz="1800" b="0" i="0" u="none" strike="noStrike">
                          <a:solidFill>
                            <a:srgbClr val="000000"/>
                          </a:solidFill>
                          <a:effectLst/>
                          <a:latin typeface="Calibri" panose="020F0502020204030204" pitchFamily="34" charset="0"/>
                        </a:rPr>
                        <a:t>RxEIDetectDisable</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auto">
                        <a:lnSpc>
                          <a:spcPts val="1725"/>
                        </a:lnSpc>
                        <a:buNone/>
                      </a:pPr>
                      <a:r>
                        <a:rPr lang="en-US" sz="1800" b="0" i="0" u="none" strike="noStrike">
                          <a:solidFill>
                            <a:srgbClr val="000000"/>
                          </a:solidFill>
                          <a:effectLst/>
                          <a:latin typeface="Calibri" panose="020F0502020204030204" pitchFamily="34" charset="0"/>
                        </a:rPr>
                        <a:t>​</a:t>
                      </a:r>
                    </a:p>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RxEIDetectDisable allows the MAC to asynchronously disable the PHY’s receiver electrical-idle detection and force RxElecIdle high, simplifying PCIe L1 substate power management.</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780537342"/>
                  </a:ext>
                </a:extLst>
              </a:tr>
              <a:tr h="370840">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TxCommonmode Disable</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Optionally implemented by the PHY to facilitate the L1 substate management. When asserted, this signal asynchronously disables the transmitter DC common mode logic.</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2311387571"/>
                  </a:ext>
                </a:extLst>
              </a:tr>
              <a:tr h="370840">
                <a:tc>
                  <a:txBody>
                    <a:bodyPr/>
                    <a:lstStyle/>
                    <a:p>
                      <a:pPr algn="l" rtl="0" fontAlgn="auto">
                        <a:lnSpc>
                          <a:spcPts val="1725"/>
                        </a:lnSpc>
                        <a:buNone/>
                      </a:pPr>
                      <a:r>
                        <a:rPr lang="en-GB" sz="1800" b="0" i="0" u="none" strike="noStrike">
                          <a:solidFill>
                            <a:srgbClr val="000000"/>
                          </a:solidFill>
                          <a:effectLst/>
                          <a:latin typeface="Calibri" panose="020F0502020204030204" pitchFamily="34" charset="0"/>
                        </a:rPr>
                        <a:t>​</a:t>
                      </a:r>
                    </a:p>
                    <a:p>
                      <a:pPr algn="l" rtl="0" fontAlgn="base">
                        <a:lnSpc>
                          <a:spcPts val="1725"/>
                        </a:lnSpc>
                        <a:buNone/>
                      </a:pPr>
                      <a:r>
                        <a:rPr lang="en-GB" sz="1800" b="0" i="0" u="none" strike="noStrike">
                          <a:solidFill>
                            <a:srgbClr val="000000"/>
                          </a:solidFill>
                          <a:effectLst/>
                          <a:latin typeface="Calibri" panose="020F0502020204030204" pitchFamily="34" charset="0"/>
                        </a:rPr>
                        <a:t>DeepPMReq#</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GB" sz="1800" b="0" i="0" u="none" strike="noStrike" dirty="0" err="1">
                          <a:solidFill>
                            <a:srgbClr val="000000"/>
                          </a:solidFill>
                          <a:effectLst/>
                          <a:latin typeface="Calibri" panose="020F0502020204030204" pitchFamily="34" charset="0"/>
                        </a:rPr>
                        <a:t>DeepPMReq</a:t>
                      </a:r>
                      <a:r>
                        <a:rPr lang="en-GB" sz="1800" b="0" i="0" u="none" strike="noStrike" dirty="0">
                          <a:solidFill>
                            <a:srgbClr val="000000"/>
                          </a:solidFill>
                          <a:effectLst/>
                          <a:latin typeface="Calibri" panose="020F0502020204030204" pitchFamily="34" charset="0"/>
                        </a:rPr>
                        <a:t># is an active-low asynchronous request from MAC to PHY allowing or disallowing entry into deep power-management states in non-P0 modes, with a required handshake using </a:t>
                      </a:r>
                      <a:r>
                        <a:rPr lang="en-GB" sz="1800" b="0" i="0" u="none" strike="noStrike" dirty="0" err="1">
                          <a:solidFill>
                            <a:srgbClr val="000000"/>
                          </a:solidFill>
                          <a:effectLst/>
                          <a:latin typeface="Calibri" panose="020F0502020204030204" pitchFamily="34" charset="0"/>
                        </a:rPr>
                        <a:t>DeepPMAck</a:t>
                      </a:r>
                      <a:r>
                        <a:rPr lang="en-GB" sz="1800" b="0" i="0" u="none" strike="noStrike" dirty="0">
                          <a:solidFill>
                            <a:srgbClr val="000000"/>
                          </a:solidFill>
                          <a:effectLst/>
                          <a:latin typeface="Calibri" panose="020F0502020204030204" pitchFamily="34" charset="0"/>
                        </a:rPr>
                        <a:t>#.</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dirty="0" err="1">
                          <a:solidFill>
                            <a:srgbClr val="000000"/>
                          </a:solidFill>
                          <a:effectLst/>
                          <a:latin typeface="Consolas" panose="020B0609020204030204" pitchFamily="49" charset="0"/>
                        </a:rPr>
                        <a:t>DeepPMReq</a:t>
                      </a:r>
                      <a:r>
                        <a:rPr lang="en-GB" sz="1800" b="0" i="0" u="none" strike="noStrike" dirty="0">
                          <a:solidFill>
                            <a:srgbClr val="000000"/>
                          </a:solidFill>
                          <a:effectLst/>
                          <a:latin typeface="Consolas" panose="020B0609020204030204" pitchFamily="49" charset="0"/>
                        </a:rPr>
                        <a:t># = 0</a:t>
                      </a:r>
                      <a:r>
                        <a:rPr lang="en-GB" sz="1800" b="0" i="0" u="none" strike="noStrike" dirty="0">
                          <a:solidFill>
                            <a:srgbClr val="000000"/>
                          </a:solidFill>
                          <a:effectLst/>
                          <a:latin typeface="Calibri" panose="020F0502020204030204" pitchFamily="34" charset="0"/>
                        </a:rPr>
                        <a:t> → Request deep power management</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0" i="0" u="none" strike="noStrike" dirty="0" err="1">
                          <a:solidFill>
                            <a:srgbClr val="000000"/>
                          </a:solidFill>
                          <a:effectLst/>
                          <a:latin typeface="Consolas" panose="020B0609020204030204" pitchFamily="49" charset="0"/>
                        </a:rPr>
                        <a:t>DeepPMReq</a:t>
                      </a:r>
                      <a:r>
                        <a:rPr lang="en-GB" sz="1800" b="0" i="0" u="none" strike="noStrike" dirty="0">
                          <a:solidFill>
                            <a:srgbClr val="000000"/>
                          </a:solidFill>
                          <a:effectLst/>
                          <a:latin typeface="Consolas" panose="020B0609020204030204" pitchFamily="49" charset="0"/>
                        </a:rPr>
                        <a:t># = 1</a:t>
                      </a:r>
                      <a:r>
                        <a:rPr lang="en-GB" sz="1800" b="0" i="0" u="none" strike="noStrike" dirty="0">
                          <a:solidFill>
                            <a:srgbClr val="000000"/>
                          </a:solidFill>
                          <a:effectLst/>
                          <a:latin typeface="Calibri" panose="020F0502020204030204" pitchFamily="34" charset="0"/>
                        </a:rPr>
                        <a:t> → Do not allow deep power management</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1977492858"/>
                  </a:ext>
                </a:extLst>
              </a:tr>
            </a:tbl>
          </a:graphicData>
        </a:graphic>
      </p:graphicFrame>
      <p:sp>
        <p:nvSpPr>
          <p:cNvPr id="5" name="Title 1">
            <a:extLst>
              <a:ext uri="{FF2B5EF4-FFF2-40B4-BE49-F238E27FC236}">
                <a16:creationId xmlns:a16="http://schemas.microsoft.com/office/drawing/2014/main" id="{B7CED42E-CCB8-34E1-928B-2A207CD80AF0}"/>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Command Interface Input Signals</a:t>
            </a:r>
          </a:p>
        </p:txBody>
      </p:sp>
    </p:spTree>
    <p:extLst>
      <p:ext uri="{BB962C8B-B14F-4D97-AF65-F5344CB8AC3E}">
        <p14:creationId xmlns:p14="http://schemas.microsoft.com/office/powerpoint/2010/main" val="3714386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4FE10-2093-4A16-752C-D4FF061B922B}"/>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8AD6A881-04C1-69BD-1EF0-5E19AB1D7086}"/>
              </a:ext>
            </a:extLst>
          </p:cNvPr>
          <p:cNvGraphicFramePr>
            <a:graphicFrameLocks noGrp="1"/>
          </p:cNvGraphicFramePr>
          <p:nvPr>
            <p:ph idx="1"/>
            <p:extLst>
              <p:ext uri="{D42A27DB-BD31-4B8C-83A1-F6EECF244321}">
                <p14:modId xmlns:p14="http://schemas.microsoft.com/office/powerpoint/2010/main" val="3219968258"/>
              </p:ext>
            </p:extLst>
          </p:nvPr>
        </p:nvGraphicFramePr>
        <p:xfrm>
          <a:off x="851338" y="1174531"/>
          <a:ext cx="10489324" cy="5237680"/>
        </p:xfrm>
        <a:graphic>
          <a:graphicData uri="http://schemas.openxmlformats.org/drawingml/2006/table">
            <a:tbl>
              <a:tblPr firstRow="1" bandRow="1">
                <a:tableStyleId>{5C22544A-7EE6-4342-B048-85BDC9FD1C3A}</a:tableStyleId>
              </a:tblPr>
              <a:tblGrid>
                <a:gridCol w="2324845">
                  <a:extLst>
                    <a:ext uri="{9D8B030D-6E8A-4147-A177-3AD203B41FA5}">
                      <a16:colId xmlns:a16="http://schemas.microsoft.com/office/drawing/2014/main" val="2815126285"/>
                    </a:ext>
                  </a:extLst>
                </a:gridCol>
                <a:gridCol w="8164479">
                  <a:extLst>
                    <a:ext uri="{9D8B030D-6E8A-4147-A177-3AD203B41FA5}">
                      <a16:colId xmlns:a16="http://schemas.microsoft.com/office/drawing/2014/main" val="948050434"/>
                    </a:ext>
                  </a:extLst>
                </a:gridCol>
              </a:tblGrid>
              <a:tr h="572535">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3006492079"/>
                  </a:ext>
                </a:extLst>
              </a:tr>
              <a:tr h="2132509">
                <a:tc>
                  <a:txBody>
                    <a:bodyPr/>
                    <a:lstStyle/>
                    <a:p>
                      <a:pPr algn="l" rtl="0" fontAlgn="auto">
                        <a:lnSpc>
                          <a:spcPts val="1725"/>
                        </a:lnSpc>
                        <a:buNone/>
                      </a:pPr>
                      <a:r>
                        <a:rPr lang="en-GB" sz="1800" b="0" i="0" u="none" strike="noStrike" dirty="0">
                          <a:solidFill>
                            <a:srgbClr val="000000"/>
                          </a:solidFill>
                          <a:effectLst/>
                          <a:latin typeface="Calibri" panose="020F0502020204030204" pitchFamily="34" charset="0"/>
                        </a:rPr>
                        <a:t>​</a:t>
                      </a:r>
                    </a:p>
                    <a:p>
                      <a:pPr algn="l" rtl="0" fontAlgn="base">
                        <a:lnSpc>
                          <a:spcPts val="1725"/>
                        </a:lnSpc>
                        <a:buNone/>
                      </a:pPr>
                      <a:r>
                        <a:rPr lang="en-GB" sz="1800" b="0" i="0" u="none" strike="noStrike" dirty="0">
                          <a:solidFill>
                            <a:srgbClr val="000000"/>
                          </a:solidFill>
                          <a:effectLst/>
                          <a:latin typeface="Calibri" panose="020F0502020204030204" pitchFamily="34" charset="0"/>
                        </a:rPr>
                        <a:t>PCLK Rate[4:0]</a:t>
                      </a: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GB" sz="1800" b="0" i="0" u="none" strike="noStrike" dirty="0">
                          <a:solidFill>
                            <a:srgbClr val="000000"/>
                          </a:solidFill>
                          <a:effectLst/>
                          <a:latin typeface="Calibri" panose="020F0502020204030204" pitchFamily="34" charset="0"/>
                        </a:rPr>
                        <a:t>Control the PIPE PCLK rate</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GB" sz="1800" b="1" i="0" dirty="0">
                          <a:solidFill>
                            <a:srgbClr val="000000"/>
                          </a:solidFill>
                          <a:effectLst/>
                          <a:latin typeface="Calibri" panose="020F0502020204030204" pitchFamily="34" charset="0"/>
                        </a:rPr>
                        <a:t>Value    PCIe    Mode Frequency</a:t>
                      </a:r>
                      <a:r>
                        <a:rPr lang="en-GB" sz="1800" b="0" i="0" dirty="0">
                          <a:solidFill>
                            <a:srgbClr val="000000"/>
                          </a:solidFill>
                          <a:effectLst/>
                          <a:latin typeface="Calibri" panose="020F0502020204030204" pitchFamily="34" charset="0"/>
                        </a:rPr>
                        <a:t>​</a:t>
                      </a:r>
                      <a:endParaRPr lang="en-GB" b="0" i="0" dirty="0">
                        <a:solidFill>
                          <a:srgbClr val="000000"/>
                        </a:solidFill>
                        <a:effectLst/>
                        <a:latin typeface="Arial" panose="020B0604020202020204" pitchFamily="34" charset="0"/>
                      </a:endParaRPr>
                    </a:p>
                    <a:p>
                      <a:pPr algn="l" rtl="0" fontAlgn="base">
                        <a:lnSpc>
                          <a:spcPts val="1725"/>
                        </a:lnSpc>
                        <a:buNone/>
                      </a:pPr>
                      <a:r>
                        <a:rPr lang="en-GB" sz="1800" b="0" i="0" dirty="0">
                          <a:solidFill>
                            <a:srgbClr val="000000"/>
                          </a:solidFill>
                          <a:effectLst/>
                          <a:latin typeface="Calibri" panose="020F0502020204030204" pitchFamily="34" charset="0"/>
                        </a:rPr>
                        <a:t>  0          62.5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1         125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2         250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3         500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4        1000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5        2000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6        4000        MHz​</a:t>
                      </a:r>
                      <a:endParaRPr lang="en-GB" b="0" i="0" dirty="0">
                        <a:solidFill>
                          <a:srgbClr val="000000"/>
                        </a:solidFill>
                        <a:effectLst/>
                      </a:endParaRPr>
                    </a:p>
                    <a:p>
                      <a:pPr algn="l" rtl="0" fontAlgn="base">
                        <a:lnSpc>
                          <a:spcPts val="1725"/>
                        </a:lnSpc>
                        <a:buNone/>
                      </a:pPr>
                      <a:r>
                        <a:rPr lang="en-GB" sz="1800" b="0" i="0" dirty="0">
                          <a:solidFill>
                            <a:srgbClr val="000000"/>
                          </a:solidFill>
                          <a:effectLst/>
                          <a:latin typeface="Calibri" panose="020F0502020204030204" pitchFamily="34" charset="0"/>
                        </a:rPr>
                        <a:t> All      others     Reserved​</a:t>
                      </a:r>
                      <a:endParaRPr lang="en-GB" b="0" i="0" dirty="0">
                        <a:solidFill>
                          <a:srgbClr val="000000"/>
                        </a:solidFill>
                        <a:effectLst/>
                      </a:endParaRPr>
                    </a:p>
                  </a:txBody>
                  <a:tcPr/>
                </a:tc>
                <a:extLst>
                  <a:ext uri="{0D108BD9-81ED-4DB2-BD59-A6C34878D82A}">
                    <a16:rowId xmlns:a16="http://schemas.microsoft.com/office/drawing/2014/main" val="624299799"/>
                  </a:ext>
                </a:extLst>
              </a:tr>
              <a:tr h="800565">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RxStandby</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Controls whether the PHY RX is active when the PHY is in P0 or P0s.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 0 – Active</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 1 – Standby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1375998852"/>
                  </a:ext>
                </a:extLst>
              </a:tr>
              <a:tr h="572535">
                <a:tc>
                  <a:txBody>
                    <a:bodyPr/>
                    <a:lstStyle/>
                    <a:p>
                      <a:pPr algn="l" rtl="0" fontAlgn="auto">
                        <a:lnSpc>
                          <a:spcPts val="1725"/>
                        </a:lnSpc>
                        <a:buNone/>
                      </a:pPr>
                      <a:r>
                        <a:rPr lang="en-GB" sz="1800" b="0" i="0" u="none" strike="noStrike" dirty="0">
                          <a:solidFill>
                            <a:srgbClr val="000000"/>
                          </a:solidFill>
                          <a:effectLst/>
                          <a:latin typeface="Calibri" panose="020F0502020204030204" pitchFamily="34" charset="0"/>
                        </a:rPr>
                        <a:t>​</a:t>
                      </a:r>
                    </a:p>
                    <a:p>
                      <a:pPr algn="l" rtl="0" fontAlgn="base">
                        <a:lnSpc>
                          <a:spcPts val="1725"/>
                        </a:lnSpc>
                        <a:buNone/>
                      </a:pPr>
                      <a:r>
                        <a:rPr lang="en-GB" sz="1800" b="0" i="0" u="none" strike="noStrike" dirty="0" err="1">
                          <a:solidFill>
                            <a:srgbClr val="000000"/>
                          </a:solidFill>
                          <a:effectLst/>
                          <a:latin typeface="Calibri" panose="020F0502020204030204" pitchFamily="34" charset="0"/>
                        </a:rPr>
                        <a:t>RefClkRequired</a:t>
                      </a:r>
                      <a:r>
                        <a:rPr lang="en-GB" sz="1800" b="0" i="0" u="none" strike="noStrike" dirty="0">
                          <a:solidFill>
                            <a:srgbClr val="000000"/>
                          </a:solidFill>
                          <a:effectLst/>
                          <a:latin typeface="Calibri" panose="020F0502020204030204" pitchFamily="34" charset="0"/>
                        </a:rPr>
                        <a:t>#</a:t>
                      </a: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This signal is </a:t>
                      </a:r>
                      <a:r>
                        <a:rPr lang="en-US" sz="1800" b="0" i="0" u="none" strike="noStrike" dirty="0" err="1">
                          <a:solidFill>
                            <a:srgbClr val="000000"/>
                          </a:solidFill>
                          <a:effectLst/>
                          <a:latin typeface="Calibri" panose="020F0502020204030204" pitchFamily="34" charset="0"/>
                        </a:rPr>
                        <a:t>deasserted</a:t>
                      </a:r>
                      <a:r>
                        <a:rPr lang="en-US" sz="1800" b="0" i="0" u="none" strike="noStrike" dirty="0">
                          <a:solidFill>
                            <a:srgbClr val="000000"/>
                          </a:solidFill>
                          <a:effectLst/>
                          <a:latin typeface="Calibri" panose="020F0502020204030204" pitchFamily="34" charset="0"/>
                        </a:rPr>
                        <a:t> by the PHY when the reference clock can be safely removed in low power states.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3639500681"/>
                  </a:ext>
                </a:extLst>
              </a:tr>
              <a:tr h="1032969">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RxStandbyStatus</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err="1">
                          <a:solidFill>
                            <a:srgbClr val="000000"/>
                          </a:solidFill>
                          <a:effectLst/>
                          <a:latin typeface="Calibri" panose="020F0502020204030204" pitchFamily="34" charset="0"/>
                        </a:rPr>
                        <a:t>RxStandbyStatus</a:t>
                      </a:r>
                      <a:r>
                        <a:rPr lang="en-US" sz="1800" b="0" i="0" u="none" strike="noStrike" dirty="0">
                          <a:solidFill>
                            <a:srgbClr val="000000"/>
                          </a:solidFill>
                          <a:effectLst/>
                          <a:latin typeface="Calibri" panose="020F0502020204030204" pitchFamily="34" charset="0"/>
                        </a:rPr>
                        <a:t> is a PHY output that indicates whether the high-speed receiver is active or in standby, mainly used for power-state awareness in PCIe,</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 0 – Active</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 1 – Standby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3997870614"/>
                  </a:ext>
                </a:extLst>
              </a:tr>
            </a:tbl>
          </a:graphicData>
        </a:graphic>
      </p:graphicFrame>
      <p:sp>
        <p:nvSpPr>
          <p:cNvPr id="5" name="Title 1">
            <a:extLst>
              <a:ext uri="{FF2B5EF4-FFF2-40B4-BE49-F238E27FC236}">
                <a16:creationId xmlns:a16="http://schemas.microsoft.com/office/drawing/2014/main" id="{F7BADA7C-A440-ED7D-2B24-CC0F81D83545}"/>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Command Interface Input Signals</a:t>
            </a:r>
          </a:p>
        </p:txBody>
      </p:sp>
    </p:spTree>
    <p:extLst>
      <p:ext uri="{BB962C8B-B14F-4D97-AF65-F5344CB8AC3E}">
        <p14:creationId xmlns:p14="http://schemas.microsoft.com/office/powerpoint/2010/main" val="562008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E3CBF-1BC3-FEFD-2F00-417B5AB858C9}"/>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EA8AD732-3A12-04E0-2CDD-DC8E1E66A9E5}"/>
              </a:ext>
            </a:extLst>
          </p:cNvPr>
          <p:cNvGraphicFramePr>
            <a:graphicFrameLocks noGrp="1"/>
          </p:cNvGraphicFramePr>
          <p:nvPr>
            <p:ph idx="1"/>
            <p:extLst>
              <p:ext uri="{D42A27DB-BD31-4B8C-83A1-F6EECF244321}">
                <p14:modId xmlns:p14="http://schemas.microsoft.com/office/powerpoint/2010/main" val="2901845650"/>
              </p:ext>
            </p:extLst>
          </p:nvPr>
        </p:nvGraphicFramePr>
        <p:xfrm>
          <a:off x="772510" y="1072055"/>
          <a:ext cx="10581290" cy="5474922"/>
        </p:xfrm>
        <a:graphic>
          <a:graphicData uri="http://schemas.openxmlformats.org/drawingml/2006/table">
            <a:tbl>
              <a:tblPr firstRow="1" bandRow="1">
                <a:tableStyleId>{5C22544A-7EE6-4342-B048-85BDC9FD1C3A}</a:tableStyleId>
              </a:tblPr>
              <a:tblGrid>
                <a:gridCol w="2733896">
                  <a:extLst>
                    <a:ext uri="{9D8B030D-6E8A-4147-A177-3AD203B41FA5}">
                      <a16:colId xmlns:a16="http://schemas.microsoft.com/office/drawing/2014/main" val="3607616491"/>
                    </a:ext>
                  </a:extLst>
                </a:gridCol>
                <a:gridCol w="7847394">
                  <a:extLst>
                    <a:ext uri="{9D8B030D-6E8A-4147-A177-3AD203B41FA5}">
                      <a16:colId xmlns:a16="http://schemas.microsoft.com/office/drawing/2014/main" val="3701061718"/>
                    </a:ext>
                  </a:extLst>
                </a:gridCol>
              </a:tblGrid>
              <a:tr h="616768">
                <a:tc>
                  <a:txBody>
                    <a:bodyPr/>
                    <a:lstStyle/>
                    <a:p>
                      <a:pPr algn="ctr" rtl="0" fontAlgn="auto">
                        <a:lnSpc>
                          <a:spcPts val="1725"/>
                        </a:lnSpc>
                        <a:buNone/>
                      </a:pPr>
                      <a:r>
                        <a:rPr lang="en-GB" sz="1800" b="1" i="0" dirty="0">
                          <a:solidFill>
                            <a:srgbClr val="000000"/>
                          </a:solidFill>
                          <a:effectLst/>
                          <a:latin typeface="Calibri" panose="020F0502020204030204" pitchFamily="34" charset="0"/>
                        </a:rPr>
                        <a:t>​</a:t>
                      </a:r>
                    </a:p>
                    <a:p>
                      <a:pPr algn="ctr" rtl="0" fontAlgn="base">
                        <a:lnSpc>
                          <a:spcPts val="1725"/>
                        </a:lnSpc>
                        <a:buNone/>
                      </a:pPr>
                      <a:r>
                        <a:rPr lang="en-GB" sz="1800" b="1" i="0" dirty="0">
                          <a:solidFill>
                            <a:srgbClr val="000000"/>
                          </a:solidFill>
                          <a:effectLst/>
                          <a:latin typeface="Calibri" panose="020F0502020204030204" pitchFamily="34" charset="0"/>
                        </a:rPr>
                        <a:t>Signal​</a:t>
                      </a:r>
                      <a:endParaRPr lang="en-GB" b="1" i="0" dirty="0">
                        <a:solidFill>
                          <a:srgbClr val="000000"/>
                        </a:solidFill>
                        <a:effectLst/>
                      </a:endParaRPr>
                    </a:p>
                  </a:txBody>
                  <a:tcPr/>
                </a:tc>
                <a:tc>
                  <a:txBody>
                    <a:bodyPr/>
                    <a:lstStyle/>
                    <a:p>
                      <a:pPr algn="ctr" rtl="0" fontAlgn="auto">
                        <a:lnSpc>
                          <a:spcPts val="1725"/>
                        </a:lnSpc>
                        <a:buNone/>
                      </a:pPr>
                      <a:r>
                        <a:rPr lang="en-GB" sz="1800" b="1" i="0">
                          <a:solidFill>
                            <a:srgbClr val="000000"/>
                          </a:solidFill>
                          <a:effectLst/>
                          <a:latin typeface="Calibri" panose="020F0502020204030204" pitchFamily="34" charset="0"/>
                        </a:rPr>
                        <a:t>​</a:t>
                      </a:r>
                    </a:p>
                    <a:p>
                      <a:pPr algn="ctr" rtl="0" fontAlgn="base">
                        <a:lnSpc>
                          <a:spcPts val="1725"/>
                        </a:lnSpc>
                        <a:buNone/>
                      </a:pPr>
                      <a:r>
                        <a:rPr lang="en-GB" sz="1800" b="1" i="0">
                          <a:solidFill>
                            <a:srgbClr val="000000"/>
                          </a:solidFill>
                          <a:effectLst/>
                          <a:latin typeface="Calibri" panose="020F0502020204030204" pitchFamily="34" charset="0"/>
                        </a:rPr>
                        <a:t>Description​</a:t>
                      </a:r>
                      <a:endParaRPr lang="en-GB" b="1" i="0">
                        <a:solidFill>
                          <a:srgbClr val="000000"/>
                        </a:solidFill>
                        <a:effectLst/>
                      </a:endParaRPr>
                    </a:p>
                  </a:txBody>
                  <a:tcPr/>
                </a:tc>
                <a:extLst>
                  <a:ext uri="{0D108BD9-81ED-4DB2-BD59-A6C34878D82A}">
                    <a16:rowId xmlns:a16="http://schemas.microsoft.com/office/drawing/2014/main" val="1938069097"/>
                  </a:ext>
                </a:extLst>
              </a:tr>
              <a:tr h="616768">
                <a:tc>
                  <a:txBody>
                    <a:bodyPr/>
                    <a:lstStyle/>
                    <a:p>
                      <a:pPr algn="l" rtl="0" fontAlgn="auto">
                        <a:lnSpc>
                          <a:spcPts val="1725"/>
                        </a:lnSpc>
                        <a:buNone/>
                      </a:pPr>
                      <a:r>
                        <a:rPr lang="en-GB" sz="1800" b="0" i="0" u="none" strike="noStrike">
                          <a:solidFill>
                            <a:srgbClr val="000000"/>
                          </a:solidFill>
                          <a:effectLst/>
                          <a:latin typeface="Calibri" panose="020F0502020204030204" pitchFamily="34" charset="0"/>
                        </a:rPr>
                        <a:t>​</a:t>
                      </a:r>
                    </a:p>
                    <a:p>
                      <a:pPr algn="l" rtl="0" fontAlgn="base">
                        <a:lnSpc>
                          <a:spcPts val="1725"/>
                        </a:lnSpc>
                        <a:buNone/>
                      </a:pPr>
                      <a:r>
                        <a:rPr lang="en-GB" sz="1800" b="0" i="0" u="none" strike="noStrike">
                          <a:solidFill>
                            <a:srgbClr val="000000"/>
                          </a:solidFill>
                          <a:effectLst/>
                          <a:latin typeface="Calibri" panose="020F0502020204030204" pitchFamily="34" charset="0"/>
                        </a:rPr>
                        <a:t>PclkChangeAck</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Only used when PCLK is a PHY input. Asserted by the MAC when a PCLK rate change or rate change or, if required, width change is complete and stable.</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310350086"/>
                  </a:ext>
                </a:extLst>
              </a:tr>
              <a:tr h="430029">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AsyncPowerChangeAck</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Only used when transitioning between two power states without PCLK.</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1364821343"/>
                  </a:ext>
                </a:extLst>
              </a:tr>
              <a:tr h="612056">
                <a:tc>
                  <a:txBody>
                    <a:bodyPr/>
                    <a:lstStyle/>
                    <a:p>
                      <a:pPr algn="l" rtl="0" fontAlgn="base">
                        <a:lnSpc>
                          <a:spcPts val="1725"/>
                        </a:lnSpc>
                        <a:buNone/>
                      </a:pPr>
                      <a:r>
                        <a:rPr lang="en-GB" sz="1800" b="0" i="0" u="none" strike="noStrike" dirty="0" err="1">
                          <a:solidFill>
                            <a:srgbClr val="000000"/>
                          </a:solidFill>
                          <a:effectLst/>
                          <a:latin typeface="Calibri" panose="020F0502020204030204" pitchFamily="34" charset="0"/>
                        </a:rPr>
                        <a:t>RxValid</a:t>
                      </a: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Indicates symbol lock and valid data on RxData and RxDataK and further qualifies RxDataValid when used.</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3798970469"/>
                  </a:ext>
                </a:extLst>
              </a:tr>
              <a:tr h="862415">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PhyStatus</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Used to communicate the completion of several PHY functions including stable PCLK and Max PCLK (depending on the clocking mode) after Reset# </a:t>
                      </a:r>
                      <a:r>
                        <a:rPr lang="en-US" sz="1800" b="0" i="0" u="none" strike="noStrike" dirty="0" err="1">
                          <a:solidFill>
                            <a:srgbClr val="000000"/>
                          </a:solidFill>
                          <a:effectLst/>
                          <a:latin typeface="Calibri" panose="020F0502020204030204" pitchFamily="34" charset="0"/>
                        </a:rPr>
                        <a:t>deassertion</a:t>
                      </a:r>
                      <a:r>
                        <a:rPr lang="en-US" sz="1800" b="0" i="0" u="none" strike="noStrike" dirty="0">
                          <a:solidFill>
                            <a:srgbClr val="000000"/>
                          </a:solidFill>
                          <a:effectLst/>
                          <a:latin typeface="Calibri" panose="020F0502020204030204" pitchFamily="34" charset="0"/>
                        </a:rPr>
                        <a:t>, power management state transitions, rate change, and receiver detection</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1255921689"/>
                  </a:ext>
                </a:extLst>
              </a:tr>
              <a:tr h="862415">
                <a:tc>
                  <a:txBody>
                    <a:bodyPr/>
                    <a:lstStyle/>
                    <a:p>
                      <a:pPr algn="l" rtl="0" fontAlgn="auto">
                        <a:lnSpc>
                          <a:spcPts val="1725"/>
                        </a:lnSpc>
                        <a:buNone/>
                      </a:pPr>
                      <a:r>
                        <a:rPr lang="en-GB" sz="1800" b="0" i="0" u="none" strike="noStrike" dirty="0">
                          <a:solidFill>
                            <a:srgbClr val="000000"/>
                          </a:solidFill>
                          <a:effectLst/>
                          <a:latin typeface="Calibri" panose="020F0502020204030204" pitchFamily="34" charset="0"/>
                        </a:rPr>
                        <a:t>​</a:t>
                      </a:r>
                    </a:p>
                    <a:p>
                      <a:pPr algn="l" rtl="0" fontAlgn="base">
                        <a:lnSpc>
                          <a:spcPts val="1725"/>
                        </a:lnSpc>
                        <a:buNone/>
                      </a:pPr>
                      <a:r>
                        <a:rPr lang="en-GB" sz="1800" b="0" i="0" u="none" strike="noStrike" dirty="0" err="1">
                          <a:solidFill>
                            <a:srgbClr val="000000"/>
                          </a:solidFill>
                          <a:effectLst/>
                          <a:latin typeface="Calibri" panose="020F0502020204030204" pitchFamily="34" charset="0"/>
                        </a:rPr>
                        <a:t>RxElecIdle</a:t>
                      </a:r>
                      <a:r>
                        <a:rPr lang="en-GB" sz="1800" b="0" i="0" dirty="0">
                          <a:solidFill>
                            <a:srgbClr val="000000"/>
                          </a:solidFill>
                          <a:effectLst/>
                          <a:latin typeface="Calibri" panose="020F0502020204030204" pitchFamily="34" charset="0"/>
                        </a:rPr>
                        <a:t>​</a:t>
                      </a:r>
                      <a:endParaRPr lang="en-GB" b="0" i="0" dirty="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alibri" panose="020F0502020204030204" pitchFamily="34" charset="0"/>
                        </a:rPr>
                        <a:t>Indicates receiver detection of an electrical idle. While deasserted with the PHY in P2 (PCIe mode) or the PHY in P0, P1, P2, or P3 (USB mode and USB4 mode), indicates detection of either</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2018881860"/>
                  </a:ext>
                </a:extLst>
              </a:tr>
              <a:tr h="612056">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PclkChangeOk</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a:solidFill>
                            <a:srgbClr val="000000"/>
                          </a:solidFill>
                          <a:effectLst/>
                          <a:latin typeface="Consolas" panose="020B0609020204030204" pitchFamily="49" charset="0"/>
                        </a:rPr>
                        <a:t>PclkChangeOk</a:t>
                      </a:r>
                      <a:r>
                        <a:rPr lang="en-US" sz="1800" b="0" i="0" u="none" strike="noStrike">
                          <a:solidFill>
                            <a:srgbClr val="000000"/>
                          </a:solidFill>
                          <a:effectLst/>
                          <a:latin typeface="Calibri" panose="020F0502020204030204" pitchFamily="34" charset="0"/>
                        </a:rPr>
                        <a:t> is a handshake signal from PHY telling the MAC that it is safe to change the PCLK frequency, link rate, or interface width.</a:t>
                      </a:r>
                      <a:r>
                        <a:rPr lang="en-US" sz="1800"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txBody>
                  <a:tcPr/>
                </a:tc>
                <a:extLst>
                  <a:ext uri="{0D108BD9-81ED-4DB2-BD59-A6C34878D82A}">
                    <a16:rowId xmlns:a16="http://schemas.microsoft.com/office/drawing/2014/main" val="3900961112"/>
                  </a:ext>
                </a:extLst>
              </a:tr>
              <a:tr h="862415">
                <a:tc>
                  <a:txBody>
                    <a:bodyPr/>
                    <a:lstStyle/>
                    <a:p>
                      <a:pPr algn="l" rtl="0" fontAlgn="base">
                        <a:lnSpc>
                          <a:spcPts val="1725"/>
                        </a:lnSpc>
                        <a:buNone/>
                      </a:pPr>
                      <a:r>
                        <a:rPr lang="en-GB" sz="1800" b="0" i="0" u="none" strike="noStrike">
                          <a:solidFill>
                            <a:srgbClr val="000000"/>
                          </a:solidFill>
                          <a:effectLst/>
                          <a:latin typeface="Calibri" panose="020F0502020204030204" pitchFamily="34" charset="0"/>
                        </a:rPr>
                        <a:t>DeepPMAck# </a:t>
                      </a:r>
                      <a:r>
                        <a:rPr lang="en-GB" sz="1800" b="0" i="0">
                          <a:solidFill>
                            <a:srgbClr val="000000"/>
                          </a:solidFill>
                          <a:effectLst/>
                          <a:latin typeface="Calibri" panose="020F0502020204030204" pitchFamily="34" charset="0"/>
                        </a:rPr>
                        <a:t>​</a:t>
                      </a:r>
                      <a:endParaRPr lang="en-GB" b="0" i="0">
                        <a:solidFill>
                          <a:srgbClr val="000000"/>
                        </a:solidFill>
                        <a:effectLst/>
                      </a:endParaRPr>
                    </a:p>
                  </a:txBody>
                  <a:tcPr/>
                </a:tc>
                <a:tc>
                  <a:txBody>
                    <a:bodyPr/>
                    <a:lstStyle/>
                    <a:p>
                      <a:pPr algn="l" rtl="0" fontAlgn="base">
                        <a:lnSpc>
                          <a:spcPts val="1725"/>
                        </a:lnSpc>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Deep Power Management Ack. This is an asynchronous signal used to acknowledge transitions on </a:t>
                      </a:r>
                      <a:r>
                        <a:rPr lang="en-US" sz="1800" b="0" i="0" u="none" strike="noStrike" dirty="0" err="1">
                          <a:solidFill>
                            <a:srgbClr val="000000"/>
                          </a:solidFill>
                          <a:effectLst/>
                          <a:latin typeface="Calibri" panose="020F0502020204030204" pitchFamily="34" charset="0"/>
                        </a:rPr>
                        <a:t>DeepPMReq</a:t>
                      </a:r>
                      <a:r>
                        <a:rPr lang="en-US" sz="1800" b="0" i="0" u="none" strike="noStrike" dirty="0">
                          <a:solidFill>
                            <a:srgbClr val="000000"/>
                          </a:solidFill>
                          <a:effectLst/>
                          <a:latin typeface="Calibri" panose="020F0502020204030204" pitchFamily="34" charset="0"/>
                        </a:rPr>
                        <a:t>#. This signal is only required on a PHY that implements </a:t>
                      </a:r>
                      <a:r>
                        <a:rPr lang="en-US" sz="1800" b="0" i="0" u="none" strike="noStrike" dirty="0" err="1">
                          <a:solidFill>
                            <a:srgbClr val="000000"/>
                          </a:solidFill>
                          <a:effectLst/>
                          <a:latin typeface="Calibri" panose="020F0502020204030204" pitchFamily="34" charset="0"/>
                        </a:rPr>
                        <a:t>DeepPMReq</a:t>
                      </a:r>
                      <a:r>
                        <a:rPr lang="en-US" sz="1800" b="0" i="0" u="none" strike="noStrike" dirty="0">
                          <a:solidFill>
                            <a:srgbClr val="000000"/>
                          </a:solidFill>
                          <a:effectLst/>
                          <a:latin typeface="Calibri" panose="020F0502020204030204" pitchFamily="34" charset="0"/>
                        </a:rPr>
                        <a:t>#.</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tc>
                <a:extLst>
                  <a:ext uri="{0D108BD9-81ED-4DB2-BD59-A6C34878D82A}">
                    <a16:rowId xmlns:a16="http://schemas.microsoft.com/office/drawing/2014/main" val="2218800934"/>
                  </a:ext>
                </a:extLst>
              </a:tr>
            </a:tbl>
          </a:graphicData>
        </a:graphic>
      </p:graphicFrame>
      <p:sp>
        <p:nvSpPr>
          <p:cNvPr id="5" name="Title 1">
            <a:extLst>
              <a:ext uri="{FF2B5EF4-FFF2-40B4-BE49-F238E27FC236}">
                <a16:creationId xmlns:a16="http://schemas.microsoft.com/office/drawing/2014/main" id="{AD0FBBD7-9BE6-5DA5-91AE-F900A170E228}"/>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Status Interface Input Signals</a:t>
            </a:r>
          </a:p>
        </p:txBody>
      </p:sp>
    </p:spTree>
    <p:extLst>
      <p:ext uri="{BB962C8B-B14F-4D97-AF65-F5344CB8AC3E}">
        <p14:creationId xmlns:p14="http://schemas.microsoft.com/office/powerpoint/2010/main" val="2244207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FCCA0-E813-822E-A869-9E8CB812B8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C66423-5303-1720-DE8F-87A1CBEEF7D0}"/>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GB" sz="2400" dirty="0"/>
              <a:t>The message bus interface is a simple, clocked control channel between MAC and PHY that allows slow configuration and status operations using register reads and writes, without adding new wires, and works only when PCLK is running</a:t>
            </a:r>
            <a:r>
              <a:rPr lang="en-US" sz="2400" dirty="0"/>
              <a:t>​</a:t>
            </a:r>
          </a:p>
          <a:p>
            <a:pPr marL="457200" indent="-457200">
              <a:buFont typeface="Wingdings" panose="020B0604020202020204" pitchFamily="34" charset="0"/>
              <a:buChar char="§"/>
            </a:pPr>
            <a:endParaRPr lang="en-US" sz="2400" dirty="0"/>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ED9551FA-0454-5FD5-71B0-767053B62A35}"/>
              </a:ext>
            </a:extLst>
          </p:cNvPr>
          <p:cNvSpPr>
            <a:spLocks noGrp="1"/>
          </p:cNvSpPr>
          <p:nvPr>
            <p:ph type="title"/>
          </p:nvPr>
        </p:nvSpPr>
        <p:spPr>
          <a:xfrm>
            <a:off x="4313" y="5691"/>
            <a:ext cx="12168996" cy="865489"/>
          </a:xfrm>
          <a:solidFill>
            <a:schemeClr val="accent6"/>
          </a:solidFill>
        </p:spPr>
        <p:txBody>
          <a:bodyPr>
            <a:normAutofit/>
          </a:bodyPr>
          <a:lstStyle/>
          <a:p>
            <a:pPr algn="ctr"/>
            <a:r>
              <a:rPr lang="en-GB" sz="2800" b="1" dirty="0"/>
              <a:t>Message Bus Interface ​</a:t>
            </a:r>
            <a:endParaRPr lang="en-US" sz="2800" b="1" dirty="0">
              <a:latin typeface="Aptos"/>
            </a:endParaRPr>
          </a:p>
        </p:txBody>
      </p:sp>
      <p:graphicFrame>
        <p:nvGraphicFramePr>
          <p:cNvPr id="2" name="Table 1">
            <a:extLst>
              <a:ext uri="{FF2B5EF4-FFF2-40B4-BE49-F238E27FC236}">
                <a16:creationId xmlns:a16="http://schemas.microsoft.com/office/drawing/2014/main" id="{9B92345B-FD90-9EED-6C8E-6CA1772E39C7}"/>
              </a:ext>
            </a:extLst>
          </p:cNvPr>
          <p:cNvGraphicFramePr>
            <a:graphicFrameLocks noGrp="1"/>
          </p:cNvGraphicFramePr>
          <p:nvPr>
            <p:extLst>
              <p:ext uri="{D42A27DB-BD31-4B8C-83A1-F6EECF244321}">
                <p14:modId xmlns:p14="http://schemas.microsoft.com/office/powerpoint/2010/main" val="846355345"/>
              </p:ext>
            </p:extLst>
          </p:nvPr>
        </p:nvGraphicFramePr>
        <p:xfrm>
          <a:off x="1418898" y="3024895"/>
          <a:ext cx="9293770" cy="2743181"/>
        </p:xfrm>
        <a:graphic>
          <a:graphicData uri="http://schemas.openxmlformats.org/drawingml/2006/table">
            <a:tbl>
              <a:tblPr firstRow="1" bandRow="1">
                <a:tableStyleId>{5C22544A-7EE6-4342-B048-85BDC9FD1C3A}</a:tableStyleId>
              </a:tblPr>
              <a:tblGrid>
                <a:gridCol w="2226400">
                  <a:extLst>
                    <a:ext uri="{9D8B030D-6E8A-4147-A177-3AD203B41FA5}">
                      <a16:colId xmlns:a16="http://schemas.microsoft.com/office/drawing/2014/main" val="80606715"/>
                    </a:ext>
                  </a:extLst>
                </a:gridCol>
                <a:gridCol w="1547621">
                  <a:extLst>
                    <a:ext uri="{9D8B030D-6E8A-4147-A177-3AD203B41FA5}">
                      <a16:colId xmlns:a16="http://schemas.microsoft.com/office/drawing/2014/main" val="1741536838"/>
                    </a:ext>
                  </a:extLst>
                </a:gridCol>
                <a:gridCol w="5519749">
                  <a:extLst>
                    <a:ext uri="{9D8B030D-6E8A-4147-A177-3AD203B41FA5}">
                      <a16:colId xmlns:a16="http://schemas.microsoft.com/office/drawing/2014/main" val="3073417242"/>
                    </a:ext>
                  </a:extLst>
                </a:gridCol>
              </a:tblGrid>
              <a:tr h="384029">
                <a:tc>
                  <a:txBody>
                    <a:bodyPr/>
                    <a:lstStyle/>
                    <a:p>
                      <a:pPr algn="ctr" rtl="0" fontAlgn="base">
                        <a:lnSpc>
                          <a:spcPts val="1950"/>
                        </a:lnSpc>
                        <a:buNone/>
                      </a:pPr>
                      <a:r>
                        <a:rPr lang="en-US" sz="2000" b="1" i="0" dirty="0">
                          <a:solidFill>
                            <a:srgbClr val="000000"/>
                          </a:solidFill>
                          <a:effectLst/>
                          <a:latin typeface="Calibri" panose="020F0502020204030204" pitchFamily="34" charset="0"/>
                        </a:rPr>
                        <a:t>Bus​</a:t>
                      </a:r>
                      <a:endParaRPr lang="en-US" b="1" i="0" dirty="0">
                        <a:solidFill>
                          <a:srgbClr val="000000"/>
                        </a:solidFill>
                        <a:effectLst/>
                      </a:endParaRPr>
                    </a:p>
                  </a:txBody>
                  <a:tcPr anchor="ctr"/>
                </a:tc>
                <a:tc>
                  <a:txBody>
                    <a:bodyPr/>
                    <a:lstStyle/>
                    <a:p>
                      <a:pPr algn="ctr" rtl="0" fontAlgn="base">
                        <a:lnSpc>
                          <a:spcPts val="1950"/>
                        </a:lnSpc>
                        <a:buNone/>
                      </a:pPr>
                      <a:r>
                        <a:rPr lang="en-US" sz="2000" b="1" i="0">
                          <a:solidFill>
                            <a:srgbClr val="000000"/>
                          </a:solidFill>
                          <a:effectLst/>
                          <a:latin typeface="Calibri" panose="020F0502020204030204" pitchFamily="34" charset="0"/>
                        </a:rPr>
                        <a:t>Direction​</a:t>
                      </a:r>
                      <a:endParaRPr lang="en-US" b="1" i="0">
                        <a:solidFill>
                          <a:srgbClr val="000000"/>
                        </a:solidFill>
                        <a:effectLst/>
                      </a:endParaRPr>
                    </a:p>
                  </a:txBody>
                  <a:tcPr anchor="ctr"/>
                </a:tc>
                <a:tc>
                  <a:txBody>
                    <a:bodyPr/>
                    <a:lstStyle/>
                    <a:p>
                      <a:pPr algn="ctr" rtl="0" fontAlgn="base">
                        <a:lnSpc>
                          <a:spcPts val="1950"/>
                        </a:lnSpc>
                        <a:buNone/>
                      </a:pPr>
                      <a:r>
                        <a:rPr lang="en-US" sz="2000" b="1" i="0">
                          <a:solidFill>
                            <a:srgbClr val="000000"/>
                          </a:solidFill>
                          <a:effectLst/>
                          <a:latin typeface="Calibri" panose="020F0502020204030204" pitchFamily="34" charset="0"/>
                        </a:rPr>
                        <a:t>Purpose​</a:t>
                      </a:r>
                      <a:endParaRPr lang="en-US" b="1" i="0">
                        <a:solidFill>
                          <a:srgbClr val="000000"/>
                        </a:solidFill>
                        <a:effectLst/>
                      </a:endParaRPr>
                    </a:p>
                  </a:txBody>
                  <a:tcPr anchor="ctr"/>
                </a:tc>
                <a:extLst>
                  <a:ext uri="{0D108BD9-81ED-4DB2-BD59-A6C34878D82A}">
                    <a16:rowId xmlns:a16="http://schemas.microsoft.com/office/drawing/2014/main" val="568184275"/>
                  </a:ext>
                </a:extLst>
              </a:tr>
              <a:tr h="1021930">
                <a:tc>
                  <a:txBody>
                    <a:bodyPr/>
                    <a:lstStyle/>
                    <a:p>
                      <a:pPr algn="l" rtl="0" fontAlgn="base">
                        <a:lnSpc>
                          <a:spcPts val="1725"/>
                        </a:lnSpc>
                        <a:buNone/>
                      </a:pPr>
                      <a:r>
                        <a:rPr lang="en-US" sz="1800" b="0" i="0">
                          <a:solidFill>
                            <a:srgbClr val="000000"/>
                          </a:solidFill>
                          <a:effectLst/>
                          <a:latin typeface="Calibri" panose="020F0502020204030204" pitchFamily="34" charset="0"/>
                        </a:rPr>
                        <a:t>M2P_MessageBus​</a:t>
                      </a:r>
                      <a:endParaRPr lang="en-US" b="0" i="0">
                        <a:solidFill>
                          <a:srgbClr val="000000"/>
                        </a:solidFill>
                        <a:effectLst/>
                      </a:endParaRPr>
                    </a:p>
                  </a:txBody>
                  <a:tcPr anchor="ctr"/>
                </a:tc>
                <a:tc>
                  <a:txBody>
                    <a:bodyPr/>
                    <a:lstStyle/>
                    <a:p>
                      <a:pPr algn="l" rtl="0" fontAlgn="base">
                        <a:lnSpc>
                          <a:spcPts val="1725"/>
                        </a:lnSpc>
                        <a:buNone/>
                      </a:pPr>
                      <a:r>
                        <a:rPr lang="en-US" sz="1800" b="0" i="0">
                          <a:solidFill>
                            <a:srgbClr val="000000"/>
                          </a:solidFill>
                          <a:effectLst/>
                          <a:latin typeface="Calibri" panose="020F0502020204030204" pitchFamily="34" charset="0"/>
                        </a:rPr>
                        <a:t>MAC → PHY​</a:t>
                      </a:r>
                      <a:endParaRPr lang="en-US" b="0" i="0">
                        <a:solidFill>
                          <a:srgbClr val="000000"/>
                        </a:solidFill>
                        <a:effectLst/>
                      </a:endParaRPr>
                    </a:p>
                  </a:txBody>
                  <a:tcPr anchor="ctr"/>
                </a:tc>
                <a:tc>
                  <a:txBody>
                    <a:bodyPr/>
                    <a:lstStyle/>
                    <a:p>
                      <a:pPr algn="l" rtl="0" fontAlgn="base">
                        <a:lnSpc>
                          <a:spcPts val="1725"/>
                        </a:lnSpc>
                        <a:buNone/>
                      </a:pPr>
                      <a:r>
                        <a:rPr lang="en-US" sz="1800" b="0" i="0" u="none" strike="noStrike" dirty="0">
                          <a:solidFill>
                            <a:srgbClr val="000000"/>
                          </a:solidFill>
                          <a:effectLst/>
                          <a:latin typeface="Calibri" panose="020F0502020204030204" pitchFamily="34" charset="0"/>
                        </a:rPr>
                        <a:t>The MAC multiplexes command, any required address, and any required data for sending read and write requests to access the PHY PIPE registers and for sending read completion responses and write ack responses to PHY initiated requests.</a:t>
                      </a:r>
                      <a:r>
                        <a:rPr lang="en-US" sz="1800" b="0" i="0" dirty="0">
                          <a:solidFill>
                            <a:srgbClr val="000000"/>
                          </a:solidFill>
                          <a:effectLst/>
                          <a:latin typeface="Calibri" panose="020F0502020204030204" pitchFamily="34" charset="0"/>
                        </a:rPr>
                        <a:t>​</a:t>
                      </a:r>
                      <a:endParaRPr lang="en-US" b="0" i="0" dirty="0">
                        <a:solidFill>
                          <a:srgbClr val="000000"/>
                        </a:solidFill>
                        <a:effectLst/>
                      </a:endParaRPr>
                    </a:p>
                  </a:txBody>
                  <a:tcPr anchor="ctr"/>
                </a:tc>
                <a:extLst>
                  <a:ext uri="{0D108BD9-81ED-4DB2-BD59-A6C34878D82A}">
                    <a16:rowId xmlns:a16="http://schemas.microsoft.com/office/drawing/2014/main" val="2539603022"/>
                  </a:ext>
                </a:extLst>
              </a:tr>
              <a:tr h="1021930">
                <a:tc>
                  <a:txBody>
                    <a:bodyPr/>
                    <a:lstStyle/>
                    <a:p>
                      <a:pPr algn="l" rtl="0" fontAlgn="base">
                        <a:lnSpc>
                          <a:spcPts val="1725"/>
                        </a:lnSpc>
                        <a:buNone/>
                      </a:pPr>
                      <a:r>
                        <a:rPr lang="en-US" sz="1800" b="0" i="0">
                          <a:solidFill>
                            <a:srgbClr val="000000"/>
                          </a:solidFill>
                          <a:effectLst/>
                          <a:latin typeface="Calibri" panose="020F0502020204030204" pitchFamily="34" charset="0"/>
                        </a:rPr>
                        <a:t>P2M_MessageBus​</a:t>
                      </a:r>
                      <a:endParaRPr lang="en-US" b="0" i="0">
                        <a:solidFill>
                          <a:srgbClr val="000000"/>
                        </a:solidFill>
                        <a:effectLst/>
                      </a:endParaRPr>
                    </a:p>
                  </a:txBody>
                  <a:tcPr anchor="ctr"/>
                </a:tc>
                <a:tc>
                  <a:txBody>
                    <a:bodyPr/>
                    <a:lstStyle/>
                    <a:p>
                      <a:pPr algn="l" rtl="0" fontAlgn="base">
                        <a:lnSpc>
                          <a:spcPts val="1725"/>
                        </a:lnSpc>
                        <a:buNone/>
                      </a:pPr>
                      <a:r>
                        <a:rPr lang="en-US" sz="1800" b="0" i="0">
                          <a:solidFill>
                            <a:srgbClr val="000000"/>
                          </a:solidFill>
                          <a:effectLst/>
                          <a:latin typeface="Calibri" panose="020F0502020204030204" pitchFamily="34" charset="0"/>
                        </a:rPr>
                        <a:t>PHY → MAC​</a:t>
                      </a:r>
                      <a:endParaRPr lang="en-US" b="0" i="0">
                        <a:solidFill>
                          <a:srgbClr val="000000"/>
                        </a:solidFill>
                        <a:effectLst/>
                      </a:endParaRPr>
                    </a:p>
                  </a:txBody>
                  <a:tcPr anchor="ctr"/>
                </a:tc>
                <a:tc>
                  <a:txBody>
                    <a:bodyPr/>
                    <a:lstStyle/>
                    <a:p>
                      <a:pPr algn="l" rtl="0" fontAlgn="base">
                        <a:lnSpc>
                          <a:spcPts val="1725"/>
                        </a:lnSpc>
                        <a:buNone/>
                      </a:pPr>
                      <a:r>
                        <a:rPr lang="en-US" sz="1800" b="0" i="0" u="none" strike="noStrike" dirty="0">
                          <a:solidFill>
                            <a:srgbClr val="000000"/>
                          </a:solidFill>
                          <a:effectLst/>
                          <a:latin typeface="Calibri" panose="020F0502020204030204" pitchFamily="34" charset="0"/>
                        </a:rPr>
                        <a:t>The PHY multiplexes command, any required address, and any required data for sending read and write requests to access MAC PIPE registers and for sending read completion responses and write ack responses to MAC initiated requests.</a:t>
                      </a:r>
                      <a:r>
                        <a:rPr lang="en-US" sz="1800" b="0" i="0" dirty="0">
                          <a:solidFill>
                            <a:srgbClr val="000000"/>
                          </a:solidFill>
                          <a:effectLst/>
                          <a:latin typeface="Calibri" panose="020F0502020204030204" pitchFamily="34" charset="0"/>
                        </a:rPr>
                        <a:t>​</a:t>
                      </a:r>
                      <a:endParaRPr lang="en-US" b="0" i="0" dirty="0">
                        <a:solidFill>
                          <a:srgbClr val="000000"/>
                        </a:solidFill>
                        <a:effectLst/>
                      </a:endParaRPr>
                    </a:p>
                  </a:txBody>
                  <a:tcPr anchor="ctr"/>
                </a:tc>
                <a:extLst>
                  <a:ext uri="{0D108BD9-81ED-4DB2-BD59-A6C34878D82A}">
                    <a16:rowId xmlns:a16="http://schemas.microsoft.com/office/drawing/2014/main" val="4152561270"/>
                  </a:ext>
                </a:extLst>
              </a:tr>
            </a:tbl>
          </a:graphicData>
        </a:graphic>
      </p:graphicFrame>
    </p:spTree>
    <p:extLst>
      <p:ext uri="{BB962C8B-B14F-4D97-AF65-F5344CB8AC3E}">
        <p14:creationId xmlns:p14="http://schemas.microsoft.com/office/powerpoint/2010/main" val="3631226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727FC-9DD8-8769-432B-A9EB0FDC90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248FF-D81F-BEEE-3392-2EA86FEDFE94}"/>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GB" sz="2400" dirty="0"/>
              <a:t>The 4-bit commands used for accessing the PIPE registers across the message bus</a:t>
            </a:r>
            <a:r>
              <a:rPr lang="en-US" sz="2400" dirty="0"/>
              <a:t>​</a:t>
            </a:r>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74E6BBBA-DCDE-32B7-2F1A-E2AA82A0A77C}"/>
              </a:ext>
            </a:extLst>
          </p:cNvPr>
          <p:cNvSpPr>
            <a:spLocks noGrp="1"/>
          </p:cNvSpPr>
          <p:nvPr>
            <p:ph type="title"/>
          </p:nvPr>
        </p:nvSpPr>
        <p:spPr>
          <a:xfrm>
            <a:off x="4313" y="5691"/>
            <a:ext cx="12168996" cy="865489"/>
          </a:xfrm>
          <a:solidFill>
            <a:schemeClr val="accent6"/>
          </a:solidFill>
        </p:spPr>
        <p:txBody>
          <a:bodyPr>
            <a:normAutofit/>
          </a:bodyPr>
          <a:lstStyle/>
          <a:p>
            <a:pPr algn="ctr"/>
            <a:r>
              <a:rPr lang="en-GB" sz="2800" b="1" dirty="0"/>
              <a:t>Message Bus Interface Commands </a:t>
            </a:r>
            <a:r>
              <a:rPr lang="en-GB" sz="2800" dirty="0"/>
              <a:t>​</a:t>
            </a:r>
            <a:endParaRPr lang="en-US" sz="2800" dirty="0">
              <a:latin typeface="Aptos"/>
            </a:endParaRPr>
          </a:p>
        </p:txBody>
      </p:sp>
      <p:graphicFrame>
        <p:nvGraphicFramePr>
          <p:cNvPr id="2" name="Table 1">
            <a:extLst>
              <a:ext uri="{FF2B5EF4-FFF2-40B4-BE49-F238E27FC236}">
                <a16:creationId xmlns:a16="http://schemas.microsoft.com/office/drawing/2014/main" id="{4A3E1F67-1459-C4FD-28E8-3D40A21A66CA}"/>
              </a:ext>
            </a:extLst>
          </p:cNvPr>
          <p:cNvGraphicFramePr>
            <a:graphicFrameLocks noGrp="1"/>
          </p:cNvGraphicFramePr>
          <p:nvPr>
            <p:extLst>
              <p:ext uri="{D42A27DB-BD31-4B8C-83A1-F6EECF244321}">
                <p14:modId xmlns:p14="http://schemas.microsoft.com/office/powerpoint/2010/main" val="3931661342"/>
              </p:ext>
            </p:extLst>
          </p:nvPr>
        </p:nvGraphicFramePr>
        <p:xfrm>
          <a:off x="733097" y="1927701"/>
          <a:ext cx="10417264" cy="4661196"/>
        </p:xfrm>
        <a:graphic>
          <a:graphicData uri="http://schemas.openxmlformats.org/drawingml/2006/table">
            <a:tbl>
              <a:tblPr firstRow="1" bandRow="1">
                <a:tableStyleId>{5C22544A-7EE6-4342-B048-85BDC9FD1C3A}</a:tableStyleId>
              </a:tblPr>
              <a:tblGrid>
                <a:gridCol w="1531085">
                  <a:extLst>
                    <a:ext uri="{9D8B030D-6E8A-4147-A177-3AD203B41FA5}">
                      <a16:colId xmlns:a16="http://schemas.microsoft.com/office/drawing/2014/main" val="2988155682"/>
                    </a:ext>
                  </a:extLst>
                </a:gridCol>
                <a:gridCol w="2091026">
                  <a:extLst>
                    <a:ext uri="{9D8B030D-6E8A-4147-A177-3AD203B41FA5}">
                      <a16:colId xmlns:a16="http://schemas.microsoft.com/office/drawing/2014/main" val="423386220"/>
                    </a:ext>
                  </a:extLst>
                </a:gridCol>
                <a:gridCol w="2685962">
                  <a:extLst>
                    <a:ext uri="{9D8B030D-6E8A-4147-A177-3AD203B41FA5}">
                      <a16:colId xmlns:a16="http://schemas.microsoft.com/office/drawing/2014/main" val="305508445"/>
                    </a:ext>
                  </a:extLst>
                </a:gridCol>
                <a:gridCol w="2336000">
                  <a:extLst>
                    <a:ext uri="{9D8B030D-6E8A-4147-A177-3AD203B41FA5}">
                      <a16:colId xmlns:a16="http://schemas.microsoft.com/office/drawing/2014/main" val="3173430173"/>
                    </a:ext>
                  </a:extLst>
                </a:gridCol>
                <a:gridCol w="1773191">
                  <a:extLst>
                    <a:ext uri="{9D8B030D-6E8A-4147-A177-3AD203B41FA5}">
                      <a16:colId xmlns:a16="http://schemas.microsoft.com/office/drawing/2014/main" val="780075682"/>
                    </a:ext>
                  </a:extLst>
                </a:gridCol>
              </a:tblGrid>
              <a:tr h="341506">
                <a:tc>
                  <a:txBody>
                    <a:bodyPr/>
                    <a:lstStyle/>
                    <a:p>
                      <a:pPr algn="ctr" rtl="0" fontAlgn="base">
                        <a:lnSpc>
                          <a:spcPts val="1725"/>
                        </a:lnSpc>
                        <a:buNone/>
                      </a:pPr>
                      <a:r>
                        <a:rPr lang="en-US" sz="1800" b="1" i="0" dirty="0">
                          <a:solidFill>
                            <a:srgbClr val="000000"/>
                          </a:solidFill>
                          <a:effectLst/>
                          <a:latin typeface="Calibri" panose="020F0502020204030204" pitchFamily="34" charset="0"/>
                        </a:rPr>
                        <a:t>Encoding​</a:t>
                      </a:r>
                      <a:endParaRPr lang="en-US" b="1" i="0" dirty="0">
                        <a:solidFill>
                          <a:srgbClr val="000000"/>
                        </a:solidFill>
                        <a:effectLst/>
                      </a:endParaRPr>
                    </a:p>
                  </a:txBody>
                  <a:tcPr anchor="ctr"/>
                </a:tc>
                <a:tc>
                  <a:txBody>
                    <a:bodyPr/>
                    <a:lstStyle/>
                    <a:p>
                      <a:pPr algn="ctr" rtl="0" fontAlgn="base">
                        <a:lnSpc>
                          <a:spcPts val="1725"/>
                        </a:lnSpc>
                        <a:buNone/>
                      </a:pPr>
                      <a:r>
                        <a:rPr lang="en-US" sz="1800" b="1" i="0">
                          <a:solidFill>
                            <a:srgbClr val="000000"/>
                          </a:solidFill>
                          <a:effectLst/>
                          <a:latin typeface="Calibri" panose="020F0502020204030204" pitchFamily="34" charset="0"/>
                        </a:rPr>
                        <a:t>Command​</a:t>
                      </a:r>
                      <a:endParaRPr lang="en-US" b="1" i="0">
                        <a:solidFill>
                          <a:srgbClr val="000000"/>
                        </a:solidFill>
                        <a:effectLst/>
                      </a:endParaRPr>
                    </a:p>
                  </a:txBody>
                  <a:tcPr anchor="ctr"/>
                </a:tc>
                <a:tc>
                  <a:txBody>
                    <a:bodyPr/>
                    <a:lstStyle/>
                    <a:p>
                      <a:pPr algn="ctr" rtl="0" fontAlgn="base">
                        <a:lnSpc>
                          <a:spcPts val="1725"/>
                        </a:lnSpc>
                        <a:buNone/>
                      </a:pPr>
                      <a:r>
                        <a:rPr lang="en-US" sz="1800" b="1" i="0" dirty="0">
                          <a:solidFill>
                            <a:srgbClr val="000000"/>
                          </a:solidFill>
                          <a:effectLst/>
                          <a:latin typeface="Calibri" panose="020F0502020204030204" pitchFamily="34" charset="0"/>
                        </a:rPr>
                        <a:t>Description​</a:t>
                      </a:r>
                      <a:endParaRPr lang="en-US" b="1" i="0" dirty="0">
                        <a:solidFill>
                          <a:srgbClr val="000000"/>
                        </a:solidFill>
                        <a:effectLst/>
                      </a:endParaRPr>
                    </a:p>
                  </a:txBody>
                  <a:tcPr anchor="ctr"/>
                </a:tc>
                <a:tc>
                  <a:txBody>
                    <a:bodyPr/>
                    <a:lstStyle/>
                    <a:p>
                      <a:pPr algn="ctr" rtl="0" fontAlgn="base">
                        <a:lnSpc>
                          <a:spcPts val="1725"/>
                        </a:lnSpc>
                        <a:buNone/>
                      </a:pPr>
                      <a:r>
                        <a:rPr lang="en-US" sz="1800" b="1" i="0">
                          <a:solidFill>
                            <a:srgbClr val="000000"/>
                          </a:solidFill>
                          <a:effectLst/>
                          <a:latin typeface="Calibri" panose="020F0502020204030204" pitchFamily="34" charset="0"/>
                        </a:rPr>
                        <a:t>Required Fields​</a:t>
                      </a:r>
                      <a:endParaRPr lang="en-US" b="1" i="0">
                        <a:solidFill>
                          <a:srgbClr val="000000"/>
                        </a:solidFill>
                        <a:effectLst/>
                      </a:endParaRPr>
                    </a:p>
                  </a:txBody>
                  <a:tcPr anchor="ctr"/>
                </a:tc>
                <a:tc>
                  <a:txBody>
                    <a:bodyPr/>
                    <a:lstStyle/>
                    <a:p>
                      <a:pPr algn="ctr" rtl="0" fontAlgn="base">
                        <a:lnSpc>
                          <a:spcPts val="1725"/>
                        </a:lnSpc>
                        <a:buNone/>
                      </a:pPr>
                      <a:r>
                        <a:rPr lang="en-US" sz="1800" b="1" i="0">
                          <a:solidFill>
                            <a:srgbClr val="000000"/>
                          </a:solidFill>
                          <a:effectLst/>
                          <a:latin typeface="Calibri" panose="020F0502020204030204" pitchFamily="34" charset="0"/>
                        </a:rPr>
                        <a:t>Cycles to Transmit​</a:t>
                      </a:r>
                      <a:endParaRPr lang="en-US" b="1" i="0">
                        <a:solidFill>
                          <a:srgbClr val="000000"/>
                        </a:solidFill>
                        <a:effectLst/>
                      </a:endParaRPr>
                    </a:p>
                  </a:txBody>
                  <a:tcPr anchor="ctr"/>
                </a:tc>
                <a:extLst>
                  <a:ext uri="{0D108BD9-81ED-4DB2-BD59-A6C34878D82A}">
                    <a16:rowId xmlns:a16="http://schemas.microsoft.com/office/drawing/2014/main" val="1848634194"/>
                  </a:ext>
                </a:extLst>
              </a:tr>
              <a:tr h="428473">
                <a:tc>
                  <a:txBody>
                    <a:bodyPr/>
                    <a:lstStyle/>
                    <a:p>
                      <a:pPr algn="l" rtl="0" fontAlgn="base">
                        <a:lnSpc>
                          <a:spcPts val="1500"/>
                        </a:lnSpc>
                        <a:buNone/>
                      </a:pPr>
                      <a:r>
                        <a:rPr lang="en-US" sz="1600" b="0" i="0">
                          <a:solidFill>
                            <a:srgbClr val="000000"/>
                          </a:solidFill>
                          <a:effectLst/>
                          <a:latin typeface="Calibri" panose="020F0502020204030204" pitchFamily="34" charset="0"/>
                        </a:rPr>
                        <a:t>4’b0000​</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NOP​</a:t>
                      </a:r>
                      <a:endParaRPr lang="en-US" b="0" i="0">
                        <a:solidFill>
                          <a:srgbClr val="000000"/>
                        </a:solidFill>
                        <a:effectLst/>
                      </a:endParaRPr>
                    </a:p>
                  </a:txBody>
                  <a:tcPr anchor="ctr"/>
                </a:tc>
                <a:tc>
                  <a:txBody>
                    <a:bodyPr/>
                    <a:lstStyle/>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Indicates idle on the message bus</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No operation is performed</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Command[3:0]​</a:t>
                      </a:r>
                      <a:endParaRPr lang="en-US" b="0" i="0">
                        <a:solidFill>
                          <a:srgbClr val="000000"/>
                        </a:solidFill>
                        <a:effectLst/>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1​</a:t>
                      </a:r>
                      <a:endParaRPr lang="en-US" b="0" i="0" dirty="0">
                        <a:solidFill>
                          <a:srgbClr val="000000"/>
                        </a:solidFill>
                        <a:effectLst/>
                      </a:endParaRPr>
                    </a:p>
                  </a:txBody>
                  <a:tcPr anchor="ctr"/>
                </a:tc>
                <a:extLst>
                  <a:ext uri="{0D108BD9-81ED-4DB2-BD59-A6C34878D82A}">
                    <a16:rowId xmlns:a16="http://schemas.microsoft.com/office/drawing/2014/main" val="223667675"/>
                  </a:ext>
                </a:extLst>
              </a:tr>
              <a:tr h="550789">
                <a:tc>
                  <a:txBody>
                    <a:bodyPr/>
                    <a:lstStyle/>
                    <a:p>
                      <a:pPr algn="l" rtl="0" fontAlgn="base">
                        <a:lnSpc>
                          <a:spcPts val="1500"/>
                        </a:lnSpc>
                        <a:buNone/>
                      </a:pPr>
                      <a:r>
                        <a:rPr lang="en-US" sz="1600" b="0" i="0">
                          <a:solidFill>
                            <a:srgbClr val="000000"/>
                          </a:solidFill>
                          <a:effectLst/>
                          <a:latin typeface="Calibri" panose="020F0502020204030204" pitchFamily="34" charset="0"/>
                        </a:rPr>
                        <a:t>4’b0001​</a:t>
                      </a:r>
                      <a:endParaRPr lang="en-US" b="0" i="0">
                        <a:solidFill>
                          <a:srgbClr val="000000"/>
                        </a:solidFill>
                        <a:effectLst/>
                      </a:endParaRPr>
                    </a:p>
                  </a:txBody>
                  <a:tcPr anchor="ctr"/>
                </a:tc>
                <a:tc>
                  <a:txBody>
                    <a:bodyPr/>
                    <a:lstStyle/>
                    <a:p>
                      <a:pPr algn="l" rtl="0" fontAlgn="base">
                        <a:lnSpc>
                          <a:spcPts val="1500"/>
                        </a:lnSpc>
                        <a:buNone/>
                      </a:pPr>
                      <a:r>
                        <a:rPr lang="en-US" sz="1600" b="0" i="0" dirty="0" err="1">
                          <a:solidFill>
                            <a:srgbClr val="000000"/>
                          </a:solidFill>
                          <a:effectLst/>
                          <a:latin typeface="Calibri" panose="020F0502020204030204" pitchFamily="34" charset="0"/>
                        </a:rPr>
                        <a:t>write_uncommitted</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txBody>
                  <a:tcPr anchor="ctr"/>
                </a:tc>
                <a:tc>
                  <a:txBody>
                    <a:bodyPr/>
                    <a:lstStyle/>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Stores the write into a temporary write buffer</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Register value is NOT updated immediately</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Command[3:0], Address[11:0], Data[7:0]​</a:t>
                      </a:r>
                      <a:endParaRPr lang="en-US" b="0" i="0" dirty="0">
                        <a:solidFill>
                          <a:srgbClr val="000000"/>
                        </a:solidFill>
                        <a:effectLst/>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3​</a:t>
                      </a:r>
                      <a:endParaRPr lang="en-US" b="0" i="0" dirty="0">
                        <a:solidFill>
                          <a:srgbClr val="000000"/>
                        </a:solidFill>
                        <a:effectLst/>
                      </a:endParaRPr>
                    </a:p>
                  </a:txBody>
                  <a:tcPr anchor="ctr"/>
                </a:tc>
                <a:extLst>
                  <a:ext uri="{0D108BD9-81ED-4DB2-BD59-A6C34878D82A}">
                    <a16:rowId xmlns:a16="http://schemas.microsoft.com/office/drawing/2014/main" val="4011344525"/>
                  </a:ext>
                </a:extLst>
              </a:tr>
              <a:tr h="428473">
                <a:tc>
                  <a:txBody>
                    <a:bodyPr/>
                    <a:lstStyle/>
                    <a:p>
                      <a:pPr algn="l" rtl="0" fontAlgn="base">
                        <a:lnSpc>
                          <a:spcPts val="1500"/>
                        </a:lnSpc>
                        <a:buNone/>
                      </a:pPr>
                      <a:r>
                        <a:rPr lang="en-US" sz="1600" b="0" i="0">
                          <a:solidFill>
                            <a:srgbClr val="000000"/>
                          </a:solidFill>
                          <a:effectLst/>
                          <a:latin typeface="Calibri" panose="020F0502020204030204" pitchFamily="34" charset="0"/>
                        </a:rPr>
                        <a:t>4’b0010​</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write_committed​</a:t>
                      </a:r>
                      <a:endParaRPr lang="en-US" b="0" i="0">
                        <a:solidFill>
                          <a:srgbClr val="000000"/>
                        </a:solidFill>
                        <a:effectLst/>
                      </a:endParaRPr>
                    </a:p>
                  </a:txBody>
                  <a:tcPr anchor="ctr"/>
                </a:tc>
                <a:tc>
                  <a:txBody>
                    <a:bodyPr/>
                    <a:lstStyle/>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The current write</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All previously buffered </a:t>
                      </a:r>
                      <a:r>
                        <a:rPr lang="en-US" sz="1600" b="0" i="0" u="none" strike="noStrike" dirty="0" err="1">
                          <a:solidFill>
                            <a:srgbClr val="000000"/>
                          </a:solidFill>
                          <a:effectLst/>
                          <a:latin typeface="Calibri" panose="020F0502020204030204" pitchFamily="34" charset="0"/>
                        </a:rPr>
                        <a:t>write_uncommitted</a:t>
                      </a:r>
                      <a:r>
                        <a:rPr lang="en-US" sz="1600" b="0" i="0" u="none" strike="noStrike" dirty="0">
                          <a:solidFill>
                            <a:srgbClr val="000000"/>
                          </a:solidFill>
                          <a:effectLst/>
                          <a:latin typeface="Calibri" panose="020F0502020204030204" pitchFamily="34" charset="0"/>
                        </a:rPr>
                        <a:t> writes</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Command[3:0], Address[11:0], Data[7:0]​</a:t>
                      </a:r>
                      <a:endParaRPr lang="en-US" b="0" i="0" dirty="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3​</a:t>
                      </a:r>
                      <a:endParaRPr lang="en-US" b="0" i="0">
                        <a:solidFill>
                          <a:srgbClr val="000000"/>
                        </a:solidFill>
                        <a:effectLst/>
                      </a:endParaRPr>
                    </a:p>
                  </a:txBody>
                  <a:tcPr anchor="ctr"/>
                </a:tc>
                <a:extLst>
                  <a:ext uri="{0D108BD9-81ED-4DB2-BD59-A6C34878D82A}">
                    <a16:rowId xmlns:a16="http://schemas.microsoft.com/office/drawing/2014/main" val="1669106333"/>
                  </a:ext>
                </a:extLst>
              </a:tr>
              <a:tr h="550789">
                <a:tc>
                  <a:txBody>
                    <a:bodyPr/>
                    <a:lstStyle/>
                    <a:p>
                      <a:pPr algn="l" rtl="0" fontAlgn="base">
                        <a:lnSpc>
                          <a:spcPts val="1500"/>
                        </a:lnSpc>
                        <a:buNone/>
                      </a:pPr>
                      <a:r>
                        <a:rPr lang="en-US" sz="1600" b="0" i="0">
                          <a:solidFill>
                            <a:srgbClr val="000000"/>
                          </a:solidFill>
                          <a:effectLst/>
                          <a:latin typeface="Calibri" panose="020F0502020204030204" pitchFamily="34" charset="0"/>
                        </a:rPr>
                        <a:t>4’b0011​</a:t>
                      </a:r>
                      <a:endParaRPr lang="en-US" b="0" i="0">
                        <a:solidFill>
                          <a:srgbClr val="000000"/>
                        </a:solidFill>
                        <a:effectLst/>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read​</a:t>
                      </a:r>
                      <a:endParaRPr lang="en-US" b="0" i="0" dirty="0">
                        <a:solidFill>
                          <a:srgbClr val="000000"/>
                        </a:solidFill>
                        <a:effectLst/>
                      </a:endParaRPr>
                    </a:p>
                  </a:txBody>
                  <a:tcPr anchor="ctr"/>
                </a:tc>
                <a:tc>
                  <a:txBody>
                    <a:bodyPr/>
                    <a:lstStyle/>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Requests to read a PIPE register</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lnSpc>
                          <a:spcPts val="1500"/>
                        </a:lnSpc>
                        <a:buFont typeface="Arial" panose="020B0604020202020204" pitchFamily="34" charset="0"/>
                        <a:buChar char="•"/>
                      </a:pPr>
                      <a:r>
                        <a:rPr lang="en-US" sz="1600" b="0" i="0" u="none" strike="noStrike" dirty="0">
                          <a:solidFill>
                            <a:srgbClr val="000000"/>
                          </a:solidFill>
                          <a:effectLst/>
                          <a:latin typeface="Calibri" panose="020F0502020204030204" pitchFamily="34" charset="0"/>
                        </a:rPr>
                        <a:t>Uses the provided register address</a:t>
                      </a:r>
                      <a:r>
                        <a:rPr lang="en-US" sz="16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Command[3:0], Address[11:0]​</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2​</a:t>
                      </a:r>
                      <a:endParaRPr lang="en-US" b="0" i="0">
                        <a:solidFill>
                          <a:srgbClr val="000000"/>
                        </a:solidFill>
                        <a:effectLst/>
                      </a:endParaRPr>
                    </a:p>
                  </a:txBody>
                  <a:tcPr anchor="ctr"/>
                </a:tc>
                <a:extLst>
                  <a:ext uri="{0D108BD9-81ED-4DB2-BD59-A6C34878D82A}">
                    <a16:rowId xmlns:a16="http://schemas.microsoft.com/office/drawing/2014/main" val="3429945404"/>
                  </a:ext>
                </a:extLst>
              </a:tr>
              <a:tr h="308522">
                <a:tc>
                  <a:txBody>
                    <a:bodyPr/>
                    <a:lstStyle/>
                    <a:p>
                      <a:pPr algn="l" rtl="0" fontAlgn="base">
                        <a:lnSpc>
                          <a:spcPts val="1500"/>
                        </a:lnSpc>
                        <a:buNone/>
                      </a:pPr>
                      <a:r>
                        <a:rPr lang="en-US" sz="1600" b="0" i="0" dirty="0">
                          <a:solidFill>
                            <a:srgbClr val="000000"/>
                          </a:solidFill>
                          <a:effectLst/>
                          <a:latin typeface="Calibri" panose="020F0502020204030204" pitchFamily="34" charset="0"/>
                        </a:rPr>
                        <a:t>4’b0100​</a:t>
                      </a:r>
                      <a:endParaRPr lang="en-US" b="0" i="0" dirty="0">
                        <a:solidFill>
                          <a:srgbClr val="000000"/>
                        </a:solidFill>
                        <a:effectLst/>
                      </a:endParaRPr>
                    </a:p>
                  </a:txBody>
                  <a:tcPr anchor="ctr"/>
                </a:tc>
                <a:tc>
                  <a:txBody>
                    <a:bodyPr/>
                    <a:lstStyle/>
                    <a:p>
                      <a:pPr algn="l" rtl="0" fontAlgn="base">
                        <a:lnSpc>
                          <a:spcPts val="1500"/>
                        </a:lnSpc>
                        <a:buNone/>
                      </a:pPr>
                      <a:r>
                        <a:rPr lang="en-US" sz="1600" b="0" i="0" dirty="0" err="1">
                          <a:solidFill>
                            <a:srgbClr val="000000"/>
                          </a:solidFill>
                          <a:effectLst/>
                          <a:latin typeface="Calibri" panose="020F0502020204030204" pitchFamily="34" charset="0"/>
                        </a:rPr>
                        <a:t>read_completion</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Data response to a read. ​</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Command[3:0], Data[7:0]​</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2​</a:t>
                      </a:r>
                      <a:endParaRPr lang="en-US" b="0" i="0">
                        <a:solidFill>
                          <a:srgbClr val="000000"/>
                        </a:solidFill>
                        <a:effectLst/>
                      </a:endParaRPr>
                    </a:p>
                  </a:txBody>
                  <a:tcPr anchor="ctr"/>
                </a:tc>
                <a:extLst>
                  <a:ext uri="{0D108BD9-81ED-4DB2-BD59-A6C34878D82A}">
                    <a16:rowId xmlns:a16="http://schemas.microsoft.com/office/drawing/2014/main" val="3914207616"/>
                  </a:ext>
                </a:extLst>
              </a:tr>
              <a:tr h="308522">
                <a:tc>
                  <a:txBody>
                    <a:bodyPr/>
                    <a:lstStyle/>
                    <a:p>
                      <a:pPr algn="l" rtl="0" fontAlgn="base">
                        <a:lnSpc>
                          <a:spcPts val="1500"/>
                        </a:lnSpc>
                        <a:buNone/>
                      </a:pPr>
                      <a:r>
                        <a:rPr lang="en-US" sz="1600" b="0" i="0">
                          <a:solidFill>
                            <a:srgbClr val="000000"/>
                          </a:solidFill>
                          <a:effectLst/>
                          <a:latin typeface="Calibri" panose="020F0502020204030204" pitchFamily="34" charset="0"/>
                        </a:rPr>
                        <a:t>4’b0101​</a:t>
                      </a:r>
                      <a:endParaRPr lang="en-US" b="0" i="0">
                        <a:solidFill>
                          <a:srgbClr val="000000"/>
                        </a:solidFill>
                        <a:effectLst/>
                      </a:endParaRPr>
                    </a:p>
                  </a:txBody>
                  <a:tcPr anchor="ctr"/>
                </a:tc>
                <a:tc>
                  <a:txBody>
                    <a:bodyPr/>
                    <a:lstStyle/>
                    <a:p>
                      <a:pPr algn="l" rtl="0" fontAlgn="base">
                        <a:lnSpc>
                          <a:spcPts val="1500"/>
                        </a:lnSpc>
                        <a:buNone/>
                      </a:pPr>
                      <a:r>
                        <a:rPr lang="en-US" sz="1600" b="0" i="0" dirty="0" err="1">
                          <a:solidFill>
                            <a:srgbClr val="000000"/>
                          </a:solidFill>
                          <a:effectLst/>
                          <a:latin typeface="Calibri" panose="020F0502020204030204" pitchFamily="34" charset="0"/>
                        </a:rPr>
                        <a:t>write_ack</a:t>
                      </a:r>
                      <a:r>
                        <a:rPr lang="en-US" sz="1600" b="0" i="0" dirty="0">
                          <a:solidFill>
                            <a:srgbClr val="000000"/>
                          </a:solidFill>
                          <a:effectLst/>
                          <a:latin typeface="Calibri" panose="020F0502020204030204" pitchFamily="34" charset="0"/>
                        </a:rPr>
                        <a:t>​</a:t>
                      </a:r>
                      <a:endParaRPr lang="en-US" b="0" i="0" dirty="0">
                        <a:solidFill>
                          <a:srgbClr val="000000"/>
                        </a:solidFill>
                        <a:effectLst/>
                      </a:endParaRPr>
                    </a:p>
                  </a:txBody>
                  <a:tcPr anchor="ctr"/>
                </a:tc>
                <a:tc>
                  <a:txBody>
                    <a:bodyPr/>
                    <a:lstStyle/>
                    <a:p>
                      <a:pPr algn="l" rtl="0" fontAlgn="base">
                        <a:lnSpc>
                          <a:spcPts val="1500"/>
                        </a:lnSpc>
                        <a:buNone/>
                      </a:pPr>
                      <a:r>
                        <a:rPr lang="en-US" sz="1600" b="0" i="0" u="none" strike="noStrike">
                          <a:solidFill>
                            <a:srgbClr val="000000"/>
                          </a:solidFill>
                          <a:effectLst/>
                          <a:latin typeface="Calibri" panose="020F0502020204030204" pitchFamily="34" charset="0"/>
                        </a:rPr>
                        <a:t>Acknowledges receipt of write_committed</a:t>
                      </a:r>
                      <a:r>
                        <a:rPr lang="en-US" sz="1600" b="0" i="0">
                          <a:solidFill>
                            <a:srgbClr val="000000"/>
                          </a:solidFill>
                          <a:effectLst/>
                          <a:latin typeface="Calibri" panose="020F0502020204030204" pitchFamily="34" charset="0"/>
                        </a:rPr>
                        <a:t>​</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Command[3:0]​</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1​</a:t>
                      </a:r>
                      <a:endParaRPr lang="en-US" b="0" i="0">
                        <a:solidFill>
                          <a:srgbClr val="000000"/>
                        </a:solidFill>
                        <a:effectLst/>
                      </a:endParaRPr>
                    </a:p>
                  </a:txBody>
                  <a:tcPr anchor="ctr"/>
                </a:tc>
                <a:extLst>
                  <a:ext uri="{0D108BD9-81ED-4DB2-BD59-A6C34878D82A}">
                    <a16:rowId xmlns:a16="http://schemas.microsoft.com/office/drawing/2014/main" val="3281438324"/>
                  </a:ext>
                </a:extLst>
              </a:tr>
              <a:tr h="186206">
                <a:tc>
                  <a:txBody>
                    <a:bodyPr/>
                    <a:lstStyle/>
                    <a:p>
                      <a:pPr algn="l" rtl="0" fontAlgn="base">
                        <a:lnSpc>
                          <a:spcPts val="1500"/>
                        </a:lnSpc>
                        <a:buNone/>
                      </a:pPr>
                      <a:r>
                        <a:rPr lang="en-US" sz="1600" b="0" i="0">
                          <a:solidFill>
                            <a:srgbClr val="000000"/>
                          </a:solidFill>
                          <a:effectLst/>
                          <a:latin typeface="Calibri" panose="020F0502020204030204" pitchFamily="34" charset="0"/>
                        </a:rPr>
                        <a:t>All others​</a:t>
                      </a:r>
                      <a:endParaRPr lang="en-US" b="0" i="0">
                        <a:solidFill>
                          <a:srgbClr val="000000"/>
                        </a:solidFill>
                        <a:effectLst/>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Reserved​</a:t>
                      </a:r>
                      <a:endParaRPr lang="en-US" b="0" i="0" dirty="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N/A​</a:t>
                      </a:r>
                      <a:endParaRPr lang="en-US" b="0" i="0">
                        <a:solidFill>
                          <a:srgbClr val="000000"/>
                        </a:solidFill>
                        <a:effectLst/>
                      </a:endParaRPr>
                    </a:p>
                  </a:txBody>
                  <a:tcPr anchor="ctr"/>
                </a:tc>
                <a:tc>
                  <a:txBody>
                    <a:bodyPr/>
                    <a:lstStyle/>
                    <a:p>
                      <a:pPr algn="l" rtl="0" fontAlgn="base">
                        <a:lnSpc>
                          <a:spcPts val="1500"/>
                        </a:lnSpc>
                        <a:buNone/>
                      </a:pPr>
                      <a:r>
                        <a:rPr lang="en-US" sz="1600" b="0" i="0">
                          <a:solidFill>
                            <a:srgbClr val="000000"/>
                          </a:solidFill>
                          <a:effectLst/>
                          <a:latin typeface="Calibri" panose="020F0502020204030204" pitchFamily="34" charset="0"/>
                        </a:rPr>
                        <a:t>N/A​</a:t>
                      </a:r>
                      <a:endParaRPr lang="en-US" b="0" i="0">
                        <a:solidFill>
                          <a:srgbClr val="000000"/>
                        </a:solidFill>
                        <a:effectLst/>
                      </a:endParaRPr>
                    </a:p>
                  </a:txBody>
                  <a:tcPr anchor="ctr"/>
                </a:tc>
                <a:tc>
                  <a:txBody>
                    <a:bodyPr/>
                    <a:lstStyle/>
                    <a:p>
                      <a:pPr algn="l" rtl="0" fontAlgn="base">
                        <a:lnSpc>
                          <a:spcPts val="1500"/>
                        </a:lnSpc>
                        <a:buNone/>
                      </a:pPr>
                      <a:r>
                        <a:rPr lang="en-US" sz="1600" b="0" i="0" dirty="0">
                          <a:solidFill>
                            <a:srgbClr val="000000"/>
                          </a:solidFill>
                          <a:effectLst/>
                          <a:latin typeface="Calibri" panose="020F0502020204030204" pitchFamily="34" charset="0"/>
                        </a:rPr>
                        <a:t>N/A​</a:t>
                      </a:r>
                      <a:endParaRPr lang="en-US" b="0" i="0" dirty="0">
                        <a:solidFill>
                          <a:srgbClr val="000000"/>
                        </a:solidFill>
                        <a:effectLst/>
                      </a:endParaRPr>
                    </a:p>
                  </a:txBody>
                  <a:tcPr anchor="ctr"/>
                </a:tc>
                <a:extLst>
                  <a:ext uri="{0D108BD9-81ED-4DB2-BD59-A6C34878D82A}">
                    <a16:rowId xmlns:a16="http://schemas.microsoft.com/office/drawing/2014/main" val="2148451263"/>
                  </a:ext>
                </a:extLst>
              </a:tr>
            </a:tbl>
          </a:graphicData>
        </a:graphic>
      </p:graphicFrame>
    </p:spTree>
    <p:extLst>
      <p:ext uri="{BB962C8B-B14F-4D97-AF65-F5344CB8AC3E}">
        <p14:creationId xmlns:p14="http://schemas.microsoft.com/office/powerpoint/2010/main" val="2128765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1C086-D5AD-C138-CB29-85C153908B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BF866-4313-79AB-CFF0-7786AFCD5978}"/>
              </a:ext>
            </a:extLst>
          </p:cNvPr>
          <p:cNvSpPr>
            <a:spLocks noGrp="1"/>
          </p:cNvSpPr>
          <p:nvPr>
            <p:ph idx="1"/>
          </p:nvPr>
        </p:nvSpPr>
        <p:spPr>
          <a:xfrm>
            <a:off x="356361"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US" sz="2000" b="1" dirty="0"/>
              <a:t>Command Only Message Bus Transaction Timing (NOP, </a:t>
            </a:r>
            <a:r>
              <a:rPr lang="en-US" sz="2000" b="1" dirty="0" err="1"/>
              <a:t>write_ack</a:t>
            </a:r>
            <a:r>
              <a:rPr lang="en-US" sz="2000" b="1" dirty="0"/>
              <a:t>)</a:t>
            </a:r>
          </a:p>
          <a:p>
            <a:pPr marL="457200" indent="-457200">
              <a:buFont typeface="Wingdings" panose="020B0604020202020204" pitchFamily="34" charset="0"/>
              <a:buChar char="§"/>
            </a:pPr>
            <a:endParaRPr lang="en-US" sz="2000" b="1" dirty="0"/>
          </a:p>
          <a:p>
            <a:pPr marL="457200" indent="-457200">
              <a:buFont typeface="Wingdings" panose="020B0604020202020204" pitchFamily="34" charset="0"/>
              <a:buChar char="§"/>
            </a:pPr>
            <a:endParaRPr lang="en-US" sz="2000" b="1" dirty="0"/>
          </a:p>
          <a:p>
            <a:pPr marL="457200" indent="-457200">
              <a:buFont typeface="Wingdings" panose="020B0604020202020204" pitchFamily="34" charset="0"/>
              <a:buChar char="§"/>
            </a:pPr>
            <a:endParaRPr lang="en-US" sz="2000" b="1" dirty="0"/>
          </a:p>
          <a:p>
            <a:pPr marL="0" indent="0">
              <a:buNone/>
            </a:pPr>
            <a:endParaRPr lang="en-US" sz="2000" dirty="0"/>
          </a:p>
          <a:p>
            <a:pPr marL="457200" indent="-457200">
              <a:buFont typeface="Wingdings" panose="020B0604020202020204" pitchFamily="34" charset="0"/>
              <a:buChar char="§"/>
            </a:pPr>
            <a:r>
              <a:rPr lang="en-US" sz="2000" b="1" dirty="0"/>
              <a:t>Command Only Message Bus Transaction Timing (Read)</a:t>
            </a:r>
            <a:r>
              <a:rPr lang="en-US" sz="2000" dirty="0"/>
              <a:t>​</a:t>
            </a:r>
          </a:p>
          <a:p>
            <a:pPr marL="457200" indent="-457200">
              <a:buFont typeface="Wingdings" panose="020B0604020202020204" pitchFamily="34" charset="0"/>
              <a:buChar char="§"/>
            </a:pPr>
            <a:endParaRPr lang="en-US" sz="2000" dirty="0"/>
          </a:p>
          <a:p>
            <a:pPr marL="457200" indent="-457200">
              <a:buFont typeface="Wingdings" panose="020B0604020202020204" pitchFamily="34" charset="0"/>
              <a:buChar char="§"/>
            </a:pPr>
            <a:endParaRPr lang="en-US" sz="2000" dirty="0"/>
          </a:p>
          <a:p>
            <a:pPr marL="457200" indent="-457200">
              <a:buFont typeface="Wingdings" panose="020B0604020202020204" pitchFamily="34" charset="0"/>
              <a:buChar char="§"/>
            </a:pPr>
            <a:endParaRPr lang="en-US" sz="2000" dirty="0"/>
          </a:p>
        </p:txBody>
      </p:sp>
      <p:sp>
        <p:nvSpPr>
          <p:cNvPr id="5" name="Title 1">
            <a:extLst>
              <a:ext uri="{FF2B5EF4-FFF2-40B4-BE49-F238E27FC236}">
                <a16:creationId xmlns:a16="http://schemas.microsoft.com/office/drawing/2014/main" id="{E8D50F44-A0C2-961C-9BC2-90196F4CFEA1}"/>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Message Bus Interface</a:t>
            </a:r>
          </a:p>
        </p:txBody>
      </p:sp>
      <p:pic>
        <p:nvPicPr>
          <p:cNvPr id="4100" name="Picture 4" descr="A white rectangular object with blue text&#10;&#10;AI-generated content may be incorrect.">
            <a:extLst>
              <a:ext uri="{FF2B5EF4-FFF2-40B4-BE49-F238E27FC236}">
                <a16:creationId xmlns:a16="http://schemas.microsoft.com/office/drawing/2014/main" id="{32DC1853-8BEC-8009-DA05-30D9A11D8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552" y="1585914"/>
            <a:ext cx="11258550" cy="14001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 screenshot of a computer&#10;&#10;AI-generated content may be incorrect.">
            <a:extLst>
              <a:ext uri="{FF2B5EF4-FFF2-40B4-BE49-F238E27FC236}">
                <a16:creationId xmlns:a16="http://schemas.microsoft.com/office/drawing/2014/main" id="{9268E265-11A3-5921-EFDC-92C85C90B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61" y="3700823"/>
            <a:ext cx="112014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010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9F29B-C267-1C84-489A-AE37C8CE2A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8BD9A-56C2-FE12-0125-E85CB76E12E5}"/>
              </a:ext>
            </a:extLst>
          </p:cNvPr>
          <p:cNvSpPr>
            <a:spLocks noGrp="1"/>
          </p:cNvSpPr>
          <p:nvPr>
            <p:ph idx="1"/>
          </p:nvPr>
        </p:nvSpPr>
        <p:spPr>
          <a:xfrm>
            <a:off x="640140" y="1952096"/>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US" sz="1800" b="1" dirty="0" err="1"/>
              <a:t>Command+Data</a:t>
            </a:r>
            <a:r>
              <a:rPr lang="en-US" sz="1800" b="1" dirty="0"/>
              <a:t> Message Bus Transaction Timing (Read Completion)</a:t>
            </a:r>
            <a:r>
              <a:rPr lang="en-US" sz="1800" dirty="0"/>
              <a:t>​</a:t>
            </a:r>
          </a:p>
          <a:p>
            <a:pPr marL="457200" indent="-457200">
              <a:buFont typeface="Wingdings" panose="020B0604020202020204" pitchFamily="34" charset="0"/>
              <a:buChar char="§"/>
            </a:pPr>
            <a:endParaRPr lang="en-US" sz="2000" dirty="0"/>
          </a:p>
          <a:p>
            <a:pPr marL="457200" indent="-457200">
              <a:buFont typeface="Wingdings" panose="020B0604020202020204" pitchFamily="34" charset="0"/>
              <a:buChar char="§"/>
            </a:pPr>
            <a:endParaRPr lang="en-US" sz="2000" dirty="0"/>
          </a:p>
          <a:p>
            <a:pPr marL="0" indent="0">
              <a:buNone/>
            </a:pPr>
            <a:endParaRPr lang="en-US" sz="2000" dirty="0"/>
          </a:p>
          <a:p>
            <a:pPr marL="0" indent="0">
              <a:buNone/>
            </a:pPr>
            <a:endParaRPr lang="en-US" sz="2000" dirty="0"/>
          </a:p>
          <a:p>
            <a:pPr marL="0" indent="0">
              <a:buNone/>
            </a:pPr>
            <a:endParaRPr lang="en-US" sz="2000" dirty="0"/>
          </a:p>
          <a:p>
            <a:pPr marL="457200" indent="-457200">
              <a:buFont typeface="Wingdings" panose="020B0604020202020204" pitchFamily="34" charset="0"/>
              <a:buChar char="§"/>
            </a:pPr>
            <a:r>
              <a:rPr lang="en-US" sz="1600" b="1" dirty="0" err="1"/>
              <a:t>Command+Address+Data</a:t>
            </a:r>
            <a:r>
              <a:rPr lang="en-US" sz="1600" b="1" dirty="0"/>
              <a:t> Message Bus Transaction Timing(</a:t>
            </a:r>
            <a:r>
              <a:rPr lang="en-US" sz="1600" b="1" dirty="0" err="1"/>
              <a:t>Write_uncommitted</a:t>
            </a:r>
            <a:r>
              <a:rPr lang="en-US" sz="1600" b="1" dirty="0"/>
              <a:t>, </a:t>
            </a:r>
            <a:r>
              <a:rPr lang="en-US" sz="1600" b="1" dirty="0" err="1"/>
              <a:t>Write_committed</a:t>
            </a:r>
            <a:r>
              <a:rPr lang="en-US" sz="1600" b="1" dirty="0"/>
              <a:t>)</a:t>
            </a:r>
            <a:r>
              <a:rPr lang="en-US" sz="1600" dirty="0"/>
              <a:t>​</a:t>
            </a:r>
          </a:p>
          <a:p>
            <a:pPr marL="457200" indent="-457200">
              <a:buFont typeface="Wingdings" panose="020B0604020202020204" pitchFamily="34" charset="0"/>
              <a:buChar char="§"/>
            </a:pPr>
            <a:endParaRPr lang="en-US" sz="1600" dirty="0"/>
          </a:p>
        </p:txBody>
      </p:sp>
      <p:sp>
        <p:nvSpPr>
          <p:cNvPr id="5" name="Title 1">
            <a:extLst>
              <a:ext uri="{FF2B5EF4-FFF2-40B4-BE49-F238E27FC236}">
                <a16:creationId xmlns:a16="http://schemas.microsoft.com/office/drawing/2014/main" id="{D5A2D101-4A87-7F06-257F-657B9D4BFC6A}"/>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Message Bus Interface</a:t>
            </a:r>
          </a:p>
        </p:txBody>
      </p:sp>
      <p:pic>
        <p:nvPicPr>
          <p:cNvPr id="5122" name="Picture 2">
            <a:extLst>
              <a:ext uri="{FF2B5EF4-FFF2-40B4-BE49-F238E27FC236}">
                <a16:creationId xmlns:a16="http://schemas.microsoft.com/office/drawing/2014/main" id="{593599B9-A2B1-D25E-4799-82ACE6101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177" y="2298965"/>
            <a:ext cx="11353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 screenshot of a computer&#10;&#10;AI-generated content may be incorrect.">
            <a:extLst>
              <a:ext uri="{FF2B5EF4-FFF2-40B4-BE49-F238E27FC236}">
                <a16:creationId xmlns:a16="http://schemas.microsoft.com/office/drawing/2014/main" id="{7C969FCE-3033-643A-94EA-FE9E5BBC1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177" y="4757409"/>
            <a:ext cx="11268075" cy="200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465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CAFF6-7EF8-D10A-88A8-3B70F731C24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D80FE-8C7C-CB6A-FA3C-DBA61EB6645B}"/>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IN" dirty="0"/>
              <a:t>Mac registers </a:t>
            </a:r>
            <a:r>
              <a:rPr lang="en-US" dirty="0"/>
              <a:t> are used to configure, control, and monitor the MAC layer of a communication interface.</a:t>
            </a:r>
          </a:p>
          <a:p>
            <a:r>
              <a:rPr lang="en-US" dirty="0"/>
              <a:t>These registers are grouped into 4 logical blocks.</a:t>
            </a:r>
          </a:p>
          <a:p>
            <a:pPr marL="0" indent="0">
              <a:buNone/>
            </a:pPr>
            <a:r>
              <a:rPr lang="en-US" dirty="0"/>
              <a:t>       1)</a:t>
            </a:r>
            <a:r>
              <a:rPr lang="en-IN" b="1" dirty="0"/>
              <a:t>Rx Margin Status </a:t>
            </a:r>
            <a:r>
              <a:rPr lang="en-IN" dirty="0"/>
              <a:t>– Signal quality / eye margin</a:t>
            </a:r>
          </a:p>
          <a:p>
            <a:pPr marL="0" indent="0">
              <a:buNone/>
            </a:pPr>
            <a:r>
              <a:rPr lang="en-IN" dirty="0"/>
              <a:t>       2)</a:t>
            </a:r>
            <a:r>
              <a:rPr lang="en-IN" b="1" dirty="0"/>
              <a:t>Elastic Buffer </a:t>
            </a:r>
            <a:r>
              <a:rPr lang="en-IN" dirty="0"/>
              <a:t>– Clock compensation (SerDes-related)</a:t>
            </a:r>
          </a:p>
          <a:p>
            <a:pPr marL="0" indent="0">
              <a:buNone/>
            </a:pPr>
            <a:r>
              <a:rPr lang="en-IN" dirty="0"/>
              <a:t>       3)</a:t>
            </a:r>
            <a:r>
              <a:rPr lang="en-IN" b="1" dirty="0"/>
              <a:t>Rx Status / Control </a:t>
            </a:r>
            <a:r>
              <a:rPr lang="en-IN" dirty="0"/>
              <a:t>– Link, error, and control info</a:t>
            </a:r>
          </a:p>
          <a:p>
            <a:pPr marL="0" indent="0">
              <a:buNone/>
            </a:pPr>
            <a:r>
              <a:rPr lang="en-IN" dirty="0"/>
              <a:t>       4)</a:t>
            </a:r>
            <a:r>
              <a:rPr lang="en-IN" b="1" dirty="0"/>
              <a:t>Link Evaluation Status </a:t>
            </a:r>
            <a:r>
              <a:rPr lang="en-IN" dirty="0"/>
              <a:t>– Link quality monitoring</a:t>
            </a:r>
          </a:p>
          <a:p>
            <a:pPr marL="0" indent="0">
              <a:buNone/>
            </a:pPr>
            <a:endParaRPr lang="en-IN" dirty="0"/>
          </a:p>
          <a:p>
            <a:endParaRPr lang="en-IN" dirty="0"/>
          </a:p>
          <a:p>
            <a:pPr marL="457200" indent="-457200">
              <a:buFont typeface="Wingdings" panose="020B0604020202020204" pitchFamily="34" charset="0"/>
              <a:buChar char="§"/>
            </a:pPr>
            <a:endParaRPr lang="en-US" dirty="0"/>
          </a:p>
        </p:txBody>
      </p:sp>
      <p:sp>
        <p:nvSpPr>
          <p:cNvPr id="5" name="Title 1">
            <a:extLst>
              <a:ext uri="{FF2B5EF4-FFF2-40B4-BE49-F238E27FC236}">
                <a16:creationId xmlns:a16="http://schemas.microsoft.com/office/drawing/2014/main" id="{CB78163A-06D3-6B43-C13C-30782A5F861A}"/>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MAC Registers          </a:t>
            </a:r>
          </a:p>
        </p:txBody>
      </p:sp>
    </p:spTree>
    <p:extLst>
      <p:ext uri="{BB962C8B-B14F-4D97-AF65-F5344CB8AC3E}">
        <p14:creationId xmlns:p14="http://schemas.microsoft.com/office/powerpoint/2010/main" val="3513924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2447-A882-21E4-CFDA-D30D4C5AD08D}"/>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A7004D41-EB73-CDEF-260A-A8A223557FE9}"/>
              </a:ext>
            </a:extLst>
          </p:cNvPr>
          <p:cNvGraphicFramePr>
            <a:graphicFrameLocks noGrp="1"/>
          </p:cNvGraphicFramePr>
          <p:nvPr>
            <p:ph idx="1"/>
            <p:extLst>
              <p:ext uri="{D42A27DB-BD31-4B8C-83A1-F6EECF244321}">
                <p14:modId xmlns:p14="http://schemas.microsoft.com/office/powerpoint/2010/main" val="715274012"/>
              </p:ext>
            </p:extLst>
          </p:nvPr>
        </p:nvGraphicFramePr>
        <p:xfrm>
          <a:off x="374072" y="871180"/>
          <a:ext cx="11668992" cy="5852160"/>
        </p:xfrm>
        <a:graphic>
          <a:graphicData uri="http://schemas.openxmlformats.org/drawingml/2006/table">
            <a:tbl>
              <a:tblPr firstRow="1" bandRow="1">
                <a:tableStyleId>{5C22544A-7EE6-4342-B048-85BDC9FD1C3A}</a:tableStyleId>
              </a:tblPr>
              <a:tblGrid>
                <a:gridCol w="2566555">
                  <a:extLst>
                    <a:ext uri="{9D8B030D-6E8A-4147-A177-3AD203B41FA5}">
                      <a16:colId xmlns:a16="http://schemas.microsoft.com/office/drawing/2014/main" val="693973607"/>
                    </a:ext>
                  </a:extLst>
                </a:gridCol>
                <a:gridCol w="9102437">
                  <a:extLst>
                    <a:ext uri="{9D8B030D-6E8A-4147-A177-3AD203B41FA5}">
                      <a16:colId xmlns:a16="http://schemas.microsoft.com/office/drawing/2014/main" val="3170771103"/>
                    </a:ext>
                  </a:extLst>
                </a:gridCol>
              </a:tblGrid>
              <a:tr h="338748">
                <a:tc>
                  <a:txBody>
                    <a:bodyPr/>
                    <a:lstStyle/>
                    <a:p>
                      <a:pPr>
                        <a:buNone/>
                      </a:pPr>
                      <a:r>
                        <a:rPr lang="en-IN" dirty="0"/>
                        <a:t>          Address space</a:t>
                      </a:r>
                    </a:p>
                  </a:txBody>
                  <a:tcPr anchor="ctr"/>
                </a:tc>
                <a:tc>
                  <a:txBody>
                    <a:bodyPr/>
                    <a:lstStyle/>
                    <a:p>
                      <a:pPr>
                        <a:buNone/>
                      </a:pPr>
                      <a:r>
                        <a:rPr lang="en-IN" dirty="0"/>
                        <a:t>   Register Name</a:t>
                      </a:r>
                    </a:p>
                  </a:txBody>
                  <a:tcPr anchor="ctr"/>
                </a:tc>
                <a:extLst>
                  <a:ext uri="{0D108BD9-81ED-4DB2-BD59-A6C34878D82A}">
                    <a16:rowId xmlns:a16="http://schemas.microsoft.com/office/drawing/2014/main" val="163253759"/>
                  </a:ext>
                </a:extLst>
              </a:tr>
              <a:tr h="338748">
                <a:tc>
                  <a:txBody>
                    <a:bodyPr/>
                    <a:lstStyle/>
                    <a:p>
                      <a:pPr>
                        <a:buNone/>
                      </a:pPr>
                      <a:r>
                        <a:rPr lang="en-IN" dirty="0"/>
                        <a:t>12’h0</a:t>
                      </a:r>
                    </a:p>
                  </a:txBody>
                  <a:tcPr anchor="ctr"/>
                </a:tc>
                <a:tc>
                  <a:txBody>
                    <a:bodyPr/>
                    <a:lstStyle/>
                    <a:p>
                      <a:pPr>
                        <a:buNone/>
                      </a:pPr>
                      <a:r>
                        <a:rPr lang="en-IN"/>
                        <a:t>RX1: Rx Margin Status0</a:t>
                      </a:r>
                    </a:p>
                  </a:txBody>
                  <a:tcPr anchor="ctr"/>
                </a:tc>
                <a:extLst>
                  <a:ext uri="{0D108BD9-81ED-4DB2-BD59-A6C34878D82A}">
                    <a16:rowId xmlns:a16="http://schemas.microsoft.com/office/drawing/2014/main" val="3259910946"/>
                  </a:ext>
                </a:extLst>
              </a:tr>
              <a:tr h="338748">
                <a:tc>
                  <a:txBody>
                    <a:bodyPr/>
                    <a:lstStyle/>
                    <a:p>
                      <a:pPr>
                        <a:buNone/>
                      </a:pPr>
                      <a:r>
                        <a:rPr lang="en-IN"/>
                        <a:t>12’h1</a:t>
                      </a:r>
                    </a:p>
                  </a:txBody>
                  <a:tcPr anchor="ctr"/>
                </a:tc>
                <a:tc>
                  <a:txBody>
                    <a:bodyPr/>
                    <a:lstStyle/>
                    <a:p>
                      <a:pPr>
                        <a:buNone/>
                      </a:pPr>
                      <a:r>
                        <a:rPr lang="en-IN"/>
                        <a:t>RX1: Rx Margin Status1</a:t>
                      </a:r>
                    </a:p>
                  </a:txBody>
                  <a:tcPr anchor="ctr"/>
                </a:tc>
                <a:extLst>
                  <a:ext uri="{0D108BD9-81ED-4DB2-BD59-A6C34878D82A}">
                    <a16:rowId xmlns:a16="http://schemas.microsoft.com/office/drawing/2014/main" val="3527833544"/>
                  </a:ext>
                </a:extLst>
              </a:tr>
              <a:tr h="338748">
                <a:tc>
                  <a:txBody>
                    <a:bodyPr/>
                    <a:lstStyle/>
                    <a:p>
                      <a:pPr>
                        <a:buNone/>
                      </a:pPr>
                      <a:r>
                        <a:rPr lang="en-IN" dirty="0"/>
                        <a:t>12’h2</a:t>
                      </a:r>
                    </a:p>
                  </a:txBody>
                  <a:tcPr anchor="ctr"/>
                </a:tc>
                <a:tc>
                  <a:txBody>
                    <a:bodyPr/>
                    <a:lstStyle/>
                    <a:p>
                      <a:pPr>
                        <a:buNone/>
                      </a:pPr>
                      <a:r>
                        <a:rPr lang="en-IN"/>
                        <a:t>RX1: Rx Margin Status2</a:t>
                      </a:r>
                    </a:p>
                  </a:txBody>
                  <a:tcPr anchor="ctr"/>
                </a:tc>
                <a:extLst>
                  <a:ext uri="{0D108BD9-81ED-4DB2-BD59-A6C34878D82A}">
                    <a16:rowId xmlns:a16="http://schemas.microsoft.com/office/drawing/2014/main" val="604250527"/>
                  </a:ext>
                </a:extLst>
              </a:tr>
              <a:tr h="334107">
                <a:tc>
                  <a:txBody>
                    <a:bodyPr/>
                    <a:lstStyle/>
                    <a:p>
                      <a:pPr>
                        <a:buNone/>
                      </a:pPr>
                      <a:r>
                        <a:rPr lang="en-IN"/>
                        <a:t>12’h3</a:t>
                      </a:r>
                    </a:p>
                  </a:txBody>
                  <a:tcPr anchor="ctr"/>
                </a:tc>
                <a:tc>
                  <a:txBody>
                    <a:bodyPr/>
                    <a:lstStyle/>
                    <a:p>
                      <a:pPr>
                        <a:buNone/>
                      </a:pPr>
                      <a:r>
                        <a:rPr lang="en-IN"/>
                        <a:t>RX1: Elastic Buffer Status</a:t>
                      </a:r>
                    </a:p>
                  </a:txBody>
                  <a:tcPr anchor="ctr"/>
                </a:tc>
                <a:extLst>
                  <a:ext uri="{0D108BD9-81ED-4DB2-BD59-A6C34878D82A}">
                    <a16:rowId xmlns:a16="http://schemas.microsoft.com/office/drawing/2014/main" val="3817335497"/>
                  </a:ext>
                </a:extLst>
              </a:tr>
              <a:tr h="338748">
                <a:tc>
                  <a:txBody>
                    <a:bodyPr/>
                    <a:lstStyle/>
                    <a:p>
                      <a:pPr>
                        <a:buNone/>
                      </a:pPr>
                      <a:r>
                        <a:rPr lang="en-IN" dirty="0"/>
                        <a:t>12’h4</a:t>
                      </a:r>
                    </a:p>
                  </a:txBody>
                  <a:tcPr anchor="ctr"/>
                </a:tc>
                <a:tc>
                  <a:txBody>
                    <a:bodyPr/>
                    <a:lstStyle/>
                    <a:p>
                      <a:pPr>
                        <a:buNone/>
                      </a:pPr>
                      <a:r>
                        <a:rPr lang="en-IN"/>
                        <a:t>RX1: Elastic Buffer Location</a:t>
                      </a:r>
                    </a:p>
                  </a:txBody>
                  <a:tcPr anchor="ctr"/>
                </a:tc>
                <a:extLst>
                  <a:ext uri="{0D108BD9-81ED-4DB2-BD59-A6C34878D82A}">
                    <a16:rowId xmlns:a16="http://schemas.microsoft.com/office/drawing/2014/main" val="1977036552"/>
                  </a:ext>
                </a:extLst>
              </a:tr>
              <a:tr h="338748">
                <a:tc>
                  <a:txBody>
                    <a:bodyPr/>
                    <a:lstStyle/>
                    <a:p>
                      <a:pPr>
                        <a:buNone/>
                      </a:pPr>
                      <a:r>
                        <a:rPr lang="en-IN"/>
                        <a:t>12’h5</a:t>
                      </a:r>
                    </a:p>
                  </a:txBody>
                  <a:tcPr anchor="ctr"/>
                </a:tc>
                <a:tc>
                  <a:txBody>
                    <a:bodyPr/>
                    <a:lstStyle/>
                    <a:p>
                      <a:pPr>
                        <a:buNone/>
                      </a:pPr>
                      <a:r>
                        <a:rPr lang="en-IN"/>
                        <a:t>RX1: Rx Status0</a:t>
                      </a:r>
                    </a:p>
                  </a:txBody>
                  <a:tcPr anchor="ctr"/>
                </a:tc>
                <a:extLst>
                  <a:ext uri="{0D108BD9-81ED-4DB2-BD59-A6C34878D82A}">
                    <a16:rowId xmlns:a16="http://schemas.microsoft.com/office/drawing/2014/main" val="2291511174"/>
                  </a:ext>
                </a:extLst>
              </a:tr>
              <a:tr h="338748">
                <a:tc>
                  <a:txBody>
                    <a:bodyPr/>
                    <a:lstStyle/>
                    <a:p>
                      <a:pPr>
                        <a:buNone/>
                      </a:pPr>
                      <a:r>
                        <a:rPr lang="en-IN"/>
                        <a:t>12’h6</a:t>
                      </a:r>
                    </a:p>
                  </a:txBody>
                  <a:tcPr anchor="ctr"/>
                </a:tc>
                <a:tc>
                  <a:txBody>
                    <a:bodyPr/>
                    <a:lstStyle/>
                    <a:p>
                      <a:pPr>
                        <a:buNone/>
                      </a:pPr>
                      <a:r>
                        <a:rPr lang="en-IN"/>
                        <a:t>RX1: Rx Control0</a:t>
                      </a:r>
                    </a:p>
                  </a:txBody>
                  <a:tcPr anchor="ctr"/>
                </a:tc>
                <a:extLst>
                  <a:ext uri="{0D108BD9-81ED-4DB2-BD59-A6C34878D82A}">
                    <a16:rowId xmlns:a16="http://schemas.microsoft.com/office/drawing/2014/main" val="718351461"/>
                  </a:ext>
                </a:extLst>
              </a:tr>
              <a:tr h="338748">
                <a:tc>
                  <a:txBody>
                    <a:bodyPr/>
                    <a:lstStyle/>
                    <a:p>
                      <a:pPr>
                        <a:buNone/>
                      </a:pPr>
                      <a:r>
                        <a:rPr lang="en-IN" dirty="0"/>
                        <a:t>12’h7</a:t>
                      </a:r>
                    </a:p>
                  </a:txBody>
                  <a:tcPr anchor="ctr"/>
                </a:tc>
                <a:tc>
                  <a:txBody>
                    <a:bodyPr/>
                    <a:lstStyle/>
                    <a:p>
                      <a:pPr>
                        <a:buNone/>
                      </a:pPr>
                      <a:r>
                        <a:rPr lang="en-IN"/>
                        <a:t>RX1: Rx Margin Status3</a:t>
                      </a:r>
                    </a:p>
                  </a:txBody>
                  <a:tcPr anchor="ctr"/>
                </a:tc>
                <a:extLst>
                  <a:ext uri="{0D108BD9-81ED-4DB2-BD59-A6C34878D82A}">
                    <a16:rowId xmlns:a16="http://schemas.microsoft.com/office/drawing/2014/main" val="3183048496"/>
                  </a:ext>
                </a:extLst>
              </a:tr>
              <a:tr h="338748">
                <a:tc>
                  <a:txBody>
                    <a:bodyPr/>
                    <a:lstStyle/>
                    <a:p>
                      <a:pPr>
                        <a:buNone/>
                      </a:pPr>
                      <a:r>
                        <a:rPr lang="en-IN"/>
                        <a:t>12’h8 – 12’h9</a:t>
                      </a:r>
                    </a:p>
                  </a:txBody>
                  <a:tcPr anchor="ctr"/>
                </a:tc>
                <a:tc>
                  <a:txBody>
                    <a:bodyPr/>
                    <a:lstStyle/>
                    <a:p>
                      <a:pPr>
                        <a:buNone/>
                      </a:pPr>
                      <a:r>
                        <a:rPr lang="en-IN"/>
                        <a:t>RX1: Reserved</a:t>
                      </a:r>
                    </a:p>
                  </a:txBody>
                  <a:tcPr anchor="ctr"/>
                </a:tc>
                <a:extLst>
                  <a:ext uri="{0D108BD9-81ED-4DB2-BD59-A6C34878D82A}">
                    <a16:rowId xmlns:a16="http://schemas.microsoft.com/office/drawing/2014/main" val="367358771"/>
                  </a:ext>
                </a:extLst>
              </a:tr>
              <a:tr h="338748">
                <a:tc>
                  <a:txBody>
                    <a:bodyPr/>
                    <a:lstStyle/>
                    <a:p>
                      <a:pPr>
                        <a:buNone/>
                      </a:pPr>
                      <a:r>
                        <a:rPr lang="en-IN"/>
                        <a:t>12’hA</a:t>
                      </a:r>
                    </a:p>
                  </a:txBody>
                  <a:tcPr anchor="ctr"/>
                </a:tc>
                <a:tc>
                  <a:txBody>
                    <a:bodyPr/>
                    <a:lstStyle/>
                    <a:p>
                      <a:pPr>
                        <a:buNone/>
                      </a:pPr>
                      <a:r>
                        <a:rPr lang="en-IN"/>
                        <a:t>RX1: Rx Link Evaluation Status0</a:t>
                      </a:r>
                    </a:p>
                  </a:txBody>
                  <a:tcPr anchor="ctr"/>
                </a:tc>
                <a:extLst>
                  <a:ext uri="{0D108BD9-81ED-4DB2-BD59-A6C34878D82A}">
                    <a16:rowId xmlns:a16="http://schemas.microsoft.com/office/drawing/2014/main" val="1574161737"/>
                  </a:ext>
                </a:extLst>
              </a:tr>
              <a:tr h="338748">
                <a:tc>
                  <a:txBody>
                    <a:bodyPr/>
                    <a:lstStyle/>
                    <a:p>
                      <a:pPr>
                        <a:buNone/>
                      </a:pPr>
                      <a:r>
                        <a:rPr lang="en-IN"/>
                        <a:t>12’hB</a:t>
                      </a:r>
                    </a:p>
                  </a:txBody>
                  <a:tcPr anchor="ctr"/>
                </a:tc>
                <a:tc>
                  <a:txBody>
                    <a:bodyPr/>
                    <a:lstStyle/>
                    <a:p>
                      <a:pPr>
                        <a:buNone/>
                      </a:pPr>
                      <a:r>
                        <a:rPr lang="en-IN"/>
                        <a:t>RX1: Rx Link Evaluation Status1</a:t>
                      </a:r>
                    </a:p>
                  </a:txBody>
                  <a:tcPr anchor="ctr"/>
                </a:tc>
                <a:extLst>
                  <a:ext uri="{0D108BD9-81ED-4DB2-BD59-A6C34878D82A}">
                    <a16:rowId xmlns:a16="http://schemas.microsoft.com/office/drawing/2014/main" val="1227482715"/>
                  </a:ext>
                </a:extLst>
              </a:tr>
              <a:tr h="338748">
                <a:tc>
                  <a:txBody>
                    <a:bodyPr/>
                    <a:lstStyle/>
                    <a:p>
                      <a:pPr>
                        <a:buNone/>
                      </a:pPr>
                      <a:r>
                        <a:rPr lang="en-IN"/>
                        <a:t>12’hC</a:t>
                      </a:r>
                    </a:p>
                  </a:txBody>
                  <a:tcPr anchor="ctr"/>
                </a:tc>
                <a:tc>
                  <a:txBody>
                    <a:bodyPr/>
                    <a:lstStyle/>
                    <a:p>
                      <a:pPr>
                        <a:buNone/>
                      </a:pPr>
                      <a:r>
                        <a:rPr lang="en-IN"/>
                        <a:t>RX1: Rx Status4</a:t>
                      </a:r>
                    </a:p>
                  </a:txBody>
                  <a:tcPr anchor="ctr"/>
                </a:tc>
                <a:extLst>
                  <a:ext uri="{0D108BD9-81ED-4DB2-BD59-A6C34878D82A}">
                    <a16:rowId xmlns:a16="http://schemas.microsoft.com/office/drawing/2014/main" val="1668299891"/>
                  </a:ext>
                </a:extLst>
              </a:tr>
              <a:tr h="338748">
                <a:tc>
                  <a:txBody>
                    <a:bodyPr/>
                    <a:lstStyle/>
                    <a:p>
                      <a:pPr>
                        <a:buNone/>
                      </a:pPr>
                      <a:r>
                        <a:rPr lang="en-IN"/>
                        <a:t>12’hD</a:t>
                      </a:r>
                    </a:p>
                  </a:txBody>
                  <a:tcPr anchor="ctr"/>
                </a:tc>
                <a:tc>
                  <a:txBody>
                    <a:bodyPr/>
                    <a:lstStyle/>
                    <a:p>
                      <a:pPr>
                        <a:buNone/>
                      </a:pPr>
                      <a:r>
                        <a:rPr lang="en-IN"/>
                        <a:t>RX1: Rx Status5</a:t>
                      </a:r>
                    </a:p>
                  </a:txBody>
                  <a:tcPr anchor="ctr"/>
                </a:tc>
                <a:extLst>
                  <a:ext uri="{0D108BD9-81ED-4DB2-BD59-A6C34878D82A}">
                    <a16:rowId xmlns:a16="http://schemas.microsoft.com/office/drawing/2014/main" val="1761864163"/>
                  </a:ext>
                </a:extLst>
              </a:tr>
              <a:tr h="338748">
                <a:tc>
                  <a:txBody>
                    <a:bodyPr/>
                    <a:lstStyle/>
                    <a:p>
                      <a:pPr>
                        <a:buNone/>
                      </a:pPr>
                      <a:r>
                        <a:rPr lang="en-IN"/>
                        <a:t>12’hE</a:t>
                      </a:r>
                    </a:p>
                  </a:txBody>
                  <a:tcPr anchor="ctr"/>
                </a:tc>
                <a:tc>
                  <a:txBody>
                    <a:bodyPr/>
                    <a:lstStyle/>
                    <a:p>
                      <a:pPr>
                        <a:buNone/>
                      </a:pPr>
                      <a:r>
                        <a:rPr lang="en-IN"/>
                        <a:t>RX1: Rx Link Evaluation Status2</a:t>
                      </a:r>
                    </a:p>
                  </a:txBody>
                  <a:tcPr anchor="ctr"/>
                </a:tc>
                <a:extLst>
                  <a:ext uri="{0D108BD9-81ED-4DB2-BD59-A6C34878D82A}">
                    <a16:rowId xmlns:a16="http://schemas.microsoft.com/office/drawing/2014/main" val="2383109941"/>
                  </a:ext>
                </a:extLst>
              </a:tr>
              <a:tr h="338748">
                <a:tc>
                  <a:txBody>
                    <a:bodyPr/>
                    <a:lstStyle/>
                    <a:p>
                      <a:pPr>
                        <a:buNone/>
                      </a:pPr>
                      <a:r>
                        <a:rPr lang="en-IN"/>
                        <a:t>12’hF</a:t>
                      </a:r>
                    </a:p>
                  </a:txBody>
                  <a:tcPr anchor="ctr"/>
                </a:tc>
                <a:tc>
                  <a:txBody>
                    <a:bodyPr/>
                    <a:lstStyle/>
                    <a:p>
                      <a:pPr>
                        <a:buNone/>
                      </a:pPr>
                      <a:r>
                        <a:rPr lang="en-IN" dirty="0"/>
                        <a:t>RX1: Rx Link Evaluation Status3</a:t>
                      </a:r>
                    </a:p>
                  </a:txBody>
                  <a:tcPr anchor="ctr"/>
                </a:tc>
                <a:extLst>
                  <a:ext uri="{0D108BD9-81ED-4DB2-BD59-A6C34878D82A}">
                    <a16:rowId xmlns:a16="http://schemas.microsoft.com/office/drawing/2014/main" val="3114759751"/>
                  </a:ext>
                </a:extLst>
              </a:tr>
            </a:tbl>
          </a:graphicData>
        </a:graphic>
      </p:graphicFrame>
      <p:sp>
        <p:nvSpPr>
          <p:cNvPr id="5" name="Title 1">
            <a:extLst>
              <a:ext uri="{FF2B5EF4-FFF2-40B4-BE49-F238E27FC236}">
                <a16:creationId xmlns:a16="http://schemas.microsoft.com/office/drawing/2014/main" id="{DF7FA145-1DD1-F115-9E22-C1A6805798AE}"/>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MAC Registers</a:t>
            </a:r>
          </a:p>
        </p:txBody>
      </p:sp>
    </p:spTree>
    <p:extLst>
      <p:ext uri="{BB962C8B-B14F-4D97-AF65-F5344CB8AC3E}">
        <p14:creationId xmlns:p14="http://schemas.microsoft.com/office/powerpoint/2010/main" val="3024634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417A-C8BB-9AF5-6732-6423C7E2570E}"/>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99BA93D3-6E6B-EF0D-A365-1B4869BAA57C}"/>
              </a:ext>
            </a:extLst>
          </p:cNvPr>
          <p:cNvGraphicFramePr>
            <a:graphicFrameLocks noGrp="1"/>
          </p:cNvGraphicFramePr>
          <p:nvPr>
            <p:ph idx="1"/>
            <p:extLst>
              <p:ext uri="{D42A27DB-BD31-4B8C-83A1-F6EECF244321}">
                <p14:modId xmlns:p14="http://schemas.microsoft.com/office/powerpoint/2010/main" val="2095089703"/>
              </p:ext>
            </p:extLst>
          </p:nvPr>
        </p:nvGraphicFramePr>
        <p:xfrm>
          <a:off x="838200" y="1825625"/>
          <a:ext cx="10515600" cy="48209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0283312"/>
                    </a:ext>
                  </a:extLst>
                </a:gridCol>
                <a:gridCol w="5257800">
                  <a:extLst>
                    <a:ext uri="{9D8B030D-6E8A-4147-A177-3AD203B41FA5}">
                      <a16:colId xmlns:a16="http://schemas.microsoft.com/office/drawing/2014/main" val="3197741578"/>
                    </a:ext>
                  </a:extLst>
                </a:gridCol>
              </a:tblGrid>
              <a:tr h="370840">
                <a:tc>
                  <a:txBody>
                    <a:bodyPr/>
                    <a:lstStyle/>
                    <a:p>
                      <a:r>
                        <a:rPr lang="en-IN" dirty="0"/>
                        <a:t>                        Byte address</a:t>
                      </a:r>
                    </a:p>
                  </a:txBody>
                  <a:tcPr/>
                </a:tc>
                <a:tc>
                  <a:txBody>
                    <a:bodyPr/>
                    <a:lstStyle/>
                    <a:p>
                      <a:r>
                        <a:rPr lang="en-IN"/>
                        <a:t>                   Register Name</a:t>
                      </a:r>
                    </a:p>
                  </a:txBody>
                  <a:tcPr/>
                </a:tc>
                <a:extLst>
                  <a:ext uri="{0D108BD9-81ED-4DB2-BD59-A6C34878D82A}">
                    <a16:rowId xmlns:a16="http://schemas.microsoft.com/office/drawing/2014/main" val="2716532204"/>
                  </a:ext>
                </a:extLst>
              </a:tr>
              <a:tr h="370840">
                <a:tc>
                  <a:txBody>
                    <a:bodyPr/>
                    <a:lstStyle/>
                    <a:p>
                      <a:pPr>
                        <a:buNone/>
                      </a:pPr>
                      <a:r>
                        <a:rPr lang="en-IN"/>
                        <a:t>12’h400</a:t>
                      </a:r>
                    </a:p>
                  </a:txBody>
                  <a:tcPr anchor="ctr"/>
                </a:tc>
                <a:tc>
                  <a:txBody>
                    <a:bodyPr/>
                    <a:lstStyle/>
                    <a:p>
                      <a:pPr>
                        <a:buNone/>
                      </a:pPr>
                      <a:r>
                        <a:rPr lang="en-IN"/>
                        <a:t>TX1: Tx Status0</a:t>
                      </a:r>
                    </a:p>
                  </a:txBody>
                  <a:tcPr anchor="ctr"/>
                </a:tc>
                <a:extLst>
                  <a:ext uri="{0D108BD9-81ED-4DB2-BD59-A6C34878D82A}">
                    <a16:rowId xmlns:a16="http://schemas.microsoft.com/office/drawing/2014/main" val="276156168"/>
                  </a:ext>
                </a:extLst>
              </a:tr>
              <a:tr h="370840">
                <a:tc>
                  <a:txBody>
                    <a:bodyPr/>
                    <a:lstStyle/>
                    <a:p>
                      <a:pPr>
                        <a:buNone/>
                      </a:pPr>
                      <a:r>
                        <a:rPr lang="en-IN"/>
                        <a:t>12’h401</a:t>
                      </a:r>
                    </a:p>
                  </a:txBody>
                  <a:tcPr anchor="ctr"/>
                </a:tc>
                <a:tc>
                  <a:txBody>
                    <a:bodyPr/>
                    <a:lstStyle/>
                    <a:p>
                      <a:pPr>
                        <a:buNone/>
                      </a:pPr>
                      <a:r>
                        <a:rPr lang="en-IN"/>
                        <a:t>TX1: Tx Status1</a:t>
                      </a:r>
                    </a:p>
                  </a:txBody>
                  <a:tcPr anchor="ctr"/>
                </a:tc>
                <a:extLst>
                  <a:ext uri="{0D108BD9-81ED-4DB2-BD59-A6C34878D82A}">
                    <a16:rowId xmlns:a16="http://schemas.microsoft.com/office/drawing/2014/main" val="231325494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Status2</a:t>
                      </a:r>
                    </a:p>
                  </a:txBody>
                  <a:tcPr/>
                </a:tc>
                <a:extLst>
                  <a:ext uri="{0D108BD9-81ED-4DB2-BD59-A6C34878D82A}">
                    <a16:rowId xmlns:a16="http://schemas.microsoft.com/office/drawing/2014/main" val="107824780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Status3</a:t>
                      </a:r>
                    </a:p>
                  </a:txBody>
                  <a:tcPr/>
                </a:tc>
                <a:extLst>
                  <a:ext uri="{0D108BD9-81ED-4DB2-BD59-A6C34878D82A}">
                    <a16:rowId xmlns:a16="http://schemas.microsoft.com/office/drawing/2014/main" val="105921614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Status4</a:t>
                      </a:r>
                    </a:p>
                  </a:txBody>
                  <a:tcPr/>
                </a:tc>
                <a:extLst>
                  <a:ext uri="{0D108BD9-81ED-4DB2-BD59-A6C34878D82A}">
                    <a16:rowId xmlns:a16="http://schemas.microsoft.com/office/drawing/2014/main" val="105787964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Status5</a:t>
                      </a:r>
                    </a:p>
                  </a:txBody>
                  <a:tcPr/>
                </a:tc>
                <a:extLst>
                  <a:ext uri="{0D108BD9-81ED-4DB2-BD59-A6C34878D82A}">
                    <a16:rowId xmlns:a16="http://schemas.microsoft.com/office/drawing/2014/main" val="411596858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Status6</a:t>
                      </a:r>
                    </a:p>
                  </a:txBody>
                  <a:tcPr/>
                </a:tc>
                <a:extLst>
                  <a:ext uri="{0D108BD9-81ED-4DB2-BD59-A6C34878D82A}">
                    <a16:rowId xmlns:a16="http://schemas.microsoft.com/office/drawing/2014/main" val="167248035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12’h407</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Status7</a:t>
                      </a:r>
                    </a:p>
                  </a:txBody>
                  <a:tcPr/>
                </a:tc>
                <a:extLst>
                  <a:ext uri="{0D108BD9-81ED-4DB2-BD59-A6C34878D82A}">
                    <a16:rowId xmlns:a16="http://schemas.microsoft.com/office/drawing/2014/main" val="112412293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Status8</a:t>
                      </a:r>
                    </a:p>
                  </a:txBody>
                  <a:tcPr/>
                </a:tc>
                <a:extLst>
                  <a:ext uri="{0D108BD9-81ED-4DB2-BD59-A6C34878D82A}">
                    <a16:rowId xmlns:a16="http://schemas.microsoft.com/office/drawing/2014/main" val="392311092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Status9</a:t>
                      </a:r>
                    </a:p>
                  </a:txBody>
                  <a:tcPr/>
                </a:tc>
                <a:extLst>
                  <a:ext uri="{0D108BD9-81ED-4DB2-BD59-A6C34878D82A}">
                    <a16:rowId xmlns:a16="http://schemas.microsoft.com/office/drawing/2014/main" val="28887359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12’h40A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TX1: Tx Status10</a:t>
                      </a:r>
                    </a:p>
                  </a:txBody>
                  <a:tcPr/>
                </a:tc>
                <a:extLst>
                  <a:ext uri="{0D108BD9-81ED-4DB2-BD59-A6C34878D82A}">
                    <a16:rowId xmlns:a16="http://schemas.microsoft.com/office/drawing/2014/main" val="382415338"/>
                  </a:ext>
                </a:extLst>
              </a:tr>
              <a:tr h="370840">
                <a:tc>
                  <a:txBody>
                    <a:bodyPr/>
                    <a:lstStyle/>
                    <a:p>
                      <a:r>
                        <a:rPr lang="en-IN"/>
                        <a:t>12’h40B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TX1: Tx Status11</a:t>
                      </a:r>
                    </a:p>
                  </a:txBody>
                  <a:tcPr/>
                </a:tc>
                <a:extLst>
                  <a:ext uri="{0D108BD9-81ED-4DB2-BD59-A6C34878D82A}">
                    <a16:rowId xmlns:a16="http://schemas.microsoft.com/office/drawing/2014/main" val="1473671842"/>
                  </a:ext>
                </a:extLst>
              </a:tr>
            </a:tbl>
          </a:graphicData>
        </a:graphic>
      </p:graphicFrame>
      <p:sp>
        <p:nvSpPr>
          <p:cNvPr id="5" name="Title 1">
            <a:extLst>
              <a:ext uri="{FF2B5EF4-FFF2-40B4-BE49-F238E27FC236}">
                <a16:creationId xmlns:a16="http://schemas.microsoft.com/office/drawing/2014/main" id="{CA0F17CA-C184-6D4E-9D3A-95B559B6CB48}"/>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MAC Registers</a:t>
            </a:r>
          </a:p>
        </p:txBody>
      </p:sp>
    </p:spTree>
    <p:extLst>
      <p:ext uri="{BB962C8B-B14F-4D97-AF65-F5344CB8AC3E}">
        <p14:creationId xmlns:p14="http://schemas.microsoft.com/office/powerpoint/2010/main" val="913317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DD4AB-211F-6BDF-8193-6F66CE8B62CF}"/>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195BAD43-EC90-EB49-A537-39D2AFC6097D}"/>
              </a:ext>
            </a:extLst>
          </p:cNvPr>
          <p:cNvGraphicFramePr>
            <a:graphicFrameLocks noGrp="1"/>
          </p:cNvGraphicFramePr>
          <p:nvPr>
            <p:ph idx="1"/>
            <p:extLst>
              <p:ext uri="{D42A27DB-BD31-4B8C-83A1-F6EECF244321}">
                <p14:modId xmlns:p14="http://schemas.microsoft.com/office/powerpoint/2010/main" val="3692806779"/>
              </p:ext>
            </p:extLst>
          </p:nvPr>
        </p:nvGraphicFramePr>
        <p:xfrm>
          <a:off x="838200" y="1091046"/>
          <a:ext cx="9428018" cy="5217202"/>
        </p:xfrm>
        <a:graphic>
          <a:graphicData uri="http://schemas.openxmlformats.org/drawingml/2006/table">
            <a:tbl>
              <a:tblPr firstRow="1" bandRow="1">
                <a:tableStyleId>{5C22544A-7EE6-4342-B048-85BDC9FD1C3A}</a:tableStyleId>
              </a:tblPr>
              <a:tblGrid>
                <a:gridCol w="2694709">
                  <a:extLst>
                    <a:ext uri="{9D8B030D-6E8A-4147-A177-3AD203B41FA5}">
                      <a16:colId xmlns:a16="http://schemas.microsoft.com/office/drawing/2014/main" val="2196057263"/>
                    </a:ext>
                  </a:extLst>
                </a:gridCol>
                <a:gridCol w="6733309">
                  <a:extLst>
                    <a:ext uri="{9D8B030D-6E8A-4147-A177-3AD203B41FA5}">
                      <a16:colId xmlns:a16="http://schemas.microsoft.com/office/drawing/2014/main" val="88551106"/>
                    </a:ext>
                  </a:extLst>
                </a:gridCol>
              </a:tblGrid>
              <a:tr h="345835">
                <a:tc>
                  <a:txBody>
                    <a:bodyPr/>
                    <a:lstStyle/>
                    <a:p>
                      <a:pPr>
                        <a:buNone/>
                      </a:pPr>
                      <a:r>
                        <a:rPr lang="en-IN" b="1" dirty="0"/>
                        <a:t>Byte Address</a:t>
                      </a:r>
                      <a:endParaRPr lang="en-IN" dirty="0"/>
                    </a:p>
                  </a:txBody>
                  <a:tcPr anchor="ctr"/>
                </a:tc>
                <a:tc>
                  <a:txBody>
                    <a:bodyPr/>
                    <a:lstStyle/>
                    <a:p>
                      <a:pPr>
                        <a:buNone/>
                      </a:pPr>
                      <a:r>
                        <a:rPr lang="en-IN" b="1" dirty="0"/>
                        <a:t>Register Name</a:t>
                      </a:r>
                      <a:endParaRPr lang="en-IN" dirty="0"/>
                    </a:p>
                  </a:txBody>
                  <a:tcPr anchor="ctr"/>
                </a:tc>
                <a:extLst>
                  <a:ext uri="{0D108BD9-81ED-4DB2-BD59-A6C34878D82A}">
                    <a16:rowId xmlns:a16="http://schemas.microsoft.com/office/drawing/2014/main" val="2959499660"/>
                  </a:ext>
                </a:extLst>
              </a:tr>
              <a:tr h="345835">
                <a:tc>
                  <a:txBody>
                    <a:bodyPr/>
                    <a:lstStyle/>
                    <a:p>
                      <a:pPr>
                        <a:buNone/>
                      </a:pPr>
                      <a:r>
                        <a:rPr lang="en-IN"/>
                        <a:t>12’h0</a:t>
                      </a:r>
                    </a:p>
                  </a:txBody>
                  <a:tcPr anchor="ctr"/>
                </a:tc>
                <a:tc>
                  <a:txBody>
                    <a:bodyPr/>
                    <a:lstStyle/>
                    <a:p>
                      <a:pPr>
                        <a:buNone/>
                      </a:pPr>
                      <a:r>
                        <a:rPr lang="en-IN"/>
                        <a:t>RX1: Rx Margin Control0</a:t>
                      </a:r>
                    </a:p>
                  </a:txBody>
                  <a:tcPr anchor="ctr"/>
                </a:tc>
                <a:extLst>
                  <a:ext uri="{0D108BD9-81ED-4DB2-BD59-A6C34878D82A}">
                    <a16:rowId xmlns:a16="http://schemas.microsoft.com/office/drawing/2014/main" val="1706669029"/>
                  </a:ext>
                </a:extLst>
              </a:tr>
              <a:tr h="345835">
                <a:tc>
                  <a:txBody>
                    <a:bodyPr/>
                    <a:lstStyle/>
                    <a:p>
                      <a:pPr>
                        <a:buNone/>
                      </a:pPr>
                      <a:r>
                        <a:rPr lang="en-IN"/>
                        <a:t>12’h1</a:t>
                      </a:r>
                    </a:p>
                  </a:txBody>
                  <a:tcPr anchor="ctr"/>
                </a:tc>
                <a:tc>
                  <a:txBody>
                    <a:bodyPr/>
                    <a:lstStyle/>
                    <a:p>
                      <a:pPr>
                        <a:buNone/>
                      </a:pPr>
                      <a:r>
                        <a:rPr lang="en-IN"/>
                        <a:t>RX1: Rx Margin Control1</a:t>
                      </a:r>
                    </a:p>
                  </a:txBody>
                  <a:tcPr anchor="ctr"/>
                </a:tc>
                <a:extLst>
                  <a:ext uri="{0D108BD9-81ED-4DB2-BD59-A6C34878D82A}">
                    <a16:rowId xmlns:a16="http://schemas.microsoft.com/office/drawing/2014/main" val="1378916312"/>
                  </a:ext>
                </a:extLst>
              </a:tr>
              <a:tr h="345835">
                <a:tc>
                  <a:txBody>
                    <a:bodyPr/>
                    <a:lstStyle/>
                    <a:p>
                      <a:pPr>
                        <a:buNone/>
                      </a:pPr>
                      <a:r>
                        <a:rPr lang="en-IN"/>
                        <a:t>12’h2</a:t>
                      </a:r>
                    </a:p>
                  </a:txBody>
                  <a:tcPr anchor="ctr"/>
                </a:tc>
                <a:tc>
                  <a:txBody>
                    <a:bodyPr/>
                    <a:lstStyle/>
                    <a:p>
                      <a:pPr>
                        <a:buNone/>
                      </a:pPr>
                      <a:r>
                        <a:rPr lang="en-IN"/>
                        <a:t>RX1: Elastic buffer control</a:t>
                      </a:r>
                    </a:p>
                  </a:txBody>
                  <a:tcPr anchor="ctr"/>
                </a:tc>
                <a:extLst>
                  <a:ext uri="{0D108BD9-81ED-4DB2-BD59-A6C34878D82A}">
                    <a16:rowId xmlns:a16="http://schemas.microsoft.com/office/drawing/2014/main" val="2238208477"/>
                  </a:ext>
                </a:extLst>
              </a:tr>
              <a:tr h="345835">
                <a:tc>
                  <a:txBody>
                    <a:bodyPr/>
                    <a:lstStyle/>
                    <a:p>
                      <a:pPr>
                        <a:buNone/>
                      </a:pPr>
                      <a:r>
                        <a:rPr lang="en-IN"/>
                        <a:t>12’h3</a:t>
                      </a:r>
                    </a:p>
                  </a:txBody>
                  <a:tcPr anchor="ctr"/>
                </a:tc>
                <a:tc>
                  <a:txBody>
                    <a:bodyPr/>
                    <a:lstStyle/>
                    <a:p>
                      <a:pPr>
                        <a:buNone/>
                      </a:pPr>
                      <a:r>
                        <a:rPr lang="en-IN"/>
                        <a:t>RX1: PHY Rx Control0</a:t>
                      </a:r>
                    </a:p>
                  </a:txBody>
                  <a:tcPr anchor="ctr"/>
                </a:tc>
                <a:extLst>
                  <a:ext uri="{0D108BD9-81ED-4DB2-BD59-A6C34878D82A}">
                    <a16:rowId xmlns:a16="http://schemas.microsoft.com/office/drawing/2014/main" val="2945772039"/>
                  </a:ext>
                </a:extLst>
              </a:tr>
              <a:tr h="345835">
                <a:tc>
                  <a:txBody>
                    <a:bodyPr/>
                    <a:lstStyle/>
                    <a:p>
                      <a:pPr>
                        <a:buNone/>
                      </a:pPr>
                      <a:r>
                        <a:rPr lang="en-IN"/>
                        <a:t>12’h4</a:t>
                      </a:r>
                    </a:p>
                  </a:txBody>
                  <a:tcPr anchor="ctr"/>
                </a:tc>
                <a:tc>
                  <a:txBody>
                    <a:bodyPr/>
                    <a:lstStyle/>
                    <a:p>
                      <a:pPr>
                        <a:buNone/>
                      </a:pPr>
                      <a:r>
                        <a:rPr lang="en-IN"/>
                        <a:t>RX1: PHY Rx Control1</a:t>
                      </a:r>
                    </a:p>
                  </a:txBody>
                  <a:tcPr anchor="ctr"/>
                </a:tc>
                <a:extLst>
                  <a:ext uri="{0D108BD9-81ED-4DB2-BD59-A6C34878D82A}">
                    <a16:rowId xmlns:a16="http://schemas.microsoft.com/office/drawing/2014/main" val="1279588582"/>
                  </a:ext>
                </a:extLst>
              </a:tr>
              <a:tr h="345835">
                <a:tc>
                  <a:txBody>
                    <a:bodyPr/>
                    <a:lstStyle/>
                    <a:p>
                      <a:pPr>
                        <a:buNone/>
                      </a:pPr>
                      <a:r>
                        <a:rPr lang="en-IN"/>
                        <a:t>12’h5</a:t>
                      </a:r>
                    </a:p>
                  </a:txBody>
                  <a:tcPr anchor="ctr"/>
                </a:tc>
                <a:tc>
                  <a:txBody>
                    <a:bodyPr/>
                    <a:lstStyle/>
                    <a:p>
                      <a:pPr>
                        <a:buNone/>
                      </a:pPr>
                      <a:r>
                        <a:rPr lang="en-IN" dirty="0"/>
                        <a:t>RX1: PHY Rx Control2</a:t>
                      </a:r>
                    </a:p>
                  </a:txBody>
                  <a:tcPr anchor="ctr"/>
                </a:tc>
                <a:extLst>
                  <a:ext uri="{0D108BD9-81ED-4DB2-BD59-A6C34878D82A}">
                    <a16:rowId xmlns:a16="http://schemas.microsoft.com/office/drawing/2014/main" val="348009603"/>
                  </a:ext>
                </a:extLst>
              </a:tr>
              <a:tr h="345835">
                <a:tc>
                  <a:txBody>
                    <a:bodyPr/>
                    <a:lstStyle/>
                    <a:p>
                      <a:pPr>
                        <a:buNone/>
                      </a:pPr>
                      <a:r>
                        <a:rPr lang="en-IN"/>
                        <a:t>12’h6</a:t>
                      </a:r>
                    </a:p>
                  </a:txBody>
                  <a:tcPr anchor="ctr"/>
                </a:tc>
                <a:tc>
                  <a:txBody>
                    <a:bodyPr/>
                    <a:lstStyle/>
                    <a:p>
                      <a:pPr>
                        <a:buNone/>
                      </a:pPr>
                      <a:r>
                        <a:rPr lang="en-IN"/>
                        <a:t>RX1: PHY Rx Control3</a:t>
                      </a:r>
                    </a:p>
                  </a:txBody>
                  <a:tcPr anchor="ctr"/>
                </a:tc>
                <a:extLst>
                  <a:ext uri="{0D108BD9-81ED-4DB2-BD59-A6C34878D82A}">
                    <a16:rowId xmlns:a16="http://schemas.microsoft.com/office/drawing/2014/main" val="36618038"/>
                  </a:ext>
                </a:extLst>
              </a:tr>
              <a:tr h="596921">
                <a:tc>
                  <a:txBody>
                    <a:bodyPr/>
                    <a:lstStyle/>
                    <a:p>
                      <a:pPr>
                        <a:buNone/>
                      </a:pPr>
                      <a:r>
                        <a:rPr lang="en-IN"/>
                        <a:t>12’h7</a:t>
                      </a:r>
                    </a:p>
                  </a:txBody>
                  <a:tcPr anchor="ctr"/>
                </a:tc>
                <a:tc>
                  <a:txBody>
                    <a:bodyPr/>
                    <a:lstStyle/>
                    <a:p>
                      <a:pPr>
                        <a:buNone/>
                      </a:pPr>
                      <a:r>
                        <a:rPr lang="en-US"/>
                        <a:t>RX1: Elastic buffer location update frequency</a:t>
                      </a:r>
                    </a:p>
                  </a:txBody>
                  <a:tcPr anchor="ctr"/>
                </a:tc>
                <a:extLst>
                  <a:ext uri="{0D108BD9-81ED-4DB2-BD59-A6C34878D82A}">
                    <a16:rowId xmlns:a16="http://schemas.microsoft.com/office/drawing/2014/main" val="1867389970"/>
                  </a:ext>
                </a:extLst>
              </a:tr>
              <a:tr h="596921">
                <a:tc>
                  <a:txBody>
                    <a:bodyPr/>
                    <a:lstStyle/>
                    <a:p>
                      <a:pPr>
                        <a:buNone/>
                      </a:pPr>
                      <a:r>
                        <a:rPr lang="en-IN"/>
                        <a:t>12’h8</a:t>
                      </a:r>
                    </a:p>
                  </a:txBody>
                  <a:tcPr anchor="ctr"/>
                </a:tc>
                <a:tc>
                  <a:txBody>
                    <a:bodyPr/>
                    <a:lstStyle/>
                    <a:p>
                      <a:pPr>
                        <a:buNone/>
                      </a:pPr>
                      <a:r>
                        <a:rPr lang="en-IN"/>
                        <a:t>RX1: PHY Rx Control4</a:t>
                      </a:r>
                    </a:p>
                  </a:txBody>
                  <a:tcPr anchor="ctr"/>
                </a:tc>
                <a:extLst>
                  <a:ext uri="{0D108BD9-81ED-4DB2-BD59-A6C34878D82A}">
                    <a16:rowId xmlns:a16="http://schemas.microsoft.com/office/drawing/2014/main" val="2457371031"/>
                  </a:ext>
                </a:extLst>
              </a:tr>
              <a:tr h="345835">
                <a:tc>
                  <a:txBody>
                    <a:bodyPr/>
                    <a:lstStyle/>
                    <a:p>
                      <a:pPr>
                        <a:buNone/>
                      </a:pPr>
                      <a:r>
                        <a:rPr lang="en-IN"/>
                        <a:t>12’h9</a:t>
                      </a:r>
                    </a:p>
                  </a:txBody>
                  <a:tcPr anchor="ctr"/>
                </a:tc>
                <a:tc>
                  <a:txBody>
                    <a:bodyPr/>
                    <a:lstStyle/>
                    <a:p>
                      <a:pPr>
                        <a:buNone/>
                      </a:pPr>
                      <a:r>
                        <a:rPr lang="en-IN"/>
                        <a:t>RX1: PHY Rx Control5</a:t>
                      </a:r>
                    </a:p>
                  </a:txBody>
                  <a:tcPr anchor="ctr"/>
                </a:tc>
                <a:extLst>
                  <a:ext uri="{0D108BD9-81ED-4DB2-BD59-A6C34878D82A}">
                    <a16:rowId xmlns:a16="http://schemas.microsoft.com/office/drawing/2014/main" val="1186679774"/>
                  </a:ext>
                </a:extLst>
              </a:tr>
              <a:tr h="345835">
                <a:tc>
                  <a:txBody>
                    <a:bodyPr/>
                    <a:lstStyle/>
                    <a:p>
                      <a:pPr>
                        <a:buNone/>
                      </a:pPr>
                      <a:r>
                        <a:rPr lang="en-IN"/>
                        <a:t>12’h10 – 12’hFF</a:t>
                      </a:r>
                    </a:p>
                  </a:txBody>
                  <a:tcPr anchor="ctr"/>
                </a:tc>
                <a:tc>
                  <a:txBody>
                    <a:bodyPr/>
                    <a:lstStyle/>
                    <a:p>
                      <a:pPr>
                        <a:buNone/>
                      </a:pPr>
                      <a:r>
                        <a:rPr lang="en-IN"/>
                        <a:t>RX1: Reserved</a:t>
                      </a:r>
                    </a:p>
                  </a:txBody>
                  <a:tcPr anchor="ctr"/>
                </a:tc>
                <a:extLst>
                  <a:ext uri="{0D108BD9-81ED-4DB2-BD59-A6C34878D82A}">
                    <a16:rowId xmlns:a16="http://schemas.microsoft.com/office/drawing/2014/main" val="1395119455"/>
                  </a:ext>
                </a:extLst>
              </a:tr>
              <a:tr h="345835">
                <a:tc>
                  <a:txBody>
                    <a:bodyPr/>
                    <a:lstStyle/>
                    <a:p>
                      <a:pPr>
                        <a:buNone/>
                      </a:pPr>
                      <a:r>
                        <a:rPr lang="en-IN" dirty="0"/>
                        <a:t>12’h200 – 12’h3FF</a:t>
                      </a:r>
                    </a:p>
                  </a:txBody>
                  <a:tcPr anchor="ctr"/>
                </a:tc>
                <a:tc>
                  <a:txBody>
                    <a:bodyPr/>
                    <a:lstStyle/>
                    <a:p>
                      <a:pPr>
                        <a:buNone/>
                      </a:pPr>
                      <a:r>
                        <a:rPr lang="en-US" dirty="0"/>
                        <a:t>RX2: Same registers as RX1</a:t>
                      </a:r>
                    </a:p>
                  </a:txBody>
                  <a:tcPr anchor="ctr"/>
                </a:tc>
                <a:extLst>
                  <a:ext uri="{0D108BD9-81ED-4DB2-BD59-A6C34878D82A}">
                    <a16:rowId xmlns:a16="http://schemas.microsoft.com/office/drawing/2014/main" val="3458589907"/>
                  </a:ext>
                </a:extLst>
              </a:tr>
            </a:tbl>
          </a:graphicData>
        </a:graphic>
      </p:graphicFrame>
      <p:sp>
        <p:nvSpPr>
          <p:cNvPr id="5" name="Title 1">
            <a:extLst>
              <a:ext uri="{FF2B5EF4-FFF2-40B4-BE49-F238E27FC236}">
                <a16:creationId xmlns:a16="http://schemas.microsoft.com/office/drawing/2014/main" id="{CB24071D-CD55-D045-4FD3-734A1E4DF43D}"/>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PHY Registers</a:t>
            </a:r>
          </a:p>
        </p:txBody>
      </p:sp>
    </p:spTree>
    <p:extLst>
      <p:ext uri="{BB962C8B-B14F-4D97-AF65-F5344CB8AC3E}">
        <p14:creationId xmlns:p14="http://schemas.microsoft.com/office/powerpoint/2010/main" val="1837357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9E24B-272E-0D09-6D0C-D800EEBC78E7}"/>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82BD177F-5B8D-6DEF-6F88-A753F9CA6EF0}"/>
              </a:ext>
            </a:extLst>
          </p:cNvPr>
          <p:cNvGraphicFramePr>
            <a:graphicFrameLocks noGrp="1"/>
          </p:cNvGraphicFramePr>
          <p:nvPr>
            <p:ph idx="1"/>
            <p:extLst>
              <p:ext uri="{D42A27DB-BD31-4B8C-83A1-F6EECF244321}">
                <p14:modId xmlns:p14="http://schemas.microsoft.com/office/powerpoint/2010/main" val="2481589553"/>
              </p:ext>
            </p:extLst>
          </p:nvPr>
        </p:nvGraphicFramePr>
        <p:xfrm>
          <a:off x="509156" y="1047827"/>
          <a:ext cx="11107880" cy="6217920"/>
        </p:xfrm>
        <a:graphic>
          <a:graphicData uri="http://schemas.openxmlformats.org/drawingml/2006/table">
            <a:tbl>
              <a:tblPr firstRow="1" bandRow="1">
                <a:tableStyleId>{5C22544A-7EE6-4342-B048-85BDC9FD1C3A}</a:tableStyleId>
              </a:tblPr>
              <a:tblGrid>
                <a:gridCol w="3918295">
                  <a:extLst>
                    <a:ext uri="{9D8B030D-6E8A-4147-A177-3AD203B41FA5}">
                      <a16:colId xmlns:a16="http://schemas.microsoft.com/office/drawing/2014/main" val="4245677229"/>
                    </a:ext>
                  </a:extLst>
                </a:gridCol>
                <a:gridCol w="7189585">
                  <a:extLst>
                    <a:ext uri="{9D8B030D-6E8A-4147-A177-3AD203B41FA5}">
                      <a16:colId xmlns:a16="http://schemas.microsoft.com/office/drawing/2014/main" val="4141344253"/>
                    </a:ext>
                  </a:extLst>
                </a:gridCol>
              </a:tblGrid>
              <a:tr h="295137">
                <a:tc>
                  <a:txBody>
                    <a:bodyPr/>
                    <a:lstStyle/>
                    <a:p>
                      <a:r>
                        <a:rPr lang="en-IN" dirty="0"/>
                        <a:t> Byte Address</a:t>
                      </a:r>
                    </a:p>
                  </a:txBody>
                  <a:tcPr/>
                </a:tc>
                <a:tc>
                  <a:txBody>
                    <a:bodyPr/>
                    <a:lstStyle/>
                    <a:p>
                      <a:r>
                        <a:rPr lang="en-IN" dirty="0"/>
                        <a:t>Register name</a:t>
                      </a:r>
                    </a:p>
                  </a:txBody>
                  <a:tcPr/>
                </a:tc>
                <a:extLst>
                  <a:ext uri="{0D108BD9-81ED-4DB2-BD59-A6C34878D82A}">
                    <a16:rowId xmlns:a16="http://schemas.microsoft.com/office/drawing/2014/main" val="1363962953"/>
                  </a:ext>
                </a:extLst>
              </a:tr>
              <a:tr h="295137">
                <a:tc>
                  <a:txBody>
                    <a:bodyPr/>
                    <a:lstStyle/>
                    <a:p>
                      <a:pPr>
                        <a:buNone/>
                      </a:pPr>
                      <a:r>
                        <a:rPr lang="en-IN" dirty="0"/>
                        <a:t>12’h400</a:t>
                      </a:r>
                    </a:p>
                  </a:txBody>
                  <a:tcPr anchor="ctr"/>
                </a:tc>
                <a:tc>
                  <a:txBody>
                    <a:bodyPr/>
                    <a:lstStyle/>
                    <a:p>
                      <a:pPr>
                        <a:buNone/>
                      </a:pPr>
                      <a:r>
                        <a:rPr lang="en-IN" dirty="0"/>
                        <a:t>TX1: PHY Tx Control 0</a:t>
                      </a:r>
                    </a:p>
                  </a:txBody>
                  <a:tcPr anchor="ctr"/>
                </a:tc>
                <a:extLst>
                  <a:ext uri="{0D108BD9-81ED-4DB2-BD59-A6C34878D82A}">
                    <a16:rowId xmlns:a16="http://schemas.microsoft.com/office/drawing/2014/main" val="2816897773"/>
                  </a:ext>
                </a:extLst>
              </a:tr>
              <a:tr h="295137">
                <a:tc>
                  <a:txBody>
                    <a:bodyPr/>
                    <a:lstStyle/>
                    <a:p>
                      <a:pPr>
                        <a:buNone/>
                      </a:pPr>
                      <a:r>
                        <a:rPr lang="en-IN" dirty="0"/>
                        <a:t>12’h401</a:t>
                      </a:r>
                    </a:p>
                  </a:txBody>
                  <a:tcPr anchor="ctr"/>
                </a:tc>
                <a:tc>
                  <a:txBody>
                    <a:bodyPr/>
                    <a:lstStyle/>
                    <a:p>
                      <a:pPr>
                        <a:buNone/>
                      </a:pPr>
                      <a:r>
                        <a:rPr lang="en-IN" dirty="0"/>
                        <a:t>TX1: PHY Tx Control 1</a:t>
                      </a:r>
                    </a:p>
                  </a:txBody>
                  <a:tcPr anchor="ctr"/>
                </a:tc>
                <a:extLst>
                  <a:ext uri="{0D108BD9-81ED-4DB2-BD59-A6C34878D82A}">
                    <a16:rowId xmlns:a16="http://schemas.microsoft.com/office/drawing/2014/main" val="2767086884"/>
                  </a:ext>
                </a:extLst>
              </a:tr>
              <a:tr h="295137">
                <a:tc>
                  <a:txBody>
                    <a:bodyPr/>
                    <a:lstStyle/>
                    <a:p>
                      <a:pPr>
                        <a:buNone/>
                      </a:pPr>
                      <a:r>
                        <a:rPr lang="en-IN" dirty="0"/>
                        <a:t>12’h402</a:t>
                      </a:r>
                    </a:p>
                  </a:txBody>
                  <a:tcPr anchor="ctr"/>
                </a:tc>
                <a:tc>
                  <a:txBody>
                    <a:bodyPr/>
                    <a:lstStyle/>
                    <a:p>
                      <a:pPr>
                        <a:buNone/>
                      </a:pPr>
                      <a:r>
                        <a:rPr lang="en-IN" dirty="0"/>
                        <a:t>TX1: PHY Tx Control 2</a:t>
                      </a:r>
                    </a:p>
                  </a:txBody>
                  <a:tcPr anchor="ctr"/>
                </a:tc>
                <a:extLst>
                  <a:ext uri="{0D108BD9-81ED-4DB2-BD59-A6C34878D82A}">
                    <a16:rowId xmlns:a16="http://schemas.microsoft.com/office/drawing/2014/main" val="4133487573"/>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3</a:t>
                      </a:r>
                    </a:p>
                  </a:txBody>
                  <a:tcPr/>
                </a:tc>
                <a:extLst>
                  <a:ext uri="{0D108BD9-81ED-4DB2-BD59-A6C34878D82A}">
                    <a16:rowId xmlns:a16="http://schemas.microsoft.com/office/drawing/2014/main" val="2925637175"/>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4</a:t>
                      </a:r>
                    </a:p>
                  </a:txBody>
                  <a:tcPr/>
                </a:tc>
                <a:extLst>
                  <a:ext uri="{0D108BD9-81ED-4DB2-BD59-A6C34878D82A}">
                    <a16:rowId xmlns:a16="http://schemas.microsoft.com/office/drawing/2014/main" val="333760637"/>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5</a:t>
                      </a:r>
                    </a:p>
                  </a:txBody>
                  <a:tcPr/>
                </a:tc>
                <a:extLst>
                  <a:ext uri="{0D108BD9-81ED-4DB2-BD59-A6C34878D82A}">
                    <a16:rowId xmlns:a16="http://schemas.microsoft.com/office/drawing/2014/main" val="1978431657"/>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6</a:t>
                      </a:r>
                    </a:p>
                  </a:txBody>
                  <a:tcPr/>
                </a:tc>
                <a:extLst>
                  <a:ext uri="{0D108BD9-81ED-4DB2-BD59-A6C34878D82A}">
                    <a16:rowId xmlns:a16="http://schemas.microsoft.com/office/drawing/2014/main" val="2976547378"/>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7</a:t>
                      </a:r>
                    </a:p>
                  </a:txBody>
                  <a:tcPr/>
                </a:tc>
                <a:extLst>
                  <a:ext uri="{0D108BD9-81ED-4DB2-BD59-A6C34878D82A}">
                    <a16:rowId xmlns:a16="http://schemas.microsoft.com/office/drawing/2014/main" val="2056560315"/>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8</a:t>
                      </a:r>
                    </a:p>
                  </a:txBody>
                  <a:tcPr/>
                </a:tc>
                <a:extLst>
                  <a:ext uri="{0D108BD9-81ED-4DB2-BD59-A6C34878D82A}">
                    <a16:rowId xmlns:a16="http://schemas.microsoft.com/office/drawing/2014/main" val="3078950676"/>
                  </a:ext>
                </a:extLst>
              </a:tr>
              <a:tr h="295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9</a:t>
                      </a:r>
                    </a:p>
                  </a:txBody>
                  <a:tcPr/>
                </a:tc>
                <a:extLst>
                  <a:ext uri="{0D108BD9-81ED-4DB2-BD59-A6C34878D82A}">
                    <a16:rowId xmlns:a16="http://schemas.microsoft.com/office/drawing/2014/main" val="4145839000"/>
                  </a:ext>
                </a:extLst>
              </a:tr>
              <a:tr h="2801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12’h40A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TX1: PHY Tx Control 10</a:t>
                      </a:r>
                    </a:p>
                  </a:txBody>
                  <a:tcPr/>
                </a:tc>
                <a:extLst>
                  <a:ext uri="{0D108BD9-81ED-4DB2-BD59-A6C34878D82A}">
                    <a16:rowId xmlns:a16="http://schemas.microsoft.com/office/drawing/2014/main" val="1932232853"/>
                  </a:ext>
                </a:extLst>
              </a:tr>
              <a:tr h="295137">
                <a:tc>
                  <a:txBody>
                    <a:bodyPr/>
                    <a:lstStyle/>
                    <a:p>
                      <a:pPr>
                        <a:buNone/>
                      </a:pPr>
                      <a:r>
                        <a:rPr lang="en-IN" dirty="0"/>
                        <a:t>12’h40B – 12’h5FF</a:t>
                      </a:r>
                    </a:p>
                  </a:txBody>
                  <a:tcPr anchor="ctr"/>
                </a:tc>
                <a:tc>
                  <a:txBody>
                    <a:bodyPr/>
                    <a:lstStyle/>
                    <a:p>
                      <a:pPr>
                        <a:buNone/>
                      </a:pPr>
                      <a:r>
                        <a:rPr lang="en-IN"/>
                        <a:t>TX1: Reserved</a:t>
                      </a:r>
                    </a:p>
                  </a:txBody>
                  <a:tcPr anchor="ctr"/>
                </a:tc>
                <a:extLst>
                  <a:ext uri="{0D108BD9-81ED-4DB2-BD59-A6C34878D82A}">
                    <a16:rowId xmlns:a16="http://schemas.microsoft.com/office/drawing/2014/main" val="2088727954"/>
                  </a:ext>
                </a:extLst>
              </a:tr>
              <a:tr h="295137">
                <a:tc>
                  <a:txBody>
                    <a:bodyPr/>
                    <a:lstStyle/>
                    <a:p>
                      <a:pPr>
                        <a:buNone/>
                      </a:pPr>
                      <a:r>
                        <a:rPr lang="en-IN" dirty="0"/>
                        <a:t>12’h600 – 12’h7FF</a:t>
                      </a:r>
                    </a:p>
                  </a:txBody>
                  <a:tcPr anchor="ctr"/>
                </a:tc>
                <a:tc>
                  <a:txBody>
                    <a:bodyPr/>
                    <a:lstStyle/>
                    <a:p>
                      <a:r>
                        <a:rPr lang="en-IN" dirty="0"/>
                        <a:t>T</a:t>
                      </a:r>
                      <a:r>
                        <a:rPr lang="en-US" dirty="0"/>
                        <a:t>X2: Same registers as TX1</a:t>
                      </a:r>
                      <a:endParaRPr lang="en-IN" dirty="0"/>
                    </a:p>
                  </a:txBody>
                  <a:tcPr/>
                </a:tc>
                <a:extLst>
                  <a:ext uri="{0D108BD9-81ED-4DB2-BD59-A6C34878D82A}">
                    <a16:rowId xmlns:a16="http://schemas.microsoft.com/office/drawing/2014/main" val="587272197"/>
                  </a:ext>
                </a:extLst>
              </a:tr>
              <a:tr h="295137">
                <a:tc>
                  <a:txBody>
                    <a:bodyPr/>
                    <a:lstStyle/>
                    <a:p>
                      <a:pPr>
                        <a:buNone/>
                      </a:pPr>
                      <a:r>
                        <a:rPr lang="en-IN" dirty="0"/>
                        <a:t>12’h800</a:t>
                      </a:r>
                    </a:p>
                  </a:txBody>
                  <a:tcPr anchor="ctr"/>
                </a:tc>
                <a:tc>
                  <a:txBody>
                    <a:bodyPr/>
                    <a:lstStyle/>
                    <a:p>
                      <a:r>
                        <a:rPr lang="en-IN" dirty="0"/>
                        <a:t>CMN1: PHY Common Control0</a:t>
                      </a:r>
                    </a:p>
                  </a:txBody>
                  <a:tcPr/>
                </a:tc>
                <a:extLst>
                  <a:ext uri="{0D108BD9-81ED-4DB2-BD59-A6C34878D82A}">
                    <a16:rowId xmlns:a16="http://schemas.microsoft.com/office/drawing/2014/main" val="2815679170"/>
                  </a:ext>
                </a:extLst>
              </a:tr>
              <a:tr h="295137">
                <a:tc>
                  <a:txBody>
                    <a:bodyPr/>
                    <a:lstStyle/>
                    <a:p>
                      <a:r>
                        <a:rPr lang="en-IN" dirty="0"/>
                        <a:t>12’h801</a:t>
                      </a:r>
                    </a:p>
                  </a:txBody>
                  <a:tcPr/>
                </a:tc>
                <a:tc>
                  <a:txBody>
                    <a:bodyPr/>
                    <a:lstStyle/>
                    <a:p>
                      <a:r>
                        <a:rPr lang="en-IN" dirty="0"/>
                        <a:t>PHY Near-end loopback control</a:t>
                      </a:r>
                    </a:p>
                  </a:txBody>
                  <a:tcPr/>
                </a:tc>
                <a:extLst>
                  <a:ext uri="{0D108BD9-81ED-4DB2-BD59-A6C34878D82A}">
                    <a16:rowId xmlns:a16="http://schemas.microsoft.com/office/drawing/2014/main" val="223678380"/>
                  </a:ext>
                </a:extLst>
              </a:tr>
              <a:tr h="295137">
                <a:tc>
                  <a:txBody>
                    <a:bodyPr/>
                    <a:lstStyle/>
                    <a:p>
                      <a:r>
                        <a:rPr lang="en-IN" dirty="0"/>
                        <a:t>12’h802 – 12’h9FF</a:t>
                      </a:r>
                    </a:p>
                  </a:txBody>
                  <a:tcPr/>
                </a:tc>
                <a:tc>
                  <a:txBody>
                    <a:bodyPr/>
                    <a:lstStyle/>
                    <a:p>
                      <a:r>
                        <a:rPr lang="en-IN" dirty="0"/>
                        <a:t>CMN1:reserved</a:t>
                      </a:r>
                    </a:p>
                  </a:txBody>
                  <a:tcPr/>
                </a:tc>
                <a:extLst>
                  <a:ext uri="{0D108BD9-81ED-4DB2-BD59-A6C34878D82A}">
                    <a16:rowId xmlns:a16="http://schemas.microsoft.com/office/drawing/2014/main" val="3368778905"/>
                  </a:ext>
                </a:extLst>
              </a:tr>
            </a:tbl>
          </a:graphicData>
        </a:graphic>
      </p:graphicFrame>
      <p:sp>
        <p:nvSpPr>
          <p:cNvPr id="5" name="Title 1">
            <a:extLst>
              <a:ext uri="{FF2B5EF4-FFF2-40B4-BE49-F238E27FC236}">
                <a16:creationId xmlns:a16="http://schemas.microsoft.com/office/drawing/2014/main" id="{8EC4C42C-2B07-8432-3538-8930A10A89A2}"/>
              </a:ext>
            </a:extLst>
          </p:cNvPr>
          <p:cNvSpPr>
            <a:spLocks noGrp="1"/>
          </p:cNvSpPr>
          <p:nvPr>
            <p:ph type="title"/>
          </p:nvPr>
        </p:nvSpPr>
        <p:spPr>
          <a:xfrm>
            <a:off x="4313" y="5691"/>
            <a:ext cx="12168996" cy="865489"/>
          </a:xfrm>
          <a:solidFill>
            <a:schemeClr val="accent6"/>
          </a:solidFill>
        </p:spPr>
        <p:txBody>
          <a:bodyPr/>
          <a:lstStyle/>
          <a:p>
            <a:pPr algn="ctr"/>
            <a:r>
              <a:rPr lang="en-US" sz="4000" dirty="0">
                <a:latin typeface="Aptos"/>
              </a:rPr>
              <a:t>PHY Registers</a:t>
            </a:r>
          </a:p>
        </p:txBody>
      </p:sp>
    </p:spTree>
    <p:extLst>
      <p:ext uri="{BB962C8B-B14F-4D97-AF65-F5344CB8AC3E}">
        <p14:creationId xmlns:p14="http://schemas.microsoft.com/office/powerpoint/2010/main" val="2291774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80AB-567E-B68B-70FA-233977D4BC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20DF8B-5FE8-F100-85B4-5E86328C0737}"/>
              </a:ext>
            </a:extLst>
          </p:cNvPr>
          <p:cNvSpPr>
            <a:spLocks noGrp="1"/>
          </p:cNvSpPr>
          <p:nvPr>
            <p:ph idx="1"/>
          </p:nvPr>
        </p:nvSpPr>
        <p:spPr>
          <a:xfrm>
            <a:off x="167480" y="1711275"/>
            <a:ext cx="11871250" cy="3908315"/>
          </a:xfrm>
        </p:spPr>
        <p:txBody>
          <a:bodyPr vert="horz" lIns="91440" tIns="45720" rIns="91440" bIns="45720" rtlCol="0" anchor="t">
            <a:normAutofit/>
          </a:bodyPr>
          <a:lstStyle/>
          <a:p>
            <a:pPr algn="just"/>
            <a:r>
              <a:rPr lang="en-US" sz="2400" dirty="0">
                <a:latin typeface="Calibri"/>
                <a:ea typeface="+mn-lt"/>
                <a:cs typeface="+mn-lt"/>
              </a:rPr>
              <a:t>There are three clock signals used by the PHY interface component. </a:t>
            </a:r>
            <a:endParaRPr lang="en-US"/>
          </a:p>
          <a:p>
            <a:pPr algn="just"/>
            <a:r>
              <a:rPr lang="en-US" sz="2400" b="1" dirty="0">
                <a:latin typeface="Calibri"/>
                <a:ea typeface="+mn-lt"/>
                <a:cs typeface="+mn-lt"/>
              </a:rPr>
              <a:t>The first clock (CLK)</a:t>
            </a:r>
            <a:r>
              <a:rPr lang="en-US" sz="2400" dirty="0">
                <a:latin typeface="Calibri"/>
                <a:ea typeface="+mn-lt"/>
                <a:cs typeface="+mn-lt"/>
              </a:rPr>
              <a:t> is a reference clock that the PHY uses to generate internal bit rate clocks for transmitting and receiving data. </a:t>
            </a:r>
          </a:p>
          <a:p>
            <a:pPr algn="just"/>
            <a:r>
              <a:rPr lang="en-US" sz="2400" dirty="0">
                <a:latin typeface="Calibri"/>
                <a:ea typeface="+mn-lt"/>
                <a:cs typeface="+mn-lt"/>
              </a:rPr>
              <a:t>The specifications for this signal are implementation dependent and must be fully specified by vendors. </a:t>
            </a:r>
          </a:p>
          <a:p>
            <a:pPr algn="just"/>
            <a:r>
              <a:rPr lang="en-US" sz="2400" dirty="0">
                <a:latin typeface="Calibri"/>
                <a:ea typeface="+mn-lt"/>
                <a:cs typeface="+mn-lt"/>
              </a:rPr>
              <a:t>The specifications may vary for different PHY operating modes. </a:t>
            </a:r>
          </a:p>
          <a:p>
            <a:pPr algn="just"/>
            <a:r>
              <a:rPr lang="en-US" sz="2400" dirty="0">
                <a:latin typeface="Calibri"/>
                <a:ea typeface="+mn-lt"/>
                <a:cs typeface="+mn-lt"/>
              </a:rPr>
              <a:t>This clock may have a spread spectrum modulation that matches a system Reference Clock (REFCLK).</a:t>
            </a:r>
          </a:p>
        </p:txBody>
      </p:sp>
      <p:sp>
        <p:nvSpPr>
          <p:cNvPr id="5" name="Title 1">
            <a:extLst>
              <a:ext uri="{FF2B5EF4-FFF2-40B4-BE49-F238E27FC236}">
                <a16:creationId xmlns:a16="http://schemas.microsoft.com/office/drawing/2014/main" id="{8FCEAE10-976D-3A59-39C7-366D332EA2B5}"/>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
        <p:nvSpPr>
          <p:cNvPr id="2" name="TextBox 1">
            <a:extLst>
              <a:ext uri="{FF2B5EF4-FFF2-40B4-BE49-F238E27FC236}">
                <a16:creationId xmlns:a16="http://schemas.microsoft.com/office/drawing/2014/main" id="{AAA1A118-9F37-5210-C921-A6C20AAD44BC}"/>
              </a:ext>
            </a:extLst>
          </p:cNvPr>
          <p:cNvSpPr txBox="1"/>
          <p:nvPr/>
        </p:nvSpPr>
        <p:spPr>
          <a:xfrm>
            <a:off x="8860" y="95693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baseline="0">
                <a:latin typeface="Calibri"/>
              </a:rPr>
              <a:t>Clocking </a:t>
            </a:r>
            <a:r>
              <a:rPr sz="3600">
                <a:latin typeface="Calibri"/>
                <a:ea typeface="Calibri"/>
                <a:cs typeface="Calibri"/>
              </a:rPr>
              <a:t>​</a:t>
            </a:r>
            <a:endParaRPr lang="en-US"/>
          </a:p>
          <a:p>
            <a:pPr algn="ctr"/>
            <a:endParaRPr lang="en-US"/>
          </a:p>
        </p:txBody>
      </p:sp>
    </p:spTree>
    <p:extLst>
      <p:ext uri="{BB962C8B-B14F-4D97-AF65-F5344CB8AC3E}">
        <p14:creationId xmlns:p14="http://schemas.microsoft.com/office/powerpoint/2010/main" val="621666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DA883-BE3C-A1C0-0250-16CFF76087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7D140-6A32-C5EC-410F-1D346C1136CD}"/>
              </a:ext>
            </a:extLst>
          </p:cNvPr>
          <p:cNvSpPr>
            <a:spLocks noGrp="1"/>
          </p:cNvSpPr>
          <p:nvPr>
            <p:ph idx="1"/>
          </p:nvPr>
        </p:nvSpPr>
        <p:spPr>
          <a:xfrm>
            <a:off x="7059" y="1169854"/>
            <a:ext cx="11871250" cy="4510826"/>
          </a:xfrm>
        </p:spPr>
        <p:txBody>
          <a:bodyPr vert="horz" lIns="91440" tIns="45720" rIns="91440" bIns="45720" rtlCol="0" anchor="t">
            <a:normAutofit/>
          </a:bodyPr>
          <a:lstStyle/>
          <a:p>
            <a:pPr algn="just"/>
            <a:endParaRPr lang="en-US" sz="2400" b="1" dirty="0">
              <a:latin typeface="Calibri"/>
              <a:ea typeface="+mn-lt"/>
              <a:cs typeface="+mn-lt"/>
            </a:endParaRPr>
          </a:p>
          <a:p>
            <a:pPr algn="just"/>
            <a:r>
              <a:rPr lang="en-US" sz="2400" b="1" dirty="0">
                <a:latin typeface="Calibri"/>
                <a:ea typeface="+mn-lt"/>
                <a:cs typeface="+mn-lt"/>
              </a:rPr>
              <a:t>The second clock (PCLK)</a:t>
            </a:r>
            <a:r>
              <a:rPr lang="en-US" sz="2400" dirty="0">
                <a:latin typeface="Calibri"/>
                <a:ea typeface="+mn-lt"/>
                <a:cs typeface="+mn-lt"/>
              </a:rPr>
              <a:t> is an output from the PHY in “PCLK as PHY Output” mode and an input to each PHY lane in the “PCLK as PHY Input” mode and is the parallel interface clock used to synchronize data transfers across the parallel interface.</a:t>
            </a:r>
            <a:endParaRPr lang="en-US" dirty="0">
              <a:latin typeface="Calibri"/>
              <a:ea typeface="+mn-lt"/>
              <a:cs typeface="+mn-lt"/>
            </a:endParaRPr>
          </a:p>
          <a:p>
            <a:pPr algn="just"/>
            <a:r>
              <a:rPr lang="en-US" sz="2400" dirty="0">
                <a:latin typeface="Calibri"/>
                <a:ea typeface="+mn-lt"/>
                <a:cs typeface="+mn-lt"/>
              </a:rPr>
              <a:t>This clock runs at a rate dependent on the Rate, PCLK Rate, and PHY Mode control inputs and data interface width.</a:t>
            </a:r>
            <a:endParaRPr lang="en-US" dirty="0">
              <a:latin typeface="Calibri"/>
              <a:ea typeface="+mn-lt"/>
              <a:cs typeface="+mn-lt"/>
            </a:endParaRPr>
          </a:p>
          <a:p>
            <a:pPr algn="just"/>
            <a:r>
              <a:rPr lang="en-US" sz="2400" dirty="0">
                <a:latin typeface="Calibri"/>
                <a:ea typeface="+mn-lt"/>
                <a:cs typeface="+mn-lt"/>
              </a:rPr>
              <a:t>The rising edge of this clock is the reference point. This clock may also have a spread spectrum modulation. </a:t>
            </a:r>
            <a:endParaRPr lang="en-US">
              <a:latin typeface="Calibri"/>
              <a:ea typeface="+mn-lt"/>
              <a:cs typeface="+mn-lt"/>
            </a:endParaRPr>
          </a:p>
          <a:p>
            <a:pPr algn="just"/>
            <a:r>
              <a:rPr lang="en-US" sz="2400" dirty="0">
                <a:latin typeface="Calibri"/>
                <a:ea typeface="+mn-lt"/>
                <a:cs typeface="+mn-lt"/>
              </a:rPr>
              <a:t>The CLK and PCLK must be sourced from the same reference clock and must contain the same clocking characteristics, that is, they can be </a:t>
            </a:r>
            <a:r>
              <a:rPr lang="en-US" sz="2400" dirty="0" err="1">
                <a:latin typeface="Calibri"/>
                <a:ea typeface="+mn-lt"/>
                <a:cs typeface="+mn-lt"/>
              </a:rPr>
              <a:t>mesochronous</a:t>
            </a:r>
            <a:r>
              <a:rPr lang="en-US" sz="2400" dirty="0">
                <a:latin typeface="Calibri"/>
                <a:ea typeface="+mn-lt"/>
                <a:cs typeface="+mn-lt"/>
              </a:rPr>
              <a:t> with each other.</a:t>
            </a:r>
            <a:endParaRPr lang="en-US">
              <a:latin typeface="Calibri"/>
              <a:ea typeface="+mn-lt"/>
              <a:cs typeface="+mn-lt"/>
            </a:endParaRPr>
          </a:p>
        </p:txBody>
      </p:sp>
      <p:sp>
        <p:nvSpPr>
          <p:cNvPr id="5" name="Title 1">
            <a:extLst>
              <a:ext uri="{FF2B5EF4-FFF2-40B4-BE49-F238E27FC236}">
                <a16:creationId xmlns:a16="http://schemas.microsoft.com/office/drawing/2014/main" id="{F61DADF1-73F7-5AC1-2484-50D129FB078F}"/>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505878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E354-D1FC-1CE8-B5C8-8F3A96AB5B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ADD694-E585-0F48-B2AC-37B1FE856617}"/>
              </a:ext>
            </a:extLst>
          </p:cNvPr>
          <p:cNvSpPr>
            <a:spLocks noGrp="1"/>
          </p:cNvSpPr>
          <p:nvPr>
            <p:ph idx="1"/>
          </p:nvPr>
        </p:nvSpPr>
        <p:spPr>
          <a:xfrm>
            <a:off x="7059" y="1169854"/>
            <a:ext cx="11871250" cy="4510826"/>
          </a:xfrm>
        </p:spPr>
        <p:txBody>
          <a:bodyPr vert="horz" lIns="91440" tIns="45720" rIns="91440" bIns="45720" rtlCol="0" anchor="t">
            <a:normAutofit/>
          </a:bodyPr>
          <a:lstStyle/>
          <a:p>
            <a:pPr algn="just"/>
            <a:endParaRPr lang="en-US" sz="2400" b="1" dirty="0">
              <a:ea typeface="+mn-lt"/>
              <a:cs typeface="+mn-lt"/>
            </a:endParaRPr>
          </a:p>
          <a:p>
            <a:pPr algn="just"/>
            <a:r>
              <a:rPr lang="en-US" sz="2400" b="1" dirty="0">
                <a:ea typeface="+mn-lt"/>
                <a:cs typeface="+mn-lt"/>
              </a:rPr>
              <a:t>The third clock (MAX PCLK)</a:t>
            </a:r>
            <a:r>
              <a:rPr lang="en-US" sz="2400" dirty="0">
                <a:ea typeface="+mn-lt"/>
                <a:cs typeface="+mn-lt"/>
              </a:rPr>
              <a:t> is a constant frequency clock with a frequency determined by the maximum signaling rate supported by the PHY</a:t>
            </a:r>
          </a:p>
          <a:p>
            <a:pPr algn="just"/>
            <a:r>
              <a:rPr lang="en-US" sz="2400" dirty="0">
                <a:ea typeface="+mn-lt"/>
                <a:cs typeface="+mn-lt"/>
              </a:rPr>
              <a:t>And is only required in “PCLK as PHY Input” mode or in all modes for a PHY that supports PCIe at 8 GT/s or higher maximum speed.</a:t>
            </a:r>
            <a:endParaRPr lang="en-US" dirty="0">
              <a:ea typeface="+mn-lt"/>
              <a:cs typeface="+mn-lt"/>
            </a:endParaRPr>
          </a:p>
          <a:p>
            <a:pPr algn="just"/>
            <a:r>
              <a:rPr lang="en-US" sz="2400" dirty="0">
                <a:ea typeface="+mn-lt"/>
                <a:cs typeface="+mn-lt"/>
              </a:rPr>
              <a:t>The Max PCLK value should be set to the maximum PCLK supported by the PHY.</a:t>
            </a:r>
            <a:endParaRPr lang="en-US">
              <a:ea typeface="+mn-lt"/>
              <a:cs typeface="+mn-lt"/>
            </a:endParaRPr>
          </a:p>
          <a:p>
            <a:pPr algn="just"/>
            <a:endParaRPr lang="en-US" sz="2400" dirty="0">
              <a:ea typeface="+mn-lt"/>
              <a:cs typeface="+mn-lt"/>
            </a:endParaRPr>
          </a:p>
          <a:p>
            <a:pPr algn="just"/>
            <a:r>
              <a:rPr lang="en-US" sz="2400" b="1" dirty="0">
                <a:ea typeface="+mn-lt"/>
                <a:cs typeface="+mn-lt"/>
              </a:rPr>
              <a:t>The fourth clock (</a:t>
            </a:r>
            <a:r>
              <a:rPr lang="en-US" sz="2400" b="1" dirty="0" err="1">
                <a:ea typeface="+mn-lt"/>
                <a:cs typeface="+mn-lt"/>
              </a:rPr>
              <a:t>MacCLK</a:t>
            </a:r>
            <a:r>
              <a:rPr lang="en-US" sz="2400" b="1" dirty="0">
                <a:ea typeface="+mn-lt"/>
                <a:cs typeface="+mn-lt"/>
              </a:rPr>
              <a:t>)</a:t>
            </a:r>
            <a:r>
              <a:rPr lang="en-US" sz="2400" dirty="0">
                <a:ea typeface="+mn-lt"/>
                <a:cs typeface="+mn-lt"/>
              </a:rPr>
              <a:t> is an optional clock with support advertised by the PHY vendor parameter “</a:t>
            </a:r>
            <a:r>
              <a:rPr lang="en-US" sz="2400" dirty="0" err="1">
                <a:ea typeface="+mn-lt"/>
                <a:cs typeface="+mn-lt"/>
              </a:rPr>
              <a:t>MacCLK</a:t>
            </a:r>
            <a:r>
              <a:rPr lang="en-US" sz="2400" dirty="0">
                <a:ea typeface="+mn-lt"/>
                <a:cs typeface="+mn-lt"/>
              </a:rPr>
              <a:t> Support”. </a:t>
            </a:r>
            <a:endParaRPr lang="en-US">
              <a:ea typeface="+mn-lt"/>
              <a:cs typeface="+mn-lt"/>
            </a:endParaRPr>
          </a:p>
          <a:p>
            <a:pPr algn="just"/>
            <a:r>
              <a:rPr lang="en-US" sz="2400" dirty="0">
                <a:ea typeface="+mn-lt"/>
                <a:cs typeface="+mn-lt"/>
              </a:rPr>
              <a:t>This clock is independent of the data lanes and is specified using </a:t>
            </a:r>
            <a:r>
              <a:rPr lang="en-US" sz="2400" dirty="0" err="1">
                <a:ea typeface="+mn-lt"/>
                <a:cs typeface="+mn-lt"/>
              </a:rPr>
              <a:t>MacCLK</a:t>
            </a:r>
            <a:r>
              <a:rPr lang="en-US" sz="2400" dirty="0">
                <a:ea typeface="+mn-lt"/>
                <a:cs typeface="+mn-lt"/>
              </a:rPr>
              <a:t> lane signals.</a:t>
            </a:r>
            <a:endParaRPr lang="en-US">
              <a:ea typeface="+mn-lt"/>
              <a:cs typeface="+mn-lt"/>
            </a:endParaRPr>
          </a:p>
        </p:txBody>
      </p:sp>
      <p:sp>
        <p:nvSpPr>
          <p:cNvPr id="5" name="Title 1">
            <a:extLst>
              <a:ext uri="{FF2B5EF4-FFF2-40B4-BE49-F238E27FC236}">
                <a16:creationId xmlns:a16="http://schemas.microsoft.com/office/drawing/2014/main" id="{98FC8522-2AD8-C7B0-B2C1-1243C6009703}"/>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1277165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B905-EB5E-F1CB-43CA-729FF3F392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DE01F-3728-86F1-5C9D-490559709CD3}"/>
              </a:ext>
            </a:extLst>
          </p:cNvPr>
          <p:cNvSpPr>
            <a:spLocks noGrp="1"/>
          </p:cNvSpPr>
          <p:nvPr>
            <p:ph idx="1"/>
          </p:nvPr>
        </p:nvSpPr>
        <p:spPr>
          <a:xfrm>
            <a:off x="7059" y="1711275"/>
            <a:ext cx="11871250" cy="3908315"/>
          </a:xfrm>
        </p:spPr>
        <p:txBody>
          <a:bodyPr vert="horz" lIns="91440" tIns="45720" rIns="91440" bIns="45720" rtlCol="0" anchor="t">
            <a:normAutofit/>
          </a:bodyPr>
          <a:lstStyle/>
          <a:p>
            <a:pPr algn="just"/>
            <a:r>
              <a:rPr lang="en-US" sz="2400" dirty="0">
                <a:latin typeface="Calibri"/>
                <a:ea typeface="+mn-lt"/>
                <a:cs typeface="+mn-lt"/>
              </a:rPr>
              <a:t>This section describes some clocking topologies that are compatible with PIPE.</a:t>
            </a:r>
          </a:p>
          <a:p>
            <a:pPr algn="just"/>
            <a:r>
              <a:rPr lang="en-US" sz="2400" dirty="0">
                <a:latin typeface="Aptos"/>
                <a:ea typeface="+mn-lt"/>
                <a:cs typeface="+mn-lt"/>
              </a:rPr>
              <a:t>This Figure</a:t>
            </a:r>
            <a:r>
              <a:rPr lang="en-US" sz="2400" dirty="0">
                <a:ea typeface="+mn-lt"/>
                <a:cs typeface="+mn-lt"/>
              </a:rPr>
              <a:t> shows </a:t>
            </a:r>
            <a:r>
              <a:rPr lang="en-US" sz="2400" b="1" dirty="0">
                <a:ea typeface="+mn-lt"/>
                <a:cs typeface="+mn-lt"/>
              </a:rPr>
              <a:t>PCLK as a PHY output.</a:t>
            </a:r>
            <a:endParaRPr lang="en-US" sz="2400" b="1">
              <a:latin typeface="Calibri"/>
              <a:ea typeface="+mn-lt"/>
              <a:cs typeface="+mn-lt"/>
            </a:endParaRPr>
          </a:p>
          <a:p>
            <a:r>
              <a:rPr lang="en-US" sz="2400" dirty="0">
                <a:latin typeface="Calibri"/>
                <a:ea typeface="+mn-lt"/>
                <a:cs typeface="+mn-lt"/>
              </a:rPr>
              <a:t>This topology is only applicable for legacy</a:t>
            </a:r>
          </a:p>
          <a:p>
            <a:pPr marL="0" indent="0">
              <a:buNone/>
            </a:pPr>
            <a:r>
              <a:rPr lang="en-US" sz="2400" dirty="0">
                <a:latin typeface="Calibri"/>
                <a:ea typeface="+mn-lt"/>
                <a:cs typeface="+mn-lt"/>
              </a:rPr>
              <a:t>PIPE implementations and is not supported</a:t>
            </a:r>
          </a:p>
          <a:p>
            <a:pPr marL="0" indent="0">
              <a:buNone/>
            </a:pPr>
            <a:r>
              <a:rPr lang="en-US" sz="2400" dirty="0">
                <a:latin typeface="Calibri"/>
                <a:ea typeface="+mn-lt"/>
                <a:cs typeface="+mn-lt"/>
              </a:rPr>
              <a:t>For PCIe Gen5 designs, USB4 or DisplayPort. </a:t>
            </a:r>
            <a:endParaRPr lang="en-US" sz="2400" dirty="0">
              <a:latin typeface="Calibri"/>
              <a:ea typeface="Calibri"/>
              <a:cs typeface="Calibri"/>
            </a:endParaRPr>
          </a:p>
        </p:txBody>
      </p:sp>
      <p:sp>
        <p:nvSpPr>
          <p:cNvPr id="5" name="Title 1">
            <a:extLst>
              <a:ext uri="{FF2B5EF4-FFF2-40B4-BE49-F238E27FC236}">
                <a16:creationId xmlns:a16="http://schemas.microsoft.com/office/drawing/2014/main" id="{9E599C9F-2106-F4E0-96C1-BCB53107B2B3}"/>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
        <p:nvSpPr>
          <p:cNvPr id="2" name="TextBox 1">
            <a:extLst>
              <a:ext uri="{FF2B5EF4-FFF2-40B4-BE49-F238E27FC236}">
                <a16:creationId xmlns:a16="http://schemas.microsoft.com/office/drawing/2014/main" id="{95ADBCD8-26ED-C1FE-E5E3-87153289C6B3}"/>
              </a:ext>
            </a:extLst>
          </p:cNvPr>
          <p:cNvSpPr txBox="1"/>
          <p:nvPr/>
        </p:nvSpPr>
        <p:spPr>
          <a:xfrm>
            <a:off x="8860" y="95693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baseline="0" dirty="0">
                <a:latin typeface="Calibri"/>
                <a:ea typeface="Calibri"/>
                <a:cs typeface="Calibri"/>
              </a:rPr>
              <a:t>Clocking</a:t>
            </a:r>
            <a:r>
              <a:rPr lang="en-US" sz="3600" b="1" dirty="0">
                <a:latin typeface="Calibri"/>
                <a:ea typeface="Calibri"/>
                <a:cs typeface="Calibri"/>
              </a:rPr>
              <a:t> </a:t>
            </a:r>
            <a:r>
              <a:rPr lang="en-US" sz="3600" b="1" dirty="0">
                <a:latin typeface="Calibri"/>
                <a:ea typeface="+mn-lt"/>
                <a:cs typeface="+mn-lt"/>
              </a:rPr>
              <a:t>Topologies</a:t>
            </a:r>
            <a:endParaRPr lang="en-US" b="1">
              <a:latin typeface="Calibri"/>
              <a:ea typeface="Calibri"/>
              <a:cs typeface="Calibri"/>
            </a:endParaRPr>
          </a:p>
          <a:p>
            <a:pPr algn="ctr"/>
            <a:endParaRPr lang="en-US"/>
          </a:p>
        </p:txBody>
      </p:sp>
      <p:pic>
        <p:nvPicPr>
          <p:cNvPr id="9" name="Picture 8" descr="A diagram of a computer component">
            <a:extLst>
              <a:ext uri="{FF2B5EF4-FFF2-40B4-BE49-F238E27FC236}">
                <a16:creationId xmlns:a16="http://schemas.microsoft.com/office/drawing/2014/main" id="{48A8013C-1ED3-6D13-D2A4-766803BE620F}"/>
              </a:ext>
            </a:extLst>
          </p:cNvPr>
          <p:cNvPicPr>
            <a:picLocks noChangeAspect="1"/>
          </p:cNvPicPr>
          <p:nvPr/>
        </p:nvPicPr>
        <p:blipFill>
          <a:blip r:embed="rId2"/>
          <a:stretch>
            <a:fillRect/>
          </a:stretch>
        </p:blipFill>
        <p:spPr>
          <a:xfrm>
            <a:off x="7609974" y="2087906"/>
            <a:ext cx="4560957" cy="4672154"/>
          </a:xfrm>
          <a:prstGeom prst="rect">
            <a:avLst/>
          </a:prstGeom>
        </p:spPr>
      </p:pic>
    </p:spTree>
    <p:extLst>
      <p:ext uri="{BB962C8B-B14F-4D97-AF65-F5344CB8AC3E}">
        <p14:creationId xmlns:p14="http://schemas.microsoft.com/office/powerpoint/2010/main" val="31741564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24BCD-9C43-AFD7-0131-5ADEC883AA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DD77F-E933-9762-B5EE-432050E62911}"/>
              </a:ext>
            </a:extLst>
          </p:cNvPr>
          <p:cNvSpPr>
            <a:spLocks noGrp="1"/>
          </p:cNvSpPr>
          <p:nvPr>
            <p:ph idx="1"/>
          </p:nvPr>
        </p:nvSpPr>
        <p:spPr>
          <a:xfrm>
            <a:off x="7059" y="993449"/>
            <a:ext cx="11871250" cy="3908315"/>
          </a:xfrm>
        </p:spPr>
        <p:txBody>
          <a:bodyPr vert="horz" lIns="91440" tIns="45720" rIns="91440" bIns="45720" rtlCol="0" anchor="t">
            <a:normAutofit/>
          </a:bodyPr>
          <a:lstStyle/>
          <a:p>
            <a:pPr algn="just"/>
            <a:r>
              <a:rPr lang="en-US" sz="2400" dirty="0">
                <a:ea typeface="+mn-lt"/>
                <a:cs typeface="+mn-lt"/>
              </a:rPr>
              <a:t>This figure shows</a:t>
            </a:r>
            <a:r>
              <a:rPr lang="en-US" sz="2400" b="1" dirty="0">
                <a:ea typeface="+mn-lt"/>
                <a:cs typeface="+mn-lt"/>
              </a:rPr>
              <a:t> PCLK as a PHY input</a:t>
            </a:r>
            <a:r>
              <a:rPr lang="en-US" sz="2400" dirty="0">
                <a:ea typeface="+mn-lt"/>
                <a:cs typeface="+mn-lt"/>
              </a:rPr>
              <a:t> with the PLL residing in the PHY;</a:t>
            </a:r>
            <a:endParaRPr lang="en-US" sz="2400" dirty="0">
              <a:latin typeface="Calibri"/>
              <a:ea typeface="Calibri"/>
              <a:cs typeface="Calibri"/>
            </a:endParaRPr>
          </a:p>
          <a:p>
            <a:pPr algn="just"/>
            <a:r>
              <a:rPr lang="en-US" sz="2400" dirty="0">
                <a:ea typeface="+mn-lt"/>
                <a:cs typeface="+mn-lt"/>
              </a:rPr>
              <a:t>The PHY provides a source for PCLK, in this case, MAX PCLK, that is </a:t>
            </a:r>
            <a:r>
              <a:rPr lang="en-US" sz="2400" dirty="0" err="1">
                <a:ea typeface="+mn-lt"/>
                <a:cs typeface="+mn-lt"/>
              </a:rPr>
              <a:t>mesochronous</a:t>
            </a:r>
            <a:r>
              <a:rPr lang="en-US" sz="2400" dirty="0">
                <a:ea typeface="+mn-lt"/>
                <a:cs typeface="+mn-lt"/>
              </a:rPr>
              <a:t> to the PHY’s bit rate clock.</a:t>
            </a:r>
            <a:r>
              <a:rPr lang="en-US" sz="2400" dirty="0">
                <a:latin typeface="Calibri"/>
                <a:ea typeface="+mn-lt"/>
                <a:cs typeface="+mn-lt"/>
              </a:rPr>
              <a:t> </a:t>
            </a:r>
            <a:endParaRPr lang="en-US" sz="2400">
              <a:latin typeface="Calibri"/>
              <a:ea typeface="Calibri"/>
              <a:cs typeface="Calibri"/>
            </a:endParaRPr>
          </a:p>
        </p:txBody>
      </p:sp>
      <p:sp>
        <p:nvSpPr>
          <p:cNvPr id="5" name="Title 1">
            <a:extLst>
              <a:ext uri="{FF2B5EF4-FFF2-40B4-BE49-F238E27FC236}">
                <a16:creationId xmlns:a16="http://schemas.microsoft.com/office/drawing/2014/main" id="{6F8D9B71-984C-FC76-6CEB-C9690B997DD1}"/>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computer component&#10;&#10;AI-generated content may be incorrect.">
            <a:extLst>
              <a:ext uri="{FF2B5EF4-FFF2-40B4-BE49-F238E27FC236}">
                <a16:creationId xmlns:a16="http://schemas.microsoft.com/office/drawing/2014/main" id="{64A71790-A36E-C602-8D28-227CF4CB777B}"/>
              </a:ext>
            </a:extLst>
          </p:cNvPr>
          <p:cNvPicPr>
            <a:picLocks noChangeAspect="1"/>
          </p:cNvPicPr>
          <p:nvPr/>
        </p:nvPicPr>
        <p:blipFill>
          <a:blip r:embed="rId2"/>
          <a:stretch>
            <a:fillRect/>
          </a:stretch>
        </p:blipFill>
        <p:spPr>
          <a:xfrm>
            <a:off x="7527097" y="1941974"/>
            <a:ext cx="4514850" cy="4772599"/>
          </a:xfrm>
          <a:prstGeom prst="rect">
            <a:avLst/>
          </a:prstGeom>
        </p:spPr>
      </p:pic>
    </p:spTree>
    <p:extLst>
      <p:ext uri="{BB962C8B-B14F-4D97-AF65-F5344CB8AC3E}">
        <p14:creationId xmlns:p14="http://schemas.microsoft.com/office/powerpoint/2010/main" val="986543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DD42E-FFA9-3573-7058-E4BF009439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97AD5B-AA83-3C86-0930-8ABB32110084}"/>
              </a:ext>
            </a:extLst>
          </p:cNvPr>
          <p:cNvSpPr>
            <a:spLocks noGrp="1"/>
          </p:cNvSpPr>
          <p:nvPr>
            <p:ph idx="1"/>
          </p:nvPr>
        </p:nvSpPr>
        <p:spPr>
          <a:xfrm>
            <a:off x="7059" y="1019459"/>
            <a:ext cx="11871250" cy="3908315"/>
          </a:xfrm>
        </p:spPr>
        <p:txBody>
          <a:bodyPr vert="horz" lIns="91440" tIns="45720" rIns="91440" bIns="45720" rtlCol="0" anchor="t">
            <a:normAutofit/>
          </a:bodyPr>
          <a:lstStyle/>
          <a:p>
            <a:pPr algn="just"/>
            <a:r>
              <a:rPr lang="en-US" sz="2400" dirty="0">
                <a:latin typeface="Aptos"/>
                <a:ea typeface="+mn-lt"/>
                <a:cs typeface="+mn-lt"/>
              </a:rPr>
              <a:t>This Figure</a:t>
            </a:r>
            <a:r>
              <a:rPr lang="en-US" sz="2400" dirty="0">
                <a:ea typeface="+mn-lt"/>
                <a:cs typeface="+mn-lt"/>
              </a:rPr>
              <a:t> shows </a:t>
            </a:r>
            <a:r>
              <a:rPr lang="en-US" sz="2400" b="1" dirty="0">
                <a:ea typeface="+mn-lt"/>
                <a:cs typeface="+mn-lt"/>
              </a:rPr>
              <a:t>PCLK as a PHY input</a:t>
            </a:r>
            <a:r>
              <a:rPr lang="en-US" sz="2400" dirty="0">
                <a:ea typeface="+mn-lt"/>
                <a:cs typeface="+mn-lt"/>
              </a:rPr>
              <a:t> with the PLL that provides the PCLK source residing outside of the PHY;</a:t>
            </a:r>
            <a:endParaRPr lang="en-US" sz="2400" dirty="0">
              <a:latin typeface="Calibri"/>
              <a:ea typeface="Calibri"/>
              <a:cs typeface="Calibri"/>
            </a:endParaRPr>
          </a:p>
          <a:p>
            <a:pPr algn="just"/>
            <a:r>
              <a:rPr lang="en-US" sz="2400" dirty="0">
                <a:ea typeface="+mn-lt"/>
                <a:cs typeface="+mn-lt"/>
              </a:rPr>
              <a:t>The reference clock for PLL that sources the bit rate clock and the PLL that provides the PCLK source must be the same.</a:t>
            </a:r>
            <a:r>
              <a:rPr lang="en-US" sz="2400" dirty="0">
                <a:latin typeface="Calibri"/>
                <a:ea typeface="+mn-lt"/>
                <a:cs typeface="+mn-lt"/>
              </a:rPr>
              <a:t> </a:t>
            </a:r>
            <a:endParaRPr lang="en-US" sz="2400">
              <a:latin typeface="Calibri"/>
              <a:ea typeface="Calibri"/>
              <a:cs typeface="Calibri"/>
            </a:endParaRPr>
          </a:p>
        </p:txBody>
      </p:sp>
      <p:sp>
        <p:nvSpPr>
          <p:cNvPr id="5" name="Title 1">
            <a:extLst>
              <a:ext uri="{FF2B5EF4-FFF2-40B4-BE49-F238E27FC236}">
                <a16:creationId xmlns:a16="http://schemas.microsoft.com/office/drawing/2014/main" id="{7D922CB1-1439-6423-70F9-7D0D609AE49F}"/>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4" name="Picture 3" descr="A diagram of a computer system&#10;&#10;AI-generated content may be incorrect.">
            <a:extLst>
              <a:ext uri="{FF2B5EF4-FFF2-40B4-BE49-F238E27FC236}">
                <a16:creationId xmlns:a16="http://schemas.microsoft.com/office/drawing/2014/main" id="{F2E64A29-715D-0806-7A07-B841CD696D91}"/>
              </a:ext>
            </a:extLst>
          </p:cNvPr>
          <p:cNvPicPr>
            <a:picLocks noChangeAspect="1"/>
          </p:cNvPicPr>
          <p:nvPr/>
        </p:nvPicPr>
        <p:blipFill>
          <a:blip r:embed="rId2"/>
          <a:stretch>
            <a:fillRect/>
          </a:stretch>
        </p:blipFill>
        <p:spPr>
          <a:xfrm>
            <a:off x="5445333" y="2364892"/>
            <a:ext cx="6315075" cy="4491520"/>
          </a:xfrm>
          <a:prstGeom prst="rect">
            <a:avLst/>
          </a:prstGeom>
        </p:spPr>
      </p:pic>
    </p:spTree>
    <p:extLst>
      <p:ext uri="{BB962C8B-B14F-4D97-AF65-F5344CB8AC3E}">
        <p14:creationId xmlns:p14="http://schemas.microsoft.com/office/powerpoint/2010/main" val="3584949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09A82-B59A-18B3-2EC2-06E977890E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2963F-DD87-E24A-01C0-1A839FE801F0}"/>
              </a:ext>
            </a:extLst>
          </p:cNvPr>
          <p:cNvSpPr>
            <a:spLocks noGrp="1"/>
          </p:cNvSpPr>
          <p:nvPr>
            <p:ph idx="1"/>
          </p:nvPr>
        </p:nvSpPr>
        <p:spPr>
          <a:xfrm>
            <a:off x="7059" y="1019459"/>
            <a:ext cx="11871250" cy="3908315"/>
          </a:xfrm>
        </p:spPr>
        <p:txBody>
          <a:bodyPr vert="horz" lIns="91440" tIns="45720" rIns="91440" bIns="45720" rtlCol="0" anchor="t">
            <a:normAutofit/>
          </a:bodyPr>
          <a:lstStyle/>
          <a:p>
            <a:pPr algn="just"/>
            <a:r>
              <a:rPr lang="en-US" sz="2400" dirty="0">
                <a:latin typeface="Aptos"/>
                <a:ea typeface="+mn-lt"/>
                <a:cs typeface="+mn-lt"/>
              </a:rPr>
              <a:t>This Figure</a:t>
            </a:r>
            <a:r>
              <a:rPr lang="en-US" sz="2400" dirty="0">
                <a:ea typeface="+mn-lt"/>
                <a:cs typeface="+mn-lt"/>
              </a:rPr>
              <a:t> shows  </a:t>
            </a:r>
            <a:r>
              <a:rPr lang="en-US" sz="2400" b="1" dirty="0">
                <a:ea typeface="+mn-lt"/>
                <a:cs typeface="+mn-lt"/>
              </a:rPr>
              <a:t>CLK as a PHY input</a:t>
            </a:r>
            <a:r>
              <a:rPr lang="en-US" sz="2400" dirty="0">
                <a:ea typeface="+mn-lt"/>
                <a:cs typeface="+mn-lt"/>
              </a:rPr>
              <a:t> with a single PLL that provides the source for PCLK as well as for the bit rate clock.</a:t>
            </a:r>
            <a:r>
              <a:rPr lang="en-US" sz="2400" dirty="0">
                <a:latin typeface="Calibri"/>
                <a:ea typeface="+mn-lt"/>
                <a:cs typeface="+mn-lt"/>
              </a:rPr>
              <a:t> </a:t>
            </a:r>
            <a:endParaRPr lang="en-US" sz="2400" dirty="0">
              <a:latin typeface="Calibri"/>
              <a:ea typeface="Calibri"/>
              <a:cs typeface="Calibri"/>
            </a:endParaRPr>
          </a:p>
        </p:txBody>
      </p:sp>
      <p:sp>
        <p:nvSpPr>
          <p:cNvPr id="5" name="Title 1">
            <a:extLst>
              <a:ext uri="{FF2B5EF4-FFF2-40B4-BE49-F238E27FC236}">
                <a16:creationId xmlns:a16="http://schemas.microsoft.com/office/drawing/2014/main" id="{345FBC79-7DDC-220B-168A-EF78DD7334C3}"/>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computer hardware system&#10;&#10;AI-generated content may be incorrect.">
            <a:extLst>
              <a:ext uri="{FF2B5EF4-FFF2-40B4-BE49-F238E27FC236}">
                <a16:creationId xmlns:a16="http://schemas.microsoft.com/office/drawing/2014/main" id="{51E81FBE-4E81-FFE0-CCD2-349493147E4A}"/>
              </a:ext>
            </a:extLst>
          </p:cNvPr>
          <p:cNvPicPr>
            <a:picLocks noChangeAspect="1"/>
          </p:cNvPicPr>
          <p:nvPr/>
        </p:nvPicPr>
        <p:blipFill>
          <a:blip r:embed="rId2"/>
          <a:stretch>
            <a:fillRect/>
          </a:stretch>
        </p:blipFill>
        <p:spPr>
          <a:xfrm>
            <a:off x="5221865" y="1563111"/>
            <a:ext cx="6955270" cy="5301962"/>
          </a:xfrm>
          <a:prstGeom prst="rect">
            <a:avLst/>
          </a:prstGeom>
        </p:spPr>
      </p:pic>
    </p:spTree>
    <p:extLst>
      <p:ext uri="{BB962C8B-B14F-4D97-AF65-F5344CB8AC3E}">
        <p14:creationId xmlns:p14="http://schemas.microsoft.com/office/powerpoint/2010/main" val="1883057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55924-F96F-F0EC-230A-E8B30E197D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8661B-8AEF-B5C1-B7CF-1F370EF8E3D6}"/>
              </a:ext>
            </a:extLst>
          </p:cNvPr>
          <p:cNvSpPr>
            <a:spLocks noGrp="1"/>
          </p:cNvSpPr>
          <p:nvPr>
            <p:ph idx="1"/>
          </p:nvPr>
        </p:nvSpPr>
        <p:spPr>
          <a:xfrm>
            <a:off x="-3984" y="1019459"/>
            <a:ext cx="12147336" cy="5564836"/>
          </a:xfrm>
        </p:spPr>
        <p:txBody>
          <a:bodyPr vert="horz" lIns="91440" tIns="45720" rIns="91440" bIns="45720" rtlCol="0" anchor="t">
            <a:normAutofit/>
          </a:bodyPr>
          <a:lstStyle/>
          <a:p>
            <a:pPr algn="just"/>
            <a:r>
              <a:rPr lang="en-US" b="1" err="1">
                <a:latin typeface="Calibri"/>
                <a:ea typeface="+mn-lt"/>
                <a:cs typeface="+mn-lt"/>
              </a:rPr>
              <a:t>MacCLK</a:t>
            </a:r>
            <a:r>
              <a:rPr lang="en-US" b="1" dirty="0">
                <a:latin typeface="Calibri"/>
                <a:ea typeface="+mn-lt"/>
                <a:cs typeface="+mn-lt"/>
              </a:rPr>
              <a:t> Clocking Scheme :</a:t>
            </a:r>
          </a:p>
          <a:p>
            <a:pPr lvl="1" algn="just">
              <a:buFont typeface="Courier New" panose="020B0604020202020204" pitchFamily="34" charset="0"/>
              <a:buChar char="o"/>
            </a:pPr>
            <a:r>
              <a:rPr lang="en-US" dirty="0">
                <a:latin typeface="Calibri"/>
                <a:ea typeface="+mn-lt"/>
                <a:cs typeface="+mn-lt"/>
              </a:rPr>
              <a:t>The </a:t>
            </a:r>
            <a:r>
              <a:rPr lang="en-US" err="1">
                <a:latin typeface="Calibri"/>
                <a:ea typeface="+mn-lt"/>
                <a:cs typeface="+mn-lt"/>
              </a:rPr>
              <a:t>MacCLK</a:t>
            </a:r>
            <a:r>
              <a:rPr lang="en-US" dirty="0">
                <a:latin typeface="Calibri"/>
                <a:ea typeface="+mn-lt"/>
                <a:cs typeface="+mn-lt"/>
              </a:rPr>
              <a:t> is an optional clock that is independent of data lanes. </a:t>
            </a:r>
            <a:endParaRPr lang="en-US" b="1">
              <a:latin typeface="Calibri"/>
              <a:ea typeface="Calibri"/>
              <a:cs typeface="Calibri"/>
            </a:endParaRPr>
          </a:p>
          <a:p>
            <a:pPr lvl="1" algn="just">
              <a:buFont typeface="Courier New" panose="020B0604020202020204" pitchFamily="34" charset="0"/>
              <a:buChar char="o"/>
            </a:pPr>
            <a:r>
              <a:rPr lang="en-US" err="1">
                <a:latin typeface="Calibri"/>
                <a:ea typeface="+mn-lt"/>
                <a:cs typeface="+mn-lt"/>
              </a:rPr>
              <a:t>MacCLK</a:t>
            </a:r>
            <a:r>
              <a:rPr lang="en-US" dirty="0">
                <a:latin typeface="Calibri"/>
                <a:ea typeface="+mn-lt"/>
                <a:cs typeface="+mn-lt"/>
              </a:rPr>
              <a:t> frequency is controlled via a </a:t>
            </a:r>
            <a:r>
              <a:rPr lang="en-US" err="1">
                <a:latin typeface="Calibri"/>
                <a:ea typeface="+mn-lt"/>
                <a:cs typeface="+mn-lt"/>
              </a:rPr>
              <a:t>MacCLK</a:t>
            </a:r>
            <a:r>
              <a:rPr lang="en-US" dirty="0">
                <a:latin typeface="Calibri"/>
                <a:ea typeface="+mn-lt"/>
                <a:cs typeface="+mn-lt"/>
              </a:rPr>
              <a:t> lane.</a:t>
            </a:r>
          </a:p>
          <a:p>
            <a:pPr lvl="1" algn="just">
              <a:buFont typeface="Courier New" panose="020B0604020202020204" pitchFamily="34" charset="0"/>
              <a:buChar char="o"/>
            </a:pPr>
            <a:r>
              <a:rPr lang="en-US" dirty="0">
                <a:latin typeface="Calibri"/>
                <a:ea typeface="+mn-lt"/>
                <a:cs typeface="+mn-lt"/>
              </a:rPr>
              <a:t>Each </a:t>
            </a:r>
            <a:r>
              <a:rPr lang="en-US" err="1">
                <a:latin typeface="Calibri"/>
                <a:ea typeface="+mn-lt"/>
                <a:cs typeface="+mn-lt"/>
              </a:rPr>
              <a:t>MacCLK</a:t>
            </a:r>
            <a:r>
              <a:rPr lang="en-US" dirty="0">
                <a:latin typeface="Calibri"/>
                <a:ea typeface="+mn-lt"/>
                <a:cs typeface="+mn-lt"/>
              </a:rPr>
              <a:t> lane consists of the following signals: </a:t>
            </a:r>
            <a:endParaRPr lang="en-US">
              <a:latin typeface="Calibri"/>
              <a:ea typeface="Calibri"/>
              <a:cs typeface="Calibri"/>
            </a:endParaRPr>
          </a:p>
          <a:p>
            <a:pPr lvl="1" algn="just">
              <a:buFont typeface="Courier New" panose="020B0604020202020204" pitchFamily="34" charset="0"/>
              <a:buChar char="o"/>
            </a:pPr>
            <a:r>
              <a:rPr lang="en-US" err="1">
                <a:latin typeface="Calibri"/>
                <a:ea typeface="+mn-lt"/>
                <a:cs typeface="+mn-lt"/>
              </a:rPr>
              <a:t>MacCLKReset</a:t>
            </a:r>
            <a:r>
              <a:rPr lang="en-US" dirty="0">
                <a:latin typeface="Calibri"/>
                <a:ea typeface="+mn-lt"/>
                <a:cs typeface="+mn-lt"/>
              </a:rPr>
              <a:t>#,</a:t>
            </a:r>
            <a:endParaRPr lang="en-US" dirty="0">
              <a:latin typeface="Calibri"/>
              <a:ea typeface="Calibri"/>
              <a:cs typeface="Calibri"/>
            </a:endParaRPr>
          </a:p>
          <a:p>
            <a:pPr lvl="1" algn="just">
              <a:buFont typeface="Courier New" panose="020B0604020202020204" pitchFamily="34" charset="0"/>
              <a:buChar char="o"/>
            </a:pPr>
            <a:r>
              <a:rPr lang="en-US" err="1">
                <a:latin typeface="Calibri"/>
                <a:ea typeface="+mn-lt"/>
                <a:cs typeface="+mn-lt"/>
              </a:rPr>
              <a:t>MacCLK</a:t>
            </a:r>
            <a:r>
              <a:rPr lang="en-US" dirty="0">
                <a:latin typeface="Calibri"/>
                <a:ea typeface="+mn-lt"/>
                <a:cs typeface="+mn-lt"/>
              </a:rPr>
              <a:t>, </a:t>
            </a:r>
            <a:endParaRPr lang="en-US">
              <a:latin typeface="Calibri"/>
              <a:ea typeface="Calibri"/>
              <a:cs typeface="Calibri"/>
            </a:endParaRPr>
          </a:p>
          <a:p>
            <a:pPr lvl="1" algn="just">
              <a:buFont typeface="Courier New" panose="020B0604020202020204" pitchFamily="34" charset="0"/>
              <a:buChar char="o"/>
            </a:pPr>
            <a:r>
              <a:rPr lang="en-US" dirty="0" err="1">
                <a:latin typeface="Calibri"/>
                <a:ea typeface="+mn-lt"/>
                <a:cs typeface="+mn-lt"/>
              </a:rPr>
              <a:t>MacCLKReq</a:t>
            </a:r>
            <a:r>
              <a:rPr lang="en-US" dirty="0">
                <a:latin typeface="Calibri"/>
                <a:ea typeface="+mn-lt"/>
                <a:cs typeface="+mn-lt"/>
              </a:rPr>
              <a:t>, </a:t>
            </a:r>
            <a:endParaRPr lang="en-US" dirty="0">
              <a:latin typeface="Calibri"/>
              <a:ea typeface="Calibri"/>
              <a:cs typeface="Calibri"/>
            </a:endParaRPr>
          </a:p>
          <a:p>
            <a:pPr lvl="1" algn="just">
              <a:buFont typeface="Courier New" panose="020B0604020202020204" pitchFamily="34" charset="0"/>
              <a:buChar char="o"/>
            </a:pPr>
            <a:r>
              <a:rPr lang="en-US" dirty="0" err="1">
                <a:latin typeface="Calibri"/>
                <a:ea typeface="+mn-lt"/>
                <a:cs typeface="+mn-lt"/>
              </a:rPr>
              <a:t>MacCLKSSCEnable</a:t>
            </a:r>
            <a:r>
              <a:rPr lang="en-US" dirty="0">
                <a:latin typeface="Calibri"/>
                <a:ea typeface="+mn-lt"/>
                <a:cs typeface="+mn-lt"/>
              </a:rPr>
              <a:t>, </a:t>
            </a:r>
            <a:endParaRPr lang="en-US" dirty="0">
              <a:latin typeface="Calibri"/>
              <a:ea typeface="Calibri"/>
              <a:cs typeface="Calibri"/>
            </a:endParaRPr>
          </a:p>
          <a:p>
            <a:pPr lvl="1" algn="just">
              <a:buFont typeface="Courier New" panose="020B0604020202020204" pitchFamily="34" charset="0"/>
              <a:buChar char="o"/>
            </a:pPr>
            <a:r>
              <a:rPr lang="en-US" dirty="0" err="1">
                <a:latin typeface="Calibri"/>
                <a:ea typeface="+mn-lt"/>
                <a:cs typeface="+mn-lt"/>
              </a:rPr>
              <a:t>MacCLKAck</a:t>
            </a:r>
            <a:r>
              <a:rPr lang="en-US" dirty="0">
                <a:latin typeface="Calibri"/>
                <a:ea typeface="+mn-lt"/>
                <a:cs typeface="+mn-lt"/>
              </a:rPr>
              <a:t>, </a:t>
            </a:r>
            <a:endParaRPr lang="en-US" dirty="0">
              <a:latin typeface="Calibri"/>
              <a:ea typeface="Calibri"/>
              <a:cs typeface="Calibri"/>
            </a:endParaRPr>
          </a:p>
          <a:p>
            <a:pPr lvl="1" algn="just">
              <a:buFont typeface="Courier New" panose="020B0604020202020204" pitchFamily="34" charset="0"/>
              <a:buChar char="o"/>
            </a:pPr>
            <a:r>
              <a:rPr lang="en-US" err="1">
                <a:latin typeface="Calibri"/>
                <a:ea typeface="+mn-lt"/>
                <a:cs typeface="+mn-lt"/>
              </a:rPr>
              <a:t>MacCLKPHYMode</a:t>
            </a:r>
            <a:r>
              <a:rPr lang="en-US" dirty="0">
                <a:latin typeface="Calibri"/>
                <a:ea typeface="+mn-lt"/>
                <a:cs typeface="+mn-lt"/>
              </a:rPr>
              <a:t>, </a:t>
            </a:r>
            <a:endParaRPr lang="en-US">
              <a:latin typeface="Calibri"/>
              <a:ea typeface="Calibri"/>
              <a:cs typeface="Calibri"/>
            </a:endParaRPr>
          </a:p>
          <a:p>
            <a:pPr lvl="1" algn="just">
              <a:buFont typeface="Courier New" panose="020B0604020202020204" pitchFamily="34" charset="0"/>
              <a:buChar char="o"/>
            </a:pPr>
            <a:r>
              <a:rPr lang="en-US" err="1">
                <a:latin typeface="Calibri"/>
                <a:ea typeface="+mn-lt"/>
                <a:cs typeface="+mn-lt"/>
              </a:rPr>
              <a:t>MacCLKRate</a:t>
            </a:r>
            <a:r>
              <a:rPr lang="en-US" dirty="0">
                <a:latin typeface="Calibri"/>
                <a:ea typeface="+mn-lt"/>
                <a:cs typeface="+mn-lt"/>
              </a:rPr>
              <a:t>.</a:t>
            </a:r>
            <a:endParaRPr lang="en-US" dirty="0">
              <a:latin typeface="Calibri"/>
              <a:ea typeface="Calibri"/>
              <a:cs typeface="Calibri"/>
            </a:endParaRPr>
          </a:p>
        </p:txBody>
      </p:sp>
      <p:sp>
        <p:nvSpPr>
          <p:cNvPr id="5" name="Title 1">
            <a:extLst>
              <a:ext uri="{FF2B5EF4-FFF2-40B4-BE49-F238E27FC236}">
                <a16:creationId xmlns:a16="http://schemas.microsoft.com/office/drawing/2014/main" id="{544E5C69-D648-9FEC-42F1-866FF781F3C6}"/>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3253073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8419-51F1-56EC-586E-2FA8263495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B743A8-746D-C632-99BB-8A3755C1CA84}"/>
              </a:ext>
            </a:extLst>
          </p:cNvPr>
          <p:cNvSpPr>
            <a:spLocks noGrp="1"/>
          </p:cNvSpPr>
          <p:nvPr>
            <p:ph idx="1"/>
          </p:nvPr>
        </p:nvSpPr>
        <p:spPr>
          <a:xfrm>
            <a:off x="-3984" y="1019459"/>
            <a:ext cx="12147336" cy="5564836"/>
          </a:xfrm>
        </p:spPr>
        <p:txBody>
          <a:bodyPr vert="horz" lIns="91440" tIns="45720" rIns="91440" bIns="45720" rtlCol="0" anchor="t">
            <a:normAutofit/>
          </a:bodyPr>
          <a:lstStyle/>
          <a:p>
            <a:pPr algn="just"/>
            <a:r>
              <a:rPr lang="en-US" b="1" dirty="0" err="1">
                <a:latin typeface="Calibri"/>
                <a:ea typeface="+mn-lt"/>
                <a:cs typeface="+mn-lt"/>
              </a:rPr>
              <a:t>MacCLK</a:t>
            </a:r>
            <a:r>
              <a:rPr lang="en-US" b="1" dirty="0">
                <a:latin typeface="Calibri"/>
                <a:ea typeface="+mn-lt"/>
                <a:cs typeface="+mn-lt"/>
              </a:rPr>
              <a:t> Lane :</a:t>
            </a:r>
          </a:p>
          <a:p>
            <a:pPr lvl="1" algn="just">
              <a:buFont typeface="Courier New" panose="020B0604020202020204" pitchFamily="34" charset="0"/>
              <a:buChar char="o"/>
            </a:pPr>
            <a:endParaRPr lang="en-US" dirty="0">
              <a:latin typeface="Aptos"/>
              <a:ea typeface="Calibri"/>
              <a:cs typeface="Calibri"/>
            </a:endParaRPr>
          </a:p>
        </p:txBody>
      </p:sp>
      <p:sp>
        <p:nvSpPr>
          <p:cNvPr id="5" name="Title 1">
            <a:extLst>
              <a:ext uri="{FF2B5EF4-FFF2-40B4-BE49-F238E27FC236}">
                <a16:creationId xmlns:a16="http://schemas.microsoft.com/office/drawing/2014/main" id="{FD626EE8-6F6E-F5C9-3780-3996CB3668F7}"/>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computer system">
            <a:extLst>
              <a:ext uri="{FF2B5EF4-FFF2-40B4-BE49-F238E27FC236}">
                <a16:creationId xmlns:a16="http://schemas.microsoft.com/office/drawing/2014/main" id="{9BD2CC2D-0CAA-B615-4B52-B4EE2123A290}"/>
              </a:ext>
            </a:extLst>
          </p:cNvPr>
          <p:cNvPicPr>
            <a:picLocks noChangeAspect="1"/>
          </p:cNvPicPr>
          <p:nvPr/>
        </p:nvPicPr>
        <p:blipFill>
          <a:blip r:embed="rId2"/>
          <a:stretch>
            <a:fillRect/>
          </a:stretch>
        </p:blipFill>
        <p:spPr>
          <a:xfrm>
            <a:off x="1529867" y="1546156"/>
            <a:ext cx="10302875" cy="4769138"/>
          </a:xfrm>
          <a:prstGeom prst="rect">
            <a:avLst/>
          </a:prstGeom>
        </p:spPr>
      </p:pic>
    </p:spTree>
    <p:extLst>
      <p:ext uri="{BB962C8B-B14F-4D97-AF65-F5344CB8AC3E}">
        <p14:creationId xmlns:p14="http://schemas.microsoft.com/office/powerpoint/2010/main" val="2527648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F02A-3FE4-483A-2AF0-78DBF0B62A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EFC30C-4A60-9E71-C9D9-D73C73381B47}"/>
              </a:ext>
            </a:extLst>
          </p:cNvPr>
          <p:cNvSpPr>
            <a:spLocks noGrp="1"/>
          </p:cNvSpPr>
          <p:nvPr>
            <p:ph idx="1"/>
          </p:nvPr>
        </p:nvSpPr>
        <p:spPr>
          <a:xfrm>
            <a:off x="-3984" y="1019459"/>
            <a:ext cx="12173917" cy="5804068"/>
          </a:xfrm>
        </p:spPr>
        <p:txBody>
          <a:bodyPr vert="horz" lIns="91440" tIns="45720" rIns="91440" bIns="45720" rtlCol="0" anchor="t">
            <a:normAutofit/>
          </a:bodyPr>
          <a:lstStyle/>
          <a:p>
            <a:pPr algn="just"/>
            <a:r>
              <a:rPr lang="en-US" sz="2400" dirty="0">
                <a:latin typeface="Calibri"/>
                <a:ea typeface="+mn-lt"/>
                <a:cs typeface="+mn-lt"/>
              </a:rPr>
              <a:t>The following rules apply to each </a:t>
            </a:r>
            <a:r>
              <a:rPr lang="en-US" sz="2400" err="1">
                <a:latin typeface="Calibri"/>
                <a:ea typeface="+mn-lt"/>
                <a:cs typeface="+mn-lt"/>
              </a:rPr>
              <a:t>MacCLK</a:t>
            </a:r>
            <a:r>
              <a:rPr lang="en-US" sz="2400" dirty="0">
                <a:latin typeface="Calibri"/>
                <a:ea typeface="+mn-lt"/>
                <a:cs typeface="+mn-lt"/>
              </a:rPr>
              <a:t> lane: </a:t>
            </a:r>
          </a:p>
          <a:p>
            <a:pPr lvl="1" algn="just">
              <a:lnSpc>
                <a:spcPct val="100000"/>
              </a:lnSpc>
              <a:buFont typeface="Courier New" panose="020B0604020202020204" pitchFamily="34" charset="0"/>
              <a:buChar char="o"/>
            </a:pPr>
            <a:r>
              <a:rPr lang="en-US" err="1">
                <a:latin typeface="Calibri"/>
                <a:ea typeface="+mn-lt"/>
                <a:cs typeface="+mn-lt"/>
              </a:rPr>
              <a:t>MacCLKPHYMode</a:t>
            </a:r>
            <a:r>
              <a:rPr lang="en-US" dirty="0">
                <a:latin typeface="Calibri"/>
                <a:ea typeface="+mn-lt"/>
                <a:cs typeface="+mn-lt"/>
              </a:rPr>
              <a:t>, </a:t>
            </a:r>
            <a:r>
              <a:rPr lang="en-US" err="1">
                <a:latin typeface="Calibri"/>
                <a:ea typeface="+mn-lt"/>
                <a:cs typeface="+mn-lt"/>
              </a:rPr>
              <a:t>MacCLKRate</a:t>
            </a:r>
            <a:r>
              <a:rPr lang="en-US" dirty="0">
                <a:latin typeface="Calibri"/>
                <a:ea typeface="+mn-lt"/>
                <a:cs typeface="+mn-lt"/>
              </a:rPr>
              <a:t>, </a:t>
            </a:r>
            <a:r>
              <a:rPr lang="en-US" err="1">
                <a:latin typeface="Calibri"/>
                <a:ea typeface="+mn-lt"/>
                <a:cs typeface="+mn-lt"/>
              </a:rPr>
              <a:t>MacCLKSSCEnable</a:t>
            </a:r>
            <a:r>
              <a:rPr lang="en-US" dirty="0">
                <a:latin typeface="Calibri"/>
                <a:ea typeface="+mn-lt"/>
                <a:cs typeface="+mn-lt"/>
              </a:rPr>
              <a:t>, </a:t>
            </a:r>
            <a:r>
              <a:rPr lang="en-US" err="1">
                <a:latin typeface="Calibri"/>
                <a:ea typeface="+mn-lt"/>
                <a:cs typeface="+mn-lt"/>
              </a:rPr>
              <a:t>MacCLKReq</a:t>
            </a:r>
            <a:r>
              <a:rPr lang="en-US" dirty="0">
                <a:latin typeface="Calibri"/>
                <a:ea typeface="+mn-lt"/>
                <a:cs typeface="+mn-lt"/>
              </a:rPr>
              <a:t>, </a:t>
            </a:r>
            <a:r>
              <a:rPr lang="en-US" err="1">
                <a:latin typeface="Calibri"/>
                <a:ea typeface="+mn-lt"/>
                <a:cs typeface="+mn-lt"/>
              </a:rPr>
              <a:t>MacCLKAck</a:t>
            </a:r>
            <a:r>
              <a:rPr lang="en-US" dirty="0">
                <a:latin typeface="Calibri"/>
                <a:ea typeface="+mn-lt"/>
                <a:cs typeface="+mn-lt"/>
              </a:rPr>
              <a:t> must be at a valid value at </a:t>
            </a:r>
            <a:r>
              <a:rPr lang="en-US" err="1">
                <a:latin typeface="Calibri"/>
                <a:ea typeface="+mn-lt"/>
                <a:cs typeface="+mn-lt"/>
              </a:rPr>
              <a:t>MacCLKReset</a:t>
            </a:r>
            <a:r>
              <a:rPr lang="en-US" dirty="0">
                <a:latin typeface="Calibri"/>
                <a:ea typeface="+mn-lt"/>
                <a:cs typeface="+mn-lt"/>
              </a:rPr>
              <a:t># </a:t>
            </a:r>
            <a:r>
              <a:rPr lang="en-US" err="1">
                <a:latin typeface="Calibri"/>
                <a:ea typeface="+mn-lt"/>
                <a:cs typeface="+mn-lt"/>
              </a:rPr>
              <a:t>deassertion</a:t>
            </a:r>
            <a:r>
              <a:rPr lang="en-US" dirty="0">
                <a:latin typeface="Calibri"/>
                <a:ea typeface="+mn-lt"/>
                <a:cs typeface="+mn-lt"/>
              </a:rPr>
              <a:t>.</a:t>
            </a:r>
          </a:p>
          <a:p>
            <a:pPr lvl="1" algn="just">
              <a:lnSpc>
                <a:spcPct val="150000"/>
              </a:lnSpc>
              <a:buFont typeface="Courier New" panose="020B0604020202020204" pitchFamily="34" charset="0"/>
              <a:buChar char="o"/>
            </a:pPr>
            <a:r>
              <a:rPr lang="en-US" dirty="0">
                <a:latin typeface="Calibri"/>
                <a:ea typeface="+mn-lt"/>
                <a:cs typeface="+mn-lt"/>
              </a:rPr>
              <a:t> </a:t>
            </a:r>
            <a:r>
              <a:rPr lang="en-US" err="1">
                <a:latin typeface="Calibri"/>
                <a:ea typeface="+mn-lt"/>
                <a:cs typeface="+mn-lt"/>
              </a:rPr>
              <a:t>MacCLKPHYMode</a:t>
            </a:r>
            <a:r>
              <a:rPr lang="en-US" dirty="0">
                <a:latin typeface="Calibri"/>
                <a:ea typeface="+mn-lt"/>
                <a:cs typeface="+mn-lt"/>
              </a:rPr>
              <a:t> must not change after </a:t>
            </a:r>
            <a:r>
              <a:rPr lang="en-US" err="1">
                <a:latin typeface="Calibri"/>
                <a:ea typeface="+mn-lt"/>
                <a:cs typeface="+mn-lt"/>
              </a:rPr>
              <a:t>MacCLKReset</a:t>
            </a:r>
            <a:r>
              <a:rPr lang="en-US" dirty="0">
                <a:latin typeface="Calibri"/>
                <a:ea typeface="+mn-lt"/>
                <a:cs typeface="+mn-lt"/>
              </a:rPr>
              <a:t># </a:t>
            </a:r>
            <a:r>
              <a:rPr lang="en-US" err="1">
                <a:latin typeface="Calibri"/>
                <a:ea typeface="+mn-lt"/>
                <a:cs typeface="+mn-lt"/>
              </a:rPr>
              <a:t>deassertion</a:t>
            </a:r>
            <a:r>
              <a:rPr lang="en-US" dirty="0">
                <a:latin typeface="Calibri"/>
                <a:ea typeface="+mn-lt"/>
                <a:cs typeface="+mn-lt"/>
              </a:rPr>
              <a:t>. </a:t>
            </a:r>
          </a:p>
          <a:p>
            <a:pPr lvl="1" algn="just">
              <a:lnSpc>
                <a:spcPct val="150000"/>
              </a:lnSpc>
              <a:buFont typeface="Courier New" panose="020B0604020202020204" pitchFamily="34" charset="0"/>
              <a:buChar char="o"/>
            </a:pPr>
            <a:r>
              <a:rPr lang="en-US" dirty="0">
                <a:latin typeface="Calibri"/>
                <a:ea typeface="+mn-lt"/>
                <a:cs typeface="+mn-lt"/>
              </a:rPr>
              <a:t>Once </a:t>
            </a:r>
            <a:r>
              <a:rPr lang="en-US" err="1">
                <a:latin typeface="Calibri"/>
                <a:ea typeface="+mn-lt"/>
                <a:cs typeface="+mn-lt"/>
              </a:rPr>
              <a:t>MacCLK</a:t>
            </a:r>
            <a:r>
              <a:rPr lang="en-US" dirty="0">
                <a:latin typeface="Calibri"/>
                <a:ea typeface="+mn-lt"/>
                <a:cs typeface="+mn-lt"/>
              </a:rPr>
              <a:t> is running, it must remain stable until </a:t>
            </a:r>
            <a:r>
              <a:rPr lang="en-US" err="1">
                <a:latin typeface="Calibri"/>
                <a:ea typeface="+mn-lt"/>
                <a:cs typeface="+mn-lt"/>
              </a:rPr>
              <a:t>MacCLKReq</a:t>
            </a:r>
            <a:r>
              <a:rPr lang="en-US" dirty="0">
                <a:latin typeface="Calibri"/>
                <a:ea typeface="+mn-lt"/>
                <a:cs typeface="+mn-lt"/>
              </a:rPr>
              <a:t> is </a:t>
            </a:r>
            <a:r>
              <a:rPr lang="en-US" err="1">
                <a:latin typeface="Calibri"/>
                <a:ea typeface="+mn-lt"/>
                <a:cs typeface="+mn-lt"/>
              </a:rPr>
              <a:t>deasserted</a:t>
            </a:r>
            <a:r>
              <a:rPr lang="en-US" dirty="0">
                <a:latin typeface="Calibri"/>
                <a:ea typeface="+mn-lt"/>
                <a:cs typeface="+mn-lt"/>
              </a:rPr>
              <a:t>.</a:t>
            </a:r>
          </a:p>
          <a:p>
            <a:pPr lvl="1" algn="just">
              <a:lnSpc>
                <a:spcPct val="150000"/>
              </a:lnSpc>
              <a:buFont typeface="Courier New" panose="020B0604020202020204" pitchFamily="34" charset="0"/>
              <a:buChar char="o"/>
            </a:pPr>
            <a:r>
              <a:rPr lang="en-US" dirty="0">
                <a:latin typeface="Calibri"/>
                <a:ea typeface="+mn-lt"/>
                <a:cs typeface="+mn-lt"/>
              </a:rPr>
              <a:t>Signals that affect </a:t>
            </a:r>
            <a:r>
              <a:rPr lang="en-US" err="1">
                <a:latin typeface="Calibri"/>
                <a:ea typeface="+mn-lt"/>
                <a:cs typeface="+mn-lt"/>
              </a:rPr>
              <a:t>MacCLK</a:t>
            </a:r>
            <a:r>
              <a:rPr lang="en-US" dirty="0">
                <a:latin typeface="Calibri"/>
                <a:ea typeface="+mn-lt"/>
                <a:cs typeface="+mn-lt"/>
              </a:rPr>
              <a:t> frequency are sampled only on the rising edge of </a:t>
            </a:r>
            <a:r>
              <a:rPr lang="en-US" err="1">
                <a:latin typeface="Calibri"/>
                <a:ea typeface="+mn-lt"/>
                <a:cs typeface="+mn-lt"/>
              </a:rPr>
              <a:t>MacCLKReq</a:t>
            </a:r>
            <a:r>
              <a:rPr lang="en-US" dirty="0">
                <a:latin typeface="Calibri"/>
                <a:ea typeface="+mn-lt"/>
                <a:cs typeface="+mn-lt"/>
              </a:rPr>
              <a:t>. </a:t>
            </a:r>
            <a:endParaRPr lang="en-US">
              <a:latin typeface="Calibri"/>
              <a:ea typeface="Calibri"/>
              <a:cs typeface="Calibri"/>
            </a:endParaRPr>
          </a:p>
          <a:p>
            <a:pPr lvl="1" algn="just">
              <a:lnSpc>
                <a:spcPct val="150000"/>
              </a:lnSpc>
              <a:buFont typeface="Courier New" panose="020B0604020202020204" pitchFamily="34" charset="0"/>
              <a:buChar char="o"/>
            </a:pPr>
            <a:r>
              <a:rPr lang="en-US" err="1">
                <a:latin typeface="Calibri"/>
                <a:ea typeface="+mn-lt"/>
                <a:cs typeface="+mn-lt"/>
              </a:rPr>
              <a:t>MacCLKRate</a:t>
            </a:r>
            <a:r>
              <a:rPr lang="en-US" dirty="0">
                <a:latin typeface="Calibri"/>
                <a:ea typeface="+mn-lt"/>
                <a:cs typeface="+mn-lt"/>
              </a:rPr>
              <a:t> is permitted to change only when </a:t>
            </a:r>
            <a:r>
              <a:rPr lang="en-US" err="1">
                <a:latin typeface="Calibri"/>
                <a:ea typeface="+mn-lt"/>
                <a:cs typeface="+mn-lt"/>
              </a:rPr>
              <a:t>MacCLKReq</a:t>
            </a:r>
            <a:r>
              <a:rPr lang="en-US" dirty="0">
                <a:latin typeface="Calibri"/>
                <a:ea typeface="+mn-lt"/>
                <a:cs typeface="+mn-lt"/>
              </a:rPr>
              <a:t> and </a:t>
            </a:r>
            <a:r>
              <a:rPr lang="en-US" err="1">
                <a:latin typeface="Calibri"/>
                <a:ea typeface="+mn-lt"/>
                <a:cs typeface="+mn-lt"/>
              </a:rPr>
              <a:t>MacCLKAck</a:t>
            </a:r>
            <a:r>
              <a:rPr lang="en-US" dirty="0">
                <a:latin typeface="Calibri"/>
                <a:ea typeface="+mn-lt"/>
                <a:cs typeface="+mn-lt"/>
              </a:rPr>
              <a:t> are </a:t>
            </a:r>
            <a:r>
              <a:rPr lang="en-US" err="1">
                <a:latin typeface="Calibri"/>
                <a:ea typeface="+mn-lt"/>
                <a:cs typeface="+mn-lt"/>
              </a:rPr>
              <a:t>deasserted</a:t>
            </a:r>
            <a:r>
              <a:rPr lang="en-US" dirty="0">
                <a:latin typeface="Calibri"/>
                <a:ea typeface="+mn-lt"/>
                <a:cs typeface="+mn-lt"/>
              </a:rPr>
              <a:t>.</a:t>
            </a:r>
          </a:p>
          <a:p>
            <a:pPr lvl="1" algn="just">
              <a:buFont typeface="Courier New" panose="020B0604020202020204" pitchFamily="34" charset="0"/>
              <a:buChar char="o"/>
            </a:pPr>
            <a:r>
              <a:rPr lang="en-US" dirty="0">
                <a:latin typeface="Calibri"/>
                <a:ea typeface="+mn-lt"/>
                <a:cs typeface="+mn-lt"/>
              </a:rPr>
              <a:t>MACCLKSSCEnable is permitted to be dynamically asserted or </a:t>
            </a:r>
            <a:r>
              <a:rPr lang="en-US" dirty="0" err="1">
                <a:latin typeface="Calibri"/>
                <a:ea typeface="+mn-lt"/>
                <a:cs typeface="+mn-lt"/>
              </a:rPr>
              <a:t>deasserted</a:t>
            </a:r>
            <a:r>
              <a:rPr lang="en-US" dirty="0">
                <a:latin typeface="Calibri"/>
                <a:ea typeface="+mn-lt"/>
                <a:cs typeface="+mn-lt"/>
              </a:rPr>
              <a:t> while </a:t>
            </a:r>
            <a:r>
              <a:rPr lang="en-US" dirty="0" err="1">
                <a:latin typeface="Calibri"/>
                <a:ea typeface="+mn-lt"/>
                <a:cs typeface="+mn-lt"/>
              </a:rPr>
              <a:t>MacCLK</a:t>
            </a:r>
            <a:r>
              <a:rPr lang="en-US" dirty="0">
                <a:latin typeface="Calibri"/>
                <a:ea typeface="+mn-lt"/>
                <a:cs typeface="+mn-lt"/>
              </a:rPr>
              <a:t> is running. The PHY specifies the maximum time it takes to complete a SSC enable or disable via the </a:t>
            </a:r>
            <a:r>
              <a:rPr lang="en-US" dirty="0" err="1">
                <a:latin typeface="Calibri"/>
                <a:ea typeface="+mn-lt"/>
                <a:cs typeface="+mn-lt"/>
              </a:rPr>
              <a:t>MaxSSCEnableDisableTime</a:t>
            </a:r>
            <a:r>
              <a:rPr lang="en-US" dirty="0">
                <a:latin typeface="Calibri"/>
                <a:ea typeface="+mn-lt"/>
                <a:cs typeface="+mn-lt"/>
              </a:rPr>
              <a:t> parameter. </a:t>
            </a:r>
          </a:p>
          <a:p>
            <a:pPr lvl="1" algn="just">
              <a:buFont typeface="Courier New" panose="020B0604020202020204" pitchFamily="34" charset="0"/>
              <a:buChar char="o"/>
            </a:pPr>
            <a:r>
              <a:rPr lang="en-US" err="1">
                <a:latin typeface="Calibri"/>
                <a:ea typeface="+mn-lt"/>
                <a:cs typeface="+mn-lt"/>
              </a:rPr>
              <a:t>MacCLKRate</a:t>
            </a:r>
            <a:r>
              <a:rPr lang="en-US" dirty="0">
                <a:latin typeface="Calibri"/>
                <a:ea typeface="+mn-lt"/>
                <a:cs typeface="+mn-lt"/>
              </a:rPr>
              <a:t> defines an override encoding that indicates that a vendor specific mechanism of specifying </a:t>
            </a:r>
            <a:r>
              <a:rPr lang="en-US" err="1">
                <a:latin typeface="Calibri"/>
                <a:ea typeface="+mn-lt"/>
                <a:cs typeface="+mn-lt"/>
              </a:rPr>
              <a:t>MacCLK</a:t>
            </a:r>
            <a:r>
              <a:rPr lang="en-US" dirty="0">
                <a:latin typeface="Calibri"/>
                <a:ea typeface="+mn-lt"/>
                <a:cs typeface="+mn-lt"/>
              </a:rPr>
              <a:t> frequency is used.</a:t>
            </a:r>
            <a:endParaRPr lang="en-US">
              <a:latin typeface="Calibri"/>
              <a:ea typeface="Calibri"/>
              <a:cs typeface="Calibri"/>
            </a:endParaRPr>
          </a:p>
        </p:txBody>
      </p:sp>
      <p:sp>
        <p:nvSpPr>
          <p:cNvPr id="5" name="Title 1">
            <a:extLst>
              <a:ext uri="{FF2B5EF4-FFF2-40B4-BE49-F238E27FC236}">
                <a16:creationId xmlns:a16="http://schemas.microsoft.com/office/drawing/2014/main" id="{8A16E2EC-7236-0261-7E8C-FDCB10380F82}"/>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0319309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27A11-824E-8475-3D6B-F51E51F0F6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656229-7436-0996-1A5B-B1AA7D432A03}"/>
              </a:ext>
            </a:extLst>
          </p:cNvPr>
          <p:cNvSpPr>
            <a:spLocks noGrp="1"/>
          </p:cNvSpPr>
          <p:nvPr>
            <p:ph idx="1"/>
          </p:nvPr>
        </p:nvSpPr>
        <p:spPr>
          <a:xfrm>
            <a:off x="-3984" y="1019459"/>
            <a:ext cx="12173917" cy="5804068"/>
          </a:xfrm>
        </p:spPr>
        <p:txBody>
          <a:bodyPr vert="horz" lIns="91440" tIns="45720" rIns="91440" bIns="45720" rtlCol="0" anchor="t">
            <a:normAutofit/>
          </a:bodyPr>
          <a:lstStyle/>
          <a:p>
            <a:pPr algn="just"/>
            <a:r>
              <a:rPr lang="en-US" sz="2400" dirty="0">
                <a:ea typeface="+mn-lt"/>
                <a:cs typeface="+mn-lt"/>
              </a:rPr>
              <a:t>Basic </a:t>
            </a:r>
            <a:r>
              <a:rPr lang="en-US" sz="2400" dirty="0" err="1">
                <a:ea typeface="+mn-lt"/>
                <a:cs typeface="+mn-lt"/>
              </a:rPr>
              <a:t>MacCLK</a:t>
            </a:r>
            <a:r>
              <a:rPr lang="en-US" sz="2400" dirty="0">
                <a:ea typeface="+mn-lt"/>
                <a:cs typeface="+mn-lt"/>
              </a:rPr>
              <a:t> Lane Operation</a:t>
            </a:r>
            <a:endParaRPr lang="en-US" dirty="0"/>
          </a:p>
          <a:p>
            <a:pPr lvl="1" algn="just">
              <a:lnSpc>
                <a:spcPct val="100000"/>
              </a:lnSpc>
              <a:buFont typeface="Courier New" panose="020B0604020202020204" pitchFamily="34" charset="0"/>
              <a:buChar char="o"/>
            </a:pPr>
            <a:r>
              <a:rPr lang="en-US" dirty="0">
                <a:ea typeface="+mn-lt"/>
                <a:cs typeface="+mn-lt"/>
              </a:rPr>
              <a:t>In this example, </a:t>
            </a:r>
            <a:r>
              <a:rPr lang="en-US" dirty="0" err="1">
                <a:ea typeface="+mn-lt"/>
                <a:cs typeface="+mn-lt"/>
              </a:rPr>
              <a:t>MacCLk</a:t>
            </a:r>
            <a:r>
              <a:rPr lang="en-US" dirty="0">
                <a:ea typeface="+mn-lt"/>
                <a:cs typeface="+mn-lt"/>
              </a:rPr>
              <a:t> is requested at an initial rate; subsequently, </a:t>
            </a:r>
          </a:p>
          <a:p>
            <a:pPr marL="457200" lvl="1" indent="0" algn="just">
              <a:lnSpc>
                <a:spcPct val="100000"/>
              </a:lnSpc>
              <a:buNone/>
            </a:pPr>
            <a:r>
              <a:rPr lang="en-US" dirty="0">
                <a:ea typeface="+mn-lt"/>
                <a:cs typeface="+mn-lt"/>
              </a:rPr>
              <a:t>    </a:t>
            </a:r>
            <a:r>
              <a:rPr lang="en-US" dirty="0" err="1">
                <a:ea typeface="+mn-lt"/>
                <a:cs typeface="+mn-lt"/>
              </a:rPr>
              <a:t>MacCLKReq</a:t>
            </a:r>
            <a:r>
              <a:rPr lang="en-US" dirty="0">
                <a:ea typeface="+mn-lt"/>
                <a:cs typeface="+mn-lt"/>
              </a:rPr>
              <a:t> and </a:t>
            </a:r>
            <a:r>
              <a:rPr lang="en-US" dirty="0" err="1">
                <a:ea typeface="+mn-lt"/>
                <a:cs typeface="+mn-lt"/>
              </a:rPr>
              <a:t>MacCLKAck</a:t>
            </a:r>
            <a:r>
              <a:rPr lang="en-US" dirty="0">
                <a:ea typeface="+mn-lt"/>
                <a:cs typeface="+mn-lt"/>
              </a:rPr>
              <a:t> </a:t>
            </a:r>
            <a:r>
              <a:rPr lang="en-US" dirty="0" err="1">
                <a:ea typeface="+mn-lt"/>
                <a:cs typeface="+mn-lt"/>
              </a:rPr>
              <a:t>deassert</a:t>
            </a:r>
            <a:r>
              <a:rPr lang="en-US" dirty="0">
                <a:ea typeface="+mn-lt"/>
                <a:cs typeface="+mn-lt"/>
              </a:rPr>
              <a:t> before a </a:t>
            </a:r>
            <a:r>
              <a:rPr lang="en-US" dirty="0" err="1">
                <a:ea typeface="+mn-lt"/>
                <a:cs typeface="+mn-lt"/>
              </a:rPr>
              <a:t>a</a:t>
            </a:r>
            <a:r>
              <a:rPr lang="en-US" dirty="0">
                <a:ea typeface="+mn-lt"/>
                <a:cs typeface="+mn-lt"/>
              </a:rPr>
              <a:t> new rate is requested.</a:t>
            </a:r>
            <a:endParaRPr lang="en-US"/>
          </a:p>
          <a:p>
            <a:pPr lvl="1" algn="just">
              <a:lnSpc>
                <a:spcPct val="100000"/>
              </a:lnSpc>
              <a:buFont typeface="Courier New" panose="020B0604020202020204" pitchFamily="34" charset="0"/>
              <a:buChar char="o"/>
            </a:pPr>
            <a:endParaRPr lang="en-US" dirty="0">
              <a:ea typeface="+mn-lt"/>
              <a:cs typeface="+mn-lt"/>
            </a:endParaRPr>
          </a:p>
        </p:txBody>
      </p:sp>
      <p:sp>
        <p:nvSpPr>
          <p:cNvPr id="5" name="Title 1">
            <a:extLst>
              <a:ext uri="{FF2B5EF4-FFF2-40B4-BE49-F238E27FC236}">
                <a16:creationId xmlns:a16="http://schemas.microsoft.com/office/drawing/2014/main" id="{35FB00DF-674B-0EB8-BA1C-14B4B60186C9}"/>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graph">
            <a:extLst>
              <a:ext uri="{FF2B5EF4-FFF2-40B4-BE49-F238E27FC236}">
                <a16:creationId xmlns:a16="http://schemas.microsoft.com/office/drawing/2014/main" id="{09E0D058-F465-354E-C867-89F0822C969F}"/>
              </a:ext>
            </a:extLst>
          </p:cNvPr>
          <p:cNvPicPr>
            <a:picLocks noChangeAspect="1"/>
          </p:cNvPicPr>
          <p:nvPr/>
        </p:nvPicPr>
        <p:blipFill>
          <a:blip r:embed="rId2"/>
          <a:stretch>
            <a:fillRect/>
          </a:stretch>
        </p:blipFill>
        <p:spPr>
          <a:xfrm>
            <a:off x="585932" y="2522610"/>
            <a:ext cx="11222181" cy="3104860"/>
          </a:xfrm>
          <a:prstGeom prst="rect">
            <a:avLst/>
          </a:prstGeom>
        </p:spPr>
      </p:pic>
    </p:spTree>
    <p:extLst>
      <p:ext uri="{BB962C8B-B14F-4D97-AF65-F5344CB8AC3E}">
        <p14:creationId xmlns:p14="http://schemas.microsoft.com/office/powerpoint/2010/main" val="4148479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4F1B1-AE5A-8228-B99B-1887890EA7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847150-DED5-9965-FDC8-C48C77B57D94}"/>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ea typeface="+mn-lt"/>
                <a:cs typeface="+mn-lt"/>
              </a:rPr>
              <a:t>Power Management – PCIe Mode </a:t>
            </a:r>
            <a:endParaRPr lang="en-US" b="1" dirty="0"/>
          </a:p>
          <a:p>
            <a:pPr lvl="1" indent="-342900" algn="just">
              <a:lnSpc>
                <a:spcPct val="150000"/>
              </a:lnSpc>
              <a:buFont typeface="Courier New" panose="020B0604020202020204" pitchFamily="34" charset="0"/>
              <a:buChar char="o"/>
            </a:pPr>
            <a:r>
              <a:rPr lang="en-US" dirty="0">
                <a:latin typeface="Calibri"/>
                <a:ea typeface="Calibri"/>
                <a:cs typeface="Calibri"/>
              </a:rPr>
              <a:t>The Power management signals allow the PHY to reduce power consumption.</a:t>
            </a:r>
            <a:endParaRPr lang="en-US" dirty="0">
              <a:latin typeface="Aptos" panose="020B0004020202020204"/>
              <a:ea typeface="Calibri"/>
              <a:cs typeface="Calibri"/>
            </a:endParaRPr>
          </a:p>
          <a:p>
            <a:pPr lvl="1" indent="-342900" algn="just">
              <a:lnSpc>
                <a:spcPct val="110000"/>
              </a:lnSpc>
              <a:buFont typeface="Courier New" panose="020B0604020202020204" pitchFamily="34" charset="0"/>
              <a:buChar char="o"/>
            </a:pPr>
            <a:r>
              <a:rPr lang="en-US" dirty="0">
                <a:latin typeface="Calibri"/>
                <a:ea typeface="Calibri"/>
                <a:cs typeface="Calibri"/>
              </a:rPr>
              <a:t>The PHY must meet all PCIe timing requirements for clock recovery and link training in all power states.</a:t>
            </a:r>
          </a:p>
          <a:p>
            <a:pPr lvl="1" indent="-342900" algn="just">
              <a:lnSpc>
                <a:spcPct val="150000"/>
              </a:lnSpc>
              <a:buFont typeface="Courier New" panose="020B0604020202020204" pitchFamily="34" charset="0"/>
              <a:buChar char="o"/>
            </a:pPr>
            <a:r>
              <a:rPr lang="en-US" dirty="0">
                <a:latin typeface="Calibri"/>
                <a:ea typeface="Calibri"/>
                <a:cs typeface="Calibri"/>
              </a:rPr>
              <a:t>The PHY must satisfy all transmitter and receiver termination requirements.</a:t>
            </a:r>
            <a:endParaRPr lang="en-US" dirty="0">
              <a:ea typeface="+mn-lt"/>
              <a:cs typeface="+mn-lt"/>
            </a:endParaRPr>
          </a:p>
          <a:p>
            <a:pPr lvl="1" indent="-342900" algn="just">
              <a:lnSpc>
                <a:spcPct val="150000"/>
              </a:lnSpc>
              <a:buFont typeface="Courier New" panose="020B0604020202020204" pitchFamily="34" charset="0"/>
              <a:buChar char="o"/>
            </a:pPr>
            <a:r>
              <a:rPr lang="en-US" dirty="0">
                <a:ea typeface="+mn-lt"/>
                <a:cs typeface="+mn-lt"/>
              </a:rPr>
              <a:t>Four standard power states are defined: </a:t>
            </a:r>
            <a:r>
              <a:rPr lang="en-US" b="1" dirty="0">
                <a:ea typeface="+mn-lt"/>
                <a:cs typeface="+mn-lt"/>
              </a:rPr>
              <a:t>P0, P0s, P1, and P2</a:t>
            </a:r>
            <a:endParaRPr lang="en-US" dirty="0">
              <a:ea typeface="+mn-lt"/>
              <a:cs typeface="+mn-lt"/>
            </a:endParaRPr>
          </a:p>
          <a:p>
            <a:pPr lvl="1" indent="-342900" algn="just">
              <a:buFont typeface="Courier New" panose="020B0604020202020204" pitchFamily="34" charset="0"/>
              <a:buChar char="o"/>
            </a:pPr>
            <a:r>
              <a:rPr lang="en-US" b="1" dirty="0">
                <a:ea typeface="+mn-lt"/>
                <a:cs typeface="+mn-lt"/>
              </a:rPr>
              <a:t>P0</a:t>
            </a:r>
            <a:r>
              <a:rPr lang="en-US" dirty="0">
                <a:ea typeface="+mn-lt"/>
                <a:cs typeface="+mn-lt"/>
              </a:rPr>
              <a:t> is the </a:t>
            </a:r>
            <a:r>
              <a:rPr lang="en-US" b="1" dirty="0">
                <a:ea typeface="+mn-lt"/>
                <a:cs typeface="+mn-lt"/>
              </a:rPr>
              <a:t>normal operating state</a:t>
            </a:r>
            <a:r>
              <a:rPr lang="en-US" dirty="0">
                <a:ea typeface="+mn-lt"/>
                <a:cs typeface="+mn-lt"/>
              </a:rPr>
              <a:t> of the PHY</a:t>
            </a:r>
          </a:p>
          <a:p>
            <a:pPr lvl="1" indent="-342900" algn="just">
              <a:buFont typeface="Courier New" panose="020B0604020202020204" pitchFamily="34" charset="0"/>
              <a:buChar char="o"/>
            </a:pPr>
            <a:r>
              <a:rPr lang="en-US" dirty="0">
                <a:ea typeface="+mn-lt"/>
                <a:cs typeface="+mn-lt"/>
              </a:rPr>
              <a:t>When moving from </a:t>
            </a:r>
            <a:r>
              <a:rPr lang="en-US" b="1" dirty="0">
                <a:ea typeface="+mn-lt"/>
                <a:cs typeface="+mn-lt"/>
              </a:rPr>
              <a:t>P0 to a lower power state</a:t>
            </a:r>
            <a:r>
              <a:rPr lang="en-US" dirty="0">
                <a:ea typeface="+mn-lt"/>
                <a:cs typeface="+mn-lt"/>
              </a:rPr>
              <a:t>, the PHY can immediately apply power-saving actions</a:t>
            </a:r>
          </a:p>
          <a:p>
            <a:pPr lvl="1" indent="-342900" algn="just">
              <a:buFont typeface="Courier New" panose="020B0604020202020204" pitchFamily="34" charset="0"/>
              <a:buChar char="o"/>
            </a:pPr>
            <a:r>
              <a:rPr lang="en-US" dirty="0">
                <a:ea typeface="+mn-lt"/>
                <a:cs typeface="+mn-lt"/>
              </a:rPr>
              <a:t>The PHY may support </a:t>
            </a:r>
            <a:r>
              <a:rPr lang="en-US" b="1" dirty="0">
                <a:ea typeface="+mn-lt"/>
                <a:cs typeface="+mn-lt"/>
              </a:rPr>
              <a:t>additional PHY-specific power states</a:t>
            </a:r>
            <a:r>
              <a:rPr lang="en-US" dirty="0">
                <a:ea typeface="+mn-lt"/>
                <a:cs typeface="+mn-lt"/>
              </a:rPr>
              <a:t> (required for </a:t>
            </a:r>
            <a:r>
              <a:rPr lang="en-US" b="1" dirty="0">
                <a:ea typeface="+mn-lt"/>
                <a:cs typeface="+mn-lt"/>
              </a:rPr>
              <a:t>L1 substate support</a:t>
            </a:r>
            <a:r>
              <a:rPr lang="en-US" dirty="0">
                <a:ea typeface="+mn-lt"/>
                <a:cs typeface="+mn-lt"/>
              </a:rPr>
              <a:t>)</a:t>
            </a:r>
          </a:p>
          <a:p>
            <a:pPr lvl="1" indent="-342900" algn="just">
              <a:buFont typeface="Courier New" panose="020B0604020202020204" pitchFamily="34" charset="0"/>
              <a:buChar char="o"/>
            </a:pPr>
            <a:r>
              <a:rPr lang="en-US" dirty="0">
                <a:ea typeface="+mn-lt"/>
                <a:cs typeface="+mn-lt"/>
              </a:rPr>
              <a:t>The MAC can use these PHY-specific states </a:t>
            </a:r>
            <a:r>
              <a:rPr lang="en-US" b="1" dirty="0">
                <a:ea typeface="+mn-lt"/>
                <a:cs typeface="+mn-lt"/>
              </a:rPr>
              <a:t>as long as PCIe specification requirements are met</a:t>
            </a:r>
            <a:endParaRPr lang="en-US"/>
          </a:p>
          <a:p>
            <a:pPr lvl="1" indent="-342900" algn="just">
              <a:buFont typeface="Courier New,monospace" panose="020B0604020202020204" pitchFamily="34" charset="0"/>
              <a:buChar char="o"/>
            </a:pPr>
            <a:endParaRPr lang="en-US" b="1" dirty="0">
              <a:latin typeface="Aptos"/>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mn-lt"/>
              <a:cs typeface="+mn-lt"/>
            </a:endParaRPr>
          </a:p>
          <a:p>
            <a:pPr marL="800100" lvl="1" indent="-342900" algn="just">
              <a:buFont typeface="Courier New" panose="020B0604020202020204" pitchFamily="34" charset="0"/>
              <a:buChar char="o"/>
            </a:pPr>
            <a:endParaRPr lang="en-US" dirty="0">
              <a:latin typeface="Calibri"/>
              <a:ea typeface="+mn-lt"/>
              <a:cs typeface="+mn-lt"/>
            </a:endParaRPr>
          </a:p>
        </p:txBody>
      </p:sp>
      <p:sp>
        <p:nvSpPr>
          <p:cNvPr id="5" name="Title 1">
            <a:extLst>
              <a:ext uri="{FF2B5EF4-FFF2-40B4-BE49-F238E27FC236}">
                <a16:creationId xmlns:a16="http://schemas.microsoft.com/office/drawing/2014/main" id="{6CD866A9-BC0F-0D11-16C7-15D45957F9ED}"/>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906629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1CB28-79D1-9036-92E7-D4206CBC27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F5648-4E74-A712-A5BC-0E7C6A5FA827}"/>
              </a:ext>
            </a:extLst>
          </p:cNvPr>
          <p:cNvSpPr>
            <a:spLocks noGrp="1"/>
          </p:cNvSpPr>
          <p:nvPr>
            <p:ph idx="1"/>
          </p:nvPr>
        </p:nvSpPr>
        <p:spPr>
          <a:xfrm>
            <a:off x="-3984" y="1985249"/>
            <a:ext cx="12182777" cy="4871407"/>
          </a:xfrm>
        </p:spPr>
        <p:txBody>
          <a:bodyPr vert="horz" lIns="91440" tIns="45720" rIns="91440" bIns="45720" rtlCol="0" anchor="t">
            <a:normAutofit/>
          </a:bodyPr>
          <a:lstStyle/>
          <a:p>
            <a:pPr lvl="1" algn="just">
              <a:lnSpc>
                <a:spcPct val="150000"/>
              </a:lnSpc>
              <a:buFont typeface="Courier New" panose="020B0604020202020204" pitchFamily="34" charset="0"/>
              <a:buChar char="o"/>
            </a:pPr>
            <a:r>
              <a:rPr lang="en-US" dirty="0">
                <a:latin typeface="Calibri"/>
                <a:ea typeface="+mn-lt"/>
                <a:cs typeface="+mn-lt"/>
              </a:rPr>
              <a:t>In </a:t>
            </a:r>
            <a:r>
              <a:rPr lang="en-US" b="1" dirty="0">
                <a:latin typeface="Calibri"/>
                <a:ea typeface="+mn-lt"/>
                <a:cs typeface="+mn-lt"/>
              </a:rPr>
              <a:t>P0, P0s, and P1 states</a:t>
            </a:r>
            <a:r>
              <a:rPr lang="en-US" dirty="0">
                <a:latin typeface="Calibri"/>
                <a:ea typeface="+mn-lt"/>
                <a:cs typeface="+mn-lt"/>
              </a:rPr>
              <a:t>, </a:t>
            </a:r>
            <a:r>
              <a:rPr lang="en-US" b="1" dirty="0">
                <a:latin typeface="Calibri"/>
                <a:ea typeface="+mn-lt"/>
                <a:cs typeface="+mn-lt"/>
              </a:rPr>
              <a:t>PCLK must remain active</a:t>
            </a:r>
            <a:endParaRPr lang="en-US"/>
          </a:p>
          <a:p>
            <a:pPr lvl="1" algn="just">
              <a:buFont typeface="Courier New" panose="020B0604020202020204" pitchFamily="34" charset="0"/>
              <a:buChar char="o"/>
            </a:pPr>
            <a:r>
              <a:rPr lang="en-US" dirty="0">
                <a:latin typeface="Calibri"/>
                <a:ea typeface="+mn-lt"/>
                <a:cs typeface="+mn-lt"/>
              </a:rPr>
              <a:t>For transitions between </a:t>
            </a:r>
            <a:r>
              <a:rPr lang="en-US" b="1" dirty="0">
                <a:latin typeface="Calibri"/>
                <a:ea typeface="+mn-lt"/>
                <a:cs typeface="+mn-lt"/>
              </a:rPr>
              <a:t>P0, P0s, P1</a:t>
            </a:r>
            <a:r>
              <a:rPr lang="en-US" dirty="0">
                <a:latin typeface="Calibri"/>
                <a:ea typeface="+mn-lt"/>
                <a:cs typeface="+mn-lt"/>
              </a:rPr>
              <a:t>, or any </a:t>
            </a:r>
            <a:r>
              <a:rPr lang="en-US" b="1" dirty="0">
                <a:latin typeface="Calibri"/>
                <a:ea typeface="+mn-lt"/>
                <a:cs typeface="+mn-lt"/>
              </a:rPr>
              <a:t>PHY-specific state where PCLK is active</a:t>
            </a:r>
            <a:r>
              <a:rPr lang="en-US" dirty="0">
                <a:latin typeface="Calibri"/>
                <a:ea typeface="+mn-lt"/>
                <a:cs typeface="+mn-lt"/>
              </a:rPr>
              <a:t>:</a:t>
            </a:r>
          </a:p>
          <a:p>
            <a:pPr lvl="2" algn="just">
              <a:lnSpc>
                <a:spcPct val="150000"/>
              </a:lnSpc>
              <a:buFont typeface="Wingdings" panose="020B0604020202020204" pitchFamily="34" charset="0"/>
              <a:buChar char="§"/>
            </a:pPr>
            <a:r>
              <a:rPr lang="en-US" sz="2400" dirty="0">
                <a:latin typeface="Calibri"/>
                <a:ea typeface="+mn-lt"/>
                <a:cs typeface="+mn-lt"/>
              </a:rPr>
              <a:t>The PHY indicates a </a:t>
            </a:r>
            <a:r>
              <a:rPr lang="en-US" sz="2400" b="1" dirty="0">
                <a:latin typeface="Calibri"/>
                <a:ea typeface="+mn-lt"/>
                <a:cs typeface="+mn-lt"/>
              </a:rPr>
              <a:t>successful transition</a:t>
            </a:r>
            <a:r>
              <a:rPr lang="en-US" sz="2400" dirty="0">
                <a:latin typeface="Calibri"/>
                <a:ea typeface="+mn-lt"/>
                <a:cs typeface="+mn-lt"/>
              </a:rPr>
              <a:t> by asserting </a:t>
            </a:r>
            <a:r>
              <a:rPr lang="en-US" sz="2400" b="1" err="1">
                <a:latin typeface="Calibri"/>
                <a:ea typeface="+mn-lt"/>
                <a:cs typeface="+mn-lt"/>
              </a:rPr>
              <a:t>PhyStatus</a:t>
            </a:r>
            <a:r>
              <a:rPr lang="en-US" sz="2400" b="1" dirty="0">
                <a:latin typeface="Calibri"/>
                <a:ea typeface="+mn-lt"/>
                <a:cs typeface="+mn-lt"/>
              </a:rPr>
              <a:t> for one clock cycle</a:t>
            </a:r>
            <a:endParaRPr lang="en-US" sz="2400" dirty="0">
              <a:latin typeface="Calibri"/>
              <a:ea typeface="+mn-lt"/>
              <a:cs typeface="+mn-lt"/>
            </a:endParaRPr>
          </a:p>
          <a:p>
            <a:pPr lvl="1" algn="just">
              <a:buFont typeface="Courier New,monospace" panose="020B0604020202020204" pitchFamily="34" charset="0"/>
              <a:buChar char="o"/>
            </a:pPr>
            <a:r>
              <a:rPr lang="en-US" dirty="0">
                <a:latin typeface="Calibri"/>
                <a:ea typeface="+mn-lt"/>
                <a:cs typeface="+mn-lt"/>
              </a:rPr>
              <a:t>Transitions </a:t>
            </a:r>
            <a:r>
              <a:rPr lang="en-US" b="1" dirty="0">
                <a:latin typeface="Calibri"/>
                <a:ea typeface="+mn-lt"/>
                <a:cs typeface="+mn-lt"/>
              </a:rPr>
              <a:t>into or out of P2</a:t>
            </a:r>
            <a:r>
              <a:rPr lang="en-US" dirty="0">
                <a:latin typeface="Calibri"/>
                <a:ea typeface="+mn-lt"/>
                <a:cs typeface="+mn-lt"/>
              </a:rPr>
              <a:t> (or PHY-specific states where </a:t>
            </a:r>
            <a:r>
              <a:rPr lang="en-US" b="1" dirty="0">
                <a:latin typeface="Calibri"/>
                <a:ea typeface="+mn-lt"/>
                <a:cs typeface="+mn-lt"/>
              </a:rPr>
              <a:t>PCLK is not active</a:t>
            </a:r>
            <a:r>
              <a:rPr lang="en-US" dirty="0">
                <a:latin typeface="Calibri"/>
                <a:ea typeface="+mn-lt"/>
                <a:cs typeface="+mn-lt"/>
              </a:rPr>
              <a:t>) are handled separately</a:t>
            </a:r>
          </a:p>
          <a:p>
            <a:pPr lvl="1" algn="just">
              <a:buFont typeface="Courier New,monospace" panose="020B0604020202020204" pitchFamily="34" charset="0"/>
              <a:buChar char="o"/>
            </a:pPr>
            <a:r>
              <a:rPr lang="en-US" dirty="0">
                <a:latin typeface="Calibri"/>
                <a:ea typeface="+mn-lt"/>
                <a:cs typeface="+mn-lt"/>
              </a:rPr>
              <a:t>For </a:t>
            </a:r>
            <a:r>
              <a:rPr lang="en-US" b="1" dirty="0">
                <a:latin typeface="Calibri"/>
                <a:ea typeface="+mn-lt"/>
                <a:cs typeface="+mn-lt"/>
              </a:rPr>
              <a:t>all power state transitions</a:t>
            </a:r>
            <a:r>
              <a:rPr lang="en-US" dirty="0">
                <a:latin typeface="Calibri"/>
                <a:ea typeface="+mn-lt"/>
                <a:cs typeface="+mn-lt"/>
              </a:rPr>
              <a:t>, the MAC:</a:t>
            </a:r>
          </a:p>
          <a:p>
            <a:pPr lvl="2" algn="just">
              <a:buFont typeface="Wingdings,Sans-Serif" panose="020B0604020202020204" pitchFamily="34" charset="0"/>
              <a:buChar char="§"/>
            </a:pPr>
            <a:r>
              <a:rPr lang="en-US" sz="2400" b="1" dirty="0">
                <a:latin typeface="Calibri"/>
                <a:ea typeface="+mn-lt"/>
                <a:cs typeface="+mn-lt"/>
              </a:rPr>
              <a:t>Must wait for </a:t>
            </a:r>
            <a:r>
              <a:rPr lang="en-US" sz="2400" b="1" dirty="0" err="1">
                <a:latin typeface="Calibri"/>
                <a:ea typeface="+mn-lt"/>
                <a:cs typeface="+mn-lt"/>
              </a:rPr>
              <a:t>PhyStatus</a:t>
            </a:r>
            <a:endParaRPr lang="en-US" dirty="0" err="1">
              <a:latin typeface="Aptos" panose="020B0004020202020204"/>
              <a:ea typeface="+mn-lt"/>
              <a:cs typeface="+mn-lt"/>
            </a:endParaRPr>
          </a:p>
          <a:p>
            <a:pPr lvl="2" algn="just">
              <a:buFont typeface="Wingdings,Sans-Serif" panose="020B0604020202020204" pitchFamily="34" charset="0"/>
              <a:buChar char="§"/>
            </a:pPr>
            <a:r>
              <a:rPr lang="en-US" sz="2400" b="1" dirty="0">
                <a:latin typeface="Calibri"/>
                <a:ea typeface="+mn-lt"/>
                <a:cs typeface="+mn-lt"/>
              </a:rPr>
              <a:t>Must not start operations or request another transition</a:t>
            </a:r>
            <a:r>
              <a:rPr lang="en-US" sz="2400" dirty="0">
                <a:latin typeface="Calibri"/>
                <a:ea typeface="+mn-lt"/>
                <a:cs typeface="+mn-lt"/>
              </a:rPr>
              <a:t> until the current one is complete</a:t>
            </a:r>
            <a:endParaRPr lang="en-US" sz="2400">
              <a:latin typeface="Calibri"/>
              <a:ea typeface="Calibri"/>
              <a:cs typeface="Calibri"/>
            </a:endParaRPr>
          </a:p>
          <a:p>
            <a:pPr marL="914400" lvl="2" indent="0">
              <a:buNone/>
            </a:pPr>
            <a:endParaRPr lang="en-US" sz="2400" dirty="0">
              <a:latin typeface="Calibri"/>
              <a:ea typeface="+mn-lt"/>
              <a:cs typeface="+mn-lt"/>
            </a:endParaRPr>
          </a:p>
          <a:p>
            <a:pPr lvl="2" algn="just"/>
            <a:endParaRPr lang="en-US" sz="2400" dirty="0">
              <a:latin typeface="Calibri"/>
              <a:ea typeface="+mn-lt"/>
              <a:cs typeface="+mn-lt"/>
            </a:endParaRPr>
          </a:p>
          <a:p>
            <a:pPr lvl="1" algn="just">
              <a:buFont typeface="Courier New" panose="020B0604020202020204" pitchFamily="34" charset="0"/>
              <a:buChar char="o"/>
            </a:pPr>
            <a:endParaRPr lang="en-US" b="1" dirty="0">
              <a:latin typeface="Calibri"/>
              <a:ea typeface="+mn-lt"/>
              <a:cs typeface="+mn-lt"/>
            </a:endParaRPr>
          </a:p>
          <a:p>
            <a:pPr lvl="1" indent="-342900" algn="just">
              <a:buFont typeface="Courier New" panose="020B0604020202020204" pitchFamily="34" charset="0"/>
              <a:buChar char="o"/>
            </a:pPr>
            <a:endParaRPr lang="en-US" dirty="0">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E6165304-CD1F-13FB-57D9-7A889B72EEFF}"/>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1428747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DCBCC-3433-C764-DDBB-999FFB319E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DA56C-0A42-9D97-B608-D8F3FFDDDE44}"/>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latin typeface="Calibri"/>
                <a:ea typeface="Calibri"/>
                <a:cs typeface="Calibri"/>
              </a:rPr>
              <a:t>PHY Power States and LTSSM Mapping</a:t>
            </a:r>
            <a:endParaRPr lang="en-US">
              <a:latin typeface="Calibri"/>
              <a:ea typeface="Calibri"/>
              <a:cs typeface="Calibri"/>
            </a:endParaRPr>
          </a:p>
          <a:p>
            <a:pPr lvl="1" algn="just">
              <a:buFont typeface="Courier New" panose="020B0604020202020204" pitchFamily="34" charset="0"/>
              <a:buChar char="o"/>
            </a:pPr>
            <a:r>
              <a:rPr lang="en-US" dirty="0">
                <a:latin typeface="Calibri"/>
                <a:ea typeface="+mn-lt"/>
                <a:cs typeface="+mn-lt"/>
              </a:rPr>
              <a:t>PHY power states are </a:t>
            </a:r>
            <a:r>
              <a:rPr lang="en-US" b="1" dirty="0">
                <a:latin typeface="Calibri"/>
                <a:ea typeface="+mn-lt"/>
                <a:cs typeface="+mn-lt"/>
              </a:rPr>
              <a:t>mapped to corresponding LTSSM states</a:t>
            </a:r>
            <a:r>
              <a:rPr lang="en-US" dirty="0">
                <a:latin typeface="Calibri"/>
                <a:ea typeface="+mn-lt"/>
                <a:cs typeface="+mn-lt"/>
              </a:rPr>
              <a:t> defined in the PCIe base specification</a:t>
            </a:r>
          </a:p>
          <a:p>
            <a:pPr lvl="1" algn="just">
              <a:lnSpc>
                <a:spcPct val="150000"/>
              </a:lnSpc>
              <a:buFont typeface="Courier New" panose="020B0604020202020204" pitchFamily="34" charset="0"/>
              <a:buChar char="o"/>
            </a:pPr>
            <a:r>
              <a:rPr lang="en-US" dirty="0">
                <a:latin typeface="Calibri"/>
                <a:ea typeface="+mn-lt"/>
                <a:cs typeface="+mn-lt"/>
              </a:rPr>
              <a:t>This mapping ensures </a:t>
            </a:r>
            <a:r>
              <a:rPr lang="en-US" b="1" dirty="0">
                <a:latin typeface="Calibri"/>
                <a:ea typeface="+mn-lt"/>
                <a:cs typeface="+mn-lt"/>
              </a:rPr>
              <a:t>correct link behavior and compliance</a:t>
            </a:r>
            <a:endParaRPr lang="en-US">
              <a:latin typeface="Calibri"/>
              <a:ea typeface="Calibri"/>
              <a:cs typeface="Calibri"/>
            </a:endParaRPr>
          </a:p>
          <a:p>
            <a:pPr lvl="1" algn="just">
              <a:lnSpc>
                <a:spcPct val="150000"/>
              </a:lnSpc>
              <a:buFont typeface="Courier New" panose="020B0604020202020204" pitchFamily="34" charset="0"/>
              <a:buChar char="o"/>
            </a:pPr>
            <a:r>
              <a:rPr lang="en-US" dirty="0">
                <a:latin typeface="Calibri"/>
                <a:ea typeface="+mn-lt"/>
                <a:cs typeface="+mn-lt"/>
              </a:rPr>
              <a:t>The MAC may use </a:t>
            </a:r>
            <a:r>
              <a:rPr lang="en-US" b="1" dirty="0">
                <a:latin typeface="Calibri"/>
                <a:ea typeface="+mn-lt"/>
                <a:cs typeface="+mn-lt"/>
              </a:rPr>
              <a:t>PHY-specific power states</a:t>
            </a:r>
            <a:endParaRPr lang="en-US">
              <a:latin typeface="Calibri"/>
              <a:ea typeface="Calibri"/>
              <a:cs typeface="Calibri"/>
            </a:endParaRPr>
          </a:p>
          <a:p>
            <a:pPr lvl="1" algn="just">
              <a:lnSpc>
                <a:spcPct val="100000"/>
              </a:lnSpc>
              <a:buFont typeface="Courier New" panose="020B0604020202020204" pitchFamily="34" charset="0"/>
              <a:buChar char="o"/>
            </a:pPr>
            <a:r>
              <a:rPr lang="en-US" dirty="0">
                <a:latin typeface="Calibri"/>
                <a:ea typeface="+mn-lt"/>
                <a:cs typeface="+mn-lt"/>
              </a:rPr>
              <a:t>PHY-specific states are allowed </a:t>
            </a:r>
            <a:r>
              <a:rPr lang="en-US" b="1" dirty="0">
                <a:latin typeface="Calibri"/>
                <a:ea typeface="+mn-lt"/>
                <a:cs typeface="+mn-lt"/>
              </a:rPr>
              <a:t>as long as PCIe base specification requirements are met</a:t>
            </a:r>
            <a:endParaRPr lang="en-US" dirty="0">
              <a:latin typeface="Aptos" panose="020B0004020202020204"/>
              <a:ea typeface="+mn-lt"/>
              <a:cs typeface="+mn-lt"/>
            </a:endParaRPr>
          </a:p>
          <a:p>
            <a:pPr lvl="1" algn="just">
              <a:lnSpc>
                <a:spcPct val="100000"/>
              </a:lnSpc>
              <a:buFont typeface="Courier New" panose="020B0604020202020204" pitchFamily="34" charset="0"/>
              <a:buChar char="o"/>
            </a:pPr>
            <a:endParaRPr lang="en-US" b="1" dirty="0">
              <a:latin typeface="Calibri"/>
              <a:ea typeface="+mn-lt"/>
              <a:cs typeface="+mn-lt"/>
            </a:endParaRPr>
          </a:p>
          <a:p>
            <a:pPr lvl="1" algn="just">
              <a:lnSpc>
                <a:spcPct val="100000"/>
              </a:lnSpc>
              <a:buFont typeface="Courier New" panose="020B0604020202020204" pitchFamily="34" charset="0"/>
              <a:buChar char="o"/>
            </a:pPr>
            <a:r>
              <a:rPr lang="en-US" b="1" dirty="0">
                <a:latin typeface="Calibri"/>
                <a:ea typeface="+mn-lt"/>
                <a:cs typeface="+mn-lt"/>
              </a:rPr>
              <a:t>P0</a:t>
            </a:r>
            <a:r>
              <a:rPr lang="en-US" b="1" dirty="0">
                <a:latin typeface="Calibri"/>
                <a:ea typeface="Calibri"/>
                <a:cs typeface="Calibri"/>
              </a:rPr>
              <a:t> Power State (PHY)</a:t>
            </a:r>
            <a:endParaRPr lang="en-US">
              <a:latin typeface="Calibri"/>
              <a:ea typeface="Calibri"/>
              <a:cs typeface="Calibri"/>
            </a:endParaRPr>
          </a:p>
          <a:p>
            <a:pPr lvl="2" algn="just">
              <a:buFont typeface="Wingdings"/>
              <a:buChar char="§"/>
            </a:pPr>
            <a:r>
              <a:rPr lang="en-US" sz="2400" b="1" dirty="0">
                <a:latin typeface="Calibri"/>
                <a:ea typeface="+mn-lt"/>
                <a:cs typeface="+mn-lt"/>
              </a:rPr>
              <a:t>P0 is the normal operating state</a:t>
            </a:r>
            <a:r>
              <a:rPr lang="en-US" sz="2400" dirty="0">
                <a:latin typeface="Calibri"/>
                <a:ea typeface="+mn-lt"/>
                <a:cs typeface="+mn-lt"/>
              </a:rPr>
              <a:t> of the PHY</a:t>
            </a:r>
            <a:endParaRPr lang="en-US" sz="2400" dirty="0">
              <a:latin typeface="Calibri"/>
              <a:ea typeface="Calibri"/>
              <a:cs typeface="Calibri"/>
            </a:endParaRPr>
          </a:p>
          <a:p>
            <a:pPr lvl="2" algn="just">
              <a:buFont typeface="Wingdings"/>
              <a:buChar char="§"/>
            </a:pPr>
            <a:r>
              <a:rPr lang="en-US" sz="2400" dirty="0">
                <a:latin typeface="Calibri"/>
                <a:ea typeface="+mn-lt"/>
                <a:cs typeface="+mn-lt"/>
              </a:rPr>
              <a:t>In P0, </a:t>
            </a:r>
            <a:r>
              <a:rPr lang="en-US" sz="2400" b="1" dirty="0">
                <a:latin typeface="Calibri"/>
                <a:ea typeface="+mn-lt"/>
                <a:cs typeface="+mn-lt"/>
              </a:rPr>
              <a:t>all internal clocks are active</a:t>
            </a:r>
            <a:endParaRPr lang="en-US" sz="2400" dirty="0">
              <a:latin typeface="Calibri"/>
              <a:ea typeface="Calibri"/>
              <a:cs typeface="Calibri"/>
            </a:endParaRPr>
          </a:p>
          <a:p>
            <a:pPr lvl="2" algn="just">
              <a:buFont typeface="Wingdings"/>
              <a:buChar char="§"/>
            </a:pPr>
            <a:r>
              <a:rPr lang="en-US" sz="2400" b="1" dirty="0">
                <a:latin typeface="Calibri"/>
                <a:ea typeface="+mn-lt"/>
                <a:cs typeface="+mn-lt"/>
              </a:rPr>
              <a:t>PCIe transmit and receive signaling occurs only in P0</a:t>
            </a:r>
            <a:endParaRPr lang="en-US" sz="2400" dirty="0">
              <a:latin typeface="Calibri"/>
              <a:ea typeface="Calibri"/>
              <a:cs typeface="Calibri"/>
            </a:endParaRPr>
          </a:p>
          <a:p>
            <a:pPr lvl="2" algn="just">
              <a:buFont typeface="Wingdings"/>
              <a:buChar char="§"/>
            </a:pPr>
            <a:r>
              <a:rPr lang="en-US" sz="2400" dirty="0">
                <a:latin typeface="Calibri"/>
                <a:ea typeface="+mn-lt"/>
                <a:cs typeface="+mn-lt"/>
              </a:rPr>
              <a:t>P0 is used for </a:t>
            </a:r>
            <a:r>
              <a:rPr lang="en-US" sz="2400" b="1" dirty="0">
                <a:latin typeface="Calibri"/>
                <a:ea typeface="+mn-lt"/>
                <a:cs typeface="+mn-lt"/>
              </a:rPr>
              <a:t>most LTSSM states.</a:t>
            </a:r>
            <a:endParaRPr lang="en-US" sz="2400" dirty="0">
              <a:latin typeface="Calibri"/>
              <a:ea typeface="Calibri"/>
              <a:cs typeface="Calibri"/>
            </a:endParaRPr>
          </a:p>
          <a:p>
            <a:pPr marL="457200" lvl="1" indent="0" algn="just">
              <a:lnSpc>
                <a:spcPct val="100000"/>
              </a:lnSpc>
              <a:buNone/>
            </a:pPr>
            <a:endParaRPr lang="en-US" sz="2400" b="1" dirty="0">
              <a:latin typeface="Calibri"/>
              <a:ea typeface="Calibri"/>
              <a:cs typeface="Calibri"/>
            </a:endParaRPr>
          </a:p>
          <a:p>
            <a:pPr lvl="1" indent="-342900" algn="just">
              <a:buFont typeface="Courier New" panose="020B0604020202020204" pitchFamily="34" charset="0"/>
              <a:buChar char="o"/>
            </a:pPr>
            <a:endParaRPr lang="en-US" sz="2400" dirty="0">
              <a:latin typeface="Aptos" panose="020B0004020202020204"/>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21A02F0F-A801-81DB-2E70-44DF6C856D74}"/>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39081152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C494D-79B6-EA67-8F9B-D09BC2B461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B8EA5-9E4E-DF8A-5A17-CF367B3E48EF}"/>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Calibri"/>
                <a:cs typeface="Calibri"/>
              </a:rPr>
              <a:t>P0s Power State (PHY)</a:t>
            </a:r>
            <a:endParaRPr lang="en-US" sz="2400">
              <a:latin typeface="Calibri"/>
              <a:ea typeface="Calibri"/>
              <a:cs typeface="Calibri"/>
            </a:endParaRPr>
          </a:p>
          <a:p>
            <a:pPr lvl="1" algn="just">
              <a:lnSpc>
                <a:spcPct val="150000"/>
              </a:lnSpc>
              <a:buFont typeface="Courier New" panose="020B0604020202020204" pitchFamily="34" charset="0"/>
              <a:buChar char="o"/>
            </a:pPr>
            <a:r>
              <a:rPr lang="en-US" b="1" dirty="0">
                <a:latin typeface="Calibri"/>
                <a:ea typeface="+mn-lt"/>
                <a:cs typeface="+mn-lt"/>
              </a:rPr>
              <a:t>PCLK remains operational</a:t>
            </a:r>
            <a:r>
              <a:rPr lang="en-US" dirty="0">
                <a:latin typeface="Calibri"/>
                <a:ea typeface="+mn-lt"/>
                <a:cs typeface="+mn-lt"/>
              </a:rPr>
              <a:t> in P0s state</a:t>
            </a:r>
          </a:p>
          <a:p>
            <a:pPr lvl="1" algn="just">
              <a:lnSpc>
                <a:spcPct val="150000"/>
              </a:lnSpc>
              <a:buFont typeface="Courier New" panose="020B0604020202020204" pitchFamily="34" charset="0"/>
              <a:buChar char="o"/>
            </a:pPr>
            <a:r>
              <a:rPr lang="en-US" dirty="0">
                <a:latin typeface="Calibri"/>
                <a:ea typeface="+mn-lt"/>
                <a:cs typeface="+mn-lt"/>
              </a:rPr>
              <a:t>The MAC can move the PHY to </a:t>
            </a:r>
            <a:r>
              <a:rPr lang="en-US" b="1" dirty="0">
                <a:latin typeface="Calibri"/>
                <a:ea typeface="+mn-lt"/>
                <a:cs typeface="+mn-lt"/>
              </a:rPr>
              <a:t>P0s only when the transmit channel is idle</a:t>
            </a:r>
            <a:endParaRPr lang="en-US">
              <a:latin typeface="Calibri"/>
              <a:ea typeface="Calibri"/>
              <a:cs typeface="Calibri"/>
            </a:endParaRPr>
          </a:p>
          <a:p>
            <a:pPr lvl="1" algn="just">
              <a:lnSpc>
                <a:spcPct val="150000"/>
              </a:lnSpc>
              <a:buFont typeface="Courier New" panose="020B0604020202020204" pitchFamily="34" charset="0"/>
              <a:buChar char="o"/>
            </a:pPr>
            <a:r>
              <a:rPr lang="en-US" dirty="0">
                <a:latin typeface="Calibri"/>
                <a:ea typeface="+mn-lt"/>
                <a:cs typeface="+mn-lt"/>
              </a:rPr>
              <a:t>P0s is typically used when the transmitter is in </a:t>
            </a:r>
            <a:r>
              <a:rPr lang="en-US" b="1" dirty="0">
                <a:latin typeface="Calibri"/>
                <a:ea typeface="+mn-lt"/>
                <a:cs typeface="+mn-lt"/>
              </a:rPr>
              <a:t>Tx_L0s.Idle</a:t>
            </a:r>
            <a:r>
              <a:rPr lang="en-US" dirty="0">
                <a:latin typeface="Calibri"/>
                <a:ea typeface="+mn-lt"/>
                <a:cs typeface="+mn-lt"/>
              </a:rPr>
              <a:t> state</a:t>
            </a:r>
            <a:endParaRPr lang="en-US">
              <a:latin typeface="Calibri"/>
              <a:ea typeface="Calibri"/>
              <a:cs typeface="Calibri"/>
            </a:endParaRPr>
          </a:p>
          <a:p>
            <a:pPr lvl="1" algn="just">
              <a:lnSpc>
                <a:spcPct val="100000"/>
              </a:lnSpc>
              <a:buFont typeface="Courier New" panose="020B0604020202020204" pitchFamily="34" charset="0"/>
              <a:buChar char="o"/>
            </a:pPr>
            <a:r>
              <a:rPr lang="en-US" dirty="0">
                <a:latin typeface="Calibri"/>
                <a:ea typeface="+mn-lt"/>
                <a:cs typeface="+mn-lt"/>
              </a:rPr>
              <a:t>While in </a:t>
            </a:r>
            <a:r>
              <a:rPr lang="en-US" b="1" dirty="0">
                <a:latin typeface="Calibri"/>
                <a:ea typeface="+mn-lt"/>
                <a:cs typeface="+mn-lt"/>
              </a:rPr>
              <a:t>P0 or P0s</a:t>
            </a:r>
            <a:r>
              <a:rPr lang="en-US" dirty="0">
                <a:latin typeface="Calibri"/>
                <a:ea typeface="+mn-lt"/>
                <a:cs typeface="+mn-lt"/>
              </a:rPr>
              <a:t>, if the receiver detects </a:t>
            </a:r>
            <a:r>
              <a:rPr lang="en-US" b="1" dirty="0">
                <a:latin typeface="Calibri"/>
                <a:ea typeface="+mn-lt"/>
                <a:cs typeface="+mn-lt"/>
              </a:rPr>
              <a:t>electrical idle</a:t>
            </a:r>
            <a:r>
              <a:rPr lang="en-US" dirty="0">
                <a:latin typeface="Calibri"/>
                <a:ea typeface="+mn-lt"/>
                <a:cs typeface="+mn-lt"/>
              </a:rPr>
              <a:t>, it may apply </a:t>
            </a:r>
            <a:r>
              <a:rPr lang="en-US" b="1" dirty="0">
                <a:latin typeface="Calibri"/>
                <a:ea typeface="+mn-lt"/>
                <a:cs typeface="+mn-lt"/>
              </a:rPr>
              <a:t>power-saving measures</a:t>
            </a:r>
          </a:p>
          <a:p>
            <a:pPr lvl="1" algn="just">
              <a:buFont typeface="Courier New" panose="020B0604020202020204" pitchFamily="34" charset="0"/>
              <a:buChar char="o"/>
            </a:pPr>
            <a:r>
              <a:rPr lang="en-US" dirty="0">
                <a:latin typeface="Calibri"/>
                <a:ea typeface="+mn-lt"/>
                <a:cs typeface="+mn-lt"/>
              </a:rPr>
              <a:t>When data transmission </a:t>
            </a:r>
            <a:r>
              <a:rPr lang="en-US" b="1" dirty="0">
                <a:latin typeface="Calibri"/>
                <a:ea typeface="+mn-lt"/>
                <a:cs typeface="+mn-lt"/>
              </a:rPr>
              <a:t>resumes on the receive channel</a:t>
            </a:r>
            <a:r>
              <a:rPr lang="en-US" dirty="0">
                <a:latin typeface="Calibri"/>
                <a:ea typeface="+mn-lt"/>
                <a:cs typeface="+mn-lt"/>
              </a:rPr>
              <a:t>, the PHY must </a:t>
            </a:r>
            <a:r>
              <a:rPr lang="en-US" b="1" dirty="0">
                <a:latin typeface="Calibri"/>
                <a:ea typeface="+mn-lt"/>
                <a:cs typeface="+mn-lt"/>
              </a:rPr>
              <a:t>quickly lock</a:t>
            </a:r>
            <a:r>
              <a:rPr lang="en-US" dirty="0">
                <a:latin typeface="Calibri"/>
                <a:ea typeface="+mn-lt"/>
                <a:cs typeface="+mn-lt"/>
              </a:rPr>
              <a:t> to the signal</a:t>
            </a:r>
          </a:p>
          <a:p>
            <a:pPr lvl="1" algn="just">
              <a:buFont typeface="Courier New" panose="020B0604020202020204" pitchFamily="34" charset="0"/>
              <a:buChar char="o"/>
            </a:pPr>
            <a:r>
              <a:rPr lang="en-US" dirty="0">
                <a:latin typeface="Calibri"/>
                <a:ea typeface="+mn-lt"/>
                <a:cs typeface="+mn-lt"/>
              </a:rPr>
              <a:t>The PHY must achieve </a:t>
            </a:r>
            <a:r>
              <a:rPr lang="en-US" b="1" dirty="0">
                <a:latin typeface="Calibri"/>
                <a:ea typeface="+mn-lt"/>
                <a:cs typeface="+mn-lt"/>
              </a:rPr>
              <a:t>bit lock and symbol lock</a:t>
            </a:r>
            <a:r>
              <a:rPr lang="en-US" dirty="0">
                <a:latin typeface="Calibri"/>
                <a:ea typeface="+mn-lt"/>
                <a:cs typeface="+mn-lt"/>
              </a:rPr>
              <a:t> within the </a:t>
            </a:r>
            <a:r>
              <a:rPr lang="en-US" b="1" dirty="0">
                <a:latin typeface="Calibri"/>
                <a:ea typeface="+mn-lt"/>
                <a:cs typeface="+mn-lt"/>
              </a:rPr>
              <a:t>specified time (N_FTS)</a:t>
            </a:r>
            <a:endParaRPr lang="en-US" dirty="0">
              <a:latin typeface="Calibri"/>
              <a:ea typeface="+mn-lt"/>
              <a:cs typeface="+mn-lt"/>
            </a:endParaRPr>
          </a:p>
          <a:p>
            <a:pPr lvl="2" algn="just">
              <a:buFont typeface="Wingdings" panose="020B0604020202020204" pitchFamily="34" charset="0"/>
              <a:buChar char="§"/>
            </a:pPr>
            <a:r>
              <a:rPr lang="en-US" sz="2400" dirty="0">
                <a:latin typeface="Calibri"/>
                <a:ea typeface="+mn-lt"/>
                <a:cs typeface="+mn-lt"/>
              </a:rPr>
              <a:t>Applies </a:t>
            </a:r>
            <a:r>
              <a:rPr lang="en-US" sz="2400" b="1" dirty="0">
                <a:latin typeface="Calibri"/>
                <a:ea typeface="+mn-lt"/>
                <a:cs typeface="+mn-lt"/>
              </a:rPr>
              <a:t>with or without a common clock</a:t>
            </a:r>
            <a:endParaRPr lang="en-US" sz="2400" dirty="0">
              <a:latin typeface="Calibri"/>
              <a:ea typeface="+mn-lt"/>
              <a:cs typeface="+mn-lt"/>
            </a:endParaRPr>
          </a:p>
          <a:p>
            <a:pPr lvl="1" algn="just">
              <a:buFont typeface="Courier New" panose="020B0604020202020204" pitchFamily="34" charset="0"/>
              <a:buChar char="o"/>
            </a:pPr>
            <a:r>
              <a:rPr lang="en-US" dirty="0">
                <a:latin typeface="Calibri"/>
                <a:ea typeface="+mn-lt"/>
                <a:cs typeface="+mn-lt"/>
              </a:rPr>
              <a:t>This requirement applies </a:t>
            </a:r>
            <a:r>
              <a:rPr lang="en-US" b="1" dirty="0">
                <a:latin typeface="Calibri"/>
                <a:ea typeface="+mn-lt"/>
                <a:cs typeface="+mn-lt"/>
              </a:rPr>
              <a:t>only if the receiver was already locked earlier</a:t>
            </a:r>
            <a:endParaRPr lang="en-US" dirty="0">
              <a:latin typeface="Calibri"/>
              <a:ea typeface="+mn-lt"/>
              <a:cs typeface="+mn-lt"/>
            </a:endParaRPr>
          </a:p>
          <a:p>
            <a:pPr lvl="2" algn="just">
              <a:buFont typeface="Wingdings" panose="020B0604020202020204" pitchFamily="34" charset="0"/>
              <a:buChar char="§"/>
            </a:pPr>
            <a:r>
              <a:rPr lang="en-US" sz="2400" dirty="0">
                <a:latin typeface="Calibri"/>
                <a:ea typeface="+mn-lt"/>
                <a:cs typeface="+mn-lt"/>
              </a:rPr>
              <a:t>That is, the receiver was previously in </a:t>
            </a:r>
            <a:r>
              <a:rPr lang="en-US" sz="2400" b="1" dirty="0">
                <a:latin typeface="Calibri"/>
                <a:ea typeface="+mn-lt"/>
                <a:cs typeface="+mn-lt"/>
              </a:rPr>
              <a:t>P0 or P0s state</a:t>
            </a:r>
            <a:endParaRPr lang="en-US" sz="2400">
              <a:latin typeface="Calibri"/>
              <a:ea typeface="Calibri"/>
              <a:cs typeface="Calibri"/>
            </a:endParaRPr>
          </a:p>
          <a:p>
            <a:pPr lvl="1" algn="just">
              <a:buFont typeface="Courier New" panose="020B0604020202020204" pitchFamily="34" charset="0"/>
              <a:buChar char="o"/>
            </a:pPr>
            <a:endParaRPr lang="en-US" b="1" dirty="0">
              <a:latin typeface="Calibri"/>
              <a:ea typeface="+mn-lt"/>
              <a:cs typeface="+mn-lt"/>
            </a:endParaRPr>
          </a:p>
          <a:p>
            <a:pPr marL="457200" lvl="1" indent="0" algn="just">
              <a:lnSpc>
                <a:spcPct val="100000"/>
              </a:lnSpc>
              <a:buNone/>
            </a:pPr>
            <a:endParaRPr lang="en-US" sz="2400" b="1" dirty="0">
              <a:latin typeface="Calibri"/>
              <a:ea typeface="Calibri"/>
              <a:cs typeface="Calibri"/>
            </a:endParaRPr>
          </a:p>
          <a:p>
            <a:pPr lvl="1" indent="-342900" algn="just">
              <a:buFont typeface="Courier New" panose="020B0604020202020204" pitchFamily="34" charset="0"/>
              <a:buChar char="o"/>
            </a:pPr>
            <a:endParaRPr lang="en-US" sz="2400" dirty="0">
              <a:latin typeface="Aptos" panose="020B0004020202020204"/>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B99AB62B-D52F-220A-9C02-2082C952C566}"/>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36456962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031D-C5E7-5D58-1CFC-B6BE6B1913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D5902-24F7-8BA1-6BCA-EA06D94A31A2}"/>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Calibri"/>
                <a:cs typeface="Calibri"/>
              </a:rPr>
              <a:t>P1 Power State (PHY)</a:t>
            </a:r>
            <a:endParaRPr lang="en-US" sz="2400" dirty="0">
              <a:latin typeface="Calibri"/>
              <a:ea typeface="Calibri"/>
              <a:cs typeface="Calibri"/>
            </a:endParaRPr>
          </a:p>
          <a:p>
            <a:pPr lvl="1" algn="just">
              <a:lnSpc>
                <a:spcPct val="150000"/>
              </a:lnSpc>
              <a:buFont typeface="Courier New" panose="020B0604020202020204" pitchFamily="34" charset="0"/>
              <a:buChar char="o"/>
            </a:pPr>
            <a:r>
              <a:rPr lang="en-US" dirty="0">
                <a:latin typeface="Calibri"/>
                <a:ea typeface="+mn-lt"/>
                <a:cs typeface="+mn-lt"/>
              </a:rPr>
              <a:t>In </a:t>
            </a:r>
            <a:r>
              <a:rPr lang="en-US" b="1" dirty="0">
                <a:latin typeface="Calibri"/>
                <a:ea typeface="+mn-lt"/>
                <a:cs typeface="+mn-lt"/>
              </a:rPr>
              <a:t>P1 state</a:t>
            </a:r>
            <a:r>
              <a:rPr lang="en-US" dirty="0">
                <a:latin typeface="Calibri"/>
                <a:ea typeface="+mn-lt"/>
                <a:cs typeface="+mn-lt"/>
              </a:rPr>
              <a:t>, some </a:t>
            </a:r>
            <a:r>
              <a:rPr lang="en-US" b="1" dirty="0">
                <a:latin typeface="Calibri"/>
                <a:ea typeface="+mn-lt"/>
                <a:cs typeface="+mn-lt"/>
              </a:rPr>
              <a:t>internal PHY clocks can be turned off</a:t>
            </a:r>
            <a:r>
              <a:rPr lang="en-US" dirty="0">
                <a:latin typeface="Calibri"/>
                <a:ea typeface="+mn-lt"/>
                <a:cs typeface="+mn-lt"/>
              </a:rPr>
              <a:t> to save power</a:t>
            </a:r>
          </a:p>
          <a:p>
            <a:pPr lvl="1" algn="just">
              <a:lnSpc>
                <a:spcPct val="150000"/>
              </a:lnSpc>
              <a:buFont typeface="Courier New" panose="020B0604020202020204" pitchFamily="34" charset="0"/>
              <a:buChar char="o"/>
            </a:pPr>
            <a:r>
              <a:rPr lang="en-US" b="1" dirty="0">
                <a:latin typeface="Calibri"/>
                <a:ea typeface="+mn-lt"/>
                <a:cs typeface="+mn-lt"/>
              </a:rPr>
              <a:t>PCLK</a:t>
            </a:r>
            <a:r>
              <a:rPr lang="en-US" sz="2400" b="1" dirty="0">
                <a:latin typeface="Calibri"/>
                <a:ea typeface="+mn-lt"/>
                <a:cs typeface="+mn-lt"/>
              </a:rPr>
              <a:t> must remain </a:t>
            </a:r>
            <a:r>
              <a:rPr lang="en-US" b="1" dirty="0">
                <a:latin typeface="Calibri"/>
                <a:ea typeface="+mn-lt"/>
                <a:cs typeface="+mn-lt"/>
              </a:rPr>
              <a:t>operational</a:t>
            </a:r>
          </a:p>
          <a:p>
            <a:pPr lvl="1" algn="just">
              <a:lnSpc>
                <a:spcPct val="150000"/>
              </a:lnSpc>
              <a:buFont typeface="Courier New" panose="020B0604020202020204" pitchFamily="34" charset="0"/>
              <a:buChar char="o"/>
            </a:pPr>
            <a:r>
              <a:rPr lang="en-US" dirty="0">
                <a:latin typeface="Calibri"/>
                <a:ea typeface="+mn-lt"/>
                <a:cs typeface="+mn-lt"/>
              </a:rPr>
              <a:t>The</a:t>
            </a:r>
            <a:r>
              <a:rPr lang="en-US" sz="2400" dirty="0">
                <a:latin typeface="Calibri"/>
                <a:ea typeface="+mn-lt"/>
                <a:cs typeface="+mn-lt"/>
              </a:rPr>
              <a:t> MAC moves the PHY to </a:t>
            </a:r>
            <a:r>
              <a:rPr lang="en-US" sz="2400" b="1" dirty="0">
                <a:latin typeface="Calibri"/>
                <a:ea typeface="+mn-lt"/>
                <a:cs typeface="+mn-lt"/>
              </a:rPr>
              <a:t>P1 only when both TX and RX are </a:t>
            </a:r>
            <a:r>
              <a:rPr lang="en-US" b="1" dirty="0">
                <a:latin typeface="Calibri"/>
                <a:ea typeface="+mn-lt"/>
                <a:cs typeface="+mn-lt"/>
              </a:rPr>
              <a:t>idle</a:t>
            </a:r>
            <a:endParaRPr lang="en-US" b="1" dirty="0">
              <a:latin typeface="Aptos"/>
              <a:ea typeface="Calibri"/>
              <a:cs typeface="Calibri"/>
            </a:endParaRPr>
          </a:p>
          <a:p>
            <a:pPr lvl="1" algn="just">
              <a:lnSpc>
                <a:spcPct val="150000"/>
              </a:lnSpc>
              <a:buFont typeface="Courier New" panose="020B0604020202020204" pitchFamily="34" charset="0"/>
              <a:buChar char="o"/>
            </a:pPr>
            <a:r>
              <a:rPr lang="en-US" dirty="0">
                <a:latin typeface="Calibri"/>
                <a:ea typeface="+mn-lt"/>
                <a:cs typeface="+mn-lt"/>
              </a:rPr>
              <a:t>The</a:t>
            </a:r>
            <a:r>
              <a:rPr lang="en-US" sz="2400" dirty="0">
                <a:latin typeface="Calibri"/>
                <a:ea typeface="+mn-lt"/>
                <a:cs typeface="+mn-lt"/>
              </a:rPr>
              <a:t> PHY signals </a:t>
            </a:r>
            <a:r>
              <a:rPr lang="en-US" sz="2400" b="1" dirty="0">
                <a:latin typeface="Calibri"/>
                <a:ea typeface="+mn-lt"/>
                <a:cs typeface="+mn-lt"/>
              </a:rPr>
              <a:t>successful entry into P1</a:t>
            </a:r>
            <a:r>
              <a:rPr lang="en-US" sz="2400" dirty="0">
                <a:latin typeface="Calibri"/>
                <a:ea typeface="+mn-lt"/>
                <a:cs typeface="+mn-lt"/>
              </a:rPr>
              <a:t> by asserting </a:t>
            </a:r>
            <a:r>
              <a:rPr lang="en-US" sz="2400" b="1" err="1">
                <a:latin typeface="Calibri"/>
                <a:ea typeface="+mn-lt"/>
                <a:cs typeface="+mn-lt"/>
              </a:rPr>
              <a:t>PhyStatus</a:t>
            </a:r>
            <a:r>
              <a:rPr lang="en-US" sz="2400" dirty="0">
                <a:latin typeface="Calibri"/>
                <a:ea typeface="+mn-lt"/>
                <a:cs typeface="+mn-lt"/>
              </a:rPr>
              <a:t> only after:  </a:t>
            </a:r>
            <a:r>
              <a:rPr lang="en-US" sz="2400" b="1" dirty="0">
                <a:latin typeface="Calibri"/>
                <a:ea typeface="+mn-lt"/>
                <a:cs typeface="+mn-lt"/>
              </a:rPr>
              <a:t>     </a:t>
            </a:r>
            <a:endParaRPr lang="en-US" b="1" dirty="0">
              <a:latin typeface="Aptos"/>
              <a:ea typeface="Calibri"/>
              <a:cs typeface="Calibri"/>
            </a:endParaRPr>
          </a:p>
          <a:p>
            <a:pPr lvl="2" algn="just">
              <a:buFont typeface="Wingdings" panose="020B0604020202020204" pitchFamily="34" charset="0"/>
              <a:buChar char="§"/>
            </a:pPr>
            <a:r>
              <a:rPr lang="en-US" sz="2400" b="1" dirty="0">
                <a:latin typeface="Calibri"/>
                <a:ea typeface="+mn-lt"/>
                <a:cs typeface="+mn-lt"/>
              </a:rPr>
              <a:t>PCLK is stable</a:t>
            </a:r>
            <a:endParaRPr lang="en-US" sz="2400">
              <a:latin typeface="Calibri"/>
              <a:ea typeface="Calibri"/>
              <a:cs typeface="Calibri"/>
            </a:endParaRPr>
          </a:p>
          <a:p>
            <a:pPr lvl="2" algn="just">
              <a:buFont typeface="Wingdings" panose="020B0604020202020204" pitchFamily="34" charset="0"/>
              <a:buChar char="§"/>
            </a:pPr>
            <a:r>
              <a:rPr lang="en-US" sz="2400" b="1" dirty="0">
                <a:latin typeface="Calibri"/>
                <a:ea typeface="+mn-lt"/>
                <a:cs typeface="+mn-lt"/>
              </a:rPr>
              <a:t>DC common-mode voltage is stable and within </a:t>
            </a:r>
            <a:r>
              <a:rPr lang="en-US" sz="2400" dirty="0">
                <a:latin typeface="Calibri"/>
                <a:ea typeface="+mn-lt"/>
                <a:cs typeface="+mn-lt"/>
              </a:rPr>
              <a:t>specification</a:t>
            </a:r>
            <a:endParaRPr lang="en-US" sz="2400" dirty="0">
              <a:latin typeface="Calibri"/>
              <a:ea typeface="Calibri"/>
              <a:cs typeface="Calibri"/>
            </a:endParaRPr>
          </a:p>
          <a:p>
            <a:pPr lvl="1" algn="just">
              <a:buFont typeface="Courier New" panose="020B0604020202020204" pitchFamily="34" charset="0"/>
              <a:buChar char="o"/>
            </a:pPr>
            <a:r>
              <a:rPr lang="en-US" b="1" dirty="0">
                <a:latin typeface="Calibri"/>
                <a:ea typeface="+mn-lt"/>
                <a:cs typeface="+mn-lt"/>
              </a:rPr>
              <a:t>P1 state is used for LTSSM states</a:t>
            </a:r>
            <a:r>
              <a:rPr lang="en-US" dirty="0">
                <a:latin typeface="Calibri"/>
                <a:ea typeface="+mn-lt"/>
                <a:cs typeface="+mn-lt"/>
              </a:rPr>
              <a:t>:</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Disabled</a:t>
            </a:r>
            <a:endParaRPr lang="en-US" sz="2400">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Detect states</a:t>
            </a:r>
            <a:endParaRPr lang="en-US" sz="2400">
              <a:latin typeface="Calibri"/>
              <a:ea typeface="Calibri"/>
              <a:cs typeface="Calibri"/>
            </a:endParaRPr>
          </a:p>
          <a:p>
            <a:pPr lvl="2" algn="just">
              <a:buFont typeface="Wingdings" panose="020B0604020202020204" pitchFamily="34" charset="0"/>
              <a:buChar char="§"/>
            </a:pPr>
            <a:r>
              <a:rPr lang="en-US" sz="2400" b="1" dirty="0">
                <a:latin typeface="Calibri"/>
                <a:ea typeface="+mn-lt"/>
                <a:cs typeface="+mn-lt"/>
              </a:rPr>
              <a:t>L1.Idle</a:t>
            </a:r>
            <a:r>
              <a:rPr lang="en-US" sz="2400" dirty="0">
                <a:latin typeface="Calibri"/>
                <a:ea typeface="+mn-lt"/>
                <a:cs typeface="+mn-lt"/>
              </a:rPr>
              <a:t> (only if </a:t>
            </a:r>
            <a:r>
              <a:rPr lang="en-US" sz="2400" b="1" dirty="0">
                <a:latin typeface="Calibri"/>
                <a:ea typeface="+mn-lt"/>
                <a:cs typeface="+mn-lt"/>
              </a:rPr>
              <a:t>L1 substates are not supported</a:t>
            </a:r>
            <a:r>
              <a:rPr lang="en-US" sz="2400" dirty="0">
                <a:latin typeface="Calibri"/>
                <a:ea typeface="+mn-lt"/>
                <a:cs typeface="+mn-lt"/>
              </a:rPr>
              <a:t>)</a:t>
            </a:r>
            <a:endParaRPr lang="en-US" sz="2400">
              <a:latin typeface="Calibri"/>
            </a:endParaRPr>
          </a:p>
          <a:p>
            <a:pPr lvl="1" algn="just">
              <a:lnSpc>
                <a:spcPct val="150000"/>
              </a:lnSpc>
              <a:buFont typeface="Courier New" panose="020B0604020202020204" pitchFamily="34" charset="0"/>
              <a:buChar char="o"/>
            </a:pPr>
            <a:endParaRPr lang="en-US" sz="2400" dirty="0">
              <a:latin typeface="Aptos"/>
              <a:ea typeface="Calibri"/>
              <a:cs typeface="Calibri"/>
            </a:endParaRPr>
          </a:p>
          <a:p>
            <a:pPr lvl="1" algn="just">
              <a:buFont typeface="Courier New" panose="020B0604020202020204" pitchFamily="34" charset="0"/>
              <a:buChar char="o"/>
            </a:pPr>
            <a:endParaRPr lang="en-US" b="1" dirty="0">
              <a:latin typeface="Calibri"/>
              <a:ea typeface="+mn-lt"/>
              <a:cs typeface="+mn-lt"/>
            </a:endParaRPr>
          </a:p>
          <a:p>
            <a:pPr marL="457200" lvl="1" indent="0" algn="just">
              <a:lnSpc>
                <a:spcPct val="100000"/>
              </a:lnSpc>
              <a:buNone/>
            </a:pPr>
            <a:endParaRPr lang="en-US" sz="2400" b="1" dirty="0">
              <a:latin typeface="Calibri"/>
              <a:ea typeface="Calibri"/>
              <a:cs typeface="Calibri"/>
            </a:endParaRPr>
          </a:p>
          <a:p>
            <a:pPr lvl="1" indent="-342900" algn="just">
              <a:buFont typeface="Courier New" panose="020B0604020202020204" pitchFamily="34" charset="0"/>
              <a:buChar char="o"/>
            </a:pPr>
            <a:endParaRPr lang="en-US" sz="2400" dirty="0">
              <a:latin typeface="Aptos" panose="020B0004020202020204"/>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8D73448C-73A5-C556-C90B-A6FDA686D507}"/>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3153727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56510-E908-FE46-2673-D546BE4019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961F77-AA5B-75D0-71CD-E2E3AE8A60C1}"/>
              </a:ext>
            </a:extLst>
          </p:cNvPr>
          <p:cNvSpPr>
            <a:spLocks noGrp="1"/>
          </p:cNvSpPr>
          <p:nvPr>
            <p:ph idx="1"/>
          </p:nvPr>
        </p:nvSpPr>
        <p:spPr>
          <a:xfrm>
            <a:off x="1351667" y="1019459"/>
            <a:ext cx="10375243" cy="5358732"/>
          </a:xfrm>
        </p:spPr>
        <p:txBody>
          <a:bodyPr vert="horz" lIns="91440" tIns="45720" rIns="91440" bIns="45720" rtlCol="0" anchor="t">
            <a:normAutofit/>
          </a:bodyPr>
          <a:lstStyle/>
          <a:p>
            <a:pPr algn="just"/>
            <a:r>
              <a:rPr lang="en-US" sz="2400" b="1" dirty="0">
                <a:latin typeface="Calibri"/>
                <a:ea typeface="Calibri"/>
                <a:cs typeface="Calibri"/>
              </a:rPr>
              <a:t>P2 Power State (PHY)</a:t>
            </a:r>
            <a:endParaRPr lang="en-US" dirty="0">
              <a:latin typeface="Aptos"/>
              <a:ea typeface="Calibri"/>
              <a:cs typeface="Calibri"/>
            </a:endParaRPr>
          </a:p>
          <a:p>
            <a:pPr lvl="1" algn="just">
              <a:buFont typeface="Courier New" panose="020B0604020202020204" pitchFamily="34" charset="0"/>
              <a:buChar char="o"/>
            </a:pPr>
            <a:r>
              <a:rPr lang="en-US" b="1" dirty="0">
                <a:latin typeface="Calibri"/>
                <a:ea typeface="+mn-lt"/>
                <a:cs typeface="+mn-lt"/>
              </a:rPr>
              <a:t>P2 is a deep low-power state</a:t>
            </a:r>
          </a:p>
          <a:p>
            <a:pPr lvl="1" algn="just">
              <a:buFont typeface="Courier New" panose="020B0604020202020204" pitchFamily="34" charset="0"/>
              <a:buChar char="o"/>
            </a:pPr>
            <a:r>
              <a:rPr lang="en-US" dirty="0">
                <a:latin typeface="Calibri"/>
                <a:ea typeface="+mn-lt"/>
                <a:cs typeface="+mn-lt"/>
              </a:rPr>
              <a:t>Some </a:t>
            </a:r>
            <a:r>
              <a:rPr lang="en-US" b="1" dirty="0">
                <a:latin typeface="Calibri"/>
                <a:ea typeface="+mn-lt"/>
                <a:cs typeface="+mn-lt"/>
              </a:rPr>
              <a:t>internal PHY clocks are turned off</a:t>
            </a:r>
            <a:endParaRPr lang="en-US" dirty="0">
              <a:latin typeface="Calibri"/>
              <a:ea typeface="+mn-lt"/>
              <a:cs typeface="+mn-lt"/>
            </a:endParaRPr>
          </a:p>
          <a:p>
            <a:pPr lvl="1" algn="just">
              <a:buFont typeface="Courier New" panose="020B0604020202020204" pitchFamily="34" charset="0"/>
              <a:buChar char="o"/>
            </a:pPr>
            <a:r>
              <a:rPr lang="en-US" b="1" dirty="0">
                <a:latin typeface="Calibri"/>
                <a:ea typeface="+mn-lt"/>
                <a:cs typeface="+mn-lt"/>
              </a:rPr>
              <a:t>PCLK</a:t>
            </a:r>
            <a:r>
              <a:rPr lang="en-US" sz="2400" b="1" dirty="0">
                <a:latin typeface="Calibri"/>
                <a:ea typeface="+mn-lt"/>
                <a:cs typeface="+mn-lt"/>
              </a:rPr>
              <a:t> </a:t>
            </a:r>
            <a:r>
              <a:rPr lang="en-US" b="1" dirty="0">
                <a:latin typeface="Calibri"/>
                <a:ea typeface="+mn-lt"/>
                <a:cs typeface="+mn-lt"/>
              </a:rPr>
              <a:t>is turned OFF</a:t>
            </a:r>
            <a:endParaRPr lang="en-US" dirty="0">
              <a:latin typeface="Calibri"/>
              <a:ea typeface="+mn-lt"/>
              <a:cs typeface="+mn-lt"/>
            </a:endParaRPr>
          </a:p>
          <a:p>
            <a:pPr lvl="1" algn="just">
              <a:buFont typeface="Courier New" panose="020B0604020202020204" pitchFamily="34" charset="0"/>
              <a:buChar char="o"/>
            </a:pPr>
            <a:r>
              <a:rPr lang="en-US" dirty="0">
                <a:latin typeface="Calibri"/>
                <a:ea typeface="+mn-lt"/>
                <a:cs typeface="+mn-lt"/>
              </a:rPr>
              <a:t>The</a:t>
            </a:r>
            <a:r>
              <a:rPr lang="en-US" sz="2400" dirty="0">
                <a:latin typeface="Calibri"/>
                <a:ea typeface="+mn-lt"/>
                <a:cs typeface="+mn-lt"/>
              </a:rPr>
              <a:t> </a:t>
            </a:r>
            <a:r>
              <a:rPr lang="en-US" b="1" dirty="0">
                <a:latin typeface="Calibri"/>
                <a:ea typeface="+mn-lt"/>
                <a:cs typeface="+mn-lt"/>
              </a:rPr>
              <a:t>parallel interface operates in asynchronous mode</a:t>
            </a:r>
            <a:endParaRPr lang="en-US" b="1">
              <a:latin typeface="Calibri"/>
              <a:ea typeface="+mn-lt"/>
              <a:cs typeface="+mn-lt"/>
            </a:endParaRPr>
          </a:p>
          <a:p>
            <a:pPr lvl="1" algn="just">
              <a:buFont typeface="Courier New" panose="020B0604020202020204" pitchFamily="34" charset="0"/>
              <a:buChar char="o"/>
            </a:pPr>
            <a:r>
              <a:rPr lang="en-US" b="1" dirty="0">
                <a:latin typeface="Calibri"/>
                <a:ea typeface="+mn-lt"/>
                <a:cs typeface="+mn-lt"/>
              </a:rPr>
              <a:t>P2 state is used for LTSSM states</a:t>
            </a:r>
            <a:r>
              <a:rPr lang="en-US" dirty="0">
                <a:latin typeface="Calibri"/>
                <a:ea typeface="+mn-lt"/>
                <a:cs typeface="+mn-lt"/>
              </a:rPr>
              <a:t>:</a:t>
            </a:r>
            <a:endParaRPr lang="en-US">
              <a:latin typeface="Calibri"/>
              <a:ea typeface="+mn-lt"/>
              <a:cs typeface="+mn-lt"/>
            </a:endParaRPr>
          </a:p>
          <a:p>
            <a:pPr lvl="2" algn="just">
              <a:buFont typeface="Wingdings" panose="020B0604020202020204" pitchFamily="34" charset="0"/>
              <a:buChar char="§"/>
            </a:pPr>
            <a:r>
              <a:rPr lang="en-US" sz="2400" b="1" dirty="0">
                <a:latin typeface="Calibri"/>
                <a:ea typeface="+mn-lt"/>
                <a:cs typeface="+mn-lt"/>
              </a:rPr>
              <a:t>L1.Idle</a:t>
            </a:r>
            <a:endParaRPr lang="en-US" sz="2400">
              <a:latin typeface="Calibri"/>
              <a:ea typeface="+mn-lt"/>
              <a:cs typeface="+mn-lt"/>
            </a:endParaRPr>
          </a:p>
          <a:p>
            <a:pPr lvl="2" algn="just">
              <a:buFont typeface="Wingdings" panose="020B0604020202020204" pitchFamily="34" charset="0"/>
              <a:buChar char="§"/>
            </a:pPr>
            <a:r>
              <a:rPr lang="en-US" sz="2400" b="1" dirty="0">
                <a:latin typeface="Calibri"/>
                <a:ea typeface="+mn-lt"/>
                <a:cs typeface="+mn-lt"/>
              </a:rPr>
              <a:t>L2.Idle</a:t>
            </a:r>
            <a:endParaRPr lang="en-US" sz="2400">
              <a:latin typeface="Calibri"/>
              <a:ea typeface="Calibri"/>
              <a:cs typeface="Calibri"/>
            </a:endParaRPr>
          </a:p>
          <a:p>
            <a:pPr lvl="2" algn="just">
              <a:buFont typeface="Wingdings" panose="020B0604020202020204" pitchFamily="34" charset="0"/>
              <a:buChar char="§"/>
            </a:pPr>
            <a:r>
              <a:rPr lang="en-US" sz="2400" b="1" dirty="0">
                <a:latin typeface="Calibri"/>
                <a:ea typeface="+mn-lt"/>
                <a:cs typeface="+mn-lt"/>
              </a:rPr>
              <a:t>L2.TransmitWake</a:t>
            </a:r>
            <a:endParaRPr lang="en-US" sz="2400">
              <a:latin typeface="Calibri"/>
              <a:ea typeface="Calibri"/>
              <a:cs typeface="Calibri"/>
            </a:endParaRPr>
          </a:p>
          <a:p>
            <a:pPr lvl="1" algn="just">
              <a:lnSpc>
                <a:spcPct val="150000"/>
              </a:lnSpc>
              <a:buFont typeface="Courier New" panose="020B0604020202020204" pitchFamily="34" charset="0"/>
              <a:buChar char="o"/>
            </a:pPr>
            <a:endParaRPr lang="en-US" sz="2400" dirty="0">
              <a:latin typeface="Calibri"/>
              <a:ea typeface="Calibri"/>
              <a:cs typeface="Calibri"/>
            </a:endParaRPr>
          </a:p>
          <a:p>
            <a:pPr lvl="1" algn="just">
              <a:buFont typeface="Courier New" panose="020B0604020202020204" pitchFamily="34" charset="0"/>
              <a:buChar char="o"/>
            </a:pPr>
            <a:endParaRPr lang="en-US" b="1" dirty="0">
              <a:latin typeface="Calibri"/>
              <a:ea typeface="+mn-lt"/>
              <a:cs typeface="+mn-lt"/>
            </a:endParaRPr>
          </a:p>
          <a:p>
            <a:pPr marL="457200" lvl="1" indent="0" algn="just">
              <a:lnSpc>
                <a:spcPct val="100000"/>
              </a:lnSpc>
              <a:buNone/>
            </a:pPr>
            <a:endParaRPr lang="en-US" sz="2400" b="1" dirty="0">
              <a:latin typeface="Calibri"/>
              <a:ea typeface="Calibri"/>
              <a:cs typeface="Calibri"/>
            </a:endParaRPr>
          </a:p>
          <a:p>
            <a:pPr lvl="1" indent="-342900" algn="just">
              <a:buFont typeface="Courier New" panose="020B0604020202020204" pitchFamily="34" charset="0"/>
              <a:buChar char="o"/>
            </a:pPr>
            <a:endParaRPr lang="en-US" sz="2400" dirty="0">
              <a:latin typeface="Aptos" panose="020B0004020202020204"/>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8A356CBA-571F-8244-23EF-25B2713AA050}"/>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1491517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F2E17-DFDD-C6FE-CC35-5947F348A2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B3E9C-4C2A-1EA6-D836-8C0F5D493257}"/>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mn-lt"/>
                <a:cs typeface="+mn-lt"/>
              </a:rPr>
              <a:t>PCIe P2 Entry and Exit with PCLK as PHY Output</a:t>
            </a:r>
          </a:p>
          <a:p>
            <a:pPr lvl="1" algn="just">
              <a:buFont typeface="Courier New" panose="020B0604020202020204" pitchFamily="34" charset="0"/>
              <a:buChar char="o"/>
            </a:pPr>
            <a:r>
              <a:rPr lang="en-US" b="1" dirty="0">
                <a:latin typeface="Calibri"/>
                <a:ea typeface="+mn-lt"/>
                <a:cs typeface="+mn-lt"/>
              </a:rPr>
              <a:t>Entering P2 state</a:t>
            </a:r>
            <a:r>
              <a:rPr lang="en-US" dirty="0">
                <a:latin typeface="Calibri"/>
                <a:ea typeface="+mn-lt"/>
                <a:cs typeface="+mn-lt"/>
              </a:rPr>
              <a:t>:</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PHY </a:t>
            </a:r>
            <a:r>
              <a:rPr lang="en-US" sz="2400" b="1" dirty="0">
                <a:latin typeface="Calibri"/>
                <a:ea typeface="+mn-lt"/>
                <a:cs typeface="+mn-lt"/>
              </a:rPr>
              <a:t>asserts </a:t>
            </a:r>
            <a:r>
              <a:rPr lang="en-US" sz="2400" b="1" err="1">
                <a:latin typeface="Calibri"/>
                <a:ea typeface="+mn-lt"/>
                <a:cs typeface="+mn-lt"/>
              </a:rPr>
              <a:t>PhyStatus</a:t>
            </a:r>
            <a:r>
              <a:rPr lang="en-US" sz="2400" b="1" dirty="0">
                <a:latin typeface="Calibri"/>
                <a:ea typeface="+mn-lt"/>
                <a:cs typeface="+mn-lt"/>
              </a:rPr>
              <a:t> before PCLK is turned OFF</a:t>
            </a:r>
            <a:endParaRPr lang="en-US" sz="2400">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PHY then </a:t>
            </a:r>
            <a:r>
              <a:rPr lang="en-US" sz="2400" b="1" err="1">
                <a:latin typeface="Calibri"/>
                <a:ea typeface="+mn-lt"/>
                <a:cs typeface="+mn-lt"/>
              </a:rPr>
              <a:t>deasserts</a:t>
            </a:r>
            <a:r>
              <a:rPr lang="en-US" sz="2400" b="1" dirty="0">
                <a:latin typeface="Calibri"/>
                <a:ea typeface="+mn-lt"/>
                <a:cs typeface="+mn-lt"/>
              </a:rPr>
              <a:t> </a:t>
            </a:r>
            <a:r>
              <a:rPr lang="en-US" sz="2400" b="1" err="1">
                <a:latin typeface="Calibri"/>
                <a:ea typeface="+mn-lt"/>
                <a:cs typeface="+mn-lt"/>
              </a:rPr>
              <a:t>PhyStatus</a:t>
            </a:r>
            <a:r>
              <a:rPr lang="en-US" sz="2400" b="1" dirty="0">
                <a:latin typeface="Calibri"/>
                <a:ea typeface="+mn-lt"/>
                <a:cs typeface="+mn-lt"/>
              </a:rPr>
              <a:t> once PCLK is fully OFF</a:t>
            </a:r>
            <a:endParaRPr lang="en-US" sz="2400">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This indicates the PHY has </a:t>
            </a:r>
            <a:r>
              <a:rPr lang="en-US" sz="2400" b="1" dirty="0">
                <a:latin typeface="Calibri"/>
                <a:ea typeface="+mn-lt"/>
                <a:cs typeface="+mn-lt"/>
              </a:rPr>
              <a:t>successfully entered P2</a:t>
            </a:r>
            <a:endParaRPr lang="en-US" sz="2400">
              <a:latin typeface="Calibri"/>
              <a:ea typeface="Calibri"/>
              <a:cs typeface="Calibri"/>
            </a:endParaRPr>
          </a:p>
          <a:p>
            <a:pPr lvl="1" algn="just">
              <a:lnSpc>
                <a:spcPct val="150000"/>
              </a:lnSpc>
              <a:buFont typeface="Courier New" panose="020B0604020202020204" pitchFamily="34" charset="0"/>
              <a:buChar char="o"/>
            </a:pPr>
            <a:endParaRPr lang="en-US" sz="2400" dirty="0">
              <a:latin typeface="Aptos"/>
              <a:ea typeface="Calibri"/>
              <a:cs typeface="Calibri"/>
            </a:endParaRPr>
          </a:p>
          <a:p>
            <a:pPr lvl="1" algn="just">
              <a:buFont typeface="Courier New" panose="020B0604020202020204" pitchFamily="34" charset="0"/>
              <a:buChar char="o"/>
            </a:pPr>
            <a:endParaRPr lang="en-US" b="1" dirty="0">
              <a:latin typeface="Calibri"/>
              <a:ea typeface="+mn-lt"/>
              <a:cs typeface="+mn-lt"/>
            </a:endParaRPr>
          </a:p>
          <a:p>
            <a:pPr marL="457200" lvl="1" indent="0" algn="just">
              <a:lnSpc>
                <a:spcPct val="100000"/>
              </a:lnSpc>
              <a:buNone/>
            </a:pPr>
            <a:endParaRPr lang="en-US" sz="2400" b="1" dirty="0">
              <a:latin typeface="Calibri"/>
              <a:ea typeface="Calibri"/>
              <a:cs typeface="Calibri"/>
            </a:endParaRPr>
          </a:p>
          <a:p>
            <a:pPr lvl="1" indent="-342900" algn="just">
              <a:buFont typeface="Courier New" panose="020B0604020202020204" pitchFamily="34" charset="0"/>
              <a:buChar char="o"/>
            </a:pPr>
            <a:endParaRPr lang="en-US" sz="2400" dirty="0">
              <a:latin typeface="Aptos" panose="020B0004020202020204"/>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E2F13486-77EF-9B4D-20C4-0B5762765FC1}"/>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a:extLst>
              <a:ext uri="{FF2B5EF4-FFF2-40B4-BE49-F238E27FC236}">
                <a16:creationId xmlns:a16="http://schemas.microsoft.com/office/drawing/2014/main" id="{C9F97FA1-EF87-F825-983D-2497F23F438F}"/>
              </a:ext>
            </a:extLst>
          </p:cNvPr>
          <p:cNvPicPr>
            <a:picLocks noChangeAspect="1"/>
          </p:cNvPicPr>
          <p:nvPr/>
        </p:nvPicPr>
        <p:blipFill>
          <a:blip r:embed="rId2"/>
          <a:stretch>
            <a:fillRect/>
          </a:stretch>
        </p:blipFill>
        <p:spPr>
          <a:xfrm>
            <a:off x="767428" y="3293103"/>
            <a:ext cx="10639425" cy="2752725"/>
          </a:xfrm>
          <a:prstGeom prst="rect">
            <a:avLst/>
          </a:prstGeom>
        </p:spPr>
      </p:pic>
    </p:spTree>
    <p:extLst>
      <p:ext uri="{BB962C8B-B14F-4D97-AF65-F5344CB8AC3E}">
        <p14:creationId xmlns:p14="http://schemas.microsoft.com/office/powerpoint/2010/main" val="20334647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CFC55-BB5C-4D4A-C2AB-CEA59EF2F7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5556D-9211-C2B9-339D-68B97EE4E028}"/>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Calibri"/>
                <a:cs typeface="Calibri"/>
              </a:rPr>
              <a:t>PCIe P2 Entry and Exit with PCLK as PHY Output</a:t>
            </a:r>
            <a:endParaRPr lang="en-US" sz="2400" dirty="0">
              <a:latin typeface="Calibri"/>
              <a:ea typeface="Calibri"/>
              <a:cs typeface="Calibri"/>
            </a:endParaRPr>
          </a:p>
          <a:p>
            <a:pPr lvl="1" algn="just">
              <a:buFont typeface="Courier New" panose="020B0604020202020204" pitchFamily="34" charset="0"/>
              <a:buChar char="o"/>
            </a:pPr>
            <a:r>
              <a:rPr lang="en-US" b="1" dirty="0">
                <a:latin typeface="Calibri"/>
                <a:ea typeface="+mn-lt"/>
                <a:cs typeface="+mn-lt"/>
              </a:rPr>
              <a:t>Exiting P2 state</a:t>
            </a:r>
            <a:r>
              <a:rPr lang="en-US" dirty="0">
                <a:latin typeface="Calibri"/>
                <a:ea typeface="+mn-lt"/>
                <a:cs typeface="+mn-lt"/>
              </a:rPr>
              <a:t>:</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PHY </a:t>
            </a:r>
            <a:r>
              <a:rPr lang="en-US" sz="2400" b="1" dirty="0">
                <a:latin typeface="Calibri"/>
                <a:ea typeface="+mn-lt"/>
                <a:cs typeface="+mn-lt"/>
              </a:rPr>
              <a:t>asserts </a:t>
            </a:r>
            <a:r>
              <a:rPr lang="en-US" sz="2400" b="1" err="1">
                <a:latin typeface="Calibri"/>
                <a:ea typeface="+mn-lt"/>
                <a:cs typeface="+mn-lt"/>
              </a:rPr>
              <a:t>PhyStatus</a:t>
            </a:r>
            <a:r>
              <a:rPr lang="en-US" sz="2400" b="1" dirty="0">
                <a:latin typeface="Calibri"/>
                <a:ea typeface="+mn-lt"/>
                <a:cs typeface="+mn-lt"/>
              </a:rPr>
              <a:t> as soon as possible</a:t>
            </a:r>
            <a:endParaRPr lang="en-US" sz="2400">
              <a:latin typeface="Calibri"/>
              <a:ea typeface="Calibri"/>
              <a:cs typeface="Calibri"/>
            </a:endParaRPr>
          </a:p>
          <a:p>
            <a:pPr lvl="2" algn="just">
              <a:buFont typeface="Wingdings" panose="020B0604020202020204" pitchFamily="34" charset="0"/>
              <a:buChar char="§"/>
            </a:pPr>
            <a:r>
              <a:rPr lang="en-US" sz="2400" err="1">
                <a:latin typeface="Calibri"/>
                <a:ea typeface="+mn-lt"/>
                <a:cs typeface="+mn-lt"/>
              </a:rPr>
              <a:t>PhyStatus</a:t>
            </a:r>
            <a:r>
              <a:rPr lang="en-US" sz="2400" dirty="0">
                <a:latin typeface="Calibri"/>
                <a:ea typeface="+mn-lt"/>
                <a:cs typeface="+mn-lt"/>
              </a:rPr>
              <a:t> remains </a:t>
            </a:r>
            <a:r>
              <a:rPr lang="en-US" sz="2400" b="1" dirty="0">
                <a:latin typeface="Calibri"/>
                <a:ea typeface="+mn-lt"/>
                <a:cs typeface="+mn-lt"/>
              </a:rPr>
              <a:t>asserted until PCLK becomes stable</a:t>
            </a:r>
            <a:endParaRPr lang="en-US" sz="2400" dirty="0">
              <a:latin typeface="Calibri"/>
              <a:ea typeface="+mn-lt"/>
              <a:cs typeface="+mn-lt"/>
            </a:endParaRPr>
          </a:p>
          <a:p>
            <a:pPr lvl="2" algn="just">
              <a:buFont typeface="Wingdings" panose="020B0604020202020204" pitchFamily="34" charset="0"/>
              <a:buChar char="§"/>
            </a:pPr>
            <a:r>
              <a:rPr lang="en-US" sz="2400" dirty="0">
                <a:latin typeface="Calibri"/>
                <a:ea typeface="+mn-lt"/>
                <a:cs typeface="+mn-lt"/>
              </a:rPr>
              <a:t>This indicates the PHY is </a:t>
            </a:r>
            <a:r>
              <a:rPr lang="en-US" sz="2400" b="1" dirty="0">
                <a:latin typeface="Calibri"/>
                <a:ea typeface="+mn-lt"/>
                <a:cs typeface="+mn-lt"/>
              </a:rPr>
              <a:t>ready to resume operation</a:t>
            </a:r>
            <a:endParaRPr lang="en-US" sz="2400">
              <a:latin typeface="Calibri"/>
              <a:ea typeface="Calibri"/>
              <a:cs typeface="Calibri"/>
            </a:endParaRPr>
          </a:p>
          <a:p>
            <a:pPr algn="just"/>
            <a:endParaRPr lang="en-US" sz="2400" b="1" dirty="0">
              <a:latin typeface="Calibri"/>
              <a:ea typeface="Calibri"/>
              <a:cs typeface="Calibri"/>
            </a:endParaRPr>
          </a:p>
          <a:p>
            <a:pPr lvl="1" algn="just">
              <a:lnSpc>
                <a:spcPct val="150000"/>
              </a:lnSpc>
              <a:buFont typeface="Courier New" panose="020B0604020202020204" pitchFamily="34" charset="0"/>
              <a:buChar char="o"/>
            </a:pPr>
            <a:endParaRPr lang="en-US" sz="2400" dirty="0">
              <a:latin typeface="Aptos"/>
              <a:ea typeface="Calibri"/>
              <a:cs typeface="Calibri"/>
            </a:endParaRPr>
          </a:p>
          <a:p>
            <a:pPr lvl="1" algn="just">
              <a:buFont typeface="Courier New" panose="020B0604020202020204" pitchFamily="34" charset="0"/>
              <a:buChar char="o"/>
            </a:pPr>
            <a:endParaRPr lang="en-US" b="1" dirty="0">
              <a:latin typeface="Calibri"/>
              <a:ea typeface="+mn-lt"/>
              <a:cs typeface="+mn-lt"/>
            </a:endParaRPr>
          </a:p>
          <a:p>
            <a:pPr marL="457200" lvl="1" indent="0" algn="just">
              <a:lnSpc>
                <a:spcPct val="100000"/>
              </a:lnSpc>
              <a:buNone/>
            </a:pPr>
            <a:endParaRPr lang="en-US" sz="2400" b="1" dirty="0">
              <a:latin typeface="Calibri"/>
              <a:ea typeface="Calibri"/>
              <a:cs typeface="Calibri"/>
            </a:endParaRPr>
          </a:p>
          <a:p>
            <a:pPr lvl="1" indent="-342900" algn="just">
              <a:buFont typeface="Courier New" panose="020B0604020202020204" pitchFamily="34" charset="0"/>
              <a:buChar char="o"/>
            </a:pPr>
            <a:endParaRPr lang="en-US" sz="2400" dirty="0">
              <a:latin typeface="Aptos" panose="020B0004020202020204"/>
              <a:ea typeface="Calibri"/>
              <a:cs typeface="Calibri"/>
            </a:endParaRPr>
          </a:p>
          <a:p>
            <a:pPr lvl="1" indent="-342900" algn="just">
              <a:buFont typeface="Courier New" panose="020B0604020202020204" pitchFamily="34" charset="0"/>
              <a:buChar char="o"/>
            </a:pPr>
            <a:endParaRPr lang="en-US" b="1" dirty="0">
              <a:latin typeface="Aptos" panose="020B0004020202020204"/>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AB63587D-DAC3-2E18-1F06-273F3BB29679}"/>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white rectangular object with black lines&#10;&#10;AI-generated content may be incorrect.">
            <a:extLst>
              <a:ext uri="{FF2B5EF4-FFF2-40B4-BE49-F238E27FC236}">
                <a16:creationId xmlns:a16="http://schemas.microsoft.com/office/drawing/2014/main" id="{05D25967-8327-2450-DD59-723246183648}"/>
              </a:ext>
            </a:extLst>
          </p:cNvPr>
          <p:cNvPicPr>
            <a:picLocks noChangeAspect="1"/>
          </p:cNvPicPr>
          <p:nvPr/>
        </p:nvPicPr>
        <p:blipFill>
          <a:blip r:embed="rId2"/>
          <a:stretch>
            <a:fillRect/>
          </a:stretch>
        </p:blipFill>
        <p:spPr>
          <a:xfrm>
            <a:off x="690563" y="3429484"/>
            <a:ext cx="10810875" cy="2276475"/>
          </a:xfrm>
          <a:prstGeom prst="rect">
            <a:avLst/>
          </a:prstGeom>
        </p:spPr>
      </p:pic>
    </p:spTree>
    <p:extLst>
      <p:ext uri="{BB962C8B-B14F-4D97-AF65-F5344CB8AC3E}">
        <p14:creationId xmlns:p14="http://schemas.microsoft.com/office/powerpoint/2010/main" val="22069206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80C57-0A02-CC7B-C569-E2A933595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2DFCF2-BEFE-BB7D-4940-07A28DAFE829}"/>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mn-lt"/>
                <a:cs typeface="+mn-lt"/>
              </a:rPr>
              <a:t>PCIe P2 Entry and Exit with PCLK as PHY Input</a:t>
            </a:r>
          </a:p>
          <a:p>
            <a:pPr lvl="1" algn="just">
              <a:buFont typeface="Courier New" panose="020B0604020202020204" pitchFamily="34" charset="0"/>
              <a:buChar char="o"/>
            </a:pPr>
            <a:r>
              <a:rPr lang="en-US" b="1" dirty="0">
                <a:latin typeface="Calibri"/>
                <a:ea typeface="+mn-lt"/>
                <a:cs typeface="+mn-lt"/>
              </a:rPr>
              <a:t>Entering P2 state</a:t>
            </a:r>
            <a:r>
              <a:rPr lang="en-US" dirty="0">
                <a:latin typeface="Calibri"/>
                <a:ea typeface="+mn-lt"/>
                <a:cs typeface="+mn-lt"/>
              </a:rPr>
              <a:t>:</a:t>
            </a:r>
          </a:p>
          <a:p>
            <a:pPr lvl="2" algn="just">
              <a:buFont typeface="Wingdings" panose="020B0604020202020204" pitchFamily="34" charset="0"/>
              <a:buChar char="§"/>
            </a:pPr>
            <a:r>
              <a:rPr lang="en-US" sz="2400" dirty="0">
                <a:latin typeface="Calibri"/>
                <a:ea typeface="+mn-lt"/>
                <a:cs typeface="+mn-lt"/>
              </a:rPr>
              <a:t>PHY </a:t>
            </a:r>
            <a:r>
              <a:rPr lang="en-US" sz="2400" b="1" dirty="0">
                <a:latin typeface="Calibri"/>
                <a:ea typeface="+mn-lt"/>
                <a:cs typeface="+mn-lt"/>
              </a:rPr>
              <a:t>asserts </a:t>
            </a:r>
            <a:r>
              <a:rPr lang="en-US" sz="2400" b="1" err="1">
                <a:latin typeface="Calibri"/>
                <a:ea typeface="+mn-lt"/>
                <a:cs typeface="+mn-lt"/>
              </a:rPr>
              <a:t>PhyStatus</a:t>
            </a:r>
            <a:r>
              <a:rPr lang="en-US" sz="2400" b="1" dirty="0">
                <a:latin typeface="Calibri"/>
                <a:ea typeface="+mn-lt"/>
                <a:cs typeface="+mn-lt"/>
              </a:rPr>
              <a:t> for one PCLK cycle</a:t>
            </a:r>
            <a:endParaRPr lang="en-US" sz="2400">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This indicates the PHY is </a:t>
            </a:r>
            <a:r>
              <a:rPr lang="en-US" sz="2400" b="1" dirty="0">
                <a:latin typeface="Calibri"/>
                <a:ea typeface="+mn-lt"/>
                <a:cs typeface="+mn-lt"/>
              </a:rPr>
              <a:t>ready for PCLK to be removed</a:t>
            </a:r>
            <a:endParaRPr lang="en-US" sz="2400">
              <a:latin typeface="Calibri"/>
              <a:ea typeface="Calibri"/>
              <a:cs typeface="Calibri"/>
            </a:endParaRPr>
          </a:p>
          <a:p>
            <a:pPr lvl="1" algn="just">
              <a:buFont typeface="Courier New" panose="020B0604020202020204" pitchFamily="34" charset="0"/>
              <a:buChar char="o"/>
            </a:pPr>
            <a:r>
              <a:rPr lang="en-US" b="1" dirty="0">
                <a:latin typeface="Calibri"/>
                <a:ea typeface="+mn-lt"/>
                <a:cs typeface="+mn-lt"/>
              </a:rPr>
              <a:t>Exiting P2 state</a:t>
            </a:r>
            <a:r>
              <a:rPr lang="en-US" dirty="0">
                <a:latin typeface="Calibri"/>
                <a:ea typeface="+mn-lt"/>
                <a:cs typeface="+mn-lt"/>
              </a:rPr>
              <a:t>:</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PHY </a:t>
            </a:r>
            <a:r>
              <a:rPr lang="en-US" sz="2400" b="1" dirty="0">
                <a:latin typeface="Calibri"/>
                <a:ea typeface="+mn-lt"/>
                <a:cs typeface="+mn-lt"/>
              </a:rPr>
              <a:t>asserts </a:t>
            </a:r>
            <a:r>
              <a:rPr lang="en-US" sz="2400" b="1" err="1">
                <a:latin typeface="Calibri"/>
                <a:ea typeface="+mn-lt"/>
                <a:cs typeface="+mn-lt"/>
              </a:rPr>
              <a:t>PhyStatus</a:t>
            </a:r>
            <a:r>
              <a:rPr lang="en-US" sz="2400" b="1" dirty="0">
                <a:latin typeface="Calibri"/>
                <a:ea typeface="+mn-lt"/>
                <a:cs typeface="+mn-lt"/>
              </a:rPr>
              <a:t> for one PCLK cycle</a:t>
            </a:r>
            <a:r>
              <a:rPr lang="en-US" sz="2400" dirty="0">
                <a:latin typeface="Calibri"/>
                <a:ea typeface="+mn-lt"/>
                <a:cs typeface="+mn-lt"/>
              </a:rPr>
              <a:t> as soon as possible</a:t>
            </a:r>
          </a:p>
          <a:p>
            <a:pPr lvl="2" algn="just">
              <a:buFont typeface="Wingdings" panose="020B0604020202020204" pitchFamily="34" charset="0"/>
              <a:buChar char="§"/>
            </a:pPr>
            <a:r>
              <a:rPr lang="en-US" sz="2400" dirty="0">
                <a:latin typeface="Calibri"/>
                <a:ea typeface="+mn-lt"/>
                <a:cs typeface="+mn-lt"/>
              </a:rPr>
              <a:t>This occurs after the PHY transitions back to </a:t>
            </a:r>
            <a:r>
              <a:rPr lang="en-US" sz="2400" b="1" dirty="0">
                <a:latin typeface="Calibri"/>
                <a:ea typeface="+mn-lt"/>
                <a:cs typeface="+mn-lt"/>
              </a:rPr>
              <a:t>P0</a:t>
            </a:r>
            <a:endParaRPr lang="en-US" sz="2400">
              <a:latin typeface="Calibri"/>
              <a:ea typeface="Calibri"/>
              <a:cs typeface="Calibri"/>
            </a:endParaRPr>
          </a:p>
          <a:p>
            <a:pPr lvl="2" algn="just">
              <a:buFont typeface="Wingdings" panose="020B0604020202020204" pitchFamily="34" charset="0"/>
              <a:buChar char="§"/>
            </a:pPr>
            <a:r>
              <a:rPr lang="en-US" sz="2400" dirty="0">
                <a:latin typeface="Calibri"/>
                <a:ea typeface="+mn-lt"/>
                <a:cs typeface="+mn-lt"/>
              </a:rPr>
              <a:t>Indicates the PHY is </a:t>
            </a:r>
            <a:r>
              <a:rPr lang="en-US" sz="2400" b="1" dirty="0">
                <a:latin typeface="Calibri"/>
                <a:ea typeface="+mn-lt"/>
                <a:cs typeface="+mn-lt"/>
              </a:rPr>
              <a:t>ready for normal operation</a:t>
            </a:r>
            <a:endParaRPr lang="en-US" sz="2400">
              <a:latin typeface="Calibri"/>
            </a:endParaRPr>
          </a:p>
          <a:p>
            <a:pPr lvl="1"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6BE721BB-196B-717C-6E19-30083E831515}"/>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computer">
            <a:extLst>
              <a:ext uri="{FF2B5EF4-FFF2-40B4-BE49-F238E27FC236}">
                <a16:creationId xmlns:a16="http://schemas.microsoft.com/office/drawing/2014/main" id="{4BFCD489-C5A6-1FD8-96CC-40A313889FD9}"/>
              </a:ext>
            </a:extLst>
          </p:cNvPr>
          <p:cNvPicPr>
            <a:picLocks noChangeAspect="1"/>
          </p:cNvPicPr>
          <p:nvPr/>
        </p:nvPicPr>
        <p:blipFill>
          <a:blip r:embed="rId2"/>
          <a:stretch>
            <a:fillRect/>
          </a:stretch>
        </p:blipFill>
        <p:spPr>
          <a:xfrm>
            <a:off x="377124" y="4288576"/>
            <a:ext cx="10906125" cy="2409825"/>
          </a:xfrm>
          <a:prstGeom prst="rect">
            <a:avLst/>
          </a:prstGeom>
        </p:spPr>
      </p:pic>
    </p:spTree>
    <p:extLst>
      <p:ext uri="{BB962C8B-B14F-4D97-AF65-F5344CB8AC3E}">
        <p14:creationId xmlns:p14="http://schemas.microsoft.com/office/powerpoint/2010/main" val="11406840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38622-3C62-3991-F1D3-C372B4A12F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EC7819-5FDF-83EF-1788-A5C55C38A716}"/>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Calibri"/>
                <a:cs typeface="Calibri"/>
              </a:rPr>
              <a:t>Transitions Without PCLK &amp; P2 Power Behavior</a:t>
            </a:r>
            <a:endParaRPr lang="en-US" sz="2400" b="1">
              <a:latin typeface="Calibri"/>
              <a:ea typeface="Calibri"/>
              <a:cs typeface="Calibri"/>
            </a:endParaRPr>
          </a:p>
          <a:p>
            <a:pPr lvl="1" algn="just">
              <a:lnSpc>
                <a:spcPct val="150000"/>
              </a:lnSpc>
              <a:buFont typeface="Courier New" panose="020B0604020202020204" pitchFamily="34" charset="0"/>
              <a:buChar char="o"/>
            </a:pPr>
            <a:r>
              <a:rPr lang="en-US" dirty="0">
                <a:latin typeface="Calibri"/>
                <a:ea typeface="Calibri"/>
                <a:cs typeface="Calibri"/>
              </a:rPr>
              <a:t>When</a:t>
            </a:r>
            <a:r>
              <a:rPr lang="en-US" dirty="0">
                <a:latin typeface="Calibri"/>
                <a:ea typeface="+mn-lt"/>
                <a:cs typeface="+mn-lt"/>
              </a:rPr>
              <a:t> transitioning </a:t>
            </a:r>
            <a:r>
              <a:rPr lang="en-US" b="1" dirty="0">
                <a:latin typeface="Calibri"/>
                <a:ea typeface="+mn-lt"/>
                <a:cs typeface="+mn-lt"/>
              </a:rPr>
              <a:t>between two power states where PCLK is not available</a:t>
            </a:r>
            <a:r>
              <a:rPr lang="en-US" dirty="0">
                <a:latin typeface="Calibri"/>
                <a:ea typeface="+mn-lt"/>
                <a:cs typeface="+mn-lt"/>
              </a:rPr>
              <a:t>:</a:t>
            </a:r>
            <a:endParaRPr lang="en-US">
              <a:latin typeface="Calibri"/>
              <a:ea typeface="Calibri"/>
              <a:cs typeface="Calibri"/>
            </a:endParaRPr>
          </a:p>
          <a:p>
            <a:pPr lvl="2" algn="just">
              <a:lnSpc>
                <a:spcPct val="150000"/>
              </a:lnSpc>
              <a:buFont typeface="Wingdings" panose="020B0604020202020204" pitchFamily="34" charset="0"/>
              <a:buChar char="§"/>
            </a:pPr>
            <a:r>
              <a:rPr lang="en-US" sz="2400" dirty="0">
                <a:latin typeface="Calibri"/>
                <a:ea typeface="+mn-lt"/>
                <a:cs typeface="+mn-lt"/>
              </a:rPr>
              <a:t>The PHY </a:t>
            </a:r>
            <a:r>
              <a:rPr lang="en-US" sz="2400" b="1" dirty="0">
                <a:latin typeface="Calibri"/>
                <a:ea typeface="+mn-lt"/>
                <a:cs typeface="+mn-lt"/>
              </a:rPr>
              <a:t>asserts </a:t>
            </a:r>
            <a:r>
              <a:rPr lang="en-US" sz="2400" b="1" err="1">
                <a:latin typeface="Calibri"/>
                <a:ea typeface="Calibri"/>
                <a:cs typeface="Calibri"/>
              </a:rPr>
              <a:t>PhyStatus</a:t>
            </a:r>
            <a:r>
              <a:rPr lang="en-US" sz="2400" dirty="0">
                <a:latin typeface="Calibri"/>
                <a:ea typeface="+mn-lt"/>
                <a:cs typeface="+mn-lt"/>
              </a:rPr>
              <a:t> once the transition is complete</a:t>
            </a:r>
            <a:endParaRPr lang="en-US" sz="2400">
              <a:latin typeface="Calibri"/>
              <a:ea typeface="Calibri"/>
              <a:cs typeface="Calibri"/>
            </a:endParaRPr>
          </a:p>
          <a:p>
            <a:pPr lvl="2" algn="just">
              <a:lnSpc>
                <a:spcPct val="150000"/>
              </a:lnSpc>
              <a:buFont typeface="Wingdings" panose="020B0604020202020204" pitchFamily="34" charset="0"/>
              <a:buChar char="§"/>
            </a:pPr>
            <a:r>
              <a:rPr lang="en-US" sz="2400" err="1">
                <a:latin typeface="Calibri"/>
                <a:ea typeface="Calibri"/>
                <a:cs typeface="Calibri"/>
              </a:rPr>
              <a:t>PhyStatus</a:t>
            </a:r>
            <a:r>
              <a:rPr lang="en-US" sz="2400" dirty="0">
                <a:latin typeface="Calibri"/>
                <a:ea typeface="+mn-lt"/>
                <a:cs typeface="+mn-lt"/>
              </a:rPr>
              <a:t> remains asserted until the MAC asserts </a:t>
            </a:r>
            <a:r>
              <a:rPr lang="en-US" sz="2400" b="1" err="1">
                <a:latin typeface="Calibri"/>
                <a:ea typeface="Calibri"/>
                <a:cs typeface="Calibri"/>
              </a:rPr>
              <a:t>AsyncPowerChangeAck</a:t>
            </a:r>
            <a:endParaRPr lang="en-US" sz="2400">
              <a:latin typeface="Calibri"/>
              <a:ea typeface="Calibri"/>
              <a:cs typeface="Calibri"/>
            </a:endParaRPr>
          </a:p>
          <a:p>
            <a:pPr lvl="2" algn="just">
              <a:lnSpc>
                <a:spcPct val="150000"/>
              </a:lnSpc>
              <a:buFont typeface="Wingdings" panose="020B0604020202020204" pitchFamily="34" charset="0"/>
              <a:buChar char="§"/>
            </a:pPr>
            <a:r>
              <a:rPr lang="en-US" sz="2400" dirty="0">
                <a:latin typeface="Calibri"/>
                <a:ea typeface="+mn-lt"/>
                <a:cs typeface="+mn-lt"/>
              </a:rPr>
              <a:t>After receiving </a:t>
            </a:r>
            <a:r>
              <a:rPr lang="en-US" sz="2400" err="1">
                <a:latin typeface="Calibri"/>
                <a:ea typeface="Calibri"/>
                <a:cs typeface="Calibri"/>
              </a:rPr>
              <a:t>AsyncPowerChangeAck</a:t>
            </a:r>
            <a:r>
              <a:rPr lang="en-US" sz="2400" dirty="0">
                <a:latin typeface="Calibri"/>
                <a:ea typeface="+mn-lt"/>
                <a:cs typeface="+mn-lt"/>
              </a:rPr>
              <a:t>, the PHY </a:t>
            </a:r>
            <a:r>
              <a:rPr lang="en-US" sz="2400" b="1" err="1">
                <a:latin typeface="Calibri"/>
                <a:ea typeface="+mn-lt"/>
                <a:cs typeface="+mn-lt"/>
              </a:rPr>
              <a:t>deasserts</a:t>
            </a:r>
            <a:r>
              <a:rPr lang="en-US" sz="2400" b="1" dirty="0">
                <a:latin typeface="Calibri"/>
                <a:ea typeface="+mn-lt"/>
                <a:cs typeface="+mn-lt"/>
              </a:rPr>
              <a:t> </a:t>
            </a:r>
            <a:r>
              <a:rPr lang="en-US" sz="2400" b="1" err="1">
                <a:latin typeface="Calibri"/>
                <a:ea typeface="Calibri"/>
                <a:cs typeface="Calibri"/>
              </a:rPr>
              <a:t>PhyStatus</a:t>
            </a:r>
            <a:endParaRPr lang="en-US" sz="2400">
              <a:latin typeface="Calibri"/>
              <a:ea typeface="Calibri"/>
              <a:cs typeface="Calibri"/>
            </a:endParaRPr>
          </a:p>
          <a:p>
            <a:pPr lvl="1" algn="just">
              <a:lnSpc>
                <a:spcPct val="150000"/>
              </a:lnSpc>
              <a:buFont typeface="Courier New" panose="020B0604020202020204" pitchFamily="34" charset="0"/>
              <a:buChar char="o"/>
            </a:pPr>
            <a:r>
              <a:rPr lang="en-US" dirty="0">
                <a:latin typeface="Calibri"/>
                <a:ea typeface="+mn-lt"/>
                <a:cs typeface="+mn-lt"/>
              </a:rPr>
              <a:t>In </a:t>
            </a:r>
            <a:r>
              <a:rPr lang="en-US" b="1" dirty="0">
                <a:latin typeface="Calibri"/>
                <a:ea typeface="+mn-lt"/>
                <a:cs typeface="+mn-lt"/>
              </a:rPr>
              <a:t>P2 state</a:t>
            </a:r>
            <a:r>
              <a:rPr lang="en-US" dirty="0">
                <a:latin typeface="Calibri"/>
                <a:ea typeface="+mn-lt"/>
                <a:cs typeface="+mn-lt"/>
              </a:rPr>
              <a:t>, the PHY should be designed to </a:t>
            </a:r>
            <a:r>
              <a:rPr lang="en-US" b="1" dirty="0">
                <a:latin typeface="Calibri"/>
                <a:ea typeface="+mn-lt"/>
                <a:cs typeface="+mn-lt"/>
              </a:rPr>
              <a:t>minimize power consumption</a:t>
            </a:r>
            <a:endParaRPr lang="en-US">
              <a:latin typeface="Calibri"/>
              <a:ea typeface="Calibri"/>
              <a:cs typeface="Calibri"/>
            </a:endParaRPr>
          </a:p>
          <a:p>
            <a:pPr lvl="1" algn="just">
              <a:lnSpc>
                <a:spcPct val="150000"/>
              </a:lnSpc>
              <a:buFont typeface="Courier New" panose="020B0604020202020204" pitchFamily="34" charset="0"/>
              <a:buChar char="o"/>
            </a:pPr>
            <a:r>
              <a:rPr lang="en-US" dirty="0">
                <a:latin typeface="Calibri"/>
                <a:ea typeface="+mn-lt"/>
                <a:cs typeface="+mn-lt"/>
              </a:rPr>
              <a:t>This is important because, in P2, the device operates under </a:t>
            </a:r>
            <a:r>
              <a:rPr lang="en-US" b="1" dirty="0">
                <a:latin typeface="Calibri"/>
                <a:ea typeface="+mn-lt"/>
                <a:cs typeface="+mn-lt"/>
              </a:rPr>
              <a:t>VAUX power limits</a:t>
            </a:r>
            <a:r>
              <a:rPr lang="en-US" dirty="0">
                <a:latin typeface="Calibri"/>
                <a:ea typeface="+mn-lt"/>
                <a:cs typeface="+mn-lt"/>
              </a:rPr>
              <a:t> defined by the PCIe specification</a:t>
            </a:r>
            <a:endParaRPr lang="en-US">
              <a:latin typeface="Calibri"/>
              <a:ea typeface="Calibri"/>
              <a:cs typeface="Calibri"/>
            </a:endParaRPr>
          </a:p>
          <a:p>
            <a:pPr algn="just"/>
            <a:endParaRPr lang="en-US" sz="2400" dirty="0">
              <a:latin typeface="Calibri"/>
              <a:ea typeface="Calibri"/>
              <a:cs typeface="Calibri"/>
            </a:endParaRPr>
          </a:p>
        </p:txBody>
      </p:sp>
      <p:sp>
        <p:nvSpPr>
          <p:cNvPr id="5" name="Title 1">
            <a:extLst>
              <a:ext uri="{FF2B5EF4-FFF2-40B4-BE49-F238E27FC236}">
                <a16:creationId xmlns:a16="http://schemas.microsoft.com/office/drawing/2014/main" id="{4DF82EA3-9CB3-09E2-800A-FB5689E4CD83}"/>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494907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C267-AE9A-35FA-E631-4ED0881CD7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E90EB-8125-43CC-B3CF-36DAAC6E6E6E}"/>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Calibri"/>
                <a:cs typeface="Calibri"/>
              </a:rPr>
              <a:t>Legal PHY Power State Transitions</a:t>
            </a:r>
            <a:endParaRPr lang="en-US" sz="2400">
              <a:latin typeface="Calibri"/>
              <a:ea typeface="Calibri"/>
              <a:cs typeface="Calibri"/>
            </a:endParaRPr>
          </a:p>
          <a:p>
            <a:pPr lvl="1" algn="just">
              <a:buFont typeface="Courier New" panose="020B0604020202020204" pitchFamily="34" charset="0"/>
              <a:buChar char="o"/>
            </a:pPr>
            <a:r>
              <a:rPr lang="en-US" dirty="0">
                <a:latin typeface="Calibri"/>
                <a:ea typeface="+mn-lt"/>
                <a:cs typeface="+mn-lt"/>
              </a:rPr>
              <a:t>The MAC is allowed to request </a:t>
            </a:r>
            <a:r>
              <a:rPr lang="en-US" b="1" dirty="0">
                <a:latin typeface="Calibri"/>
                <a:ea typeface="+mn-lt"/>
                <a:cs typeface="+mn-lt"/>
              </a:rPr>
              <a:t>only specific power state transitions</a:t>
            </a:r>
            <a:r>
              <a:rPr lang="en-US" dirty="0">
                <a:latin typeface="Calibri"/>
                <a:ea typeface="+mn-lt"/>
                <a:cs typeface="+mn-lt"/>
              </a:rPr>
              <a:t>:</a:t>
            </a:r>
          </a:p>
          <a:p>
            <a:pPr lvl="2" algn="just">
              <a:buFont typeface="Wingdings" panose="020B0604020202020204" pitchFamily="34" charset="0"/>
              <a:buChar char="§"/>
            </a:pPr>
            <a:r>
              <a:rPr lang="en-US" sz="2400" b="1" dirty="0">
                <a:latin typeface="Calibri"/>
                <a:ea typeface="+mn-lt"/>
                <a:cs typeface="+mn-lt"/>
              </a:rPr>
              <a:t>P0 → P0s</a:t>
            </a:r>
            <a:endParaRPr lang="en-US" sz="2400">
              <a:latin typeface="Calibri"/>
              <a:ea typeface="Calibri"/>
              <a:cs typeface="Calibri"/>
            </a:endParaRPr>
          </a:p>
          <a:p>
            <a:pPr lvl="2" algn="just">
              <a:buFont typeface="Wingdings" panose="020B0604020202020204" pitchFamily="34" charset="0"/>
              <a:buChar char="§"/>
            </a:pPr>
            <a:r>
              <a:rPr lang="en-US" sz="2400" b="1" dirty="0">
                <a:latin typeface="Calibri"/>
                <a:ea typeface="+mn-lt"/>
                <a:cs typeface="+mn-lt"/>
              </a:rPr>
              <a:t>P0 → P1</a:t>
            </a:r>
          </a:p>
          <a:p>
            <a:pPr lvl="2" algn="just">
              <a:buFont typeface="Wingdings" panose="020B0604020202020204" pitchFamily="34" charset="0"/>
              <a:buChar char="§"/>
            </a:pPr>
            <a:r>
              <a:rPr lang="en-US" sz="2400" b="1" dirty="0">
                <a:latin typeface="Calibri"/>
                <a:ea typeface="+mn-lt"/>
                <a:cs typeface="+mn-lt"/>
              </a:rPr>
              <a:t>P0 → P2</a:t>
            </a:r>
            <a:endParaRPr lang="en-US" sz="2400" dirty="0">
              <a:latin typeface="Calibri"/>
              <a:ea typeface="+mn-lt"/>
              <a:cs typeface="+mn-lt"/>
            </a:endParaRPr>
          </a:p>
          <a:p>
            <a:pPr lvl="2" algn="just">
              <a:buFont typeface="Wingdings" panose="020B0604020202020204" pitchFamily="34" charset="0"/>
              <a:buChar char="§"/>
            </a:pPr>
            <a:r>
              <a:rPr lang="en-US" sz="2400" b="1" dirty="0">
                <a:latin typeface="Calibri"/>
                <a:ea typeface="+mn-lt"/>
                <a:cs typeface="+mn-lt"/>
              </a:rPr>
              <a:t>P0s → P0</a:t>
            </a:r>
          </a:p>
          <a:p>
            <a:pPr lvl="2" algn="just">
              <a:buFont typeface="Wingdings" panose="020B0604020202020204" pitchFamily="34" charset="0"/>
              <a:buChar char="§"/>
            </a:pPr>
            <a:r>
              <a:rPr lang="en-US" sz="2400" b="1" dirty="0">
                <a:latin typeface="Calibri"/>
                <a:ea typeface="+mn-lt"/>
                <a:cs typeface="+mn-lt"/>
              </a:rPr>
              <a:t>P1 → P0</a:t>
            </a:r>
            <a:endParaRPr lang="en-US" sz="2400" dirty="0">
              <a:latin typeface="Calibri"/>
              <a:ea typeface="+mn-lt"/>
              <a:cs typeface="+mn-lt"/>
            </a:endParaRPr>
          </a:p>
          <a:p>
            <a:pPr lvl="2" algn="just">
              <a:buFont typeface="Wingdings" panose="020B0604020202020204" pitchFamily="34" charset="0"/>
              <a:buChar char="§"/>
            </a:pPr>
            <a:r>
              <a:rPr lang="en-US" sz="2400" b="1">
                <a:latin typeface="Calibri"/>
                <a:ea typeface="+mn-lt"/>
                <a:cs typeface="+mn-lt"/>
              </a:rPr>
              <a:t>P2 → P0</a:t>
            </a:r>
            <a:endParaRPr lang="en-US" sz="2400">
              <a:latin typeface="Calibri"/>
              <a:ea typeface="Calibri"/>
              <a:cs typeface="Calibri"/>
            </a:endParaRPr>
          </a:p>
          <a:p>
            <a:pPr lvl="1" algn="just">
              <a:buFont typeface="Courier New" panose="020B0604020202020204" pitchFamily="34" charset="0"/>
              <a:buChar char="o"/>
            </a:pPr>
            <a:r>
              <a:rPr lang="en-US" dirty="0">
                <a:latin typeface="Calibri"/>
                <a:ea typeface="Calibri"/>
                <a:cs typeface="Calibri"/>
              </a:rPr>
              <a:t>The </a:t>
            </a:r>
            <a:r>
              <a:rPr lang="en-US" b="1" dirty="0">
                <a:latin typeface="Calibri"/>
                <a:ea typeface="Calibri"/>
                <a:cs typeface="Calibri"/>
              </a:rPr>
              <a:t>PCIe base specification</a:t>
            </a:r>
            <a:r>
              <a:rPr lang="en-US" dirty="0">
                <a:latin typeface="Calibri"/>
                <a:ea typeface="Calibri"/>
                <a:cs typeface="Calibri"/>
              </a:rPr>
              <a:t> defines </a:t>
            </a:r>
            <a:r>
              <a:rPr lang="en-US" b="1">
                <a:latin typeface="Calibri"/>
                <a:ea typeface="Calibri"/>
                <a:cs typeface="Calibri"/>
              </a:rPr>
              <a:t>what events cause these transitions.</a:t>
            </a:r>
            <a:endParaRPr lang="en-US">
              <a:latin typeface="Calibri"/>
              <a:ea typeface="Calibri"/>
              <a:cs typeface="Calibri"/>
            </a:endParaRPr>
          </a:p>
          <a:p>
            <a:pPr lvl="1" algn="just">
              <a:lnSpc>
                <a:spcPct val="150000"/>
              </a:lnSpc>
              <a:buFont typeface="Courier New" panose="020B0604020202020204" pitchFamily="34" charset="0"/>
              <a:buChar char="o"/>
            </a:pPr>
            <a:r>
              <a:rPr lang="en-US">
                <a:latin typeface="Calibri"/>
                <a:ea typeface="+mn-lt"/>
                <a:cs typeface="+mn-lt"/>
              </a:rPr>
              <a:t>Transitions involving </a:t>
            </a:r>
            <a:r>
              <a:rPr lang="en-US" b="1" dirty="0">
                <a:latin typeface="Calibri"/>
                <a:ea typeface="+mn-lt"/>
                <a:cs typeface="+mn-lt"/>
              </a:rPr>
              <a:t>PHY-specific power states</a:t>
            </a:r>
            <a:r>
              <a:rPr lang="en-US" dirty="0">
                <a:latin typeface="Calibri"/>
                <a:ea typeface="+mn-lt"/>
                <a:cs typeface="+mn-lt"/>
              </a:rPr>
              <a:t> are also allowed by </a:t>
            </a:r>
            <a:r>
              <a:rPr lang="en-US" b="1" dirty="0">
                <a:latin typeface="Calibri"/>
                <a:ea typeface="+mn-lt"/>
                <a:cs typeface="+mn-lt"/>
              </a:rPr>
              <a:t>PIPE</a:t>
            </a:r>
            <a:endParaRPr lang="en-US">
              <a:latin typeface="Calibri"/>
              <a:ea typeface="Calibri"/>
              <a:cs typeface="Calibri"/>
            </a:endParaRPr>
          </a:p>
          <a:p>
            <a:pPr lvl="1" algn="just">
              <a:buFont typeface="Courier New" panose="020B0604020202020204" pitchFamily="34" charset="0"/>
              <a:buChar char="o"/>
            </a:pPr>
            <a:r>
              <a:rPr lang="en-US" dirty="0">
                <a:latin typeface="Calibri"/>
                <a:ea typeface="+mn-lt"/>
                <a:cs typeface="+mn-lt"/>
              </a:rPr>
              <a:t>The MAC must ensure that </a:t>
            </a:r>
            <a:r>
              <a:rPr lang="en-US" b="1" dirty="0">
                <a:latin typeface="Calibri"/>
                <a:ea typeface="+mn-lt"/>
                <a:cs typeface="+mn-lt"/>
              </a:rPr>
              <a:t>all PCIe timing requirements are met</a:t>
            </a:r>
            <a:r>
              <a:rPr lang="en-US" dirty="0">
                <a:latin typeface="Calibri"/>
                <a:ea typeface="+mn-lt"/>
                <a:cs typeface="+mn-lt"/>
              </a:rPr>
              <a:t> during any transition</a:t>
            </a:r>
            <a:endParaRPr lang="en-US">
              <a:latin typeface="Calibri"/>
            </a:endParaRPr>
          </a:p>
          <a:p>
            <a:pPr algn="just"/>
            <a:endParaRPr lang="en-US" b="1" dirty="0">
              <a:latin typeface="Aptos"/>
              <a:ea typeface="Calibri"/>
              <a:cs typeface="Calibri"/>
            </a:endParaRPr>
          </a:p>
        </p:txBody>
      </p:sp>
      <p:sp>
        <p:nvSpPr>
          <p:cNvPr id="5" name="Title 1">
            <a:extLst>
              <a:ext uri="{FF2B5EF4-FFF2-40B4-BE49-F238E27FC236}">
                <a16:creationId xmlns:a16="http://schemas.microsoft.com/office/drawing/2014/main" id="{B8132BD9-B570-D602-C0B6-6D2051E72466}"/>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8790022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DA29-4911-7E9E-ABC9-9B29D076DB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DCC3F-D30B-D2ED-94DE-F1C197E4B5B0}"/>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sz="2400" b="1" dirty="0">
                <a:latin typeface="Calibri"/>
                <a:ea typeface="+mn-lt"/>
                <a:cs typeface="+mn-lt"/>
              </a:rPr>
              <a:t>L1 </a:t>
            </a:r>
            <a:r>
              <a:rPr lang="en-US" sz="2400" b="1" err="1">
                <a:latin typeface="Calibri"/>
                <a:ea typeface="+mn-lt"/>
                <a:cs typeface="+mn-lt"/>
              </a:rPr>
              <a:t>SubState</a:t>
            </a:r>
            <a:r>
              <a:rPr lang="en-US" sz="2400" b="1" dirty="0">
                <a:latin typeface="Calibri"/>
                <a:ea typeface="+mn-lt"/>
                <a:cs typeface="+mn-lt"/>
              </a:rPr>
              <a:t> Entry and Exit with PCLK as PHY Output</a:t>
            </a:r>
            <a:endParaRPr lang="en-US" sz="2400" b="1">
              <a:latin typeface="Calibri"/>
              <a:ea typeface="Calibri"/>
              <a:cs typeface="Calibri"/>
            </a:endParaRPr>
          </a:p>
          <a:p>
            <a:pPr lvl="1" algn="just">
              <a:buFont typeface="Courier New" panose="020B0604020202020204" pitchFamily="34" charset="0"/>
              <a:buChar char="o"/>
            </a:pPr>
            <a:r>
              <a:rPr lang="en-US" b="1" dirty="0"/>
              <a:t>L1 </a:t>
            </a:r>
            <a:r>
              <a:rPr lang="en-US" b="1" dirty="0" err="1"/>
              <a:t>SubState</a:t>
            </a:r>
            <a:r>
              <a:rPr lang="en-US" b="1" dirty="0"/>
              <a:t> Entry</a:t>
            </a:r>
            <a:endParaRPr lang="en-US" dirty="0">
              <a:latin typeface="Calibri"/>
              <a:ea typeface="Calibri"/>
              <a:cs typeface="Calibri"/>
            </a:endParaRPr>
          </a:p>
          <a:p>
            <a:pPr lvl="2" algn="just">
              <a:buFont typeface="Wingdings" panose="020B0604020202020204" pitchFamily="34" charset="0"/>
              <a:buChar char="§"/>
            </a:pPr>
            <a:r>
              <a:rPr lang="en-US" dirty="0"/>
              <a:t>MAC</a:t>
            </a:r>
            <a:r>
              <a:rPr lang="en-US" dirty="0">
                <a:ea typeface="+mn-lt"/>
                <a:cs typeface="+mn-lt"/>
              </a:rPr>
              <a:t> requests low-power state (</a:t>
            </a:r>
            <a:r>
              <a:rPr lang="en-US" b="1" dirty="0">
                <a:ea typeface="+mn-lt"/>
                <a:cs typeface="+mn-lt"/>
              </a:rPr>
              <a:t>P2 / P2-like</a:t>
            </a:r>
            <a:r>
              <a:rPr lang="en-US" dirty="0">
                <a:ea typeface="+mn-lt"/>
                <a:cs typeface="+mn-lt"/>
              </a:rPr>
              <a:t>)</a:t>
            </a:r>
          </a:p>
          <a:p>
            <a:pPr lvl="2" algn="just">
              <a:buFont typeface="Wingdings" panose="020B0604020202020204" pitchFamily="34" charset="0"/>
              <a:buChar char="§"/>
            </a:pPr>
            <a:r>
              <a:rPr lang="en-US" sz="2400" dirty="0">
                <a:ea typeface="+mn-lt"/>
                <a:cs typeface="+mn-lt"/>
              </a:rPr>
              <a:t>PHY </a:t>
            </a:r>
            <a:r>
              <a:rPr lang="en-US" sz="2400" b="1" dirty="0">
                <a:ea typeface="+mn-lt"/>
                <a:cs typeface="+mn-lt"/>
              </a:rPr>
              <a:t>asserts </a:t>
            </a:r>
            <a:r>
              <a:rPr lang="en-US" sz="2400" b="1" dirty="0" err="1">
                <a:latin typeface="Consolas"/>
                <a:ea typeface="+mn-lt"/>
                <a:cs typeface="+mn-lt"/>
              </a:rPr>
              <a:t>PhyStatus</a:t>
            </a:r>
            <a:r>
              <a:rPr lang="en-US" sz="2400" dirty="0">
                <a:ea typeface="+mn-lt"/>
                <a:cs typeface="+mn-lt"/>
              </a:rPr>
              <a:t> before shutting down clocks</a:t>
            </a:r>
            <a:endParaRPr lang="en-US" dirty="0">
              <a:ea typeface="+mn-lt"/>
              <a:cs typeface="+mn-lt"/>
            </a:endParaRPr>
          </a:p>
          <a:p>
            <a:pPr lvl="2" algn="just">
              <a:buFont typeface="Wingdings" panose="020B0604020202020204" pitchFamily="34" charset="0"/>
              <a:buChar char="§"/>
            </a:pPr>
            <a:r>
              <a:rPr lang="en-US" sz="2400" b="1" dirty="0">
                <a:ea typeface="+mn-lt"/>
                <a:cs typeface="+mn-lt"/>
              </a:rPr>
              <a:t>PCLK is turned OFF</a:t>
            </a:r>
            <a:endParaRPr lang="en-US" dirty="0">
              <a:ea typeface="+mn-lt"/>
              <a:cs typeface="+mn-lt"/>
            </a:endParaRPr>
          </a:p>
          <a:p>
            <a:pPr lvl="2" algn="just">
              <a:buFont typeface="Wingdings" panose="020B0604020202020204" pitchFamily="34" charset="0"/>
              <a:buChar char="§"/>
            </a:pPr>
            <a:r>
              <a:rPr lang="en-US" sz="2400" b="1" dirty="0">
                <a:ea typeface="+mn-lt"/>
                <a:cs typeface="+mn-lt"/>
              </a:rPr>
              <a:t>REFCLK may be removed</a:t>
            </a:r>
            <a:endParaRPr lang="en-US" dirty="0">
              <a:ea typeface="+mn-lt"/>
              <a:cs typeface="+mn-lt"/>
            </a:endParaRPr>
          </a:p>
          <a:p>
            <a:pPr lvl="2" algn="just">
              <a:buFont typeface="Wingdings" panose="020B0604020202020204" pitchFamily="34" charset="0"/>
              <a:buChar char="§"/>
            </a:pPr>
            <a:r>
              <a:rPr lang="en-US" sz="2400" dirty="0">
                <a:ea typeface="+mn-lt"/>
                <a:cs typeface="+mn-lt"/>
              </a:rPr>
              <a:t>PHY enters </a:t>
            </a:r>
            <a:r>
              <a:rPr lang="en-US" sz="2400" b="1" dirty="0">
                <a:ea typeface="+mn-lt"/>
                <a:cs typeface="+mn-lt"/>
              </a:rPr>
              <a:t>L1 / L1.1 / L1.2 (L1.Idle)</a:t>
            </a:r>
            <a:endParaRPr lang="en-US" dirty="0"/>
          </a:p>
          <a:p>
            <a:pPr lvl="1" algn="just">
              <a:buFont typeface="Courier New" panose="020B0604020202020204" pitchFamily="34" charset="0"/>
              <a:buChar char="o"/>
            </a:pPr>
            <a:r>
              <a:rPr lang="en-US" b="1" dirty="0"/>
              <a:t>L1 </a:t>
            </a:r>
            <a:r>
              <a:rPr lang="en-US" b="1" dirty="0" err="1"/>
              <a:t>SubState</a:t>
            </a:r>
            <a:r>
              <a:rPr lang="en-US" b="1" dirty="0"/>
              <a:t> Exit</a:t>
            </a:r>
            <a:endParaRPr lang="en-US" dirty="0">
              <a:latin typeface="Calibri"/>
              <a:ea typeface="Calibri"/>
              <a:cs typeface="Calibri"/>
            </a:endParaRPr>
          </a:p>
          <a:p>
            <a:pPr lvl="2" algn="just">
              <a:buFont typeface="Wingdings" panose="020B0604020202020204" pitchFamily="34" charset="0"/>
              <a:buChar char="§"/>
            </a:pPr>
            <a:r>
              <a:rPr lang="en-US" dirty="0"/>
              <a:t>PHY</a:t>
            </a:r>
            <a:r>
              <a:rPr lang="en-US" dirty="0">
                <a:ea typeface="+mn-lt"/>
                <a:cs typeface="+mn-lt"/>
              </a:rPr>
              <a:t> starts wake-up from </a:t>
            </a:r>
            <a:r>
              <a:rPr lang="en-US" b="1" dirty="0">
                <a:ea typeface="+mn-lt"/>
                <a:cs typeface="+mn-lt"/>
              </a:rPr>
              <a:t>P2 / P2-like state</a:t>
            </a:r>
            <a:endParaRPr lang="en-US" dirty="0">
              <a:ea typeface="+mn-lt"/>
              <a:cs typeface="+mn-lt"/>
            </a:endParaRPr>
          </a:p>
          <a:p>
            <a:pPr lvl="2" algn="just">
              <a:buFont typeface="Wingdings" panose="020B0604020202020204" pitchFamily="34" charset="0"/>
              <a:buChar char="§"/>
            </a:pPr>
            <a:r>
              <a:rPr lang="en-US" sz="2400" b="1" dirty="0">
                <a:ea typeface="+mn-lt"/>
                <a:cs typeface="+mn-lt"/>
              </a:rPr>
              <a:t>PCLK is restored</a:t>
            </a:r>
            <a:endParaRPr lang="en-US" dirty="0">
              <a:ea typeface="+mn-lt"/>
              <a:cs typeface="+mn-lt"/>
            </a:endParaRPr>
          </a:p>
          <a:p>
            <a:pPr lvl="2" algn="just">
              <a:buFont typeface="Wingdings" panose="020B0604020202020204" pitchFamily="34" charset="0"/>
              <a:buChar char="§"/>
            </a:pPr>
            <a:r>
              <a:rPr lang="en-US" sz="2400" dirty="0">
                <a:ea typeface="+mn-lt"/>
                <a:cs typeface="+mn-lt"/>
              </a:rPr>
              <a:t>PHY </a:t>
            </a:r>
            <a:r>
              <a:rPr lang="en-US" sz="2400" b="1" dirty="0">
                <a:ea typeface="+mn-lt"/>
                <a:cs typeface="+mn-lt"/>
              </a:rPr>
              <a:t>asserts </a:t>
            </a:r>
            <a:r>
              <a:rPr lang="en-US" sz="2400" b="1" dirty="0" err="1">
                <a:latin typeface="Consolas"/>
                <a:ea typeface="Calibri"/>
                <a:cs typeface="Calibri"/>
              </a:rPr>
              <a:t>PhyStatus</a:t>
            </a:r>
            <a:r>
              <a:rPr lang="en-US" sz="2400" dirty="0">
                <a:ea typeface="+mn-lt"/>
                <a:cs typeface="+mn-lt"/>
              </a:rPr>
              <a:t> as soon as possible</a:t>
            </a:r>
            <a:endParaRPr lang="en-US" dirty="0">
              <a:ea typeface="+mn-lt"/>
              <a:cs typeface="+mn-lt"/>
            </a:endParaRPr>
          </a:p>
          <a:p>
            <a:pPr lvl="2" algn="just">
              <a:buFont typeface="Wingdings" panose="020B0604020202020204" pitchFamily="34" charset="0"/>
              <a:buChar char="§"/>
            </a:pPr>
            <a:r>
              <a:rPr lang="en-US" sz="2400" dirty="0" err="1">
                <a:latin typeface="Consolas"/>
                <a:ea typeface="Calibri"/>
                <a:cs typeface="Calibri"/>
              </a:rPr>
              <a:t>PhyStatus</a:t>
            </a:r>
            <a:r>
              <a:rPr lang="en-US" sz="2400" dirty="0">
                <a:ea typeface="+mn-lt"/>
                <a:cs typeface="+mn-lt"/>
              </a:rPr>
              <a:t> remains asserted until </a:t>
            </a:r>
            <a:r>
              <a:rPr lang="en-US" sz="2400" b="1" dirty="0">
                <a:ea typeface="+mn-lt"/>
                <a:cs typeface="+mn-lt"/>
              </a:rPr>
              <a:t>PCLK is stable</a:t>
            </a:r>
            <a:endParaRPr lang="en-US" dirty="0">
              <a:ea typeface="+mn-lt"/>
              <a:cs typeface="+mn-lt"/>
            </a:endParaRPr>
          </a:p>
          <a:p>
            <a:pPr lvl="2" algn="just">
              <a:buFont typeface="Wingdings" panose="020B0604020202020204" pitchFamily="34" charset="0"/>
              <a:buChar char="§"/>
            </a:pPr>
            <a:r>
              <a:rPr lang="en-US" sz="2400" dirty="0">
                <a:ea typeface="+mn-lt"/>
                <a:cs typeface="+mn-lt"/>
              </a:rPr>
              <a:t>MAC acknowledges using </a:t>
            </a:r>
            <a:r>
              <a:rPr lang="en-US" sz="2400" b="1" dirty="0" err="1">
                <a:latin typeface="Consolas"/>
                <a:ea typeface="Calibri"/>
                <a:cs typeface="Calibri"/>
              </a:rPr>
              <a:t>AsyncPowerChangeAck</a:t>
            </a:r>
            <a:endParaRPr lang="en-US" dirty="0" err="1">
              <a:latin typeface="Aptos" panose="020B0004020202020204"/>
              <a:ea typeface="Calibri"/>
              <a:cs typeface="Calibri"/>
            </a:endParaRPr>
          </a:p>
          <a:p>
            <a:pPr lvl="2" algn="just">
              <a:buFont typeface="Wingdings" panose="020B0604020202020204" pitchFamily="34" charset="0"/>
              <a:buChar char="§"/>
            </a:pPr>
            <a:r>
              <a:rPr lang="en-US" sz="2400" dirty="0">
                <a:latin typeface="Aptos"/>
                <a:ea typeface="Calibri"/>
                <a:cs typeface="Calibri"/>
              </a:rPr>
              <a:t>PHY</a:t>
            </a:r>
            <a:r>
              <a:rPr lang="en-US" sz="2400" dirty="0">
                <a:ea typeface="+mn-lt"/>
                <a:cs typeface="+mn-lt"/>
              </a:rPr>
              <a:t> returns to </a:t>
            </a:r>
            <a:r>
              <a:rPr lang="en-US" sz="2400" b="1" dirty="0">
                <a:ea typeface="+mn-lt"/>
                <a:cs typeface="+mn-lt"/>
              </a:rPr>
              <a:t>P1 / P0</a:t>
            </a:r>
            <a:r>
              <a:rPr lang="en-US" sz="2400" dirty="0">
                <a:ea typeface="+mn-lt"/>
                <a:cs typeface="+mn-lt"/>
              </a:rPr>
              <a:t> and normal operation resumes</a:t>
            </a:r>
            <a:endParaRPr lang="en-US"/>
          </a:p>
          <a:p>
            <a:pPr lvl="2" algn="just">
              <a:buFont typeface="Wingdings" panose="020B0604020202020204" pitchFamily="34" charset="0"/>
              <a:buChar char="§"/>
            </a:pPr>
            <a:endParaRPr lang="en-US" sz="2400"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Calibri"/>
              <a:ea typeface="Calibri"/>
              <a:cs typeface="Calibri"/>
            </a:endParaRPr>
          </a:p>
        </p:txBody>
      </p:sp>
      <p:sp>
        <p:nvSpPr>
          <p:cNvPr id="5" name="Title 1">
            <a:extLst>
              <a:ext uri="{FF2B5EF4-FFF2-40B4-BE49-F238E27FC236}">
                <a16:creationId xmlns:a16="http://schemas.microsoft.com/office/drawing/2014/main" id="{A5D10280-4B05-F80C-859D-A2837785D081}"/>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5062600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9D184-4344-FA3E-BF88-5F9BF12BC6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75E04B-A625-E15D-B68D-84466FE58357}"/>
              </a:ext>
            </a:extLst>
          </p:cNvPr>
          <p:cNvSpPr>
            <a:spLocks noGrp="1"/>
          </p:cNvSpPr>
          <p:nvPr>
            <p:ph idx="1"/>
          </p:nvPr>
        </p:nvSpPr>
        <p:spPr>
          <a:xfrm>
            <a:off x="-3984" y="1019459"/>
            <a:ext cx="12173917" cy="5837197"/>
          </a:xfrm>
        </p:spPr>
        <p:txBody>
          <a:bodyPr vert="horz" lIns="91440" tIns="45720" rIns="91440" bIns="45720" rtlCol="0" anchor="t">
            <a:normAutofit/>
          </a:bodyPr>
          <a:lstStyle/>
          <a:p>
            <a:r>
              <a:rPr lang="en-US" b="1" dirty="0">
                <a:latin typeface="Calibri"/>
                <a:ea typeface="+mn-lt"/>
                <a:cs typeface="+mn-lt"/>
              </a:rPr>
              <a:t>Transmitter Margining – PCIe Mode and USB Mode</a:t>
            </a:r>
            <a:endParaRPr lang="en-US" b="1">
              <a:latin typeface="Calibri"/>
              <a:ea typeface="Calibri"/>
              <a:cs typeface="Calibri"/>
            </a:endParaRPr>
          </a:p>
          <a:p>
            <a:pPr lvl="1" indent="-342900">
              <a:lnSpc>
                <a:spcPct val="150000"/>
              </a:lnSpc>
              <a:buFont typeface="Courier New" panose="020B0604020202020204" pitchFamily="34" charset="0"/>
              <a:buChar char="o"/>
            </a:pPr>
            <a:r>
              <a:rPr lang="en-US" dirty="0">
                <a:latin typeface="Calibri"/>
                <a:ea typeface="Calibri"/>
                <a:cs typeface="Calibri"/>
              </a:rPr>
              <a:t>While the PHY is in P0 (normal operation), the transmit voltage level can be adjusted</a:t>
            </a:r>
            <a:endParaRPr lang="en-US">
              <a:latin typeface="Calibri"/>
              <a:ea typeface="Calibri"/>
              <a:cs typeface="Calibri"/>
            </a:endParaRPr>
          </a:p>
          <a:p>
            <a:pPr lvl="1" indent="-342900">
              <a:lnSpc>
                <a:spcPct val="150000"/>
              </a:lnSpc>
              <a:buFont typeface="Courier New" panose="020B0604020202020204" pitchFamily="34" charset="0"/>
              <a:buChar char="o"/>
            </a:pPr>
            <a:r>
              <a:rPr lang="en-US" dirty="0">
                <a:latin typeface="Calibri"/>
                <a:ea typeface="Calibri"/>
                <a:cs typeface="Calibri"/>
              </a:rPr>
              <a:t>The MAC changes the voltage using </a:t>
            </a:r>
            <a:r>
              <a:rPr lang="en-US" err="1">
                <a:latin typeface="Calibri"/>
                <a:ea typeface="Calibri"/>
                <a:cs typeface="Calibri"/>
              </a:rPr>
              <a:t>TxMargin</a:t>
            </a:r>
            <a:r>
              <a:rPr lang="en-US" dirty="0">
                <a:latin typeface="Calibri"/>
                <a:ea typeface="Calibri"/>
                <a:cs typeface="Calibri"/>
              </a:rPr>
              <a:t>[2:0]</a:t>
            </a:r>
          </a:p>
          <a:p>
            <a:pPr lvl="1" indent="-342900">
              <a:lnSpc>
                <a:spcPct val="150000"/>
              </a:lnSpc>
              <a:buFont typeface="Courier New" panose="020B0604020202020204" pitchFamily="34" charset="0"/>
              <a:buChar char="o"/>
            </a:pPr>
            <a:r>
              <a:rPr lang="en-US" dirty="0">
                <a:latin typeface="Calibri"/>
                <a:ea typeface="Calibri"/>
                <a:cs typeface="Calibri"/>
              </a:rPr>
              <a:t>After the change, the PHY must:</a:t>
            </a:r>
            <a:endParaRPr lang="en-US">
              <a:latin typeface="Calibri"/>
              <a:ea typeface="Calibri"/>
              <a:cs typeface="Calibri"/>
            </a:endParaRPr>
          </a:p>
          <a:p>
            <a:pPr lvl="2">
              <a:buFont typeface="Wingdings" panose="020B0604020202020204" pitchFamily="34" charset="0"/>
              <a:buChar char="§"/>
            </a:pPr>
            <a:r>
              <a:rPr lang="en-US" sz="2400" dirty="0">
                <a:latin typeface="Calibri"/>
                <a:ea typeface="Calibri"/>
                <a:cs typeface="Calibri"/>
              </a:rPr>
              <a:t>Apply the new transmit voltage</a:t>
            </a:r>
            <a:endParaRPr lang="en-US" sz="2400">
              <a:latin typeface="Calibri"/>
              <a:ea typeface="Calibri"/>
              <a:cs typeface="Calibri"/>
            </a:endParaRPr>
          </a:p>
          <a:p>
            <a:pPr lvl="2">
              <a:buFont typeface="Wingdings" panose="020B0604020202020204" pitchFamily="34" charset="0"/>
              <a:buChar char="§"/>
            </a:pPr>
            <a:r>
              <a:rPr lang="en-US" sz="2400" dirty="0">
                <a:latin typeface="Calibri"/>
                <a:ea typeface="Calibri"/>
                <a:cs typeface="Calibri"/>
              </a:rPr>
              <a:t>Start transmitting with the new setting within </a:t>
            </a:r>
            <a:r>
              <a:rPr lang="en-US" sz="2400" b="1" dirty="0">
                <a:latin typeface="Calibri"/>
                <a:ea typeface="Calibri"/>
                <a:cs typeface="Calibri"/>
              </a:rPr>
              <a:t>128 ns</a:t>
            </a:r>
            <a:endParaRPr lang="en-US" sz="2400" b="1">
              <a:latin typeface="Calibri"/>
              <a:ea typeface="Calibri"/>
              <a:cs typeface="Calibri"/>
            </a:endParaRPr>
          </a:p>
          <a:p>
            <a:pPr lvl="1" indent="-342900">
              <a:buFont typeface="Courier New" panose="020B0604020202020204" pitchFamily="34" charset="0"/>
              <a:buChar char="o"/>
            </a:pPr>
            <a:r>
              <a:rPr lang="en-US" dirty="0">
                <a:latin typeface="Calibri"/>
                <a:ea typeface="+mn-lt"/>
                <a:cs typeface="+mn-lt"/>
              </a:rPr>
              <a:t>Only a </a:t>
            </a:r>
            <a:r>
              <a:rPr lang="en-US" b="1" dirty="0">
                <a:latin typeface="Calibri"/>
                <a:ea typeface="+mn-lt"/>
                <a:cs typeface="+mn-lt"/>
              </a:rPr>
              <a:t>limited set of valid </a:t>
            </a:r>
            <a:r>
              <a:rPr lang="en-US" b="1" dirty="0" err="1">
                <a:latin typeface="Calibri"/>
                <a:ea typeface="Calibri"/>
                <a:cs typeface="Calibri"/>
              </a:rPr>
              <a:t>TxMargin</a:t>
            </a:r>
            <a:r>
              <a:rPr lang="en-US" b="1" dirty="0">
                <a:latin typeface="Calibri"/>
                <a:ea typeface="Calibri"/>
                <a:cs typeface="Calibri"/>
              </a:rPr>
              <a:t>[2:0]</a:t>
            </a:r>
            <a:r>
              <a:rPr lang="en-US" b="1" dirty="0">
                <a:latin typeface="Calibri"/>
                <a:ea typeface="+mn-lt"/>
                <a:cs typeface="+mn-lt"/>
              </a:rPr>
              <a:t> and Rate combinations</a:t>
            </a:r>
            <a:r>
              <a:rPr lang="en-US" dirty="0">
                <a:latin typeface="Calibri"/>
                <a:ea typeface="+mn-lt"/>
                <a:cs typeface="+mn-lt"/>
              </a:rPr>
              <a:t> is allowed</a:t>
            </a:r>
            <a:endParaRPr lang="en-US" dirty="0">
              <a:latin typeface="Calibri"/>
              <a:ea typeface="Calibri"/>
              <a:cs typeface="Calibri"/>
            </a:endParaRPr>
          </a:p>
          <a:p>
            <a:pPr lvl="1" indent="-342900">
              <a:lnSpc>
                <a:spcPct val="150000"/>
              </a:lnSpc>
              <a:buFont typeface="Courier New" panose="020B0604020202020204" pitchFamily="34" charset="0"/>
              <a:buChar char="o"/>
            </a:pPr>
            <a:r>
              <a:rPr lang="en-US" dirty="0">
                <a:latin typeface="Calibri"/>
                <a:ea typeface="+mn-lt"/>
                <a:cs typeface="+mn-lt"/>
              </a:rPr>
              <a:t>The MAC must select </a:t>
            </a:r>
            <a:r>
              <a:rPr lang="en-US" b="1" dirty="0">
                <a:latin typeface="Calibri"/>
                <a:ea typeface="+mn-lt"/>
                <a:cs typeface="+mn-lt"/>
              </a:rPr>
              <a:t>only supported combinations</a:t>
            </a:r>
            <a:endParaRPr lang="en-US" dirty="0">
              <a:latin typeface="Calibri"/>
              <a:ea typeface="Calibri"/>
              <a:cs typeface="Calibri"/>
            </a:endParaRPr>
          </a:p>
          <a:p>
            <a:pPr lvl="1" indent="-342900">
              <a:buFont typeface="Courier New" panose="020B0604020202020204" pitchFamily="34" charset="0"/>
              <a:buChar char="o"/>
            </a:pPr>
            <a:r>
              <a:rPr lang="en-US" b="1" dirty="0">
                <a:latin typeface="Calibri"/>
                <a:ea typeface="+mn-lt"/>
                <a:cs typeface="+mn-lt"/>
              </a:rPr>
              <a:t>PCIe mode</a:t>
            </a:r>
            <a:r>
              <a:rPr lang="en-US" dirty="0">
                <a:latin typeface="Calibri"/>
                <a:ea typeface="+mn-lt"/>
                <a:cs typeface="+mn-lt"/>
              </a:rPr>
              <a:t>:</a:t>
            </a:r>
            <a:endParaRPr lang="en-US">
              <a:latin typeface="Calibri"/>
              <a:ea typeface="Calibri"/>
              <a:cs typeface="Calibri"/>
            </a:endParaRPr>
          </a:p>
          <a:p>
            <a:pPr lvl="2">
              <a:buFont typeface="Wingdings" panose="020B0604020202020204" pitchFamily="34" charset="0"/>
              <a:buChar char="§"/>
            </a:pPr>
            <a:r>
              <a:rPr lang="en-US" sz="2400" dirty="0">
                <a:latin typeface="Calibri"/>
                <a:ea typeface="+mn-lt"/>
                <a:cs typeface="+mn-lt"/>
              </a:rPr>
              <a:t>Legal settings are defined in the </a:t>
            </a:r>
            <a:r>
              <a:rPr lang="en-US" sz="2400" b="1" dirty="0">
                <a:latin typeface="Calibri"/>
                <a:ea typeface="+mn-lt"/>
                <a:cs typeface="+mn-lt"/>
              </a:rPr>
              <a:t>PCIe base specification</a:t>
            </a:r>
            <a:endParaRPr lang="en-US" sz="2400">
              <a:latin typeface="Calibri"/>
            </a:endParaRPr>
          </a:p>
          <a:p>
            <a:endParaRPr lang="en-US" b="1" dirty="0">
              <a:latin typeface="Calibri"/>
              <a:ea typeface="Calibri"/>
              <a:cs typeface="Calibri"/>
            </a:endParaRPr>
          </a:p>
          <a:p>
            <a:pPr lvl="1" indent="-342900" algn="just">
              <a:lnSpc>
                <a:spcPct val="150000"/>
              </a:lnSpc>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Aptos"/>
              <a:ea typeface="Calibri"/>
              <a:cs typeface="Calibri"/>
            </a:endParaRPr>
          </a:p>
        </p:txBody>
      </p:sp>
      <p:sp>
        <p:nvSpPr>
          <p:cNvPr id="5" name="Title 1">
            <a:extLst>
              <a:ext uri="{FF2B5EF4-FFF2-40B4-BE49-F238E27FC236}">
                <a16:creationId xmlns:a16="http://schemas.microsoft.com/office/drawing/2014/main" id="{0029F30A-D547-DC21-5380-EAAFD4060966}"/>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73655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28D4-FF3A-2BA3-0356-FACF4B7E0D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4DFBFD-ABD1-D93D-29D4-4DE289CF53F6}"/>
              </a:ext>
            </a:extLst>
          </p:cNvPr>
          <p:cNvSpPr>
            <a:spLocks noGrp="1"/>
          </p:cNvSpPr>
          <p:nvPr>
            <p:ph idx="1"/>
          </p:nvPr>
        </p:nvSpPr>
        <p:spPr>
          <a:xfrm>
            <a:off x="-3984" y="1019459"/>
            <a:ext cx="12173917" cy="5837197"/>
          </a:xfrm>
        </p:spPr>
        <p:txBody>
          <a:bodyPr vert="horz" lIns="91440" tIns="45720" rIns="91440" bIns="45720" rtlCol="0" anchor="t">
            <a:normAutofit/>
          </a:bodyPr>
          <a:lstStyle/>
          <a:p>
            <a:r>
              <a:rPr lang="en-US" b="1" dirty="0">
                <a:latin typeface="Calibri"/>
                <a:ea typeface="+mn-lt"/>
                <a:cs typeface="+mn-lt"/>
              </a:rPr>
              <a:t>Transmitter Margining – PCIe Mode and USB Mode</a:t>
            </a:r>
            <a:endParaRPr lang="en-US" b="1">
              <a:latin typeface="Calibri"/>
              <a:ea typeface="Calibri"/>
              <a:cs typeface="Calibri"/>
            </a:endParaRPr>
          </a:p>
          <a:p>
            <a:endParaRPr lang="en-US" b="1" dirty="0">
              <a:latin typeface="Calibri"/>
              <a:ea typeface="Calibri"/>
              <a:cs typeface="Calibri"/>
            </a:endParaRPr>
          </a:p>
          <a:p>
            <a:pPr lvl="1" indent="-342900" algn="just">
              <a:lnSpc>
                <a:spcPct val="150000"/>
              </a:lnSpc>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Aptos"/>
              <a:ea typeface="Calibri"/>
              <a:cs typeface="Calibri"/>
            </a:endParaRPr>
          </a:p>
        </p:txBody>
      </p:sp>
      <p:sp>
        <p:nvSpPr>
          <p:cNvPr id="5" name="Title 1">
            <a:extLst>
              <a:ext uri="{FF2B5EF4-FFF2-40B4-BE49-F238E27FC236}">
                <a16:creationId xmlns:a16="http://schemas.microsoft.com/office/drawing/2014/main" id="{46A3F762-E505-D284-C23B-2EDBF72F735E}"/>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company&amp;#39;s value">
            <a:extLst>
              <a:ext uri="{FF2B5EF4-FFF2-40B4-BE49-F238E27FC236}">
                <a16:creationId xmlns:a16="http://schemas.microsoft.com/office/drawing/2014/main" id="{7CB407FD-96A7-31B3-19CA-B216EB18384B}"/>
              </a:ext>
            </a:extLst>
          </p:cNvPr>
          <p:cNvPicPr>
            <a:picLocks noChangeAspect="1"/>
          </p:cNvPicPr>
          <p:nvPr/>
        </p:nvPicPr>
        <p:blipFill>
          <a:blip r:embed="rId2"/>
          <a:stretch>
            <a:fillRect/>
          </a:stretch>
        </p:blipFill>
        <p:spPr>
          <a:xfrm>
            <a:off x="1087230" y="1710221"/>
            <a:ext cx="10591800" cy="5060951"/>
          </a:xfrm>
          <a:prstGeom prst="rect">
            <a:avLst/>
          </a:prstGeom>
        </p:spPr>
      </p:pic>
    </p:spTree>
    <p:extLst>
      <p:ext uri="{BB962C8B-B14F-4D97-AF65-F5344CB8AC3E}">
        <p14:creationId xmlns:p14="http://schemas.microsoft.com/office/powerpoint/2010/main" val="19550995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49B31-CCCB-021C-92A3-55EA2A8976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E35E20-914A-8499-3AC9-2D9B1BCD4419}"/>
              </a:ext>
            </a:extLst>
          </p:cNvPr>
          <p:cNvSpPr>
            <a:spLocks noGrp="1"/>
          </p:cNvSpPr>
          <p:nvPr>
            <p:ph idx="1"/>
          </p:nvPr>
        </p:nvSpPr>
        <p:spPr>
          <a:xfrm>
            <a:off x="-3984" y="1019459"/>
            <a:ext cx="12173917" cy="5837197"/>
          </a:xfrm>
        </p:spPr>
        <p:txBody>
          <a:bodyPr vert="horz" lIns="91440" tIns="45720" rIns="91440" bIns="45720" rtlCol="0" anchor="t">
            <a:normAutofit/>
          </a:bodyPr>
          <a:lstStyle/>
          <a:p>
            <a:r>
              <a:rPr lang="en-US" b="1" dirty="0">
                <a:latin typeface="Calibri"/>
                <a:ea typeface="+mn-lt"/>
                <a:cs typeface="+mn-lt"/>
              </a:rPr>
              <a:t>Selectable De-Emphasis – PCIe Mode </a:t>
            </a:r>
          </a:p>
          <a:p>
            <a:r>
              <a:rPr lang="en-US" sz="2400" b="1" dirty="0">
                <a:latin typeface="Calibri"/>
                <a:ea typeface="Calibri"/>
                <a:cs typeface="Calibri"/>
              </a:rPr>
              <a:t>TX Equalization (</a:t>
            </a:r>
            <a:r>
              <a:rPr lang="en-US" sz="2400" b="1" err="1">
                <a:latin typeface="Calibri"/>
                <a:ea typeface="Calibri"/>
                <a:cs typeface="Calibri"/>
              </a:rPr>
              <a:t>TxDeemph</a:t>
            </a:r>
            <a:r>
              <a:rPr lang="en-US" sz="2400" b="1" dirty="0">
                <a:latin typeface="Calibri"/>
                <a:ea typeface="Calibri"/>
                <a:cs typeface="Calibri"/>
              </a:rPr>
              <a:t>) Change – P0 State</a:t>
            </a:r>
          </a:p>
          <a:p>
            <a:pPr lvl="1" indent="-342900">
              <a:buFont typeface="Courier New" panose="020B0604020202020204" pitchFamily="34" charset="0"/>
              <a:buChar char="o"/>
            </a:pPr>
            <a:r>
              <a:rPr lang="en-US" dirty="0">
                <a:latin typeface="Calibri"/>
                <a:ea typeface="+mn-lt"/>
                <a:cs typeface="+mn-lt"/>
              </a:rPr>
              <a:t>In </a:t>
            </a:r>
            <a:r>
              <a:rPr lang="en-US" b="1" dirty="0">
                <a:latin typeface="Calibri"/>
                <a:ea typeface="+mn-lt"/>
                <a:cs typeface="+mn-lt"/>
              </a:rPr>
              <a:t>P0 power state</a:t>
            </a:r>
            <a:r>
              <a:rPr lang="en-US" dirty="0">
                <a:latin typeface="Calibri"/>
                <a:ea typeface="+mn-lt"/>
                <a:cs typeface="+mn-lt"/>
              </a:rPr>
              <a:t>, the PHY supports </a:t>
            </a:r>
            <a:r>
              <a:rPr lang="en-US" b="1" dirty="0">
                <a:latin typeface="Calibri"/>
                <a:ea typeface="+mn-lt"/>
                <a:cs typeface="+mn-lt"/>
              </a:rPr>
              <a:t>transmitter equalization changes</a:t>
            </a:r>
            <a:endParaRPr lang="en-US">
              <a:latin typeface="Calibri"/>
              <a:ea typeface="Calibri"/>
              <a:cs typeface="Calibri"/>
            </a:endParaRPr>
          </a:p>
          <a:p>
            <a:pPr lvl="1" indent="-342900">
              <a:buFont typeface="Courier New" panose="020B0604020202020204" pitchFamily="34" charset="0"/>
              <a:buChar char="o"/>
            </a:pPr>
            <a:r>
              <a:rPr lang="en-US" dirty="0">
                <a:latin typeface="Calibri"/>
                <a:ea typeface="+mn-lt"/>
                <a:cs typeface="+mn-lt"/>
              </a:rPr>
              <a:t>Supported signaling rates:</a:t>
            </a:r>
            <a:endParaRPr lang="en-US">
              <a:latin typeface="Calibri"/>
              <a:ea typeface="Calibri"/>
              <a:cs typeface="Calibri"/>
            </a:endParaRPr>
          </a:p>
          <a:p>
            <a:pPr lvl="2">
              <a:buFont typeface="Wingdings" panose="020B0604020202020204" pitchFamily="34" charset="0"/>
              <a:buChar char="§"/>
            </a:pPr>
            <a:r>
              <a:rPr lang="en-US" sz="2400" b="1" dirty="0">
                <a:latin typeface="Calibri"/>
                <a:ea typeface="+mn-lt"/>
                <a:cs typeface="+mn-lt"/>
              </a:rPr>
              <a:t>5.0, 8.0, 16, 32, 64, and 128 GT/s</a:t>
            </a:r>
            <a:endParaRPr lang="en-US" sz="2400">
              <a:latin typeface="Calibri"/>
              <a:ea typeface="Calibri"/>
              <a:cs typeface="Calibri"/>
            </a:endParaRPr>
          </a:p>
          <a:p>
            <a:pPr lvl="1" indent="-342900">
              <a:buFont typeface="Courier New" panose="020B0604020202020204" pitchFamily="34" charset="0"/>
              <a:buChar char="o"/>
            </a:pPr>
            <a:r>
              <a:rPr lang="en-US" dirty="0">
                <a:latin typeface="Calibri"/>
                <a:ea typeface="+mn-lt"/>
                <a:cs typeface="+mn-lt"/>
              </a:rPr>
              <a:t>The MAC updates transmitter equalization using </a:t>
            </a:r>
            <a:r>
              <a:rPr lang="en-US" b="1" err="1">
                <a:latin typeface="Calibri"/>
                <a:ea typeface="Calibri"/>
                <a:cs typeface="Calibri"/>
              </a:rPr>
              <a:t>TxDeemph</a:t>
            </a:r>
            <a:endParaRPr lang="en-US" err="1">
              <a:latin typeface="Calibri"/>
              <a:ea typeface="Calibri"/>
              <a:cs typeface="Calibri"/>
            </a:endParaRPr>
          </a:p>
          <a:p>
            <a:r>
              <a:rPr lang="en-US" sz="2400" b="1" dirty="0">
                <a:latin typeface="Calibri"/>
                <a:ea typeface="Calibri"/>
                <a:cs typeface="Calibri"/>
              </a:rPr>
              <a:t>PHY Update Time Requirement</a:t>
            </a:r>
            <a:endParaRPr lang="en-US" sz="2400">
              <a:latin typeface="Calibri"/>
              <a:ea typeface="Calibri"/>
              <a:cs typeface="Calibri"/>
            </a:endParaRPr>
          </a:p>
          <a:p>
            <a:pPr lvl="1" indent="-342900">
              <a:buFont typeface="Courier New" panose="020B0604020202020204" pitchFamily="34" charset="0"/>
              <a:buChar char="o"/>
            </a:pPr>
            <a:r>
              <a:rPr lang="en-US" dirty="0">
                <a:latin typeface="Calibri"/>
                <a:ea typeface="+mn-lt"/>
                <a:cs typeface="+mn-lt"/>
              </a:rPr>
              <a:t>At </a:t>
            </a:r>
            <a:r>
              <a:rPr lang="en-US" b="1" dirty="0">
                <a:latin typeface="Calibri"/>
                <a:ea typeface="+mn-lt"/>
                <a:cs typeface="+mn-lt"/>
              </a:rPr>
              <a:t>5.0 GT/s</a:t>
            </a:r>
            <a:r>
              <a:rPr lang="en-US" dirty="0">
                <a:latin typeface="Calibri"/>
                <a:ea typeface="+mn-lt"/>
                <a:cs typeface="+mn-lt"/>
              </a:rPr>
              <a:t>:</a:t>
            </a:r>
            <a:endParaRPr lang="en-US">
              <a:latin typeface="Calibri"/>
              <a:ea typeface="Calibri"/>
              <a:cs typeface="Calibri"/>
            </a:endParaRPr>
          </a:p>
          <a:p>
            <a:pPr lvl="2">
              <a:buFont typeface="Wingdings" panose="020B0604020202020204" pitchFamily="34" charset="0"/>
              <a:buChar char="§"/>
            </a:pPr>
            <a:r>
              <a:rPr lang="en-US" sz="2400" dirty="0">
                <a:latin typeface="Calibri"/>
                <a:ea typeface="+mn-lt"/>
                <a:cs typeface="+mn-lt"/>
              </a:rPr>
              <a:t>PHY must apply the new </a:t>
            </a:r>
            <a:r>
              <a:rPr lang="en-US" sz="2400" err="1">
                <a:latin typeface="Calibri"/>
                <a:ea typeface="Calibri"/>
                <a:cs typeface="Calibri"/>
              </a:rPr>
              <a:t>TxDeemph</a:t>
            </a:r>
            <a:r>
              <a:rPr lang="en-US" sz="2400" dirty="0">
                <a:latin typeface="Calibri"/>
                <a:ea typeface="+mn-lt"/>
                <a:cs typeface="+mn-lt"/>
              </a:rPr>
              <a:t> value </a:t>
            </a:r>
            <a:r>
              <a:rPr lang="en-US" sz="2400" b="1" dirty="0">
                <a:latin typeface="Calibri"/>
                <a:ea typeface="+mn-lt"/>
                <a:cs typeface="+mn-lt"/>
              </a:rPr>
              <a:t>within 128 ns</a:t>
            </a:r>
            <a:endParaRPr lang="en-US" sz="2400">
              <a:latin typeface="Calibri"/>
              <a:ea typeface="Calibri"/>
              <a:cs typeface="Calibri"/>
            </a:endParaRPr>
          </a:p>
          <a:p>
            <a:pPr lvl="1" indent="-342900">
              <a:buFont typeface="Courier New" panose="020B0604020202020204" pitchFamily="34" charset="0"/>
              <a:buChar char="o"/>
            </a:pPr>
            <a:r>
              <a:rPr lang="en-US" dirty="0">
                <a:latin typeface="Calibri"/>
                <a:ea typeface="+mn-lt"/>
                <a:cs typeface="+mn-lt"/>
              </a:rPr>
              <a:t>At </a:t>
            </a:r>
            <a:r>
              <a:rPr lang="en-US" b="1" dirty="0">
                <a:latin typeface="Calibri"/>
                <a:ea typeface="+mn-lt"/>
                <a:cs typeface="+mn-lt"/>
              </a:rPr>
              <a:t>8.0 GT/s and higher (16/32/64/128 GT/s)</a:t>
            </a:r>
            <a:r>
              <a:rPr lang="en-US" dirty="0">
                <a:latin typeface="Calibri"/>
                <a:ea typeface="+mn-lt"/>
                <a:cs typeface="+mn-lt"/>
              </a:rPr>
              <a:t>:</a:t>
            </a:r>
            <a:endParaRPr lang="en-US">
              <a:latin typeface="Calibri"/>
              <a:ea typeface="Calibri"/>
              <a:cs typeface="Calibri"/>
            </a:endParaRPr>
          </a:p>
          <a:p>
            <a:pPr lvl="2">
              <a:buFont typeface="Wingdings" panose="020B0604020202020204" pitchFamily="34" charset="0"/>
              <a:buChar char="§"/>
            </a:pPr>
            <a:r>
              <a:rPr lang="en-US" sz="2400" dirty="0">
                <a:latin typeface="Calibri"/>
                <a:ea typeface="+mn-lt"/>
                <a:cs typeface="+mn-lt"/>
              </a:rPr>
              <a:t>PHY must apply the new </a:t>
            </a:r>
            <a:r>
              <a:rPr lang="en-US" sz="2400" err="1">
                <a:latin typeface="Calibri"/>
                <a:ea typeface="Calibri"/>
                <a:cs typeface="Calibri"/>
              </a:rPr>
              <a:t>TxDeemph</a:t>
            </a:r>
            <a:r>
              <a:rPr lang="en-US" sz="2400" dirty="0">
                <a:latin typeface="Calibri"/>
                <a:ea typeface="+mn-lt"/>
                <a:cs typeface="+mn-lt"/>
              </a:rPr>
              <a:t> value </a:t>
            </a:r>
            <a:r>
              <a:rPr lang="en-US" sz="2400" b="1" dirty="0">
                <a:latin typeface="Calibri"/>
                <a:ea typeface="+mn-lt"/>
                <a:cs typeface="+mn-lt"/>
              </a:rPr>
              <a:t>within 256 ns</a:t>
            </a:r>
            <a:endParaRPr lang="en-US" sz="2400">
              <a:latin typeface="Calibri"/>
            </a:endParaRPr>
          </a:p>
          <a:p>
            <a:pPr lvl="1" indent="-342900">
              <a:buFont typeface="Courier New" panose="020B0604020202020204" pitchFamily="34" charset="0"/>
              <a:buChar char="o"/>
            </a:pPr>
            <a:endParaRPr lang="en-US" b="1" dirty="0">
              <a:latin typeface="Calibri"/>
              <a:ea typeface="Calibri"/>
              <a:cs typeface="Calibri"/>
            </a:endParaRPr>
          </a:p>
          <a:p>
            <a:pPr lvl="1" indent="-342900" algn="just">
              <a:lnSpc>
                <a:spcPct val="150000"/>
              </a:lnSpc>
              <a:buFont typeface="Courier New" panose="020B0604020202020204" pitchFamily="34" charset="0"/>
              <a:buChar char="o"/>
            </a:pPr>
            <a:endParaRPr lang="en-US" dirty="0">
              <a:latin typeface="Calibri"/>
              <a:ea typeface="Calibri"/>
              <a:cs typeface="Calibri"/>
            </a:endParaRPr>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Aptos"/>
              <a:ea typeface="Calibri"/>
              <a:cs typeface="Calibri"/>
            </a:endParaRPr>
          </a:p>
        </p:txBody>
      </p:sp>
      <p:sp>
        <p:nvSpPr>
          <p:cNvPr id="5" name="Title 1">
            <a:extLst>
              <a:ext uri="{FF2B5EF4-FFF2-40B4-BE49-F238E27FC236}">
                <a16:creationId xmlns:a16="http://schemas.microsoft.com/office/drawing/2014/main" id="{ADDF8039-2A54-BE43-B5FB-2C6B8E4634A0}"/>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6678430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B660E-5F4F-B663-F574-EB8719B582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2967C-1B79-9655-37CE-0FDB20EE4F6B}"/>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err="1"/>
              <a:t>TxDeemph</a:t>
            </a:r>
            <a:r>
              <a:rPr lang="en-US" b="1" dirty="0"/>
              <a:t> and Rate Rules</a:t>
            </a:r>
            <a:endParaRPr lang="en-US" dirty="0">
              <a:latin typeface="Aptos"/>
              <a:ea typeface="Calibri"/>
              <a:cs typeface="Calibri"/>
            </a:endParaRPr>
          </a:p>
          <a:p>
            <a:pPr lvl="1" indent="-342900" algn="just">
              <a:buFont typeface="Courier New" panose="020B0604020202020204" pitchFamily="34" charset="0"/>
              <a:buChar char="o"/>
            </a:pPr>
            <a:r>
              <a:rPr lang="en-US" dirty="0">
                <a:ea typeface="+mn-lt"/>
                <a:cs typeface="+mn-lt"/>
              </a:rPr>
              <a:t>Only a </a:t>
            </a:r>
            <a:r>
              <a:rPr lang="en-US" b="1" dirty="0">
                <a:ea typeface="+mn-lt"/>
                <a:cs typeface="+mn-lt"/>
              </a:rPr>
              <a:t>limited set of valid </a:t>
            </a:r>
            <a:r>
              <a:rPr lang="en-US" b="1" err="1">
                <a:latin typeface="Consolas"/>
                <a:ea typeface="Calibri"/>
                <a:cs typeface="Calibri"/>
              </a:rPr>
              <a:t>TxDeemph</a:t>
            </a:r>
            <a:r>
              <a:rPr lang="en-US" b="1" dirty="0">
                <a:ea typeface="+mn-lt"/>
                <a:cs typeface="+mn-lt"/>
              </a:rPr>
              <a:t> and Rate combinations</a:t>
            </a:r>
            <a:r>
              <a:rPr lang="en-US" dirty="0">
                <a:ea typeface="+mn-lt"/>
                <a:cs typeface="+mn-lt"/>
              </a:rPr>
              <a:t> is allowed</a:t>
            </a:r>
            <a:endParaRPr lang="en-US"/>
          </a:p>
          <a:p>
            <a:pPr lvl="1" indent="-342900" algn="just">
              <a:buFont typeface="Courier New" panose="020B0604020202020204" pitchFamily="34" charset="0"/>
              <a:buChar char="o"/>
            </a:pPr>
            <a:r>
              <a:rPr lang="en-US" dirty="0">
                <a:ea typeface="+mn-lt"/>
                <a:cs typeface="+mn-lt"/>
              </a:rPr>
              <a:t>The MAC must select </a:t>
            </a:r>
            <a:r>
              <a:rPr lang="en-US" b="1" dirty="0">
                <a:ea typeface="+mn-lt"/>
                <a:cs typeface="+mn-lt"/>
              </a:rPr>
              <a:t>only supported combinations</a:t>
            </a:r>
            <a:endParaRPr lang="en-US"/>
          </a:p>
          <a:p>
            <a:pPr lvl="1" indent="-342900" algn="just">
              <a:buFont typeface="Courier New" panose="020B0604020202020204" pitchFamily="34" charset="0"/>
              <a:buChar char="o"/>
            </a:pPr>
            <a:r>
              <a:rPr lang="en-US" b="1" dirty="0">
                <a:ea typeface="+mn-lt"/>
                <a:cs typeface="+mn-lt"/>
              </a:rPr>
              <a:t>Detailed legal combinations</a:t>
            </a:r>
            <a:r>
              <a:rPr lang="en-US" dirty="0">
                <a:ea typeface="+mn-lt"/>
                <a:cs typeface="+mn-lt"/>
              </a:rPr>
              <a:t> are defined in the </a:t>
            </a:r>
            <a:r>
              <a:rPr lang="en-US" b="1" dirty="0">
                <a:ea typeface="+mn-lt"/>
                <a:cs typeface="+mn-lt"/>
              </a:rPr>
              <a:t>PCIe base specification</a:t>
            </a:r>
            <a:endParaRPr lang="en-US"/>
          </a:p>
          <a:p>
            <a:pPr lvl="1" indent="-342900" algn="just">
              <a:buFont typeface="Courier New" panose="020B0604020202020204" pitchFamily="34" charset="0"/>
              <a:buChar char="o"/>
            </a:pPr>
            <a:r>
              <a:rPr lang="en-US" dirty="0">
                <a:ea typeface="+mn-lt"/>
                <a:cs typeface="+mn-lt"/>
              </a:rPr>
              <a:t>When </a:t>
            </a:r>
            <a:r>
              <a:rPr lang="en-US" b="1" dirty="0">
                <a:ea typeface="+mn-lt"/>
                <a:cs typeface="+mn-lt"/>
              </a:rPr>
              <a:t>Rate = 2.5 GT/s</a:t>
            </a:r>
            <a:r>
              <a:rPr lang="en-US" dirty="0">
                <a:ea typeface="+mn-lt"/>
                <a:cs typeface="+mn-lt"/>
              </a:rPr>
              <a:t>, the MAC </a:t>
            </a:r>
            <a:r>
              <a:rPr lang="en-US" b="1" dirty="0">
                <a:ea typeface="+mn-lt"/>
                <a:cs typeface="+mn-lt"/>
              </a:rPr>
              <a:t>must set </a:t>
            </a:r>
            <a:r>
              <a:rPr lang="en-US" b="1" err="1">
                <a:latin typeface="Consolas"/>
                <a:ea typeface="Calibri"/>
                <a:cs typeface="Calibri"/>
              </a:rPr>
              <a:t>TxDeemph</a:t>
            </a:r>
            <a:r>
              <a:rPr lang="en-US" b="1" dirty="0">
                <a:ea typeface="+mn-lt"/>
                <a:cs typeface="+mn-lt"/>
              </a:rPr>
              <a:t> to –3.5 dB</a:t>
            </a:r>
            <a:endParaRPr lang="en-US"/>
          </a:p>
          <a:p>
            <a:pPr lvl="1" indent="-342900" algn="just">
              <a:buFont typeface="Courier New" panose="020B0604020202020204" pitchFamily="34" charset="0"/>
              <a:buChar char="o"/>
            </a:pPr>
            <a:endParaRPr lang="en-US" dirty="0">
              <a:latin typeface="Aptos"/>
              <a:ea typeface="Calibri"/>
              <a:cs typeface="Calibri"/>
            </a:endParaRPr>
          </a:p>
          <a:p>
            <a:pPr marL="800100" lvl="1" indent="-342900" algn="just">
              <a:buFont typeface="Courier New" panose="020B0604020202020204" pitchFamily="34" charset="0"/>
              <a:buChar char="o"/>
            </a:pPr>
            <a:endParaRPr lang="en-US" dirty="0">
              <a:latin typeface="Aptos"/>
              <a:ea typeface="Calibri"/>
              <a:cs typeface="Calibri"/>
            </a:endParaRPr>
          </a:p>
        </p:txBody>
      </p:sp>
      <p:sp>
        <p:nvSpPr>
          <p:cNvPr id="5" name="Title 1">
            <a:extLst>
              <a:ext uri="{FF2B5EF4-FFF2-40B4-BE49-F238E27FC236}">
                <a16:creationId xmlns:a16="http://schemas.microsoft.com/office/drawing/2014/main" id="{32D26003-FE30-60D1-1E42-40759344C8F8}"/>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diagram of a diagram&#10;&#10;AI-generated content may be incorrect.">
            <a:extLst>
              <a:ext uri="{FF2B5EF4-FFF2-40B4-BE49-F238E27FC236}">
                <a16:creationId xmlns:a16="http://schemas.microsoft.com/office/drawing/2014/main" id="{315AAEAB-94E2-FC21-7846-7341717B5DDA}"/>
              </a:ext>
            </a:extLst>
          </p:cNvPr>
          <p:cNvPicPr>
            <a:picLocks noChangeAspect="1"/>
          </p:cNvPicPr>
          <p:nvPr/>
        </p:nvPicPr>
        <p:blipFill>
          <a:blip r:embed="rId2"/>
          <a:stretch>
            <a:fillRect/>
          </a:stretch>
        </p:blipFill>
        <p:spPr>
          <a:xfrm>
            <a:off x="1311903" y="3067691"/>
            <a:ext cx="9763125" cy="3792192"/>
          </a:xfrm>
          <a:prstGeom prst="rect">
            <a:avLst/>
          </a:prstGeom>
        </p:spPr>
      </p:pic>
    </p:spTree>
    <p:extLst>
      <p:ext uri="{BB962C8B-B14F-4D97-AF65-F5344CB8AC3E}">
        <p14:creationId xmlns:p14="http://schemas.microsoft.com/office/powerpoint/2010/main" val="10304312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7795C-28A5-DCCB-644F-DC5242B89C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BCD5E4-48A2-8BED-110F-0B6D45BB02F9}"/>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t>Receiver Detection – PCIe Mode</a:t>
            </a:r>
            <a:endParaRPr lang="en-US" dirty="0"/>
          </a:p>
          <a:p>
            <a:pPr lvl="1" indent="-342900" algn="just">
              <a:buFont typeface="Courier New" panose="020B0604020202020204" pitchFamily="34" charset="0"/>
              <a:buChar char="o"/>
            </a:pPr>
            <a:r>
              <a:rPr lang="en-US" dirty="0">
                <a:latin typeface="Calibri"/>
                <a:ea typeface="Calibri"/>
                <a:cs typeface="Calibri"/>
              </a:rPr>
              <a:t>Receiver detection is allowed in P1 (optionally P2) power state</a:t>
            </a:r>
          </a:p>
          <a:p>
            <a:pPr lvl="1" indent="-342900" algn="just">
              <a:buFont typeface="Courier New" panose="020B0604020202020204" pitchFamily="34" charset="0"/>
              <a:buChar char="o"/>
            </a:pPr>
            <a:r>
              <a:rPr lang="en-US" b="1" dirty="0">
                <a:latin typeface="Calibri"/>
                <a:ea typeface="Calibri"/>
                <a:cs typeface="Calibri"/>
              </a:rPr>
              <a:t>Receiver Detection Process</a:t>
            </a:r>
            <a:endParaRPr lang="en-US" dirty="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MAC initiates detection by asserting:</a:t>
            </a:r>
          </a:p>
          <a:p>
            <a:pPr lvl="3" algn="just"/>
            <a:r>
              <a:rPr lang="en-US" sz="2400" err="1">
                <a:latin typeface="Calibri"/>
                <a:ea typeface="Calibri"/>
                <a:cs typeface="Calibri"/>
              </a:rPr>
              <a:t>TxDetectRx</a:t>
            </a:r>
            <a:r>
              <a:rPr lang="en-US" sz="2400" dirty="0">
                <a:latin typeface="Calibri"/>
                <a:ea typeface="Calibri"/>
                <a:cs typeface="Calibri"/>
              </a:rPr>
              <a:t>/Loopback</a:t>
            </a:r>
          </a:p>
          <a:p>
            <a:pPr lvl="2" algn="just">
              <a:buFont typeface="Wingdings" panose="020B0604020202020204" pitchFamily="34" charset="0"/>
              <a:buChar char="§"/>
            </a:pPr>
            <a:r>
              <a:rPr lang="en-US" sz="2400" dirty="0">
                <a:latin typeface="Calibri"/>
                <a:ea typeface="Calibri"/>
                <a:cs typeface="Calibri"/>
              </a:rPr>
              <a:t>PHY performs the receiver detect sequence</a:t>
            </a:r>
          </a:p>
          <a:p>
            <a:pPr lvl="2" algn="just">
              <a:buFont typeface="Wingdings" panose="020B0604020202020204" pitchFamily="34" charset="0"/>
              <a:buChar char="§"/>
            </a:pPr>
            <a:r>
              <a:rPr lang="en-US" sz="2400" dirty="0">
                <a:latin typeface="Calibri"/>
                <a:ea typeface="Calibri"/>
                <a:cs typeface="Calibri"/>
              </a:rPr>
              <a:t>On completion:</a:t>
            </a:r>
          </a:p>
          <a:p>
            <a:pPr lvl="3" algn="just"/>
            <a:r>
              <a:rPr lang="en-US" sz="2400" dirty="0">
                <a:latin typeface="Calibri"/>
                <a:ea typeface="Calibri"/>
                <a:cs typeface="Calibri"/>
              </a:rPr>
              <a:t>PHY asserts </a:t>
            </a:r>
            <a:r>
              <a:rPr lang="en-US" sz="2400" err="1">
                <a:latin typeface="Calibri"/>
                <a:ea typeface="Calibri"/>
                <a:cs typeface="Calibri"/>
              </a:rPr>
              <a:t>PhyStatus</a:t>
            </a:r>
            <a:r>
              <a:rPr lang="en-US" sz="2400" dirty="0">
                <a:latin typeface="Calibri"/>
                <a:ea typeface="Calibri"/>
                <a:cs typeface="Calibri"/>
              </a:rPr>
              <a:t> for one clock</a:t>
            </a:r>
          </a:p>
          <a:p>
            <a:pPr lvl="3" algn="just"/>
            <a:r>
              <a:rPr lang="en-US" sz="2400" dirty="0">
                <a:latin typeface="Calibri"/>
                <a:ea typeface="Calibri"/>
                <a:cs typeface="Calibri"/>
              </a:rPr>
              <a:t>PHY drives </a:t>
            </a:r>
            <a:r>
              <a:rPr lang="en-US" sz="2400" dirty="0" err="1">
                <a:latin typeface="Calibri"/>
                <a:ea typeface="Calibri"/>
                <a:cs typeface="Calibri"/>
              </a:rPr>
              <a:t>RxStatus</a:t>
            </a:r>
            <a:r>
              <a:rPr lang="en-US" sz="2400" dirty="0">
                <a:latin typeface="Calibri"/>
                <a:ea typeface="Calibri"/>
                <a:cs typeface="Calibri"/>
              </a:rPr>
              <a:t> with the detection result </a:t>
            </a:r>
          </a:p>
          <a:p>
            <a:pPr marL="1371600" lvl="3" indent="0" algn="just">
              <a:buNone/>
            </a:pPr>
            <a:endParaRPr lang="en-US" sz="2400" dirty="0">
              <a:latin typeface="Calibri"/>
              <a:ea typeface="Calibri"/>
              <a:cs typeface="Calibri"/>
            </a:endParaRPr>
          </a:p>
          <a:p>
            <a:pPr lvl="1" indent="-342900" algn="just">
              <a:buFont typeface="Courier New" panose="020B0604020202020204" pitchFamily="34" charset="0"/>
              <a:buChar char="o"/>
            </a:pPr>
            <a:r>
              <a:rPr lang="en-US" dirty="0">
                <a:latin typeface="Calibri"/>
                <a:ea typeface="Calibri"/>
                <a:cs typeface="Calibri"/>
              </a:rPr>
              <a:t>MAC must hold </a:t>
            </a:r>
            <a:r>
              <a:rPr lang="en-US" err="1">
                <a:latin typeface="Calibri"/>
                <a:ea typeface="Calibri"/>
                <a:cs typeface="Calibri"/>
              </a:rPr>
              <a:t>TxDetectRx</a:t>
            </a:r>
            <a:r>
              <a:rPr lang="en-US" dirty="0">
                <a:latin typeface="Calibri"/>
                <a:ea typeface="Calibri"/>
                <a:cs typeface="Calibri"/>
              </a:rPr>
              <a:t>/Loopback until PHY completes detection, especially in deep power states like P2 or P3.</a:t>
            </a:r>
          </a:p>
          <a:p>
            <a:pPr lvl="1" indent="-342900" algn="just">
              <a:buFont typeface="Courier New" panose="020B0604020202020204" pitchFamily="34" charset="0"/>
              <a:buChar char="o"/>
            </a:pPr>
            <a:endParaRPr lang="en-US" b="1" dirty="0">
              <a:latin typeface="Aptos"/>
              <a:ea typeface="Calibri"/>
              <a:cs typeface="Calibri"/>
            </a:endParaRPr>
          </a:p>
          <a:p>
            <a:pPr lvl="1" indent="-342900" algn="just">
              <a:buFont typeface="Courier New" panose="020B0604020202020204" pitchFamily="34" charset="0"/>
              <a:buChar char="o"/>
            </a:pPr>
            <a:endParaRPr lang="en-US" b="1" dirty="0">
              <a:latin typeface="Aptos"/>
              <a:ea typeface="Calibri"/>
              <a:cs typeface="Calibri"/>
            </a:endParaRPr>
          </a:p>
        </p:txBody>
      </p:sp>
      <p:sp>
        <p:nvSpPr>
          <p:cNvPr id="5" name="Title 1">
            <a:extLst>
              <a:ext uri="{FF2B5EF4-FFF2-40B4-BE49-F238E27FC236}">
                <a16:creationId xmlns:a16="http://schemas.microsoft.com/office/drawing/2014/main" id="{2B30FCB9-DBA4-D87E-FCDD-FBCB75102BF6}"/>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5019372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5909C-8C42-9C85-B66C-C348593EBD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B6E160-D18B-E1F4-37BF-DA5818E8F3B3}"/>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t>Receiver Detection – PCIe Mode</a:t>
            </a:r>
            <a:endParaRPr lang="en-US" dirty="0">
              <a:latin typeface="Calibri"/>
              <a:ea typeface="Calibri"/>
              <a:cs typeface="Calibri"/>
            </a:endParaRPr>
          </a:p>
        </p:txBody>
      </p:sp>
      <p:sp>
        <p:nvSpPr>
          <p:cNvPr id="5" name="Title 1">
            <a:extLst>
              <a:ext uri="{FF2B5EF4-FFF2-40B4-BE49-F238E27FC236}">
                <a16:creationId xmlns:a16="http://schemas.microsoft.com/office/drawing/2014/main" id="{582DCE00-B666-845A-AD77-342221779D84}"/>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white paper with black text&#10;&#10;AI-generated content may be incorrect.">
            <a:extLst>
              <a:ext uri="{FF2B5EF4-FFF2-40B4-BE49-F238E27FC236}">
                <a16:creationId xmlns:a16="http://schemas.microsoft.com/office/drawing/2014/main" id="{23880238-BBDD-B96A-EF46-7EDE4EADCEC2}"/>
              </a:ext>
            </a:extLst>
          </p:cNvPr>
          <p:cNvPicPr>
            <a:picLocks noChangeAspect="1"/>
          </p:cNvPicPr>
          <p:nvPr/>
        </p:nvPicPr>
        <p:blipFill>
          <a:blip r:embed="rId2"/>
          <a:stretch>
            <a:fillRect/>
          </a:stretch>
        </p:blipFill>
        <p:spPr>
          <a:xfrm>
            <a:off x="1883535" y="1717883"/>
            <a:ext cx="8162925" cy="3190875"/>
          </a:xfrm>
          <a:prstGeom prst="rect">
            <a:avLst/>
          </a:prstGeom>
        </p:spPr>
      </p:pic>
      <p:graphicFrame>
        <p:nvGraphicFramePr>
          <p:cNvPr id="6" name="Table 5">
            <a:extLst>
              <a:ext uri="{FF2B5EF4-FFF2-40B4-BE49-F238E27FC236}">
                <a16:creationId xmlns:a16="http://schemas.microsoft.com/office/drawing/2014/main" id="{EEB29268-8B8A-F5B5-CA5A-E2D438379E43}"/>
              </a:ext>
            </a:extLst>
          </p:cNvPr>
          <p:cNvGraphicFramePr>
            <a:graphicFrameLocks noGrp="1"/>
          </p:cNvGraphicFramePr>
          <p:nvPr/>
        </p:nvGraphicFramePr>
        <p:xfrm>
          <a:off x="1887855" y="5180076"/>
          <a:ext cx="8168640" cy="111252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1228278293"/>
                    </a:ext>
                  </a:extLst>
                </a:gridCol>
                <a:gridCol w="4084320">
                  <a:extLst>
                    <a:ext uri="{9D8B030D-6E8A-4147-A177-3AD203B41FA5}">
                      <a16:colId xmlns:a16="http://schemas.microsoft.com/office/drawing/2014/main" val="636043991"/>
                    </a:ext>
                  </a:extLst>
                </a:gridCol>
              </a:tblGrid>
              <a:tr h="370840">
                <a:tc>
                  <a:txBody>
                    <a:bodyPr/>
                    <a:lstStyle/>
                    <a:p>
                      <a:pPr lvl="0" algn="ctr">
                        <a:lnSpc>
                          <a:spcPct val="100000"/>
                        </a:lnSpc>
                        <a:spcBef>
                          <a:spcPts val="0"/>
                        </a:spcBef>
                        <a:spcAft>
                          <a:spcPts val="0"/>
                        </a:spcAft>
                        <a:buNone/>
                      </a:pPr>
                      <a:r>
                        <a:rPr lang="en-US" sz="1800" b="0" i="0" u="none" strike="noStrike" noProof="0" dirty="0">
                          <a:solidFill>
                            <a:srgbClr val="FFFFFF"/>
                          </a:solidFill>
                          <a:latin typeface="Calibri"/>
                          <a:ea typeface="Calibri"/>
                          <a:cs typeface="Calibri"/>
                        </a:rPr>
                        <a:t>Detected Condition </a:t>
                      </a:r>
                      <a:endParaRPr lang="en-US" sz="1800" b="1" i="0" u="none" strike="noStrike" noProof="0">
                        <a:solidFill>
                          <a:srgbClr val="FFFFFF"/>
                        </a:solidFill>
                        <a:latin typeface="Calibri"/>
                        <a:ea typeface="Calibri"/>
                        <a:cs typeface="Calibri"/>
                      </a:endParaRPr>
                    </a:p>
                  </a:txBody>
                  <a:tcPr/>
                </a:tc>
                <a:tc>
                  <a:txBody>
                    <a:bodyPr/>
                    <a:lstStyle/>
                    <a:p>
                      <a:pPr lvl="0" algn="ctr">
                        <a:buNone/>
                      </a:pPr>
                      <a:r>
                        <a:rPr lang="en-US" sz="1800" b="0" i="0" u="none" strike="noStrike" noProof="0" err="1">
                          <a:latin typeface="Calibri"/>
                          <a:ea typeface="Calibri"/>
                          <a:cs typeface="Calibri"/>
                        </a:rPr>
                        <a:t>RxStatus</a:t>
                      </a:r>
                      <a:r>
                        <a:rPr lang="en-US" sz="1800" b="0" i="0" u="none" strike="noStrike" noProof="0" dirty="0">
                          <a:latin typeface="Calibri"/>
                          <a:ea typeface="Calibri"/>
                          <a:cs typeface="Calibri"/>
                        </a:rPr>
                        <a:t> Code </a:t>
                      </a:r>
                      <a:endParaRPr lang="en-US">
                        <a:latin typeface="Calibri"/>
                        <a:ea typeface="Calibri"/>
                        <a:cs typeface="Calibri"/>
                      </a:endParaRPr>
                    </a:p>
                  </a:txBody>
                  <a:tcPr/>
                </a:tc>
                <a:extLst>
                  <a:ext uri="{0D108BD9-81ED-4DB2-BD59-A6C34878D82A}">
                    <a16:rowId xmlns:a16="http://schemas.microsoft.com/office/drawing/2014/main" val="3591500980"/>
                  </a:ext>
                </a:extLst>
              </a:tr>
              <a:tr h="370840">
                <a:tc>
                  <a:txBody>
                    <a:bodyPr/>
                    <a:lstStyle/>
                    <a:p>
                      <a:pPr lvl="0" algn="ctr">
                        <a:buNone/>
                      </a:pPr>
                      <a:r>
                        <a:rPr lang="en-US" sz="1800" b="0" i="0" u="none" strike="noStrike" noProof="0" dirty="0">
                          <a:latin typeface="Calibri"/>
                          <a:ea typeface="Calibri"/>
                          <a:cs typeface="Calibri"/>
                        </a:rPr>
                        <a:t>Receiver not present </a:t>
                      </a:r>
                    </a:p>
                  </a:txBody>
                  <a:tcPr/>
                </a:tc>
                <a:tc>
                  <a:txBody>
                    <a:bodyPr/>
                    <a:lstStyle/>
                    <a:p>
                      <a:pPr lvl="0" algn="ctr">
                        <a:buNone/>
                      </a:pPr>
                      <a:r>
                        <a:rPr lang="en-US" sz="1800" b="0" i="0" u="none" strike="noStrike" noProof="0" dirty="0">
                          <a:solidFill>
                            <a:srgbClr val="000000"/>
                          </a:solidFill>
                          <a:latin typeface="Calibri"/>
                          <a:ea typeface="Calibri"/>
                          <a:cs typeface="Calibri"/>
                        </a:rPr>
                        <a:t>000b</a:t>
                      </a:r>
                      <a:endParaRPr lang="en-US">
                        <a:latin typeface="Calibri"/>
                        <a:ea typeface="Calibri"/>
                        <a:cs typeface="Calibri"/>
                      </a:endParaRPr>
                    </a:p>
                  </a:txBody>
                  <a:tcPr/>
                </a:tc>
                <a:extLst>
                  <a:ext uri="{0D108BD9-81ED-4DB2-BD59-A6C34878D82A}">
                    <a16:rowId xmlns:a16="http://schemas.microsoft.com/office/drawing/2014/main" val="2423377336"/>
                  </a:ext>
                </a:extLst>
              </a:tr>
              <a:tr h="370840">
                <a:tc>
                  <a:txBody>
                    <a:bodyPr/>
                    <a:lstStyle/>
                    <a:p>
                      <a:pPr lvl="0" algn="ctr">
                        <a:buNone/>
                      </a:pPr>
                      <a:r>
                        <a:rPr lang="en-US" sz="1800" b="0" i="0" u="none" strike="noStrike" noProof="0" dirty="0">
                          <a:solidFill>
                            <a:srgbClr val="000000"/>
                          </a:solidFill>
                          <a:latin typeface="Calibri"/>
                          <a:ea typeface="Calibri"/>
                          <a:cs typeface="Calibri"/>
                        </a:rPr>
                        <a:t>Receiver present</a:t>
                      </a:r>
                      <a:endParaRPr lang="en-US">
                        <a:latin typeface="Calibri"/>
                        <a:ea typeface="Calibri"/>
                        <a:cs typeface="Calibri"/>
                      </a:endParaRPr>
                    </a:p>
                  </a:txBody>
                  <a:tcPr/>
                </a:tc>
                <a:tc>
                  <a:txBody>
                    <a:bodyPr/>
                    <a:lstStyle/>
                    <a:p>
                      <a:pPr lvl="0" algn="ctr">
                        <a:lnSpc>
                          <a:spcPct val="100000"/>
                        </a:lnSpc>
                        <a:spcBef>
                          <a:spcPts val="0"/>
                        </a:spcBef>
                        <a:spcAft>
                          <a:spcPts val="0"/>
                        </a:spcAft>
                        <a:buNone/>
                      </a:pPr>
                      <a:r>
                        <a:rPr lang="en-US" sz="1800" b="0" i="0" u="none" strike="noStrike" noProof="0" dirty="0">
                          <a:solidFill>
                            <a:srgbClr val="000000"/>
                          </a:solidFill>
                          <a:latin typeface="Calibri"/>
                          <a:ea typeface="Calibri"/>
                          <a:cs typeface="Calibri"/>
                        </a:rPr>
                        <a:t>011b</a:t>
                      </a:r>
                    </a:p>
                  </a:txBody>
                  <a:tcPr/>
                </a:tc>
                <a:extLst>
                  <a:ext uri="{0D108BD9-81ED-4DB2-BD59-A6C34878D82A}">
                    <a16:rowId xmlns:a16="http://schemas.microsoft.com/office/drawing/2014/main" val="78996173"/>
                  </a:ext>
                </a:extLst>
              </a:tr>
            </a:tbl>
          </a:graphicData>
        </a:graphic>
      </p:graphicFrame>
    </p:spTree>
    <p:extLst>
      <p:ext uri="{BB962C8B-B14F-4D97-AF65-F5344CB8AC3E}">
        <p14:creationId xmlns:p14="http://schemas.microsoft.com/office/powerpoint/2010/main" val="2968192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1D105-9148-C7B7-FC39-68E0E10CD6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0B88DF-DAEB-DF08-053B-9915B40EEB68}"/>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latin typeface="Calibri"/>
                <a:ea typeface="Calibri"/>
                <a:cs typeface="Calibri"/>
              </a:rPr>
              <a:t>Transmitting a Beacon – PCIe Mode </a:t>
            </a:r>
          </a:p>
          <a:p>
            <a:pPr lvl="1" indent="-342900" algn="just">
              <a:buFont typeface="Courier New" panose="020B0604020202020204" pitchFamily="34" charset="0"/>
              <a:buChar char="o"/>
            </a:pPr>
            <a:r>
              <a:rPr lang="en-US" dirty="0">
                <a:latin typeface="Calibri"/>
                <a:ea typeface="Calibri"/>
                <a:cs typeface="Calibri"/>
              </a:rPr>
              <a:t>When the PHY is in </a:t>
            </a:r>
            <a:r>
              <a:rPr lang="en-US" b="1" dirty="0">
                <a:latin typeface="Calibri"/>
                <a:ea typeface="Calibri"/>
                <a:cs typeface="Calibri"/>
              </a:rPr>
              <a:t>P2 state</a:t>
            </a:r>
            <a:r>
              <a:rPr lang="en-US" dirty="0">
                <a:latin typeface="Calibri"/>
                <a:ea typeface="Calibri"/>
                <a:cs typeface="Calibri"/>
              </a:rPr>
              <a:t>, and the MAC wants to transmit a </a:t>
            </a:r>
            <a:r>
              <a:rPr lang="en-US" b="1" dirty="0">
                <a:latin typeface="Calibri"/>
                <a:ea typeface="Calibri"/>
                <a:cs typeface="Calibri"/>
              </a:rPr>
              <a:t>beacon</a:t>
            </a:r>
            <a:r>
              <a:rPr lang="en-US" dirty="0">
                <a:latin typeface="Calibri"/>
                <a:ea typeface="Calibri"/>
                <a:cs typeface="Calibri"/>
              </a:rPr>
              <a:t>:</a:t>
            </a:r>
            <a:endParaRPr lang="en-US" b="1">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MAC </a:t>
            </a:r>
            <a:r>
              <a:rPr lang="en-US" sz="2400" b="1" dirty="0" err="1">
                <a:latin typeface="Calibri"/>
                <a:ea typeface="Calibri"/>
                <a:cs typeface="Calibri"/>
              </a:rPr>
              <a:t>deasserts</a:t>
            </a:r>
            <a:r>
              <a:rPr lang="en-US" sz="2400" b="1" dirty="0">
                <a:latin typeface="Calibri"/>
                <a:ea typeface="Calibri"/>
                <a:cs typeface="Calibri"/>
              </a:rPr>
              <a:t> </a:t>
            </a:r>
            <a:r>
              <a:rPr lang="en-US" sz="2400" b="1" dirty="0" err="1">
                <a:latin typeface="Calibri"/>
                <a:ea typeface="Calibri"/>
                <a:cs typeface="Calibri"/>
              </a:rPr>
              <a:t>TxElecIdle</a:t>
            </a:r>
            <a:endParaRPr lang="en-US" sz="2400" dirty="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PHY generates a </a:t>
            </a:r>
            <a:r>
              <a:rPr lang="en-US" sz="2400" b="1" dirty="0">
                <a:latin typeface="Calibri"/>
                <a:ea typeface="Calibri"/>
                <a:cs typeface="Calibri"/>
              </a:rPr>
              <a:t>valid beacon signal</a:t>
            </a:r>
            <a:endParaRPr lang="en-US" sz="2400" dirty="0">
              <a:latin typeface="Calibri"/>
              <a:ea typeface="Calibri"/>
              <a:cs typeface="Calibri"/>
            </a:endParaRPr>
          </a:p>
          <a:p>
            <a:pPr lvl="1" indent="-342900" algn="just">
              <a:buFont typeface="Courier New" panose="020B0604020202020204" pitchFamily="34" charset="0"/>
              <a:buChar char="o"/>
            </a:pPr>
            <a:r>
              <a:rPr lang="en-US" dirty="0">
                <a:latin typeface="Calibri"/>
                <a:ea typeface="Calibri"/>
                <a:cs typeface="Calibri"/>
              </a:rPr>
              <a:t>The PHY continues transmitting the beacon:</a:t>
            </a:r>
            <a:endParaRPr lang="en-US">
              <a:latin typeface="Calibri"/>
              <a:ea typeface="Calibri"/>
              <a:cs typeface="Calibri"/>
            </a:endParaRPr>
          </a:p>
          <a:p>
            <a:pPr lvl="2" algn="just">
              <a:buFont typeface="Wingdings" panose="020B0604020202020204" pitchFamily="34" charset="0"/>
              <a:buChar char="§"/>
            </a:pPr>
            <a:r>
              <a:rPr lang="en-US" sz="2400" b="1" dirty="0">
                <a:latin typeface="Calibri"/>
                <a:ea typeface="Calibri"/>
                <a:cs typeface="Calibri"/>
              </a:rPr>
              <a:t>Until </a:t>
            </a:r>
            <a:r>
              <a:rPr lang="en-US" sz="2400" b="1" err="1">
                <a:latin typeface="Calibri"/>
                <a:ea typeface="Calibri"/>
                <a:cs typeface="Calibri"/>
              </a:rPr>
              <a:t>TxElecIdle</a:t>
            </a:r>
            <a:r>
              <a:rPr lang="en-US" sz="2400" b="1" dirty="0">
                <a:latin typeface="Calibri"/>
                <a:ea typeface="Calibri"/>
                <a:cs typeface="Calibri"/>
              </a:rPr>
              <a:t> is asserted again</a:t>
            </a:r>
            <a:endParaRPr lang="en-US" sz="2400" dirty="0">
              <a:latin typeface="Calibri"/>
              <a:ea typeface="Calibri"/>
              <a:cs typeface="Calibri"/>
            </a:endParaRPr>
          </a:p>
          <a:p>
            <a:pPr lvl="1" indent="-342900" algn="just">
              <a:buFont typeface="Courier New" panose="020B0604020202020204" pitchFamily="34" charset="0"/>
              <a:buChar char="o"/>
            </a:pPr>
            <a:r>
              <a:rPr lang="en-US" dirty="0">
                <a:latin typeface="Calibri"/>
                <a:ea typeface="Calibri"/>
                <a:cs typeface="Calibri"/>
              </a:rPr>
              <a:t>Before transitioning PHY from </a:t>
            </a:r>
            <a:r>
              <a:rPr lang="en-US" b="1" dirty="0">
                <a:latin typeface="Calibri"/>
                <a:ea typeface="Calibri"/>
                <a:cs typeface="Calibri"/>
              </a:rPr>
              <a:t>P2 → P0</a:t>
            </a:r>
            <a:r>
              <a:rPr lang="en-US" dirty="0">
                <a:latin typeface="Calibri"/>
                <a:ea typeface="Calibri"/>
                <a:cs typeface="Calibri"/>
              </a:rPr>
              <a:t>:</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MAC </a:t>
            </a:r>
            <a:r>
              <a:rPr lang="en-US" sz="2400" b="1" dirty="0">
                <a:latin typeface="Calibri"/>
                <a:ea typeface="Calibri"/>
                <a:cs typeface="Calibri"/>
              </a:rPr>
              <a:t>must assert </a:t>
            </a:r>
            <a:r>
              <a:rPr lang="en-US" sz="2400" b="1" err="1">
                <a:latin typeface="Calibri"/>
                <a:ea typeface="Calibri"/>
                <a:cs typeface="Calibri"/>
              </a:rPr>
              <a:t>TxElecIdle</a:t>
            </a:r>
            <a:endParaRPr lang="en-US" sz="2400">
              <a:latin typeface="Calibri"/>
            </a:endParaRPr>
          </a:p>
          <a:p>
            <a:pPr lvl="1" indent="-342900" algn="just">
              <a:buFont typeface="Courier New" panose="020B0604020202020204" pitchFamily="34" charset="0"/>
              <a:buChar char="o"/>
            </a:pPr>
            <a:endParaRPr lang="en-US" b="1" dirty="0">
              <a:latin typeface="Calibri"/>
              <a:ea typeface="Calibri"/>
              <a:cs typeface="Calibri"/>
            </a:endParaRPr>
          </a:p>
        </p:txBody>
      </p:sp>
      <p:sp>
        <p:nvSpPr>
          <p:cNvPr id="5" name="Title 1">
            <a:extLst>
              <a:ext uri="{FF2B5EF4-FFF2-40B4-BE49-F238E27FC236}">
                <a16:creationId xmlns:a16="http://schemas.microsoft.com/office/drawing/2014/main" id="{107C4BE7-6BEB-981C-AFEC-90457C41D106}"/>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4" name="Picture 3" descr="A diagram of a signal">
            <a:extLst>
              <a:ext uri="{FF2B5EF4-FFF2-40B4-BE49-F238E27FC236}">
                <a16:creationId xmlns:a16="http://schemas.microsoft.com/office/drawing/2014/main" id="{0281A346-5257-23BF-DE89-C813335FF424}"/>
              </a:ext>
            </a:extLst>
          </p:cNvPr>
          <p:cNvPicPr>
            <a:picLocks noChangeAspect="1"/>
          </p:cNvPicPr>
          <p:nvPr/>
        </p:nvPicPr>
        <p:blipFill>
          <a:blip r:embed="rId2"/>
          <a:stretch>
            <a:fillRect/>
          </a:stretch>
        </p:blipFill>
        <p:spPr>
          <a:xfrm>
            <a:off x="2045276" y="4211282"/>
            <a:ext cx="8839476" cy="2494721"/>
          </a:xfrm>
          <a:prstGeom prst="rect">
            <a:avLst/>
          </a:prstGeom>
        </p:spPr>
      </p:pic>
      <p:sp>
        <p:nvSpPr>
          <p:cNvPr id="7" name="TextBox 6">
            <a:extLst>
              <a:ext uri="{FF2B5EF4-FFF2-40B4-BE49-F238E27FC236}">
                <a16:creationId xmlns:a16="http://schemas.microsoft.com/office/drawing/2014/main" id="{E0ED4593-1EBB-8DED-63AA-3AD699FA031E}"/>
              </a:ext>
            </a:extLst>
          </p:cNvPr>
          <p:cNvSpPr txBox="1"/>
          <p:nvPr/>
        </p:nvSpPr>
        <p:spPr>
          <a:xfrm>
            <a:off x="7862956" y="1871869"/>
            <a:ext cx="63058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just"/>
            <a:r>
              <a:rPr lang="en-US" dirty="0">
                <a:latin typeface="Calibri"/>
                <a:ea typeface="Calibri"/>
                <a:cs typeface="Calibri"/>
              </a:rPr>
              <a:t>A beacon is a low-power wake-up signal </a:t>
            </a:r>
            <a:endParaRPr lang="en-US"/>
          </a:p>
          <a:p>
            <a:pPr lvl="1" algn="just"/>
            <a:r>
              <a:rPr lang="en-US" dirty="0">
                <a:latin typeface="Calibri"/>
                <a:ea typeface="Calibri"/>
                <a:cs typeface="Calibri"/>
              </a:rPr>
              <a:t>transmitted by the PHY to indicate link</a:t>
            </a:r>
            <a:endParaRPr lang="en-US" dirty="0">
              <a:latin typeface="Aptos" panose="020B0004020202020204"/>
              <a:ea typeface="Calibri"/>
              <a:cs typeface="Calibri"/>
            </a:endParaRPr>
          </a:p>
          <a:p>
            <a:pPr lvl="1" algn="just"/>
            <a:r>
              <a:rPr lang="en-US" dirty="0">
                <a:latin typeface="Calibri"/>
                <a:ea typeface="Calibri"/>
                <a:cs typeface="Calibri"/>
              </a:rPr>
              <a:t> presence during deep power states.</a:t>
            </a:r>
            <a:endParaRPr lang="en-US"/>
          </a:p>
          <a:p>
            <a:pPr algn="ctr"/>
            <a:endParaRPr lang="en-US"/>
          </a:p>
        </p:txBody>
      </p:sp>
    </p:spTree>
    <p:extLst>
      <p:ext uri="{BB962C8B-B14F-4D97-AF65-F5344CB8AC3E}">
        <p14:creationId xmlns:p14="http://schemas.microsoft.com/office/powerpoint/2010/main" val="36437990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EC53-73B5-FEA8-27A5-124233F417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129D5-818C-8A01-B12D-D402D9338601}"/>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latin typeface="Calibri"/>
                <a:ea typeface="Calibri"/>
                <a:cs typeface="Calibri"/>
              </a:rPr>
              <a:t>Detecting a Beacon – PCIe Mode</a:t>
            </a:r>
          </a:p>
          <a:p>
            <a:pPr lvl="1" indent="-342900" algn="just">
              <a:buFont typeface="Courier New" panose="020B0604020202020204" pitchFamily="34" charset="0"/>
              <a:buChar char="o"/>
            </a:pPr>
            <a:r>
              <a:rPr lang="en-US" dirty="0">
                <a:latin typeface="Calibri"/>
                <a:ea typeface="Calibri"/>
                <a:cs typeface="Calibri"/>
              </a:rPr>
              <a:t>The PHY receiver must </a:t>
            </a:r>
            <a:r>
              <a:rPr lang="en-US" b="1" dirty="0">
                <a:latin typeface="Calibri"/>
                <a:ea typeface="Calibri"/>
                <a:cs typeface="Calibri"/>
              </a:rPr>
              <a:t>continuously monitor for electrical idle</a:t>
            </a:r>
            <a:endParaRPr lang="en-US" b="1">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Except during </a:t>
            </a:r>
            <a:r>
              <a:rPr lang="en-US" sz="2400" b="1" dirty="0">
                <a:latin typeface="Calibri"/>
                <a:ea typeface="Calibri"/>
                <a:cs typeface="Calibri"/>
              </a:rPr>
              <a:t>reset</a:t>
            </a:r>
            <a:endParaRPr lang="en-US" sz="240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Or when </a:t>
            </a:r>
            <a:r>
              <a:rPr lang="en-US" sz="2400" b="1" dirty="0" err="1">
                <a:latin typeface="Calibri"/>
                <a:ea typeface="Calibri"/>
                <a:cs typeface="Calibri"/>
              </a:rPr>
              <a:t>RxEIDetectDisable</a:t>
            </a:r>
            <a:r>
              <a:rPr lang="en-US" sz="2400" b="1" dirty="0">
                <a:latin typeface="Calibri"/>
                <a:ea typeface="Calibri"/>
                <a:cs typeface="Calibri"/>
              </a:rPr>
              <a:t> is set</a:t>
            </a:r>
            <a:endParaRPr lang="en-US" sz="2400">
              <a:latin typeface="Calibri"/>
              <a:ea typeface="Calibri"/>
              <a:cs typeface="Calibri"/>
            </a:endParaRPr>
          </a:p>
          <a:p>
            <a:pPr lvl="1" indent="-342900" algn="just">
              <a:buFont typeface="Courier New" panose="020B0604020202020204" pitchFamily="34" charset="0"/>
              <a:buChar char="o"/>
            </a:pPr>
            <a:r>
              <a:rPr lang="en-US" dirty="0">
                <a:latin typeface="Calibri"/>
                <a:ea typeface="Calibri"/>
                <a:cs typeface="Calibri"/>
              </a:rPr>
              <a:t>When the PHY is in </a:t>
            </a:r>
            <a:r>
              <a:rPr lang="en-US" b="1" dirty="0">
                <a:latin typeface="Calibri"/>
                <a:ea typeface="Calibri"/>
                <a:cs typeface="Calibri"/>
              </a:rPr>
              <a:t>P2 power state</a:t>
            </a:r>
            <a:r>
              <a:rPr lang="en-US" dirty="0">
                <a:latin typeface="Calibri"/>
                <a:ea typeface="Calibri"/>
                <a:cs typeface="Calibri"/>
              </a:rPr>
              <a:t>:</a:t>
            </a:r>
          </a:p>
          <a:p>
            <a:pPr lvl="2" algn="just">
              <a:buFont typeface="Wingdings" panose="020B0604020202020204" pitchFamily="34" charset="0"/>
              <a:buChar char="§"/>
            </a:pPr>
            <a:r>
              <a:rPr lang="en-US" sz="2400" dirty="0">
                <a:latin typeface="Calibri"/>
                <a:ea typeface="Calibri"/>
                <a:cs typeface="Calibri"/>
              </a:rPr>
              <a:t>If </a:t>
            </a:r>
            <a:r>
              <a:rPr lang="en-US" sz="2400" b="1" err="1">
                <a:latin typeface="Calibri"/>
                <a:ea typeface="Calibri"/>
                <a:cs typeface="Calibri"/>
              </a:rPr>
              <a:t>RxElecIdle</a:t>
            </a:r>
            <a:r>
              <a:rPr lang="en-US" sz="2400" b="1" dirty="0">
                <a:latin typeface="Calibri"/>
                <a:ea typeface="Calibri"/>
                <a:cs typeface="Calibri"/>
              </a:rPr>
              <a:t> is </a:t>
            </a:r>
            <a:r>
              <a:rPr lang="en-US" sz="2400" b="1" err="1">
                <a:latin typeface="Calibri"/>
                <a:ea typeface="Calibri"/>
                <a:cs typeface="Calibri"/>
              </a:rPr>
              <a:t>deasserted</a:t>
            </a:r>
            <a:endParaRPr lang="en-US" sz="2400" dirty="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It indicates that a </a:t>
            </a:r>
            <a:r>
              <a:rPr lang="en-US" sz="2400" b="1" dirty="0">
                <a:latin typeface="Calibri"/>
                <a:ea typeface="Calibri"/>
                <a:cs typeface="Calibri"/>
              </a:rPr>
              <a:t>beacon is detected</a:t>
            </a:r>
            <a:endParaRPr lang="en-US" sz="2400">
              <a:latin typeface="Calibri"/>
              <a:ea typeface="Calibri"/>
              <a:cs typeface="Calibri"/>
            </a:endParaRPr>
          </a:p>
        </p:txBody>
      </p:sp>
      <p:sp>
        <p:nvSpPr>
          <p:cNvPr id="5" name="Title 1">
            <a:extLst>
              <a:ext uri="{FF2B5EF4-FFF2-40B4-BE49-F238E27FC236}">
                <a16:creationId xmlns:a16="http://schemas.microsoft.com/office/drawing/2014/main" id="{5970B352-F335-628E-0CCE-9B9BB2962053}"/>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a:extLst>
              <a:ext uri="{FF2B5EF4-FFF2-40B4-BE49-F238E27FC236}">
                <a16:creationId xmlns:a16="http://schemas.microsoft.com/office/drawing/2014/main" id="{4CFA29C1-CEA9-DFBC-602C-6A640611BD39}"/>
              </a:ext>
            </a:extLst>
          </p:cNvPr>
          <p:cNvPicPr>
            <a:picLocks noChangeAspect="1"/>
          </p:cNvPicPr>
          <p:nvPr/>
        </p:nvPicPr>
        <p:blipFill>
          <a:blip r:embed="rId2"/>
          <a:stretch>
            <a:fillRect/>
          </a:stretch>
        </p:blipFill>
        <p:spPr>
          <a:xfrm>
            <a:off x="1876357" y="3941832"/>
            <a:ext cx="8819284" cy="2358159"/>
          </a:xfrm>
          <a:prstGeom prst="rect">
            <a:avLst/>
          </a:prstGeom>
        </p:spPr>
      </p:pic>
    </p:spTree>
    <p:extLst>
      <p:ext uri="{BB962C8B-B14F-4D97-AF65-F5344CB8AC3E}">
        <p14:creationId xmlns:p14="http://schemas.microsoft.com/office/powerpoint/2010/main" val="4018026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9616-B759-53E1-0D3E-194A077749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C8C007-A930-B765-A359-4BA126210DBC}"/>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a:latin typeface="Calibri"/>
                <a:ea typeface="Calibri"/>
                <a:cs typeface="Calibri"/>
              </a:rPr>
              <a:t>Error Detection – PCIe Mode</a:t>
            </a:r>
            <a:endParaRPr lang="en-US">
              <a:latin typeface="Aptos"/>
              <a:ea typeface="Calibri"/>
              <a:cs typeface="Calibri"/>
            </a:endParaRPr>
          </a:p>
          <a:p>
            <a:pPr lvl="1" algn="just">
              <a:buFont typeface="Courier New" panose="020B0604020202020204" pitchFamily="34" charset="0"/>
              <a:buChar char="o"/>
            </a:pPr>
            <a:r>
              <a:rPr lang="en-US" dirty="0">
                <a:latin typeface="Calibri"/>
                <a:ea typeface="Calibri"/>
                <a:cs typeface="Calibri"/>
              </a:rPr>
              <a:t>The PHY detects different types of </a:t>
            </a:r>
            <a:r>
              <a:rPr lang="en-US" b="1" dirty="0">
                <a:latin typeface="Calibri"/>
                <a:ea typeface="Calibri"/>
                <a:cs typeface="Calibri"/>
              </a:rPr>
              <a:t>receive errors</a:t>
            </a:r>
            <a:endParaRPr lang="en-US" dirty="0">
              <a:latin typeface="Calibri"/>
              <a:ea typeface="Calibri"/>
              <a:cs typeface="Calibri"/>
            </a:endParaRPr>
          </a:p>
          <a:p>
            <a:pPr lvl="1" algn="just">
              <a:buFont typeface="Courier New" panose="020B0604020202020204" pitchFamily="34" charset="0"/>
              <a:buChar char="o"/>
            </a:pPr>
            <a:r>
              <a:rPr lang="en-US" dirty="0">
                <a:latin typeface="Calibri"/>
                <a:ea typeface="Calibri"/>
                <a:cs typeface="Calibri"/>
              </a:rPr>
              <a:t>Errors are reported to the MAC using:</a:t>
            </a:r>
          </a:p>
          <a:p>
            <a:pPr lvl="2" algn="just">
              <a:buFont typeface="Wingdings" panose="020B0604020202020204" pitchFamily="34" charset="0"/>
              <a:buChar char="§"/>
            </a:pPr>
            <a:r>
              <a:rPr lang="en-US" sz="2400" b="1" err="1">
                <a:latin typeface="Calibri"/>
                <a:ea typeface="Calibri"/>
                <a:cs typeface="Calibri"/>
              </a:rPr>
              <a:t>RxStatus</a:t>
            </a:r>
            <a:r>
              <a:rPr lang="en-US" sz="2400" b="1" dirty="0">
                <a:latin typeface="Calibri"/>
                <a:ea typeface="Calibri"/>
                <a:cs typeface="Calibri"/>
              </a:rPr>
              <a:t>[2:0] signals</a:t>
            </a:r>
            <a:endParaRPr lang="en-US" sz="2400" dirty="0">
              <a:latin typeface="Calibri"/>
              <a:ea typeface="Calibri"/>
              <a:cs typeface="Calibri"/>
            </a:endParaRPr>
          </a:p>
          <a:p>
            <a:pPr lvl="1" algn="just">
              <a:buFont typeface="Courier New,monospace" panose="020B0604020202020204" pitchFamily="34" charset="0"/>
              <a:buChar char="o"/>
            </a:pPr>
            <a:r>
              <a:rPr lang="en-US">
                <a:latin typeface="Calibri"/>
                <a:ea typeface="Calibri"/>
                <a:cs typeface="Calibri"/>
              </a:rPr>
              <a:t>Due to higher-layer error checking (e.g., </a:t>
            </a:r>
            <a:r>
              <a:rPr lang="en-US" b="1">
                <a:latin typeface="Calibri"/>
                <a:ea typeface="Calibri"/>
                <a:cs typeface="Calibri"/>
              </a:rPr>
              <a:t>CRC in Data Link layer</a:t>
            </a:r>
            <a:r>
              <a:rPr lang="en-US">
                <a:latin typeface="Calibri"/>
                <a:ea typeface="Calibri"/>
                <a:cs typeface="Calibri"/>
              </a:rPr>
              <a:t>):</a:t>
            </a:r>
            <a:endParaRPr lang="en-US" dirty="0">
              <a:latin typeface="Calibri"/>
              <a:ea typeface="Calibri"/>
              <a:cs typeface="Calibri"/>
            </a:endParaRPr>
          </a:p>
          <a:p>
            <a:pPr lvl="2" algn="just">
              <a:buFont typeface="Wingdings,Sans-Serif" panose="020B0604020202020204" pitchFamily="34" charset="0"/>
              <a:buChar char="§"/>
            </a:pPr>
            <a:r>
              <a:rPr lang="en-US" sz="2400" dirty="0">
                <a:latin typeface="Calibri"/>
                <a:ea typeface="Calibri"/>
                <a:cs typeface="Calibri"/>
              </a:rPr>
              <a:t>Exact symbol identification is not required</a:t>
            </a:r>
          </a:p>
          <a:p>
            <a:pPr lvl="2" algn="just">
              <a:buFont typeface="Wingdings,Sans-Serif" panose="020B0604020202020204" pitchFamily="34" charset="0"/>
              <a:buChar char="§"/>
            </a:pPr>
            <a:r>
              <a:rPr lang="en-US" sz="2400" dirty="0">
                <a:latin typeface="Calibri"/>
                <a:ea typeface="Calibri"/>
                <a:cs typeface="Calibri"/>
              </a:rPr>
              <a:t>But correct </a:t>
            </a:r>
            <a:r>
              <a:rPr lang="en-US" sz="2400" b="1" dirty="0">
                <a:latin typeface="Calibri"/>
                <a:ea typeface="Calibri"/>
                <a:cs typeface="Calibri"/>
              </a:rPr>
              <a:t>timing of the error</a:t>
            </a:r>
            <a:r>
              <a:rPr lang="en-US" sz="2400" dirty="0">
                <a:latin typeface="Calibri"/>
                <a:ea typeface="Calibri"/>
                <a:cs typeface="Calibri"/>
              </a:rPr>
              <a:t> is important</a:t>
            </a:r>
          </a:p>
          <a:p>
            <a:pPr lvl="1" algn="just">
              <a:buFont typeface="Courier New" panose="020B0604020202020204" pitchFamily="34" charset="0"/>
              <a:buChar char="o"/>
            </a:pPr>
            <a:r>
              <a:rPr lang="en-US" b="1" dirty="0">
                <a:latin typeface="Calibri"/>
                <a:ea typeface="Calibri"/>
                <a:cs typeface="Calibri"/>
              </a:rPr>
              <a:t>Error Signaling Method</a:t>
            </a:r>
          </a:p>
          <a:p>
            <a:pPr lvl="1" algn="just">
              <a:buFont typeface="Courier New" panose="020B0604020202020204" pitchFamily="34" charset="0"/>
              <a:buChar char="o"/>
            </a:pPr>
            <a:r>
              <a:rPr lang="en-US" dirty="0">
                <a:latin typeface="Calibri"/>
                <a:ea typeface="Calibri"/>
                <a:cs typeface="Calibri"/>
              </a:rPr>
              <a:t>When a receive error occurs:</a:t>
            </a:r>
          </a:p>
          <a:p>
            <a:pPr lvl="2" algn="just">
              <a:buFont typeface="Wingdings" panose="020B0604020202020204" pitchFamily="34" charset="0"/>
              <a:buChar char="§"/>
            </a:pPr>
            <a:r>
              <a:rPr lang="en-US" sz="2400" dirty="0">
                <a:latin typeface="Calibri"/>
                <a:ea typeface="Calibri"/>
                <a:cs typeface="Calibri"/>
              </a:rPr>
              <a:t>PHY asserts the appropriate </a:t>
            </a:r>
            <a:r>
              <a:rPr lang="en-US" sz="2400" b="1" dirty="0">
                <a:latin typeface="Calibri"/>
                <a:ea typeface="Calibri"/>
                <a:cs typeface="Calibri"/>
              </a:rPr>
              <a:t>error code</a:t>
            </a:r>
          </a:p>
          <a:p>
            <a:pPr lvl="2" algn="just">
              <a:buFont typeface="Wingdings" panose="020B0604020202020204" pitchFamily="34" charset="0"/>
              <a:buChar char="§"/>
            </a:pPr>
            <a:r>
              <a:rPr lang="en-US" sz="2400" dirty="0">
                <a:latin typeface="Calibri"/>
                <a:ea typeface="Calibri"/>
                <a:cs typeface="Calibri"/>
              </a:rPr>
              <a:t>For </a:t>
            </a:r>
            <a:r>
              <a:rPr lang="en-US" sz="2400" b="1">
                <a:latin typeface="Calibri"/>
                <a:ea typeface="Calibri"/>
                <a:cs typeface="Calibri"/>
              </a:rPr>
              <a:t>one clock cycle</a:t>
            </a:r>
            <a:endParaRPr lang="en-US" sz="2400" dirty="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At the point in the parallel data stream closest to the error location</a:t>
            </a:r>
          </a:p>
        </p:txBody>
      </p:sp>
      <p:sp>
        <p:nvSpPr>
          <p:cNvPr id="5" name="Title 1">
            <a:extLst>
              <a:ext uri="{FF2B5EF4-FFF2-40B4-BE49-F238E27FC236}">
                <a16:creationId xmlns:a16="http://schemas.microsoft.com/office/drawing/2014/main" id="{83B0BDD9-2C98-3B32-13CB-B6DB9AB11D79}"/>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11089903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191E4-367B-0A8D-D5AD-9E01355038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EAD76-8C0A-D58A-39FF-A8D9AAF0EB61}"/>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latin typeface="Aptos"/>
                <a:ea typeface="Calibri"/>
                <a:cs typeface="Calibri"/>
              </a:rPr>
              <a:t>Error</a:t>
            </a:r>
            <a:r>
              <a:rPr lang="en-US" b="1" dirty="0"/>
              <a:t> Priority (Highest to Lowest)</a:t>
            </a:r>
            <a:endParaRPr lang="en-US" dirty="0">
              <a:latin typeface="Calibri"/>
              <a:ea typeface="Calibri"/>
              <a:cs typeface="Calibri"/>
            </a:endParaRPr>
          </a:p>
          <a:p>
            <a:pPr marL="457200" lvl="1" indent="0" algn="just">
              <a:buNone/>
            </a:pPr>
            <a:r>
              <a:rPr lang="en-US" dirty="0">
                <a:latin typeface="Calibri"/>
                <a:ea typeface="Calibri"/>
                <a:cs typeface="Calibri"/>
              </a:rPr>
              <a:t>If multiple errors occur in the same data unit, report in this priority order:</a:t>
            </a:r>
          </a:p>
          <a:p>
            <a:pPr marL="914400" lvl="1" indent="-457200" algn="just">
              <a:buAutoNum type="arabicPeriod"/>
            </a:pPr>
            <a:r>
              <a:rPr lang="en-US" b="1" dirty="0">
                <a:latin typeface="Calibri"/>
                <a:ea typeface="Calibri"/>
                <a:cs typeface="Calibri"/>
              </a:rPr>
              <a:t>8B/10B decode error</a:t>
            </a:r>
            <a:r>
              <a:rPr lang="en-US" dirty="0">
                <a:latin typeface="Calibri"/>
                <a:ea typeface="Calibri"/>
                <a:cs typeface="Calibri"/>
              </a:rPr>
              <a:t> or </a:t>
            </a:r>
            <a:r>
              <a:rPr lang="en-US" b="1" dirty="0">
                <a:latin typeface="Calibri"/>
                <a:ea typeface="Calibri"/>
                <a:cs typeface="Calibri"/>
              </a:rPr>
              <a:t>Block decode error</a:t>
            </a:r>
            <a:endParaRPr lang="en-US">
              <a:latin typeface="Calibri"/>
              <a:ea typeface="Calibri"/>
              <a:cs typeface="Calibri"/>
            </a:endParaRPr>
          </a:p>
          <a:p>
            <a:pPr marL="914400" lvl="1" indent="-457200" algn="just">
              <a:buAutoNum type="arabicPeriod"/>
            </a:pPr>
            <a:r>
              <a:rPr lang="en-US" b="1" dirty="0">
                <a:latin typeface="Calibri"/>
                <a:ea typeface="Calibri"/>
                <a:cs typeface="Calibri"/>
              </a:rPr>
              <a:t>Elastic buffer overflow</a:t>
            </a:r>
            <a:endParaRPr lang="en-US">
              <a:latin typeface="Calibri"/>
              <a:ea typeface="Calibri"/>
              <a:cs typeface="Calibri"/>
            </a:endParaRPr>
          </a:p>
          <a:p>
            <a:pPr marL="914400" lvl="1" indent="-457200">
              <a:buAutoNum type="arabicPeriod"/>
            </a:pPr>
            <a:r>
              <a:rPr lang="en-US" b="1" dirty="0">
                <a:latin typeface="Calibri"/>
                <a:ea typeface="Calibri"/>
                <a:cs typeface="Calibri"/>
              </a:rPr>
              <a:t>Elastic buffer underflow </a:t>
            </a:r>
            <a:r>
              <a:rPr lang="en-US" i="1" dirty="0">
                <a:latin typeface="Calibri"/>
                <a:ea typeface="Calibri"/>
                <a:cs typeface="Calibri"/>
              </a:rPr>
              <a:t>(Cannot occur in Nominal Empty buffer model)</a:t>
            </a:r>
            <a:endParaRPr lang="en-US">
              <a:latin typeface="Calibri"/>
              <a:ea typeface="Calibri"/>
              <a:cs typeface="Calibri"/>
            </a:endParaRPr>
          </a:p>
          <a:p>
            <a:pPr marL="914400" lvl="1" indent="-457200" algn="just">
              <a:buAutoNum type="arabicPeriod"/>
            </a:pPr>
            <a:r>
              <a:rPr lang="en-US" b="1" dirty="0">
                <a:latin typeface="Calibri"/>
                <a:ea typeface="Calibri"/>
                <a:cs typeface="Calibri"/>
              </a:rPr>
              <a:t>Disparity error</a:t>
            </a:r>
            <a:endParaRPr lang="en-US" dirty="0">
              <a:latin typeface="Calibri"/>
              <a:ea typeface="Calibri"/>
              <a:cs typeface="Calibri"/>
            </a:endParaRPr>
          </a:p>
          <a:p>
            <a:pPr marL="914400" lvl="1" indent="-457200" algn="just">
              <a:buAutoNum type="arabicPeriod"/>
            </a:pPr>
            <a:r>
              <a:rPr lang="en-US" b="1" dirty="0">
                <a:latin typeface="Calibri"/>
                <a:ea typeface="Calibri"/>
                <a:cs typeface="Calibri"/>
              </a:rPr>
              <a:t>Misalign error</a:t>
            </a:r>
            <a:r>
              <a:rPr lang="en-US" dirty="0">
                <a:latin typeface="Calibri"/>
                <a:ea typeface="Calibri"/>
                <a:cs typeface="Calibri"/>
              </a:rPr>
              <a:t> </a:t>
            </a:r>
            <a:r>
              <a:rPr lang="en-US" i="1" dirty="0">
                <a:latin typeface="Calibri"/>
                <a:ea typeface="Calibri"/>
                <a:cs typeface="Calibri"/>
              </a:rPr>
              <a:t>(SATA mode only)</a:t>
            </a:r>
          </a:p>
          <a:p>
            <a:pPr algn="just"/>
            <a:r>
              <a:rPr lang="en-US" b="1" dirty="0">
                <a:ea typeface="+mn-lt"/>
                <a:cs typeface="+mn-lt"/>
              </a:rPr>
              <a:t>Header Error Handling</a:t>
            </a:r>
            <a:endParaRPr lang="en-US" dirty="0">
              <a:ea typeface="+mn-lt"/>
              <a:cs typeface="+mn-lt"/>
            </a:endParaRPr>
          </a:p>
          <a:p>
            <a:pPr lvl="1" indent="-457200" algn="just">
              <a:buAutoNum type="arabicPeriod"/>
            </a:pPr>
            <a:r>
              <a:rPr lang="en-US" dirty="0">
                <a:latin typeface="Calibri"/>
                <a:ea typeface="Calibri"/>
                <a:cs typeface="Calibri"/>
              </a:rPr>
              <a:t>The PHY does </a:t>
            </a:r>
            <a:r>
              <a:rPr lang="en-US" b="1" dirty="0">
                <a:latin typeface="Calibri"/>
                <a:ea typeface="Calibri"/>
                <a:cs typeface="Calibri"/>
              </a:rPr>
              <a:t>NOT</a:t>
            </a:r>
            <a:r>
              <a:rPr lang="en-US" dirty="0">
                <a:latin typeface="Calibri"/>
                <a:ea typeface="Calibri"/>
                <a:cs typeface="Calibri"/>
              </a:rPr>
              <a:t> detect:</a:t>
            </a:r>
          </a:p>
          <a:p>
            <a:pPr lvl="2" algn="just">
              <a:buFont typeface="Wingdings" panose="020B0604020202020204" pitchFamily="34" charset="0"/>
              <a:buChar char="§"/>
            </a:pPr>
            <a:r>
              <a:rPr lang="en-US" sz="2400" b="1" dirty="0">
                <a:latin typeface="Calibri"/>
                <a:ea typeface="Calibri"/>
                <a:cs typeface="Calibri"/>
              </a:rPr>
              <a:t>128/130B header errors (PCIe)</a:t>
            </a:r>
            <a:endParaRPr lang="en-US" sz="2400" dirty="0">
              <a:latin typeface="Calibri"/>
              <a:ea typeface="Calibri"/>
              <a:cs typeface="Calibri"/>
            </a:endParaRPr>
          </a:p>
          <a:p>
            <a:pPr lvl="1" indent="-457200" algn="just">
              <a:buAutoNum type="arabicPeriod"/>
            </a:pPr>
            <a:r>
              <a:rPr lang="en-US" dirty="0">
                <a:latin typeface="Calibri"/>
                <a:ea typeface="Calibri"/>
                <a:cs typeface="Calibri"/>
              </a:rPr>
              <a:t>The PHY passes </a:t>
            </a:r>
            <a:r>
              <a:rPr lang="en-US" b="1" dirty="0">
                <a:latin typeface="Calibri"/>
                <a:ea typeface="Calibri"/>
                <a:cs typeface="Calibri"/>
              </a:rPr>
              <a:t>raw header bits</a:t>
            </a:r>
            <a:r>
              <a:rPr lang="en-US" dirty="0">
                <a:latin typeface="Calibri"/>
                <a:ea typeface="Calibri"/>
                <a:cs typeface="Calibri"/>
              </a:rPr>
              <a:t> to the controller</a:t>
            </a:r>
          </a:p>
          <a:p>
            <a:pPr lvl="1" indent="-457200" algn="just">
              <a:buAutoNum type="arabicPeriod"/>
            </a:pPr>
            <a:r>
              <a:rPr lang="en-US" dirty="0">
                <a:latin typeface="Calibri"/>
                <a:ea typeface="Calibri"/>
                <a:cs typeface="Calibri"/>
              </a:rPr>
              <a:t>The </a:t>
            </a:r>
            <a:r>
              <a:rPr lang="en-US" b="1" dirty="0">
                <a:latin typeface="Calibri"/>
                <a:ea typeface="Calibri"/>
                <a:cs typeface="Calibri"/>
              </a:rPr>
              <a:t>controller (MAC/Data Link layer)</a:t>
            </a:r>
            <a:r>
              <a:rPr lang="en-US" dirty="0">
                <a:latin typeface="Calibri"/>
                <a:ea typeface="Calibri"/>
                <a:cs typeface="Calibri"/>
              </a:rPr>
              <a:t> is responsible for:</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Header error detection</a:t>
            </a:r>
          </a:p>
          <a:p>
            <a:pPr lvl="2" algn="just">
              <a:buFont typeface="Wingdings" panose="020B0604020202020204" pitchFamily="34" charset="0"/>
              <a:buChar char="§"/>
            </a:pPr>
            <a:r>
              <a:rPr lang="en-US" sz="2400" dirty="0">
                <a:latin typeface="Calibri"/>
                <a:ea typeface="Calibri"/>
                <a:cs typeface="Calibri"/>
              </a:rPr>
              <a:t>Error handling</a:t>
            </a:r>
          </a:p>
          <a:p>
            <a:pPr marL="914400" lvl="1" indent="-457200" algn="just">
              <a:buAutoNum type="arabicPeriod"/>
            </a:pPr>
            <a:endParaRPr lang="en-US" sz="2000" b="1" i="1" dirty="0"/>
          </a:p>
        </p:txBody>
      </p:sp>
      <p:sp>
        <p:nvSpPr>
          <p:cNvPr id="5" name="Title 1">
            <a:extLst>
              <a:ext uri="{FF2B5EF4-FFF2-40B4-BE49-F238E27FC236}">
                <a16:creationId xmlns:a16="http://schemas.microsoft.com/office/drawing/2014/main" id="{BD42207B-3D18-7498-86CF-4F32B828CAA1}"/>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spTree>
    <p:extLst>
      <p:ext uri="{BB962C8B-B14F-4D97-AF65-F5344CB8AC3E}">
        <p14:creationId xmlns:p14="http://schemas.microsoft.com/office/powerpoint/2010/main" val="27154247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D2521-B1AD-8EF8-7159-11859FEA78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0BBDF9-9AB4-DB15-CD8D-EEFABB4F43D1}"/>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latin typeface="Calibri"/>
                <a:ea typeface="Calibri"/>
                <a:cs typeface="Calibri"/>
              </a:rPr>
              <a:t>8B/10B Decode Errors</a:t>
            </a:r>
          </a:p>
          <a:p>
            <a:pPr lvl="1" indent="-457200" algn="just">
              <a:buFont typeface="Courier New" panose="020B0604020202020204" pitchFamily="34" charset="0"/>
              <a:buChar char="o"/>
            </a:pPr>
            <a:r>
              <a:rPr lang="en-US" dirty="0">
                <a:latin typeface="Calibri"/>
                <a:ea typeface="Calibri"/>
                <a:cs typeface="Calibri"/>
              </a:rPr>
              <a:t>If PHY detects an </a:t>
            </a:r>
            <a:r>
              <a:rPr lang="en-US" b="1" dirty="0">
                <a:latin typeface="Calibri"/>
                <a:ea typeface="Calibri"/>
                <a:cs typeface="Calibri"/>
              </a:rPr>
              <a:t>8B/10B decode error</a:t>
            </a:r>
            <a:r>
              <a:rPr lang="en-US" dirty="0">
                <a:latin typeface="Calibri"/>
                <a:ea typeface="Calibri"/>
                <a:cs typeface="Calibri"/>
              </a:rPr>
              <a:t>:</a:t>
            </a:r>
          </a:p>
          <a:p>
            <a:pPr lvl="1" indent="-457200" algn="just">
              <a:buFont typeface="Courier New" panose="020B0604020202020204" pitchFamily="34" charset="0"/>
              <a:buChar char="o"/>
            </a:pPr>
            <a:r>
              <a:rPr lang="en-US" dirty="0">
                <a:latin typeface="Calibri"/>
                <a:ea typeface="Calibri"/>
                <a:cs typeface="Calibri"/>
              </a:rPr>
              <a:t>Replace bad byte with:</a:t>
            </a:r>
            <a:endParaRPr lang="en-US">
              <a:latin typeface="Calibri"/>
              <a:ea typeface="Calibri"/>
              <a:cs typeface="Calibri"/>
            </a:endParaRPr>
          </a:p>
          <a:p>
            <a:pPr lvl="2" algn="just">
              <a:buFont typeface="Wingdings" panose="020B0604020202020204" pitchFamily="34" charset="0"/>
              <a:buChar char="§"/>
            </a:pPr>
            <a:r>
              <a:rPr lang="en-US" sz="2400" b="1" dirty="0">
                <a:latin typeface="Calibri"/>
                <a:ea typeface="Calibri"/>
                <a:cs typeface="Calibri"/>
              </a:rPr>
              <a:t>End Bad</a:t>
            </a:r>
            <a:r>
              <a:rPr lang="en-US" sz="2400" dirty="0">
                <a:ea typeface="+mn-lt"/>
                <a:cs typeface="+mn-lt"/>
              </a:rPr>
              <a:t> [</a:t>
            </a:r>
            <a:r>
              <a:rPr lang="en-US" sz="2400" b="1" dirty="0">
                <a:latin typeface="Calibri"/>
                <a:ea typeface="Calibri"/>
                <a:cs typeface="Calibri"/>
              </a:rPr>
              <a:t>EDB</a:t>
            </a:r>
            <a:r>
              <a:rPr lang="en-US" sz="2400" dirty="0">
                <a:latin typeface="Calibri"/>
                <a:ea typeface="Calibri"/>
                <a:cs typeface="Calibri"/>
              </a:rPr>
              <a:t> (PCIe / SATA)]</a:t>
            </a:r>
          </a:p>
          <a:p>
            <a:pPr lvl="1" indent="-457200" algn="just">
              <a:buFont typeface="Courier New" panose="020B0604020202020204" pitchFamily="34" charset="0"/>
              <a:buChar char="o"/>
            </a:pPr>
            <a:r>
              <a:rPr lang="en-US" dirty="0">
                <a:latin typeface="Calibri"/>
                <a:ea typeface="Calibri"/>
                <a:cs typeface="Calibri"/>
              </a:rPr>
              <a:t>PHY sets </a:t>
            </a:r>
            <a:r>
              <a:rPr lang="en-US" b="1" dirty="0" err="1">
                <a:latin typeface="Calibri"/>
                <a:ea typeface="Calibri"/>
                <a:cs typeface="Calibri"/>
              </a:rPr>
              <a:t>RxStatus</a:t>
            </a:r>
            <a:r>
              <a:rPr lang="en-US" b="1" dirty="0">
                <a:latin typeface="Calibri"/>
                <a:ea typeface="Calibri"/>
                <a:cs typeface="Calibri"/>
              </a:rPr>
              <a:t> = Decode Error</a:t>
            </a:r>
            <a:endParaRPr lang="en-US">
              <a:latin typeface="Calibri"/>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Error is indicated for </a:t>
            </a:r>
            <a:r>
              <a:rPr lang="en-US" b="1" dirty="0">
                <a:latin typeface="Calibri"/>
                <a:ea typeface="Calibri"/>
                <a:cs typeface="Calibri"/>
              </a:rPr>
              <a:t>one clock cycle</a:t>
            </a:r>
            <a:endParaRPr lang="en-US">
              <a:latin typeface="Calibri"/>
              <a:ea typeface="Calibri"/>
              <a:cs typeface="Calibri"/>
            </a:endParaRPr>
          </a:p>
          <a:p>
            <a:pPr algn="just"/>
            <a:r>
              <a:rPr lang="en-US" sz="2400" b="1" dirty="0">
                <a:latin typeface="Calibri"/>
                <a:ea typeface="Calibri"/>
                <a:cs typeface="Calibri"/>
              </a:rPr>
              <a:t>Important Rule</a:t>
            </a:r>
            <a:endParaRPr lang="en-US" sz="2400" dirty="0">
              <a:latin typeface="Calibri"/>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If both </a:t>
            </a:r>
            <a:r>
              <a:rPr lang="en-US" b="1" dirty="0">
                <a:latin typeface="Calibri"/>
                <a:ea typeface="Calibri"/>
                <a:cs typeface="Calibri"/>
              </a:rPr>
              <a:t>decode error and disparity error</a:t>
            </a:r>
            <a:r>
              <a:rPr lang="en-US" dirty="0">
                <a:latin typeface="Calibri"/>
                <a:ea typeface="Calibri"/>
                <a:cs typeface="Calibri"/>
              </a:rPr>
              <a:t> occur:</a:t>
            </a:r>
          </a:p>
          <a:p>
            <a:pPr lvl="2" algn="just">
              <a:buFont typeface="Wingdings" panose="020B0604020202020204" pitchFamily="34" charset="0"/>
              <a:buChar char="§"/>
            </a:pPr>
            <a:r>
              <a:rPr lang="en-US" sz="2400" b="1" dirty="0">
                <a:latin typeface="Calibri"/>
                <a:ea typeface="Calibri"/>
                <a:cs typeface="Calibri"/>
              </a:rPr>
              <a:t>Decode error has higher priority</a:t>
            </a:r>
            <a:endParaRPr lang="en-US" sz="2400" dirty="0">
              <a:latin typeface="Calibri"/>
              <a:ea typeface="Calibri"/>
              <a:cs typeface="Calibri"/>
            </a:endParaRPr>
          </a:p>
          <a:p>
            <a:pPr lvl="1" indent="-457200" algn="just">
              <a:buFont typeface="Courier New" panose="020B0604020202020204" pitchFamily="34" charset="0"/>
              <a:buChar char="o"/>
            </a:pPr>
            <a:endParaRPr lang="en-US" b="1" dirty="0">
              <a:latin typeface="Aptos"/>
              <a:ea typeface="Calibri"/>
              <a:cs typeface="Calibri"/>
            </a:endParaRPr>
          </a:p>
        </p:txBody>
      </p:sp>
      <p:sp>
        <p:nvSpPr>
          <p:cNvPr id="5" name="Title 1">
            <a:extLst>
              <a:ext uri="{FF2B5EF4-FFF2-40B4-BE49-F238E27FC236}">
                <a16:creationId xmlns:a16="http://schemas.microsoft.com/office/drawing/2014/main" id="{A23E803D-555B-46F9-E6EB-BD67AA3D82DF}"/>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screenshot of a computer error">
            <a:extLst>
              <a:ext uri="{FF2B5EF4-FFF2-40B4-BE49-F238E27FC236}">
                <a16:creationId xmlns:a16="http://schemas.microsoft.com/office/drawing/2014/main" id="{7186232B-8EF9-2E6A-C1CB-93AF2BE858A5}"/>
              </a:ext>
            </a:extLst>
          </p:cNvPr>
          <p:cNvPicPr>
            <a:picLocks noChangeAspect="1"/>
          </p:cNvPicPr>
          <p:nvPr/>
        </p:nvPicPr>
        <p:blipFill>
          <a:blip r:embed="rId2"/>
          <a:stretch>
            <a:fillRect/>
          </a:stretch>
        </p:blipFill>
        <p:spPr>
          <a:xfrm>
            <a:off x="4084060" y="4671436"/>
            <a:ext cx="7674553" cy="2185944"/>
          </a:xfrm>
          <a:prstGeom prst="rect">
            <a:avLst/>
          </a:prstGeom>
        </p:spPr>
      </p:pic>
    </p:spTree>
    <p:extLst>
      <p:ext uri="{BB962C8B-B14F-4D97-AF65-F5344CB8AC3E}">
        <p14:creationId xmlns:p14="http://schemas.microsoft.com/office/powerpoint/2010/main" val="9113924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2B0D1-623D-C6E9-D9D7-AE11915C03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0A2683-6363-E73B-7CE2-77148E744806}"/>
              </a:ext>
            </a:extLst>
          </p:cNvPr>
          <p:cNvSpPr>
            <a:spLocks noGrp="1"/>
          </p:cNvSpPr>
          <p:nvPr>
            <p:ph idx="1"/>
          </p:nvPr>
        </p:nvSpPr>
        <p:spPr>
          <a:xfrm>
            <a:off x="-3984" y="1019459"/>
            <a:ext cx="12173917" cy="5837197"/>
          </a:xfrm>
        </p:spPr>
        <p:txBody>
          <a:bodyPr vert="horz" lIns="91440" tIns="45720" rIns="91440" bIns="45720" rtlCol="0" anchor="t">
            <a:normAutofit/>
          </a:bodyPr>
          <a:lstStyle/>
          <a:p>
            <a:pPr algn="just"/>
            <a:r>
              <a:rPr lang="en-US" b="1" dirty="0">
                <a:latin typeface="Calibri"/>
                <a:ea typeface="Calibri"/>
                <a:cs typeface="Calibri"/>
              </a:rPr>
              <a:t> Disparity Errors</a:t>
            </a:r>
            <a:endParaRPr lang="en-US" dirty="0">
              <a:latin typeface="Aptos"/>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If PHY detects a </a:t>
            </a:r>
            <a:r>
              <a:rPr lang="en-US" b="1" dirty="0">
                <a:latin typeface="Calibri"/>
                <a:ea typeface="Calibri"/>
                <a:cs typeface="Calibri"/>
              </a:rPr>
              <a:t>disparity error</a:t>
            </a:r>
            <a:r>
              <a:rPr lang="en-US" dirty="0">
                <a:latin typeface="Calibri"/>
                <a:ea typeface="Calibri"/>
                <a:cs typeface="Calibri"/>
              </a:rPr>
              <a:t>:</a:t>
            </a:r>
          </a:p>
          <a:p>
            <a:pPr lvl="2" algn="just">
              <a:buFont typeface="Wingdings" panose="020B0604020202020204" pitchFamily="34" charset="0"/>
              <a:buChar char="§"/>
            </a:pPr>
            <a:r>
              <a:rPr lang="en-US" sz="2400" dirty="0">
                <a:latin typeface="Calibri"/>
                <a:ea typeface="Calibri"/>
                <a:cs typeface="Calibri"/>
              </a:rPr>
              <a:t>It asserts </a:t>
            </a:r>
            <a:r>
              <a:rPr lang="en-US" sz="2400" b="1" err="1">
                <a:latin typeface="Calibri"/>
                <a:ea typeface="Calibri"/>
                <a:cs typeface="Calibri"/>
              </a:rPr>
              <a:t>RxStatus</a:t>
            </a:r>
            <a:r>
              <a:rPr lang="en-US" sz="2400" b="1" dirty="0">
                <a:latin typeface="Calibri"/>
                <a:ea typeface="Calibri"/>
                <a:cs typeface="Calibri"/>
              </a:rPr>
              <a:t> = Disparity Error</a:t>
            </a:r>
            <a:endParaRPr lang="en-US" sz="2400" dirty="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Error is indicated during the clock cycle of the affected byte</a:t>
            </a:r>
          </a:p>
          <a:p>
            <a:pPr lvl="1" algn="just">
              <a:buFont typeface="Courier New" panose="020B0604020202020204" pitchFamily="34" charset="0"/>
              <a:buChar char="o"/>
            </a:pPr>
            <a:r>
              <a:rPr lang="en-US" dirty="0">
                <a:latin typeface="Calibri"/>
                <a:ea typeface="Calibri"/>
                <a:cs typeface="Calibri"/>
              </a:rPr>
              <a:t>In wider interfaces (16/32/64-bit):</a:t>
            </a:r>
          </a:p>
          <a:p>
            <a:pPr lvl="2" algn="just">
              <a:buFont typeface="Wingdings" panose="020B0604020202020204" pitchFamily="34" charset="0"/>
              <a:buChar char="§"/>
            </a:pPr>
            <a:r>
              <a:rPr lang="en-US" sz="2400" dirty="0">
                <a:latin typeface="Calibri"/>
                <a:ea typeface="Calibri"/>
                <a:cs typeface="Calibri"/>
              </a:rPr>
              <a:t>It may not be possible to know </a:t>
            </a:r>
            <a:r>
              <a:rPr lang="en-US" sz="2400" b="1" dirty="0">
                <a:latin typeface="Calibri"/>
                <a:ea typeface="Calibri"/>
                <a:cs typeface="Calibri"/>
              </a:rPr>
              <a:t>which exact byte</a:t>
            </a:r>
            <a:r>
              <a:rPr lang="en-US" sz="2400" dirty="0">
                <a:latin typeface="Calibri"/>
                <a:ea typeface="Calibri"/>
                <a:cs typeface="Calibri"/>
              </a:rPr>
              <a:t> had the error</a:t>
            </a:r>
          </a:p>
          <a:p>
            <a:pPr algn="just"/>
            <a:r>
              <a:rPr lang="en-US" sz="2400" b="1" dirty="0">
                <a:latin typeface="Calibri"/>
                <a:ea typeface="Calibri"/>
                <a:cs typeface="Calibri"/>
              </a:rPr>
              <a:t>Important Notes</a:t>
            </a:r>
            <a:endParaRPr lang="en-US" sz="2400" dirty="0">
              <a:latin typeface="Calibri"/>
              <a:ea typeface="Calibri"/>
              <a:cs typeface="Calibri"/>
            </a:endParaRPr>
          </a:p>
          <a:p>
            <a:pPr lvl="1" algn="just">
              <a:buFont typeface="Courier New" panose="020B0604020202020204" pitchFamily="34" charset="0"/>
              <a:buChar char="o"/>
            </a:pPr>
            <a:r>
              <a:rPr lang="en-US" dirty="0">
                <a:latin typeface="Calibri"/>
                <a:ea typeface="Calibri"/>
                <a:cs typeface="Calibri"/>
              </a:rPr>
              <a:t>PHY may optionally signal disparity error as:</a:t>
            </a:r>
          </a:p>
          <a:p>
            <a:pPr lvl="2" algn="just">
              <a:buFont typeface="Wingdings" panose="020B0604020202020204" pitchFamily="34" charset="0"/>
              <a:buChar char="§"/>
            </a:pPr>
            <a:r>
              <a:rPr lang="en-US" sz="2400" b="1" dirty="0">
                <a:latin typeface="Calibri"/>
                <a:ea typeface="Calibri"/>
                <a:cs typeface="Calibri"/>
              </a:rPr>
              <a:t>8B/10B decode error (0b100)</a:t>
            </a:r>
            <a:endParaRPr lang="en-US" sz="2400" dirty="0">
              <a:latin typeface="Calibri"/>
              <a:ea typeface="Calibri"/>
              <a:cs typeface="Calibri"/>
            </a:endParaRPr>
          </a:p>
          <a:p>
            <a:pPr lvl="1" algn="just">
              <a:buFont typeface="Courier New" panose="020B0604020202020204" pitchFamily="34" charset="0"/>
              <a:buChar char="o"/>
            </a:pPr>
            <a:r>
              <a:rPr lang="en-US" dirty="0">
                <a:latin typeface="Calibri"/>
                <a:ea typeface="Calibri"/>
                <a:cs typeface="Calibri"/>
              </a:rPr>
              <a:t>Many MACs treat:</a:t>
            </a:r>
            <a:endParaRPr lang="en-US">
              <a:latin typeface="Calibri"/>
              <a:ea typeface="Calibri"/>
              <a:cs typeface="Calibri"/>
            </a:endParaRPr>
          </a:p>
          <a:p>
            <a:pPr lvl="2" algn="just">
              <a:buFont typeface="Wingdings" panose="020B0604020202020204" pitchFamily="34" charset="0"/>
              <a:buChar char="§"/>
            </a:pPr>
            <a:r>
              <a:rPr lang="en-US" sz="2400" b="1" dirty="0">
                <a:latin typeface="Calibri"/>
                <a:ea typeface="Calibri"/>
                <a:cs typeface="Calibri"/>
              </a:rPr>
              <a:t>Decode errors and disparity</a:t>
            </a:r>
            <a:endParaRPr lang="en-US" sz="2400" dirty="0">
              <a:latin typeface="Calibri"/>
              <a:ea typeface="Calibri"/>
              <a:cs typeface="Calibri"/>
            </a:endParaRPr>
          </a:p>
          <a:p>
            <a:pPr marL="914400" lvl="2" indent="0" algn="just">
              <a:buNone/>
            </a:pPr>
            <a:r>
              <a:rPr lang="en-US" sz="2400" b="1" dirty="0">
                <a:latin typeface="Calibri"/>
                <a:ea typeface="Calibri"/>
                <a:cs typeface="Calibri"/>
              </a:rPr>
              <a:t> errors the same</a:t>
            </a:r>
            <a:endParaRPr lang="en-US" sz="2400">
              <a:latin typeface="Calibri"/>
              <a:ea typeface="Calibri"/>
              <a:cs typeface="Calibri"/>
            </a:endParaRPr>
          </a:p>
          <a:p>
            <a:pPr algn="just"/>
            <a:endParaRPr lang="en-US" sz="2400" dirty="0">
              <a:latin typeface="Calibri"/>
              <a:ea typeface="Calibri"/>
              <a:cs typeface="Calibri"/>
            </a:endParaRPr>
          </a:p>
        </p:txBody>
      </p:sp>
      <p:sp>
        <p:nvSpPr>
          <p:cNvPr id="5" name="Title 1">
            <a:extLst>
              <a:ext uri="{FF2B5EF4-FFF2-40B4-BE49-F238E27FC236}">
                <a16:creationId xmlns:a16="http://schemas.microsoft.com/office/drawing/2014/main" id="{27319878-64C0-4F1A-A8A9-E5AA0B06B72D}"/>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4" name="Picture 3" descr="A screenshot of a computer error&#10;&#10;AI-generated content may be incorrect.">
            <a:extLst>
              <a:ext uri="{FF2B5EF4-FFF2-40B4-BE49-F238E27FC236}">
                <a16:creationId xmlns:a16="http://schemas.microsoft.com/office/drawing/2014/main" id="{790C47D9-B931-0B15-9425-9DBDDB731128}"/>
              </a:ext>
            </a:extLst>
          </p:cNvPr>
          <p:cNvPicPr>
            <a:picLocks noChangeAspect="1"/>
          </p:cNvPicPr>
          <p:nvPr/>
        </p:nvPicPr>
        <p:blipFill>
          <a:blip r:embed="rId2"/>
          <a:stretch>
            <a:fillRect/>
          </a:stretch>
        </p:blipFill>
        <p:spPr>
          <a:xfrm>
            <a:off x="4932293" y="4365768"/>
            <a:ext cx="7235738" cy="2490644"/>
          </a:xfrm>
          <a:prstGeom prst="rect">
            <a:avLst/>
          </a:prstGeom>
        </p:spPr>
      </p:pic>
    </p:spTree>
    <p:extLst>
      <p:ext uri="{BB962C8B-B14F-4D97-AF65-F5344CB8AC3E}">
        <p14:creationId xmlns:p14="http://schemas.microsoft.com/office/powerpoint/2010/main" val="1554569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F67D0-8CE3-49F2-963D-5E06319139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3F40D-EC3A-36B2-18A0-F61E6F7A4160}"/>
              </a:ext>
            </a:extLst>
          </p:cNvPr>
          <p:cNvSpPr>
            <a:spLocks noGrp="1"/>
          </p:cNvSpPr>
          <p:nvPr>
            <p:ph idx="1"/>
          </p:nvPr>
        </p:nvSpPr>
        <p:spPr>
          <a:xfrm>
            <a:off x="-3984" y="1019459"/>
            <a:ext cx="12173917" cy="5837197"/>
          </a:xfrm>
        </p:spPr>
        <p:txBody>
          <a:bodyPr vert="horz" lIns="91440" tIns="45720" rIns="91440" bIns="45720" rtlCol="0" anchor="t">
            <a:normAutofit/>
          </a:bodyPr>
          <a:lstStyle/>
          <a:p>
            <a:pPr marL="3657600" lvl="8" indent="0" algn="just">
              <a:buNone/>
            </a:pPr>
            <a:r>
              <a:rPr lang="en-US" sz="2800" b="1" dirty="0">
                <a:latin typeface="Calibri"/>
                <a:ea typeface="Calibri"/>
                <a:cs typeface="Calibri"/>
              </a:rPr>
              <a:t> Elastic Buffer Errors</a:t>
            </a:r>
            <a:endParaRPr lang="en-US" sz="2800" dirty="0">
              <a:latin typeface="Calibri"/>
              <a:ea typeface="Calibri"/>
              <a:cs typeface="Calibri"/>
            </a:endParaRPr>
          </a:p>
          <a:p>
            <a:pPr algn="just"/>
            <a:r>
              <a:rPr lang="en-US" b="1" dirty="0"/>
              <a:t>Elastic Buffer Underflow Error</a:t>
            </a:r>
            <a:endParaRPr lang="en-US" b="1" dirty="0">
              <a:latin typeface="Calibri"/>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If </a:t>
            </a:r>
            <a:r>
              <a:rPr lang="en-US" b="1" dirty="0">
                <a:latin typeface="Calibri"/>
                <a:ea typeface="Calibri"/>
                <a:cs typeface="Calibri"/>
              </a:rPr>
              <a:t>elastic buffer underflow</a:t>
            </a:r>
            <a:r>
              <a:rPr lang="en-US" dirty="0">
                <a:latin typeface="Calibri"/>
                <a:ea typeface="Calibri"/>
                <a:cs typeface="Calibri"/>
              </a:rPr>
              <a:t> occurs:</a:t>
            </a:r>
          </a:p>
          <a:p>
            <a:pPr lvl="2" algn="just">
              <a:buFont typeface="Wingdings" panose="020B0604020202020204" pitchFamily="34" charset="0"/>
              <a:buChar char="§"/>
            </a:pPr>
            <a:r>
              <a:rPr lang="en-US" sz="2400" dirty="0">
                <a:latin typeface="Calibri"/>
                <a:ea typeface="Calibri"/>
                <a:cs typeface="Calibri"/>
              </a:rPr>
              <a:t>PHY inserts: </a:t>
            </a:r>
            <a:r>
              <a:rPr lang="en-US" sz="2400" b="1" dirty="0">
                <a:latin typeface="Calibri"/>
                <a:ea typeface="Calibri"/>
                <a:cs typeface="Calibri"/>
              </a:rPr>
              <a:t>EDB</a:t>
            </a:r>
            <a:r>
              <a:rPr lang="en-US" sz="2400" dirty="0">
                <a:latin typeface="Calibri"/>
                <a:ea typeface="Calibri"/>
                <a:cs typeface="Calibri"/>
              </a:rPr>
              <a:t> (PCIe / SATA)</a:t>
            </a:r>
          </a:p>
          <a:p>
            <a:pPr lvl="1" indent="-457200" algn="just">
              <a:buFont typeface="Courier New" panose="020B0604020202020204" pitchFamily="34" charset="0"/>
              <a:buChar char="o"/>
            </a:pPr>
            <a:r>
              <a:rPr lang="en-US" dirty="0">
                <a:latin typeface="Calibri"/>
                <a:ea typeface="Calibri"/>
                <a:cs typeface="Calibri"/>
              </a:rPr>
              <a:t>The inserted symbol appears in the data stream</a:t>
            </a:r>
            <a:endParaRPr lang="en-US">
              <a:latin typeface="Calibri"/>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During that clock cycle:</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PHY sets </a:t>
            </a:r>
            <a:r>
              <a:rPr lang="en-US" sz="2400" b="1" err="1">
                <a:latin typeface="Calibri"/>
                <a:ea typeface="Calibri"/>
                <a:cs typeface="Calibri"/>
              </a:rPr>
              <a:t>RxStatus</a:t>
            </a:r>
            <a:r>
              <a:rPr lang="en-US" sz="2400" b="1" dirty="0">
                <a:latin typeface="Calibri"/>
                <a:ea typeface="Calibri"/>
                <a:cs typeface="Calibri"/>
              </a:rPr>
              <a:t> = Buffer Underflow</a:t>
            </a:r>
            <a:endParaRPr lang="en-US" sz="2400">
              <a:latin typeface="Calibri"/>
              <a:ea typeface="Calibri"/>
              <a:cs typeface="Calibri"/>
            </a:endParaRPr>
          </a:p>
          <a:p>
            <a:pPr lvl="1" indent="-457200" algn="just">
              <a:buFont typeface="Courier New" panose="020B0604020202020204" pitchFamily="34" charset="0"/>
              <a:buChar char="o"/>
            </a:pPr>
            <a:endParaRPr lang="en-US" sz="2400" dirty="0">
              <a:latin typeface="Calibri"/>
              <a:ea typeface="Calibri"/>
              <a:cs typeface="Calibri"/>
            </a:endParaRPr>
          </a:p>
        </p:txBody>
      </p:sp>
      <p:sp>
        <p:nvSpPr>
          <p:cNvPr id="5" name="Title 1">
            <a:extLst>
              <a:ext uri="{FF2B5EF4-FFF2-40B4-BE49-F238E27FC236}">
                <a16:creationId xmlns:a16="http://schemas.microsoft.com/office/drawing/2014/main" id="{29A77C92-7F99-A49D-4C8B-630DAF652C92}"/>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30CE9C26-D50D-1D28-7162-83CCA54159C5}"/>
              </a:ext>
            </a:extLst>
          </p:cNvPr>
          <p:cNvPicPr>
            <a:picLocks noChangeAspect="1"/>
          </p:cNvPicPr>
          <p:nvPr/>
        </p:nvPicPr>
        <p:blipFill>
          <a:blip r:embed="rId2"/>
          <a:stretch>
            <a:fillRect/>
          </a:stretch>
        </p:blipFill>
        <p:spPr>
          <a:xfrm>
            <a:off x="3047517" y="3944761"/>
            <a:ext cx="8018030" cy="2927062"/>
          </a:xfrm>
          <a:prstGeom prst="rect">
            <a:avLst/>
          </a:prstGeom>
        </p:spPr>
      </p:pic>
    </p:spTree>
    <p:extLst>
      <p:ext uri="{BB962C8B-B14F-4D97-AF65-F5344CB8AC3E}">
        <p14:creationId xmlns:p14="http://schemas.microsoft.com/office/powerpoint/2010/main" val="22467646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3521-3AA3-6248-B152-FF3D6B378A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D9DB7D-0AB0-F4AA-093E-BE72C2E01AC1}"/>
              </a:ext>
            </a:extLst>
          </p:cNvPr>
          <p:cNvSpPr>
            <a:spLocks noGrp="1"/>
          </p:cNvSpPr>
          <p:nvPr>
            <p:ph idx="1"/>
          </p:nvPr>
        </p:nvSpPr>
        <p:spPr>
          <a:xfrm>
            <a:off x="-3984" y="1019459"/>
            <a:ext cx="12173917" cy="5837197"/>
          </a:xfrm>
        </p:spPr>
        <p:txBody>
          <a:bodyPr vert="horz" lIns="91440" tIns="45720" rIns="91440" bIns="45720" rtlCol="0" anchor="t">
            <a:normAutofit/>
          </a:bodyPr>
          <a:lstStyle/>
          <a:p>
            <a:pPr marL="3657600" lvl="8" indent="0" algn="just">
              <a:buNone/>
            </a:pPr>
            <a:r>
              <a:rPr lang="en-US" sz="2800" b="1" dirty="0">
                <a:latin typeface="Calibri"/>
                <a:ea typeface="Calibri"/>
                <a:cs typeface="Calibri"/>
              </a:rPr>
              <a:t> Elastic Buffer Errors</a:t>
            </a:r>
            <a:endParaRPr lang="en-US" sz="2800" dirty="0">
              <a:latin typeface="Calibri"/>
              <a:ea typeface="Calibri"/>
              <a:cs typeface="Calibri"/>
            </a:endParaRPr>
          </a:p>
          <a:p>
            <a:pPr algn="just"/>
            <a:r>
              <a:rPr lang="en-US" b="1" dirty="0">
                <a:latin typeface="Calibri"/>
                <a:ea typeface="Calibri"/>
                <a:cs typeface="Calibri"/>
              </a:rPr>
              <a:t>Elastic Buffer Overflow Error</a:t>
            </a:r>
            <a:endParaRPr lang="en-US" b="1">
              <a:latin typeface="Calibri"/>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If </a:t>
            </a:r>
            <a:r>
              <a:rPr lang="en-US" b="1" dirty="0">
                <a:latin typeface="Calibri"/>
                <a:ea typeface="Calibri"/>
                <a:cs typeface="Calibri"/>
              </a:rPr>
              <a:t>elastic buffer overflow</a:t>
            </a:r>
            <a:r>
              <a:rPr lang="en-US" dirty="0">
                <a:latin typeface="Calibri"/>
                <a:ea typeface="Calibri"/>
                <a:cs typeface="Calibri"/>
              </a:rPr>
              <a:t> occurs: </a:t>
            </a:r>
          </a:p>
          <a:p>
            <a:pPr lvl="2" algn="just">
              <a:buFont typeface="Wingdings" panose="020B0604020202020204" pitchFamily="34" charset="0"/>
              <a:buChar char="§"/>
            </a:pPr>
            <a:r>
              <a:rPr lang="en-US" sz="2400" dirty="0">
                <a:latin typeface="Calibri"/>
                <a:ea typeface="Calibri"/>
                <a:cs typeface="Calibri"/>
              </a:rPr>
              <a:t>One or more symbols are </a:t>
            </a:r>
            <a:r>
              <a:rPr lang="en-US" sz="2400" b="1" dirty="0">
                <a:latin typeface="Calibri"/>
                <a:ea typeface="Calibri"/>
                <a:cs typeface="Calibri"/>
              </a:rPr>
              <a:t>dropped</a:t>
            </a:r>
            <a:endParaRPr lang="en-US" sz="2400" dirty="0">
              <a:latin typeface="Calibri"/>
              <a:ea typeface="Calibri"/>
              <a:cs typeface="Calibri"/>
            </a:endParaRPr>
          </a:p>
          <a:p>
            <a:pPr lvl="1" indent="-457200" algn="just">
              <a:buFont typeface="Courier New" panose="020B0604020202020204" pitchFamily="34" charset="0"/>
              <a:buChar char="o"/>
            </a:pPr>
            <a:r>
              <a:rPr lang="en-US" dirty="0">
                <a:latin typeface="Calibri"/>
                <a:ea typeface="Calibri"/>
                <a:cs typeface="Calibri"/>
              </a:rPr>
              <a:t>PHY signals the overflow:</a:t>
            </a:r>
            <a:endParaRPr lang="en-US">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During the clock cycle when the dropped symbol </a:t>
            </a:r>
            <a:r>
              <a:rPr lang="en-US" sz="2400" b="1" dirty="0">
                <a:latin typeface="Calibri"/>
                <a:ea typeface="Calibri"/>
                <a:cs typeface="Calibri"/>
              </a:rPr>
              <a:t>would have appeared</a:t>
            </a:r>
            <a:endParaRPr lang="en-US" sz="2400" dirty="0">
              <a:latin typeface="Calibri"/>
              <a:ea typeface="Calibri"/>
              <a:cs typeface="Calibri"/>
            </a:endParaRPr>
          </a:p>
          <a:p>
            <a:pPr lvl="2" algn="just">
              <a:buFont typeface="Wingdings" panose="020B0604020202020204" pitchFamily="34" charset="0"/>
              <a:buChar char="§"/>
            </a:pPr>
            <a:r>
              <a:rPr lang="en-US" sz="2400" dirty="0">
                <a:latin typeface="Calibri"/>
                <a:ea typeface="Calibri"/>
                <a:cs typeface="Calibri"/>
              </a:rPr>
              <a:t>By setting </a:t>
            </a:r>
            <a:r>
              <a:rPr lang="en-US" sz="2400" b="1" err="1">
                <a:latin typeface="Calibri"/>
                <a:ea typeface="Calibri"/>
                <a:cs typeface="Calibri"/>
              </a:rPr>
              <a:t>RxStatus</a:t>
            </a:r>
            <a:r>
              <a:rPr lang="en-US" sz="2400" b="1" dirty="0">
                <a:latin typeface="Calibri"/>
                <a:ea typeface="Calibri"/>
                <a:cs typeface="Calibri"/>
              </a:rPr>
              <a:t> = Buffer Overflow</a:t>
            </a:r>
            <a:endParaRPr lang="en-US" sz="2400">
              <a:latin typeface="Calibri"/>
              <a:ea typeface="Calibri"/>
              <a:cs typeface="Calibri"/>
            </a:endParaRPr>
          </a:p>
          <a:p>
            <a:pPr lvl="1" indent="-457200" algn="just">
              <a:buFont typeface="Courier New" panose="020B0604020202020204" pitchFamily="34" charset="0"/>
              <a:buChar char="o"/>
            </a:pPr>
            <a:endParaRPr lang="en-US" sz="2400" dirty="0">
              <a:latin typeface="Calibri"/>
              <a:ea typeface="Calibri"/>
              <a:cs typeface="Calibri"/>
            </a:endParaRPr>
          </a:p>
        </p:txBody>
      </p:sp>
      <p:sp>
        <p:nvSpPr>
          <p:cNvPr id="5" name="Title 1">
            <a:extLst>
              <a:ext uri="{FF2B5EF4-FFF2-40B4-BE49-F238E27FC236}">
                <a16:creationId xmlns:a16="http://schemas.microsoft.com/office/drawing/2014/main" id="{FBEC125E-FC54-8F30-955C-3A28C549782A}"/>
              </a:ext>
            </a:extLst>
          </p:cNvPr>
          <p:cNvSpPr>
            <a:spLocks noGrp="1"/>
          </p:cNvSpPr>
          <p:nvPr>
            <p:ph type="title"/>
          </p:nvPr>
        </p:nvSpPr>
        <p:spPr>
          <a:xfrm>
            <a:off x="4313" y="5691"/>
            <a:ext cx="12168996" cy="865489"/>
          </a:xfrm>
          <a:solidFill>
            <a:schemeClr val="accent6"/>
          </a:solidFill>
        </p:spPr>
        <p:txBody>
          <a:bodyPr/>
          <a:lstStyle/>
          <a:p>
            <a:pPr algn="ctr"/>
            <a:r>
              <a:rPr lang="en-US" sz="4000" b="1" dirty="0">
                <a:latin typeface="Calibri"/>
                <a:ea typeface="+mj-lt"/>
                <a:cs typeface="+mj-lt"/>
              </a:rPr>
              <a:t>PIPE Operational Behavior</a:t>
            </a:r>
            <a:endParaRPr lang="en-US" b="1">
              <a:latin typeface="Calibri"/>
              <a:ea typeface="Calibri"/>
              <a:cs typeface="Calibri"/>
            </a:endParaRPr>
          </a:p>
        </p:txBody>
      </p:sp>
      <p:pic>
        <p:nvPicPr>
          <p:cNvPr id="2" name="Picture 1" descr="A screenshot of a computer">
            <a:extLst>
              <a:ext uri="{FF2B5EF4-FFF2-40B4-BE49-F238E27FC236}">
                <a16:creationId xmlns:a16="http://schemas.microsoft.com/office/drawing/2014/main" id="{D3FB3A82-3553-49A1-58E5-34A0681DAE68}"/>
              </a:ext>
            </a:extLst>
          </p:cNvPr>
          <p:cNvPicPr>
            <a:picLocks noChangeAspect="1"/>
          </p:cNvPicPr>
          <p:nvPr/>
        </p:nvPicPr>
        <p:blipFill>
          <a:blip r:embed="rId2"/>
          <a:stretch>
            <a:fillRect/>
          </a:stretch>
        </p:blipFill>
        <p:spPr>
          <a:xfrm>
            <a:off x="1714430" y="4086155"/>
            <a:ext cx="8277225" cy="2771775"/>
          </a:xfrm>
          <a:prstGeom prst="rect">
            <a:avLst/>
          </a:prstGeom>
        </p:spPr>
      </p:pic>
    </p:spTree>
    <p:extLst>
      <p:ext uri="{BB962C8B-B14F-4D97-AF65-F5344CB8AC3E}">
        <p14:creationId xmlns:p14="http://schemas.microsoft.com/office/powerpoint/2010/main" val="19853703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93A3-2D76-9FE3-82BE-5A795B11F035}"/>
              </a:ext>
            </a:extLst>
          </p:cNvPr>
          <p:cNvSpPr>
            <a:spLocks noGrp="1"/>
          </p:cNvSpPr>
          <p:nvPr>
            <p:ph type="title"/>
          </p:nvPr>
        </p:nvSpPr>
        <p:spPr/>
        <p:txBody>
          <a:bodyPr>
            <a:normAutofit fontScale="90000"/>
          </a:bodyPr>
          <a:lstStyle/>
          <a:p>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endParaRPr lang="en-IN" dirty="0"/>
          </a:p>
        </p:txBody>
      </p:sp>
      <p:pic>
        <p:nvPicPr>
          <p:cNvPr id="4" name="Picture 6" descr="Business Thank-You Letter Examples">
            <a:extLst>
              <a:ext uri="{FF2B5EF4-FFF2-40B4-BE49-F238E27FC236}">
                <a16:creationId xmlns:a16="http://schemas.microsoft.com/office/drawing/2014/main" id="{7ECFFA39-EA56-82BF-8033-38007A3886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138" y="261386"/>
            <a:ext cx="8873366" cy="5915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598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9" ma:contentTypeDescription="Create a new document." ma:contentTypeScope="" ma:versionID="98dc319ca8bc3e44b06f2cc5ee07c55f">
  <xsd:schema xmlns:xsd="http://www.w3.org/2001/XMLSchema" xmlns:xs="http://www.w3.org/2001/XMLSchema" xmlns:p="http://schemas.microsoft.com/office/2006/metadata/properties" xmlns:ns3="ec91e78c-53b9-49d2-80fe-2267c9de2ac1" targetNamespace="http://schemas.microsoft.com/office/2006/metadata/properties" ma:root="true" ma:fieldsID="6f9f05d900ce4a4e3b292155f516cfe2"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30E90-35A2-433D-8294-0F950042F531}">
  <ds:schemaRefs>
    <ds:schemaRef ds:uri="http://purl.org/dc/dcmitype/"/>
    <ds:schemaRef ds:uri="http://purl.org/dc/terms/"/>
    <ds:schemaRef ds:uri="http://purl.org/dc/elements/1.1/"/>
    <ds:schemaRef ds:uri="http://schemas.microsoft.com/office/infopath/2007/PartnerControls"/>
    <ds:schemaRef ds:uri="http://www.w3.org/XML/1998/namespace"/>
    <ds:schemaRef ds:uri="http://schemas.openxmlformats.org/package/2006/metadata/core-properties"/>
    <ds:schemaRef ds:uri="http://schemas.microsoft.com/office/2006/documentManagement/types"/>
    <ds:schemaRef ds:uri="ec91e78c-53b9-49d2-80fe-2267c9de2ac1"/>
    <ds:schemaRef ds:uri="http://schemas.microsoft.com/office/2006/metadata/properties"/>
  </ds:schemaRefs>
</ds:datastoreItem>
</file>

<file path=customXml/itemProps2.xml><?xml version="1.0" encoding="utf-8"?>
<ds:datastoreItem xmlns:ds="http://schemas.openxmlformats.org/officeDocument/2006/customXml" ds:itemID="{F8666954-3D43-40F3-AF96-B2753E1830EC}">
  <ds:schemaRefs>
    <ds:schemaRef ds:uri="http://schemas.microsoft.com/sharepoint/v3/contenttype/forms"/>
  </ds:schemaRefs>
</ds:datastoreItem>
</file>

<file path=customXml/itemProps3.xml><?xml version="1.0" encoding="utf-8"?>
<ds:datastoreItem xmlns:ds="http://schemas.openxmlformats.org/officeDocument/2006/customXml" ds:itemID="{D75EE908-1514-44B6-8733-0ADEB3A562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1e78c-53b9-49d2-80fe-2267c9de2a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UCIe_MBTRAIN_MKD</Template>
  <TotalTime>728</TotalTime>
  <Words>5459</Words>
  <Application>Microsoft Office PowerPoint</Application>
  <PresentationFormat>Widescreen</PresentationFormat>
  <Paragraphs>872</Paragraphs>
  <Slides>69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Aptos</vt:lpstr>
      <vt:lpstr>Aptos Display</vt:lpstr>
      <vt:lpstr>Arial</vt:lpstr>
      <vt:lpstr>Calibri</vt:lpstr>
      <vt:lpstr>Consolas</vt:lpstr>
      <vt:lpstr>Courier New</vt:lpstr>
      <vt:lpstr>Courier New,monospace</vt:lpstr>
      <vt:lpstr>Wingdings</vt:lpstr>
      <vt:lpstr>Wingdings,Sans-Serif</vt:lpstr>
      <vt:lpstr>Office Theme</vt:lpstr>
      <vt:lpstr>PIPE(PHY Interface for the PCI Express)</vt:lpstr>
      <vt:lpstr>CONTENTS</vt:lpstr>
      <vt:lpstr>Introduction</vt:lpstr>
      <vt:lpstr>Features of PCIe PHY Layer</vt:lpstr>
      <vt:lpstr>Features of PCIe PHY Layer</vt:lpstr>
      <vt:lpstr> Partitioning PHY layer for PCIe </vt:lpstr>
      <vt:lpstr>PHY/MAC Interface</vt:lpstr>
      <vt:lpstr>PIPE Architecture</vt:lpstr>
      <vt:lpstr>                 </vt:lpstr>
      <vt:lpstr>SerDes Architecture</vt:lpstr>
      <vt:lpstr> PHY Receiver Block Diagram</vt:lpstr>
      <vt:lpstr>PIPE Interface Signal Descriptions​</vt:lpstr>
      <vt:lpstr> Tx Data Interface Input Signals ​ </vt:lpstr>
      <vt:lpstr>Rx Data Interface Input Signals</vt:lpstr>
      <vt:lpstr> Rx Data Interface Output Signals ​ </vt:lpstr>
      <vt:lpstr> Command Interface Input Signals​ </vt:lpstr>
      <vt:lpstr> Command Interface Input Signals​ </vt:lpstr>
      <vt:lpstr>Command Interface Input Signals</vt:lpstr>
      <vt:lpstr>Command Interface Input Signals</vt:lpstr>
      <vt:lpstr>Command Interface Input Signals</vt:lpstr>
      <vt:lpstr>Command Interface Input Signals</vt:lpstr>
      <vt:lpstr>Status Interface Input Signals</vt:lpstr>
      <vt:lpstr>Message Bus Interface ​</vt:lpstr>
      <vt:lpstr>Message Bus Interface Commands ​</vt:lpstr>
      <vt:lpstr>Message Bus Interface</vt:lpstr>
      <vt:lpstr>Message Bus Interface</vt:lpstr>
      <vt:lpstr>MAC Registers          </vt:lpstr>
      <vt:lpstr>MAC Registers</vt:lpstr>
      <vt:lpstr>MAC Registers</vt:lpstr>
      <vt:lpstr>PHY Registers</vt:lpstr>
      <vt:lpstr>PHY Registers</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PIPE Operational Behavior</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2</cp:revision>
  <dcterms:created xsi:type="dcterms:W3CDTF">2026-02-11T04:12:37Z</dcterms:created>
  <dcterms:modified xsi:type="dcterms:W3CDTF">2026-02-24T04:29:38Z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