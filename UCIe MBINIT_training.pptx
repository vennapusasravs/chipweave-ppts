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2"/>
  </p:notesMasterIdLst>
  <p:sldIdLst>
    <p:sldId id="343" r:id="rId5"/>
    <p:sldId id="344" r:id="rId6"/>
    <p:sldId id="333" r:id="rId7"/>
    <p:sldId id="334" r:id="rId8"/>
    <p:sldId id="332" r:id="rId9"/>
    <p:sldId id="335" r:id="rId10"/>
    <p:sldId id="336" r:id="rId11"/>
    <p:sldId id="338" r:id="rId12"/>
    <p:sldId id="339" r:id="rId13"/>
    <p:sldId id="340" r:id="rId14"/>
    <p:sldId id="341" r:id="rId15"/>
    <p:sldId id="342" r:id="rId16"/>
    <p:sldId id="337" r:id="rId17"/>
    <p:sldId id="315" r:id="rId18"/>
    <p:sldId id="316" r:id="rId19"/>
    <p:sldId id="326" r:id="rId20"/>
    <p:sldId id="317" r:id="rId21"/>
    <p:sldId id="318" r:id="rId22"/>
    <p:sldId id="319" r:id="rId23"/>
    <p:sldId id="327" r:id="rId24"/>
    <p:sldId id="280" r:id="rId25"/>
    <p:sldId id="320" r:id="rId26"/>
    <p:sldId id="322" r:id="rId27"/>
    <p:sldId id="323" r:id="rId28"/>
    <p:sldId id="304" r:id="rId29"/>
    <p:sldId id="329" r:id="rId30"/>
    <p:sldId id="331" r:id="rId31"/>
    <p:sldId id="256" r:id="rId32"/>
    <p:sldId id="258" r:id="rId33"/>
    <p:sldId id="345" r:id="rId34"/>
    <p:sldId id="346" r:id="rId35"/>
    <p:sldId id="351" r:id="rId36"/>
    <p:sldId id="348" r:id="rId37"/>
    <p:sldId id="347" r:id="rId38"/>
    <p:sldId id="349" r:id="rId39"/>
    <p:sldId id="328" r:id="rId40"/>
    <p:sldId id="35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0AEE59-9A6F-4BE2-91EE-C23F46327526}" v="56" dt="2026-03-05T05:27:11.6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7119" autoAdjust="0"/>
  </p:normalViewPr>
  <p:slideViewPr>
    <p:cSldViewPr snapToGrid="0">
      <p:cViewPr varScale="1">
        <p:scale>
          <a:sx n="83" d="100"/>
          <a:sy n="83" d="100"/>
        </p:scale>
        <p:origin x="64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225CA-DFE5-4E6F-B724-B35D0BBAB7AD}" type="datetimeFigureOut">
              <a:rPr lang="en-IN" smtClean="0"/>
              <a:t>15-05-2026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089E79-33F4-43C9-A46F-ABED49D7499D}" type="slidenum">
              <a:rPr lang="en-IN" smtClean="0"/>
              <a:t>‹#›</a:t>
            </a:fld>
            <a:endParaRPr lang="en-IN"/>
          </a:p>
        </p:txBody>
      </p:sp>
    </p:spTree>
    <p:extLst>
      <p:ext uri="{BB962C8B-B14F-4D97-AF65-F5344CB8AC3E}">
        <p14:creationId xmlns:p14="http://schemas.microsoft.com/office/powerpoint/2010/main" val="3815770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089E79-33F4-43C9-A46F-ABED49D7499D}" type="slidenum">
              <a:rPr lang="en-IN" smtClean="0"/>
              <a:t>30</a:t>
            </a:fld>
            <a:endParaRPr lang="en-IN"/>
          </a:p>
        </p:txBody>
      </p:sp>
    </p:spTree>
    <p:extLst>
      <p:ext uri="{BB962C8B-B14F-4D97-AF65-F5344CB8AC3E}">
        <p14:creationId xmlns:p14="http://schemas.microsoft.com/office/powerpoint/2010/main" val="893745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EC7D81-98BF-861F-10AE-5D75B452D7D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A788D49-97DA-0441-E7CA-67D8F692A2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94CEFC-8D95-7D36-A61D-938306E7DB09}"/>
              </a:ext>
            </a:extLst>
          </p:cNvPr>
          <p:cNvSpPr>
            <a:spLocks noGrp="1"/>
          </p:cNvSpPr>
          <p:nvPr>
            <p:ph type="ctrTitle"/>
          </p:nvPr>
        </p:nvSpPr>
        <p:spPr>
          <a:xfrm>
            <a:off x="1588558" y="729469"/>
            <a:ext cx="9014348" cy="2402006"/>
          </a:xfrm>
        </p:spPr>
        <p:txBody>
          <a:bodyPr anchor="b">
            <a:normAutofit/>
          </a:bodyPr>
          <a:lstStyle/>
          <a:p>
            <a:r>
              <a:rPr lang="en-US" sz="4800" dirty="0">
                <a:latin typeface="Calibri" panose="020F0502020204030204" pitchFamily="34" charset="0"/>
                <a:ea typeface="Calibri" panose="020F0502020204030204" pitchFamily="34" charset="0"/>
                <a:cs typeface="Calibri" panose="020F0502020204030204" pitchFamily="34" charset="0"/>
              </a:rPr>
              <a:t>UCIe SBINIT &amp; MBINIT</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ED0CA17A-42B5-1D7F-9066-C39662978B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C0AC95-1077-FFFC-5A17-756EE4630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0FFEA58-D7DD-2BEF-F18D-048C38A6C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E5841E9-12E9-FC0E-CFCB-FE0932A3B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5A1A39D5-55CE-7FB2-FABC-FFEF5EC94804}"/>
              </a:ext>
            </a:extLst>
          </p:cNvPr>
          <p:cNvSpPr>
            <a:spLocks noGrp="1"/>
          </p:cNvSpPr>
          <p:nvPr>
            <p:ph type="subTitle" idx="1"/>
          </p:nvPr>
        </p:nvSpPr>
        <p:spPr>
          <a:xfrm>
            <a:off x="6849533" y="5079628"/>
            <a:ext cx="4778029" cy="1020664"/>
          </a:xfrm>
        </p:spPr>
        <p:txBody>
          <a:bodyPr anchor="ctr">
            <a:normAutofit fontScale="92500"/>
          </a:bodyPr>
          <a:lstStyle/>
          <a:p>
            <a:pPr algn="l"/>
            <a:r>
              <a:rPr lang="en-US" dirty="0">
                <a:solidFill>
                  <a:srgbClr val="FFFFFF"/>
                </a:solidFill>
              </a:rPr>
              <a:t>V.SRAVANTHI</a:t>
            </a:r>
          </a:p>
          <a:p>
            <a:pPr algn="l"/>
            <a:r>
              <a:rPr lang="en-US" dirty="0">
                <a:solidFill>
                  <a:srgbClr val="FFFFFF"/>
                </a:solidFill>
              </a:rPr>
              <a:t>CHIPWEAVE TECHNOLOGIES PVT LTD</a:t>
            </a:r>
          </a:p>
        </p:txBody>
      </p:sp>
    </p:spTree>
    <p:extLst>
      <p:ext uri="{BB962C8B-B14F-4D97-AF65-F5344CB8AC3E}">
        <p14:creationId xmlns:p14="http://schemas.microsoft.com/office/powerpoint/2010/main" val="3286098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F8802-EEB1-FD76-A8FB-8409AF455D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68FA78-7F5F-8D61-873D-867E15781D20}"/>
              </a:ext>
            </a:extLst>
          </p:cNvPr>
          <p:cNvSpPr>
            <a:spLocks noGrp="1"/>
          </p:cNvSpPr>
          <p:nvPr>
            <p:ph idx="1"/>
          </p:nvPr>
        </p:nvSpPr>
        <p:spPr>
          <a:xfrm>
            <a:off x="521898" y="1250531"/>
            <a:ext cx="10515600" cy="4351338"/>
          </a:xfrm>
        </p:spPr>
        <p:txBody>
          <a:bodyPr vert="horz" lIns="91440" tIns="45720" rIns="91440" bIns="45720" rtlCol="0" anchor="t">
            <a:normAutofit/>
          </a:bodyPr>
          <a:lstStyle/>
          <a:p>
            <a:r>
              <a:rPr lang="en-US" dirty="0">
                <a:latin typeface="Calibri" panose="020F0502020204030204" pitchFamily="34" charset="0"/>
                <a:ea typeface="Calibri" panose="020F0502020204030204" pitchFamily="34" charset="0"/>
                <a:cs typeface="Calibri" panose="020F0502020204030204" pitchFamily="34" charset="0"/>
              </a:rPr>
              <a:t>INTRODUCTION</a:t>
            </a:r>
          </a:p>
          <a:p>
            <a:r>
              <a:rPr lang="en-US" dirty="0">
                <a:latin typeface="Calibri" panose="020F0502020204030204" pitchFamily="34" charset="0"/>
                <a:ea typeface="Calibri" panose="020F0502020204030204" pitchFamily="34" charset="0"/>
                <a:cs typeface="Calibri" panose="020F0502020204030204" pitchFamily="34" charset="0"/>
              </a:rPr>
              <a:t>SBINIT</a:t>
            </a:r>
          </a:p>
          <a:p>
            <a:r>
              <a:rPr lang="en-US" dirty="0">
                <a:latin typeface="Calibri" panose="020F0502020204030204" pitchFamily="34" charset="0"/>
                <a:ea typeface="Calibri" panose="020F0502020204030204" pitchFamily="34" charset="0"/>
                <a:cs typeface="Calibri" panose="020F0502020204030204" pitchFamily="34" charset="0"/>
              </a:rPr>
              <a:t>MBINIT</a:t>
            </a:r>
          </a:p>
          <a:p>
            <a:r>
              <a:rPr lang="en-US" dirty="0">
                <a:latin typeface="Calibri" panose="020F0502020204030204" pitchFamily="34" charset="0"/>
                <a:ea typeface="Calibri" panose="020F0502020204030204" pitchFamily="34" charset="0"/>
                <a:cs typeface="Calibri" panose="020F0502020204030204" pitchFamily="34" charset="0"/>
              </a:rPr>
              <a:t>MBINIT.PARAM</a:t>
            </a:r>
          </a:p>
          <a:p>
            <a:r>
              <a:rPr lang="en-US" dirty="0">
                <a:latin typeface="Calibri" panose="020F0502020204030204" pitchFamily="34" charset="0"/>
                <a:ea typeface="Calibri" panose="020F0502020204030204" pitchFamily="34" charset="0"/>
                <a:cs typeface="Calibri" panose="020F0502020204030204" pitchFamily="34" charset="0"/>
              </a:rPr>
              <a:t>MBINIT.CAL</a:t>
            </a:r>
          </a:p>
          <a:p>
            <a:r>
              <a:rPr lang="en-US" dirty="0">
                <a:latin typeface="Calibri" panose="020F0502020204030204" pitchFamily="34" charset="0"/>
                <a:ea typeface="Calibri" panose="020F0502020204030204" pitchFamily="34" charset="0"/>
                <a:cs typeface="Calibri" panose="020F0502020204030204" pitchFamily="34" charset="0"/>
              </a:rPr>
              <a:t>MBINIT.REPAIRCLK</a:t>
            </a:r>
          </a:p>
        </p:txBody>
      </p:sp>
      <p:sp>
        <p:nvSpPr>
          <p:cNvPr id="5" name="Title 1">
            <a:extLst>
              <a:ext uri="{FF2B5EF4-FFF2-40B4-BE49-F238E27FC236}">
                <a16:creationId xmlns:a16="http://schemas.microsoft.com/office/drawing/2014/main" id="{1095BDC2-5C79-012B-E9D0-8AF92A1DBCEA}"/>
              </a:ext>
            </a:extLst>
          </p:cNvPr>
          <p:cNvSpPr>
            <a:spLocks noGrp="1"/>
          </p:cNvSpPr>
          <p:nvPr>
            <p:ph type="title"/>
          </p:nvPr>
        </p:nvSpPr>
        <p:spPr>
          <a:xfrm>
            <a:off x="0" y="1"/>
            <a:ext cx="12192000" cy="871180"/>
          </a:xfrm>
          <a:solidFill>
            <a:schemeClr val="accent6"/>
          </a:solidFill>
        </p:spPr>
        <p:txBody>
          <a:bodyPr>
            <a:normAutofit/>
          </a:bodyPr>
          <a:lstStyle/>
          <a:p>
            <a:pPr algn="ctr"/>
            <a:r>
              <a:rPr lang="en-US" sz="3200" dirty="0">
                <a:latin typeface="Calibri" panose="020F0502020204030204" pitchFamily="34" charset="0"/>
                <a:ea typeface="Calibri" panose="020F0502020204030204" pitchFamily="34" charset="0"/>
                <a:cs typeface="Calibri" panose="020F0502020204030204" pitchFamily="34" charset="0"/>
              </a:rPr>
              <a:t>CONTENTS</a:t>
            </a:r>
          </a:p>
        </p:txBody>
      </p:sp>
    </p:spTree>
    <p:extLst>
      <p:ext uri="{BB962C8B-B14F-4D97-AF65-F5344CB8AC3E}">
        <p14:creationId xmlns:p14="http://schemas.microsoft.com/office/powerpoint/2010/main" val="684349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A0E2D-7FF6-448C-D6B2-7AFD539196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E2CB48-9A1D-7AE0-4582-23CE415F729C}"/>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285750" indent="-285750"/>
            <a:r>
              <a:rPr lang="en-US" sz="2400" b="1" dirty="0">
                <a:latin typeface="Calibri" panose="020F0502020204030204" pitchFamily="34" charset="0"/>
                <a:ea typeface="Calibri" panose="020F0502020204030204" pitchFamily="34" charset="0"/>
                <a:cs typeface="Calibri" panose="020F0502020204030204" pitchFamily="34" charset="0"/>
              </a:rPr>
              <a:t>UCIe</a:t>
            </a:r>
            <a:r>
              <a:rPr lang="en-US" sz="2400" dirty="0">
                <a:latin typeface="Calibri" panose="020F0502020204030204" pitchFamily="34" charset="0"/>
                <a:ea typeface="Calibri" panose="020F0502020204030204" pitchFamily="34" charset="0"/>
                <a:cs typeface="Calibri" panose="020F0502020204030204" pitchFamily="34" charset="0"/>
              </a:rPr>
              <a:t> (Universal Chiplet Interconnect Express) is an open, </a:t>
            </a:r>
            <a:r>
              <a:rPr lang="en-US" sz="2400" b="1" dirty="0">
                <a:latin typeface="Calibri" panose="020F0502020204030204" pitchFamily="34" charset="0"/>
                <a:ea typeface="Calibri" panose="020F0502020204030204" pitchFamily="34" charset="0"/>
                <a:cs typeface="Calibri" panose="020F0502020204030204" pitchFamily="34" charset="0"/>
              </a:rPr>
              <a:t>layered,</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multi-protocol capable</a:t>
            </a:r>
            <a:r>
              <a:rPr lang="en-US" sz="2400" dirty="0">
                <a:latin typeface="Calibri" panose="020F0502020204030204" pitchFamily="34" charset="0"/>
                <a:ea typeface="Calibri" panose="020F0502020204030204" pitchFamily="34" charset="0"/>
                <a:cs typeface="Calibri" panose="020F0502020204030204" pitchFamily="34" charset="0"/>
              </a:rPr>
              <a:t>, on-package </a:t>
            </a:r>
            <a:r>
              <a:rPr lang="en-US" sz="2400" b="1" dirty="0">
                <a:latin typeface="Calibri" panose="020F0502020204030204" pitchFamily="34" charset="0"/>
                <a:ea typeface="Calibri" panose="020F0502020204030204" pitchFamily="34" charset="0"/>
                <a:cs typeface="Calibri" panose="020F0502020204030204" pitchFamily="34" charset="0"/>
              </a:rPr>
              <a:t>interconnect</a:t>
            </a:r>
            <a:r>
              <a:rPr lang="en-US" sz="2400" dirty="0">
                <a:latin typeface="Calibri" panose="020F0502020204030204" pitchFamily="34" charset="0"/>
                <a:ea typeface="Calibri" panose="020F0502020204030204" pitchFamily="34" charset="0"/>
                <a:cs typeface="Calibri" panose="020F0502020204030204" pitchFamily="34" charset="0"/>
              </a:rPr>
              <a:t> standard for connecting multiple dies on the same package.</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0ECDCE47-7A63-3B4F-2E54-C5884A35F57E}"/>
              </a:ext>
            </a:extLst>
          </p:cNvPr>
          <p:cNvSpPr>
            <a:spLocks noGrp="1"/>
          </p:cNvSpPr>
          <p:nvPr>
            <p:ph type="title"/>
          </p:nvPr>
        </p:nvSpPr>
        <p:spPr>
          <a:xfrm>
            <a:off x="0" y="1"/>
            <a:ext cx="12192000" cy="871180"/>
          </a:xfrm>
          <a:solidFill>
            <a:schemeClr val="accent6"/>
          </a:solidFill>
        </p:spPr>
        <p:txBody>
          <a:bodyPr>
            <a:normAutofit/>
          </a:bodyPr>
          <a:lstStyle/>
          <a:p>
            <a:pPr algn="ctr"/>
            <a:r>
              <a:rPr lang="en-US" sz="3200" dirty="0">
                <a:latin typeface="Calibri" panose="020F0502020204030204" pitchFamily="34" charset="0"/>
                <a:ea typeface="Calibri" panose="020F0502020204030204" pitchFamily="34" charset="0"/>
                <a:cs typeface="Calibri" panose="020F0502020204030204" pitchFamily="34" charset="0"/>
              </a:rPr>
              <a:t>Introduction</a:t>
            </a:r>
          </a:p>
        </p:txBody>
      </p:sp>
      <p:pic>
        <p:nvPicPr>
          <p:cNvPr id="2" name="Picture 1">
            <a:extLst>
              <a:ext uri="{FF2B5EF4-FFF2-40B4-BE49-F238E27FC236}">
                <a16:creationId xmlns:a16="http://schemas.microsoft.com/office/drawing/2014/main" id="{10780C33-5D8B-95F1-10DE-8DCF1469C0C0}"/>
              </a:ext>
            </a:extLst>
          </p:cNvPr>
          <p:cNvPicPr>
            <a:picLocks noChangeAspect="1"/>
          </p:cNvPicPr>
          <p:nvPr/>
        </p:nvPicPr>
        <p:blipFill>
          <a:blip r:embed="rId2"/>
          <a:stretch>
            <a:fillRect/>
          </a:stretch>
        </p:blipFill>
        <p:spPr>
          <a:xfrm>
            <a:off x="2705530" y="2995603"/>
            <a:ext cx="3924640" cy="2606266"/>
          </a:xfrm>
          <a:prstGeom prst="rect">
            <a:avLst/>
          </a:prstGeom>
        </p:spPr>
      </p:pic>
    </p:spTree>
    <p:extLst>
      <p:ext uri="{BB962C8B-B14F-4D97-AF65-F5344CB8AC3E}">
        <p14:creationId xmlns:p14="http://schemas.microsoft.com/office/powerpoint/2010/main" val="3981311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C894D-6912-A1FE-089E-A3C043DFE2D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F976A32-45C0-0F0D-6911-2DDB56B0B9D6}"/>
              </a:ext>
            </a:extLst>
          </p:cNvPr>
          <p:cNvSpPr>
            <a:spLocks noGrp="1"/>
          </p:cNvSpPr>
          <p:nvPr>
            <p:ph type="title"/>
          </p:nvPr>
        </p:nvSpPr>
        <p:spPr>
          <a:xfrm>
            <a:off x="0" y="1"/>
            <a:ext cx="12192000" cy="871180"/>
          </a:xfrm>
          <a:solidFill>
            <a:schemeClr val="accent6"/>
          </a:solidFill>
        </p:spPr>
        <p:txBody>
          <a:bodyPr>
            <a:normAutofit/>
          </a:bodyPr>
          <a:lstStyle/>
          <a:p>
            <a:pPr algn="ctr"/>
            <a:r>
              <a:rPr lang="en-IN" sz="2800" dirty="0">
                <a:latin typeface="Calibri" panose="020F0502020204030204" pitchFamily="34" charset="0"/>
                <a:ea typeface="Calibri" panose="020F0502020204030204" pitchFamily="34" charset="0"/>
                <a:cs typeface="Calibri" panose="020F0502020204030204" pitchFamily="34" charset="0"/>
              </a:rPr>
              <a:t>UCIe Layers</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7FE5249E-0EFE-6C59-0F6E-6F491EA33B85}"/>
              </a:ext>
            </a:extLst>
          </p:cNvPr>
          <p:cNvPicPr>
            <a:picLocks noChangeAspect="1"/>
          </p:cNvPicPr>
          <p:nvPr/>
        </p:nvPicPr>
        <p:blipFill>
          <a:blip r:embed="rId2"/>
          <a:stretch>
            <a:fillRect/>
          </a:stretch>
        </p:blipFill>
        <p:spPr>
          <a:xfrm>
            <a:off x="857211" y="1539999"/>
            <a:ext cx="5960847" cy="3778002"/>
          </a:xfrm>
          <a:prstGeom prst="rect">
            <a:avLst/>
          </a:prstGeom>
        </p:spPr>
      </p:pic>
      <p:sp>
        <p:nvSpPr>
          <p:cNvPr id="6" name="TextBox 5">
            <a:extLst>
              <a:ext uri="{FF2B5EF4-FFF2-40B4-BE49-F238E27FC236}">
                <a16:creationId xmlns:a16="http://schemas.microsoft.com/office/drawing/2014/main" id="{383EB832-3B3A-5E20-59D7-C314595278AF}"/>
              </a:ext>
            </a:extLst>
          </p:cNvPr>
          <p:cNvSpPr txBox="1"/>
          <p:nvPr/>
        </p:nvSpPr>
        <p:spPr>
          <a:xfrm>
            <a:off x="7035800" y="2862703"/>
            <a:ext cx="4792134" cy="1477328"/>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How data is formatted (Protocol Layer)</a:t>
            </a: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How data is managed reliably (D2D Adapter)</a:t>
            </a: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How bits are physically transferred (Physical Layer)</a:t>
            </a: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Plus, packaging, compliance, and debug rules</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4609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4C58E-6D45-E596-5898-A06922A0A415}"/>
              </a:ext>
            </a:extLst>
          </p:cNvPr>
          <p:cNvSpPr>
            <a:spLocks noGrp="1"/>
          </p:cNvSpPr>
          <p:nvPr>
            <p:ph idx="1"/>
          </p:nvPr>
        </p:nvSpPr>
        <p:spPr/>
        <p:txBody>
          <a:bodyPr/>
          <a:lstStyle/>
          <a:p>
            <a:pPr marL="0" indent="0">
              <a:buNone/>
            </a:pPr>
            <a:r>
              <a:rPr lang="en-IN" dirty="0"/>
              <a:t> </a:t>
            </a:r>
          </a:p>
        </p:txBody>
      </p:sp>
      <p:pic>
        <p:nvPicPr>
          <p:cNvPr id="5" name="Picture 4">
            <a:extLst>
              <a:ext uri="{FF2B5EF4-FFF2-40B4-BE49-F238E27FC236}">
                <a16:creationId xmlns:a16="http://schemas.microsoft.com/office/drawing/2014/main" id="{2F9DE961-C3BA-8F92-9886-3EB1F10AF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759" y="1934795"/>
            <a:ext cx="9741645" cy="3940586"/>
          </a:xfrm>
          <a:prstGeom prst="rect">
            <a:avLst/>
          </a:prstGeom>
        </p:spPr>
      </p:pic>
      <p:sp>
        <p:nvSpPr>
          <p:cNvPr id="4" name="Title 1">
            <a:extLst>
              <a:ext uri="{FF2B5EF4-FFF2-40B4-BE49-F238E27FC236}">
                <a16:creationId xmlns:a16="http://schemas.microsoft.com/office/drawing/2014/main" id="{1D7D0496-1D25-45D0-C901-DF869E6B20F3}"/>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dirty="0">
                <a:latin typeface="Calibri" panose="020F0502020204030204" pitchFamily="34" charset="0"/>
                <a:ea typeface="Calibri" panose="020F0502020204030204" pitchFamily="34" charset="0"/>
                <a:cs typeface="Calibri" panose="020F0502020204030204" pitchFamily="34" charset="0"/>
              </a:rPr>
              <a:t> Link Training State Machine</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32375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45857-0773-91CA-7DEF-E4BAEE22E9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28B035-7AEF-076D-3DDA-6DBF35E45991}"/>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457200" indent="-457200">
              <a:buFont typeface="Wingdings" panose="020B0604020202020204" pitchFamily="34" charset="0"/>
              <a:buChar char="§"/>
            </a:pPr>
            <a:r>
              <a:rPr lang="en-US" sz="2400" dirty="0"/>
              <a:t>The sideband (SB) interface is initialized and repaired (when applicable).</a:t>
            </a:r>
          </a:p>
          <a:p>
            <a:pPr marL="457200" indent="-457200">
              <a:buFont typeface="Wingdings" panose="020B0604020202020204" pitchFamily="34" charset="0"/>
              <a:buChar char="§"/>
            </a:pPr>
            <a:r>
              <a:rPr lang="en-US" sz="2400" dirty="0"/>
              <a:t> When not performing the actions relevant to this state:</a:t>
            </a:r>
          </a:p>
          <a:p>
            <a:pPr marL="0" indent="0">
              <a:buNone/>
            </a:pPr>
            <a:r>
              <a:rPr lang="en-US" sz="2400" dirty="0"/>
              <a:t>      • UCIe Module main band (MB) Transmitters remain tri-stated </a:t>
            </a:r>
          </a:p>
          <a:p>
            <a:pPr marL="0" indent="0">
              <a:buNone/>
            </a:pPr>
            <a:r>
              <a:rPr lang="en-US" sz="2400" dirty="0"/>
              <a:t>      • MB Receivers are permitted to be disabled </a:t>
            </a:r>
          </a:p>
          <a:p>
            <a:pPr marL="0" indent="0">
              <a:buNone/>
            </a:pPr>
            <a:r>
              <a:rPr lang="en-US" sz="2400" dirty="0"/>
              <a:t>      • SB Transmitters continue to be held Low </a:t>
            </a:r>
          </a:p>
          <a:p>
            <a:pPr marL="0" indent="0">
              <a:buNone/>
            </a:pPr>
            <a:r>
              <a:rPr lang="en-US" sz="2400" dirty="0"/>
              <a:t>      • SB Receivers continue to be enabled</a:t>
            </a:r>
          </a:p>
          <a:p>
            <a:pPr>
              <a:buFont typeface="Wingdings" panose="05000000000000000000" pitchFamily="2" charset="2"/>
              <a:buChar char="§"/>
            </a:pPr>
            <a:r>
              <a:rPr lang="en-US" sz="2400" dirty="0"/>
              <a:t>The SB initialization procedure is performed at 800 MT/s with 800 MHz sideband clock.</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112EF84E-5CF8-FA95-41C0-16B1E227C9A5}"/>
              </a:ext>
            </a:extLst>
          </p:cNvPr>
          <p:cNvSpPr>
            <a:spLocks noGrp="1"/>
          </p:cNvSpPr>
          <p:nvPr>
            <p:ph type="title"/>
          </p:nvPr>
        </p:nvSpPr>
        <p:spPr>
          <a:xfrm>
            <a:off x="0" y="1"/>
            <a:ext cx="12192000" cy="871180"/>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SBINIT</a:t>
            </a:r>
          </a:p>
        </p:txBody>
      </p:sp>
    </p:spTree>
    <p:extLst>
      <p:ext uri="{BB962C8B-B14F-4D97-AF65-F5344CB8AC3E}">
        <p14:creationId xmlns:p14="http://schemas.microsoft.com/office/powerpoint/2010/main" val="2816482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D5232-BA8F-7CD7-1227-85DC9F2AD1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A6DC31-AD4B-277E-81FF-5719265B5C60}"/>
              </a:ext>
            </a:extLst>
          </p:cNvPr>
          <p:cNvSpPr>
            <a:spLocks noGrp="1"/>
          </p:cNvSpPr>
          <p:nvPr>
            <p:ph idx="1"/>
          </p:nvPr>
        </p:nvSpPr>
        <p:spPr>
          <a:xfrm>
            <a:off x="521898" y="1250531"/>
            <a:ext cx="10515600" cy="4351338"/>
          </a:xfrm>
        </p:spPr>
        <p:txBody>
          <a:bodyPr vert="horz" lIns="91440" tIns="45720" rIns="91440" bIns="45720" rtlCol="0" anchor="t">
            <a:noAutofit/>
          </a:bodyPr>
          <a:lstStyle/>
          <a:p>
            <a:pPr marL="457200" indent="-457200">
              <a:buFont typeface="Wingdings"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Advanced Package has redundant SB clock and SB data Lanes (DATASBRD, CKSBRD) in addition to DATASB and CKSB. </a:t>
            </a:r>
          </a:p>
          <a:p>
            <a:pPr marL="457200" indent="-457200">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Die0 TX sends a simple pattern in sync with clock</a:t>
            </a:r>
          </a:p>
          <a:p>
            <a:pPr marL="1200150" lvl="2" indent="-285750"/>
            <a:r>
              <a:rPr lang="en-US" sz="2400" dirty="0">
                <a:latin typeface="Calibri" panose="020F0502020204030204" pitchFamily="34" charset="0"/>
                <a:ea typeface="Calibri" panose="020F0502020204030204" pitchFamily="34" charset="0"/>
                <a:cs typeface="Calibri" panose="020F0502020204030204" pitchFamily="34" charset="0"/>
              </a:rPr>
              <a:t>TX sends 64 UI (</a:t>
            </a:r>
            <a:r>
              <a:rPr lang="en-US" sz="2400" b="1" dirty="0">
                <a:latin typeface="Calibri" panose="020F0502020204030204" pitchFamily="34" charset="0"/>
                <a:ea typeface="Calibri" panose="020F0502020204030204" pitchFamily="34" charset="0"/>
                <a:cs typeface="Calibri" panose="020F0502020204030204" pitchFamily="34" charset="0"/>
              </a:rPr>
              <a:t>Unit Interval</a:t>
            </a:r>
            <a:r>
              <a:rPr lang="en-US" sz="2400" dirty="0">
                <a:latin typeface="Calibri" panose="020F0502020204030204" pitchFamily="34" charset="0"/>
                <a:ea typeface="Calibri" panose="020F0502020204030204" pitchFamily="34" charset="0"/>
                <a:cs typeface="Calibri" panose="020F0502020204030204" pitchFamily="34" charset="0"/>
              </a:rPr>
              <a:t>) of 101010… pattern + 32 UI Low.</a:t>
            </a:r>
          </a:p>
          <a:p>
            <a:pPr marL="1200150" lvl="2" indent="-285750"/>
            <a:r>
              <a:rPr lang="en-US" sz="2400" dirty="0">
                <a:latin typeface="Calibri" panose="020F0502020204030204" pitchFamily="34" charset="0"/>
                <a:ea typeface="Calibri" panose="020F0502020204030204" pitchFamily="34" charset="0"/>
                <a:cs typeface="Calibri" panose="020F0502020204030204" pitchFamily="34" charset="0"/>
              </a:rPr>
              <a:t>On </a:t>
            </a:r>
            <a:r>
              <a:rPr lang="en-IN" sz="2400" dirty="0">
                <a:latin typeface="Calibri" panose="020F0502020204030204" pitchFamily="34" charset="0"/>
                <a:ea typeface="Calibri" panose="020F0502020204030204" pitchFamily="34" charset="0"/>
                <a:cs typeface="Calibri" panose="020F0502020204030204" pitchFamily="34" charset="0"/>
              </a:rPr>
              <a:t>DATASB </a:t>
            </a:r>
            <a:r>
              <a:rPr lang="en-IN" sz="2400" b="1" dirty="0">
                <a:latin typeface="Calibri" panose="020F0502020204030204" pitchFamily="34" charset="0"/>
                <a:ea typeface="Calibri" panose="020F0502020204030204" pitchFamily="34" charset="0"/>
                <a:cs typeface="Calibri" panose="020F0502020204030204" pitchFamily="34" charset="0"/>
              </a:rPr>
              <a:t>and</a:t>
            </a:r>
            <a:r>
              <a:rPr lang="en-IN" sz="2400" dirty="0">
                <a:latin typeface="Calibri" panose="020F0502020204030204" pitchFamily="34" charset="0"/>
                <a:ea typeface="Calibri" panose="020F0502020204030204" pitchFamily="34" charset="0"/>
                <a:cs typeface="Calibri" panose="020F0502020204030204" pitchFamily="34" charset="0"/>
              </a:rPr>
              <a:t> DATASBRD in synchronous with CKSB </a:t>
            </a:r>
            <a:r>
              <a:rPr lang="en-IN" sz="2400" b="1" dirty="0">
                <a:latin typeface="Calibri" panose="020F0502020204030204" pitchFamily="34" charset="0"/>
                <a:ea typeface="Calibri" panose="020F0502020204030204" pitchFamily="34" charset="0"/>
                <a:cs typeface="Calibri" panose="020F0502020204030204" pitchFamily="34" charset="0"/>
              </a:rPr>
              <a:t>and</a:t>
            </a:r>
            <a:r>
              <a:rPr lang="en-IN" sz="2400" dirty="0">
                <a:latin typeface="Calibri" panose="020F0502020204030204" pitchFamily="34" charset="0"/>
                <a:ea typeface="Calibri" panose="020F0502020204030204" pitchFamily="34" charset="0"/>
                <a:cs typeface="Calibri" panose="020F0502020204030204" pitchFamily="34" charset="0"/>
              </a:rPr>
              <a:t> CKSBRD respectively.</a:t>
            </a:r>
          </a:p>
          <a:p>
            <a:pPr marL="457200" indent="-457200">
              <a:buFont typeface="+mj-lt"/>
              <a:buAutoNum type="arabicPeriod"/>
            </a:pPr>
            <a:r>
              <a:rPr lang="en-IN" sz="2400" dirty="0">
                <a:latin typeface="Calibri" panose="020F0502020204030204" pitchFamily="34" charset="0"/>
                <a:ea typeface="Calibri" panose="020F0502020204030204" pitchFamily="34" charset="0"/>
                <a:cs typeface="Calibri" panose="020F0502020204030204" pitchFamily="34" charset="0"/>
              </a:rPr>
              <a:t>Die1 RX samples the incoming message pattern w.r.t to both incoming clocks CKSB </a:t>
            </a:r>
            <a:r>
              <a:rPr lang="en-IN" sz="2400" b="1" dirty="0">
                <a:latin typeface="Calibri" panose="020F0502020204030204" pitchFamily="34" charset="0"/>
                <a:ea typeface="Calibri" panose="020F0502020204030204" pitchFamily="34" charset="0"/>
                <a:cs typeface="Calibri" panose="020F0502020204030204" pitchFamily="34" charset="0"/>
              </a:rPr>
              <a:t>and</a:t>
            </a:r>
            <a:r>
              <a:rPr lang="en-IN" sz="2400" dirty="0">
                <a:latin typeface="Calibri" panose="020F0502020204030204" pitchFamily="34" charset="0"/>
                <a:ea typeface="Calibri" panose="020F0502020204030204" pitchFamily="34" charset="0"/>
                <a:cs typeface="Calibri" panose="020F0502020204030204" pitchFamily="34" charset="0"/>
              </a:rPr>
              <a:t> CKSBRD.</a:t>
            </a: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3.Out of 4 data clock combinations, 1 pair is chosen who detects 2 times 64 UI patterns. </a:t>
            </a:r>
            <a:r>
              <a:rPr lang="en-US" sz="2400" dirty="0" err="1">
                <a:latin typeface="Calibri" panose="020F0502020204030204" pitchFamily="34" charset="0"/>
                <a:ea typeface="Calibri" panose="020F0502020204030204" pitchFamily="34" charset="0"/>
                <a:cs typeface="Calibri" panose="020F0502020204030204" pitchFamily="34" charset="0"/>
              </a:rPr>
              <a:t>ie</a:t>
            </a:r>
            <a:r>
              <a:rPr lang="en-US" sz="2400" dirty="0">
                <a:latin typeface="Calibri" panose="020F0502020204030204" pitchFamily="34" charset="0"/>
                <a:ea typeface="Calibri" panose="020F0502020204030204" pitchFamily="34" charset="0"/>
                <a:cs typeface="Calibri" panose="020F0502020204030204" pitchFamily="34" charset="0"/>
              </a:rPr>
              <a:t>. 128 UI pattern</a:t>
            </a: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F4792E87-BE8E-2753-6E1B-ACEB9BCE2002}"/>
              </a:ext>
            </a:extLst>
          </p:cNvPr>
          <p:cNvSpPr>
            <a:spLocks noGrp="1"/>
          </p:cNvSpPr>
          <p:nvPr>
            <p:ph type="title"/>
          </p:nvPr>
        </p:nvSpPr>
        <p:spPr>
          <a:xfrm>
            <a:off x="-1" y="1"/>
            <a:ext cx="12192001" cy="871180"/>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SBINIT(Advanced Package)</a:t>
            </a:r>
          </a:p>
        </p:txBody>
      </p:sp>
      <p:graphicFrame>
        <p:nvGraphicFramePr>
          <p:cNvPr id="2" name="Table 1">
            <a:extLst>
              <a:ext uri="{FF2B5EF4-FFF2-40B4-BE49-F238E27FC236}">
                <a16:creationId xmlns:a16="http://schemas.microsoft.com/office/drawing/2014/main" id="{425B1159-6678-AAE7-7316-DB76E70083BD}"/>
              </a:ext>
            </a:extLst>
          </p:cNvPr>
          <p:cNvGraphicFramePr>
            <a:graphicFrameLocks noGrp="1"/>
          </p:cNvGraphicFramePr>
          <p:nvPr>
            <p:extLst>
              <p:ext uri="{D42A27DB-BD31-4B8C-83A1-F6EECF244321}">
                <p14:modId xmlns:p14="http://schemas.microsoft.com/office/powerpoint/2010/main" val="935367523"/>
              </p:ext>
            </p:extLst>
          </p:nvPr>
        </p:nvGraphicFramePr>
        <p:xfrm>
          <a:off x="3894669" y="4084684"/>
          <a:ext cx="5384798" cy="1676400"/>
        </p:xfrm>
        <a:graphic>
          <a:graphicData uri="http://schemas.openxmlformats.org/drawingml/2006/table">
            <a:tbl>
              <a:tblPr firstRow="1" bandRow="1">
                <a:tableStyleId>{5C22544A-7EE6-4342-B048-85BDC9FD1C3A}</a:tableStyleId>
              </a:tblPr>
              <a:tblGrid>
                <a:gridCol w="2552986">
                  <a:extLst>
                    <a:ext uri="{9D8B030D-6E8A-4147-A177-3AD203B41FA5}">
                      <a16:colId xmlns:a16="http://schemas.microsoft.com/office/drawing/2014/main" val="427495836"/>
                    </a:ext>
                  </a:extLst>
                </a:gridCol>
                <a:gridCol w="2831812">
                  <a:extLst>
                    <a:ext uri="{9D8B030D-6E8A-4147-A177-3AD203B41FA5}">
                      <a16:colId xmlns:a16="http://schemas.microsoft.com/office/drawing/2014/main" val="801459462"/>
                    </a:ext>
                  </a:extLst>
                </a:gridCol>
              </a:tblGrid>
              <a:tr h="258137">
                <a:tc>
                  <a:txBody>
                    <a:bodyPr/>
                    <a:lstStyle/>
                    <a:p>
                      <a:pPr algn="ctr"/>
                      <a:r>
                        <a:rPr lang="en-IN" sz="1600" dirty="0">
                          <a:latin typeface="Calibri" panose="020F0502020204030204" pitchFamily="34" charset="0"/>
                          <a:ea typeface="Calibri" panose="020F0502020204030204" pitchFamily="34" charset="0"/>
                          <a:cs typeface="Calibri" panose="020F0502020204030204" pitchFamily="34" charset="0"/>
                        </a:rPr>
                        <a:t>Data </a:t>
                      </a:r>
                    </a:p>
                  </a:txBody>
                  <a:tcPr/>
                </a:tc>
                <a:tc>
                  <a:txBody>
                    <a:bodyPr/>
                    <a:lstStyle/>
                    <a:p>
                      <a:pPr algn="ctr"/>
                      <a:r>
                        <a:rPr lang="en-IN" sz="1600" dirty="0">
                          <a:latin typeface="Calibri" panose="020F0502020204030204" pitchFamily="34" charset="0"/>
                          <a:ea typeface="Calibri" panose="020F0502020204030204" pitchFamily="34" charset="0"/>
                          <a:cs typeface="Calibri" panose="020F0502020204030204" pitchFamily="34" charset="0"/>
                        </a:rPr>
                        <a:t>Clock</a:t>
                      </a:r>
                    </a:p>
                  </a:txBody>
                  <a:tcPr/>
                </a:tc>
                <a:extLst>
                  <a:ext uri="{0D108BD9-81ED-4DB2-BD59-A6C34878D82A}">
                    <a16:rowId xmlns:a16="http://schemas.microsoft.com/office/drawing/2014/main" val="245174220"/>
                  </a:ext>
                </a:extLst>
              </a:tr>
              <a:tr h="258137">
                <a:tc>
                  <a:txBody>
                    <a:bodyPr/>
                    <a:lstStyle/>
                    <a:p>
                      <a:pPr algn="ctr"/>
                      <a:r>
                        <a:rPr lang="en-IN" sz="1600" dirty="0">
                          <a:latin typeface="Calibri" panose="020F0502020204030204" pitchFamily="34" charset="0"/>
                          <a:ea typeface="Calibri" panose="020F0502020204030204" pitchFamily="34" charset="0"/>
                          <a:cs typeface="Calibri" panose="020F0502020204030204" pitchFamily="34" charset="0"/>
                        </a:rPr>
                        <a:t>DATASB</a:t>
                      </a:r>
                    </a:p>
                  </a:txBody>
                  <a:tcPr/>
                </a:tc>
                <a:tc>
                  <a:txBody>
                    <a:bodyPr/>
                    <a:lstStyle/>
                    <a:p>
                      <a:pPr algn="ctr"/>
                      <a:r>
                        <a:rPr lang="en-IN" sz="1600" dirty="0">
                          <a:latin typeface="Calibri" panose="020F0502020204030204" pitchFamily="34" charset="0"/>
                          <a:ea typeface="Calibri" panose="020F0502020204030204" pitchFamily="34" charset="0"/>
                          <a:cs typeface="Calibri" panose="020F0502020204030204" pitchFamily="34" charset="0"/>
                        </a:rPr>
                        <a:t>CKSB</a:t>
                      </a:r>
                    </a:p>
                  </a:txBody>
                  <a:tcPr/>
                </a:tc>
                <a:extLst>
                  <a:ext uri="{0D108BD9-81ED-4DB2-BD59-A6C34878D82A}">
                    <a16:rowId xmlns:a16="http://schemas.microsoft.com/office/drawing/2014/main" val="729828037"/>
                  </a:ext>
                </a:extLst>
              </a:tr>
              <a:tr h="258137">
                <a:tc>
                  <a:txBody>
                    <a:bodyPr/>
                    <a:lstStyle/>
                    <a:p>
                      <a:pPr algn="ctr"/>
                      <a:r>
                        <a:rPr lang="en-IN" sz="1600" dirty="0">
                          <a:latin typeface="Calibri" panose="020F0502020204030204" pitchFamily="34" charset="0"/>
                          <a:ea typeface="Calibri" panose="020F0502020204030204" pitchFamily="34" charset="0"/>
                          <a:cs typeface="Calibri" panose="020F0502020204030204" pitchFamily="34" charset="0"/>
                        </a:rPr>
                        <a:t>DATASB</a:t>
                      </a:r>
                    </a:p>
                  </a:txBody>
                  <a:tcPr/>
                </a:tc>
                <a:tc>
                  <a:txBody>
                    <a:bodyPr/>
                    <a:lstStyle/>
                    <a:p>
                      <a:pPr algn="ctr"/>
                      <a:r>
                        <a:rPr lang="en-IN" sz="1600" dirty="0">
                          <a:latin typeface="Calibri" panose="020F0502020204030204" pitchFamily="34" charset="0"/>
                          <a:ea typeface="Calibri" panose="020F0502020204030204" pitchFamily="34" charset="0"/>
                          <a:cs typeface="Calibri" panose="020F0502020204030204" pitchFamily="34" charset="0"/>
                        </a:rPr>
                        <a:t>CKSBRD</a:t>
                      </a:r>
                    </a:p>
                  </a:txBody>
                  <a:tcPr/>
                </a:tc>
                <a:extLst>
                  <a:ext uri="{0D108BD9-81ED-4DB2-BD59-A6C34878D82A}">
                    <a16:rowId xmlns:a16="http://schemas.microsoft.com/office/drawing/2014/main" val="3180727236"/>
                  </a:ext>
                </a:extLst>
              </a:tr>
              <a:tr h="258137">
                <a:tc>
                  <a:txBody>
                    <a:bodyPr/>
                    <a:lstStyle/>
                    <a:p>
                      <a:pPr algn="ctr"/>
                      <a:r>
                        <a:rPr lang="en-IN" sz="1600" dirty="0">
                          <a:latin typeface="Calibri" panose="020F0502020204030204" pitchFamily="34" charset="0"/>
                          <a:ea typeface="Calibri" panose="020F0502020204030204" pitchFamily="34" charset="0"/>
                          <a:cs typeface="Calibri" panose="020F0502020204030204" pitchFamily="34" charset="0"/>
                        </a:rPr>
                        <a:t>DATASBRD</a:t>
                      </a:r>
                    </a:p>
                  </a:txBody>
                  <a:tcPr/>
                </a:tc>
                <a:tc>
                  <a:txBody>
                    <a:bodyPr/>
                    <a:lstStyle/>
                    <a:p>
                      <a:pPr algn="ctr"/>
                      <a:r>
                        <a:rPr lang="en-IN" sz="1600" dirty="0">
                          <a:latin typeface="Calibri" panose="020F0502020204030204" pitchFamily="34" charset="0"/>
                          <a:ea typeface="Calibri" panose="020F0502020204030204" pitchFamily="34" charset="0"/>
                          <a:cs typeface="Calibri" panose="020F0502020204030204" pitchFamily="34" charset="0"/>
                        </a:rPr>
                        <a:t>CKSB</a:t>
                      </a:r>
                    </a:p>
                  </a:txBody>
                  <a:tcPr/>
                </a:tc>
                <a:extLst>
                  <a:ext uri="{0D108BD9-81ED-4DB2-BD59-A6C34878D82A}">
                    <a16:rowId xmlns:a16="http://schemas.microsoft.com/office/drawing/2014/main" val="2944932695"/>
                  </a:ext>
                </a:extLst>
              </a:tr>
              <a:tr h="258137">
                <a:tc>
                  <a:txBody>
                    <a:bodyPr/>
                    <a:lstStyle/>
                    <a:p>
                      <a:pPr algn="ctr"/>
                      <a:r>
                        <a:rPr lang="en-IN" sz="1600" dirty="0">
                          <a:latin typeface="Calibri" panose="020F0502020204030204" pitchFamily="34" charset="0"/>
                          <a:ea typeface="Calibri" panose="020F0502020204030204" pitchFamily="34" charset="0"/>
                          <a:cs typeface="Calibri" panose="020F0502020204030204" pitchFamily="34" charset="0"/>
                        </a:rPr>
                        <a:t>DATASBRD</a:t>
                      </a:r>
                    </a:p>
                  </a:txBody>
                  <a:tcPr/>
                </a:tc>
                <a:tc>
                  <a:txBody>
                    <a:bodyPr/>
                    <a:lstStyle/>
                    <a:p>
                      <a:pPr algn="ctr"/>
                      <a:r>
                        <a:rPr lang="en-IN" sz="1600" dirty="0">
                          <a:latin typeface="Calibri" panose="020F0502020204030204" pitchFamily="34" charset="0"/>
                          <a:ea typeface="Calibri" panose="020F0502020204030204" pitchFamily="34" charset="0"/>
                          <a:cs typeface="Calibri" panose="020F0502020204030204" pitchFamily="34" charset="0"/>
                        </a:rPr>
                        <a:t>CKSBRD</a:t>
                      </a:r>
                    </a:p>
                  </a:txBody>
                  <a:tcPr/>
                </a:tc>
                <a:extLst>
                  <a:ext uri="{0D108BD9-81ED-4DB2-BD59-A6C34878D82A}">
                    <a16:rowId xmlns:a16="http://schemas.microsoft.com/office/drawing/2014/main" val="1242791300"/>
                  </a:ext>
                </a:extLst>
              </a:tr>
            </a:tbl>
          </a:graphicData>
        </a:graphic>
      </p:graphicFrame>
    </p:spTree>
    <p:extLst>
      <p:ext uri="{BB962C8B-B14F-4D97-AF65-F5344CB8AC3E}">
        <p14:creationId xmlns:p14="http://schemas.microsoft.com/office/powerpoint/2010/main" val="2735823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DA973-6DA7-374E-B38D-A42E45D050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C87977-F01C-275A-7328-CC07F5FA9FF5}"/>
              </a:ext>
            </a:extLst>
          </p:cNvPr>
          <p:cNvSpPr>
            <a:spLocks noGrp="1"/>
          </p:cNvSpPr>
          <p:nvPr>
            <p:ph idx="1"/>
          </p:nvPr>
        </p:nvSpPr>
        <p:spPr>
          <a:xfrm>
            <a:off x="1072231" y="1597665"/>
            <a:ext cx="10515600" cy="4351338"/>
          </a:xfrm>
        </p:spPr>
        <p:txBody>
          <a:bodyPr vert="horz" lIns="91440" tIns="45720" rIns="91440" bIns="45720" rtlCol="0" anchor="t">
            <a:normAutofit/>
          </a:bodyPr>
          <a:lstStyle/>
          <a:p>
            <a:pPr marL="457200" lvl="1" indent="0">
              <a:buNone/>
            </a:pPr>
            <a:r>
              <a:rPr lang="en-US" dirty="0">
                <a:latin typeface="Calibri" panose="020F0502020204030204" pitchFamily="34" charset="0"/>
                <a:ea typeface="Calibri" panose="020F0502020204030204" pitchFamily="34" charset="0"/>
                <a:cs typeface="Calibri" panose="020F0502020204030204" pitchFamily="34" charset="0"/>
              </a:rPr>
              <a:t>4.If at least one combo works, </a:t>
            </a:r>
          </a:p>
          <a:p>
            <a:pPr marL="1200150" lvl="2" indent="-285750"/>
            <a:r>
              <a:rPr lang="en-US" sz="2400" dirty="0">
                <a:latin typeface="Calibri" panose="020F0502020204030204" pitchFamily="34" charset="0"/>
                <a:ea typeface="Calibri" panose="020F0502020204030204" pitchFamily="34" charset="0"/>
                <a:cs typeface="Calibri" panose="020F0502020204030204" pitchFamily="34" charset="0"/>
              </a:rPr>
              <a:t>Die1 Receiver tells transmitter send 4 more pattern burst then stop.</a:t>
            </a:r>
          </a:p>
          <a:p>
            <a:pPr marL="1200150" lvl="2" indent="-285750"/>
            <a:r>
              <a:rPr lang="en-US" sz="2400" dirty="0">
                <a:latin typeface="Calibri" panose="020F0502020204030204" pitchFamily="34" charset="0"/>
                <a:ea typeface="Calibri" panose="020F0502020204030204" pitchFamily="34" charset="0"/>
                <a:cs typeface="Calibri" panose="020F0502020204030204" pitchFamily="34" charset="0"/>
              </a:rPr>
              <a:t>Die0 Transmitter:</a:t>
            </a:r>
          </a:p>
          <a:p>
            <a:pPr marL="1657350" lvl="3" indent="-285750"/>
            <a:r>
              <a:rPr lang="en-US" sz="2400" dirty="0">
                <a:latin typeface="Calibri" panose="020F0502020204030204" pitchFamily="34" charset="0"/>
                <a:ea typeface="Calibri" panose="020F0502020204030204" pitchFamily="34" charset="0"/>
                <a:cs typeface="Calibri" panose="020F0502020204030204" pitchFamily="34" charset="0"/>
              </a:rPr>
              <a:t>Sends 4 more pattern bursts +</a:t>
            </a:r>
            <a:r>
              <a:rPr lang="en-IN" sz="2400" dirty="0">
                <a:latin typeface="Calibri" panose="020F0502020204030204" pitchFamily="34" charset="0"/>
                <a:ea typeface="Calibri" panose="020F0502020204030204" pitchFamily="34" charset="0"/>
                <a:cs typeface="Calibri" panose="020F0502020204030204" pitchFamily="34" charset="0"/>
              </a:rPr>
              <a:t> 32 UI low</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1657350" lvl="3" indent="-285750"/>
            <a:r>
              <a:rPr lang="en-US" sz="2400" dirty="0">
                <a:latin typeface="Calibri" panose="020F0502020204030204" pitchFamily="34" charset="0"/>
                <a:ea typeface="Calibri" panose="020F0502020204030204" pitchFamily="34" charset="0"/>
                <a:cs typeface="Calibri" panose="020F0502020204030204" pitchFamily="34" charset="0"/>
              </a:rPr>
              <a:t>Then stops</a:t>
            </a:r>
          </a:p>
          <a:p>
            <a:pPr marL="1657350" lvl="3" indent="-285750"/>
            <a:r>
              <a:rPr lang="en-US" sz="2400" dirty="0">
                <a:latin typeface="Calibri" panose="020F0502020204030204" pitchFamily="34" charset="0"/>
                <a:ea typeface="Calibri" panose="020F0502020204030204" pitchFamily="34" charset="0"/>
                <a:cs typeface="Calibri" panose="020F0502020204030204" pitchFamily="34" charset="0"/>
              </a:rPr>
              <a:t>This extra delay ensures </a:t>
            </a:r>
            <a:r>
              <a:rPr lang="en-US" sz="2400" b="1" dirty="0">
                <a:latin typeface="Calibri" panose="020F0502020204030204" pitchFamily="34" charset="0"/>
                <a:ea typeface="Calibri" panose="020F0502020204030204" pitchFamily="34" charset="0"/>
                <a:cs typeface="Calibri" panose="020F0502020204030204" pitchFamily="34" charset="0"/>
              </a:rPr>
              <a:t>both sides are fully out of reset then both Dies can communicate through sidebands.</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r>
              <a:rPr lang="en-US" dirty="0">
                <a:latin typeface="Calibri" panose="020F0502020204030204" pitchFamily="34" charset="0"/>
                <a:ea typeface="Calibri" panose="020F0502020204030204" pitchFamily="34" charset="0"/>
                <a:cs typeface="Calibri" panose="020F0502020204030204" pitchFamily="34" charset="0"/>
              </a:rPr>
              <a:t>5.If no data-clock combinations works based on pattern detection, Die0 TX sends</a:t>
            </a:r>
          </a:p>
          <a:p>
            <a:pPr marL="1200150" lvl="2" indent="-285750"/>
            <a:r>
              <a:rPr lang="en-US" sz="2400" dirty="0">
                <a:latin typeface="Calibri" panose="020F0502020204030204" pitchFamily="34" charset="0"/>
                <a:ea typeface="Calibri" panose="020F0502020204030204" pitchFamily="34" charset="0"/>
                <a:cs typeface="Calibri" panose="020F0502020204030204" pitchFamily="34" charset="0"/>
              </a:rPr>
              <a:t>(1 </a:t>
            </a:r>
            <a:r>
              <a:rPr lang="en-US" sz="2400" dirty="0" err="1">
                <a:latin typeface="Calibri" panose="020F0502020204030204" pitchFamily="34" charset="0"/>
                <a:ea typeface="Calibri" panose="020F0502020204030204" pitchFamily="34" charset="0"/>
                <a:cs typeface="Calibri" panose="020F0502020204030204" pitchFamily="34" charset="0"/>
              </a:rPr>
              <a:t>ms</a:t>
            </a:r>
            <a:r>
              <a:rPr lang="en-US" sz="2400" dirty="0">
                <a:latin typeface="Calibri" panose="020F0502020204030204" pitchFamily="34" charset="0"/>
                <a:ea typeface="Calibri" panose="020F0502020204030204" pitchFamily="34" charset="0"/>
                <a:cs typeface="Calibri" panose="020F0502020204030204" pitchFamily="34" charset="0"/>
              </a:rPr>
              <a:t> duration pattern + 1 </a:t>
            </a:r>
            <a:r>
              <a:rPr lang="en-US" sz="2400" dirty="0" err="1">
                <a:latin typeface="Calibri" panose="020F0502020204030204" pitchFamily="34" charset="0"/>
                <a:ea typeface="Calibri" panose="020F0502020204030204" pitchFamily="34" charset="0"/>
                <a:cs typeface="Calibri" panose="020F0502020204030204" pitchFamily="34" charset="0"/>
              </a:rPr>
              <a:t>ms</a:t>
            </a:r>
            <a:r>
              <a:rPr lang="en-US" sz="2400" dirty="0">
                <a:latin typeface="Calibri" panose="020F0502020204030204" pitchFamily="34" charset="0"/>
                <a:ea typeface="Calibri" panose="020F0502020204030204" pitchFamily="34" charset="0"/>
                <a:cs typeface="Calibri" panose="020F0502020204030204" pitchFamily="34" charset="0"/>
              </a:rPr>
              <a:t> zeros) for 8 </a:t>
            </a:r>
            <a:r>
              <a:rPr lang="en-US" sz="2400" dirty="0" err="1">
                <a:latin typeface="Calibri" panose="020F0502020204030204" pitchFamily="34" charset="0"/>
                <a:ea typeface="Calibri" panose="020F0502020204030204" pitchFamily="34" charset="0"/>
                <a:cs typeface="Calibri" panose="020F0502020204030204" pitchFamily="34" charset="0"/>
              </a:rPr>
              <a:t>ms</a:t>
            </a:r>
            <a:r>
              <a:rPr lang="en-US" sz="2400" dirty="0">
                <a:latin typeface="Calibri" panose="020F0502020204030204" pitchFamily="34" charset="0"/>
                <a:ea typeface="Calibri" panose="020F0502020204030204" pitchFamily="34" charset="0"/>
                <a:cs typeface="Calibri" panose="020F0502020204030204" pitchFamily="34" charset="0"/>
              </a:rPr>
              <a:t> duration.</a:t>
            </a:r>
          </a:p>
          <a:p>
            <a:pPr marL="1200150" lvl="2" indent="-285750"/>
            <a:r>
              <a:rPr lang="en-IN" sz="2400" dirty="0">
                <a:latin typeface="Calibri" panose="020F0502020204030204" pitchFamily="34" charset="0"/>
                <a:ea typeface="Calibri" panose="020F0502020204030204" pitchFamily="34" charset="0"/>
                <a:cs typeface="Calibri" panose="020F0502020204030204" pitchFamily="34" charset="0"/>
              </a:rPr>
              <a:t>After 8 </a:t>
            </a:r>
            <a:r>
              <a:rPr lang="en-IN" sz="2400" dirty="0" err="1">
                <a:latin typeface="Calibri" panose="020F0502020204030204" pitchFamily="34" charset="0"/>
                <a:ea typeface="Calibri" panose="020F0502020204030204" pitchFamily="34" charset="0"/>
                <a:cs typeface="Calibri" panose="020F0502020204030204" pitchFamily="34" charset="0"/>
              </a:rPr>
              <a:t>ms</a:t>
            </a:r>
            <a:r>
              <a:rPr lang="en-IN" sz="2400" dirty="0">
                <a:latin typeface="Calibri" panose="020F0502020204030204" pitchFamily="34" charset="0"/>
                <a:ea typeface="Calibri" panose="020F0502020204030204" pitchFamily="34" charset="0"/>
                <a:cs typeface="Calibri" panose="020F0502020204030204" pitchFamily="34" charset="0"/>
              </a:rPr>
              <a:t>, timeout error happens “TRAINERROR”</a:t>
            </a:r>
          </a:p>
          <a:p>
            <a:pPr marL="1200150" lvl="2" indent="-285750"/>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F5634D9E-6E04-0E1F-44DD-C2E016D1BA5D}"/>
              </a:ext>
            </a:extLst>
          </p:cNvPr>
          <p:cNvSpPr>
            <a:spLocks noGrp="1"/>
          </p:cNvSpPr>
          <p:nvPr>
            <p:ph type="title"/>
          </p:nvPr>
        </p:nvSpPr>
        <p:spPr>
          <a:xfrm>
            <a:off x="0" y="1"/>
            <a:ext cx="12192000" cy="871180"/>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SBINIT Advanced Package(Contd..)</a:t>
            </a:r>
          </a:p>
        </p:txBody>
      </p:sp>
    </p:spTree>
    <p:extLst>
      <p:ext uri="{BB962C8B-B14F-4D97-AF65-F5344CB8AC3E}">
        <p14:creationId xmlns:p14="http://schemas.microsoft.com/office/powerpoint/2010/main" val="2345092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15562-6781-6CA8-50C0-0ADE8FC304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0DDE23-839E-EC4B-7482-56436E93431C}"/>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 6.If multiple data-clock combinations works choose one based on priority as follows:</a:t>
            </a:r>
          </a:p>
          <a:p>
            <a:pPr marL="1200150" lvl="2" indent="-285750"/>
            <a:r>
              <a:rPr lang="en-US" sz="2400" dirty="0">
                <a:latin typeface="Calibri" panose="020F0502020204030204" pitchFamily="34" charset="0"/>
                <a:ea typeface="Calibri" panose="020F0502020204030204" pitchFamily="34" charset="0"/>
                <a:cs typeface="Calibri" panose="020F0502020204030204" pitchFamily="34" charset="0"/>
              </a:rPr>
              <a:t>DATASB / CKSB</a:t>
            </a:r>
          </a:p>
          <a:p>
            <a:pPr marL="1200150" lvl="2" indent="-285750"/>
            <a:r>
              <a:rPr lang="en-US" sz="2400" dirty="0">
                <a:latin typeface="Calibri" panose="020F0502020204030204" pitchFamily="34" charset="0"/>
                <a:ea typeface="Calibri" panose="020F0502020204030204" pitchFamily="34" charset="0"/>
                <a:cs typeface="Calibri" panose="020F0502020204030204" pitchFamily="34" charset="0"/>
              </a:rPr>
              <a:t>DATASB / CKSBRD</a:t>
            </a:r>
          </a:p>
          <a:p>
            <a:pPr marL="1200150" lvl="2" indent="-285750"/>
            <a:r>
              <a:rPr lang="en-US" sz="2400" dirty="0">
                <a:latin typeface="Calibri" panose="020F0502020204030204" pitchFamily="34" charset="0"/>
                <a:ea typeface="Calibri" panose="020F0502020204030204" pitchFamily="34" charset="0"/>
                <a:cs typeface="Calibri" panose="020F0502020204030204" pitchFamily="34" charset="0"/>
              </a:rPr>
              <a:t>DATASBRD / CKSB</a:t>
            </a:r>
          </a:p>
          <a:p>
            <a:pPr marL="1200150" lvl="2" indent="-285750"/>
            <a:r>
              <a:rPr lang="en-US" sz="2400" dirty="0">
                <a:latin typeface="Calibri" panose="020F0502020204030204" pitchFamily="34" charset="0"/>
                <a:ea typeface="Calibri" panose="020F0502020204030204" pitchFamily="34" charset="0"/>
                <a:cs typeface="Calibri" panose="020F0502020204030204" pitchFamily="34" charset="0"/>
              </a:rPr>
              <a:t>DATASBRD / CKSBRD</a:t>
            </a:r>
          </a:p>
          <a:p>
            <a:pPr marL="457200" indent="-457200">
              <a:buFont typeface="Wingdings" panose="020B0604020202020204" pitchFamily="34" charset="0"/>
              <a:buChar char="§"/>
            </a:pPr>
            <a:r>
              <a:rPr lang="en-US" sz="2400" dirty="0">
                <a:latin typeface="Times New Roman" panose="02020603050405020304" pitchFamily="18" charset="0"/>
                <a:cs typeface="Times New Roman" panose="02020603050405020304" pitchFamily="18" charset="0"/>
              </a:rPr>
              <a:t>7 to 10 :</a:t>
            </a:r>
          </a:p>
        </p:txBody>
      </p:sp>
      <p:sp>
        <p:nvSpPr>
          <p:cNvPr id="5" name="Title 1">
            <a:extLst>
              <a:ext uri="{FF2B5EF4-FFF2-40B4-BE49-F238E27FC236}">
                <a16:creationId xmlns:a16="http://schemas.microsoft.com/office/drawing/2014/main" id="{92DDC752-12E7-F669-CFA8-7ED3EC24D877}"/>
              </a:ext>
            </a:extLst>
          </p:cNvPr>
          <p:cNvSpPr>
            <a:spLocks noGrp="1"/>
          </p:cNvSpPr>
          <p:nvPr>
            <p:ph type="title"/>
          </p:nvPr>
        </p:nvSpPr>
        <p:spPr>
          <a:xfrm>
            <a:off x="0" y="1"/>
            <a:ext cx="12173309" cy="871180"/>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SBINIT Advanced Package(Contd..)</a:t>
            </a:r>
          </a:p>
        </p:txBody>
      </p:sp>
      <p:pic>
        <p:nvPicPr>
          <p:cNvPr id="2" name="Picture 1">
            <a:extLst>
              <a:ext uri="{FF2B5EF4-FFF2-40B4-BE49-F238E27FC236}">
                <a16:creationId xmlns:a16="http://schemas.microsoft.com/office/drawing/2014/main" id="{D09EB60C-78D4-FFE0-2AA4-5530A9D41278}"/>
              </a:ext>
            </a:extLst>
          </p:cNvPr>
          <p:cNvPicPr>
            <a:picLocks noChangeAspect="1"/>
          </p:cNvPicPr>
          <p:nvPr/>
        </p:nvPicPr>
        <p:blipFill>
          <a:blip r:embed="rId2"/>
          <a:stretch>
            <a:fillRect/>
          </a:stretch>
        </p:blipFill>
        <p:spPr>
          <a:xfrm>
            <a:off x="9083215" y="2501798"/>
            <a:ext cx="2480733" cy="4106635"/>
          </a:xfrm>
          <a:prstGeom prst="rect">
            <a:avLst/>
          </a:prstGeom>
        </p:spPr>
      </p:pic>
      <p:sp>
        <p:nvSpPr>
          <p:cNvPr id="6" name="TextBox 5">
            <a:extLst>
              <a:ext uri="{FF2B5EF4-FFF2-40B4-BE49-F238E27FC236}">
                <a16:creationId xmlns:a16="http://schemas.microsoft.com/office/drawing/2014/main" id="{3EDE193C-C4A2-7287-60A8-5521ADF75154}"/>
              </a:ext>
            </a:extLst>
          </p:cNvPr>
          <p:cNvSpPr txBox="1"/>
          <p:nvPr/>
        </p:nvSpPr>
        <p:spPr>
          <a:xfrm>
            <a:off x="4690533" y="3227369"/>
            <a:ext cx="4673600" cy="738664"/>
          </a:xfrm>
          <a:prstGeom prst="rect">
            <a:avLst/>
          </a:prstGeom>
          <a:noFill/>
        </p:spPr>
        <p:txBody>
          <a:bodyPr wrap="square">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Module sends continuous sideband message on both TXDATASB and TXDATASBRD w.r.t TXCKSB and TXCKSBRD for 8 </a:t>
            </a:r>
            <a:r>
              <a:rPr lang="en-US" sz="1400" dirty="0" err="1">
                <a:latin typeface="Calibri" panose="020F0502020204030204" pitchFamily="34" charset="0"/>
                <a:ea typeface="Calibri" panose="020F0502020204030204" pitchFamily="34" charset="0"/>
                <a:cs typeface="Calibri" panose="020F0502020204030204" pitchFamily="34" charset="0"/>
              </a:rPr>
              <a:t>ms</a:t>
            </a:r>
            <a:r>
              <a:rPr lang="en-US" sz="1400" dirty="0">
                <a:latin typeface="Calibri" panose="020F0502020204030204" pitchFamily="34" charset="0"/>
                <a:ea typeface="Calibri" panose="020F0502020204030204" pitchFamily="34" charset="0"/>
                <a:cs typeface="Calibri" panose="020F0502020204030204" pitchFamily="34" charset="0"/>
              </a:rPr>
              <a:t>, if no response from partner  </a:t>
            </a:r>
            <a:r>
              <a:rPr lang="en-IN" sz="1400" dirty="0">
                <a:latin typeface="Calibri" panose="020F0502020204030204" pitchFamily="34" charset="0"/>
                <a:ea typeface="Calibri" panose="020F0502020204030204" pitchFamily="34" charset="0"/>
                <a:cs typeface="Calibri" panose="020F0502020204030204" pitchFamily="34" charset="0"/>
              </a:rPr>
              <a:t>timeout occurs TRAINERROR</a:t>
            </a:r>
            <a:r>
              <a:rPr lang="en-US" sz="1400" dirty="0">
                <a:latin typeface="Calibri" panose="020F0502020204030204" pitchFamily="34" charset="0"/>
                <a:ea typeface="Calibri" panose="020F0502020204030204" pitchFamily="34" charset="0"/>
                <a:cs typeface="Calibri" panose="020F0502020204030204" pitchFamily="34" charset="0"/>
              </a:rPr>
              <a:t> </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049B96E-250B-5499-14AE-2DA33B98FC3B}"/>
              </a:ext>
            </a:extLst>
          </p:cNvPr>
          <p:cNvSpPr txBox="1"/>
          <p:nvPr/>
        </p:nvSpPr>
        <p:spPr>
          <a:xfrm rot="10800000" flipV="1">
            <a:off x="4817531" y="4490498"/>
            <a:ext cx="4445001" cy="954107"/>
          </a:xfrm>
          <a:prstGeom prst="rect">
            <a:avLst/>
          </a:prstGeom>
          <a:noFill/>
        </p:spPr>
        <p:txBody>
          <a:bodyPr wrap="square">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Both Die 0 and Die1 must apply Sideband Data/Clock assignment (called the functional sideband) based on the information included in the {SBINIT Out of Reset} sideband message</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6799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CDE36-8F98-B66A-8FA4-1E712678CE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60A1C5-8FB9-B683-C0F3-E063EDCAB564}"/>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0" indent="0" fontAlgn="base">
              <a:buNone/>
            </a:pPr>
            <a:r>
              <a:rPr lang="en-US" sz="2400" dirty="0">
                <a:latin typeface="Calibri" panose="020F0502020204030204" pitchFamily="34" charset="0"/>
                <a:ea typeface="Calibri" panose="020F0502020204030204" pitchFamily="34" charset="0"/>
                <a:cs typeface="Calibri" panose="020F0502020204030204" pitchFamily="34" charset="0"/>
              </a:rPr>
              <a:t> 1.Die0 TX sends a simple clock pattern​</a:t>
            </a:r>
          </a:p>
          <a:p>
            <a:pPr fontAlgn="base"/>
            <a:r>
              <a:rPr lang="en-US" sz="2400" dirty="0">
                <a:latin typeface="Calibri" panose="020F0502020204030204" pitchFamily="34" charset="0"/>
                <a:ea typeface="Calibri" panose="020F0502020204030204" pitchFamily="34" charset="0"/>
                <a:cs typeface="Calibri" panose="020F0502020204030204" pitchFamily="34" charset="0"/>
              </a:rPr>
              <a:t>TX sends 64 UI (</a:t>
            </a:r>
            <a:r>
              <a:rPr lang="en-US" sz="2400" b="1" dirty="0">
                <a:latin typeface="Calibri" panose="020F0502020204030204" pitchFamily="34" charset="0"/>
                <a:ea typeface="Calibri" panose="020F0502020204030204" pitchFamily="34" charset="0"/>
                <a:cs typeface="Calibri" panose="020F0502020204030204" pitchFamily="34" charset="0"/>
              </a:rPr>
              <a:t>Unit Interval</a:t>
            </a:r>
            <a:r>
              <a:rPr lang="en-US" sz="2400" dirty="0">
                <a:latin typeface="Calibri" panose="020F0502020204030204" pitchFamily="34" charset="0"/>
                <a:ea typeface="Calibri" panose="020F0502020204030204" pitchFamily="34" charset="0"/>
                <a:cs typeface="Calibri" panose="020F0502020204030204" pitchFamily="34" charset="0"/>
              </a:rPr>
              <a:t>) of 101010… pattern -&gt; 32 UI LOW + 32 UI High.​</a:t>
            </a:r>
          </a:p>
          <a:p>
            <a:pPr fontAlgn="base"/>
            <a:r>
              <a:rPr lang="en-US" sz="2400" dirty="0">
                <a:latin typeface="Calibri" panose="020F0502020204030204" pitchFamily="34" charset="0"/>
                <a:ea typeface="Calibri" panose="020F0502020204030204" pitchFamily="34" charset="0"/>
                <a:cs typeface="Calibri" panose="020F0502020204030204" pitchFamily="34" charset="0"/>
              </a:rPr>
              <a:t>On </a:t>
            </a:r>
            <a:r>
              <a:rPr lang="en-IN" sz="2400" dirty="0">
                <a:latin typeface="Calibri" panose="020F0502020204030204" pitchFamily="34" charset="0"/>
                <a:ea typeface="Calibri" panose="020F0502020204030204" pitchFamily="34" charset="0"/>
                <a:cs typeface="Calibri" panose="020F0502020204030204" pitchFamily="34" charset="0"/>
              </a:rPr>
              <a:t>DATASB in synchronous with CKSB respectively.</a:t>
            </a:r>
            <a:r>
              <a:rPr lang="en-US" sz="2400" dirty="0">
                <a:latin typeface="Calibri" panose="020F0502020204030204" pitchFamily="34" charset="0"/>
                <a:ea typeface="Calibri" panose="020F0502020204030204" pitchFamily="34" charset="0"/>
                <a:cs typeface="Calibri" panose="020F0502020204030204" pitchFamily="34" charset="0"/>
              </a:rPr>
              <a:t>​</a:t>
            </a:r>
          </a:p>
          <a:p>
            <a:pPr marL="0" indent="0" fontAlgn="base">
              <a:buNone/>
            </a:pPr>
            <a:r>
              <a:rPr lang="en-IN" sz="2400" dirty="0">
                <a:latin typeface="Calibri" panose="020F0502020204030204" pitchFamily="34" charset="0"/>
                <a:ea typeface="Calibri" panose="020F0502020204030204" pitchFamily="34" charset="0"/>
                <a:cs typeface="Calibri" panose="020F0502020204030204" pitchFamily="34" charset="0"/>
              </a:rPr>
              <a:t>2.Die1 RX samples the incoming message pattern w.r.t to both incoming clocks CKSB.</a:t>
            </a:r>
            <a:r>
              <a:rPr lang="en-US" sz="2400" dirty="0">
                <a:latin typeface="Calibri" panose="020F0502020204030204" pitchFamily="34" charset="0"/>
                <a:ea typeface="Calibri" panose="020F0502020204030204" pitchFamily="34" charset="0"/>
                <a:cs typeface="Calibri" panose="020F0502020204030204" pitchFamily="34" charset="0"/>
              </a:rPr>
              <a:t>​</a:t>
            </a:r>
          </a:p>
          <a:p>
            <a:pPr marL="0" indent="0" fontAlgn="base">
              <a:buNone/>
            </a:pPr>
            <a:r>
              <a:rPr lang="en-US" sz="2400" dirty="0">
                <a:latin typeface="Calibri" panose="020F0502020204030204" pitchFamily="34" charset="0"/>
                <a:ea typeface="Calibri" panose="020F0502020204030204" pitchFamily="34" charset="0"/>
                <a:cs typeface="Calibri" panose="020F0502020204030204" pitchFamily="34" charset="0"/>
              </a:rPr>
              <a:t>​</a:t>
            </a:r>
          </a:p>
          <a:p>
            <a:pPr marL="457200" indent="-457200">
              <a:buFont typeface="Wingdings"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E3C62247-49A1-02AB-6729-74590F83A8C0}"/>
              </a:ext>
            </a:extLst>
          </p:cNvPr>
          <p:cNvSpPr>
            <a:spLocks noGrp="1"/>
          </p:cNvSpPr>
          <p:nvPr>
            <p:ph type="title"/>
          </p:nvPr>
        </p:nvSpPr>
        <p:spPr>
          <a:xfrm>
            <a:off x="0" y="0"/>
            <a:ext cx="12192000" cy="865489"/>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SBINIT(Standard Package)</a:t>
            </a:r>
          </a:p>
        </p:txBody>
      </p:sp>
      <p:graphicFrame>
        <p:nvGraphicFramePr>
          <p:cNvPr id="2" name="Table 1">
            <a:extLst>
              <a:ext uri="{FF2B5EF4-FFF2-40B4-BE49-F238E27FC236}">
                <a16:creationId xmlns:a16="http://schemas.microsoft.com/office/drawing/2014/main" id="{A01D0A96-D0DA-B071-B0A9-250DBAEEB2FC}"/>
              </a:ext>
            </a:extLst>
          </p:cNvPr>
          <p:cNvGraphicFramePr>
            <a:graphicFrameLocks noGrp="1"/>
          </p:cNvGraphicFramePr>
          <p:nvPr>
            <p:extLst>
              <p:ext uri="{D42A27DB-BD31-4B8C-83A1-F6EECF244321}">
                <p14:modId xmlns:p14="http://schemas.microsoft.com/office/powerpoint/2010/main" val="501356582"/>
              </p:ext>
            </p:extLst>
          </p:nvPr>
        </p:nvGraphicFramePr>
        <p:xfrm>
          <a:off x="1637861" y="3507828"/>
          <a:ext cx="5496036" cy="725214"/>
        </p:xfrm>
        <a:graphic>
          <a:graphicData uri="http://schemas.openxmlformats.org/drawingml/2006/table">
            <a:tbl>
              <a:tblPr firstRow="1" bandRow="1">
                <a:tableStyleId>{5C22544A-7EE6-4342-B048-85BDC9FD1C3A}</a:tableStyleId>
              </a:tblPr>
              <a:tblGrid>
                <a:gridCol w="2758125">
                  <a:extLst>
                    <a:ext uri="{9D8B030D-6E8A-4147-A177-3AD203B41FA5}">
                      <a16:colId xmlns:a16="http://schemas.microsoft.com/office/drawing/2014/main" val="2748734249"/>
                    </a:ext>
                  </a:extLst>
                </a:gridCol>
                <a:gridCol w="2737911">
                  <a:extLst>
                    <a:ext uri="{9D8B030D-6E8A-4147-A177-3AD203B41FA5}">
                      <a16:colId xmlns:a16="http://schemas.microsoft.com/office/drawing/2014/main" val="3362859063"/>
                    </a:ext>
                  </a:extLst>
                </a:gridCol>
              </a:tblGrid>
              <a:tr h="362607">
                <a:tc>
                  <a:txBody>
                    <a:bodyPr/>
                    <a:lstStyle/>
                    <a:p>
                      <a:pPr algn="ctr" rtl="0" fontAlgn="base">
                        <a:lnSpc>
                          <a:spcPts val="1050"/>
                        </a:lnSpc>
                        <a:buNone/>
                      </a:pPr>
                      <a:r>
                        <a:rPr lang="en-IN" sz="1100" b="1" i="0" dirty="0">
                          <a:solidFill>
                            <a:srgbClr val="FFFFFF"/>
                          </a:solidFill>
                          <a:effectLst/>
                          <a:latin typeface="Times New Roman" panose="02020603050405020304" pitchFamily="18" charset="0"/>
                        </a:rPr>
                        <a:t>Data ​</a:t>
                      </a:r>
                      <a:endParaRPr lang="en-IN" b="1" i="0" dirty="0">
                        <a:solidFill>
                          <a:srgbClr val="FFFFFF"/>
                        </a:solidFill>
                        <a:effectLst/>
                      </a:endParaRPr>
                    </a:p>
                  </a:txBody>
                  <a:tcPr/>
                </a:tc>
                <a:tc>
                  <a:txBody>
                    <a:bodyPr/>
                    <a:lstStyle/>
                    <a:p>
                      <a:pPr algn="ctr" rtl="0" fontAlgn="base">
                        <a:lnSpc>
                          <a:spcPts val="1050"/>
                        </a:lnSpc>
                        <a:buNone/>
                      </a:pPr>
                      <a:r>
                        <a:rPr lang="en-IN" sz="1100" b="1" i="0">
                          <a:solidFill>
                            <a:srgbClr val="FFFFFF"/>
                          </a:solidFill>
                          <a:effectLst/>
                          <a:latin typeface="Times New Roman" panose="02020603050405020304" pitchFamily="18" charset="0"/>
                        </a:rPr>
                        <a:t>Clock​</a:t>
                      </a:r>
                      <a:endParaRPr lang="en-IN" b="1" i="0">
                        <a:solidFill>
                          <a:srgbClr val="FFFFFF"/>
                        </a:solidFill>
                        <a:effectLst/>
                      </a:endParaRPr>
                    </a:p>
                  </a:txBody>
                  <a:tcPr/>
                </a:tc>
                <a:extLst>
                  <a:ext uri="{0D108BD9-81ED-4DB2-BD59-A6C34878D82A}">
                    <a16:rowId xmlns:a16="http://schemas.microsoft.com/office/drawing/2014/main" val="3643984355"/>
                  </a:ext>
                </a:extLst>
              </a:tr>
              <a:tr h="362607">
                <a:tc>
                  <a:txBody>
                    <a:bodyPr/>
                    <a:lstStyle/>
                    <a:p>
                      <a:pPr algn="ctr" rtl="0" fontAlgn="base">
                        <a:lnSpc>
                          <a:spcPts val="1050"/>
                        </a:lnSpc>
                        <a:buNone/>
                      </a:pPr>
                      <a:r>
                        <a:rPr lang="en-IN" sz="1100" b="0" i="0" dirty="0">
                          <a:solidFill>
                            <a:srgbClr val="000000"/>
                          </a:solidFill>
                          <a:effectLst/>
                          <a:latin typeface="Times New Roman" panose="02020603050405020304" pitchFamily="18" charset="0"/>
                        </a:rPr>
                        <a:t>DATASB​</a:t>
                      </a:r>
                      <a:endParaRPr lang="en-IN" b="0" i="0" dirty="0">
                        <a:solidFill>
                          <a:srgbClr val="000000"/>
                        </a:solidFill>
                        <a:effectLst/>
                      </a:endParaRPr>
                    </a:p>
                  </a:txBody>
                  <a:tcPr/>
                </a:tc>
                <a:tc>
                  <a:txBody>
                    <a:bodyPr/>
                    <a:lstStyle/>
                    <a:p>
                      <a:pPr algn="ctr" rtl="0" fontAlgn="base">
                        <a:lnSpc>
                          <a:spcPts val="1050"/>
                        </a:lnSpc>
                        <a:buNone/>
                      </a:pPr>
                      <a:r>
                        <a:rPr lang="en-IN" sz="1100" b="0" i="0" dirty="0">
                          <a:solidFill>
                            <a:srgbClr val="000000"/>
                          </a:solidFill>
                          <a:effectLst/>
                          <a:latin typeface="Times New Roman" panose="02020603050405020304" pitchFamily="18" charset="0"/>
                        </a:rPr>
                        <a:t>CKSB​</a:t>
                      </a:r>
                      <a:endParaRPr lang="en-IN" b="0" i="0" dirty="0">
                        <a:solidFill>
                          <a:srgbClr val="000000"/>
                        </a:solidFill>
                        <a:effectLst/>
                      </a:endParaRPr>
                    </a:p>
                  </a:txBody>
                  <a:tcPr/>
                </a:tc>
                <a:extLst>
                  <a:ext uri="{0D108BD9-81ED-4DB2-BD59-A6C34878D82A}">
                    <a16:rowId xmlns:a16="http://schemas.microsoft.com/office/drawing/2014/main" val="2987992067"/>
                  </a:ext>
                </a:extLst>
              </a:tr>
            </a:tbl>
          </a:graphicData>
        </a:graphic>
      </p:graphicFrame>
    </p:spTree>
    <p:extLst>
      <p:ext uri="{BB962C8B-B14F-4D97-AF65-F5344CB8AC3E}">
        <p14:creationId xmlns:p14="http://schemas.microsoft.com/office/powerpoint/2010/main" val="4102183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BD76B-BED6-DAB1-C0DA-46898A14B3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447A88-C1A4-6698-0F8D-FDF2B9685C40}"/>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0" indent="0" fontAlgn="base">
              <a:buNone/>
            </a:pPr>
            <a:r>
              <a:rPr lang="en-US" sz="2400" dirty="0">
                <a:latin typeface="Calibri" panose="020F0502020204030204" pitchFamily="34" charset="0"/>
                <a:ea typeface="Calibri" panose="020F0502020204030204" pitchFamily="34" charset="0"/>
                <a:cs typeface="Calibri" panose="020F0502020204030204" pitchFamily="34" charset="0"/>
              </a:rPr>
              <a:t>3.Detection is successful when 2 times 64 UI patterns are detected. </a:t>
            </a:r>
            <a:r>
              <a:rPr lang="en-US" sz="2400" dirty="0" err="1">
                <a:latin typeface="Calibri" panose="020F0502020204030204" pitchFamily="34" charset="0"/>
                <a:ea typeface="Calibri" panose="020F0502020204030204" pitchFamily="34" charset="0"/>
                <a:cs typeface="Calibri" panose="020F0502020204030204" pitchFamily="34" charset="0"/>
              </a:rPr>
              <a:t>ie</a:t>
            </a:r>
            <a:r>
              <a:rPr lang="en-US" sz="2400" dirty="0">
                <a:latin typeface="Calibri" panose="020F0502020204030204" pitchFamily="34" charset="0"/>
                <a:ea typeface="Calibri" panose="020F0502020204030204" pitchFamily="34" charset="0"/>
                <a:cs typeface="Calibri" panose="020F0502020204030204" pitchFamily="34" charset="0"/>
              </a:rPr>
              <a:t>. 128 pattern by Die1 Rx.​</a:t>
            </a:r>
          </a:p>
          <a:p>
            <a:pPr marL="0" indent="0" fontAlgn="base">
              <a:buNone/>
            </a:pPr>
            <a:r>
              <a:rPr lang="en-US" sz="2400" dirty="0">
                <a:latin typeface="Calibri" panose="020F0502020204030204" pitchFamily="34" charset="0"/>
                <a:ea typeface="Calibri" panose="020F0502020204030204" pitchFamily="34" charset="0"/>
                <a:cs typeface="Calibri" panose="020F0502020204030204" pitchFamily="34" charset="0"/>
              </a:rPr>
              <a:t>4.​If detection is successful Die1 RX tells Die0 TX send 4 more pattern burst then stop.​</a:t>
            </a:r>
          </a:p>
          <a:p>
            <a:pPr fontAlgn="base"/>
            <a:r>
              <a:rPr lang="en-US" sz="2400" dirty="0">
                <a:latin typeface="Calibri" panose="020F0502020204030204" pitchFamily="34" charset="0"/>
                <a:ea typeface="Calibri" panose="020F0502020204030204" pitchFamily="34" charset="0"/>
                <a:cs typeface="Calibri" panose="020F0502020204030204" pitchFamily="34" charset="0"/>
              </a:rPr>
              <a:t>Die1 Transmitter:​</a:t>
            </a:r>
          </a:p>
          <a:p>
            <a:pPr fontAlgn="base"/>
            <a:r>
              <a:rPr lang="en-US" sz="2400" dirty="0">
                <a:latin typeface="Calibri" panose="020F0502020204030204" pitchFamily="34" charset="0"/>
                <a:ea typeface="Calibri" panose="020F0502020204030204" pitchFamily="34" charset="0"/>
                <a:cs typeface="Calibri" panose="020F0502020204030204" pitchFamily="34" charset="0"/>
              </a:rPr>
              <a:t>Sends 4 more pattern bursts​</a:t>
            </a:r>
          </a:p>
          <a:p>
            <a:pPr fontAlgn="base"/>
            <a:r>
              <a:rPr lang="en-US" sz="2400" dirty="0">
                <a:latin typeface="Calibri" panose="020F0502020204030204" pitchFamily="34" charset="0"/>
                <a:ea typeface="Calibri" panose="020F0502020204030204" pitchFamily="34" charset="0"/>
                <a:cs typeface="Calibri" panose="020F0502020204030204" pitchFamily="34" charset="0"/>
              </a:rPr>
              <a:t>Then stops​</a:t>
            </a:r>
          </a:p>
          <a:p>
            <a:pPr fontAlgn="base"/>
            <a:r>
              <a:rPr lang="en-US" sz="2400" dirty="0">
                <a:latin typeface="Calibri" panose="020F0502020204030204" pitchFamily="34" charset="0"/>
                <a:ea typeface="Calibri" panose="020F0502020204030204" pitchFamily="34" charset="0"/>
                <a:cs typeface="Calibri" panose="020F0502020204030204" pitchFamily="34" charset="0"/>
              </a:rPr>
              <a:t>This extra delay ensures </a:t>
            </a:r>
            <a:r>
              <a:rPr lang="en-US" sz="2400" b="1" dirty="0">
                <a:latin typeface="Calibri" panose="020F0502020204030204" pitchFamily="34" charset="0"/>
                <a:ea typeface="Calibri" panose="020F0502020204030204" pitchFamily="34" charset="0"/>
                <a:cs typeface="Calibri" panose="020F0502020204030204" pitchFamily="34" charset="0"/>
              </a:rPr>
              <a:t>both sides are fully out of reset then both Die can communicate through sidebands</a:t>
            </a:r>
            <a:r>
              <a:rPr lang="en-US" sz="2400" dirty="0">
                <a:latin typeface="Calibri" panose="020F0502020204030204" pitchFamily="34" charset="0"/>
                <a:ea typeface="Calibri" panose="020F0502020204030204" pitchFamily="34" charset="0"/>
                <a:cs typeface="Calibri" panose="020F0502020204030204" pitchFamily="34" charset="0"/>
              </a:rPr>
              <a:t>.​</a:t>
            </a:r>
          </a:p>
        </p:txBody>
      </p:sp>
      <p:sp>
        <p:nvSpPr>
          <p:cNvPr id="5" name="Title 1">
            <a:extLst>
              <a:ext uri="{FF2B5EF4-FFF2-40B4-BE49-F238E27FC236}">
                <a16:creationId xmlns:a16="http://schemas.microsoft.com/office/drawing/2014/main" id="{8D6BBF06-D6CC-6FFE-E97F-21B0FA97BDB3}"/>
              </a:ext>
            </a:extLst>
          </p:cNvPr>
          <p:cNvSpPr>
            <a:spLocks noGrp="1"/>
          </p:cNvSpPr>
          <p:nvPr>
            <p:ph type="title"/>
          </p:nvPr>
        </p:nvSpPr>
        <p:spPr>
          <a:xfrm>
            <a:off x="1" y="0"/>
            <a:ext cx="12192000" cy="871180"/>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SBINIT Standard Package(Contd..)</a:t>
            </a:r>
          </a:p>
        </p:txBody>
      </p:sp>
    </p:spTree>
    <p:extLst>
      <p:ext uri="{BB962C8B-B14F-4D97-AF65-F5344CB8AC3E}">
        <p14:creationId xmlns:p14="http://schemas.microsoft.com/office/powerpoint/2010/main" val="3671773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A10F3-990D-F03E-521D-372780061B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D65508-8176-1629-1B01-27533C79EC9A}"/>
              </a:ext>
            </a:extLst>
          </p:cNvPr>
          <p:cNvSpPr>
            <a:spLocks noGrp="1"/>
          </p:cNvSpPr>
          <p:nvPr>
            <p:ph idx="1"/>
          </p:nvPr>
        </p:nvSpPr>
        <p:spPr>
          <a:xfrm>
            <a:off x="521898" y="1143001"/>
            <a:ext cx="10515600" cy="3460530"/>
          </a:xfrm>
        </p:spPr>
        <p:txBody>
          <a:bodyPr vert="horz" lIns="91440" tIns="45720" rIns="91440" bIns="45720" rtlCol="0" anchor="t">
            <a:normAutofit/>
          </a:bodyPr>
          <a:lstStyle/>
          <a:p>
            <a:pPr marL="0" indent="0" fontAlgn="base">
              <a:buNone/>
            </a:pPr>
            <a:r>
              <a:rPr lang="en-US" sz="2400" dirty="0">
                <a:latin typeface="Calibri" panose="020F0502020204030204" pitchFamily="34" charset="0"/>
                <a:ea typeface="Calibri" panose="020F0502020204030204" pitchFamily="34" charset="0"/>
                <a:cs typeface="Calibri" panose="020F0502020204030204" pitchFamily="34" charset="0"/>
              </a:rPr>
              <a:t>5.If pattern is not detected by Die1 Rx, Die0 TX sends​</a:t>
            </a:r>
          </a:p>
          <a:p>
            <a:pPr fontAlgn="base"/>
            <a:r>
              <a:rPr lang="en-US" sz="2400" dirty="0">
                <a:latin typeface="Calibri" panose="020F0502020204030204" pitchFamily="34" charset="0"/>
                <a:ea typeface="Calibri" panose="020F0502020204030204" pitchFamily="34" charset="0"/>
                <a:cs typeface="Calibri" panose="020F0502020204030204" pitchFamily="34" charset="0"/>
              </a:rPr>
              <a:t> (1 </a:t>
            </a:r>
            <a:r>
              <a:rPr lang="en-US" sz="2400" dirty="0" err="1">
                <a:latin typeface="Calibri" panose="020F0502020204030204" pitchFamily="34" charset="0"/>
                <a:ea typeface="Calibri" panose="020F0502020204030204" pitchFamily="34" charset="0"/>
                <a:cs typeface="Calibri" panose="020F0502020204030204" pitchFamily="34" charset="0"/>
              </a:rPr>
              <a:t>ms</a:t>
            </a:r>
            <a:r>
              <a:rPr lang="en-US" sz="2400" dirty="0">
                <a:latin typeface="Calibri" panose="020F0502020204030204" pitchFamily="34" charset="0"/>
                <a:ea typeface="Calibri" panose="020F0502020204030204" pitchFamily="34" charset="0"/>
                <a:cs typeface="Calibri" panose="020F0502020204030204" pitchFamily="34" charset="0"/>
              </a:rPr>
              <a:t> duration pattern + 1 </a:t>
            </a:r>
            <a:r>
              <a:rPr lang="en-US" sz="2400" dirty="0" err="1">
                <a:latin typeface="Calibri" panose="020F0502020204030204" pitchFamily="34" charset="0"/>
                <a:ea typeface="Calibri" panose="020F0502020204030204" pitchFamily="34" charset="0"/>
                <a:cs typeface="Calibri" panose="020F0502020204030204" pitchFamily="34" charset="0"/>
              </a:rPr>
              <a:t>ms</a:t>
            </a:r>
            <a:r>
              <a:rPr lang="en-US" sz="2400" dirty="0">
                <a:latin typeface="Calibri" panose="020F0502020204030204" pitchFamily="34" charset="0"/>
                <a:ea typeface="Calibri" panose="020F0502020204030204" pitchFamily="34" charset="0"/>
                <a:cs typeface="Calibri" panose="020F0502020204030204" pitchFamily="34" charset="0"/>
              </a:rPr>
              <a:t> zeros) for 8 </a:t>
            </a:r>
            <a:r>
              <a:rPr lang="en-US" sz="2400" dirty="0" err="1">
                <a:latin typeface="Calibri" panose="020F0502020204030204" pitchFamily="34" charset="0"/>
                <a:ea typeface="Calibri" panose="020F0502020204030204" pitchFamily="34" charset="0"/>
                <a:cs typeface="Calibri" panose="020F0502020204030204" pitchFamily="34" charset="0"/>
              </a:rPr>
              <a:t>ms</a:t>
            </a:r>
            <a:r>
              <a:rPr lang="en-US" sz="2400" dirty="0">
                <a:latin typeface="Calibri" panose="020F0502020204030204" pitchFamily="34" charset="0"/>
                <a:ea typeface="Calibri" panose="020F0502020204030204" pitchFamily="34" charset="0"/>
                <a:cs typeface="Calibri" panose="020F0502020204030204" pitchFamily="34" charset="0"/>
              </a:rPr>
              <a:t> duration.​</a:t>
            </a:r>
          </a:p>
          <a:p>
            <a:pPr fontAlgn="base"/>
            <a:r>
              <a:rPr lang="en-US" sz="2400" dirty="0">
                <a:latin typeface="Calibri" panose="020F0502020204030204" pitchFamily="34" charset="0"/>
                <a:ea typeface="Calibri" panose="020F0502020204030204" pitchFamily="34" charset="0"/>
                <a:cs typeface="Calibri" panose="020F0502020204030204" pitchFamily="34" charset="0"/>
              </a:rPr>
              <a:t>​</a:t>
            </a:r>
            <a:r>
              <a:rPr lang="en-IN" sz="2400" dirty="0">
                <a:latin typeface="Calibri" panose="020F0502020204030204" pitchFamily="34" charset="0"/>
                <a:ea typeface="Calibri" panose="020F0502020204030204" pitchFamily="34" charset="0"/>
                <a:cs typeface="Calibri" panose="020F0502020204030204" pitchFamily="34" charset="0"/>
              </a:rPr>
              <a:t> After 8 </a:t>
            </a:r>
            <a:r>
              <a:rPr lang="en-IN" sz="2400" dirty="0" err="1">
                <a:latin typeface="Calibri" panose="020F0502020204030204" pitchFamily="34" charset="0"/>
                <a:ea typeface="Calibri" panose="020F0502020204030204" pitchFamily="34" charset="0"/>
                <a:cs typeface="Calibri" panose="020F0502020204030204" pitchFamily="34" charset="0"/>
              </a:rPr>
              <a:t>ms</a:t>
            </a:r>
            <a:r>
              <a:rPr lang="en-IN" sz="2400" dirty="0">
                <a:latin typeface="Calibri" panose="020F0502020204030204" pitchFamily="34" charset="0"/>
                <a:ea typeface="Calibri" panose="020F0502020204030204" pitchFamily="34" charset="0"/>
                <a:cs typeface="Calibri" panose="020F0502020204030204" pitchFamily="34" charset="0"/>
              </a:rPr>
              <a:t>, timeout error happens “TRAINERROR”.</a:t>
            </a:r>
          </a:p>
          <a:p>
            <a:pPr marL="0" indent="0" fontAlgn="base">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fontAlgn="base">
              <a:buNone/>
            </a:pPr>
            <a:r>
              <a:rPr lang="en-US" sz="2400" dirty="0">
                <a:latin typeface="Calibri" panose="020F0502020204030204" pitchFamily="34" charset="0"/>
                <a:ea typeface="Calibri" panose="020F0502020204030204" pitchFamily="34" charset="0"/>
                <a:cs typeface="Calibri" panose="020F0502020204030204" pitchFamily="34" charset="0"/>
              </a:rPr>
              <a:t>6 to 8 :​</a:t>
            </a:r>
          </a:p>
          <a:p>
            <a:pPr marL="0" indent="0" fontAlgn="base">
              <a:buNone/>
            </a:pPr>
            <a:r>
              <a:rPr lang="en-US" sz="2400" dirty="0">
                <a:latin typeface="Calibri" panose="020F0502020204030204" pitchFamily="34" charset="0"/>
                <a:ea typeface="Calibri" panose="020F0502020204030204" pitchFamily="34" charset="0"/>
                <a:cs typeface="Calibri" panose="020F0502020204030204" pitchFamily="34" charset="0"/>
              </a:rPr>
              <a:t>​</a:t>
            </a:r>
          </a:p>
        </p:txBody>
      </p:sp>
      <p:sp>
        <p:nvSpPr>
          <p:cNvPr id="5" name="Title 1">
            <a:extLst>
              <a:ext uri="{FF2B5EF4-FFF2-40B4-BE49-F238E27FC236}">
                <a16:creationId xmlns:a16="http://schemas.microsoft.com/office/drawing/2014/main" id="{01EEB9C2-E542-5456-01E8-553A1B486817}"/>
              </a:ext>
            </a:extLst>
          </p:cNvPr>
          <p:cNvSpPr>
            <a:spLocks noGrp="1"/>
          </p:cNvSpPr>
          <p:nvPr>
            <p:ph type="title"/>
          </p:nvPr>
        </p:nvSpPr>
        <p:spPr>
          <a:xfrm>
            <a:off x="0" y="1"/>
            <a:ext cx="12192000" cy="871180"/>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SBINIT Standard Package(Contd..)</a:t>
            </a:r>
          </a:p>
        </p:txBody>
      </p:sp>
      <p:pic>
        <p:nvPicPr>
          <p:cNvPr id="1026" name="Picture 2">
            <a:extLst>
              <a:ext uri="{FF2B5EF4-FFF2-40B4-BE49-F238E27FC236}">
                <a16:creationId xmlns:a16="http://schemas.microsoft.com/office/drawing/2014/main" id="{631BCD6E-CC67-6D8A-221B-C3FADBA8DD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4638" y="2838651"/>
            <a:ext cx="2563046" cy="35297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D8B935D-08CD-D720-70D5-80093171F7D2}"/>
              </a:ext>
            </a:extLst>
          </p:cNvPr>
          <p:cNvSpPr txBox="1"/>
          <p:nvPr/>
        </p:nvSpPr>
        <p:spPr>
          <a:xfrm>
            <a:off x="3048658" y="3429000"/>
            <a:ext cx="4298074" cy="1200329"/>
          </a:xfrm>
          <a:prstGeom prst="rect">
            <a:avLst/>
          </a:prstGeom>
          <a:noFill/>
        </p:spPr>
        <p:txBody>
          <a:bodyPr wrap="square">
            <a:sp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Module sends continuous sideband message on both TXDATASB w.r.t for 8 </a:t>
            </a:r>
            <a:r>
              <a:rPr lang="en-US" sz="1800" dirty="0" err="1">
                <a:latin typeface="Calibri" panose="020F0502020204030204" pitchFamily="34" charset="0"/>
                <a:ea typeface="Calibri" panose="020F0502020204030204" pitchFamily="34" charset="0"/>
                <a:cs typeface="Calibri" panose="020F0502020204030204" pitchFamily="34" charset="0"/>
              </a:rPr>
              <a:t>ms</a:t>
            </a:r>
            <a:r>
              <a:rPr lang="en-US" sz="1800" dirty="0">
                <a:latin typeface="Calibri" panose="020F0502020204030204" pitchFamily="34" charset="0"/>
                <a:ea typeface="Calibri" panose="020F0502020204030204" pitchFamily="34" charset="0"/>
                <a:cs typeface="Calibri" panose="020F0502020204030204" pitchFamily="34" charset="0"/>
              </a:rPr>
              <a:t>, if no response from partner timeout occurs TRAINERROR </a:t>
            </a:r>
            <a:endParaRPr lang="en-IN" dirty="0"/>
          </a:p>
        </p:txBody>
      </p:sp>
    </p:spTree>
    <p:extLst>
      <p:ext uri="{BB962C8B-B14F-4D97-AF65-F5344CB8AC3E}">
        <p14:creationId xmlns:p14="http://schemas.microsoft.com/office/powerpoint/2010/main" val="2810420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E6C8B-C980-2F8D-2546-2D74F33B67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46DEE2-57DD-9690-EC96-9D37E0EAB71C}"/>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457200" indent="-457200">
              <a:buFont typeface="Wingdings"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In this state, the </a:t>
            </a:r>
            <a:r>
              <a:rPr lang="en-US" sz="2400" dirty="0" err="1">
                <a:latin typeface="Calibri" panose="020F0502020204030204" pitchFamily="34" charset="0"/>
                <a:ea typeface="Calibri" panose="020F0502020204030204" pitchFamily="34" charset="0"/>
                <a:cs typeface="Calibri" panose="020F0502020204030204" pitchFamily="34" charset="0"/>
              </a:rPr>
              <a:t>mainband</a:t>
            </a:r>
            <a:r>
              <a:rPr lang="en-US" sz="2400" dirty="0">
                <a:latin typeface="Calibri" panose="020F0502020204030204" pitchFamily="34" charset="0"/>
                <a:ea typeface="Calibri" panose="020F0502020204030204" pitchFamily="34" charset="0"/>
                <a:cs typeface="Calibri" panose="020F0502020204030204" pitchFamily="34" charset="0"/>
              </a:rPr>
              <a:t> (MB) interface is initialized and repaired or width degraded (when applicable). </a:t>
            </a:r>
          </a:p>
          <a:p>
            <a:pPr marL="457200" indent="-457200">
              <a:buFont typeface="Wingdings"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The data rate on the </a:t>
            </a:r>
            <a:r>
              <a:rPr lang="en-US" sz="2400" dirty="0" err="1">
                <a:latin typeface="Calibri" panose="020F0502020204030204" pitchFamily="34" charset="0"/>
                <a:ea typeface="Calibri" panose="020F0502020204030204" pitchFamily="34" charset="0"/>
                <a:cs typeface="Calibri" panose="020F0502020204030204" pitchFamily="34" charset="0"/>
              </a:rPr>
              <a:t>mainband</a:t>
            </a:r>
            <a:r>
              <a:rPr lang="en-US" sz="2400" dirty="0">
                <a:latin typeface="Calibri" panose="020F0502020204030204" pitchFamily="34" charset="0"/>
                <a:ea typeface="Calibri" panose="020F0502020204030204" pitchFamily="34" charset="0"/>
                <a:cs typeface="Calibri" panose="020F0502020204030204" pitchFamily="34" charset="0"/>
              </a:rPr>
              <a:t> is set to the lowest supported data rate (4 GT/s). </a:t>
            </a:r>
          </a:p>
          <a:p>
            <a:pPr marL="457200" indent="-457200">
              <a:buFont typeface="Wingdings"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For Advanced Package interconnect repair may be needed. Sub-states in MBINIT allows detection and repair of data, clock, track and valid Lanes.</a:t>
            </a:r>
          </a:p>
          <a:p>
            <a:pPr marL="457200" indent="-457200">
              <a:buFont typeface="Wingdings"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 For Standard Package, where no Lane repair is needed, sub-states are used to check functionality at lowest data rate and width degrade if needed</a:t>
            </a:r>
          </a:p>
        </p:txBody>
      </p:sp>
      <p:sp>
        <p:nvSpPr>
          <p:cNvPr id="5" name="Title 1">
            <a:extLst>
              <a:ext uri="{FF2B5EF4-FFF2-40B4-BE49-F238E27FC236}">
                <a16:creationId xmlns:a16="http://schemas.microsoft.com/office/drawing/2014/main" id="{946D5165-85D4-696E-93D5-0AF48C947429}"/>
              </a:ext>
            </a:extLst>
          </p:cNvPr>
          <p:cNvSpPr>
            <a:spLocks noGrp="1"/>
          </p:cNvSpPr>
          <p:nvPr>
            <p:ph type="title"/>
          </p:nvPr>
        </p:nvSpPr>
        <p:spPr>
          <a:xfrm>
            <a:off x="0" y="1"/>
            <a:ext cx="12192000" cy="871180"/>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MBINIT</a:t>
            </a:r>
          </a:p>
        </p:txBody>
      </p:sp>
    </p:spTree>
    <p:extLst>
      <p:ext uri="{BB962C8B-B14F-4D97-AF65-F5344CB8AC3E}">
        <p14:creationId xmlns:p14="http://schemas.microsoft.com/office/powerpoint/2010/main" val="485635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diagram of a repair process&#10;&#10;AI-generated content may be incorrect.">
            <a:extLst>
              <a:ext uri="{FF2B5EF4-FFF2-40B4-BE49-F238E27FC236}">
                <a16:creationId xmlns:a16="http://schemas.microsoft.com/office/drawing/2014/main" id="{2E505F28-B0FD-60AA-3E68-B0756944CD05}"/>
              </a:ext>
            </a:extLst>
          </p:cNvPr>
          <p:cNvPicPr>
            <a:picLocks noGrp="1" noChangeAspect="1"/>
          </p:cNvPicPr>
          <p:nvPr>
            <p:ph idx="1"/>
          </p:nvPr>
        </p:nvPicPr>
        <p:blipFill>
          <a:blip r:embed="rId2"/>
          <a:stretch>
            <a:fillRect/>
          </a:stretch>
        </p:blipFill>
        <p:spPr>
          <a:xfrm>
            <a:off x="643467" y="1760185"/>
            <a:ext cx="10515600" cy="2670352"/>
          </a:xfrm>
          <a:prstGeom prst="rect">
            <a:avLst/>
          </a:prstGeom>
        </p:spPr>
      </p:pic>
      <p:sp>
        <p:nvSpPr>
          <p:cNvPr id="3" name="Title 1">
            <a:extLst>
              <a:ext uri="{FF2B5EF4-FFF2-40B4-BE49-F238E27FC236}">
                <a16:creationId xmlns:a16="http://schemas.microsoft.com/office/drawing/2014/main" id="{3005EE0C-95CB-80DC-9A3A-74D8311331DE}"/>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   Main band Initialization and Repair Flow</a:t>
            </a:r>
          </a:p>
        </p:txBody>
      </p:sp>
    </p:spTree>
    <p:extLst>
      <p:ext uri="{BB962C8B-B14F-4D97-AF65-F5344CB8AC3E}">
        <p14:creationId xmlns:p14="http://schemas.microsoft.com/office/powerpoint/2010/main" val="1283864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AB5553-9463-0EA6-5952-C2E095958C34}"/>
              </a:ext>
            </a:extLst>
          </p:cNvPr>
          <p:cNvSpPr>
            <a:spLocks noGrp="1"/>
          </p:cNvSpPr>
          <p:nvPr>
            <p:ph idx="1"/>
          </p:nvPr>
        </p:nvSpPr>
        <p:spPr/>
        <p:txBody>
          <a:bodyPr vert="horz" lIns="91440" tIns="45720" rIns="91440" bIns="45720" rtlCol="0" anchor="t">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This state is used to perform exchange of parameters that are required to set up the maximum negotiated speed and other PHY settings.</a:t>
            </a:r>
          </a:p>
          <a:p>
            <a:r>
              <a:rPr lang="en-US" sz="2400" dirty="0">
                <a:latin typeface="Calibri" panose="020F0502020204030204" pitchFamily="34" charset="0"/>
                <a:ea typeface="Calibri" panose="020F0502020204030204" pitchFamily="34" charset="0"/>
                <a:cs typeface="Calibri" panose="020F0502020204030204" pitchFamily="34" charset="0"/>
              </a:rPr>
              <a:t>The following parameters are exchanged over sideband with UCIe Module Partner: </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1.Voltage swing</a:t>
            </a:r>
            <a:r>
              <a:rPr lang="en-US" sz="2400" dirty="0">
                <a:latin typeface="Calibri" panose="020F0502020204030204" pitchFamily="34" charset="0"/>
                <a:ea typeface="Calibri" panose="020F0502020204030204" pitchFamily="34" charset="0"/>
                <a:cs typeface="Calibri" panose="020F0502020204030204" pitchFamily="34" charset="0"/>
              </a:rPr>
              <a:t>: The five bit value indicates the Transmitter voltage swing to the UCIe Module Partner. </a:t>
            </a:r>
          </a:p>
          <a:p>
            <a:r>
              <a:rPr lang="en-US" sz="2400" dirty="0">
                <a:latin typeface="Calibri" panose="020F0502020204030204" pitchFamily="34" charset="0"/>
                <a:ea typeface="Calibri" panose="020F0502020204030204" pitchFamily="34" charset="0"/>
                <a:cs typeface="Calibri" panose="020F0502020204030204" pitchFamily="34" charset="0"/>
              </a:rPr>
              <a:t>The UCIe Module Partner must use this value and its Receiver termination information to set the reference voltage (</a:t>
            </a:r>
            <a:r>
              <a:rPr lang="en-US" sz="2400" dirty="0" err="1">
                <a:latin typeface="Calibri" panose="020F0502020204030204" pitchFamily="34" charset="0"/>
                <a:ea typeface="Calibri" panose="020F0502020204030204" pitchFamily="34" charset="0"/>
                <a:cs typeface="Calibri" panose="020F0502020204030204" pitchFamily="34" charset="0"/>
              </a:rPr>
              <a:t>Vref</a:t>
            </a:r>
            <a:r>
              <a:rPr lang="en-US" sz="2400" dirty="0">
                <a:latin typeface="Calibri" panose="020F0502020204030204" pitchFamily="34" charset="0"/>
                <a:ea typeface="Calibri" panose="020F0502020204030204" pitchFamily="34" charset="0"/>
                <a:cs typeface="Calibri" panose="020F0502020204030204" pitchFamily="34" charset="0"/>
              </a:rPr>
              <a:t>) for its Receivers. </a:t>
            </a:r>
          </a:p>
          <a:p>
            <a:r>
              <a:rPr lang="en-US" sz="2400" dirty="0">
                <a:latin typeface="Calibri" panose="020F0502020204030204" pitchFamily="34" charset="0"/>
                <a:ea typeface="Calibri" panose="020F0502020204030204" pitchFamily="34" charset="0"/>
                <a:cs typeface="Calibri" panose="020F0502020204030204" pitchFamily="34" charset="0"/>
              </a:rPr>
              <a:t>The corresponding bits in {MBINIT.PARAM configuration resp} are reserved.</a:t>
            </a:r>
          </a:p>
        </p:txBody>
      </p:sp>
      <p:sp>
        <p:nvSpPr>
          <p:cNvPr id="4" name="Title 1">
            <a:extLst>
              <a:ext uri="{FF2B5EF4-FFF2-40B4-BE49-F238E27FC236}">
                <a16:creationId xmlns:a16="http://schemas.microsoft.com/office/drawing/2014/main" id="{9A2F09D6-7F22-94DC-2D33-8E71CB2C9492}"/>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MBINIT.PARAM</a:t>
            </a:r>
          </a:p>
        </p:txBody>
      </p:sp>
    </p:spTree>
    <p:extLst>
      <p:ext uri="{BB962C8B-B14F-4D97-AF65-F5344CB8AC3E}">
        <p14:creationId xmlns:p14="http://schemas.microsoft.com/office/powerpoint/2010/main" val="1816173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C0E6E-4AC3-1EB4-781B-9A6932A11432}"/>
              </a:ext>
            </a:extLst>
          </p:cNvPr>
          <p:cNvSpPr>
            <a:spLocks noGrp="1"/>
          </p:cNvSpPr>
          <p:nvPr>
            <p:ph type="title"/>
          </p:nvPr>
        </p:nvSpPr>
        <p:spPr/>
        <p:txBody>
          <a:bodyPr>
            <a:normAutofit fontScale="90000"/>
          </a:bodyPr>
          <a:lstStyle/>
          <a:p>
            <a:br>
              <a:rPr lang="en-IN" dirty="0"/>
            </a:br>
            <a:br>
              <a:rPr lang="en-IN" dirty="0"/>
            </a:br>
            <a:br>
              <a:rPr lang="en-IN" dirty="0"/>
            </a:br>
            <a:br>
              <a:rPr lang="en-IN" dirty="0"/>
            </a:br>
            <a:endParaRPr lang="en-IN" dirty="0"/>
          </a:p>
        </p:txBody>
      </p:sp>
      <p:pic>
        <p:nvPicPr>
          <p:cNvPr id="11" name="Content Placeholder 10">
            <a:extLst>
              <a:ext uri="{FF2B5EF4-FFF2-40B4-BE49-F238E27FC236}">
                <a16:creationId xmlns:a16="http://schemas.microsoft.com/office/drawing/2014/main" id="{CB4E1AE7-336F-11F6-6822-491D584059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6733" y="1397093"/>
            <a:ext cx="10515600" cy="3180729"/>
          </a:xfrm>
          <a:prstGeom prst="rect">
            <a:avLst/>
          </a:prstGeom>
        </p:spPr>
      </p:pic>
      <p:sp>
        <p:nvSpPr>
          <p:cNvPr id="3" name="Title 1">
            <a:extLst>
              <a:ext uri="{FF2B5EF4-FFF2-40B4-BE49-F238E27FC236}">
                <a16:creationId xmlns:a16="http://schemas.microsoft.com/office/drawing/2014/main" id="{DFEF001E-5026-BD75-339D-7DB4C2B8F0DA}"/>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MBINIT.PARAM(Contd..)</a:t>
            </a:r>
          </a:p>
        </p:txBody>
      </p:sp>
    </p:spTree>
    <p:extLst>
      <p:ext uri="{BB962C8B-B14F-4D97-AF65-F5344CB8AC3E}">
        <p14:creationId xmlns:p14="http://schemas.microsoft.com/office/powerpoint/2010/main" val="2135962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A3F7F-5375-1D73-D034-9220087B947F}"/>
              </a:ext>
            </a:extLst>
          </p:cNvPr>
          <p:cNvSpPr>
            <a:spLocks noGrp="1"/>
          </p:cNvSpPr>
          <p:nvPr>
            <p:ph type="title"/>
          </p:nvPr>
        </p:nvSpPr>
        <p:spPr/>
        <p:txBody>
          <a:bodyPr>
            <a:normAutofit fontScale="90000"/>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a:p>
        </p:txBody>
      </p:sp>
      <p:sp>
        <p:nvSpPr>
          <p:cNvPr id="3" name="Content Placeholder 2">
            <a:extLst>
              <a:ext uri="{FF2B5EF4-FFF2-40B4-BE49-F238E27FC236}">
                <a16:creationId xmlns:a16="http://schemas.microsoft.com/office/drawing/2014/main" id="{B05B03FC-E955-790B-F78D-D2646CBB612D}"/>
              </a:ext>
            </a:extLst>
          </p:cNvPr>
          <p:cNvSpPr>
            <a:spLocks noGrp="1"/>
          </p:cNvSpPr>
          <p:nvPr>
            <p:ph idx="1"/>
          </p:nvPr>
        </p:nvSpPr>
        <p:spPr>
          <a:xfrm>
            <a:off x="838200" y="216959"/>
            <a:ext cx="10515600" cy="6402152"/>
          </a:xfrm>
        </p:spPr>
        <p:txBody>
          <a:bodyPr vert="horz" lIns="91440" tIns="45720" rIns="91440" bIns="45720" rtlCol="0" anchor="t">
            <a:noAutofit/>
          </a:bodyPr>
          <a:lstStyle/>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2.</a:t>
            </a:r>
            <a:r>
              <a:rPr lang="en-US" sz="2400" b="1" dirty="0">
                <a:latin typeface="Calibri" panose="020F0502020204030204" pitchFamily="34" charset="0"/>
                <a:ea typeface="Calibri" panose="020F0502020204030204" pitchFamily="34" charset="0"/>
                <a:cs typeface="Calibri" panose="020F0502020204030204" pitchFamily="34" charset="0"/>
              </a:rPr>
              <a:t>Maximum Data Rate</a:t>
            </a:r>
            <a:r>
              <a:rPr lang="en-US" sz="2400"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The four bit value indicates the Maximum supported Data rate to the UCIe Module Partner.</a:t>
            </a:r>
          </a:p>
          <a:p>
            <a:r>
              <a:rPr lang="en-US" sz="2400" dirty="0">
                <a:latin typeface="Calibri" panose="020F0502020204030204" pitchFamily="34" charset="0"/>
                <a:ea typeface="Calibri" panose="020F0502020204030204" pitchFamily="34" charset="0"/>
                <a:cs typeface="Calibri" panose="020F0502020204030204" pitchFamily="34" charset="0"/>
              </a:rPr>
              <a:t>The UCIe Module Partner must compare this value with its supported maximum data rate and must respond with the maximum common data rate encoding in {MBINIT.PARAM configuration resp}.</a:t>
            </a: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3.</a:t>
            </a:r>
            <a:r>
              <a:rPr lang="en-US" sz="2400" b="1" dirty="0">
                <a:latin typeface="Calibri" panose="020F0502020204030204" pitchFamily="34" charset="0"/>
                <a:ea typeface="Calibri" panose="020F0502020204030204" pitchFamily="34" charset="0"/>
                <a:cs typeface="Calibri" panose="020F0502020204030204" pitchFamily="34" charset="0"/>
              </a:rPr>
              <a:t>Clock Mode:</a:t>
            </a:r>
          </a:p>
          <a:p>
            <a:pPr>
              <a:buFont typeface="Arial"/>
              <a:buChar char="•"/>
            </a:pPr>
            <a:r>
              <a:rPr lang="en-US" sz="2400" dirty="0">
                <a:latin typeface="Calibri" panose="020F0502020204030204" pitchFamily="34" charset="0"/>
                <a:ea typeface="Calibri" panose="020F0502020204030204" pitchFamily="34" charset="0"/>
                <a:cs typeface="Calibri" panose="020F0502020204030204" pitchFamily="34" charset="0"/>
              </a:rPr>
              <a:t>Clock Mode bit tells the UCIe Module Partner whether a strobe clock or a continuous clock is requested.</a:t>
            </a:r>
          </a:p>
          <a:p>
            <a:pPr>
              <a:buFont typeface="Arial"/>
              <a:buChar char="•"/>
            </a:pPr>
            <a:r>
              <a:rPr lang="en-US" sz="2400" dirty="0">
                <a:latin typeface="Calibri" panose="020F0502020204030204" pitchFamily="34" charset="0"/>
                <a:ea typeface="Calibri" panose="020F0502020204030204" pitchFamily="34" charset="0"/>
                <a:cs typeface="Calibri" panose="020F0502020204030204" pitchFamily="34" charset="0"/>
              </a:rPr>
              <a:t>The Module Partner must configure its clock transmitter to match this requested mode.</a:t>
            </a:r>
          </a:p>
          <a:p>
            <a:pPr>
              <a:buFont typeface="Arial"/>
              <a:buChar char="•"/>
            </a:pPr>
            <a:r>
              <a:rPr lang="en-US" sz="2400" dirty="0">
                <a:latin typeface="Calibri" panose="020F0502020204030204" pitchFamily="34" charset="0"/>
                <a:ea typeface="Calibri" panose="020F0502020204030204" pitchFamily="34" charset="0"/>
                <a:cs typeface="Calibri" panose="020F0502020204030204" pitchFamily="34" charset="0"/>
              </a:rPr>
              <a:t>The MBINIT.PARAM configuration response must reflect the same value (continuous mode uses a free-running clock).</a:t>
            </a:r>
          </a:p>
        </p:txBody>
      </p:sp>
      <p:sp>
        <p:nvSpPr>
          <p:cNvPr id="4" name="Title 1">
            <a:extLst>
              <a:ext uri="{FF2B5EF4-FFF2-40B4-BE49-F238E27FC236}">
                <a16:creationId xmlns:a16="http://schemas.microsoft.com/office/drawing/2014/main" id="{018293A6-437A-A9A8-BDB5-127758236015}"/>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 MBINIT.PARAM (Contd..)</a:t>
            </a:r>
          </a:p>
        </p:txBody>
      </p:sp>
    </p:spTree>
    <p:extLst>
      <p:ext uri="{BB962C8B-B14F-4D97-AF65-F5344CB8AC3E}">
        <p14:creationId xmlns:p14="http://schemas.microsoft.com/office/powerpoint/2010/main" val="1728690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1794A-1E74-EF30-DED6-FBCA225DF9E6}"/>
              </a:ext>
            </a:extLst>
          </p:cNvPr>
          <p:cNvSpPr>
            <a:spLocks noGrp="1"/>
          </p:cNvSpPr>
          <p:nvPr>
            <p:ph type="title"/>
          </p:nvPr>
        </p:nvSpPr>
        <p:spPr/>
        <p:txBody>
          <a:bodyPr>
            <a:normAutofit fontScale="90000"/>
          </a:bodyPr>
          <a:lstStyle/>
          <a:p>
            <a:br>
              <a:rPr lang="en-US" dirty="0"/>
            </a:br>
            <a:br>
              <a:rPr lang="en-US" dirty="0"/>
            </a:br>
            <a:br>
              <a:rPr lang="en-US" dirty="0"/>
            </a:br>
            <a:br>
              <a:rPr lang="en-US" dirty="0"/>
            </a:br>
            <a:br>
              <a:rPr lang="en-US" dirty="0"/>
            </a:br>
            <a:br>
              <a:rPr lang="en-US" dirty="0"/>
            </a:br>
            <a:br>
              <a:rPr lang="en-US" dirty="0"/>
            </a:br>
            <a:endParaRPr lang="en-US"/>
          </a:p>
        </p:txBody>
      </p:sp>
      <p:sp>
        <p:nvSpPr>
          <p:cNvPr id="3" name="Content Placeholder 2">
            <a:extLst>
              <a:ext uri="{FF2B5EF4-FFF2-40B4-BE49-F238E27FC236}">
                <a16:creationId xmlns:a16="http://schemas.microsoft.com/office/drawing/2014/main" id="{EE9603C9-40E9-DC9C-74BE-D0DB08D540A3}"/>
              </a:ext>
            </a:extLst>
          </p:cNvPr>
          <p:cNvSpPr>
            <a:spLocks noGrp="1"/>
          </p:cNvSpPr>
          <p:nvPr>
            <p:ph idx="1"/>
          </p:nvPr>
        </p:nvSpPr>
        <p:spPr>
          <a:xfrm>
            <a:off x="778933" y="1312333"/>
            <a:ext cx="10574867" cy="4864630"/>
          </a:xfrm>
        </p:spPr>
        <p:txBody>
          <a:bodyPr vert="horz" lIns="91440" tIns="45720" rIns="91440" bIns="45720" rtlCol="0" anchor="t">
            <a:normAutofit fontScale="92500" lnSpcReduction="1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3.Clock Phase</a:t>
            </a:r>
            <a:r>
              <a:rPr lang="en-US" dirty="0">
                <a:latin typeface="Calibri" panose="020F0502020204030204" pitchFamily="34" charset="0"/>
                <a:ea typeface="Calibri" panose="020F0502020204030204" pitchFamily="34" charset="0"/>
                <a:cs typeface="Calibri" panose="020F0502020204030204" pitchFamily="34" charset="0"/>
              </a:rPr>
              <a:t>: </a:t>
            </a:r>
          </a:p>
          <a:p>
            <a:r>
              <a:rPr lang="en-US" dirty="0">
                <a:latin typeface="Calibri" panose="020F0502020204030204" pitchFamily="34" charset="0"/>
                <a:ea typeface="Calibri" panose="020F0502020204030204" pitchFamily="34" charset="0"/>
                <a:cs typeface="Calibri" panose="020F0502020204030204" pitchFamily="34" charset="0"/>
              </a:rPr>
              <a:t>The one bit value indicates the UCIe Module’s request to UCIe Module Partner for the Clock Phase support on UCIe Module’s forwarded clock. </a:t>
            </a:r>
          </a:p>
          <a:p>
            <a:r>
              <a:rPr lang="en-US" dirty="0">
                <a:latin typeface="Calibri" panose="020F0502020204030204" pitchFamily="34" charset="0"/>
                <a:ea typeface="Calibri" panose="020F0502020204030204" pitchFamily="34" charset="0"/>
                <a:cs typeface="Calibri" panose="020F0502020204030204" pitchFamily="34" charset="0"/>
              </a:rPr>
              <a:t>This should only be set 1b if the maximum data rate advertised is permitted to do so.</a:t>
            </a:r>
          </a:p>
          <a:p>
            <a:r>
              <a:rPr lang="en-US" dirty="0">
                <a:latin typeface="Calibri" panose="020F0502020204030204" pitchFamily="34" charset="0"/>
                <a:ea typeface="Calibri" panose="020F0502020204030204" pitchFamily="34" charset="0"/>
                <a:cs typeface="Calibri" panose="020F0502020204030204" pitchFamily="34" charset="0"/>
              </a:rPr>
              <a:t>The corresponding bit in {MBINIT.PARAM configuration resp} must be set to 1b if this was requested and the operational data rate allows it.</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4.Module ID</a:t>
            </a:r>
            <a:r>
              <a:rPr lang="en-US" dirty="0">
                <a:latin typeface="Calibri" panose="020F0502020204030204" pitchFamily="34" charset="0"/>
                <a:ea typeface="Calibri" panose="020F0502020204030204" pitchFamily="34" charset="0"/>
                <a:cs typeface="Calibri" panose="020F0502020204030204" pitchFamily="34" charset="0"/>
              </a:rPr>
              <a:t>: </a:t>
            </a:r>
          </a:p>
          <a:p>
            <a:r>
              <a:rPr lang="en-US" dirty="0">
                <a:latin typeface="Calibri" panose="020F0502020204030204" pitchFamily="34" charset="0"/>
                <a:ea typeface="Calibri" panose="020F0502020204030204" pitchFamily="34" charset="0"/>
                <a:cs typeface="Calibri" panose="020F0502020204030204" pitchFamily="34" charset="0"/>
              </a:rPr>
              <a:t>The UCIe Module sends its “Module ID”. </a:t>
            </a:r>
          </a:p>
          <a:p>
            <a:r>
              <a:rPr lang="en-US" dirty="0">
                <a:latin typeface="Calibri" panose="020F0502020204030204" pitchFamily="34" charset="0"/>
                <a:ea typeface="Calibri" panose="020F0502020204030204" pitchFamily="34" charset="0"/>
                <a:cs typeface="Calibri" panose="020F0502020204030204" pitchFamily="34" charset="0"/>
              </a:rPr>
              <a:t>This can be used by the UCIe Module Partner if in a multi-module configuration for Byte mapping, Module enable/disable information etc.</a:t>
            </a:r>
          </a:p>
          <a:p>
            <a:r>
              <a:rPr lang="en-US" dirty="0">
                <a:latin typeface="Calibri" panose="020F0502020204030204" pitchFamily="34" charset="0"/>
                <a:ea typeface="Calibri" panose="020F0502020204030204" pitchFamily="34" charset="0"/>
                <a:cs typeface="Calibri" panose="020F0502020204030204" pitchFamily="34" charset="0"/>
              </a:rPr>
              <a:t> The corresponding bits in {MBINIT.PARAM configuration resp} are reserved.</a:t>
            </a:r>
          </a:p>
        </p:txBody>
      </p:sp>
      <p:sp>
        <p:nvSpPr>
          <p:cNvPr id="4" name="Title 1">
            <a:extLst>
              <a:ext uri="{FF2B5EF4-FFF2-40B4-BE49-F238E27FC236}">
                <a16:creationId xmlns:a16="http://schemas.microsoft.com/office/drawing/2014/main" id="{18C5A821-E1E6-D0BB-0757-A3EB3CC0DAF1}"/>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MBINIT.PARAM (Contd..)</a:t>
            </a:r>
          </a:p>
        </p:txBody>
      </p:sp>
    </p:spTree>
    <p:extLst>
      <p:ext uri="{BB962C8B-B14F-4D97-AF65-F5344CB8AC3E}">
        <p14:creationId xmlns:p14="http://schemas.microsoft.com/office/powerpoint/2010/main" val="2378296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2B45C-1C8E-CAD6-F295-EADD1521B6F8}"/>
              </a:ext>
            </a:extLst>
          </p:cNvPr>
          <p:cNvSpPr>
            <a:spLocks noGrp="1"/>
          </p:cNvSpPr>
          <p:nvPr>
            <p:ph type="title"/>
          </p:nvPr>
        </p:nvSpPr>
        <p:spPr/>
        <p:txBody>
          <a:bodyPr>
            <a:normAutofit fontScale="90000"/>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C221FBCA-5254-0A62-B369-486658D80679}"/>
              </a:ext>
            </a:extLst>
          </p:cNvPr>
          <p:cNvSpPr>
            <a:spLocks noGrp="1"/>
          </p:cNvSpPr>
          <p:nvPr>
            <p:ph idx="1"/>
          </p:nvPr>
        </p:nvSpPr>
        <p:spPr>
          <a:xfrm>
            <a:off x="838200" y="1346200"/>
            <a:ext cx="10515600" cy="4830763"/>
          </a:xfrm>
        </p:spPr>
        <p:txBody>
          <a:bodyPr>
            <a:normAutofit/>
          </a:bodyPr>
          <a:lstStyle/>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              UCIe-A x32: </a:t>
            </a:r>
          </a:p>
          <a:p>
            <a:r>
              <a:rPr lang="en-US" sz="2400" dirty="0">
                <a:latin typeface="Calibri" panose="020F0502020204030204" pitchFamily="34" charset="0"/>
                <a:ea typeface="Calibri" panose="020F0502020204030204" pitchFamily="34" charset="0"/>
                <a:cs typeface="Calibri" panose="020F0502020204030204" pitchFamily="34" charset="0"/>
              </a:rPr>
              <a:t>This bit is set to 1b when APMW bit in DVSEC UCIe Link Capability register  is set to 1b (OR) ‘Force x32 width mode in x64 Module’ in the PHY Control register is set</a:t>
            </a:r>
          </a:p>
          <a:p>
            <a:r>
              <a:rPr lang="en-US" sz="2400" dirty="0">
                <a:latin typeface="Calibri" panose="020F0502020204030204" pitchFamily="34" charset="0"/>
                <a:ea typeface="Calibri" panose="020F0502020204030204" pitchFamily="34" charset="0"/>
                <a:cs typeface="Calibri" panose="020F0502020204030204" pitchFamily="34" charset="0"/>
              </a:rPr>
              <a:t> otherwise, the bit is set to 0b. </a:t>
            </a:r>
          </a:p>
          <a:p>
            <a:r>
              <a:rPr lang="en-US" sz="2400" dirty="0">
                <a:latin typeface="Calibri" panose="020F0502020204030204" pitchFamily="34" charset="0"/>
                <a:ea typeface="Calibri" panose="020F0502020204030204" pitchFamily="34" charset="0"/>
                <a:cs typeface="Calibri" panose="020F0502020204030204" pitchFamily="34" charset="0"/>
              </a:rPr>
              <a:t>If a x64 Advanced Package module supports width reduction to interoperate with a x32 Advanced Package Module, it uses this information from its link partner to condition the results during MBINIT.REVERSALMB. </a:t>
            </a:r>
          </a:p>
          <a:p>
            <a:r>
              <a:rPr lang="en-US" sz="2400" dirty="0">
                <a:latin typeface="Calibri" panose="020F0502020204030204" pitchFamily="34" charset="0"/>
                <a:ea typeface="Calibri" panose="020F0502020204030204" pitchFamily="34" charset="0"/>
                <a:cs typeface="Calibri" panose="020F0502020204030204" pitchFamily="34" charset="0"/>
              </a:rPr>
              <a:t>The corresponding bits in {MBINIT.PARAM configuration resp} are reserved</a:t>
            </a:r>
          </a:p>
        </p:txBody>
      </p:sp>
      <p:sp>
        <p:nvSpPr>
          <p:cNvPr id="4" name="Title 1">
            <a:extLst>
              <a:ext uri="{FF2B5EF4-FFF2-40B4-BE49-F238E27FC236}">
                <a16:creationId xmlns:a16="http://schemas.microsoft.com/office/drawing/2014/main" id="{7F7301AC-D5C4-AF1D-F6C2-3AB869C86B54}"/>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MBINIT.PARAM (Contd..)</a:t>
            </a:r>
          </a:p>
        </p:txBody>
      </p:sp>
    </p:spTree>
    <p:extLst>
      <p:ext uri="{BB962C8B-B14F-4D97-AF65-F5344CB8AC3E}">
        <p14:creationId xmlns:p14="http://schemas.microsoft.com/office/powerpoint/2010/main" val="1219690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C6F17-68B6-9809-5A23-6E2AD3DCB5CE}"/>
              </a:ext>
            </a:extLst>
          </p:cNvPr>
          <p:cNvSpPr>
            <a:spLocks noGrp="1"/>
          </p:cNvSpPr>
          <p:nvPr>
            <p:ph type="title"/>
          </p:nvPr>
        </p:nvSpPr>
        <p:spPr/>
        <p:txBody>
          <a:bodyPr>
            <a:normAutofit fontScale="90000"/>
          </a:bodyPr>
          <a:lstStyle/>
          <a:p>
            <a:br>
              <a:rPr lang="en-IN" dirty="0"/>
            </a:br>
            <a:br>
              <a:rPr lang="en-IN" dirty="0"/>
            </a:br>
            <a:br>
              <a:rPr lang="en-IN" dirty="0"/>
            </a:br>
            <a:br>
              <a:rPr lang="en-IN" dirty="0"/>
            </a:br>
            <a:endParaRPr lang="en-IN" dirty="0"/>
          </a:p>
        </p:txBody>
      </p:sp>
      <p:pic>
        <p:nvPicPr>
          <p:cNvPr id="2050" name="Picture 2">
            <a:extLst>
              <a:ext uri="{FF2B5EF4-FFF2-40B4-BE49-F238E27FC236}">
                <a16:creationId xmlns:a16="http://schemas.microsoft.com/office/drawing/2014/main" id="{7F735A84-340A-5149-6A43-91F6D0A2254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3694" y="1110664"/>
            <a:ext cx="6668078" cy="25300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BB1A80D6-AED1-1DEC-42B4-59296C9EB2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2041" y="4263970"/>
            <a:ext cx="8477250" cy="97155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62C6F67B-49AF-B49E-C987-3E24D7114992}"/>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MBINIT.PARAM (Contd..)</a:t>
            </a:r>
          </a:p>
        </p:txBody>
      </p:sp>
    </p:spTree>
    <p:extLst>
      <p:ext uri="{BB962C8B-B14F-4D97-AF65-F5344CB8AC3E}">
        <p14:creationId xmlns:p14="http://schemas.microsoft.com/office/powerpoint/2010/main" val="937911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6153C-A429-A0E1-3CC4-D50C457C80A9}"/>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7FBFFCB0-4ED2-1F4D-8F8C-B5B1160AB839}"/>
              </a:ext>
            </a:extLst>
          </p:cNvPr>
          <p:cNvCxnSpPr/>
          <p:nvPr/>
        </p:nvCxnSpPr>
        <p:spPr>
          <a:xfrm flipH="1">
            <a:off x="4387801" y="4667654"/>
            <a:ext cx="2974927" cy="2867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CF8BFE87-FAEF-627C-18B0-0895B98E7023}"/>
              </a:ext>
            </a:extLst>
          </p:cNvPr>
          <p:cNvSpPr>
            <a:spLocks noGrp="1"/>
          </p:cNvSpPr>
          <p:nvPr>
            <p:ph idx="1"/>
          </p:nvPr>
        </p:nvSpPr>
        <p:spPr>
          <a:xfrm>
            <a:off x="442729" y="-441703"/>
            <a:ext cx="10515600" cy="4351338"/>
          </a:xfrm>
        </p:spPr>
        <p:txBody>
          <a:bodyPr vert="horz" lIns="91440" tIns="45720" rIns="91440" bIns="45720" rtlCol="0" anchor="t">
            <a:normAutofit/>
          </a:bodyPr>
          <a:lstStyle/>
          <a:p>
            <a:pPr marL="0" indent="0">
              <a:buNone/>
            </a:pPr>
            <a:endParaRPr lang="en-US" dirty="0"/>
          </a:p>
          <a:p>
            <a:endParaRPr lang="en-US" dirty="0"/>
          </a:p>
        </p:txBody>
      </p:sp>
      <p:sp>
        <p:nvSpPr>
          <p:cNvPr id="5" name="Title 1">
            <a:extLst>
              <a:ext uri="{FF2B5EF4-FFF2-40B4-BE49-F238E27FC236}">
                <a16:creationId xmlns:a16="http://schemas.microsoft.com/office/drawing/2014/main" id="{6B241E00-6EDF-A7B8-E7A8-A8BE6A82643C}"/>
              </a:ext>
            </a:extLst>
          </p:cNvPr>
          <p:cNvSpPr>
            <a:spLocks noGrp="1"/>
          </p:cNvSpPr>
          <p:nvPr>
            <p:ph type="title"/>
          </p:nvPr>
        </p:nvSpPr>
        <p:spPr>
          <a:xfrm>
            <a:off x="0" y="1"/>
            <a:ext cx="12192000" cy="871180"/>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MBINIT.PARAM (Contd..)</a:t>
            </a:r>
          </a:p>
        </p:txBody>
      </p:sp>
      <p:cxnSp>
        <p:nvCxnSpPr>
          <p:cNvPr id="8" name="Straight Arrow Connector 7">
            <a:extLst>
              <a:ext uri="{FF2B5EF4-FFF2-40B4-BE49-F238E27FC236}">
                <a16:creationId xmlns:a16="http://schemas.microsoft.com/office/drawing/2014/main" id="{101DD1DA-87A8-1A96-6F1F-7B0093234DEA}"/>
              </a:ext>
            </a:extLst>
          </p:cNvPr>
          <p:cNvCxnSpPr/>
          <p:nvPr/>
        </p:nvCxnSpPr>
        <p:spPr>
          <a:xfrm flipH="1">
            <a:off x="4377304" y="2627188"/>
            <a:ext cx="24033" cy="2571573"/>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8F34C4C6-7F08-9001-FDFA-E3961D987F9F}"/>
              </a:ext>
            </a:extLst>
          </p:cNvPr>
          <p:cNvCxnSpPr/>
          <p:nvPr/>
        </p:nvCxnSpPr>
        <p:spPr>
          <a:xfrm>
            <a:off x="7385934" y="2629537"/>
            <a:ext cx="25447" cy="2584296"/>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25DCA3A-FE6A-3AE7-8873-2CA3FD588CF1}"/>
              </a:ext>
            </a:extLst>
          </p:cNvPr>
          <p:cNvSpPr txBox="1"/>
          <p:nvPr/>
        </p:nvSpPr>
        <p:spPr>
          <a:xfrm>
            <a:off x="3046025" y="2163220"/>
            <a:ext cx="42592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DIE 0 : UCIe Module</a:t>
            </a:r>
          </a:p>
        </p:txBody>
      </p:sp>
      <p:sp>
        <p:nvSpPr>
          <p:cNvPr id="12" name="TextBox 11">
            <a:extLst>
              <a:ext uri="{FF2B5EF4-FFF2-40B4-BE49-F238E27FC236}">
                <a16:creationId xmlns:a16="http://schemas.microsoft.com/office/drawing/2014/main" id="{1D630745-EDB3-E357-29DA-78710476C294}"/>
              </a:ext>
            </a:extLst>
          </p:cNvPr>
          <p:cNvSpPr txBox="1"/>
          <p:nvPr/>
        </p:nvSpPr>
        <p:spPr>
          <a:xfrm>
            <a:off x="6369063" y="2163245"/>
            <a:ext cx="47704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DIE 1 : UCIe Module Partner</a:t>
            </a:r>
          </a:p>
        </p:txBody>
      </p:sp>
      <p:cxnSp>
        <p:nvCxnSpPr>
          <p:cNvPr id="15" name="Straight Arrow Connector 14">
            <a:extLst>
              <a:ext uri="{FF2B5EF4-FFF2-40B4-BE49-F238E27FC236}">
                <a16:creationId xmlns:a16="http://schemas.microsoft.com/office/drawing/2014/main" id="{C2FA67E1-9909-109D-8063-F7E68E743FB5}"/>
              </a:ext>
            </a:extLst>
          </p:cNvPr>
          <p:cNvCxnSpPr/>
          <p:nvPr/>
        </p:nvCxnSpPr>
        <p:spPr>
          <a:xfrm>
            <a:off x="4385148" y="3473319"/>
            <a:ext cx="2970244" cy="3110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B63267C-C190-F6B6-6615-047986BAD597}"/>
              </a:ext>
            </a:extLst>
          </p:cNvPr>
          <p:cNvSpPr txBox="1"/>
          <p:nvPr/>
        </p:nvSpPr>
        <p:spPr>
          <a:xfrm rot="300000">
            <a:off x="4554028" y="3281631"/>
            <a:ext cx="2743200"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ea typeface="+mn-lt"/>
                <a:cs typeface="+mn-lt"/>
              </a:rPr>
              <a:t>{MBINIT.PARAM configuration req}</a:t>
            </a:r>
            <a:endParaRPr lang="en-US"/>
          </a:p>
        </p:txBody>
      </p:sp>
      <p:sp>
        <p:nvSpPr>
          <p:cNvPr id="20" name="TextBox 19">
            <a:extLst>
              <a:ext uri="{FF2B5EF4-FFF2-40B4-BE49-F238E27FC236}">
                <a16:creationId xmlns:a16="http://schemas.microsoft.com/office/drawing/2014/main" id="{6DCCB961-C9AF-B7A0-3D89-8FD81EE5B2C4}"/>
              </a:ext>
            </a:extLst>
          </p:cNvPr>
          <p:cNvSpPr txBox="1"/>
          <p:nvPr/>
        </p:nvSpPr>
        <p:spPr>
          <a:xfrm rot="21240000">
            <a:off x="4541164" y="4473666"/>
            <a:ext cx="275572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ea typeface="+mn-lt"/>
                <a:cs typeface="+mn-lt"/>
              </a:rPr>
              <a:t>{MBINIT.PARAM configuration resp} </a:t>
            </a:r>
            <a:endParaRPr lang="en-US">
              <a:ea typeface="+mn-lt"/>
              <a:cs typeface="+mn-lt"/>
            </a:endParaRPr>
          </a:p>
        </p:txBody>
      </p:sp>
      <p:sp>
        <p:nvSpPr>
          <p:cNvPr id="25" name="TextBox 24">
            <a:extLst>
              <a:ext uri="{FF2B5EF4-FFF2-40B4-BE49-F238E27FC236}">
                <a16:creationId xmlns:a16="http://schemas.microsoft.com/office/drawing/2014/main" id="{024FDC8D-5924-35EB-9549-C75C653DE08D}"/>
              </a:ext>
            </a:extLst>
          </p:cNvPr>
          <p:cNvSpPr txBox="1"/>
          <p:nvPr/>
        </p:nvSpPr>
        <p:spPr>
          <a:xfrm>
            <a:off x="584548" y="2936921"/>
            <a:ext cx="3773759" cy="3539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solidFill>
                  <a:schemeClr val="tx2">
                    <a:lumMod val="90000"/>
                    <a:lumOff val="10000"/>
                  </a:schemeClr>
                </a:solidFill>
              </a:rPr>
              <a:t>.</a:t>
            </a:r>
          </a:p>
        </p:txBody>
      </p:sp>
      <p:cxnSp>
        <p:nvCxnSpPr>
          <p:cNvPr id="11" name="Straight Arrow Connector 10">
            <a:extLst>
              <a:ext uri="{FF2B5EF4-FFF2-40B4-BE49-F238E27FC236}">
                <a16:creationId xmlns:a16="http://schemas.microsoft.com/office/drawing/2014/main" id="{46ACFE80-CA80-5F98-0C39-C0C6B7FE594B}"/>
              </a:ext>
            </a:extLst>
          </p:cNvPr>
          <p:cNvCxnSpPr/>
          <p:nvPr/>
        </p:nvCxnSpPr>
        <p:spPr>
          <a:xfrm>
            <a:off x="5915280" y="5331411"/>
            <a:ext cx="33648" cy="657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C25CF40-F5D1-CE56-4FDC-F4D71A604C82}"/>
              </a:ext>
            </a:extLst>
          </p:cNvPr>
          <p:cNvCxnSpPr>
            <a:cxnSpLocks/>
          </p:cNvCxnSpPr>
          <p:nvPr/>
        </p:nvCxnSpPr>
        <p:spPr>
          <a:xfrm>
            <a:off x="5905384" y="5331411"/>
            <a:ext cx="33648" cy="657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E340B95-5623-4BBE-2650-1CB1161FB591}"/>
              </a:ext>
            </a:extLst>
          </p:cNvPr>
          <p:cNvSpPr txBox="1"/>
          <p:nvPr/>
        </p:nvSpPr>
        <p:spPr>
          <a:xfrm>
            <a:off x="5268169" y="598906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MBINIT.CAL</a:t>
            </a:r>
          </a:p>
        </p:txBody>
      </p:sp>
    </p:spTree>
    <p:extLst>
      <p:ext uri="{BB962C8B-B14F-4D97-AF65-F5344CB8AC3E}">
        <p14:creationId xmlns:p14="http://schemas.microsoft.com/office/powerpoint/2010/main" val="1983729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EF35FB-2AAA-C57C-F988-73A524CD688B}"/>
              </a:ext>
            </a:extLst>
          </p:cNvPr>
          <p:cNvSpPr>
            <a:spLocks noGrp="1"/>
          </p:cNvSpPr>
          <p:nvPr>
            <p:ph idx="1"/>
          </p:nvPr>
        </p:nvSpPr>
        <p:spPr>
          <a:xfrm>
            <a:off x="863600" y="1413933"/>
            <a:ext cx="10490200" cy="4763030"/>
          </a:xfrm>
        </p:spPr>
        <p:txBody>
          <a:bodyPr vert="horz" lIns="91440" tIns="45720" rIns="91440" bIns="45720" rtlCol="0" anchor="t">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This state is used to perform any calibration needed </a:t>
            </a:r>
          </a:p>
          <a:p>
            <a:r>
              <a:rPr lang="en-US" sz="2400" dirty="0">
                <a:latin typeface="Calibri" panose="020F0502020204030204" pitchFamily="34" charset="0"/>
                <a:ea typeface="Calibri" panose="020F0502020204030204" pitchFamily="34" charset="0"/>
                <a:cs typeface="Calibri" panose="020F0502020204030204" pitchFamily="34" charset="0"/>
              </a:rPr>
              <a:t>    Tx Duty Cycle correction</a:t>
            </a:r>
          </a:p>
          <a:p>
            <a:r>
              <a:rPr lang="en-US" sz="2400" dirty="0">
                <a:latin typeface="Calibri" panose="020F0502020204030204" pitchFamily="34" charset="0"/>
                <a:ea typeface="Calibri" panose="020F0502020204030204" pitchFamily="34" charset="0"/>
                <a:cs typeface="Calibri" panose="020F0502020204030204" pitchFamily="34" charset="0"/>
              </a:rPr>
              <a:t>     Receiver offset </a:t>
            </a:r>
          </a:p>
          <a:p>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err="1">
                <a:latin typeface="Calibri" panose="020F0502020204030204" pitchFamily="34" charset="0"/>
                <a:ea typeface="Calibri" panose="020F0502020204030204" pitchFamily="34" charset="0"/>
                <a:cs typeface="Calibri" panose="020F0502020204030204" pitchFamily="34" charset="0"/>
              </a:rPr>
              <a:t>Vref</a:t>
            </a:r>
            <a:r>
              <a:rPr lang="en-US" sz="2400" dirty="0">
                <a:latin typeface="Calibri" panose="020F0502020204030204" pitchFamily="34" charset="0"/>
                <a:ea typeface="Calibri" panose="020F0502020204030204" pitchFamily="34" charset="0"/>
                <a:cs typeface="Calibri" panose="020F0502020204030204" pitchFamily="34" charset="0"/>
              </a:rPr>
              <a:t> calibration. </a:t>
            </a:r>
          </a:p>
          <a:p>
            <a:r>
              <a:rPr lang="en-US" sz="2400" dirty="0">
                <a:latin typeface="Calibri" panose="020F0502020204030204" pitchFamily="34" charset="0"/>
                <a:ea typeface="Calibri" panose="020F0502020204030204" pitchFamily="34" charset="0"/>
                <a:cs typeface="Calibri" panose="020F0502020204030204" pitchFamily="34" charset="0"/>
              </a:rPr>
              <a:t>This state is common for both Advanced Package and Standard Package</a:t>
            </a:r>
          </a:p>
          <a:p>
            <a:r>
              <a:rPr lang="en-US" sz="2400" dirty="0">
                <a:latin typeface="Calibri" panose="020F0502020204030204" pitchFamily="34" charset="0"/>
                <a:ea typeface="Calibri" panose="020F0502020204030204" pitchFamily="34" charset="0"/>
                <a:cs typeface="Calibri" panose="020F0502020204030204" pitchFamily="34" charset="0"/>
              </a:rPr>
              <a:t>The UCIe Module maintains tri-state on all its </a:t>
            </a:r>
            <a:r>
              <a:rPr lang="en-US" sz="2400" dirty="0" err="1">
                <a:latin typeface="Calibri" panose="020F0502020204030204" pitchFamily="34" charset="0"/>
                <a:ea typeface="Calibri" panose="020F0502020204030204" pitchFamily="34" charset="0"/>
                <a:cs typeface="Calibri" panose="020F0502020204030204" pitchFamily="34" charset="0"/>
              </a:rPr>
              <a:t>mainband</a:t>
            </a:r>
            <a:r>
              <a:rPr lang="en-US" sz="2400" dirty="0">
                <a:latin typeface="Calibri" panose="020F0502020204030204" pitchFamily="34" charset="0"/>
                <a:ea typeface="Calibri" panose="020F0502020204030204" pitchFamily="34" charset="0"/>
                <a:cs typeface="Calibri" panose="020F0502020204030204" pitchFamily="34" charset="0"/>
              </a:rPr>
              <a:t> Transmitters, and </a:t>
            </a:r>
            <a:r>
              <a:rPr lang="en-US" sz="2400" dirty="0" err="1">
                <a:latin typeface="Calibri" panose="020F0502020204030204" pitchFamily="34" charset="0"/>
                <a:ea typeface="Calibri" panose="020F0502020204030204" pitchFamily="34" charset="0"/>
                <a:cs typeface="Calibri" panose="020F0502020204030204" pitchFamily="34" charset="0"/>
              </a:rPr>
              <a:t>mainband</a:t>
            </a:r>
            <a:r>
              <a:rPr lang="en-US" sz="2400" dirty="0">
                <a:latin typeface="Calibri" panose="020F0502020204030204" pitchFamily="34" charset="0"/>
                <a:ea typeface="Calibri" panose="020F0502020204030204" pitchFamily="34" charset="0"/>
                <a:cs typeface="Calibri" panose="020F0502020204030204" pitchFamily="34" charset="0"/>
              </a:rPr>
              <a:t> Receivers are permitted to be disabled in this state. </a:t>
            </a: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7897CE8C-7589-EF3A-23A1-A94A4C437D8F}"/>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MBINIT.CAL</a:t>
            </a:r>
          </a:p>
        </p:txBody>
      </p:sp>
    </p:spTree>
    <p:extLst>
      <p:ext uri="{BB962C8B-B14F-4D97-AF65-F5344CB8AC3E}">
        <p14:creationId xmlns:p14="http://schemas.microsoft.com/office/powerpoint/2010/main" val="2683515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8785B7-52D4-23EE-6915-022B7587B438}"/>
              </a:ext>
            </a:extLst>
          </p:cNvPr>
          <p:cNvSpPr>
            <a:spLocks noGrp="1"/>
          </p:cNvSpPr>
          <p:nvPr>
            <p:ph idx="1"/>
          </p:nvPr>
        </p:nvSpPr>
        <p:spPr/>
        <p:txBody>
          <a:bodyPr vert="horz" lIns="91440" tIns="45720" rIns="91440" bIns="45720" rtlCol="0" anchor="t">
            <a:normAutofit/>
          </a:bodyPr>
          <a:lstStyle/>
          <a:p>
            <a:endParaRPr lang="en-US" dirty="0"/>
          </a:p>
          <a:p>
            <a:endParaRPr lang="en-US" dirty="0"/>
          </a:p>
          <a:p>
            <a:endParaRPr lang="en-US" dirty="0"/>
          </a:p>
        </p:txBody>
      </p:sp>
      <p:sp>
        <p:nvSpPr>
          <p:cNvPr id="5" name="Content Placeholder 2">
            <a:extLst>
              <a:ext uri="{FF2B5EF4-FFF2-40B4-BE49-F238E27FC236}">
                <a16:creationId xmlns:a16="http://schemas.microsoft.com/office/drawing/2014/main" id="{34C8A37A-906F-A385-1CD6-E35ED8513F1B}"/>
              </a:ext>
            </a:extLst>
          </p:cNvPr>
          <p:cNvSpPr txBox="1">
            <a:spLocks/>
          </p:cNvSpPr>
          <p:nvPr/>
        </p:nvSpPr>
        <p:spPr>
          <a:xfrm>
            <a:off x="990600" y="19780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a:p>
            <a:endParaRPr lang="en-US" dirty="0"/>
          </a:p>
          <a:p>
            <a:endParaRPr lang="en-US" dirty="0"/>
          </a:p>
        </p:txBody>
      </p:sp>
      <p:cxnSp>
        <p:nvCxnSpPr>
          <p:cNvPr id="7" name="Straight Arrow Connector 6">
            <a:extLst>
              <a:ext uri="{FF2B5EF4-FFF2-40B4-BE49-F238E27FC236}">
                <a16:creationId xmlns:a16="http://schemas.microsoft.com/office/drawing/2014/main" id="{0C0DE004-A17E-856E-0E9A-6BBA62FCFB79}"/>
              </a:ext>
            </a:extLst>
          </p:cNvPr>
          <p:cNvCxnSpPr/>
          <p:nvPr/>
        </p:nvCxnSpPr>
        <p:spPr>
          <a:xfrm flipH="1">
            <a:off x="4387801" y="4667654"/>
            <a:ext cx="2974927" cy="2867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7212D55E-6684-95C6-CD19-12CDFCA02239}"/>
              </a:ext>
            </a:extLst>
          </p:cNvPr>
          <p:cNvSpPr txBox="1">
            <a:spLocks/>
          </p:cNvSpPr>
          <p:nvPr/>
        </p:nvSpPr>
        <p:spPr>
          <a:xfrm>
            <a:off x="442729" y="-441703"/>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a:p>
            <a:endParaRPr lang="en-US"/>
          </a:p>
        </p:txBody>
      </p:sp>
      <p:cxnSp>
        <p:nvCxnSpPr>
          <p:cNvPr id="11" name="Straight Arrow Connector 10">
            <a:extLst>
              <a:ext uri="{FF2B5EF4-FFF2-40B4-BE49-F238E27FC236}">
                <a16:creationId xmlns:a16="http://schemas.microsoft.com/office/drawing/2014/main" id="{336B0FF4-083A-6F3D-FD34-F5ADC30354F5}"/>
              </a:ext>
            </a:extLst>
          </p:cNvPr>
          <p:cNvCxnSpPr/>
          <p:nvPr/>
        </p:nvCxnSpPr>
        <p:spPr>
          <a:xfrm flipH="1">
            <a:off x="4377304" y="2627188"/>
            <a:ext cx="24033" cy="2571573"/>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B95DA95-E47D-67EC-2B2E-C32306E749D1}"/>
              </a:ext>
            </a:extLst>
          </p:cNvPr>
          <p:cNvCxnSpPr/>
          <p:nvPr/>
        </p:nvCxnSpPr>
        <p:spPr>
          <a:xfrm>
            <a:off x="7385934" y="2629537"/>
            <a:ext cx="25447" cy="2584296"/>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B13DAE1-333D-B324-D7AB-6AC61E333017}"/>
              </a:ext>
            </a:extLst>
          </p:cNvPr>
          <p:cNvSpPr txBox="1"/>
          <p:nvPr/>
        </p:nvSpPr>
        <p:spPr>
          <a:xfrm>
            <a:off x="3046025" y="2163220"/>
            <a:ext cx="62159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DIE 0 : UCIe Module</a:t>
            </a:r>
          </a:p>
        </p:txBody>
      </p:sp>
      <p:sp>
        <p:nvSpPr>
          <p:cNvPr id="17" name="TextBox 16">
            <a:extLst>
              <a:ext uri="{FF2B5EF4-FFF2-40B4-BE49-F238E27FC236}">
                <a16:creationId xmlns:a16="http://schemas.microsoft.com/office/drawing/2014/main" id="{B990C8CB-AB2D-58A7-9F97-4FF3850BF632}"/>
              </a:ext>
            </a:extLst>
          </p:cNvPr>
          <p:cNvSpPr txBox="1"/>
          <p:nvPr/>
        </p:nvSpPr>
        <p:spPr>
          <a:xfrm>
            <a:off x="6369063" y="2163245"/>
            <a:ext cx="47704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DIE 1 : UCIe Module Partner</a:t>
            </a:r>
          </a:p>
        </p:txBody>
      </p:sp>
      <p:cxnSp>
        <p:nvCxnSpPr>
          <p:cNvPr id="19" name="Straight Arrow Connector 18">
            <a:extLst>
              <a:ext uri="{FF2B5EF4-FFF2-40B4-BE49-F238E27FC236}">
                <a16:creationId xmlns:a16="http://schemas.microsoft.com/office/drawing/2014/main" id="{4CE8104D-E97C-FFCA-9752-BACC83F742C9}"/>
              </a:ext>
            </a:extLst>
          </p:cNvPr>
          <p:cNvCxnSpPr/>
          <p:nvPr/>
        </p:nvCxnSpPr>
        <p:spPr>
          <a:xfrm>
            <a:off x="4385148" y="3473319"/>
            <a:ext cx="2970244" cy="3110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5EB4DF57-FFDA-8F1D-F1E9-CBC61CA01F47}"/>
              </a:ext>
            </a:extLst>
          </p:cNvPr>
          <p:cNvSpPr txBox="1"/>
          <p:nvPr/>
        </p:nvSpPr>
        <p:spPr>
          <a:xfrm rot="300000">
            <a:off x="5008942" y="3368431"/>
            <a:ext cx="2630311"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ea typeface="+mn-lt"/>
                <a:cs typeface="+mn-lt"/>
              </a:rPr>
              <a:t>{MBINIT.CAL Done req}</a:t>
            </a:r>
            <a:endParaRPr lang="en-US" dirty="0"/>
          </a:p>
        </p:txBody>
      </p:sp>
      <p:sp>
        <p:nvSpPr>
          <p:cNvPr id="23" name="TextBox 22">
            <a:extLst>
              <a:ext uri="{FF2B5EF4-FFF2-40B4-BE49-F238E27FC236}">
                <a16:creationId xmlns:a16="http://schemas.microsoft.com/office/drawing/2014/main" id="{F765CFD4-8C35-F5E1-6D2D-D56AE5F1228F}"/>
              </a:ext>
            </a:extLst>
          </p:cNvPr>
          <p:cNvSpPr txBox="1"/>
          <p:nvPr/>
        </p:nvSpPr>
        <p:spPr>
          <a:xfrm rot="21240000">
            <a:off x="4838426" y="4429865"/>
            <a:ext cx="2454689"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ea typeface="+mn-lt"/>
                <a:cs typeface="+mn-lt"/>
              </a:rPr>
              <a:t>{MBINIT.CAL Done resp} </a:t>
            </a:r>
            <a:endParaRPr lang="en-US" dirty="0">
              <a:ea typeface="+mn-lt"/>
              <a:cs typeface="+mn-lt"/>
            </a:endParaRPr>
          </a:p>
        </p:txBody>
      </p:sp>
      <p:cxnSp>
        <p:nvCxnSpPr>
          <p:cNvPr id="25" name="Straight Arrow Connector 24">
            <a:extLst>
              <a:ext uri="{FF2B5EF4-FFF2-40B4-BE49-F238E27FC236}">
                <a16:creationId xmlns:a16="http://schemas.microsoft.com/office/drawing/2014/main" id="{5D1A5991-343B-CDE0-B0EC-7E76498866CD}"/>
              </a:ext>
            </a:extLst>
          </p:cNvPr>
          <p:cNvCxnSpPr/>
          <p:nvPr/>
        </p:nvCxnSpPr>
        <p:spPr>
          <a:xfrm>
            <a:off x="5915280" y="5331411"/>
            <a:ext cx="33648" cy="657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B8311EF-65B4-7F7A-5362-625E733EDC27}"/>
              </a:ext>
            </a:extLst>
          </p:cNvPr>
          <p:cNvCxnSpPr>
            <a:cxnSpLocks/>
          </p:cNvCxnSpPr>
          <p:nvPr/>
        </p:nvCxnSpPr>
        <p:spPr>
          <a:xfrm>
            <a:off x="5905384" y="5331411"/>
            <a:ext cx="33648" cy="657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466E0AD8-03C3-7533-E7C7-A5F53857F171}"/>
              </a:ext>
            </a:extLst>
          </p:cNvPr>
          <p:cNvSpPr txBox="1"/>
          <p:nvPr/>
        </p:nvSpPr>
        <p:spPr>
          <a:xfrm>
            <a:off x="5268169" y="598906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MBINIT.REPAIR CLK</a:t>
            </a:r>
          </a:p>
        </p:txBody>
      </p:sp>
      <p:sp>
        <p:nvSpPr>
          <p:cNvPr id="12" name="Title 1">
            <a:extLst>
              <a:ext uri="{FF2B5EF4-FFF2-40B4-BE49-F238E27FC236}">
                <a16:creationId xmlns:a16="http://schemas.microsoft.com/office/drawing/2014/main" id="{3A1A7E87-78FF-9329-418E-18BBD93EEA5D}"/>
              </a:ext>
            </a:extLst>
          </p:cNvPr>
          <p:cNvSpPr txBox="1">
            <a:spLocks noGrp="1"/>
          </p:cNvSpPr>
          <p:nvPr>
            <p:ph type="title"/>
          </p:nvPr>
        </p:nvSpPr>
        <p:spPr>
          <a:xfrm>
            <a:off x="0" y="1"/>
            <a:ext cx="12191999" cy="884858"/>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 MBINIT.CAL (Contd..)</a:t>
            </a:r>
          </a:p>
        </p:txBody>
      </p:sp>
    </p:spTree>
    <p:extLst>
      <p:ext uri="{BB962C8B-B14F-4D97-AF65-F5344CB8AC3E}">
        <p14:creationId xmlns:p14="http://schemas.microsoft.com/office/powerpoint/2010/main" val="4083880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2B2ECB-17A2-1AA1-2037-CCFD7CDD9C7C}"/>
              </a:ext>
            </a:extLst>
          </p:cNvPr>
          <p:cNvSpPr>
            <a:spLocks noGrp="1"/>
          </p:cNvSpPr>
          <p:nvPr>
            <p:ph idx="1"/>
          </p:nvPr>
        </p:nvSpPr>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This sub-state is used to detect and apply repair  to clock and track Lanes for Advanced Package and for functional check of clock and track Lanes for Standard Package.</a:t>
            </a: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5C294DF6-A1A3-A6F5-898C-94207BD26371}"/>
              </a:ext>
            </a:extLst>
          </p:cNvPr>
          <p:cNvGraphicFramePr>
            <a:graphicFrameLocks noGrp="1"/>
          </p:cNvGraphicFramePr>
          <p:nvPr>
            <p:extLst>
              <p:ext uri="{D42A27DB-BD31-4B8C-83A1-F6EECF244321}">
                <p14:modId xmlns:p14="http://schemas.microsoft.com/office/powerpoint/2010/main" val="3895161876"/>
              </p:ext>
            </p:extLst>
          </p:nvPr>
        </p:nvGraphicFramePr>
        <p:xfrm>
          <a:off x="838200" y="3323862"/>
          <a:ext cx="10515600" cy="2590800"/>
        </p:xfrm>
        <a:graphic>
          <a:graphicData uri="http://schemas.openxmlformats.org/drawingml/2006/table">
            <a:tbl>
              <a:tblPr/>
              <a:tblGrid>
                <a:gridCol w="5257800">
                  <a:extLst>
                    <a:ext uri="{9D8B030D-6E8A-4147-A177-3AD203B41FA5}">
                      <a16:colId xmlns:a16="http://schemas.microsoft.com/office/drawing/2014/main" val="3214832269"/>
                    </a:ext>
                  </a:extLst>
                </a:gridCol>
                <a:gridCol w="5257800">
                  <a:extLst>
                    <a:ext uri="{9D8B030D-6E8A-4147-A177-3AD203B41FA5}">
                      <a16:colId xmlns:a16="http://schemas.microsoft.com/office/drawing/2014/main" val="3503195352"/>
                    </a:ext>
                  </a:extLst>
                </a:gridCol>
              </a:tblGrid>
              <a:tr h="497133">
                <a:tc>
                  <a:txBody>
                    <a:bodyPr/>
                    <a:lstStyle/>
                    <a:p>
                      <a:pPr rtl="0">
                        <a:buNone/>
                      </a:pPr>
                      <a:r>
                        <a:rPr lang="en-IN" b="1">
                          <a:solidFill>
                            <a:srgbClr val="1F1F1F"/>
                          </a:solidFill>
                          <a:effectLst/>
                          <a:latin typeface="Calibri" panose="020F0502020204030204" pitchFamily="34" charset="0"/>
                          <a:ea typeface="Calibri" panose="020F0502020204030204" pitchFamily="34" charset="0"/>
                          <a:cs typeface="Calibri" panose="020F0502020204030204" pitchFamily="34" charset="0"/>
                        </a:rPr>
                        <a:t>Signal Group</a:t>
                      </a:r>
                      <a:endParaRPr lang="en-IN">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Calibri" panose="020F0502020204030204" pitchFamily="34" charset="0"/>
                          <a:ea typeface="Calibri" panose="020F0502020204030204" pitchFamily="34" charset="0"/>
                          <a:cs typeface="Calibri" panose="020F0502020204030204" pitchFamily="34" charset="0"/>
                        </a:rPr>
                        <a:t>Full Form / Description</a:t>
                      </a:r>
                      <a:endParaRPr lang="en-IN">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74782422"/>
                  </a:ext>
                </a:extLst>
              </a:tr>
              <a:tr h="497133">
                <a:tc>
                  <a:txBody>
                    <a:bodyPr/>
                    <a:lstStyle/>
                    <a:p>
                      <a:pPr rtl="0">
                        <a:buNone/>
                      </a:pPr>
                      <a:r>
                        <a:rPr lang="en-IN" b="1">
                          <a:solidFill>
                            <a:srgbClr val="1F1F1F"/>
                          </a:solidFill>
                          <a:effectLst/>
                          <a:latin typeface="Calibri" panose="020F0502020204030204" pitchFamily="34" charset="0"/>
                          <a:ea typeface="Calibri" panose="020F0502020204030204" pitchFamily="34" charset="0"/>
                          <a:cs typeface="Calibri" panose="020F0502020204030204" pitchFamily="34" charset="0"/>
                        </a:rPr>
                        <a:t>TCKP_P / RCKP_P</a:t>
                      </a:r>
                      <a:endParaRPr lang="en-IN">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Calibri" panose="020F0502020204030204" pitchFamily="34" charset="0"/>
                          <a:ea typeface="Calibri" panose="020F0502020204030204" pitchFamily="34" charset="0"/>
                          <a:cs typeface="Calibri" panose="020F0502020204030204" pitchFamily="34" charset="0"/>
                        </a:rPr>
                        <a:t>T</a:t>
                      </a:r>
                      <a:r>
                        <a:rPr lang="en-US">
                          <a:solidFill>
                            <a:srgbClr val="1F1F1F"/>
                          </a:solidFill>
                          <a:effectLst/>
                          <a:latin typeface="Calibri" panose="020F0502020204030204" pitchFamily="34" charset="0"/>
                          <a:ea typeface="Calibri" panose="020F0502020204030204" pitchFamily="34" charset="0"/>
                          <a:cs typeface="Calibri" panose="020F0502020204030204" pitchFamily="34" charset="0"/>
                        </a:rPr>
                        <a:t>ransmit / </a:t>
                      </a:r>
                      <a:r>
                        <a:rPr lang="en-US" b="1">
                          <a:solidFill>
                            <a:srgbClr val="1F1F1F"/>
                          </a:solidFill>
                          <a:effectLst/>
                          <a:latin typeface="Calibri" panose="020F0502020204030204" pitchFamily="34" charset="0"/>
                          <a:ea typeface="Calibri" panose="020F0502020204030204" pitchFamily="34" charset="0"/>
                          <a:cs typeface="Calibri" panose="020F0502020204030204" pitchFamily="34" charset="0"/>
                        </a:rPr>
                        <a:t>R</a:t>
                      </a:r>
                      <a:r>
                        <a:rPr lang="en-US">
                          <a:solidFill>
                            <a:srgbClr val="1F1F1F"/>
                          </a:solidFill>
                          <a:effectLst/>
                          <a:latin typeface="Calibri" panose="020F0502020204030204" pitchFamily="34" charset="0"/>
                          <a:ea typeface="Calibri" panose="020F0502020204030204" pitchFamily="34" charset="0"/>
                          <a:cs typeface="Calibri" panose="020F0502020204030204" pitchFamily="34" charset="0"/>
                        </a:rPr>
                        <a:t>eceive </a:t>
                      </a:r>
                      <a:r>
                        <a:rPr lang="en-US" b="1">
                          <a:solidFill>
                            <a:srgbClr val="1F1F1F"/>
                          </a:solidFill>
                          <a:effectLst/>
                          <a:latin typeface="Calibri" panose="020F0502020204030204" pitchFamily="34" charset="0"/>
                          <a:ea typeface="Calibri" panose="020F0502020204030204" pitchFamily="34" charset="0"/>
                          <a:cs typeface="Calibri" panose="020F0502020204030204" pitchFamily="34" charset="0"/>
                        </a:rPr>
                        <a:t>C</a:t>
                      </a:r>
                      <a:r>
                        <a:rPr lang="en-US">
                          <a:solidFill>
                            <a:srgbClr val="1F1F1F"/>
                          </a:solidFill>
                          <a:effectLst/>
                          <a:latin typeface="Calibri" panose="020F0502020204030204" pitchFamily="34" charset="0"/>
                          <a:ea typeface="Calibri" panose="020F0502020204030204" pitchFamily="34" charset="0"/>
                          <a:cs typeface="Calibri" panose="020F0502020204030204" pitchFamily="34" charset="0"/>
                        </a:rPr>
                        <a:t>lock </a:t>
                      </a:r>
                      <a:r>
                        <a:rPr lang="en-US" b="1">
                          <a:solidFill>
                            <a:srgbClr val="1F1F1F"/>
                          </a:solidFill>
                          <a:effectLst/>
                          <a:latin typeface="Calibri" panose="020F0502020204030204" pitchFamily="34" charset="0"/>
                          <a:ea typeface="Calibri" panose="020F0502020204030204" pitchFamily="34" charset="0"/>
                          <a:cs typeface="Calibri" panose="020F0502020204030204" pitchFamily="34" charset="0"/>
                        </a:rPr>
                        <a:t>P</a:t>
                      </a:r>
                      <a:r>
                        <a:rPr lang="en-US">
                          <a:solidFill>
                            <a:srgbClr val="1F1F1F"/>
                          </a:solidFill>
                          <a:effectLst/>
                          <a:latin typeface="Calibri" panose="020F0502020204030204" pitchFamily="34" charset="0"/>
                          <a:ea typeface="Calibri" panose="020F0502020204030204" pitchFamily="34" charset="0"/>
                          <a:cs typeface="Calibri" panose="020F0502020204030204" pitchFamily="34" charset="0"/>
                        </a:rPr>
                        <a:t>ositive (</a:t>
                      </a:r>
                      <a:r>
                        <a:rPr lang="en-US" b="1">
                          <a:solidFill>
                            <a:srgbClr val="1F1F1F"/>
                          </a:solidFill>
                          <a:effectLst/>
                          <a:latin typeface="Calibri" panose="020F0502020204030204" pitchFamily="34" charset="0"/>
                          <a:ea typeface="Calibri" panose="020F0502020204030204" pitchFamily="34" charset="0"/>
                          <a:cs typeface="Calibri" panose="020F0502020204030204" pitchFamily="34" charset="0"/>
                        </a:rPr>
                        <a:t>P</a:t>
                      </a:r>
                      <a:r>
                        <a:rPr lang="en-US">
                          <a:solidFill>
                            <a:srgbClr val="1F1F1F"/>
                          </a:solidFill>
                          <a:effectLst/>
                          <a:latin typeface="Calibri" panose="020F0502020204030204" pitchFamily="34" charset="0"/>
                          <a:ea typeface="Calibri" panose="020F0502020204030204" pitchFamily="34" charset="0"/>
                          <a:cs typeface="Calibri" panose="020F0502020204030204" pitchFamily="34" charset="0"/>
                        </a:rPr>
                        <a:t>-side)</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79168643"/>
                  </a:ext>
                </a:extLst>
              </a:tr>
              <a:tr h="497133">
                <a:tc>
                  <a:txBody>
                    <a:bodyPr/>
                    <a:lstStyle/>
                    <a:p>
                      <a:pPr rtl="0">
                        <a:buNone/>
                      </a:pPr>
                      <a:r>
                        <a:rPr lang="en-IN" b="1">
                          <a:solidFill>
                            <a:srgbClr val="1F1F1F"/>
                          </a:solidFill>
                          <a:effectLst/>
                          <a:latin typeface="Calibri" panose="020F0502020204030204" pitchFamily="34" charset="0"/>
                          <a:ea typeface="Calibri" panose="020F0502020204030204" pitchFamily="34" charset="0"/>
                          <a:cs typeface="Calibri" panose="020F0502020204030204" pitchFamily="34" charset="0"/>
                        </a:rPr>
                        <a:t>TCKN_P / RCKN_P</a:t>
                      </a:r>
                      <a:endParaRPr lang="en-IN">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Calibri" panose="020F0502020204030204" pitchFamily="34" charset="0"/>
                          <a:ea typeface="Calibri" panose="020F0502020204030204" pitchFamily="34" charset="0"/>
                          <a:cs typeface="Calibri" panose="020F0502020204030204" pitchFamily="34" charset="0"/>
                        </a:rPr>
                        <a:t>T</a:t>
                      </a:r>
                      <a:r>
                        <a:rPr lang="en-US">
                          <a:solidFill>
                            <a:srgbClr val="1F1F1F"/>
                          </a:solidFill>
                          <a:effectLst/>
                          <a:latin typeface="Calibri" panose="020F0502020204030204" pitchFamily="34" charset="0"/>
                          <a:ea typeface="Calibri" panose="020F0502020204030204" pitchFamily="34" charset="0"/>
                          <a:cs typeface="Calibri" panose="020F0502020204030204" pitchFamily="34" charset="0"/>
                        </a:rPr>
                        <a:t>ransmit / </a:t>
                      </a:r>
                      <a:r>
                        <a:rPr lang="en-US" b="1">
                          <a:solidFill>
                            <a:srgbClr val="1F1F1F"/>
                          </a:solidFill>
                          <a:effectLst/>
                          <a:latin typeface="Calibri" panose="020F0502020204030204" pitchFamily="34" charset="0"/>
                          <a:ea typeface="Calibri" panose="020F0502020204030204" pitchFamily="34" charset="0"/>
                          <a:cs typeface="Calibri" panose="020F0502020204030204" pitchFamily="34" charset="0"/>
                        </a:rPr>
                        <a:t>R</a:t>
                      </a:r>
                      <a:r>
                        <a:rPr lang="en-US">
                          <a:solidFill>
                            <a:srgbClr val="1F1F1F"/>
                          </a:solidFill>
                          <a:effectLst/>
                          <a:latin typeface="Calibri" panose="020F0502020204030204" pitchFamily="34" charset="0"/>
                          <a:ea typeface="Calibri" panose="020F0502020204030204" pitchFamily="34" charset="0"/>
                          <a:cs typeface="Calibri" panose="020F0502020204030204" pitchFamily="34" charset="0"/>
                        </a:rPr>
                        <a:t>eceive </a:t>
                      </a:r>
                      <a:r>
                        <a:rPr lang="en-US" b="1">
                          <a:solidFill>
                            <a:srgbClr val="1F1F1F"/>
                          </a:solidFill>
                          <a:effectLst/>
                          <a:latin typeface="Calibri" panose="020F0502020204030204" pitchFamily="34" charset="0"/>
                          <a:ea typeface="Calibri" panose="020F0502020204030204" pitchFamily="34" charset="0"/>
                          <a:cs typeface="Calibri" panose="020F0502020204030204" pitchFamily="34" charset="0"/>
                        </a:rPr>
                        <a:t>C</a:t>
                      </a:r>
                      <a:r>
                        <a:rPr lang="en-US">
                          <a:solidFill>
                            <a:srgbClr val="1F1F1F"/>
                          </a:solidFill>
                          <a:effectLst/>
                          <a:latin typeface="Calibri" panose="020F0502020204030204" pitchFamily="34" charset="0"/>
                          <a:ea typeface="Calibri" panose="020F0502020204030204" pitchFamily="34" charset="0"/>
                          <a:cs typeface="Calibri" panose="020F0502020204030204" pitchFamily="34" charset="0"/>
                        </a:rPr>
                        <a:t>lock </a:t>
                      </a:r>
                      <a:r>
                        <a:rPr lang="en-US" b="1">
                          <a:solidFill>
                            <a:srgbClr val="1F1F1F"/>
                          </a:solidFill>
                          <a:effectLst/>
                          <a:latin typeface="Calibri" panose="020F0502020204030204" pitchFamily="34" charset="0"/>
                          <a:ea typeface="Calibri" panose="020F0502020204030204" pitchFamily="34" charset="0"/>
                          <a:cs typeface="Calibri" panose="020F0502020204030204" pitchFamily="34" charset="0"/>
                        </a:rPr>
                        <a:t>N</a:t>
                      </a:r>
                      <a:r>
                        <a:rPr lang="en-US">
                          <a:solidFill>
                            <a:srgbClr val="1F1F1F"/>
                          </a:solidFill>
                          <a:effectLst/>
                          <a:latin typeface="Calibri" panose="020F0502020204030204" pitchFamily="34" charset="0"/>
                          <a:ea typeface="Calibri" panose="020F0502020204030204" pitchFamily="34" charset="0"/>
                          <a:cs typeface="Calibri" panose="020F0502020204030204" pitchFamily="34" charset="0"/>
                        </a:rPr>
                        <a:t>egative (</a:t>
                      </a:r>
                      <a:r>
                        <a:rPr lang="en-US" b="1">
                          <a:solidFill>
                            <a:srgbClr val="1F1F1F"/>
                          </a:solidFill>
                          <a:effectLst/>
                          <a:latin typeface="Calibri" panose="020F0502020204030204" pitchFamily="34" charset="0"/>
                          <a:ea typeface="Calibri" panose="020F0502020204030204" pitchFamily="34" charset="0"/>
                          <a:cs typeface="Calibri" panose="020F0502020204030204" pitchFamily="34" charset="0"/>
                        </a:rPr>
                        <a:t>P</a:t>
                      </a:r>
                      <a:r>
                        <a:rPr lang="en-US">
                          <a:solidFill>
                            <a:srgbClr val="1F1F1F"/>
                          </a:solidFill>
                          <a:effectLst/>
                          <a:latin typeface="Calibri" panose="020F0502020204030204" pitchFamily="34" charset="0"/>
                          <a:ea typeface="Calibri" panose="020F0502020204030204" pitchFamily="34" charset="0"/>
                          <a:cs typeface="Calibri" panose="020F0502020204030204" pitchFamily="34" charset="0"/>
                        </a:rPr>
                        <a:t>-side)</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96202552"/>
                  </a:ext>
                </a:extLst>
              </a:tr>
              <a:tr h="497133">
                <a:tc>
                  <a:txBody>
                    <a:bodyPr/>
                    <a:lstStyle/>
                    <a:p>
                      <a:pPr rtl="0">
                        <a:buNone/>
                      </a:pPr>
                      <a:r>
                        <a:rPr lang="en-IN" b="1">
                          <a:solidFill>
                            <a:srgbClr val="1F1F1F"/>
                          </a:solidFill>
                          <a:effectLst/>
                          <a:latin typeface="Calibri" panose="020F0502020204030204" pitchFamily="34" charset="0"/>
                          <a:ea typeface="Calibri" panose="020F0502020204030204" pitchFamily="34" charset="0"/>
                          <a:cs typeface="Calibri" panose="020F0502020204030204" pitchFamily="34" charset="0"/>
                        </a:rPr>
                        <a:t>TTRK_P / RTRK_P</a:t>
                      </a:r>
                      <a:endParaRPr lang="en-IN">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a:t>
                      </a:r>
                      <a:r>
                        <a:rPr lang="en-IN"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ransmit / </a:t>
                      </a:r>
                      <a:r>
                        <a:rPr lang="en-IN" b="1"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R</a:t>
                      </a:r>
                      <a:r>
                        <a:rPr lang="en-IN"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eceive </a:t>
                      </a:r>
                      <a:r>
                        <a:rPr lang="en-IN" b="1"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TR</a:t>
                      </a:r>
                      <a:r>
                        <a:rPr lang="en-IN"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ac</a:t>
                      </a:r>
                      <a:r>
                        <a:rPr lang="en-IN" b="1"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K</a:t>
                      </a:r>
                      <a:r>
                        <a:rPr lang="en-IN"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ing</a:t>
                      </a:r>
                      <a:r>
                        <a:rPr lang="en-IN"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Signal</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04489316"/>
                  </a:ext>
                </a:extLst>
              </a:tr>
              <a:tr h="497133">
                <a:tc>
                  <a:txBody>
                    <a:bodyPr/>
                    <a:lstStyle/>
                    <a:p>
                      <a:pPr rtl="0">
                        <a:buNone/>
                      </a:pPr>
                      <a:r>
                        <a:rPr lang="en-IN" b="1">
                          <a:solidFill>
                            <a:srgbClr val="1F1F1F"/>
                          </a:solidFill>
                          <a:effectLst/>
                          <a:latin typeface="Calibri" panose="020F0502020204030204" pitchFamily="34" charset="0"/>
                          <a:ea typeface="Calibri" panose="020F0502020204030204" pitchFamily="34" charset="0"/>
                          <a:cs typeface="Calibri" panose="020F0502020204030204" pitchFamily="34" charset="0"/>
                        </a:rPr>
                        <a:t>TRDCK_P / RRDCK_P</a:t>
                      </a:r>
                      <a:endParaRPr lang="en-IN">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a:t>
                      </a:r>
                      <a:r>
                        <a:rPr lang="en-IN"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ransmit / </a:t>
                      </a:r>
                      <a:r>
                        <a:rPr lang="en-IN" b="1"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R</a:t>
                      </a:r>
                      <a:r>
                        <a:rPr lang="en-IN"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eceive </a:t>
                      </a:r>
                      <a:r>
                        <a:rPr lang="en-IN" b="1"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R</a:t>
                      </a:r>
                      <a:r>
                        <a:rPr lang="en-IN"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e</a:t>
                      </a:r>
                      <a:r>
                        <a:rPr lang="en-IN" b="1"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D</a:t>
                      </a:r>
                      <a:r>
                        <a:rPr lang="en-IN"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undant</a:t>
                      </a:r>
                      <a:r>
                        <a:rPr lang="en-IN"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IN" b="1"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a:t>
                      </a:r>
                      <a:r>
                        <a:rPr lang="en-IN"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loc</a:t>
                      </a:r>
                      <a:r>
                        <a:rPr lang="en-IN" b="1"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K</a:t>
                      </a:r>
                      <a:endParaRPr lang="en-IN"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73139769"/>
                  </a:ext>
                </a:extLst>
              </a:tr>
            </a:tbl>
          </a:graphicData>
        </a:graphic>
      </p:graphicFrame>
      <p:sp>
        <p:nvSpPr>
          <p:cNvPr id="5" name="Title 1">
            <a:extLst>
              <a:ext uri="{FF2B5EF4-FFF2-40B4-BE49-F238E27FC236}">
                <a16:creationId xmlns:a16="http://schemas.microsoft.com/office/drawing/2014/main" id="{9DB616E6-EEDB-3FE5-77B1-7011FC887A3D}"/>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 </a:t>
            </a:r>
            <a:r>
              <a:rPr lang="en-IN" sz="2800" dirty="0">
                <a:latin typeface="Calibri" panose="020F0502020204030204" pitchFamily="34" charset="0"/>
                <a:ea typeface="Calibri" panose="020F0502020204030204" pitchFamily="34" charset="0"/>
                <a:cs typeface="Calibri" panose="020F0502020204030204" pitchFamily="34" charset="0"/>
              </a:rPr>
              <a:t>MBINIT.REPAIRCLK</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17842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8DD13-8ACA-4C2B-66B9-9674B1EB6CDC}"/>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4BE4960B-7749-3D79-53D5-4E52BE561E51}"/>
              </a:ext>
            </a:extLst>
          </p:cNvPr>
          <p:cNvCxnSpPr/>
          <p:nvPr/>
        </p:nvCxnSpPr>
        <p:spPr>
          <a:xfrm flipH="1">
            <a:off x="4358113" y="2154044"/>
            <a:ext cx="2935343" cy="3263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401CCB4D-7617-36DA-8AF7-E5F1E5A528AD}"/>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p:txBody>
      </p:sp>
      <p:sp>
        <p:nvSpPr>
          <p:cNvPr id="5" name="Title 1">
            <a:extLst>
              <a:ext uri="{FF2B5EF4-FFF2-40B4-BE49-F238E27FC236}">
                <a16:creationId xmlns:a16="http://schemas.microsoft.com/office/drawing/2014/main" id="{61A068AF-9169-3026-7977-5CE59D5BAA5C}"/>
              </a:ext>
            </a:extLst>
          </p:cNvPr>
          <p:cNvSpPr>
            <a:spLocks noGrp="1"/>
          </p:cNvSpPr>
          <p:nvPr>
            <p:ph type="title"/>
          </p:nvPr>
        </p:nvSpPr>
        <p:spPr>
          <a:xfrm>
            <a:off x="0" y="1"/>
            <a:ext cx="12192000" cy="871180"/>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MBINIT.REPAIRCLK  for  Std Package</a:t>
            </a:r>
          </a:p>
        </p:txBody>
      </p:sp>
      <p:cxnSp>
        <p:nvCxnSpPr>
          <p:cNvPr id="8" name="Straight Arrow Connector 7">
            <a:extLst>
              <a:ext uri="{FF2B5EF4-FFF2-40B4-BE49-F238E27FC236}">
                <a16:creationId xmlns:a16="http://schemas.microsoft.com/office/drawing/2014/main" id="{55AF79B0-234E-DA43-C0A7-E68B1D9CCFC5}"/>
              </a:ext>
            </a:extLst>
          </p:cNvPr>
          <p:cNvCxnSpPr>
            <a:cxnSpLocks/>
          </p:cNvCxnSpPr>
          <p:nvPr/>
        </p:nvCxnSpPr>
        <p:spPr>
          <a:xfrm>
            <a:off x="4294257" y="1551810"/>
            <a:ext cx="43256" cy="4814266"/>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6363F40-9915-6299-0622-18B0AA52E14E}"/>
              </a:ext>
            </a:extLst>
          </p:cNvPr>
          <p:cNvCxnSpPr>
            <a:cxnSpLocks/>
          </p:cNvCxnSpPr>
          <p:nvPr/>
        </p:nvCxnSpPr>
        <p:spPr>
          <a:xfrm>
            <a:off x="7351919" y="1751396"/>
            <a:ext cx="71564" cy="4401184"/>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0073A7D-3CE5-1D55-9E2B-A08C96927803}"/>
              </a:ext>
            </a:extLst>
          </p:cNvPr>
          <p:cNvSpPr txBox="1"/>
          <p:nvPr/>
        </p:nvSpPr>
        <p:spPr>
          <a:xfrm>
            <a:off x="3032120" y="876726"/>
            <a:ext cx="45840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DIE 0 : UCIe Module</a:t>
            </a:r>
          </a:p>
        </p:txBody>
      </p:sp>
      <p:sp>
        <p:nvSpPr>
          <p:cNvPr id="12" name="TextBox 11">
            <a:extLst>
              <a:ext uri="{FF2B5EF4-FFF2-40B4-BE49-F238E27FC236}">
                <a16:creationId xmlns:a16="http://schemas.microsoft.com/office/drawing/2014/main" id="{331D5CB0-C55D-6B62-2785-ABD9A7E5BDBA}"/>
              </a:ext>
            </a:extLst>
          </p:cNvPr>
          <p:cNvSpPr txBox="1"/>
          <p:nvPr/>
        </p:nvSpPr>
        <p:spPr>
          <a:xfrm>
            <a:off x="6167564" y="916336"/>
            <a:ext cx="601099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DIE 1 : UCIe Module Partner</a:t>
            </a:r>
          </a:p>
        </p:txBody>
      </p:sp>
      <p:sp>
        <p:nvSpPr>
          <p:cNvPr id="14" name="TextBox 13">
            <a:extLst>
              <a:ext uri="{FF2B5EF4-FFF2-40B4-BE49-F238E27FC236}">
                <a16:creationId xmlns:a16="http://schemas.microsoft.com/office/drawing/2014/main" id="{00298A09-8A32-1DBA-3CC0-43F327AF6438}"/>
              </a:ext>
            </a:extLst>
          </p:cNvPr>
          <p:cNvSpPr txBox="1"/>
          <p:nvPr/>
        </p:nvSpPr>
        <p:spPr>
          <a:xfrm>
            <a:off x="7480042" y="1901038"/>
            <a:ext cx="4224594"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latin typeface="Calibri" panose="020F0502020204030204" pitchFamily="34" charset="0"/>
                <a:ea typeface="Calibri" panose="020F0502020204030204" pitchFamily="34" charset="0"/>
                <a:cs typeface="Calibri" panose="020F0502020204030204" pitchFamily="34" charset="0"/>
              </a:rPr>
              <a:t>When ready to receive pattern on RCKP_L,RCKN_L and RTRK_L</a:t>
            </a:r>
          </a:p>
        </p:txBody>
      </p:sp>
      <p:cxnSp>
        <p:nvCxnSpPr>
          <p:cNvPr id="15" name="Straight Arrow Connector 14">
            <a:extLst>
              <a:ext uri="{FF2B5EF4-FFF2-40B4-BE49-F238E27FC236}">
                <a16:creationId xmlns:a16="http://schemas.microsoft.com/office/drawing/2014/main" id="{13C1B368-1D57-30D7-9DAE-6229FC73BCCE}"/>
              </a:ext>
            </a:extLst>
          </p:cNvPr>
          <p:cNvCxnSpPr/>
          <p:nvPr/>
        </p:nvCxnSpPr>
        <p:spPr>
          <a:xfrm>
            <a:off x="4355460" y="1751396"/>
            <a:ext cx="2970244" cy="3110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6C9B140-5029-441A-AA12-65D09621EDF9}"/>
              </a:ext>
            </a:extLst>
          </p:cNvPr>
          <p:cNvSpPr txBox="1"/>
          <p:nvPr/>
        </p:nvSpPr>
        <p:spPr>
          <a:xfrm rot="300000">
            <a:off x="4563924" y="1670768"/>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 MBINIT.REPAIRCLK </a:t>
            </a:r>
            <a:r>
              <a:rPr lang="en-US" sz="1400" dirty="0" err="1"/>
              <a:t>init</a:t>
            </a:r>
            <a:r>
              <a:rPr lang="en-US" sz="1400" dirty="0"/>
              <a:t> Req }</a:t>
            </a:r>
          </a:p>
        </p:txBody>
      </p:sp>
      <p:sp>
        <p:nvSpPr>
          <p:cNvPr id="20" name="TextBox 19">
            <a:extLst>
              <a:ext uri="{FF2B5EF4-FFF2-40B4-BE49-F238E27FC236}">
                <a16:creationId xmlns:a16="http://schemas.microsoft.com/office/drawing/2014/main" id="{B19B96AB-D40C-BDF4-9ADF-A427BB025024}"/>
              </a:ext>
            </a:extLst>
          </p:cNvPr>
          <p:cNvSpPr txBox="1"/>
          <p:nvPr/>
        </p:nvSpPr>
        <p:spPr>
          <a:xfrm rot="21240000">
            <a:off x="4363034" y="2118394"/>
            <a:ext cx="275572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 MBINIT.REPAIRCLK </a:t>
            </a:r>
            <a:r>
              <a:rPr lang="en-US" sz="1300" dirty="0" err="1"/>
              <a:t>init</a:t>
            </a:r>
            <a:r>
              <a:rPr lang="en-US" sz="1300" dirty="0"/>
              <a:t> Resp }</a:t>
            </a:r>
          </a:p>
        </p:txBody>
      </p:sp>
      <p:sp>
        <p:nvSpPr>
          <p:cNvPr id="21" name="TextBox 20">
            <a:extLst>
              <a:ext uri="{FF2B5EF4-FFF2-40B4-BE49-F238E27FC236}">
                <a16:creationId xmlns:a16="http://schemas.microsoft.com/office/drawing/2014/main" id="{03A199D8-A9BF-CAF2-1D64-E7C617AC3F5C}"/>
              </a:ext>
            </a:extLst>
          </p:cNvPr>
          <p:cNvSpPr txBox="1"/>
          <p:nvPr/>
        </p:nvSpPr>
        <p:spPr>
          <a:xfrm>
            <a:off x="4185757" y="2513151"/>
            <a:ext cx="32129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a:t>
            </a:r>
          </a:p>
        </p:txBody>
      </p:sp>
      <p:sp>
        <p:nvSpPr>
          <p:cNvPr id="25" name="TextBox 24">
            <a:extLst>
              <a:ext uri="{FF2B5EF4-FFF2-40B4-BE49-F238E27FC236}">
                <a16:creationId xmlns:a16="http://schemas.microsoft.com/office/drawing/2014/main" id="{D4876AA7-E0E0-10E9-AA4C-0CA22155A908}"/>
              </a:ext>
            </a:extLst>
          </p:cNvPr>
          <p:cNvSpPr txBox="1"/>
          <p:nvPr/>
        </p:nvSpPr>
        <p:spPr>
          <a:xfrm>
            <a:off x="561872" y="2810648"/>
            <a:ext cx="3773759"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latin typeface="Calibri" panose="020F0502020204030204" pitchFamily="34" charset="0"/>
                <a:ea typeface="Calibri" panose="020F0502020204030204" pitchFamily="34" charset="0"/>
                <a:cs typeface="Calibri" panose="020F0502020204030204" pitchFamily="34" charset="0"/>
              </a:rPr>
              <a:t>Sends 128 iterations of clock repair patterns(16 clock cycles followed by 8 cycles of low) on TCKP_L,TCKN_L and TTRK_L</a:t>
            </a:r>
          </a:p>
        </p:txBody>
      </p:sp>
      <p:cxnSp>
        <p:nvCxnSpPr>
          <p:cNvPr id="26" name="Straight Arrow Connector 25">
            <a:extLst>
              <a:ext uri="{FF2B5EF4-FFF2-40B4-BE49-F238E27FC236}">
                <a16:creationId xmlns:a16="http://schemas.microsoft.com/office/drawing/2014/main" id="{CF1A790D-4C4B-44F5-400B-E715A51FB07E}"/>
              </a:ext>
            </a:extLst>
          </p:cNvPr>
          <p:cNvCxnSpPr/>
          <p:nvPr/>
        </p:nvCxnSpPr>
        <p:spPr>
          <a:xfrm>
            <a:off x="4359098" y="3326292"/>
            <a:ext cx="2933374" cy="253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4E33079D-F81E-B400-3486-9B8ECFFD3B2B}"/>
              </a:ext>
            </a:extLst>
          </p:cNvPr>
          <p:cNvSpPr txBox="1"/>
          <p:nvPr/>
        </p:nvSpPr>
        <p:spPr>
          <a:xfrm>
            <a:off x="7387402" y="3144112"/>
            <a:ext cx="4526898"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Detects this pattern on RCKP_L,RCKN_L and RTRK_L. Detection is considered successful if at least 16 consecutive cycles of clock repair pattern are detected.it logs the detection result for RCKP_L,RCKN_L and RTRK_L.</a:t>
            </a:r>
          </a:p>
        </p:txBody>
      </p:sp>
      <p:cxnSp>
        <p:nvCxnSpPr>
          <p:cNvPr id="38" name="Straight Arrow Connector 37">
            <a:extLst>
              <a:ext uri="{FF2B5EF4-FFF2-40B4-BE49-F238E27FC236}">
                <a16:creationId xmlns:a16="http://schemas.microsoft.com/office/drawing/2014/main" id="{1617F31D-C5F7-973C-62CA-34C7DF9E4ECC}"/>
              </a:ext>
            </a:extLst>
          </p:cNvPr>
          <p:cNvCxnSpPr>
            <a:cxnSpLocks/>
          </p:cNvCxnSpPr>
          <p:nvPr/>
        </p:nvCxnSpPr>
        <p:spPr>
          <a:xfrm>
            <a:off x="4302624" y="4127772"/>
            <a:ext cx="3001420" cy="5163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E08F7038-9C42-0AB3-228E-CFB120B77AC0}"/>
              </a:ext>
            </a:extLst>
          </p:cNvPr>
          <p:cNvCxnSpPr>
            <a:cxnSpLocks/>
          </p:cNvCxnSpPr>
          <p:nvPr/>
        </p:nvCxnSpPr>
        <p:spPr>
          <a:xfrm flipH="1">
            <a:off x="4342939" y="5855721"/>
            <a:ext cx="3106759" cy="3870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30DA632D-1555-DAB1-5FFD-840238676C3D}"/>
              </a:ext>
            </a:extLst>
          </p:cNvPr>
          <p:cNvCxnSpPr>
            <a:cxnSpLocks/>
          </p:cNvCxnSpPr>
          <p:nvPr/>
        </p:nvCxnSpPr>
        <p:spPr>
          <a:xfrm>
            <a:off x="4288831" y="5421678"/>
            <a:ext cx="3117290" cy="247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7ADD3C4-8967-8E3D-28F7-A4ECE2235B2F}"/>
              </a:ext>
            </a:extLst>
          </p:cNvPr>
          <p:cNvSpPr txBox="1"/>
          <p:nvPr/>
        </p:nvSpPr>
        <p:spPr>
          <a:xfrm rot="21180000">
            <a:off x="4544416" y="5709214"/>
            <a:ext cx="2495584"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MBINIT.REPAIRCLK done resp}</a:t>
            </a:r>
          </a:p>
        </p:txBody>
      </p:sp>
      <p:sp>
        <p:nvSpPr>
          <p:cNvPr id="46" name="TextBox 45">
            <a:extLst>
              <a:ext uri="{FF2B5EF4-FFF2-40B4-BE49-F238E27FC236}">
                <a16:creationId xmlns:a16="http://schemas.microsoft.com/office/drawing/2014/main" id="{7C061E3F-1499-54FC-D0C9-36D49A09FCB7}"/>
              </a:ext>
            </a:extLst>
          </p:cNvPr>
          <p:cNvSpPr txBox="1"/>
          <p:nvPr/>
        </p:nvSpPr>
        <p:spPr>
          <a:xfrm rot="21300000">
            <a:off x="4424410" y="4526611"/>
            <a:ext cx="4883703"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 MBINIT.REPAIRCLK result Resp }</a:t>
            </a:r>
          </a:p>
        </p:txBody>
      </p:sp>
      <p:cxnSp>
        <p:nvCxnSpPr>
          <p:cNvPr id="4" name="Straight Arrow Connector 3">
            <a:extLst>
              <a:ext uri="{FF2B5EF4-FFF2-40B4-BE49-F238E27FC236}">
                <a16:creationId xmlns:a16="http://schemas.microsoft.com/office/drawing/2014/main" id="{CDBA8ECA-3A4D-80A3-D672-FB8623AD0DE3}"/>
              </a:ext>
            </a:extLst>
          </p:cNvPr>
          <p:cNvCxnSpPr>
            <a:cxnSpLocks/>
          </p:cNvCxnSpPr>
          <p:nvPr/>
        </p:nvCxnSpPr>
        <p:spPr>
          <a:xfrm flipH="1">
            <a:off x="4275415" y="4791316"/>
            <a:ext cx="3071078" cy="2055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109321F-EDA7-CA02-EC26-4133A6F1D8D7}"/>
              </a:ext>
            </a:extLst>
          </p:cNvPr>
          <p:cNvSpPr txBox="1"/>
          <p:nvPr/>
        </p:nvSpPr>
        <p:spPr>
          <a:xfrm rot="578844">
            <a:off x="4393240" y="4132460"/>
            <a:ext cx="3071078" cy="523220"/>
          </a:xfrm>
          <a:prstGeom prst="rect">
            <a:avLst/>
          </a:prstGeom>
          <a:noFill/>
        </p:spPr>
        <p:txBody>
          <a:bodyPr wrap="square" rtlCol="0">
            <a:spAutoFit/>
          </a:bodyPr>
          <a:lstStyle/>
          <a:p>
            <a:r>
              <a:rPr lang="en-US" sz="1400" dirty="0"/>
              <a:t>{ MBINIT.REPAIRCLK result Req }</a:t>
            </a:r>
          </a:p>
          <a:p>
            <a:endParaRPr lang="en-IN" sz="1400" dirty="0"/>
          </a:p>
        </p:txBody>
      </p:sp>
      <p:cxnSp>
        <p:nvCxnSpPr>
          <p:cNvPr id="40" name="Straight Arrow Connector 39">
            <a:extLst>
              <a:ext uri="{FF2B5EF4-FFF2-40B4-BE49-F238E27FC236}">
                <a16:creationId xmlns:a16="http://schemas.microsoft.com/office/drawing/2014/main" id="{D9FFE2BD-A401-1EB8-2A27-28378A9D2FEB}"/>
              </a:ext>
            </a:extLst>
          </p:cNvPr>
          <p:cNvCxnSpPr>
            <a:cxnSpLocks/>
          </p:cNvCxnSpPr>
          <p:nvPr/>
        </p:nvCxnSpPr>
        <p:spPr>
          <a:xfrm flipH="1">
            <a:off x="2207068" y="5151884"/>
            <a:ext cx="21358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F92F8FE6-7FD0-FE59-3FA8-8752AFE9CBFD}"/>
              </a:ext>
            </a:extLst>
          </p:cNvPr>
          <p:cNvSpPr txBox="1"/>
          <p:nvPr/>
        </p:nvSpPr>
        <p:spPr>
          <a:xfrm>
            <a:off x="2180853" y="4078279"/>
            <a:ext cx="2086288" cy="954107"/>
          </a:xfrm>
          <a:prstGeom prst="rect">
            <a:avLst/>
          </a:prstGeom>
          <a:noFill/>
        </p:spPr>
        <p:txBody>
          <a:bodyPr wrap="square" rtlCol="0">
            <a:spAutoFit/>
          </a:bodyPr>
          <a:lstStyle/>
          <a:p>
            <a:r>
              <a:rPr lang="en-IN" sz="1400" dirty="0">
                <a:latin typeface="Calibri" panose="020F0502020204030204" pitchFamily="34" charset="0"/>
                <a:ea typeface="Calibri" panose="020F0502020204030204" pitchFamily="34" charset="0"/>
                <a:cs typeface="Calibri" panose="020F0502020204030204" pitchFamily="34" charset="0"/>
              </a:rPr>
              <a:t>If detection is not success on any one of the RCKP_L,RCKN_L and RTRK_L</a:t>
            </a:r>
          </a:p>
        </p:txBody>
      </p:sp>
      <p:sp>
        <p:nvSpPr>
          <p:cNvPr id="50" name="TextBox 49">
            <a:extLst>
              <a:ext uri="{FF2B5EF4-FFF2-40B4-BE49-F238E27FC236}">
                <a16:creationId xmlns:a16="http://schemas.microsoft.com/office/drawing/2014/main" id="{13B2C1F6-C497-55DB-60B1-7ADF553B4EC7}"/>
              </a:ext>
            </a:extLst>
          </p:cNvPr>
          <p:cNvSpPr txBox="1"/>
          <p:nvPr/>
        </p:nvSpPr>
        <p:spPr>
          <a:xfrm>
            <a:off x="189528" y="4791317"/>
            <a:ext cx="2193616" cy="830997"/>
          </a:xfrm>
          <a:prstGeom prst="rect">
            <a:avLst/>
          </a:prstGeom>
          <a:noFill/>
        </p:spPr>
        <p:txBody>
          <a:bodyPr wrap="square" rtlCol="0">
            <a:spAutoFit/>
          </a:bodyPr>
          <a:lstStyle/>
          <a:p>
            <a:r>
              <a:rPr lang="en-IN" sz="1600" dirty="0">
                <a:latin typeface="Calibri" panose="020F0502020204030204" pitchFamily="34" charset="0"/>
                <a:ea typeface="Calibri" panose="020F0502020204030204" pitchFamily="34" charset="0"/>
                <a:cs typeface="Calibri" panose="020F0502020204030204" pitchFamily="34" charset="0"/>
              </a:rPr>
              <a:t>Both goes to TRAINERROR after TRAINERROR handshake</a:t>
            </a:r>
          </a:p>
        </p:txBody>
      </p:sp>
      <p:sp>
        <p:nvSpPr>
          <p:cNvPr id="52" name="TextBox 51">
            <a:extLst>
              <a:ext uri="{FF2B5EF4-FFF2-40B4-BE49-F238E27FC236}">
                <a16:creationId xmlns:a16="http://schemas.microsoft.com/office/drawing/2014/main" id="{F9ADAC10-B378-C79A-57CC-1AF8753E4777}"/>
              </a:ext>
            </a:extLst>
          </p:cNvPr>
          <p:cNvSpPr txBox="1"/>
          <p:nvPr/>
        </p:nvSpPr>
        <p:spPr>
          <a:xfrm>
            <a:off x="2311996" y="5336605"/>
            <a:ext cx="2144959" cy="307777"/>
          </a:xfrm>
          <a:prstGeom prst="rect">
            <a:avLst/>
          </a:prstGeom>
          <a:noFill/>
        </p:spPr>
        <p:txBody>
          <a:bodyPr wrap="square" rtlCol="0">
            <a:spAutoFit/>
          </a:bodyPr>
          <a:lstStyle/>
          <a:p>
            <a:r>
              <a:rPr lang="en-IN" sz="1400" dirty="0"/>
              <a:t>If detection is successful</a:t>
            </a:r>
          </a:p>
        </p:txBody>
      </p:sp>
      <p:sp>
        <p:nvSpPr>
          <p:cNvPr id="62" name="TextBox 61">
            <a:extLst>
              <a:ext uri="{FF2B5EF4-FFF2-40B4-BE49-F238E27FC236}">
                <a16:creationId xmlns:a16="http://schemas.microsoft.com/office/drawing/2014/main" id="{FA2D8C36-58AE-A173-CBA7-30B8BC84F511}"/>
              </a:ext>
            </a:extLst>
          </p:cNvPr>
          <p:cNvSpPr txBox="1"/>
          <p:nvPr/>
        </p:nvSpPr>
        <p:spPr>
          <a:xfrm rot="259291">
            <a:off x="4478765" y="5282413"/>
            <a:ext cx="3732848" cy="307777"/>
          </a:xfrm>
          <a:prstGeom prst="rect">
            <a:avLst/>
          </a:prstGeom>
          <a:noFill/>
        </p:spPr>
        <p:txBody>
          <a:bodyPr wrap="square" rtlCol="0">
            <a:spAutoFit/>
          </a:bodyPr>
          <a:lstStyle/>
          <a:p>
            <a:r>
              <a:rPr lang="en-IN" sz="1400" dirty="0"/>
              <a:t>MBINIT.REPAIRCLK done </a:t>
            </a:r>
            <a:r>
              <a:rPr lang="en-IN" sz="1400" dirty="0" err="1"/>
              <a:t>Req</a:t>
            </a:r>
            <a:endParaRPr lang="en-IN" sz="1400" dirty="0"/>
          </a:p>
        </p:txBody>
      </p:sp>
      <p:cxnSp>
        <p:nvCxnSpPr>
          <p:cNvPr id="66" name="Straight Arrow Connector 65">
            <a:extLst>
              <a:ext uri="{FF2B5EF4-FFF2-40B4-BE49-F238E27FC236}">
                <a16:creationId xmlns:a16="http://schemas.microsoft.com/office/drawing/2014/main" id="{5BA67507-5E42-8566-C20E-81F86A6A7464}"/>
              </a:ext>
            </a:extLst>
          </p:cNvPr>
          <p:cNvCxnSpPr>
            <a:cxnSpLocks/>
          </p:cNvCxnSpPr>
          <p:nvPr/>
        </p:nvCxnSpPr>
        <p:spPr>
          <a:xfrm>
            <a:off x="5957919" y="6100383"/>
            <a:ext cx="0" cy="4356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0EFA2E6D-3EF9-F3E3-D26F-D7F0A6271F64}"/>
              </a:ext>
            </a:extLst>
          </p:cNvPr>
          <p:cNvSpPr txBox="1"/>
          <p:nvPr/>
        </p:nvSpPr>
        <p:spPr>
          <a:xfrm>
            <a:off x="4861367" y="6464201"/>
            <a:ext cx="3409878" cy="369332"/>
          </a:xfrm>
          <a:prstGeom prst="rect">
            <a:avLst/>
          </a:prstGeom>
          <a:noFill/>
        </p:spPr>
        <p:txBody>
          <a:bodyPr wrap="square" rtlCol="0">
            <a:spAutoFit/>
          </a:bodyPr>
          <a:lstStyle/>
          <a:p>
            <a:r>
              <a:rPr lang="en-IN" dirty="0"/>
              <a:t>MBINIT.REPAIRVAL</a:t>
            </a:r>
            <a:endParaRPr lang="en-IN" b="1" dirty="0"/>
          </a:p>
        </p:txBody>
      </p:sp>
    </p:spTree>
    <p:extLst>
      <p:ext uri="{BB962C8B-B14F-4D97-AF65-F5344CB8AC3E}">
        <p14:creationId xmlns:p14="http://schemas.microsoft.com/office/powerpoint/2010/main" val="2757640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6C57-38B8-FF0F-EE7E-4DD4211B91B5}"/>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CE63299D-87E2-F1CA-F5B1-8C2A54A62070}"/>
              </a:ext>
            </a:extLst>
          </p:cNvPr>
          <p:cNvCxnSpPr/>
          <p:nvPr/>
        </p:nvCxnSpPr>
        <p:spPr>
          <a:xfrm flipH="1">
            <a:off x="4358113" y="2154044"/>
            <a:ext cx="2935343" cy="3263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C2CA84BD-0C13-9281-3C2B-9ACB4BF58361}"/>
              </a:ext>
            </a:extLst>
          </p:cNvPr>
          <p:cNvSpPr>
            <a:spLocks noGrp="1"/>
          </p:cNvSpPr>
          <p:nvPr>
            <p:ph idx="1"/>
          </p:nvPr>
        </p:nvSpPr>
        <p:spPr>
          <a:xfrm>
            <a:off x="521898" y="1250531"/>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p:txBody>
      </p:sp>
      <p:sp>
        <p:nvSpPr>
          <p:cNvPr id="5" name="Title 1">
            <a:extLst>
              <a:ext uri="{FF2B5EF4-FFF2-40B4-BE49-F238E27FC236}">
                <a16:creationId xmlns:a16="http://schemas.microsoft.com/office/drawing/2014/main" id="{8B44A79F-FB36-BC99-724E-9D4DAADD01B8}"/>
              </a:ext>
            </a:extLst>
          </p:cNvPr>
          <p:cNvSpPr>
            <a:spLocks noGrp="1"/>
          </p:cNvSpPr>
          <p:nvPr>
            <p:ph type="title"/>
          </p:nvPr>
        </p:nvSpPr>
        <p:spPr>
          <a:xfrm>
            <a:off x="0" y="1"/>
            <a:ext cx="12192000" cy="871180"/>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MBINIT.REPAIRCLK  for  Advanced Package</a:t>
            </a:r>
          </a:p>
        </p:txBody>
      </p:sp>
      <p:cxnSp>
        <p:nvCxnSpPr>
          <p:cNvPr id="8" name="Straight Arrow Connector 7">
            <a:extLst>
              <a:ext uri="{FF2B5EF4-FFF2-40B4-BE49-F238E27FC236}">
                <a16:creationId xmlns:a16="http://schemas.microsoft.com/office/drawing/2014/main" id="{8D9FDC26-36C6-F738-81FC-AF1004455FC7}"/>
              </a:ext>
            </a:extLst>
          </p:cNvPr>
          <p:cNvCxnSpPr>
            <a:cxnSpLocks/>
          </p:cNvCxnSpPr>
          <p:nvPr/>
        </p:nvCxnSpPr>
        <p:spPr>
          <a:xfrm>
            <a:off x="4294257" y="1551810"/>
            <a:ext cx="43256" cy="4814266"/>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B3935E26-50C2-FE83-4FC7-4ABB6974ED91}"/>
              </a:ext>
            </a:extLst>
          </p:cNvPr>
          <p:cNvCxnSpPr>
            <a:cxnSpLocks/>
          </p:cNvCxnSpPr>
          <p:nvPr/>
        </p:nvCxnSpPr>
        <p:spPr>
          <a:xfrm>
            <a:off x="7351919" y="1751396"/>
            <a:ext cx="71564" cy="4401184"/>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0C6FD2C-CF3A-1032-2FA1-0B5A4F8AA76D}"/>
              </a:ext>
            </a:extLst>
          </p:cNvPr>
          <p:cNvSpPr txBox="1"/>
          <p:nvPr/>
        </p:nvSpPr>
        <p:spPr>
          <a:xfrm>
            <a:off x="3032120" y="876726"/>
            <a:ext cx="45840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DIE 0 : UCIe Module</a:t>
            </a:r>
          </a:p>
        </p:txBody>
      </p:sp>
      <p:sp>
        <p:nvSpPr>
          <p:cNvPr id="12" name="TextBox 11">
            <a:extLst>
              <a:ext uri="{FF2B5EF4-FFF2-40B4-BE49-F238E27FC236}">
                <a16:creationId xmlns:a16="http://schemas.microsoft.com/office/drawing/2014/main" id="{A03DCF99-502B-5061-CB6E-7DEE4904E828}"/>
              </a:ext>
            </a:extLst>
          </p:cNvPr>
          <p:cNvSpPr txBox="1"/>
          <p:nvPr/>
        </p:nvSpPr>
        <p:spPr>
          <a:xfrm>
            <a:off x="6167564" y="916336"/>
            <a:ext cx="601099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DIE 1 : UCIe Module Partner</a:t>
            </a:r>
          </a:p>
        </p:txBody>
      </p:sp>
      <p:sp>
        <p:nvSpPr>
          <p:cNvPr id="14" name="TextBox 13">
            <a:extLst>
              <a:ext uri="{FF2B5EF4-FFF2-40B4-BE49-F238E27FC236}">
                <a16:creationId xmlns:a16="http://schemas.microsoft.com/office/drawing/2014/main" id="{468216BD-F4F2-F218-29AE-AC3FAF06A469}"/>
              </a:ext>
            </a:extLst>
          </p:cNvPr>
          <p:cNvSpPr txBox="1"/>
          <p:nvPr/>
        </p:nvSpPr>
        <p:spPr>
          <a:xfrm>
            <a:off x="7480042" y="1901038"/>
            <a:ext cx="422459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ready to receive pattern on RCKP_L, RCKN_L, RTRK_L, and RRDCK_L</a:t>
            </a:r>
            <a:endParaRPr lang="en-US" sz="1700" dirty="0">
              <a:latin typeface="Calibri" panose="020F0502020204030204" pitchFamily="34" charset="0"/>
              <a:ea typeface="Calibri" panose="020F0502020204030204" pitchFamily="34" charset="0"/>
              <a:cs typeface="Calibri" panose="020F0502020204030204" pitchFamily="34" charset="0"/>
            </a:endParaRPr>
          </a:p>
        </p:txBody>
      </p:sp>
      <p:cxnSp>
        <p:nvCxnSpPr>
          <p:cNvPr id="15" name="Straight Arrow Connector 14">
            <a:extLst>
              <a:ext uri="{FF2B5EF4-FFF2-40B4-BE49-F238E27FC236}">
                <a16:creationId xmlns:a16="http://schemas.microsoft.com/office/drawing/2014/main" id="{AAA5C3B1-17FC-037C-CB7F-A1E9DB2366E8}"/>
              </a:ext>
            </a:extLst>
          </p:cNvPr>
          <p:cNvCxnSpPr/>
          <p:nvPr/>
        </p:nvCxnSpPr>
        <p:spPr>
          <a:xfrm>
            <a:off x="4355460" y="1751396"/>
            <a:ext cx="2970244" cy="3110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E6D6547A-89BD-AE95-E51A-40940F00F485}"/>
              </a:ext>
            </a:extLst>
          </p:cNvPr>
          <p:cNvSpPr txBox="1"/>
          <p:nvPr/>
        </p:nvSpPr>
        <p:spPr>
          <a:xfrm rot="300000">
            <a:off x="4563924" y="1670768"/>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 MBINIT.REPAIRCLK </a:t>
            </a:r>
            <a:r>
              <a:rPr lang="en-US" sz="1400" dirty="0" err="1"/>
              <a:t>init</a:t>
            </a:r>
            <a:r>
              <a:rPr lang="en-US" sz="1400" dirty="0"/>
              <a:t> Req }</a:t>
            </a:r>
          </a:p>
        </p:txBody>
      </p:sp>
      <p:sp>
        <p:nvSpPr>
          <p:cNvPr id="20" name="TextBox 19">
            <a:extLst>
              <a:ext uri="{FF2B5EF4-FFF2-40B4-BE49-F238E27FC236}">
                <a16:creationId xmlns:a16="http://schemas.microsoft.com/office/drawing/2014/main" id="{A52DEFCD-08C9-CC85-2BDD-98280629334A}"/>
              </a:ext>
            </a:extLst>
          </p:cNvPr>
          <p:cNvSpPr txBox="1"/>
          <p:nvPr/>
        </p:nvSpPr>
        <p:spPr>
          <a:xfrm rot="21240000">
            <a:off x="4363034" y="2118394"/>
            <a:ext cx="275572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 MBINIT.REPAIRCLK </a:t>
            </a:r>
            <a:r>
              <a:rPr lang="en-US" sz="1300" dirty="0" err="1"/>
              <a:t>init</a:t>
            </a:r>
            <a:r>
              <a:rPr lang="en-US" sz="1300" dirty="0"/>
              <a:t> Resp }</a:t>
            </a:r>
          </a:p>
        </p:txBody>
      </p:sp>
      <p:sp>
        <p:nvSpPr>
          <p:cNvPr id="21" name="TextBox 20">
            <a:extLst>
              <a:ext uri="{FF2B5EF4-FFF2-40B4-BE49-F238E27FC236}">
                <a16:creationId xmlns:a16="http://schemas.microsoft.com/office/drawing/2014/main" id="{F4F75595-6068-5B16-A759-D079A62BC42A}"/>
              </a:ext>
            </a:extLst>
          </p:cNvPr>
          <p:cNvSpPr txBox="1"/>
          <p:nvPr/>
        </p:nvSpPr>
        <p:spPr>
          <a:xfrm>
            <a:off x="4185757" y="2513151"/>
            <a:ext cx="32129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a:t>
            </a:r>
          </a:p>
        </p:txBody>
      </p:sp>
      <p:sp>
        <p:nvSpPr>
          <p:cNvPr id="25" name="TextBox 24">
            <a:extLst>
              <a:ext uri="{FF2B5EF4-FFF2-40B4-BE49-F238E27FC236}">
                <a16:creationId xmlns:a16="http://schemas.microsoft.com/office/drawing/2014/main" id="{803D0979-571D-2A31-DD77-44189BFE9164}"/>
              </a:ext>
            </a:extLst>
          </p:cNvPr>
          <p:cNvSpPr txBox="1"/>
          <p:nvPr/>
        </p:nvSpPr>
        <p:spPr>
          <a:xfrm>
            <a:off x="561872" y="2810648"/>
            <a:ext cx="3773759" cy="8771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latin typeface="Calibri" panose="020F0502020204030204" pitchFamily="34" charset="0"/>
                <a:ea typeface="Calibri" panose="020F0502020204030204" pitchFamily="34" charset="0"/>
                <a:cs typeface="Calibri" panose="020F0502020204030204" pitchFamily="34" charset="0"/>
              </a:rPr>
              <a:t>Sends 128 iterations of clock repair patterns(16 clock cycles high followed by 8 cycles of low) on TCKP_L only</a:t>
            </a:r>
          </a:p>
        </p:txBody>
      </p:sp>
      <p:cxnSp>
        <p:nvCxnSpPr>
          <p:cNvPr id="26" name="Straight Arrow Connector 25">
            <a:extLst>
              <a:ext uri="{FF2B5EF4-FFF2-40B4-BE49-F238E27FC236}">
                <a16:creationId xmlns:a16="http://schemas.microsoft.com/office/drawing/2014/main" id="{8666DC73-AECA-FCC0-AE94-F1369D2658AA}"/>
              </a:ext>
            </a:extLst>
          </p:cNvPr>
          <p:cNvCxnSpPr/>
          <p:nvPr/>
        </p:nvCxnSpPr>
        <p:spPr>
          <a:xfrm>
            <a:off x="4359098" y="3326292"/>
            <a:ext cx="2933374" cy="253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CDB77557-7039-0A93-0FDC-DD3C0EB31FFC}"/>
              </a:ext>
            </a:extLst>
          </p:cNvPr>
          <p:cNvSpPr txBox="1"/>
          <p:nvPr/>
        </p:nvSpPr>
        <p:spPr>
          <a:xfrm>
            <a:off x="7446534" y="2699712"/>
            <a:ext cx="446776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Detects this pattern on RCKP_L,RCKN_L and RTRK_L &amp; </a:t>
            </a:r>
            <a:r>
              <a:rPr lang="en-US" sz="1600" dirty="0" err="1">
                <a:latin typeface="Calibri" panose="020F0502020204030204" pitchFamily="34" charset="0"/>
                <a:ea typeface="Calibri" panose="020F0502020204030204" pitchFamily="34" charset="0"/>
                <a:cs typeface="Calibri" panose="020F0502020204030204" pitchFamily="34" charset="0"/>
              </a:rPr>
              <a:t>RRDCK_L.Detection</a:t>
            </a:r>
            <a:r>
              <a:rPr lang="en-US" sz="1600" dirty="0">
                <a:latin typeface="Calibri" panose="020F0502020204030204" pitchFamily="34" charset="0"/>
                <a:ea typeface="Calibri" panose="020F0502020204030204" pitchFamily="34" charset="0"/>
                <a:cs typeface="Calibri" panose="020F0502020204030204" pitchFamily="34" charset="0"/>
              </a:rPr>
              <a:t> is considered successful if </a:t>
            </a:r>
            <a:r>
              <a:rPr lang="en-US" sz="1600" dirty="0" err="1">
                <a:latin typeface="Calibri" panose="020F0502020204030204" pitchFamily="34" charset="0"/>
                <a:ea typeface="Calibri" panose="020F0502020204030204" pitchFamily="34" charset="0"/>
                <a:cs typeface="Calibri" panose="020F0502020204030204" pitchFamily="34" charset="0"/>
              </a:rPr>
              <a:t>atleast</a:t>
            </a:r>
            <a:r>
              <a:rPr lang="en-US" sz="1600" dirty="0">
                <a:latin typeface="Calibri" panose="020F0502020204030204" pitchFamily="34" charset="0"/>
                <a:ea typeface="Calibri" panose="020F0502020204030204" pitchFamily="34" charset="0"/>
                <a:cs typeface="Calibri" panose="020F0502020204030204" pitchFamily="34" charset="0"/>
              </a:rPr>
              <a:t> 16 consecutive cycles of clock repair pattern are detected.it logs the detection result for RCKP_L,RCKN_L and RTRK_L &amp;RRDCK_L</a:t>
            </a:r>
          </a:p>
        </p:txBody>
      </p:sp>
      <p:cxnSp>
        <p:nvCxnSpPr>
          <p:cNvPr id="38" name="Straight Arrow Connector 37">
            <a:extLst>
              <a:ext uri="{FF2B5EF4-FFF2-40B4-BE49-F238E27FC236}">
                <a16:creationId xmlns:a16="http://schemas.microsoft.com/office/drawing/2014/main" id="{A4014DEF-26E3-6105-7775-D1EE87052778}"/>
              </a:ext>
            </a:extLst>
          </p:cNvPr>
          <p:cNvCxnSpPr>
            <a:cxnSpLocks/>
            <a:stCxn id="11" idx="1"/>
          </p:cNvCxnSpPr>
          <p:nvPr/>
        </p:nvCxnSpPr>
        <p:spPr>
          <a:xfrm>
            <a:off x="4447266" y="3989518"/>
            <a:ext cx="2856778" cy="6546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0B894A2A-135D-ABBE-B1CA-19FB954137A6}"/>
              </a:ext>
            </a:extLst>
          </p:cNvPr>
          <p:cNvSpPr txBox="1"/>
          <p:nvPr/>
        </p:nvSpPr>
        <p:spPr>
          <a:xfrm rot="21300000">
            <a:off x="4450716" y="4486738"/>
            <a:ext cx="4883703"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 MBINIT.REPAIRCLK result Resp }</a:t>
            </a:r>
          </a:p>
        </p:txBody>
      </p:sp>
      <p:cxnSp>
        <p:nvCxnSpPr>
          <p:cNvPr id="4" name="Straight Arrow Connector 3">
            <a:extLst>
              <a:ext uri="{FF2B5EF4-FFF2-40B4-BE49-F238E27FC236}">
                <a16:creationId xmlns:a16="http://schemas.microsoft.com/office/drawing/2014/main" id="{F3322E5A-A5FD-B700-5969-53BC285AF30B}"/>
              </a:ext>
            </a:extLst>
          </p:cNvPr>
          <p:cNvCxnSpPr>
            <a:cxnSpLocks/>
          </p:cNvCxnSpPr>
          <p:nvPr/>
        </p:nvCxnSpPr>
        <p:spPr>
          <a:xfrm flipH="1">
            <a:off x="4275415" y="4791316"/>
            <a:ext cx="3071078" cy="2055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28F997A-AE73-57FA-8A09-FEFE4F5ADC65}"/>
              </a:ext>
            </a:extLst>
          </p:cNvPr>
          <p:cNvSpPr txBox="1"/>
          <p:nvPr/>
        </p:nvSpPr>
        <p:spPr>
          <a:xfrm rot="796581">
            <a:off x="4406033" y="4078279"/>
            <a:ext cx="3085581" cy="531076"/>
          </a:xfrm>
          <a:prstGeom prst="rect">
            <a:avLst/>
          </a:prstGeom>
          <a:noFill/>
        </p:spPr>
        <p:txBody>
          <a:bodyPr wrap="square" rtlCol="0">
            <a:spAutoFit/>
          </a:bodyPr>
          <a:lstStyle/>
          <a:p>
            <a:r>
              <a:rPr lang="en-US" sz="1400" dirty="0"/>
              <a:t>{ MBINIT.REPAIRCLK result Req }</a:t>
            </a:r>
          </a:p>
          <a:p>
            <a:endParaRPr lang="en-IN" sz="1400" dirty="0"/>
          </a:p>
        </p:txBody>
      </p:sp>
      <p:cxnSp>
        <p:nvCxnSpPr>
          <p:cNvPr id="40" name="Straight Arrow Connector 39">
            <a:extLst>
              <a:ext uri="{FF2B5EF4-FFF2-40B4-BE49-F238E27FC236}">
                <a16:creationId xmlns:a16="http://schemas.microsoft.com/office/drawing/2014/main" id="{E771D62E-4589-B024-2C29-C7751C2C98B9}"/>
              </a:ext>
            </a:extLst>
          </p:cNvPr>
          <p:cNvCxnSpPr>
            <a:cxnSpLocks/>
            <a:endCxn id="30" idx="3"/>
          </p:cNvCxnSpPr>
          <p:nvPr/>
        </p:nvCxnSpPr>
        <p:spPr>
          <a:xfrm flipH="1">
            <a:off x="1419745" y="5336605"/>
            <a:ext cx="2874512" cy="81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01410DA-4744-E354-5236-BA88355BEBD4}"/>
              </a:ext>
            </a:extLst>
          </p:cNvPr>
          <p:cNvCxnSpPr>
            <a:cxnSpLocks/>
          </p:cNvCxnSpPr>
          <p:nvPr/>
        </p:nvCxnSpPr>
        <p:spPr>
          <a:xfrm flipV="1">
            <a:off x="3912242" y="4314345"/>
            <a:ext cx="0" cy="105397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3C4BBA0-D71D-E603-4C60-9E0BFCD986A7}"/>
              </a:ext>
            </a:extLst>
          </p:cNvPr>
          <p:cNvCxnSpPr>
            <a:cxnSpLocks/>
          </p:cNvCxnSpPr>
          <p:nvPr/>
        </p:nvCxnSpPr>
        <p:spPr>
          <a:xfrm flipH="1">
            <a:off x="1691934" y="4791316"/>
            <a:ext cx="22610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8347227-9166-538E-E9AC-F297B5D47F8E}"/>
              </a:ext>
            </a:extLst>
          </p:cNvPr>
          <p:cNvCxnSpPr>
            <a:cxnSpLocks/>
          </p:cNvCxnSpPr>
          <p:nvPr/>
        </p:nvCxnSpPr>
        <p:spPr>
          <a:xfrm flipH="1">
            <a:off x="1651238" y="4298738"/>
            <a:ext cx="22610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9CD5E88F-41C2-E198-4123-497C66BEC8F1}"/>
              </a:ext>
            </a:extLst>
          </p:cNvPr>
          <p:cNvSpPr txBox="1"/>
          <p:nvPr/>
        </p:nvSpPr>
        <p:spPr>
          <a:xfrm>
            <a:off x="1549005" y="5451926"/>
            <a:ext cx="3014915" cy="584775"/>
          </a:xfrm>
          <a:prstGeom prst="rect">
            <a:avLst/>
          </a:prstGeom>
          <a:noFill/>
        </p:spPr>
        <p:txBody>
          <a:bodyPr wrap="square" rtlCol="0">
            <a:spAutoFit/>
          </a:bodyPr>
          <a:lstStyle/>
          <a:p>
            <a:r>
              <a:rPr lang="en-IN" sz="1600" dirty="0"/>
              <a:t>Detection successful only on RCKP_L</a:t>
            </a:r>
          </a:p>
        </p:txBody>
      </p:sp>
      <p:sp>
        <p:nvSpPr>
          <p:cNvPr id="30" name="TextBox 29">
            <a:extLst>
              <a:ext uri="{FF2B5EF4-FFF2-40B4-BE49-F238E27FC236}">
                <a16:creationId xmlns:a16="http://schemas.microsoft.com/office/drawing/2014/main" id="{E038B815-D035-77D2-8E35-01BED785FF12}"/>
              </a:ext>
            </a:extLst>
          </p:cNvPr>
          <p:cNvSpPr txBox="1"/>
          <p:nvPr/>
        </p:nvSpPr>
        <p:spPr>
          <a:xfrm>
            <a:off x="311111" y="5160066"/>
            <a:ext cx="1108634" cy="369332"/>
          </a:xfrm>
          <a:prstGeom prst="rect">
            <a:avLst/>
          </a:prstGeom>
          <a:noFill/>
        </p:spPr>
        <p:txBody>
          <a:bodyPr wrap="square" rtlCol="0">
            <a:spAutoFit/>
          </a:bodyPr>
          <a:lstStyle/>
          <a:p>
            <a:r>
              <a:rPr lang="en-IN" dirty="0"/>
              <a:t>No repair</a:t>
            </a:r>
          </a:p>
        </p:txBody>
      </p:sp>
      <p:sp>
        <p:nvSpPr>
          <p:cNvPr id="31" name="TextBox 30">
            <a:extLst>
              <a:ext uri="{FF2B5EF4-FFF2-40B4-BE49-F238E27FC236}">
                <a16:creationId xmlns:a16="http://schemas.microsoft.com/office/drawing/2014/main" id="{759AFCF7-1865-4875-8F5E-D068288C4B08}"/>
              </a:ext>
            </a:extLst>
          </p:cNvPr>
          <p:cNvSpPr txBox="1"/>
          <p:nvPr/>
        </p:nvSpPr>
        <p:spPr>
          <a:xfrm rot="10800000" flipV="1">
            <a:off x="1735190" y="3720863"/>
            <a:ext cx="2360679" cy="584775"/>
          </a:xfrm>
          <a:prstGeom prst="rect">
            <a:avLst/>
          </a:prstGeom>
          <a:noFill/>
        </p:spPr>
        <p:txBody>
          <a:bodyPr wrap="square" rtlCol="0">
            <a:spAutoFit/>
          </a:bodyPr>
          <a:lstStyle/>
          <a:p>
            <a:r>
              <a:rPr lang="en-IN" sz="1600" dirty="0"/>
              <a:t>Detected on any  of them unsuccessfully</a:t>
            </a:r>
          </a:p>
        </p:txBody>
      </p:sp>
      <p:sp>
        <p:nvSpPr>
          <p:cNvPr id="35" name="TextBox 34">
            <a:extLst>
              <a:ext uri="{FF2B5EF4-FFF2-40B4-BE49-F238E27FC236}">
                <a16:creationId xmlns:a16="http://schemas.microsoft.com/office/drawing/2014/main" id="{840CFCA5-1C5F-9369-6187-B797F4DB7189}"/>
              </a:ext>
            </a:extLst>
          </p:cNvPr>
          <p:cNvSpPr txBox="1"/>
          <p:nvPr/>
        </p:nvSpPr>
        <p:spPr>
          <a:xfrm>
            <a:off x="1860900" y="4382032"/>
            <a:ext cx="2874512" cy="369332"/>
          </a:xfrm>
          <a:prstGeom prst="rect">
            <a:avLst/>
          </a:prstGeom>
          <a:noFill/>
        </p:spPr>
        <p:txBody>
          <a:bodyPr wrap="square" rtlCol="0">
            <a:spAutoFit/>
          </a:bodyPr>
          <a:lstStyle/>
          <a:p>
            <a:r>
              <a:rPr lang="en-IN" dirty="0"/>
              <a:t>Detected on any 2</a:t>
            </a:r>
          </a:p>
        </p:txBody>
      </p:sp>
      <p:sp>
        <p:nvSpPr>
          <p:cNvPr id="36" name="TextBox 35">
            <a:extLst>
              <a:ext uri="{FF2B5EF4-FFF2-40B4-BE49-F238E27FC236}">
                <a16:creationId xmlns:a16="http://schemas.microsoft.com/office/drawing/2014/main" id="{8550AA0C-E549-81E1-30D1-51CC61723CD2}"/>
              </a:ext>
            </a:extLst>
          </p:cNvPr>
          <p:cNvSpPr txBox="1"/>
          <p:nvPr/>
        </p:nvSpPr>
        <p:spPr>
          <a:xfrm>
            <a:off x="-27180" y="4632932"/>
            <a:ext cx="2613262" cy="369332"/>
          </a:xfrm>
          <a:prstGeom prst="rect">
            <a:avLst/>
          </a:prstGeom>
          <a:noFill/>
        </p:spPr>
        <p:txBody>
          <a:bodyPr wrap="square" rtlCol="0">
            <a:spAutoFit/>
          </a:bodyPr>
          <a:lstStyle/>
          <a:p>
            <a:r>
              <a:rPr lang="en-IN" dirty="0"/>
              <a:t>Electrical short</a:t>
            </a:r>
          </a:p>
        </p:txBody>
      </p:sp>
      <p:sp>
        <p:nvSpPr>
          <p:cNvPr id="37" name="TextBox 36">
            <a:extLst>
              <a:ext uri="{FF2B5EF4-FFF2-40B4-BE49-F238E27FC236}">
                <a16:creationId xmlns:a16="http://schemas.microsoft.com/office/drawing/2014/main" id="{8DF05CDE-8EC7-D88F-79CD-F643AC97F742}"/>
              </a:ext>
            </a:extLst>
          </p:cNvPr>
          <p:cNvSpPr txBox="1"/>
          <p:nvPr/>
        </p:nvSpPr>
        <p:spPr>
          <a:xfrm>
            <a:off x="-74697" y="4087644"/>
            <a:ext cx="2098859" cy="369332"/>
          </a:xfrm>
          <a:prstGeom prst="rect">
            <a:avLst/>
          </a:prstGeom>
          <a:noFill/>
        </p:spPr>
        <p:txBody>
          <a:bodyPr wrap="square" rtlCol="0">
            <a:spAutoFit/>
          </a:bodyPr>
          <a:lstStyle/>
          <a:p>
            <a:r>
              <a:rPr lang="en-IN" dirty="0"/>
              <a:t>Repair is needed</a:t>
            </a:r>
          </a:p>
        </p:txBody>
      </p:sp>
      <p:sp>
        <p:nvSpPr>
          <p:cNvPr id="41" name="TextBox 40">
            <a:extLst>
              <a:ext uri="{FF2B5EF4-FFF2-40B4-BE49-F238E27FC236}">
                <a16:creationId xmlns:a16="http://schemas.microsoft.com/office/drawing/2014/main" id="{CFA440A6-40C0-E518-F599-94D1B47B4937}"/>
              </a:ext>
            </a:extLst>
          </p:cNvPr>
          <p:cNvSpPr txBox="1"/>
          <p:nvPr/>
        </p:nvSpPr>
        <p:spPr>
          <a:xfrm rot="10800000" flipV="1">
            <a:off x="8859679" y="5595266"/>
            <a:ext cx="1852242" cy="1200329"/>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Above steps are repeating for TCKN_L,TTRK_L and TRDCK_L</a:t>
            </a:r>
          </a:p>
        </p:txBody>
      </p:sp>
    </p:spTree>
    <p:extLst>
      <p:ext uri="{BB962C8B-B14F-4D97-AF65-F5344CB8AC3E}">
        <p14:creationId xmlns:p14="http://schemas.microsoft.com/office/powerpoint/2010/main" val="2180167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86C46-890B-86FF-A4E1-48EC99FE8498}"/>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E725EE09-CC20-5BB0-09B5-0261C3942E38}"/>
              </a:ext>
            </a:extLst>
          </p:cNvPr>
          <p:cNvCxnSpPr>
            <a:cxnSpLocks/>
          </p:cNvCxnSpPr>
          <p:nvPr/>
        </p:nvCxnSpPr>
        <p:spPr>
          <a:xfrm flipH="1">
            <a:off x="3995056" y="2283732"/>
            <a:ext cx="3403603" cy="3799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0DE66DC8-5949-B586-0520-1359D7A6BC5E}"/>
              </a:ext>
            </a:extLst>
          </p:cNvPr>
          <p:cNvSpPr>
            <a:spLocks noGrp="1"/>
          </p:cNvSpPr>
          <p:nvPr>
            <p:ph idx="1"/>
          </p:nvPr>
        </p:nvSpPr>
        <p:spPr>
          <a:xfrm>
            <a:off x="542152" y="487997"/>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p:txBody>
      </p:sp>
      <p:sp>
        <p:nvSpPr>
          <p:cNvPr id="5" name="Title 1">
            <a:extLst>
              <a:ext uri="{FF2B5EF4-FFF2-40B4-BE49-F238E27FC236}">
                <a16:creationId xmlns:a16="http://schemas.microsoft.com/office/drawing/2014/main" id="{AC55851B-2752-1F30-CBAB-15CCE96507FD}"/>
              </a:ext>
            </a:extLst>
          </p:cNvPr>
          <p:cNvSpPr>
            <a:spLocks noGrp="1"/>
          </p:cNvSpPr>
          <p:nvPr>
            <p:ph type="title"/>
          </p:nvPr>
        </p:nvSpPr>
        <p:spPr>
          <a:xfrm>
            <a:off x="0" y="1"/>
            <a:ext cx="12192000" cy="871180"/>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MBINIT.REPAIRCLK  for  Advanced Package (Contd..)</a:t>
            </a:r>
          </a:p>
        </p:txBody>
      </p:sp>
      <p:cxnSp>
        <p:nvCxnSpPr>
          <p:cNvPr id="8" name="Straight Arrow Connector 7">
            <a:extLst>
              <a:ext uri="{FF2B5EF4-FFF2-40B4-BE49-F238E27FC236}">
                <a16:creationId xmlns:a16="http://schemas.microsoft.com/office/drawing/2014/main" id="{0C95CF52-148E-6A3F-8595-C79A0431ADF4}"/>
              </a:ext>
            </a:extLst>
          </p:cNvPr>
          <p:cNvCxnSpPr>
            <a:cxnSpLocks/>
          </p:cNvCxnSpPr>
          <p:nvPr/>
        </p:nvCxnSpPr>
        <p:spPr>
          <a:xfrm>
            <a:off x="4051614" y="1544855"/>
            <a:ext cx="20350" cy="5307454"/>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200B1BF-3908-2DED-D2B3-736B5C034EFB}"/>
              </a:ext>
            </a:extLst>
          </p:cNvPr>
          <p:cNvCxnSpPr>
            <a:cxnSpLocks/>
          </p:cNvCxnSpPr>
          <p:nvPr/>
        </p:nvCxnSpPr>
        <p:spPr>
          <a:xfrm>
            <a:off x="7422057" y="1645280"/>
            <a:ext cx="62761" cy="5106604"/>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41B7019-93DB-3C83-75EE-7D2F1FBB96C2}"/>
              </a:ext>
            </a:extLst>
          </p:cNvPr>
          <p:cNvSpPr txBox="1"/>
          <p:nvPr/>
        </p:nvSpPr>
        <p:spPr>
          <a:xfrm>
            <a:off x="3032120" y="876726"/>
            <a:ext cx="45840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DIE 0 : UCIe Module</a:t>
            </a:r>
          </a:p>
        </p:txBody>
      </p:sp>
      <p:sp>
        <p:nvSpPr>
          <p:cNvPr id="12" name="TextBox 11">
            <a:extLst>
              <a:ext uri="{FF2B5EF4-FFF2-40B4-BE49-F238E27FC236}">
                <a16:creationId xmlns:a16="http://schemas.microsoft.com/office/drawing/2014/main" id="{9A21CE69-C0E9-98AF-6F43-054EC0977C41}"/>
              </a:ext>
            </a:extLst>
          </p:cNvPr>
          <p:cNvSpPr txBox="1"/>
          <p:nvPr/>
        </p:nvSpPr>
        <p:spPr>
          <a:xfrm>
            <a:off x="6167564" y="916336"/>
            <a:ext cx="601099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DIE 1 : UCIe Module Partner</a:t>
            </a:r>
          </a:p>
        </p:txBody>
      </p:sp>
      <p:sp>
        <p:nvSpPr>
          <p:cNvPr id="14" name="TextBox 13">
            <a:extLst>
              <a:ext uri="{FF2B5EF4-FFF2-40B4-BE49-F238E27FC236}">
                <a16:creationId xmlns:a16="http://schemas.microsoft.com/office/drawing/2014/main" id="{D5AB3059-A1D8-BD99-3CDA-DF819A964359}"/>
              </a:ext>
            </a:extLst>
          </p:cNvPr>
          <p:cNvSpPr txBox="1"/>
          <p:nvPr/>
        </p:nvSpPr>
        <p:spPr>
          <a:xfrm>
            <a:off x="7480041" y="1663218"/>
            <a:ext cx="432613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If a repair is needed for one of the clock or track pins (CKP,CKN or TRK) and a repair resource is available ,repair is applied by Module Partner</a:t>
            </a:r>
            <a:endParaRPr lang="en-US" sz="1700" dirty="0">
              <a:latin typeface="Calibri" panose="020F0502020204030204" pitchFamily="34" charset="0"/>
              <a:ea typeface="Calibri" panose="020F0502020204030204" pitchFamily="34" charset="0"/>
              <a:cs typeface="Calibri" panose="020F0502020204030204" pitchFamily="34" charset="0"/>
            </a:endParaRPr>
          </a:p>
        </p:txBody>
      </p:sp>
      <p:cxnSp>
        <p:nvCxnSpPr>
          <p:cNvPr id="15" name="Straight Arrow Connector 14">
            <a:extLst>
              <a:ext uri="{FF2B5EF4-FFF2-40B4-BE49-F238E27FC236}">
                <a16:creationId xmlns:a16="http://schemas.microsoft.com/office/drawing/2014/main" id="{47479718-3800-C576-211B-F182D3D69E39}"/>
              </a:ext>
            </a:extLst>
          </p:cNvPr>
          <p:cNvCxnSpPr>
            <a:cxnSpLocks/>
          </p:cNvCxnSpPr>
          <p:nvPr/>
        </p:nvCxnSpPr>
        <p:spPr>
          <a:xfrm>
            <a:off x="4051614" y="1749596"/>
            <a:ext cx="3274090" cy="3128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3518AFA-201E-E0CE-FF8F-0E2EDBDEF733}"/>
              </a:ext>
            </a:extLst>
          </p:cNvPr>
          <p:cNvSpPr txBox="1"/>
          <p:nvPr/>
        </p:nvSpPr>
        <p:spPr>
          <a:xfrm rot="300000">
            <a:off x="4126096" y="1688453"/>
            <a:ext cx="377283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{MBINIT.REPAIRCLK apply repair Req }</a:t>
            </a:r>
          </a:p>
        </p:txBody>
      </p:sp>
      <p:sp>
        <p:nvSpPr>
          <p:cNvPr id="20" name="TextBox 19">
            <a:extLst>
              <a:ext uri="{FF2B5EF4-FFF2-40B4-BE49-F238E27FC236}">
                <a16:creationId xmlns:a16="http://schemas.microsoft.com/office/drawing/2014/main" id="{232328E0-4E4B-535F-CA43-91DC5E34390E}"/>
              </a:ext>
            </a:extLst>
          </p:cNvPr>
          <p:cNvSpPr txBox="1"/>
          <p:nvPr/>
        </p:nvSpPr>
        <p:spPr>
          <a:xfrm rot="21240000">
            <a:off x="4387315" y="2063693"/>
            <a:ext cx="5029318"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{MBINIT.REPAIRCLK apply repair Resp }</a:t>
            </a:r>
          </a:p>
        </p:txBody>
      </p:sp>
      <p:sp>
        <p:nvSpPr>
          <p:cNvPr id="25" name="TextBox 24">
            <a:extLst>
              <a:ext uri="{FF2B5EF4-FFF2-40B4-BE49-F238E27FC236}">
                <a16:creationId xmlns:a16="http://schemas.microsoft.com/office/drawing/2014/main" id="{A820D2A7-644C-D4ED-CF3E-1A97DFC28799}"/>
              </a:ext>
            </a:extLst>
          </p:cNvPr>
          <p:cNvSpPr txBox="1"/>
          <p:nvPr/>
        </p:nvSpPr>
        <p:spPr>
          <a:xfrm rot="10800000" flipV="1">
            <a:off x="288648" y="3532789"/>
            <a:ext cx="3128430"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latin typeface="Calibri" panose="020F0502020204030204" pitchFamily="34" charset="0"/>
                <a:ea typeface="Calibri" panose="020F0502020204030204" pitchFamily="34" charset="0"/>
                <a:cs typeface="Calibri" panose="020F0502020204030204" pitchFamily="34" charset="0"/>
              </a:rPr>
              <a:t>Sends 128 iterations of clock repair patterns(16 clock cycles high followed by 8 cycles of low) on TCKP_L only</a:t>
            </a:r>
          </a:p>
        </p:txBody>
      </p:sp>
      <p:cxnSp>
        <p:nvCxnSpPr>
          <p:cNvPr id="38" name="Straight Arrow Connector 37">
            <a:extLst>
              <a:ext uri="{FF2B5EF4-FFF2-40B4-BE49-F238E27FC236}">
                <a16:creationId xmlns:a16="http://schemas.microsoft.com/office/drawing/2014/main" id="{C6EB5598-3FAE-6D4A-F32F-B7FAF1EBBEF1}"/>
              </a:ext>
            </a:extLst>
          </p:cNvPr>
          <p:cNvCxnSpPr>
            <a:cxnSpLocks/>
          </p:cNvCxnSpPr>
          <p:nvPr/>
        </p:nvCxnSpPr>
        <p:spPr>
          <a:xfrm flipV="1">
            <a:off x="4063161" y="3429000"/>
            <a:ext cx="3375209" cy="184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4D5F04D0-3EB5-5CAE-8C03-104C6AA9FB7E}"/>
              </a:ext>
            </a:extLst>
          </p:cNvPr>
          <p:cNvSpPr txBox="1"/>
          <p:nvPr/>
        </p:nvSpPr>
        <p:spPr>
          <a:xfrm rot="21300000">
            <a:off x="3998274" y="3500099"/>
            <a:ext cx="4978580"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dirty="0"/>
              <a:t>{ MBINIT.REPAIRCLK check repair </a:t>
            </a:r>
            <a:r>
              <a:rPr lang="en-US" sz="1300" dirty="0" err="1"/>
              <a:t>init</a:t>
            </a:r>
            <a:r>
              <a:rPr lang="en-US" sz="1300" dirty="0"/>
              <a:t> Resp }</a:t>
            </a:r>
          </a:p>
        </p:txBody>
      </p:sp>
      <p:cxnSp>
        <p:nvCxnSpPr>
          <p:cNvPr id="4" name="Straight Arrow Connector 3">
            <a:extLst>
              <a:ext uri="{FF2B5EF4-FFF2-40B4-BE49-F238E27FC236}">
                <a16:creationId xmlns:a16="http://schemas.microsoft.com/office/drawing/2014/main" id="{F092CCB9-C06C-C072-6C0E-BC87D9694931}"/>
              </a:ext>
            </a:extLst>
          </p:cNvPr>
          <p:cNvCxnSpPr>
            <a:cxnSpLocks/>
          </p:cNvCxnSpPr>
          <p:nvPr/>
        </p:nvCxnSpPr>
        <p:spPr>
          <a:xfrm flipH="1">
            <a:off x="4079605" y="3622251"/>
            <a:ext cx="3368305" cy="4067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8B51AF6-B0BB-5A07-A3F8-55972883D783}"/>
              </a:ext>
            </a:extLst>
          </p:cNvPr>
          <p:cNvSpPr txBox="1"/>
          <p:nvPr/>
        </p:nvSpPr>
        <p:spPr>
          <a:xfrm rot="10800000" flipV="1">
            <a:off x="3932452" y="3150577"/>
            <a:ext cx="3761386" cy="523220"/>
          </a:xfrm>
          <a:prstGeom prst="rect">
            <a:avLst/>
          </a:prstGeom>
          <a:noFill/>
        </p:spPr>
        <p:txBody>
          <a:bodyPr wrap="square" rtlCol="0">
            <a:spAutoFit/>
          </a:bodyPr>
          <a:lstStyle/>
          <a:p>
            <a:r>
              <a:rPr lang="en-US" sz="1400" dirty="0"/>
              <a:t>{ MBINIT.REPAIRCLK check repair </a:t>
            </a:r>
            <a:r>
              <a:rPr lang="en-US" sz="1400" dirty="0" err="1"/>
              <a:t>init</a:t>
            </a:r>
            <a:r>
              <a:rPr lang="en-US" sz="1400" dirty="0"/>
              <a:t> Req }</a:t>
            </a:r>
          </a:p>
          <a:p>
            <a:endParaRPr lang="en-IN" sz="1400" dirty="0"/>
          </a:p>
        </p:txBody>
      </p:sp>
      <p:sp>
        <p:nvSpPr>
          <p:cNvPr id="41" name="TextBox 40">
            <a:extLst>
              <a:ext uri="{FF2B5EF4-FFF2-40B4-BE49-F238E27FC236}">
                <a16:creationId xmlns:a16="http://schemas.microsoft.com/office/drawing/2014/main" id="{48550D45-0597-E657-B339-F01127173E5B}"/>
              </a:ext>
            </a:extLst>
          </p:cNvPr>
          <p:cNvSpPr txBox="1"/>
          <p:nvPr/>
        </p:nvSpPr>
        <p:spPr>
          <a:xfrm rot="10800000" flipV="1">
            <a:off x="7636730" y="4153775"/>
            <a:ext cx="3075190" cy="584775"/>
          </a:xfrm>
          <a:prstGeom prst="rect">
            <a:avLst/>
          </a:prstGeom>
          <a:noFill/>
        </p:spPr>
        <p:txBody>
          <a:bodyPr wrap="square" rtlCol="0">
            <a:spAutoFit/>
          </a:bodyPr>
          <a:lstStyle/>
          <a:p>
            <a:r>
              <a:rPr lang="en-IN" sz="1600" dirty="0">
                <a:latin typeface="Calibri" panose="020F0502020204030204" pitchFamily="34" charset="0"/>
                <a:ea typeface="Calibri" panose="020F0502020204030204" pitchFamily="34" charset="0"/>
                <a:cs typeface="Calibri" panose="020F0502020204030204" pitchFamily="34" charset="0"/>
              </a:rPr>
              <a:t>Above steps are repeating for TCKN_L,TTRK_L and TRDCK_L</a:t>
            </a:r>
          </a:p>
        </p:txBody>
      </p:sp>
      <p:sp>
        <p:nvSpPr>
          <p:cNvPr id="23" name="TextBox 22">
            <a:extLst>
              <a:ext uri="{FF2B5EF4-FFF2-40B4-BE49-F238E27FC236}">
                <a16:creationId xmlns:a16="http://schemas.microsoft.com/office/drawing/2014/main" id="{478E5551-C720-334B-D143-765A1CF582BC}"/>
              </a:ext>
            </a:extLst>
          </p:cNvPr>
          <p:cNvSpPr txBox="1"/>
          <p:nvPr/>
        </p:nvSpPr>
        <p:spPr>
          <a:xfrm>
            <a:off x="417345" y="2062416"/>
            <a:ext cx="3491417" cy="1200329"/>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If repair is </a:t>
            </a:r>
            <a:r>
              <a:rPr lang="en-IN" dirty="0" err="1">
                <a:latin typeface="Calibri" panose="020F0502020204030204" pitchFamily="34" charset="0"/>
                <a:ea typeface="Calibri" panose="020F0502020204030204" pitchFamily="34" charset="0"/>
                <a:cs typeface="Calibri" panose="020F0502020204030204" pitchFamily="34" charset="0"/>
              </a:rPr>
              <a:t>applied,UCIe</a:t>
            </a:r>
            <a:r>
              <a:rPr lang="en-IN" dirty="0">
                <a:latin typeface="Calibri" panose="020F0502020204030204" pitchFamily="34" charset="0"/>
                <a:ea typeface="Calibri" panose="020F0502020204030204" pitchFamily="34" charset="0"/>
                <a:cs typeface="Calibri" panose="020F0502020204030204" pitchFamily="34" charset="0"/>
              </a:rPr>
              <a:t> module check the repair success by applying clock repair pattern and checking on the receiver</a:t>
            </a:r>
          </a:p>
        </p:txBody>
      </p:sp>
      <p:cxnSp>
        <p:nvCxnSpPr>
          <p:cNvPr id="47" name="Straight Arrow Connector 46">
            <a:extLst>
              <a:ext uri="{FF2B5EF4-FFF2-40B4-BE49-F238E27FC236}">
                <a16:creationId xmlns:a16="http://schemas.microsoft.com/office/drawing/2014/main" id="{DB51BB5A-EB8D-2505-BC04-A9A68C23BE5F}"/>
              </a:ext>
            </a:extLst>
          </p:cNvPr>
          <p:cNvCxnSpPr>
            <a:cxnSpLocks/>
          </p:cNvCxnSpPr>
          <p:nvPr/>
        </p:nvCxnSpPr>
        <p:spPr>
          <a:xfrm>
            <a:off x="4079605" y="4654822"/>
            <a:ext cx="3294554" cy="167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B6561A48-BEB9-C789-AC8C-A3536D539A1C}"/>
              </a:ext>
            </a:extLst>
          </p:cNvPr>
          <p:cNvSpPr txBox="1"/>
          <p:nvPr/>
        </p:nvSpPr>
        <p:spPr>
          <a:xfrm>
            <a:off x="4223877" y="4403829"/>
            <a:ext cx="3285752" cy="307777"/>
          </a:xfrm>
          <a:prstGeom prst="rect">
            <a:avLst/>
          </a:prstGeom>
          <a:noFill/>
        </p:spPr>
        <p:txBody>
          <a:bodyPr wrap="square" rtlCol="0">
            <a:spAutoFit/>
          </a:bodyPr>
          <a:lstStyle/>
          <a:p>
            <a:r>
              <a:rPr lang="en-IN" sz="1400" dirty="0"/>
              <a:t>MBINIT.REPAIRCLK check results </a:t>
            </a:r>
            <a:r>
              <a:rPr lang="en-IN" sz="1400" dirty="0" err="1"/>
              <a:t>req</a:t>
            </a:r>
            <a:endParaRPr lang="en-IN" sz="1400" dirty="0"/>
          </a:p>
        </p:txBody>
      </p:sp>
      <p:cxnSp>
        <p:nvCxnSpPr>
          <p:cNvPr id="51" name="Straight Arrow Connector 50">
            <a:extLst>
              <a:ext uri="{FF2B5EF4-FFF2-40B4-BE49-F238E27FC236}">
                <a16:creationId xmlns:a16="http://schemas.microsoft.com/office/drawing/2014/main" id="{8334829E-4362-A6D2-1EE1-3785DD976EAA}"/>
              </a:ext>
            </a:extLst>
          </p:cNvPr>
          <p:cNvCxnSpPr>
            <a:cxnSpLocks/>
          </p:cNvCxnSpPr>
          <p:nvPr/>
        </p:nvCxnSpPr>
        <p:spPr>
          <a:xfrm flipH="1">
            <a:off x="4042543" y="4918070"/>
            <a:ext cx="3405367" cy="4964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04D4EBBD-4961-6B3D-5BAC-3A03D340EFB8}"/>
              </a:ext>
            </a:extLst>
          </p:cNvPr>
          <p:cNvSpPr txBox="1"/>
          <p:nvPr/>
        </p:nvSpPr>
        <p:spPr>
          <a:xfrm rot="10360767" flipV="1">
            <a:off x="4247323" y="4797051"/>
            <a:ext cx="3606703" cy="307777"/>
          </a:xfrm>
          <a:prstGeom prst="rect">
            <a:avLst/>
          </a:prstGeom>
          <a:noFill/>
        </p:spPr>
        <p:txBody>
          <a:bodyPr wrap="square">
            <a:spAutoFit/>
          </a:bodyPr>
          <a:lstStyle/>
          <a:p>
            <a:r>
              <a:rPr lang="en-IN" sz="1400" dirty="0"/>
              <a:t>MBINIT.REPAIRCLK check results </a:t>
            </a:r>
            <a:r>
              <a:rPr lang="en-IN" sz="1400" dirty="0" err="1"/>
              <a:t>resp</a:t>
            </a:r>
            <a:endParaRPr lang="en-IN" sz="1400" dirty="0"/>
          </a:p>
        </p:txBody>
      </p:sp>
      <p:cxnSp>
        <p:nvCxnSpPr>
          <p:cNvPr id="61" name="Straight Arrow Connector 60">
            <a:extLst>
              <a:ext uri="{FF2B5EF4-FFF2-40B4-BE49-F238E27FC236}">
                <a16:creationId xmlns:a16="http://schemas.microsoft.com/office/drawing/2014/main" id="{192A8F7C-B844-138E-F799-4BD88B502548}"/>
              </a:ext>
            </a:extLst>
          </p:cNvPr>
          <p:cNvCxnSpPr>
            <a:cxnSpLocks/>
          </p:cNvCxnSpPr>
          <p:nvPr/>
        </p:nvCxnSpPr>
        <p:spPr>
          <a:xfrm flipH="1" flipV="1">
            <a:off x="2094207" y="5514430"/>
            <a:ext cx="1977757" cy="366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9A28A330-2E2A-60C5-ACBC-EA11D82798A6}"/>
              </a:ext>
            </a:extLst>
          </p:cNvPr>
          <p:cNvSpPr txBox="1"/>
          <p:nvPr/>
        </p:nvSpPr>
        <p:spPr>
          <a:xfrm rot="10800000" flipV="1">
            <a:off x="2605303" y="4958349"/>
            <a:ext cx="1340887" cy="646331"/>
          </a:xfrm>
          <a:prstGeom prst="rect">
            <a:avLst/>
          </a:prstGeom>
          <a:noFill/>
        </p:spPr>
        <p:txBody>
          <a:bodyPr wrap="square" rtlCol="0">
            <a:spAutoFit/>
          </a:bodyPr>
          <a:lstStyle/>
          <a:p>
            <a:r>
              <a:rPr lang="en-IN" dirty="0"/>
              <a:t>Repair not successful</a:t>
            </a:r>
          </a:p>
        </p:txBody>
      </p:sp>
      <p:sp>
        <p:nvSpPr>
          <p:cNvPr id="65" name="TextBox 64">
            <a:extLst>
              <a:ext uri="{FF2B5EF4-FFF2-40B4-BE49-F238E27FC236}">
                <a16:creationId xmlns:a16="http://schemas.microsoft.com/office/drawing/2014/main" id="{0A9E470B-BFF2-B520-FFB7-D460C99E2407}"/>
              </a:ext>
            </a:extLst>
          </p:cNvPr>
          <p:cNvSpPr txBox="1"/>
          <p:nvPr/>
        </p:nvSpPr>
        <p:spPr>
          <a:xfrm>
            <a:off x="669558" y="5109380"/>
            <a:ext cx="1762005" cy="646331"/>
          </a:xfrm>
          <a:prstGeom prst="rect">
            <a:avLst/>
          </a:prstGeom>
          <a:noFill/>
        </p:spPr>
        <p:txBody>
          <a:bodyPr wrap="square" rtlCol="0">
            <a:spAutoFit/>
          </a:bodyPr>
          <a:lstStyle/>
          <a:p>
            <a:r>
              <a:rPr lang="en-IN" dirty="0"/>
              <a:t>Both go to TRAINERROR</a:t>
            </a:r>
          </a:p>
        </p:txBody>
      </p:sp>
      <p:sp>
        <p:nvSpPr>
          <p:cNvPr id="66" name="TextBox 65">
            <a:extLst>
              <a:ext uri="{FF2B5EF4-FFF2-40B4-BE49-F238E27FC236}">
                <a16:creationId xmlns:a16="http://schemas.microsoft.com/office/drawing/2014/main" id="{C78B1082-A3F1-03C7-BAC5-BE949BF30634}"/>
              </a:ext>
            </a:extLst>
          </p:cNvPr>
          <p:cNvSpPr txBox="1"/>
          <p:nvPr/>
        </p:nvSpPr>
        <p:spPr>
          <a:xfrm>
            <a:off x="2240763" y="5731289"/>
            <a:ext cx="1977757" cy="738664"/>
          </a:xfrm>
          <a:prstGeom prst="rect">
            <a:avLst/>
          </a:prstGeom>
          <a:noFill/>
        </p:spPr>
        <p:txBody>
          <a:bodyPr wrap="square" rtlCol="0">
            <a:spAutoFit/>
          </a:bodyPr>
          <a:lstStyle/>
          <a:p>
            <a:r>
              <a:rPr lang="en-IN" sz="1400" dirty="0"/>
              <a:t>Repair is successful detected only on RCKP_L</a:t>
            </a:r>
          </a:p>
        </p:txBody>
      </p:sp>
      <p:cxnSp>
        <p:nvCxnSpPr>
          <p:cNvPr id="68" name="Straight Arrow Connector 67">
            <a:extLst>
              <a:ext uri="{FF2B5EF4-FFF2-40B4-BE49-F238E27FC236}">
                <a16:creationId xmlns:a16="http://schemas.microsoft.com/office/drawing/2014/main" id="{EDB20985-BA4D-C63F-9E63-A7B49C7A4C68}"/>
              </a:ext>
            </a:extLst>
          </p:cNvPr>
          <p:cNvCxnSpPr>
            <a:cxnSpLocks/>
          </p:cNvCxnSpPr>
          <p:nvPr/>
        </p:nvCxnSpPr>
        <p:spPr>
          <a:xfrm>
            <a:off x="4024421" y="5679499"/>
            <a:ext cx="3496294" cy="116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043BB3BF-3478-5663-0950-2AE231AC6868}"/>
              </a:ext>
            </a:extLst>
          </p:cNvPr>
          <p:cNvCxnSpPr>
            <a:cxnSpLocks/>
          </p:cNvCxnSpPr>
          <p:nvPr/>
        </p:nvCxnSpPr>
        <p:spPr>
          <a:xfrm flipH="1">
            <a:off x="4042543" y="6002275"/>
            <a:ext cx="3437498" cy="1048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B9D84410-18DD-7A53-3D9F-3593DBF7D484}"/>
              </a:ext>
            </a:extLst>
          </p:cNvPr>
          <p:cNvSpPr txBox="1"/>
          <p:nvPr/>
        </p:nvSpPr>
        <p:spPr>
          <a:xfrm>
            <a:off x="4192101" y="5787249"/>
            <a:ext cx="2867750" cy="307777"/>
          </a:xfrm>
          <a:prstGeom prst="rect">
            <a:avLst/>
          </a:prstGeom>
          <a:noFill/>
        </p:spPr>
        <p:txBody>
          <a:bodyPr wrap="square" rtlCol="0">
            <a:spAutoFit/>
          </a:bodyPr>
          <a:lstStyle/>
          <a:p>
            <a:r>
              <a:rPr lang="en-IN" sz="1400" dirty="0"/>
              <a:t>MBINIT.REPAIRCLK done </a:t>
            </a:r>
            <a:r>
              <a:rPr lang="en-IN" sz="1400" dirty="0" err="1"/>
              <a:t>resp</a:t>
            </a:r>
            <a:endParaRPr lang="en-IN" sz="1400" dirty="0"/>
          </a:p>
        </p:txBody>
      </p:sp>
      <p:sp>
        <p:nvSpPr>
          <p:cNvPr id="74" name="TextBox 73">
            <a:extLst>
              <a:ext uri="{FF2B5EF4-FFF2-40B4-BE49-F238E27FC236}">
                <a16:creationId xmlns:a16="http://schemas.microsoft.com/office/drawing/2014/main" id="{771CCD59-48FF-D2EA-FBD4-ED3D95FCCD82}"/>
              </a:ext>
            </a:extLst>
          </p:cNvPr>
          <p:cNvSpPr txBox="1"/>
          <p:nvPr/>
        </p:nvSpPr>
        <p:spPr>
          <a:xfrm>
            <a:off x="4580726" y="5504900"/>
            <a:ext cx="3893361" cy="307777"/>
          </a:xfrm>
          <a:prstGeom prst="rect">
            <a:avLst/>
          </a:prstGeom>
          <a:noFill/>
        </p:spPr>
        <p:txBody>
          <a:bodyPr wrap="square" rtlCol="0">
            <a:spAutoFit/>
          </a:bodyPr>
          <a:lstStyle/>
          <a:p>
            <a:r>
              <a:rPr lang="en-IN" sz="1400" dirty="0"/>
              <a:t>MBINIT.REPAIRCLK done </a:t>
            </a:r>
            <a:r>
              <a:rPr lang="en-IN" sz="1400" dirty="0" err="1"/>
              <a:t>req</a:t>
            </a:r>
            <a:endParaRPr lang="en-IN" sz="1400" dirty="0"/>
          </a:p>
        </p:txBody>
      </p:sp>
      <p:sp>
        <p:nvSpPr>
          <p:cNvPr id="75" name="TextBox 74">
            <a:extLst>
              <a:ext uri="{FF2B5EF4-FFF2-40B4-BE49-F238E27FC236}">
                <a16:creationId xmlns:a16="http://schemas.microsoft.com/office/drawing/2014/main" id="{02E9F606-1DEA-669A-1FCE-8D8E08011302}"/>
              </a:ext>
            </a:extLst>
          </p:cNvPr>
          <p:cNvSpPr txBox="1"/>
          <p:nvPr/>
        </p:nvSpPr>
        <p:spPr>
          <a:xfrm>
            <a:off x="3946191" y="2586101"/>
            <a:ext cx="4330982" cy="369332"/>
          </a:xfrm>
          <a:prstGeom prst="rect">
            <a:avLst/>
          </a:prstGeom>
          <a:noFill/>
        </p:spPr>
        <p:txBody>
          <a:bodyPr wrap="square" rtlCol="0">
            <a:spAutoFit/>
          </a:bodyPr>
          <a:lstStyle/>
          <a:p>
            <a:r>
              <a:rPr lang="en-IN" dirty="0"/>
              <a:t>-------------------------------------------</a:t>
            </a:r>
          </a:p>
        </p:txBody>
      </p:sp>
      <p:sp>
        <p:nvSpPr>
          <p:cNvPr id="80" name="TextBox 79">
            <a:extLst>
              <a:ext uri="{FF2B5EF4-FFF2-40B4-BE49-F238E27FC236}">
                <a16:creationId xmlns:a16="http://schemas.microsoft.com/office/drawing/2014/main" id="{43F3A1AE-D0E5-0E73-5083-42F239C7B83F}"/>
              </a:ext>
            </a:extLst>
          </p:cNvPr>
          <p:cNvSpPr txBox="1"/>
          <p:nvPr/>
        </p:nvSpPr>
        <p:spPr>
          <a:xfrm>
            <a:off x="3995004" y="3926722"/>
            <a:ext cx="4264035" cy="369332"/>
          </a:xfrm>
          <a:prstGeom prst="rect">
            <a:avLst/>
          </a:prstGeom>
          <a:noFill/>
        </p:spPr>
        <p:txBody>
          <a:bodyPr wrap="square" rtlCol="0">
            <a:spAutoFit/>
          </a:bodyPr>
          <a:lstStyle/>
          <a:p>
            <a:r>
              <a:rPr lang="en-IN" dirty="0"/>
              <a:t>--------------------------------------------</a:t>
            </a:r>
          </a:p>
        </p:txBody>
      </p:sp>
      <p:sp>
        <p:nvSpPr>
          <p:cNvPr id="83" name="TextBox 82">
            <a:extLst>
              <a:ext uri="{FF2B5EF4-FFF2-40B4-BE49-F238E27FC236}">
                <a16:creationId xmlns:a16="http://schemas.microsoft.com/office/drawing/2014/main" id="{98E10EB0-3E2C-8276-B237-B036B68985D7}"/>
              </a:ext>
            </a:extLst>
          </p:cNvPr>
          <p:cNvSpPr txBox="1"/>
          <p:nvPr/>
        </p:nvSpPr>
        <p:spPr>
          <a:xfrm>
            <a:off x="3946190" y="5311513"/>
            <a:ext cx="4631121" cy="369332"/>
          </a:xfrm>
          <a:prstGeom prst="rect">
            <a:avLst/>
          </a:prstGeom>
          <a:noFill/>
        </p:spPr>
        <p:txBody>
          <a:bodyPr wrap="square" rtlCol="0">
            <a:spAutoFit/>
          </a:bodyPr>
          <a:lstStyle/>
          <a:p>
            <a:r>
              <a:rPr lang="en-IN" dirty="0"/>
              <a:t>--------------------------------------------</a:t>
            </a:r>
          </a:p>
        </p:txBody>
      </p:sp>
      <p:cxnSp>
        <p:nvCxnSpPr>
          <p:cNvPr id="88" name="Straight Arrow Connector 87">
            <a:extLst>
              <a:ext uri="{FF2B5EF4-FFF2-40B4-BE49-F238E27FC236}">
                <a16:creationId xmlns:a16="http://schemas.microsoft.com/office/drawing/2014/main" id="{9A8A0CB0-C52C-A2F9-ECE4-FFBA59337C63}"/>
              </a:ext>
            </a:extLst>
          </p:cNvPr>
          <p:cNvCxnSpPr>
            <a:cxnSpLocks/>
          </p:cNvCxnSpPr>
          <p:nvPr/>
        </p:nvCxnSpPr>
        <p:spPr>
          <a:xfrm>
            <a:off x="5741043" y="6095026"/>
            <a:ext cx="0" cy="5564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7310485B-F27A-04FA-A63E-9316B00F1F79}"/>
              </a:ext>
            </a:extLst>
          </p:cNvPr>
          <p:cNvSpPr txBox="1"/>
          <p:nvPr/>
        </p:nvSpPr>
        <p:spPr>
          <a:xfrm>
            <a:off x="5086175" y="6561114"/>
            <a:ext cx="2006969" cy="369332"/>
          </a:xfrm>
          <a:prstGeom prst="rect">
            <a:avLst/>
          </a:prstGeom>
          <a:noFill/>
        </p:spPr>
        <p:txBody>
          <a:bodyPr wrap="square" rtlCol="0">
            <a:spAutoFit/>
          </a:bodyPr>
          <a:lstStyle/>
          <a:p>
            <a:r>
              <a:rPr lang="en-IN" dirty="0"/>
              <a:t>REPAIRVAL</a:t>
            </a:r>
          </a:p>
        </p:txBody>
      </p:sp>
      <p:sp>
        <p:nvSpPr>
          <p:cNvPr id="2" name="TextBox 1">
            <a:extLst>
              <a:ext uri="{FF2B5EF4-FFF2-40B4-BE49-F238E27FC236}">
                <a16:creationId xmlns:a16="http://schemas.microsoft.com/office/drawing/2014/main" id="{AC5ED98E-DE6D-BBF6-11B8-F6F3DD6F75EE}"/>
              </a:ext>
            </a:extLst>
          </p:cNvPr>
          <p:cNvSpPr txBox="1"/>
          <p:nvPr/>
        </p:nvSpPr>
        <p:spPr>
          <a:xfrm>
            <a:off x="7693838" y="3283699"/>
            <a:ext cx="4127617" cy="338554"/>
          </a:xfrm>
          <a:prstGeom prst="rect">
            <a:avLst/>
          </a:prstGeom>
          <a:noFill/>
        </p:spPr>
        <p:txBody>
          <a:bodyPr wrap="square" rtlCol="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ready to receive and check clock repair pattern.</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113812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88558" y="729469"/>
            <a:ext cx="9014348" cy="2402006"/>
          </a:xfrm>
        </p:spPr>
        <p:txBody>
          <a:bodyPr anchor="b">
            <a:normAutofit/>
          </a:bodyPr>
          <a:lstStyle/>
          <a:p>
            <a:r>
              <a:rPr lang="en-US" sz="4800" dirty="0">
                <a:latin typeface="Calibri" panose="020F0502020204030204" pitchFamily="34" charset="0"/>
                <a:ea typeface="Calibri" panose="020F0502020204030204" pitchFamily="34" charset="0"/>
                <a:cs typeface="Calibri" panose="020F0502020204030204" pitchFamily="34" charset="0"/>
              </a:rPr>
              <a:t>UCIe Link Training</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849533" y="5079628"/>
            <a:ext cx="4778029" cy="1020664"/>
          </a:xfrm>
        </p:spPr>
        <p:txBody>
          <a:bodyPr anchor="ctr">
            <a:normAutofit fontScale="92500"/>
          </a:bodyPr>
          <a:lstStyle/>
          <a:p>
            <a:pPr algn="l"/>
            <a:r>
              <a:rPr lang="en-US" dirty="0">
                <a:solidFill>
                  <a:srgbClr val="FFFFFF"/>
                </a:solidFill>
              </a:rPr>
              <a:t>V.SRAVANTHI</a:t>
            </a:r>
          </a:p>
          <a:p>
            <a:pPr algn="l"/>
            <a:r>
              <a:rPr lang="en-US" dirty="0">
                <a:solidFill>
                  <a:srgbClr val="FFFFFF"/>
                </a:solidFill>
              </a:rPr>
              <a:t>CHIPWEAVE TECHNOLOGIES PVT LTD</a:t>
            </a:r>
          </a:p>
        </p:txBody>
      </p:sp>
    </p:spTree>
    <p:extLst>
      <p:ext uri="{BB962C8B-B14F-4D97-AF65-F5344CB8AC3E}">
        <p14:creationId xmlns:p14="http://schemas.microsoft.com/office/powerpoint/2010/main" val="1098572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1B35B5-1EF0-7F98-DE21-64AEB3584BC4}"/>
              </a:ext>
            </a:extLst>
          </p:cNvPr>
          <p:cNvSpPr>
            <a:spLocks noGrp="1"/>
          </p:cNvSpPr>
          <p:nvPr>
            <p:ph idx="1"/>
          </p:nvPr>
        </p:nvSpPr>
        <p:spPr>
          <a:xfrm>
            <a:off x="521898" y="1250531"/>
            <a:ext cx="10515600" cy="4351338"/>
          </a:xfrm>
        </p:spPr>
        <p:txBody>
          <a:bodyPr vert="horz" lIns="91440" tIns="45720" rIns="91440" bIns="45720" rtlCol="0" anchor="t">
            <a:normAutofit/>
          </a:bodyPr>
          <a:lstStyle/>
          <a:p>
            <a:r>
              <a:rPr lang="en-US" dirty="0">
                <a:latin typeface="Calibri" panose="020F0502020204030204" pitchFamily="34" charset="0"/>
                <a:ea typeface="Calibri" panose="020F0502020204030204" pitchFamily="34" charset="0"/>
                <a:cs typeface="Calibri" panose="020F0502020204030204" pitchFamily="34" charset="0"/>
              </a:rPr>
              <a:t>Introduction</a:t>
            </a:r>
          </a:p>
          <a:p>
            <a:r>
              <a:rPr lang="en-US" dirty="0">
                <a:latin typeface="Calibri" panose="020F0502020204030204" pitchFamily="34" charset="0"/>
                <a:ea typeface="Calibri" panose="020F0502020204030204" pitchFamily="34" charset="0"/>
                <a:cs typeface="Calibri" panose="020F0502020204030204" pitchFamily="34" charset="0"/>
              </a:rPr>
              <a:t>Link Training Basic Operations</a:t>
            </a:r>
          </a:p>
          <a:p>
            <a:r>
              <a:rPr lang="en-US" dirty="0"/>
              <a:t>Transmitter initiated Data to Clock Point Test</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t>Transmitter initiated Data to Clock Eye Width Sweep</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08C32F6C-B7EE-A57C-0B32-A168B30F2069}"/>
              </a:ext>
            </a:extLst>
          </p:cNvPr>
          <p:cNvSpPr>
            <a:spLocks noGrp="1"/>
          </p:cNvSpPr>
          <p:nvPr>
            <p:ph type="title"/>
          </p:nvPr>
        </p:nvSpPr>
        <p:spPr>
          <a:xfrm>
            <a:off x="0" y="1"/>
            <a:ext cx="12192000" cy="871180"/>
          </a:xfrm>
          <a:solidFill>
            <a:schemeClr val="accent6"/>
          </a:solidFill>
        </p:spPr>
        <p:txBody>
          <a:bodyPr>
            <a:normAutofit/>
          </a:bodyPr>
          <a:lstStyle/>
          <a:p>
            <a:pPr algn="ctr"/>
            <a:r>
              <a:rPr lang="en-US" sz="3200" dirty="0">
                <a:latin typeface="Calibri" panose="020F0502020204030204" pitchFamily="34" charset="0"/>
                <a:ea typeface="Calibri" panose="020F0502020204030204" pitchFamily="34" charset="0"/>
                <a:cs typeface="Calibri" panose="020F0502020204030204" pitchFamily="34" charset="0"/>
              </a:rPr>
              <a:t>CONTENTS</a:t>
            </a:r>
          </a:p>
        </p:txBody>
      </p:sp>
    </p:spTree>
    <p:extLst>
      <p:ext uri="{BB962C8B-B14F-4D97-AF65-F5344CB8AC3E}">
        <p14:creationId xmlns:p14="http://schemas.microsoft.com/office/powerpoint/2010/main" val="905354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349CE-552A-46D4-022E-6E802D4019F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F33D3B-29BB-83DB-633F-4A82A9325982}"/>
              </a:ext>
            </a:extLst>
          </p:cNvPr>
          <p:cNvSpPr>
            <a:spLocks noGrp="1"/>
          </p:cNvSpPr>
          <p:nvPr>
            <p:ph idx="1"/>
          </p:nvPr>
        </p:nvSpPr>
        <p:spPr>
          <a:xfrm>
            <a:off x="863600" y="1413933"/>
            <a:ext cx="10490200" cy="4763030"/>
          </a:xfrm>
        </p:spPr>
        <p:txBody>
          <a:bodyPr vert="horz" lIns="91440" tIns="45720" rIns="91440" bIns="45720" rtlCol="0" anchor="t">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UCIe link training is the process of detecting, aligning, calibrating, and validating a die-to-die link before enabling high-speed data transfer.</a:t>
            </a:r>
          </a:p>
          <a:p>
            <a:r>
              <a:rPr lang="en-US" sz="2400" dirty="0">
                <a:latin typeface="Calibri" panose="020F0502020204030204" pitchFamily="34" charset="0"/>
                <a:ea typeface="Calibri" panose="020F0502020204030204" pitchFamily="34" charset="0"/>
                <a:cs typeface="Calibri" panose="020F0502020204030204" pitchFamily="34" charset="0"/>
              </a:rPr>
              <a:t>Link Training Basic Operations </a:t>
            </a:r>
            <a:r>
              <a:rPr lang="en-US" sz="2400" dirty="0"/>
              <a:t>will be used in main band initialization, training and margining</a:t>
            </a:r>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B9CE4B0F-140A-6415-25C7-BE5A06B20BD2}"/>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UCIe Link Training</a:t>
            </a:r>
          </a:p>
        </p:txBody>
      </p:sp>
    </p:spTree>
    <p:extLst>
      <p:ext uri="{BB962C8B-B14F-4D97-AF65-F5344CB8AC3E}">
        <p14:creationId xmlns:p14="http://schemas.microsoft.com/office/powerpoint/2010/main" val="670273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F7129-DE10-10E2-C147-49A8478246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74BBD3-5BDA-5B96-E4D2-1357F4473A6B}"/>
              </a:ext>
            </a:extLst>
          </p:cNvPr>
          <p:cNvSpPr>
            <a:spLocks noGrp="1"/>
          </p:cNvSpPr>
          <p:nvPr>
            <p:ph idx="1"/>
          </p:nvPr>
        </p:nvSpPr>
        <p:spPr>
          <a:xfrm>
            <a:off x="863600" y="1413933"/>
            <a:ext cx="10490200" cy="4763030"/>
          </a:xfrm>
        </p:spPr>
        <p:txBody>
          <a:bodyPr vert="horz" lIns="91440" tIns="45720" rIns="91440" bIns="45720" rtlCol="0" anchor="t">
            <a:normAutofit/>
          </a:bodyPr>
          <a:lstStyle/>
          <a:p>
            <a:pPr>
              <a:buFont typeface="Courier New" panose="02070309020205020404" pitchFamily="49" charset="0"/>
              <a:buChar char="o"/>
            </a:pPr>
            <a:r>
              <a:rPr lang="en-US" sz="2400" dirty="0">
                <a:latin typeface="Calibri" panose="020F0502020204030204" pitchFamily="34" charset="0"/>
                <a:ea typeface="Calibri" panose="020F0502020204030204" pitchFamily="34" charset="0"/>
                <a:cs typeface="Calibri" panose="020F0502020204030204" pitchFamily="34" charset="0"/>
              </a:rPr>
              <a:t>In this mode, the Transmitter initiates the data to clock training on all Lanes in the module at a single PI phase. </a:t>
            </a:r>
          </a:p>
          <a:p>
            <a:pPr>
              <a:buFont typeface="Courier New" panose="02070309020205020404" pitchFamily="49" charset="0"/>
              <a:buChar char="o"/>
            </a:pPr>
            <a:r>
              <a:rPr lang="en-US" sz="2400" dirty="0">
                <a:latin typeface="Calibri" panose="020F0502020204030204" pitchFamily="34" charset="0"/>
                <a:ea typeface="Calibri" panose="020F0502020204030204" pitchFamily="34" charset="0"/>
                <a:cs typeface="Calibri" panose="020F0502020204030204" pitchFamily="34" charset="0"/>
              </a:rPr>
              <a:t>When not performing the actions relevant to this state: </a:t>
            </a:r>
          </a:p>
          <a:p>
            <a:pPr>
              <a:buFont typeface="Courier New" panose="02070309020205020404" pitchFamily="49" charset="0"/>
              <a:buChar char="o"/>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5D362964-67E1-A12E-C89F-D516C7845B2C}"/>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Calibri" panose="020F0502020204030204" pitchFamily="34" charset="0"/>
                <a:ea typeface="Calibri" panose="020F0502020204030204" pitchFamily="34" charset="0"/>
                <a:cs typeface="Calibri" panose="020F0502020204030204" pitchFamily="34" charset="0"/>
              </a:rPr>
              <a:t>                                      Transmitter initiated Data to Clock Point Test</a:t>
            </a:r>
          </a:p>
        </p:txBody>
      </p:sp>
      <p:graphicFrame>
        <p:nvGraphicFramePr>
          <p:cNvPr id="2" name="Table 1">
            <a:extLst>
              <a:ext uri="{FF2B5EF4-FFF2-40B4-BE49-F238E27FC236}">
                <a16:creationId xmlns:a16="http://schemas.microsoft.com/office/drawing/2014/main" id="{E585ACF0-C949-A165-45CE-349F9C9BB2E3}"/>
              </a:ext>
            </a:extLst>
          </p:cNvPr>
          <p:cNvGraphicFramePr>
            <a:graphicFrameLocks noGrp="1"/>
          </p:cNvGraphicFramePr>
          <p:nvPr>
            <p:extLst>
              <p:ext uri="{D42A27DB-BD31-4B8C-83A1-F6EECF244321}">
                <p14:modId xmlns:p14="http://schemas.microsoft.com/office/powerpoint/2010/main" val="3231868762"/>
              </p:ext>
            </p:extLst>
          </p:nvPr>
        </p:nvGraphicFramePr>
        <p:xfrm>
          <a:off x="1425039" y="2864744"/>
          <a:ext cx="8402453" cy="2177519"/>
        </p:xfrm>
        <a:graphic>
          <a:graphicData uri="http://schemas.openxmlformats.org/drawingml/2006/table">
            <a:tbl>
              <a:tblPr firstRow="1" bandRow="1">
                <a:tableStyleId>{5C22544A-7EE6-4342-B048-85BDC9FD1C3A}</a:tableStyleId>
              </a:tblPr>
              <a:tblGrid>
                <a:gridCol w="3835730">
                  <a:extLst>
                    <a:ext uri="{9D8B030D-6E8A-4147-A177-3AD203B41FA5}">
                      <a16:colId xmlns:a16="http://schemas.microsoft.com/office/drawing/2014/main" val="2980389977"/>
                    </a:ext>
                  </a:extLst>
                </a:gridCol>
                <a:gridCol w="4566723">
                  <a:extLst>
                    <a:ext uri="{9D8B030D-6E8A-4147-A177-3AD203B41FA5}">
                      <a16:colId xmlns:a16="http://schemas.microsoft.com/office/drawing/2014/main" val="2574589423"/>
                    </a:ext>
                  </a:extLst>
                </a:gridCol>
              </a:tblGrid>
              <a:tr h="364362">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Signal / Component</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State / Behavior</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158150124"/>
                  </a:ext>
                </a:extLst>
              </a:tr>
              <a:tr h="364362">
                <a:tc>
                  <a:txBody>
                    <a:bodyPr/>
                    <a:lstStyle/>
                    <a:p>
                      <a:pPr>
                        <a:buNone/>
                      </a:pPr>
                      <a:r>
                        <a:rPr lang="en-US" b="1" dirty="0">
                          <a:latin typeface="Calibri" panose="020F0502020204030204" pitchFamily="34" charset="0"/>
                          <a:ea typeface="Calibri" panose="020F0502020204030204" pitchFamily="34" charset="0"/>
                          <a:cs typeface="Calibri" panose="020F0502020204030204" pitchFamily="34" charset="0"/>
                        </a:rPr>
                        <a:t>Data, Valid, and Track Transmitters</a:t>
                      </a: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Drive LOW</a:t>
                      </a:r>
                    </a:p>
                  </a:txBody>
                  <a:tcPr anchor="ctr"/>
                </a:tc>
                <a:extLst>
                  <a:ext uri="{0D108BD9-81ED-4DB2-BD59-A6C34878D82A}">
                    <a16:rowId xmlns:a16="http://schemas.microsoft.com/office/drawing/2014/main" val="3867334548"/>
                  </a:ext>
                </a:extLst>
              </a:tr>
              <a:tr h="714479">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Clock Transmitters</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Held differential LOW (for differential clocking) or simultaneous LOW (for quadrature clocking)</a:t>
                      </a:r>
                    </a:p>
                  </a:txBody>
                  <a:tcPr anchor="ctr"/>
                </a:tc>
                <a:extLst>
                  <a:ext uri="{0D108BD9-81ED-4DB2-BD59-A6C34878D82A}">
                    <a16:rowId xmlns:a16="http://schemas.microsoft.com/office/drawing/2014/main" val="2734438334"/>
                  </a:ext>
                </a:extLst>
              </a:tr>
              <a:tr h="364362">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Data, Valid, and Clock Receivers</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Enabled</a:t>
                      </a:r>
                    </a:p>
                  </a:txBody>
                  <a:tcPr anchor="ctr"/>
                </a:tc>
                <a:extLst>
                  <a:ext uri="{0D108BD9-81ED-4DB2-BD59-A6C34878D82A}">
                    <a16:rowId xmlns:a16="http://schemas.microsoft.com/office/drawing/2014/main" val="3084707557"/>
                  </a:ext>
                </a:extLst>
              </a:tr>
              <a:tr h="364362">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Track Receiver</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Permitted to be disabled</a:t>
                      </a:r>
                    </a:p>
                  </a:txBody>
                  <a:tcPr anchor="ctr"/>
                </a:tc>
                <a:extLst>
                  <a:ext uri="{0D108BD9-81ED-4DB2-BD59-A6C34878D82A}">
                    <a16:rowId xmlns:a16="http://schemas.microsoft.com/office/drawing/2014/main" val="232126782"/>
                  </a:ext>
                </a:extLst>
              </a:tr>
            </a:tbl>
          </a:graphicData>
        </a:graphic>
      </p:graphicFrame>
      <p:sp>
        <p:nvSpPr>
          <p:cNvPr id="5" name="TextBox 4">
            <a:extLst>
              <a:ext uri="{FF2B5EF4-FFF2-40B4-BE49-F238E27FC236}">
                <a16:creationId xmlns:a16="http://schemas.microsoft.com/office/drawing/2014/main" id="{FA137992-525E-6633-25BC-FD491696407A}"/>
              </a:ext>
            </a:extLst>
          </p:cNvPr>
          <p:cNvSpPr txBox="1"/>
          <p:nvPr/>
        </p:nvSpPr>
        <p:spPr>
          <a:xfrm>
            <a:off x="10021455" y="5615709"/>
            <a:ext cx="2022157" cy="369332"/>
          </a:xfrm>
          <a:prstGeom prst="rect">
            <a:avLst/>
          </a:prstGeom>
          <a:noFill/>
        </p:spPr>
        <p:txBody>
          <a:bodyPr wrap="none" rtlCol="0">
            <a:spAutoFit/>
          </a:bodyPr>
          <a:lstStyle/>
          <a:p>
            <a:r>
              <a:rPr lang="en-IN" dirty="0"/>
              <a:t>Phase Interpolator</a:t>
            </a:r>
          </a:p>
        </p:txBody>
      </p:sp>
    </p:spTree>
    <p:extLst>
      <p:ext uri="{BB962C8B-B14F-4D97-AF65-F5344CB8AC3E}">
        <p14:creationId xmlns:p14="http://schemas.microsoft.com/office/powerpoint/2010/main" val="2134037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EF286-C023-0BE5-4458-450B0CBF6037}"/>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46268742-9E02-287B-6B18-460AFD9C8809}"/>
              </a:ext>
            </a:extLst>
          </p:cNvPr>
          <p:cNvGraphicFramePr>
            <a:graphicFrameLocks noGrp="1"/>
          </p:cNvGraphicFramePr>
          <p:nvPr>
            <p:ph idx="1"/>
            <p:extLst>
              <p:ext uri="{D42A27DB-BD31-4B8C-83A1-F6EECF244321}">
                <p14:modId xmlns:p14="http://schemas.microsoft.com/office/powerpoint/2010/main" val="200667833"/>
              </p:ext>
            </p:extLst>
          </p:nvPr>
        </p:nvGraphicFramePr>
        <p:xfrm>
          <a:off x="648277" y="1075701"/>
          <a:ext cx="11061700" cy="5429436"/>
        </p:xfrm>
        <a:graphic>
          <a:graphicData uri="http://schemas.openxmlformats.org/drawingml/2006/table">
            <a:tbl>
              <a:tblPr firstRow="1" bandRow="1">
                <a:tableStyleId>{5C22544A-7EE6-4342-B048-85BDC9FD1C3A}</a:tableStyleId>
              </a:tblPr>
              <a:tblGrid>
                <a:gridCol w="2854944">
                  <a:extLst>
                    <a:ext uri="{9D8B030D-6E8A-4147-A177-3AD203B41FA5}">
                      <a16:colId xmlns:a16="http://schemas.microsoft.com/office/drawing/2014/main" val="2703470668"/>
                    </a:ext>
                  </a:extLst>
                </a:gridCol>
                <a:gridCol w="3633849">
                  <a:extLst>
                    <a:ext uri="{9D8B030D-6E8A-4147-A177-3AD203B41FA5}">
                      <a16:colId xmlns:a16="http://schemas.microsoft.com/office/drawing/2014/main" val="3800165587"/>
                    </a:ext>
                  </a:extLst>
                </a:gridCol>
                <a:gridCol w="4572907">
                  <a:extLst>
                    <a:ext uri="{9D8B030D-6E8A-4147-A177-3AD203B41FA5}">
                      <a16:colId xmlns:a16="http://schemas.microsoft.com/office/drawing/2014/main" val="1897573110"/>
                    </a:ext>
                  </a:extLst>
                </a:gridCol>
              </a:tblGrid>
              <a:tr h="400236">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Parameter</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Sideband Message Field</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Options</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835606499"/>
                  </a:ext>
                </a:extLst>
              </a:tr>
              <a:tr h="622109">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Clock sampling / PI phase control</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Clock Phase control at Transmitter</a:t>
                      </a: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Eye Center found by training</a:t>
                      </a:r>
                    </a:p>
                  </a:txBody>
                  <a:tcPr anchor="ctr"/>
                </a:tc>
                <a:extLst>
                  <a:ext uri="{0D108BD9-81ED-4DB2-BD59-A6C34878D82A}">
                    <a16:rowId xmlns:a16="http://schemas.microsoft.com/office/drawing/2014/main" val="4220055786"/>
                  </a:ext>
                </a:extLst>
              </a:tr>
              <a:tr h="284405">
                <a:tc>
                  <a:txBody>
                    <a:bodyPr/>
                    <a:lstStyle/>
                    <a:p>
                      <a:pPr>
                        <a:buNone/>
                      </a:pP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Eye Left Edge found by training</a:t>
                      </a:r>
                    </a:p>
                  </a:txBody>
                  <a:tcPr anchor="ctr"/>
                </a:tc>
                <a:extLst>
                  <a:ext uri="{0D108BD9-81ED-4DB2-BD59-A6C34878D82A}">
                    <a16:rowId xmlns:a16="http://schemas.microsoft.com/office/drawing/2014/main" val="3375781963"/>
                  </a:ext>
                </a:extLst>
              </a:tr>
              <a:tr h="310531">
                <a:tc>
                  <a:txBody>
                    <a:bodyPr/>
                    <a:lstStyle/>
                    <a:p>
                      <a:pPr>
                        <a:buNone/>
                      </a:pP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Eye Right Edge found by training</a:t>
                      </a:r>
                    </a:p>
                  </a:txBody>
                  <a:tcPr anchor="ctr"/>
                </a:tc>
                <a:extLst>
                  <a:ext uri="{0D108BD9-81ED-4DB2-BD59-A6C34878D82A}">
                    <a16:rowId xmlns:a16="http://schemas.microsoft.com/office/drawing/2014/main" val="2187116014"/>
                  </a:ext>
                </a:extLst>
              </a:tr>
              <a:tr h="299424">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Tx Pattern Generator Setup</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Data Pattern (for Data Lanes)</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LFSR Pattern for Data Lanes</a:t>
                      </a:r>
                    </a:p>
                  </a:txBody>
                  <a:tcPr anchor="ctr"/>
                </a:tc>
                <a:extLst>
                  <a:ext uri="{0D108BD9-81ED-4DB2-BD59-A6C34878D82A}">
                    <a16:rowId xmlns:a16="http://schemas.microsoft.com/office/drawing/2014/main" val="3834932108"/>
                  </a:ext>
                </a:extLst>
              </a:tr>
              <a:tr h="303406">
                <a:tc>
                  <a:txBody>
                    <a:bodyPr/>
                    <a:lstStyle/>
                    <a:p>
                      <a:pPr>
                        <a:buNone/>
                      </a:pP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Per-Lane ID pattern for Data Lanes </a:t>
                      </a:r>
                    </a:p>
                  </a:txBody>
                  <a:tcPr anchor="ctr"/>
                </a:tc>
                <a:extLst>
                  <a:ext uri="{0D108BD9-81ED-4DB2-BD59-A6C34878D82A}">
                    <a16:rowId xmlns:a16="http://schemas.microsoft.com/office/drawing/2014/main" val="4050162048"/>
                  </a:ext>
                </a:extLst>
              </a:tr>
              <a:tr h="232923">
                <a:tc>
                  <a:txBody>
                    <a:bodyPr/>
                    <a:lstStyle/>
                    <a:p>
                      <a:pPr>
                        <a:buNone/>
                      </a:pP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Valid Pattern (for Valid Lanes)</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VALTRAIN pattern for Valid Lanes</a:t>
                      </a:r>
                    </a:p>
                  </a:txBody>
                  <a:tcPr anchor="ctr"/>
                </a:tc>
                <a:extLst>
                  <a:ext uri="{0D108BD9-81ED-4DB2-BD59-A6C34878D82A}">
                    <a16:rowId xmlns:a16="http://schemas.microsoft.com/office/drawing/2014/main" val="2008756165"/>
                  </a:ext>
                </a:extLst>
              </a:tr>
              <a:tr h="579682">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Tx Pattern Mode Setup</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Pattern Mode</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Burst Mode: Uses Burst Count / Idle Count / Iteration Count</a:t>
                      </a:r>
                    </a:p>
                  </a:txBody>
                  <a:tcPr anchor="ctr"/>
                </a:tc>
                <a:extLst>
                  <a:ext uri="{0D108BD9-81ED-4DB2-BD59-A6C34878D82A}">
                    <a16:rowId xmlns:a16="http://schemas.microsoft.com/office/drawing/2014/main" val="1869129772"/>
                  </a:ext>
                </a:extLst>
              </a:tr>
              <a:tr h="689676">
                <a:tc>
                  <a:txBody>
                    <a:bodyPr/>
                    <a:lstStyle/>
                    <a:p>
                      <a:pPr>
                        <a:buNone/>
                      </a:pP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Continuous Mode: Less Burst count to indicate number of UI of transmission, Idle Count = 0, Iteration Count = 1</a:t>
                      </a:r>
                    </a:p>
                  </a:txBody>
                  <a:tcPr anchor="ctr"/>
                </a:tc>
                <a:extLst>
                  <a:ext uri="{0D108BD9-81ED-4DB2-BD59-A6C34878D82A}">
                    <a16:rowId xmlns:a16="http://schemas.microsoft.com/office/drawing/2014/main" val="246200170"/>
                  </a:ext>
                </a:extLst>
              </a:tr>
              <a:tr h="479771">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Rx Compare Setup</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Maximum Comparison error threshold</a:t>
                      </a:r>
                    </a:p>
                  </a:txBody>
                  <a:tcPr anchor="ct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Maximum comparison error threshold</a:t>
                      </a:r>
                    </a:p>
                  </a:txBody>
                  <a:tcPr anchor="ctr"/>
                </a:tc>
                <a:extLst>
                  <a:ext uri="{0D108BD9-81ED-4DB2-BD59-A6C34878D82A}">
                    <a16:rowId xmlns:a16="http://schemas.microsoft.com/office/drawing/2014/main" val="3004364330"/>
                  </a:ext>
                </a:extLst>
              </a:tr>
              <a:tr h="290634">
                <a:tc>
                  <a:txBody>
                    <a:bodyPr/>
                    <a:lstStyle/>
                    <a:p>
                      <a:pPr>
                        <a:buNone/>
                      </a:pP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Comparison Mode</a:t>
                      </a: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Per-Lane or aggregate error compare</a:t>
                      </a:r>
                    </a:p>
                  </a:txBody>
                  <a:tcPr anchor="ctr"/>
                </a:tc>
                <a:extLst>
                  <a:ext uri="{0D108BD9-81ED-4DB2-BD59-A6C34878D82A}">
                    <a16:rowId xmlns:a16="http://schemas.microsoft.com/office/drawing/2014/main" val="1992153404"/>
                  </a:ext>
                </a:extLst>
              </a:tr>
            </a:tbl>
          </a:graphicData>
        </a:graphic>
      </p:graphicFrame>
      <p:sp>
        <p:nvSpPr>
          <p:cNvPr id="4" name="Title 1">
            <a:extLst>
              <a:ext uri="{FF2B5EF4-FFF2-40B4-BE49-F238E27FC236}">
                <a16:creationId xmlns:a16="http://schemas.microsoft.com/office/drawing/2014/main" id="{8FBB6A65-B5C2-45CE-C569-F007DE5D4650}"/>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Calibri" panose="020F0502020204030204" pitchFamily="34" charset="0"/>
                <a:ea typeface="Calibri" panose="020F0502020204030204" pitchFamily="34" charset="0"/>
                <a:cs typeface="Calibri" panose="020F0502020204030204" pitchFamily="34" charset="0"/>
              </a:rPr>
              <a:t>                                      Transmitter initiated Data to Clock Point Test</a:t>
            </a:r>
          </a:p>
        </p:txBody>
      </p:sp>
    </p:spTree>
    <p:extLst>
      <p:ext uri="{BB962C8B-B14F-4D97-AF65-F5344CB8AC3E}">
        <p14:creationId xmlns:p14="http://schemas.microsoft.com/office/powerpoint/2010/main" val="32828760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88DAC-69C7-8548-4850-3F8C0BD7C884}"/>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2B363787-D6C6-B48E-C8AA-0A9F1770B522}"/>
              </a:ext>
            </a:extLst>
          </p:cNvPr>
          <p:cNvCxnSpPr>
            <a:cxnSpLocks/>
          </p:cNvCxnSpPr>
          <p:nvPr/>
        </p:nvCxnSpPr>
        <p:spPr>
          <a:xfrm flipH="1">
            <a:off x="3995056" y="2283732"/>
            <a:ext cx="3403603" cy="3799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D6E57A2B-E85E-7B93-D609-91C79C19FF39}"/>
              </a:ext>
            </a:extLst>
          </p:cNvPr>
          <p:cNvSpPr>
            <a:spLocks noGrp="1"/>
          </p:cNvSpPr>
          <p:nvPr>
            <p:ph idx="1"/>
          </p:nvPr>
        </p:nvSpPr>
        <p:spPr>
          <a:xfrm>
            <a:off x="542152" y="487997"/>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p:txBody>
      </p:sp>
      <p:sp>
        <p:nvSpPr>
          <p:cNvPr id="5" name="Title 1">
            <a:extLst>
              <a:ext uri="{FF2B5EF4-FFF2-40B4-BE49-F238E27FC236}">
                <a16:creationId xmlns:a16="http://schemas.microsoft.com/office/drawing/2014/main" id="{CA8DB18B-BA42-C6B8-0EB7-868A98A00756}"/>
              </a:ext>
            </a:extLst>
          </p:cNvPr>
          <p:cNvSpPr>
            <a:spLocks noGrp="1"/>
          </p:cNvSpPr>
          <p:nvPr>
            <p:ph type="title"/>
          </p:nvPr>
        </p:nvSpPr>
        <p:spPr>
          <a:xfrm>
            <a:off x="0" y="1"/>
            <a:ext cx="12192000" cy="871180"/>
          </a:xfrm>
          <a:solidFill>
            <a:schemeClr val="accent6"/>
          </a:solidFill>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 Transmitter initiated Data to Clock Point Test(Contd..)</a:t>
            </a:r>
          </a:p>
        </p:txBody>
      </p:sp>
      <p:cxnSp>
        <p:nvCxnSpPr>
          <p:cNvPr id="8" name="Straight Arrow Connector 7">
            <a:extLst>
              <a:ext uri="{FF2B5EF4-FFF2-40B4-BE49-F238E27FC236}">
                <a16:creationId xmlns:a16="http://schemas.microsoft.com/office/drawing/2014/main" id="{CC54DE4E-0C87-7E21-05EA-D39E575C0C59}"/>
              </a:ext>
            </a:extLst>
          </p:cNvPr>
          <p:cNvCxnSpPr>
            <a:cxnSpLocks/>
          </p:cNvCxnSpPr>
          <p:nvPr/>
        </p:nvCxnSpPr>
        <p:spPr>
          <a:xfrm>
            <a:off x="4051614" y="1544855"/>
            <a:ext cx="20350" cy="5307454"/>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3848B7A-32EA-1907-B708-536584DEA1EC}"/>
              </a:ext>
            </a:extLst>
          </p:cNvPr>
          <p:cNvCxnSpPr>
            <a:cxnSpLocks/>
          </p:cNvCxnSpPr>
          <p:nvPr/>
        </p:nvCxnSpPr>
        <p:spPr>
          <a:xfrm>
            <a:off x="7422057" y="1645280"/>
            <a:ext cx="62761" cy="5106604"/>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9B99A17-E847-4680-D339-DD37007B0A57}"/>
              </a:ext>
            </a:extLst>
          </p:cNvPr>
          <p:cNvSpPr txBox="1"/>
          <p:nvPr/>
        </p:nvSpPr>
        <p:spPr>
          <a:xfrm>
            <a:off x="3032120" y="876726"/>
            <a:ext cx="45840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DIE 0 : UCIe Module</a:t>
            </a:r>
          </a:p>
        </p:txBody>
      </p:sp>
      <p:sp>
        <p:nvSpPr>
          <p:cNvPr id="12" name="TextBox 11">
            <a:extLst>
              <a:ext uri="{FF2B5EF4-FFF2-40B4-BE49-F238E27FC236}">
                <a16:creationId xmlns:a16="http://schemas.microsoft.com/office/drawing/2014/main" id="{59433716-8149-8632-9713-2F34B9FD3718}"/>
              </a:ext>
            </a:extLst>
          </p:cNvPr>
          <p:cNvSpPr txBox="1"/>
          <p:nvPr/>
        </p:nvSpPr>
        <p:spPr>
          <a:xfrm>
            <a:off x="6167564" y="916336"/>
            <a:ext cx="601099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DIE 1 : UCIe Module Partner</a:t>
            </a:r>
          </a:p>
        </p:txBody>
      </p:sp>
      <p:sp>
        <p:nvSpPr>
          <p:cNvPr id="14" name="TextBox 13">
            <a:extLst>
              <a:ext uri="{FF2B5EF4-FFF2-40B4-BE49-F238E27FC236}">
                <a16:creationId xmlns:a16="http://schemas.microsoft.com/office/drawing/2014/main" id="{4F8297D7-8456-BEC5-0AC7-E25EA4D4AA9D}"/>
              </a:ext>
            </a:extLst>
          </p:cNvPr>
          <p:cNvSpPr txBox="1"/>
          <p:nvPr/>
        </p:nvSpPr>
        <p:spPr>
          <a:xfrm>
            <a:off x="7480041" y="1663218"/>
            <a:ext cx="432613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Once the data to clock training parameters for its Receiver are setup</a:t>
            </a:r>
            <a:endParaRPr lang="en-US" sz="1700" dirty="0">
              <a:latin typeface="Calibri" panose="020F0502020204030204" pitchFamily="34" charset="0"/>
              <a:ea typeface="Calibri" panose="020F0502020204030204" pitchFamily="34" charset="0"/>
              <a:cs typeface="Calibri" panose="020F0502020204030204" pitchFamily="34" charset="0"/>
            </a:endParaRPr>
          </a:p>
        </p:txBody>
      </p:sp>
      <p:cxnSp>
        <p:nvCxnSpPr>
          <p:cNvPr id="15" name="Straight Arrow Connector 14">
            <a:extLst>
              <a:ext uri="{FF2B5EF4-FFF2-40B4-BE49-F238E27FC236}">
                <a16:creationId xmlns:a16="http://schemas.microsoft.com/office/drawing/2014/main" id="{612B246A-114E-4F44-E78D-47C2B2F8B6CB}"/>
              </a:ext>
            </a:extLst>
          </p:cNvPr>
          <p:cNvCxnSpPr>
            <a:cxnSpLocks/>
          </p:cNvCxnSpPr>
          <p:nvPr/>
        </p:nvCxnSpPr>
        <p:spPr>
          <a:xfrm>
            <a:off x="4051614" y="1749596"/>
            <a:ext cx="3274090" cy="3128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E016D10C-C4FB-BA72-9328-E160E597DF83}"/>
              </a:ext>
            </a:extLst>
          </p:cNvPr>
          <p:cNvSpPr txBox="1"/>
          <p:nvPr/>
        </p:nvSpPr>
        <p:spPr>
          <a:xfrm rot="300000">
            <a:off x="4126096" y="1688453"/>
            <a:ext cx="377283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{Start Tx Init D to C point test req}</a:t>
            </a:r>
          </a:p>
        </p:txBody>
      </p:sp>
      <p:sp>
        <p:nvSpPr>
          <p:cNvPr id="20" name="TextBox 19">
            <a:extLst>
              <a:ext uri="{FF2B5EF4-FFF2-40B4-BE49-F238E27FC236}">
                <a16:creationId xmlns:a16="http://schemas.microsoft.com/office/drawing/2014/main" id="{0EC4E5CA-8485-2B2D-21AF-5D06E7F94A12}"/>
              </a:ext>
            </a:extLst>
          </p:cNvPr>
          <p:cNvSpPr txBox="1"/>
          <p:nvPr/>
        </p:nvSpPr>
        <p:spPr>
          <a:xfrm rot="21240000">
            <a:off x="4387315" y="2055998"/>
            <a:ext cx="502931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{Start Tx Init D to C point test resp}</a:t>
            </a:r>
            <a:endParaRPr lang="en-US" sz="1300" dirty="0"/>
          </a:p>
        </p:txBody>
      </p:sp>
      <p:sp>
        <p:nvSpPr>
          <p:cNvPr id="25" name="TextBox 24">
            <a:extLst>
              <a:ext uri="{FF2B5EF4-FFF2-40B4-BE49-F238E27FC236}">
                <a16:creationId xmlns:a16="http://schemas.microsoft.com/office/drawing/2014/main" id="{F14BC916-0C40-EF2D-7888-78A583251CA3}"/>
              </a:ext>
            </a:extLst>
          </p:cNvPr>
          <p:cNvSpPr txBox="1"/>
          <p:nvPr/>
        </p:nvSpPr>
        <p:spPr>
          <a:xfrm rot="10800000" flipV="1">
            <a:off x="472296" y="2916920"/>
            <a:ext cx="310236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The UCIe Module resets the LFSR (scrambler) on its main band Transmitters </a:t>
            </a:r>
            <a:endParaRPr lang="en-US" sz="1700" dirty="0">
              <a:latin typeface="Calibri" panose="020F0502020204030204" pitchFamily="34" charset="0"/>
              <a:ea typeface="Calibri" panose="020F0502020204030204" pitchFamily="34" charset="0"/>
              <a:cs typeface="Calibri" panose="020F0502020204030204" pitchFamily="34" charset="0"/>
            </a:endParaRPr>
          </a:p>
        </p:txBody>
      </p:sp>
      <p:cxnSp>
        <p:nvCxnSpPr>
          <p:cNvPr id="38" name="Straight Arrow Connector 37">
            <a:extLst>
              <a:ext uri="{FF2B5EF4-FFF2-40B4-BE49-F238E27FC236}">
                <a16:creationId xmlns:a16="http://schemas.microsoft.com/office/drawing/2014/main" id="{AB1BA8B5-698B-302A-2899-F0C3124D8203}"/>
              </a:ext>
            </a:extLst>
          </p:cNvPr>
          <p:cNvCxnSpPr>
            <a:cxnSpLocks/>
          </p:cNvCxnSpPr>
          <p:nvPr/>
        </p:nvCxnSpPr>
        <p:spPr>
          <a:xfrm flipV="1">
            <a:off x="4063161" y="3429000"/>
            <a:ext cx="3375209" cy="184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8AEF3AFB-4258-9DE9-2CCB-216C890B8088}"/>
              </a:ext>
            </a:extLst>
          </p:cNvPr>
          <p:cNvSpPr txBox="1"/>
          <p:nvPr/>
        </p:nvSpPr>
        <p:spPr>
          <a:xfrm rot="21300000">
            <a:off x="4382460" y="3460398"/>
            <a:ext cx="494189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400" dirty="0"/>
              <a:t>{LFSR clear error </a:t>
            </a:r>
            <a:r>
              <a:rPr lang="en-IN" sz="1400" dirty="0" err="1"/>
              <a:t>resp</a:t>
            </a:r>
            <a:r>
              <a:rPr lang="en-IN" sz="1400" dirty="0"/>
              <a:t>} </a:t>
            </a:r>
            <a:endParaRPr lang="en-US" sz="1300" dirty="0"/>
          </a:p>
        </p:txBody>
      </p:sp>
      <p:cxnSp>
        <p:nvCxnSpPr>
          <p:cNvPr id="4" name="Straight Arrow Connector 3">
            <a:extLst>
              <a:ext uri="{FF2B5EF4-FFF2-40B4-BE49-F238E27FC236}">
                <a16:creationId xmlns:a16="http://schemas.microsoft.com/office/drawing/2014/main" id="{181266D5-5774-24CB-6B66-5F9016EA0A1A}"/>
              </a:ext>
            </a:extLst>
          </p:cNvPr>
          <p:cNvCxnSpPr>
            <a:cxnSpLocks/>
          </p:cNvCxnSpPr>
          <p:nvPr/>
        </p:nvCxnSpPr>
        <p:spPr>
          <a:xfrm flipH="1">
            <a:off x="4079605" y="3622251"/>
            <a:ext cx="3368305" cy="4067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D340CAB-DCEB-6058-32D6-C58876116F85}"/>
              </a:ext>
            </a:extLst>
          </p:cNvPr>
          <p:cNvSpPr txBox="1"/>
          <p:nvPr/>
        </p:nvSpPr>
        <p:spPr>
          <a:xfrm rot="10800000" flipV="1">
            <a:off x="4580724" y="3173791"/>
            <a:ext cx="3518963" cy="307777"/>
          </a:xfrm>
          <a:prstGeom prst="rect">
            <a:avLst/>
          </a:prstGeom>
          <a:noFill/>
        </p:spPr>
        <p:txBody>
          <a:bodyPr wrap="square" rtlCol="0">
            <a:spAutoFit/>
          </a:bodyPr>
          <a:lstStyle/>
          <a:p>
            <a:r>
              <a:rPr lang="en-IN" sz="1400" dirty="0"/>
              <a:t>{LFSR clear error </a:t>
            </a:r>
            <a:r>
              <a:rPr lang="en-IN" sz="1400" dirty="0" err="1"/>
              <a:t>req</a:t>
            </a:r>
            <a:r>
              <a:rPr lang="en-IN" sz="1400" dirty="0"/>
              <a:t>}</a:t>
            </a:r>
          </a:p>
        </p:txBody>
      </p:sp>
      <p:sp>
        <p:nvSpPr>
          <p:cNvPr id="41" name="TextBox 40">
            <a:extLst>
              <a:ext uri="{FF2B5EF4-FFF2-40B4-BE49-F238E27FC236}">
                <a16:creationId xmlns:a16="http://schemas.microsoft.com/office/drawing/2014/main" id="{32EFC494-26D0-1791-9DFB-9CB689C29334}"/>
              </a:ext>
            </a:extLst>
          </p:cNvPr>
          <p:cNvSpPr txBox="1"/>
          <p:nvPr/>
        </p:nvSpPr>
        <p:spPr>
          <a:xfrm rot="10800000" flipV="1">
            <a:off x="7518430" y="3773878"/>
            <a:ext cx="4538102" cy="830997"/>
          </a:xfrm>
          <a:prstGeom prst="rect">
            <a:avLst/>
          </a:prstGeom>
          <a:noFill/>
        </p:spPr>
        <p:txBody>
          <a:bodyPr wrap="square" rtlCol="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performs the comparison on its Receivers for each UI during the pattern transmission based on “Rx Compare Setup” and logs the results</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39F875C8-D7ED-FF51-24EA-22F283E8F02A}"/>
              </a:ext>
            </a:extLst>
          </p:cNvPr>
          <p:cNvSpPr txBox="1"/>
          <p:nvPr/>
        </p:nvSpPr>
        <p:spPr>
          <a:xfrm>
            <a:off x="527873" y="1663218"/>
            <a:ext cx="3403604" cy="646331"/>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The UCIe Module sets up the Transmitter parameters</a:t>
            </a:r>
            <a:endParaRPr lang="en-IN" dirty="0">
              <a:latin typeface="Calibri" panose="020F0502020204030204" pitchFamily="34" charset="0"/>
              <a:ea typeface="Calibri" panose="020F0502020204030204" pitchFamily="34" charset="0"/>
              <a:cs typeface="Calibri" panose="020F0502020204030204" pitchFamily="34" charset="0"/>
            </a:endParaRPr>
          </a:p>
        </p:txBody>
      </p:sp>
      <p:cxnSp>
        <p:nvCxnSpPr>
          <p:cNvPr id="47" name="Straight Arrow Connector 46">
            <a:extLst>
              <a:ext uri="{FF2B5EF4-FFF2-40B4-BE49-F238E27FC236}">
                <a16:creationId xmlns:a16="http://schemas.microsoft.com/office/drawing/2014/main" id="{9BF2E5F1-6130-830D-C279-484BE25A7836}"/>
              </a:ext>
            </a:extLst>
          </p:cNvPr>
          <p:cNvCxnSpPr>
            <a:cxnSpLocks/>
          </p:cNvCxnSpPr>
          <p:nvPr/>
        </p:nvCxnSpPr>
        <p:spPr>
          <a:xfrm>
            <a:off x="4079605" y="4654822"/>
            <a:ext cx="3294554" cy="167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DD73ECC0-3F58-C69B-A7EA-F0D587BBEFC7}"/>
              </a:ext>
            </a:extLst>
          </p:cNvPr>
          <p:cNvSpPr txBox="1"/>
          <p:nvPr/>
        </p:nvSpPr>
        <p:spPr>
          <a:xfrm>
            <a:off x="4223877" y="4403829"/>
            <a:ext cx="3285752" cy="307777"/>
          </a:xfrm>
          <a:prstGeom prst="rect">
            <a:avLst/>
          </a:prstGeom>
          <a:noFill/>
        </p:spPr>
        <p:txBody>
          <a:bodyPr wrap="square" rtlCol="0">
            <a:spAutoFit/>
          </a:bodyPr>
          <a:lstStyle/>
          <a:p>
            <a:r>
              <a:rPr lang="en-US" sz="1400" dirty="0"/>
              <a:t>{Tx Init D to C results req} </a:t>
            </a:r>
            <a:endParaRPr lang="en-IN" sz="1400" dirty="0"/>
          </a:p>
        </p:txBody>
      </p:sp>
      <p:cxnSp>
        <p:nvCxnSpPr>
          <p:cNvPr id="51" name="Straight Arrow Connector 50">
            <a:extLst>
              <a:ext uri="{FF2B5EF4-FFF2-40B4-BE49-F238E27FC236}">
                <a16:creationId xmlns:a16="http://schemas.microsoft.com/office/drawing/2014/main" id="{72E1F71C-96A3-280C-5EF8-66C71E9B3326}"/>
              </a:ext>
            </a:extLst>
          </p:cNvPr>
          <p:cNvCxnSpPr>
            <a:cxnSpLocks/>
          </p:cNvCxnSpPr>
          <p:nvPr/>
        </p:nvCxnSpPr>
        <p:spPr>
          <a:xfrm flipH="1">
            <a:off x="4042543" y="4918070"/>
            <a:ext cx="3405367" cy="4964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84869539-799B-7763-ECC6-1A6C809CD40B}"/>
              </a:ext>
            </a:extLst>
          </p:cNvPr>
          <p:cNvSpPr txBox="1"/>
          <p:nvPr/>
        </p:nvSpPr>
        <p:spPr>
          <a:xfrm rot="10360767" flipV="1">
            <a:off x="4247323" y="4797051"/>
            <a:ext cx="3606703" cy="307777"/>
          </a:xfrm>
          <a:prstGeom prst="rect">
            <a:avLst/>
          </a:prstGeom>
          <a:noFill/>
        </p:spPr>
        <p:txBody>
          <a:bodyPr wrap="square">
            <a:spAutoFit/>
          </a:bodyPr>
          <a:lstStyle/>
          <a:p>
            <a:r>
              <a:rPr lang="en-US" sz="1400" dirty="0"/>
              <a:t>{Tx Init D to C results resp} </a:t>
            </a:r>
            <a:endParaRPr lang="en-IN" sz="1400" dirty="0"/>
          </a:p>
        </p:txBody>
      </p:sp>
      <p:sp>
        <p:nvSpPr>
          <p:cNvPr id="63" name="TextBox 62">
            <a:extLst>
              <a:ext uri="{FF2B5EF4-FFF2-40B4-BE49-F238E27FC236}">
                <a16:creationId xmlns:a16="http://schemas.microsoft.com/office/drawing/2014/main" id="{F0CC9EC2-DBD4-1E1B-7BC4-D4A76C3F6C2B}"/>
              </a:ext>
            </a:extLst>
          </p:cNvPr>
          <p:cNvSpPr txBox="1"/>
          <p:nvPr/>
        </p:nvSpPr>
        <p:spPr>
          <a:xfrm rot="10800000" flipV="1">
            <a:off x="223370" y="3996538"/>
            <a:ext cx="3952608" cy="646331"/>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sends the pattern selected through </a:t>
            </a:r>
          </a:p>
          <a:p>
            <a:r>
              <a:rPr lang="en-US" dirty="0">
                <a:latin typeface="Calibri" panose="020F0502020204030204" pitchFamily="34" charset="0"/>
                <a:ea typeface="Calibri" panose="020F0502020204030204" pitchFamily="34" charset="0"/>
                <a:cs typeface="Calibri" panose="020F0502020204030204" pitchFamily="34" charset="0"/>
              </a:rPr>
              <a:t>“Tx Pattern Generator Setup”</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AE416A01-4386-8C5D-FD32-7AE31897E8FE}"/>
              </a:ext>
            </a:extLst>
          </p:cNvPr>
          <p:cNvSpPr txBox="1"/>
          <p:nvPr/>
        </p:nvSpPr>
        <p:spPr>
          <a:xfrm>
            <a:off x="254001" y="5683974"/>
            <a:ext cx="3952607" cy="646331"/>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The UCIe Module stops sending the pattern on its Transmitters</a:t>
            </a:r>
            <a:endParaRPr lang="en-IN" dirty="0">
              <a:latin typeface="Calibri" panose="020F0502020204030204" pitchFamily="34" charset="0"/>
              <a:ea typeface="Calibri" panose="020F0502020204030204" pitchFamily="34" charset="0"/>
              <a:cs typeface="Calibri" panose="020F0502020204030204" pitchFamily="34" charset="0"/>
            </a:endParaRPr>
          </a:p>
        </p:txBody>
      </p:sp>
      <p:cxnSp>
        <p:nvCxnSpPr>
          <p:cNvPr id="68" name="Straight Arrow Connector 67">
            <a:extLst>
              <a:ext uri="{FF2B5EF4-FFF2-40B4-BE49-F238E27FC236}">
                <a16:creationId xmlns:a16="http://schemas.microsoft.com/office/drawing/2014/main" id="{4182F46D-21F0-DB82-5CB9-B163335B27B0}"/>
              </a:ext>
            </a:extLst>
          </p:cNvPr>
          <p:cNvCxnSpPr>
            <a:cxnSpLocks/>
          </p:cNvCxnSpPr>
          <p:nvPr/>
        </p:nvCxnSpPr>
        <p:spPr>
          <a:xfrm>
            <a:off x="4085132" y="5983043"/>
            <a:ext cx="3394909" cy="1040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1FD8FDFB-DF0F-8E1F-D06F-E01C04453AB9}"/>
              </a:ext>
            </a:extLst>
          </p:cNvPr>
          <p:cNvCxnSpPr>
            <a:cxnSpLocks/>
          </p:cNvCxnSpPr>
          <p:nvPr/>
        </p:nvCxnSpPr>
        <p:spPr>
          <a:xfrm flipH="1">
            <a:off x="4058310" y="6427721"/>
            <a:ext cx="3437498" cy="1048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D1C9540F-3DDA-2BF3-D31F-2377EE486732}"/>
              </a:ext>
            </a:extLst>
          </p:cNvPr>
          <p:cNvSpPr txBox="1"/>
          <p:nvPr/>
        </p:nvSpPr>
        <p:spPr>
          <a:xfrm>
            <a:off x="4288746" y="6180660"/>
            <a:ext cx="2867750" cy="307777"/>
          </a:xfrm>
          <a:prstGeom prst="rect">
            <a:avLst/>
          </a:prstGeom>
          <a:noFill/>
        </p:spPr>
        <p:txBody>
          <a:bodyPr wrap="square" rtlCol="0">
            <a:spAutoFit/>
          </a:bodyPr>
          <a:lstStyle/>
          <a:p>
            <a:r>
              <a:rPr lang="en-US" sz="1400" dirty="0"/>
              <a:t>{End Tx Init D to C point test resp}</a:t>
            </a:r>
            <a:endParaRPr lang="en-IN" sz="1400" dirty="0"/>
          </a:p>
        </p:txBody>
      </p:sp>
      <p:sp>
        <p:nvSpPr>
          <p:cNvPr id="74" name="TextBox 73">
            <a:extLst>
              <a:ext uri="{FF2B5EF4-FFF2-40B4-BE49-F238E27FC236}">
                <a16:creationId xmlns:a16="http://schemas.microsoft.com/office/drawing/2014/main" id="{2C64BA99-3561-ED25-DB1F-C459B3908F3A}"/>
              </a:ext>
            </a:extLst>
          </p:cNvPr>
          <p:cNvSpPr txBox="1"/>
          <p:nvPr/>
        </p:nvSpPr>
        <p:spPr>
          <a:xfrm>
            <a:off x="4580726" y="5760055"/>
            <a:ext cx="3760575" cy="307777"/>
          </a:xfrm>
          <a:prstGeom prst="rect">
            <a:avLst/>
          </a:prstGeom>
          <a:noFill/>
        </p:spPr>
        <p:txBody>
          <a:bodyPr wrap="square" rtlCol="0">
            <a:spAutoFit/>
          </a:bodyPr>
          <a:lstStyle/>
          <a:p>
            <a:r>
              <a:rPr lang="en-US" sz="1400" dirty="0"/>
              <a:t>{End Tx Init D to C point test req}</a:t>
            </a:r>
            <a:endParaRPr lang="en-IN" sz="1400" dirty="0"/>
          </a:p>
        </p:txBody>
      </p:sp>
      <p:sp>
        <p:nvSpPr>
          <p:cNvPr id="75" name="TextBox 74">
            <a:extLst>
              <a:ext uri="{FF2B5EF4-FFF2-40B4-BE49-F238E27FC236}">
                <a16:creationId xmlns:a16="http://schemas.microsoft.com/office/drawing/2014/main" id="{FA79B84A-3DED-6906-D960-62D17F7AB1B6}"/>
              </a:ext>
            </a:extLst>
          </p:cNvPr>
          <p:cNvSpPr txBox="1"/>
          <p:nvPr/>
        </p:nvSpPr>
        <p:spPr>
          <a:xfrm>
            <a:off x="3946191" y="2586101"/>
            <a:ext cx="4330982" cy="369332"/>
          </a:xfrm>
          <a:prstGeom prst="rect">
            <a:avLst/>
          </a:prstGeom>
          <a:noFill/>
        </p:spPr>
        <p:txBody>
          <a:bodyPr wrap="square" rtlCol="0">
            <a:spAutoFit/>
          </a:bodyPr>
          <a:lstStyle/>
          <a:p>
            <a:r>
              <a:rPr lang="en-IN" dirty="0"/>
              <a:t>-------------------------------------------</a:t>
            </a:r>
          </a:p>
        </p:txBody>
      </p:sp>
      <p:sp>
        <p:nvSpPr>
          <p:cNvPr id="80" name="TextBox 79">
            <a:extLst>
              <a:ext uri="{FF2B5EF4-FFF2-40B4-BE49-F238E27FC236}">
                <a16:creationId xmlns:a16="http://schemas.microsoft.com/office/drawing/2014/main" id="{57EACC15-64DC-7670-19D8-A507D24189E9}"/>
              </a:ext>
            </a:extLst>
          </p:cNvPr>
          <p:cNvSpPr txBox="1"/>
          <p:nvPr/>
        </p:nvSpPr>
        <p:spPr>
          <a:xfrm>
            <a:off x="3995004" y="3926722"/>
            <a:ext cx="4264035" cy="369332"/>
          </a:xfrm>
          <a:prstGeom prst="rect">
            <a:avLst/>
          </a:prstGeom>
          <a:noFill/>
        </p:spPr>
        <p:txBody>
          <a:bodyPr wrap="square" rtlCol="0">
            <a:spAutoFit/>
          </a:bodyPr>
          <a:lstStyle/>
          <a:p>
            <a:r>
              <a:rPr lang="en-IN" dirty="0"/>
              <a:t>-------------------------------------------</a:t>
            </a:r>
          </a:p>
        </p:txBody>
      </p:sp>
      <p:sp>
        <p:nvSpPr>
          <p:cNvPr id="83" name="TextBox 82">
            <a:extLst>
              <a:ext uri="{FF2B5EF4-FFF2-40B4-BE49-F238E27FC236}">
                <a16:creationId xmlns:a16="http://schemas.microsoft.com/office/drawing/2014/main" id="{44794071-B572-A613-AF32-A4141015BDD6}"/>
              </a:ext>
            </a:extLst>
          </p:cNvPr>
          <p:cNvSpPr txBox="1"/>
          <p:nvPr/>
        </p:nvSpPr>
        <p:spPr>
          <a:xfrm flipV="1">
            <a:off x="3310467" y="5194782"/>
            <a:ext cx="4185341" cy="646331"/>
          </a:xfrm>
          <a:prstGeom prst="rect">
            <a:avLst/>
          </a:prstGeom>
          <a:noFill/>
        </p:spPr>
        <p:txBody>
          <a:bodyPr wrap="square" rtlCol="0">
            <a:spAutoFit/>
          </a:bodyPr>
          <a:lstStyle/>
          <a:p>
            <a:r>
              <a:rPr lang="en-IN" dirty="0"/>
              <a:t>-------------------------------------------</a:t>
            </a:r>
          </a:p>
          <a:p>
            <a:endParaRPr lang="en-IN" dirty="0"/>
          </a:p>
        </p:txBody>
      </p:sp>
      <p:sp>
        <p:nvSpPr>
          <p:cNvPr id="2" name="TextBox 1">
            <a:extLst>
              <a:ext uri="{FF2B5EF4-FFF2-40B4-BE49-F238E27FC236}">
                <a16:creationId xmlns:a16="http://schemas.microsoft.com/office/drawing/2014/main" id="{DC8EF282-4D2E-D1BC-83AF-630050C0FF51}"/>
              </a:ext>
            </a:extLst>
          </p:cNvPr>
          <p:cNvSpPr txBox="1"/>
          <p:nvPr/>
        </p:nvSpPr>
        <p:spPr>
          <a:xfrm>
            <a:off x="7737215" y="2735989"/>
            <a:ext cx="4084240" cy="830997"/>
          </a:xfrm>
          <a:prstGeom prst="rect">
            <a:avLst/>
          </a:prstGeom>
          <a:noFill/>
        </p:spPr>
        <p:txBody>
          <a:bodyPr wrap="square" rtlCol="0">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The UCIe Module Partner resets the LFSR and clears any prior compare results on its main band Receivers</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7813D6F-4F8D-1295-AA51-0573F81F8D87}"/>
              </a:ext>
            </a:extLst>
          </p:cNvPr>
          <p:cNvSpPr txBox="1"/>
          <p:nvPr/>
        </p:nvSpPr>
        <p:spPr>
          <a:xfrm rot="21418674">
            <a:off x="5288298" y="6605998"/>
            <a:ext cx="1065999" cy="307777"/>
          </a:xfrm>
          <a:prstGeom prst="rect">
            <a:avLst/>
          </a:prstGeom>
          <a:noFill/>
        </p:spPr>
        <p:txBody>
          <a:bodyPr wrap="square">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Completed</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cxnSp>
        <p:nvCxnSpPr>
          <p:cNvPr id="13" name="Straight Arrow Connector 12">
            <a:extLst>
              <a:ext uri="{FF2B5EF4-FFF2-40B4-BE49-F238E27FC236}">
                <a16:creationId xmlns:a16="http://schemas.microsoft.com/office/drawing/2014/main" id="{613F234E-336B-6D11-17F0-3065D782B9CE}"/>
              </a:ext>
            </a:extLst>
          </p:cNvPr>
          <p:cNvCxnSpPr>
            <a:cxnSpLocks/>
          </p:cNvCxnSpPr>
          <p:nvPr/>
        </p:nvCxnSpPr>
        <p:spPr>
          <a:xfrm>
            <a:off x="5888042" y="6480143"/>
            <a:ext cx="0" cy="1792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48562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229B1-B9B7-E82E-4284-841B8AB36AF8}"/>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2C98EE51-F201-9EC7-9ABE-4E95F5682C16}"/>
              </a:ext>
            </a:extLst>
          </p:cNvPr>
          <p:cNvGraphicFramePr>
            <a:graphicFrameLocks noGrp="1"/>
          </p:cNvGraphicFramePr>
          <p:nvPr>
            <p:ph idx="1"/>
            <p:extLst>
              <p:ext uri="{D42A27DB-BD31-4B8C-83A1-F6EECF244321}">
                <p14:modId xmlns:p14="http://schemas.microsoft.com/office/powerpoint/2010/main" val="2990066563"/>
              </p:ext>
            </p:extLst>
          </p:nvPr>
        </p:nvGraphicFramePr>
        <p:xfrm>
          <a:off x="838200" y="1825625"/>
          <a:ext cx="10515600" cy="3672840"/>
        </p:xfrm>
        <a:graphic>
          <a:graphicData uri="http://schemas.openxmlformats.org/drawingml/2006/table">
            <a:tbl>
              <a:tblPr firstRow="1" bandRow="1">
                <a:tableStyleId>{5C22544A-7EE6-4342-B048-85BDC9FD1C3A}</a:tableStyleId>
              </a:tblPr>
              <a:tblGrid>
                <a:gridCol w="3781301">
                  <a:extLst>
                    <a:ext uri="{9D8B030D-6E8A-4147-A177-3AD203B41FA5}">
                      <a16:colId xmlns:a16="http://schemas.microsoft.com/office/drawing/2014/main" val="1488624080"/>
                    </a:ext>
                  </a:extLst>
                </a:gridCol>
                <a:gridCol w="6734299">
                  <a:extLst>
                    <a:ext uri="{9D8B030D-6E8A-4147-A177-3AD203B41FA5}">
                      <a16:colId xmlns:a16="http://schemas.microsoft.com/office/drawing/2014/main" val="1526923171"/>
                    </a:ext>
                  </a:extLst>
                </a:gridCol>
              </a:tblGrid>
              <a:tr h="370840">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Signal / Component</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Description</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941475683"/>
                  </a:ext>
                </a:extLst>
              </a:tr>
              <a:tr h="370840">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Mode Operation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The Transmitter initiates the data-to-clock training on all lanes in the module and sweeps through the sampling PI phases.</a:t>
                      </a:r>
                    </a:p>
                  </a:txBody>
                  <a:tcPr anchor="ctr"/>
                </a:tc>
                <a:extLst>
                  <a:ext uri="{0D108BD9-81ED-4DB2-BD59-A6C34878D82A}">
                    <a16:rowId xmlns:a16="http://schemas.microsoft.com/office/drawing/2014/main" val="3859915394"/>
                  </a:ext>
                </a:extLst>
              </a:tr>
              <a:tr h="349934">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Purpose</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Used for data-to-clock alignment training and for checking system margin.</a:t>
                      </a:r>
                    </a:p>
                  </a:txBody>
                  <a:tcPr anchor="ctr"/>
                </a:tc>
                <a:extLst>
                  <a:ext uri="{0D108BD9-81ED-4DB2-BD59-A6C34878D82A}">
                    <a16:rowId xmlns:a16="http://schemas.microsoft.com/office/drawing/2014/main" val="1562975899"/>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Data, Valid, and Track Transmitters</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Driven LOW when actions relevant to this state are not being performed.</a:t>
                      </a:r>
                    </a:p>
                  </a:txBody>
                  <a:tcPr anchor="ctr"/>
                </a:tc>
                <a:extLst>
                  <a:ext uri="{0D108BD9-81ED-4DB2-BD59-A6C34878D82A}">
                    <a16:rowId xmlns:a16="http://schemas.microsoft.com/office/drawing/2014/main" val="2632591262"/>
                  </a:ext>
                </a:extLst>
              </a:tr>
              <a:tr h="370840">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Clock Transmitters</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Held differential LOW (for differential clocking) or simultaneous LOW (for quadrature clocking).</a:t>
                      </a:r>
                    </a:p>
                  </a:txBody>
                  <a:tcPr anchor="ctr"/>
                </a:tc>
                <a:extLst>
                  <a:ext uri="{0D108BD9-81ED-4DB2-BD59-A6C34878D82A}">
                    <a16:rowId xmlns:a16="http://schemas.microsoft.com/office/drawing/2014/main" val="4148138364"/>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Data, Valid, and Clock Receivers</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Remain enabled during this mode.</a:t>
                      </a:r>
                    </a:p>
                  </a:txBody>
                  <a:tcPr anchor="ctr"/>
                </a:tc>
                <a:extLst>
                  <a:ext uri="{0D108BD9-81ED-4DB2-BD59-A6C34878D82A}">
                    <a16:rowId xmlns:a16="http://schemas.microsoft.com/office/drawing/2014/main" val="4196257135"/>
                  </a:ext>
                </a:extLst>
              </a:tr>
              <a:tr h="370840">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Track Receiver</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Permitted to be disabled.</a:t>
                      </a:r>
                    </a:p>
                  </a:txBody>
                  <a:tcPr anchor="ctr"/>
                </a:tc>
                <a:extLst>
                  <a:ext uri="{0D108BD9-81ED-4DB2-BD59-A6C34878D82A}">
                    <a16:rowId xmlns:a16="http://schemas.microsoft.com/office/drawing/2014/main" val="716031181"/>
                  </a:ext>
                </a:extLst>
              </a:tr>
            </a:tbl>
          </a:graphicData>
        </a:graphic>
      </p:graphicFrame>
      <p:sp>
        <p:nvSpPr>
          <p:cNvPr id="4" name="Title 1">
            <a:extLst>
              <a:ext uri="{FF2B5EF4-FFF2-40B4-BE49-F238E27FC236}">
                <a16:creationId xmlns:a16="http://schemas.microsoft.com/office/drawing/2014/main" id="{0E0A6D8A-54F8-5467-EED6-5765B6353B43}"/>
              </a:ext>
            </a:extLst>
          </p:cNvPr>
          <p:cNvSpPr txBox="1">
            <a:spLocks/>
          </p:cNvSpPr>
          <p:nvPr/>
        </p:nvSpPr>
        <p:spPr>
          <a:xfrm>
            <a:off x="0" y="1"/>
            <a:ext cx="12192000" cy="871180"/>
          </a:xfrm>
          <a:prstGeom prst="rect">
            <a:avLst/>
          </a:prstGeom>
          <a:solidFill>
            <a:schemeClr val="accent6"/>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Calibri" panose="020F0502020204030204" pitchFamily="34" charset="0"/>
                <a:ea typeface="Calibri" panose="020F0502020204030204" pitchFamily="34" charset="0"/>
                <a:cs typeface="Calibri" panose="020F0502020204030204" pitchFamily="34" charset="0"/>
              </a:rPr>
              <a:t>                             Transmitter initiated Data to Clock </a:t>
            </a:r>
            <a:r>
              <a:rPr lang="en-IN" sz="2800" dirty="0">
                <a:latin typeface="Calibri" panose="020F0502020204030204" pitchFamily="34" charset="0"/>
                <a:ea typeface="Calibri" panose="020F0502020204030204" pitchFamily="34" charset="0"/>
                <a:cs typeface="Calibri" panose="020F0502020204030204" pitchFamily="34" charset="0"/>
              </a:rPr>
              <a:t>Eye Width Sweep</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4023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4ECD3-7D3C-A76F-DA28-2D3A57666BD1}"/>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DE8C4071-DCDF-A970-E8F5-A665711A5146}"/>
              </a:ext>
            </a:extLst>
          </p:cNvPr>
          <p:cNvCxnSpPr>
            <a:cxnSpLocks/>
          </p:cNvCxnSpPr>
          <p:nvPr/>
        </p:nvCxnSpPr>
        <p:spPr>
          <a:xfrm flipH="1">
            <a:off x="3995056" y="2283732"/>
            <a:ext cx="3403603" cy="3799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9ED7D762-CD8D-7EA2-5B9A-9A6E8EBC58AA}"/>
              </a:ext>
            </a:extLst>
          </p:cNvPr>
          <p:cNvSpPr>
            <a:spLocks noGrp="1"/>
          </p:cNvSpPr>
          <p:nvPr>
            <p:ph idx="1"/>
          </p:nvPr>
        </p:nvSpPr>
        <p:spPr>
          <a:xfrm>
            <a:off x="542152" y="487997"/>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p:txBody>
      </p:sp>
      <p:sp>
        <p:nvSpPr>
          <p:cNvPr id="5" name="Title 1">
            <a:extLst>
              <a:ext uri="{FF2B5EF4-FFF2-40B4-BE49-F238E27FC236}">
                <a16:creationId xmlns:a16="http://schemas.microsoft.com/office/drawing/2014/main" id="{3252A4DD-979F-F37E-3FC9-31EAD5FF0543}"/>
              </a:ext>
            </a:extLst>
          </p:cNvPr>
          <p:cNvSpPr>
            <a:spLocks noGrp="1"/>
          </p:cNvSpPr>
          <p:nvPr>
            <p:ph type="title"/>
          </p:nvPr>
        </p:nvSpPr>
        <p:spPr>
          <a:xfrm>
            <a:off x="0" y="1"/>
            <a:ext cx="12192000" cy="871180"/>
          </a:xfrm>
          <a:solidFill>
            <a:schemeClr val="accent6"/>
          </a:solidFill>
        </p:spPr>
        <p:txBody>
          <a:bodyPr>
            <a:normAutofit/>
          </a:bodyPr>
          <a:lstStyle/>
          <a:p>
            <a:pPr algn="ctr"/>
            <a:r>
              <a:rPr lang="en-US" sz="2800" dirty="0"/>
              <a:t> Transmitter initiated Data to Clock </a:t>
            </a:r>
            <a:r>
              <a:rPr lang="en-IN" sz="2800" dirty="0"/>
              <a:t>Eye Width Sweep </a:t>
            </a:r>
            <a:r>
              <a:rPr lang="en-US" sz="2800" dirty="0"/>
              <a:t>(Contd..)</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cxnSp>
        <p:nvCxnSpPr>
          <p:cNvPr id="8" name="Straight Arrow Connector 7">
            <a:extLst>
              <a:ext uri="{FF2B5EF4-FFF2-40B4-BE49-F238E27FC236}">
                <a16:creationId xmlns:a16="http://schemas.microsoft.com/office/drawing/2014/main" id="{43CFEA69-83F7-46FF-F07D-84563B49FECC}"/>
              </a:ext>
            </a:extLst>
          </p:cNvPr>
          <p:cNvCxnSpPr>
            <a:cxnSpLocks/>
          </p:cNvCxnSpPr>
          <p:nvPr/>
        </p:nvCxnSpPr>
        <p:spPr>
          <a:xfrm>
            <a:off x="4051614" y="1544855"/>
            <a:ext cx="20350" cy="5307454"/>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90457FB-A123-5255-5F2B-F15F2D50CC66}"/>
              </a:ext>
            </a:extLst>
          </p:cNvPr>
          <p:cNvCxnSpPr>
            <a:cxnSpLocks/>
          </p:cNvCxnSpPr>
          <p:nvPr/>
        </p:nvCxnSpPr>
        <p:spPr>
          <a:xfrm>
            <a:off x="7422057" y="1645280"/>
            <a:ext cx="62761" cy="5106604"/>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9F2C4F5-60B0-E11C-D223-D1A2F7E3C036}"/>
              </a:ext>
            </a:extLst>
          </p:cNvPr>
          <p:cNvSpPr txBox="1"/>
          <p:nvPr/>
        </p:nvSpPr>
        <p:spPr>
          <a:xfrm>
            <a:off x="3032120" y="876726"/>
            <a:ext cx="45840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DIE 0 : UCIe Module</a:t>
            </a:r>
          </a:p>
        </p:txBody>
      </p:sp>
      <p:sp>
        <p:nvSpPr>
          <p:cNvPr id="12" name="TextBox 11">
            <a:extLst>
              <a:ext uri="{FF2B5EF4-FFF2-40B4-BE49-F238E27FC236}">
                <a16:creationId xmlns:a16="http://schemas.microsoft.com/office/drawing/2014/main" id="{F39BB7AE-37EF-60FF-905D-2DD4BA612E9E}"/>
              </a:ext>
            </a:extLst>
          </p:cNvPr>
          <p:cNvSpPr txBox="1"/>
          <p:nvPr/>
        </p:nvSpPr>
        <p:spPr>
          <a:xfrm>
            <a:off x="6167564" y="916336"/>
            <a:ext cx="601099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DIE 1 : UCIe Module Partner</a:t>
            </a:r>
          </a:p>
        </p:txBody>
      </p:sp>
      <p:sp>
        <p:nvSpPr>
          <p:cNvPr id="14" name="TextBox 13">
            <a:extLst>
              <a:ext uri="{FF2B5EF4-FFF2-40B4-BE49-F238E27FC236}">
                <a16:creationId xmlns:a16="http://schemas.microsoft.com/office/drawing/2014/main" id="{49C76D8F-E0E0-9724-4999-430A0D6B7299}"/>
              </a:ext>
            </a:extLst>
          </p:cNvPr>
          <p:cNvSpPr txBox="1"/>
          <p:nvPr/>
        </p:nvSpPr>
        <p:spPr>
          <a:xfrm>
            <a:off x="7480041" y="1663218"/>
            <a:ext cx="432613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Once the data to clock training parameters for its Receiver are setup</a:t>
            </a:r>
            <a:endParaRPr lang="en-US" sz="1700" dirty="0">
              <a:latin typeface="Calibri" panose="020F0502020204030204" pitchFamily="34" charset="0"/>
              <a:ea typeface="Calibri" panose="020F0502020204030204" pitchFamily="34" charset="0"/>
              <a:cs typeface="Calibri" panose="020F0502020204030204" pitchFamily="34" charset="0"/>
            </a:endParaRPr>
          </a:p>
        </p:txBody>
      </p:sp>
      <p:cxnSp>
        <p:nvCxnSpPr>
          <p:cNvPr id="15" name="Straight Arrow Connector 14">
            <a:extLst>
              <a:ext uri="{FF2B5EF4-FFF2-40B4-BE49-F238E27FC236}">
                <a16:creationId xmlns:a16="http://schemas.microsoft.com/office/drawing/2014/main" id="{FF6BB9BA-D869-CDB0-765C-EDFF912613D8}"/>
              </a:ext>
            </a:extLst>
          </p:cNvPr>
          <p:cNvCxnSpPr>
            <a:cxnSpLocks/>
          </p:cNvCxnSpPr>
          <p:nvPr/>
        </p:nvCxnSpPr>
        <p:spPr>
          <a:xfrm>
            <a:off x="4051614" y="1749596"/>
            <a:ext cx="3274090" cy="312820"/>
          </a:xfrm>
          <a:prstGeom prst="straightConnector1">
            <a:avLst/>
          </a:prstGeom>
          <a:ln>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B77D659-8D5C-D54E-55EE-3B47B1C8273A}"/>
              </a:ext>
            </a:extLst>
          </p:cNvPr>
          <p:cNvSpPr txBox="1"/>
          <p:nvPr/>
        </p:nvSpPr>
        <p:spPr>
          <a:xfrm rot="300000">
            <a:off x="4126096" y="1688453"/>
            <a:ext cx="377283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{Start Tx Init D to C e</a:t>
            </a:r>
            <a:r>
              <a:rPr lang="en-IN" sz="1400" dirty="0"/>
              <a:t>ye sweep </a:t>
            </a:r>
            <a:r>
              <a:rPr lang="en-US" sz="1400" dirty="0"/>
              <a:t>req}</a:t>
            </a:r>
          </a:p>
        </p:txBody>
      </p:sp>
      <p:sp>
        <p:nvSpPr>
          <p:cNvPr id="20" name="TextBox 19">
            <a:extLst>
              <a:ext uri="{FF2B5EF4-FFF2-40B4-BE49-F238E27FC236}">
                <a16:creationId xmlns:a16="http://schemas.microsoft.com/office/drawing/2014/main" id="{E9BA26BD-8E02-BA7C-5566-E0CB8F79D8FB}"/>
              </a:ext>
            </a:extLst>
          </p:cNvPr>
          <p:cNvSpPr txBox="1"/>
          <p:nvPr/>
        </p:nvSpPr>
        <p:spPr>
          <a:xfrm rot="21240000">
            <a:off x="4387315" y="2055998"/>
            <a:ext cx="502931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t>{Start Tx Init D to C eye sweep resp} </a:t>
            </a:r>
            <a:endParaRPr lang="en-US" sz="1300" dirty="0"/>
          </a:p>
        </p:txBody>
      </p:sp>
      <p:sp>
        <p:nvSpPr>
          <p:cNvPr id="25" name="TextBox 24">
            <a:extLst>
              <a:ext uri="{FF2B5EF4-FFF2-40B4-BE49-F238E27FC236}">
                <a16:creationId xmlns:a16="http://schemas.microsoft.com/office/drawing/2014/main" id="{C1C038AB-9C63-A971-38ED-6EB8DDEB66D5}"/>
              </a:ext>
            </a:extLst>
          </p:cNvPr>
          <p:cNvSpPr txBox="1"/>
          <p:nvPr/>
        </p:nvSpPr>
        <p:spPr>
          <a:xfrm rot="10800000" flipV="1">
            <a:off x="472296" y="2916920"/>
            <a:ext cx="310236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The UCIe Module resets the LFSR (scrambler) on its main band Transmitters </a:t>
            </a:r>
            <a:endParaRPr lang="en-US" sz="1700" dirty="0">
              <a:latin typeface="Calibri" panose="020F0502020204030204" pitchFamily="34" charset="0"/>
              <a:ea typeface="Calibri" panose="020F0502020204030204" pitchFamily="34" charset="0"/>
              <a:cs typeface="Calibri" panose="020F0502020204030204" pitchFamily="34" charset="0"/>
            </a:endParaRPr>
          </a:p>
        </p:txBody>
      </p:sp>
      <p:cxnSp>
        <p:nvCxnSpPr>
          <p:cNvPr id="38" name="Straight Arrow Connector 37">
            <a:extLst>
              <a:ext uri="{FF2B5EF4-FFF2-40B4-BE49-F238E27FC236}">
                <a16:creationId xmlns:a16="http://schemas.microsoft.com/office/drawing/2014/main" id="{4BB57145-832F-9971-ADA0-72E533175A58}"/>
              </a:ext>
            </a:extLst>
          </p:cNvPr>
          <p:cNvCxnSpPr>
            <a:cxnSpLocks/>
          </p:cNvCxnSpPr>
          <p:nvPr/>
        </p:nvCxnSpPr>
        <p:spPr>
          <a:xfrm flipV="1">
            <a:off x="4063161" y="3429000"/>
            <a:ext cx="3375209" cy="184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D00AD0D3-3A71-1003-E402-52DE7D5D49A4}"/>
              </a:ext>
            </a:extLst>
          </p:cNvPr>
          <p:cNvSpPr txBox="1"/>
          <p:nvPr/>
        </p:nvSpPr>
        <p:spPr>
          <a:xfrm rot="21300000">
            <a:off x="4382460" y="3460398"/>
            <a:ext cx="494189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400" dirty="0"/>
              <a:t>{LFSR clear error </a:t>
            </a:r>
            <a:r>
              <a:rPr lang="en-IN" sz="1400" dirty="0" err="1"/>
              <a:t>resp</a:t>
            </a:r>
            <a:r>
              <a:rPr lang="en-IN" sz="1400" dirty="0"/>
              <a:t>} </a:t>
            </a:r>
            <a:endParaRPr lang="en-US" sz="1300" dirty="0"/>
          </a:p>
        </p:txBody>
      </p:sp>
      <p:cxnSp>
        <p:nvCxnSpPr>
          <p:cNvPr id="4" name="Straight Arrow Connector 3">
            <a:extLst>
              <a:ext uri="{FF2B5EF4-FFF2-40B4-BE49-F238E27FC236}">
                <a16:creationId xmlns:a16="http://schemas.microsoft.com/office/drawing/2014/main" id="{4C63097A-5409-39CB-61AE-F4681877FE42}"/>
              </a:ext>
            </a:extLst>
          </p:cNvPr>
          <p:cNvCxnSpPr>
            <a:cxnSpLocks/>
          </p:cNvCxnSpPr>
          <p:nvPr/>
        </p:nvCxnSpPr>
        <p:spPr>
          <a:xfrm flipH="1">
            <a:off x="4079605" y="3622251"/>
            <a:ext cx="3368305" cy="4067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E584EEE1-B6CF-A26E-EBF3-E791A9D34196}"/>
              </a:ext>
            </a:extLst>
          </p:cNvPr>
          <p:cNvSpPr txBox="1"/>
          <p:nvPr/>
        </p:nvSpPr>
        <p:spPr>
          <a:xfrm rot="10800000" flipV="1">
            <a:off x="4580724" y="3173791"/>
            <a:ext cx="3518963" cy="307777"/>
          </a:xfrm>
          <a:prstGeom prst="rect">
            <a:avLst/>
          </a:prstGeom>
          <a:noFill/>
        </p:spPr>
        <p:txBody>
          <a:bodyPr wrap="square" rtlCol="0">
            <a:spAutoFit/>
          </a:bodyPr>
          <a:lstStyle/>
          <a:p>
            <a:r>
              <a:rPr lang="en-IN" sz="1400" dirty="0"/>
              <a:t>{LFSR clear error </a:t>
            </a:r>
            <a:r>
              <a:rPr lang="en-IN" sz="1400" dirty="0" err="1"/>
              <a:t>req</a:t>
            </a:r>
            <a:r>
              <a:rPr lang="en-IN" sz="1400" dirty="0"/>
              <a:t>}</a:t>
            </a:r>
          </a:p>
        </p:txBody>
      </p:sp>
      <p:sp>
        <p:nvSpPr>
          <p:cNvPr id="41" name="TextBox 40">
            <a:extLst>
              <a:ext uri="{FF2B5EF4-FFF2-40B4-BE49-F238E27FC236}">
                <a16:creationId xmlns:a16="http://schemas.microsoft.com/office/drawing/2014/main" id="{8A966E1E-B22A-FA87-83A2-B5CFBE0F36BE}"/>
              </a:ext>
            </a:extLst>
          </p:cNvPr>
          <p:cNvSpPr txBox="1"/>
          <p:nvPr/>
        </p:nvSpPr>
        <p:spPr>
          <a:xfrm rot="10800000" flipV="1">
            <a:off x="7518430" y="3773878"/>
            <a:ext cx="4538102" cy="830997"/>
          </a:xfrm>
          <a:prstGeom prst="rect">
            <a:avLst/>
          </a:prstGeom>
          <a:noFill/>
        </p:spPr>
        <p:txBody>
          <a:bodyPr wrap="square" rtlCol="0">
            <a:spAutoFit/>
          </a:bodyPr>
          <a:lstStyle/>
          <a:p>
            <a:r>
              <a:rPr lang="en-US" sz="1600" dirty="0"/>
              <a:t>performs the comparison on its Receivers for each UI during the pattern transmission based on “Rx Compare Setup” and logs the results</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53C54AB9-FB5F-4ECB-AB5B-8B3C8C952C6E}"/>
              </a:ext>
            </a:extLst>
          </p:cNvPr>
          <p:cNvSpPr txBox="1"/>
          <p:nvPr/>
        </p:nvSpPr>
        <p:spPr>
          <a:xfrm>
            <a:off x="527873" y="1663218"/>
            <a:ext cx="3403604" cy="646331"/>
          </a:xfrm>
          <a:prstGeom prst="rect">
            <a:avLst/>
          </a:prstGeom>
          <a:noFill/>
        </p:spPr>
        <p:txBody>
          <a:bodyPr wrap="square" rtlCol="0">
            <a:spAutoFit/>
          </a:bodyPr>
          <a:lstStyle/>
          <a:p>
            <a:r>
              <a:rPr lang="en-US" dirty="0"/>
              <a:t>The UCIe Module sets up the Transmitter parameters</a:t>
            </a:r>
            <a:endParaRPr lang="en-IN" dirty="0">
              <a:latin typeface="Calibri" panose="020F0502020204030204" pitchFamily="34" charset="0"/>
              <a:ea typeface="Calibri" panose="020F0502020204030204" pitchFamily="34" charset="0"/>
              <a:cs typeface="Calibri" panose="020F0502020204030204" pitchFamily="34" charset="0"/>
            </a:endParaRPr>
          </a:p>
        </p:txBody>
      </p:sp>
      <p:cxnSp>
        <p:nvCxnSpPr>
          <p:cNvPr id="47" name="Straight Arrow Connector 46">
            <a:extLst>
              <a:ext uri="{FF2B5EF4-FFF2-40B4-BE49-F238E27FC236}">
                <a16:creationId xmlns:a16="http://schemas.microsoft.com/office/drawing/2014/main" id="{A2CAD946-5A32-E175-7F6D-C4D7676E853C}"/>
              </a:ext>
            </a:extLst>
          </p:cNvPr>
          <p:cNvCxnSpPr>
            <a:cxnSpLocks/>
          </p:cNvCxnSpPr>
          <p:nvPr/>
        </p:nvCxnSpPr>
        <p:spPr>
          <a:xfrm>
            <a:off x="4079605" y="4654822"/>
            <a:ext cx="3294554" cy="167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E52B14DC-EDBC-CB42-FA3C-CD9DAEF32256}"/>
              </a:ext>
            </a:extLst>
          </p:cNvPr>
          <p:cNvSpPr txBox="1"/>
          <p:nvPr/>
        </p:nvSpPr>
        <p:spPr>
          <a:xfrm>
            <a:off x="4223877" y="4403829"/>
            <a:ext cx="3285752" cy="307777"/>
          </a:xfrm>
          <a:prstGeom prst="rect">
            <a:avLst/>
          </a:prstGeom>
          <a:noFill/>
        </p:spPr>
        <p:txBody>
          <a:bodyPr wrap="square" rtlCol="0">
            <a:spAutoFit/>
          </a:bodyPr>
          <a:lstStyle/>
          <a:p>
            <a:r>
              <a:rPr lang="en-US" sz="1400" dirty="0"/>
              <a:t>{Tx Init D to C results req} </a:t>
            </a:r>
            <a:endParaRPr lang="en-IN" sz="1400" dirty="0"/>
          </a:p>
        </p:txBody>
      </p:sp>
      <p:cxnSp>
        <p:nvCxnSpPr>
          <p:cNvPr id="51" name="Straight Arrow Connector 50">
            <a:extLst>
              <a:ext uri="{FF2B5EF4-FFF2-40B4-BE49-F238E27FC236}">
                <a16:creationId xmlns:a16="http://schemas.microsoft.com/office/drawing/2014/main" id="{3A7CECC7-E66F-D5BB-7CF8-0A9589229A00}"/>
              </a:ext>
            </a:extLst>
          </p:cNvPr>
          <p:cNvCxnSpPr>
            <a:cxnSpLocks/>
          </p:cNvCxnSpPr>
          <p:nvPr/>
        </p:nvCxnSpPr>
        <p:spPr>
          <a:xfrm flipH="1">
            <a:off x="4042543" y="4918070"/>
            <a:ext cx="3405367" cy="4964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B8F64199-DB85-59D3-7841-DE1A675E80D3}"/>
              </a:ext>
            </a:extLst>
          </p:cNvPr>
          <p:cNvSpPr txBox="1"/>
          <p:nvPr/>
        </p:nvSpPr>
        <p:spPr>
          <a:xfrm rot="10360767" flipV="1">
            <a:off x="4247323" y="4797051"/>
            <a:ext cx="3606703" cy="307777"/>
          </a:xfrm>
          <a:prstGeom prst="rect">
            <a:avLst/>
          </a:prstGeom>
          <a:noFill/>
        </p:spPr>
        <p:txBody>
          <a:bodyPr wrap="square">
            <a:spAutoFit/>
          </a:bodyPr>
          <a:lstStyle/>
          <a:p>
            <a:r>
              <a:rPr lang="en-US" sz="1400" dirty="0"/>
              <a:t>{Tx Init D to C results resp} </a:t>
            </a:r>
            <a:endParaRPr lang="en-IN" sz="1400" dirty="0"/>
          </a:p>
        </p:txBody>
      </p:sp>
      <p:sp>
        <p:nvSpPr>
          <p:cNvPr id="63" name="TextBox 62">
            <a:extLst>
              <a:ext uri="{FF2B5EF4-FFF2-40B4-BE49-F238E27FC236}">
                <a16:creationId xmlns:a16="http://schemas.microsoft.com/office/drawing/2014/main" id="{A7299197-7915-593E-A742-D56CE75468D1}"/>
              </a:ext>
            </a:extLst>
          </p:cNvPr>
          <p:cNvSpPr txBox="1"/>
          <p:nvPr/>
        </p:nvSpPr>
        <p:spPr>
          <a:xfrm rot="10800000" flipV="1">
            <a:off x="353965" y="3996538"/>
            <a:ext cx="3822013" cy="646331"/>
          </a:xfrm>
          <a:prstGeom prst="rect">
            <a:avLst/>
          </a:prstGeom>
          <a:noFill/>
        </p:spPr>
        <p:txBody>
          <a:bodyPr wrap="square" rtlCol="0">
            <a:spAutoFit/>
          </a:bodyPr>
          <a:lstStyle/>
          <a:p>
            <a:r>
              <a:rPr lang="en-US" dirty="0"/>
              <a:t>sends the pattern selected through “Tx Pattern Generator Setup”</a:t>
            </a:r>
            <a:endParaRPr lang="en-IN" dirty="0"/>
          </a:p>
        </p:txBody>
      </p:sp>
      <p:sp>
        <p:nvSpPr>
          <p:cNvPr id="65" name="TextBox 64">
            <a:extLst>
              <a:ext uri="{FF2B5EF4-FFF2-40B4-BE49-F238E27FC236}">
                <a16:creationId xmlns:a16="http://schemas.microsoft.com/office/drawing/2014/main" id="{4AC7819C-7145-C69B-414C-A9A8A2B6B00B}"/>
              </a:ext>
            </a:extLst>
          </p:cNvPr>
          <p:cNvSpPr txBox="1"/>
          <p:nvPr/>
        </p:nvSpPr>
        <p:spPr>
          <a:xfrm>
            <a:off x="254001" y="5683974"/>
            <a:ext cx="3952607" cy="646331"/>
          </a:xfrm>
          <a:prstGeom prst="rect">
            <a:avLst/>
          </a:prstGeom>
          <a:noFill/>
        </p:spPr>
        <p:txBody>
          <a:bodyPr wrap="square" rtlCol="0">
            <a:spAutoFit/>
          </a:bodyPr>
          <a:lstStyle/>
          <a:p>
            <a:r>
              <a:rPr lang="en-US" dirty="0"/>
              <a:t>The UCIe Module stops sending the pattern on its Transmitters</a:t>
            </a:r>
            <a:endParaRPr lang="en-IN" dirty="0"/>
          </a:p>
        </p:txBody>
      </p:sp>
      <p:cxnSp>
        <p:nvCxnSpPr>
          <p:cNvPr id="68" name="Straight Arrow Connector 67">
            <a:extLst>
              <a:ext uri="{FF2B5EF4-FFF2-40B4-BE49-F238E27FC236}">
                <a16:creationId xmlns:a16="http://schemas.microsoft.com/office/drawing/2014/main" id="{362DA301-49E9-524F-9A57-B2A3EED55C7A}"/>
              </a:ext>
            </a:extLst>
          </p:cNvPr>
          <p:cNvCxnSpPr>
            <a:cxnSpLocks/>
          </p:cNvCxnSpPr>
          <p:nvPr/>
        </p:nvCxnSpPr>
        <p:spPr>
          <a:xfrm>
            <a:off x="4085132" y="5983043"/>
            <a:ext cx="3394909" cy="1040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4BA9EBA9-2834-F59C-A1CB-19908C58BAC8}"/>
              </a:ext>
            </a:extLst>
          </p:cNvPr>
          <p:cNvCxnSpPr>
            <a:cxnSpLocks/>
          </p:cNvCxnSpPr>
          <p:nvPr/>
        </p:nvCxnSpPr>
        <p:spPr>
          <a:xfrm flipH="1">
            <a:off x="4058310" y="6427721"/>
            <a:ext cx="3437498" cy="1048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150E9ADD-AC1B-2D5E-E166-38DF397522E5}"/>
              </a:ext>
            </a:extLst>
          </p:cNvPr>
          <p:cNvSpPr txBox="1"/>
          <p:nvPr/>
        </p:nvSpPr>
        <p:spPr>
          <a:xfrm>
            <a:off x="4288746" y="6180660"/>
            <a:ext cx="2867750" cy="307777"/>
          </a:xfrm>
          <a:prstGeom prst="rect">
            <a:avLst/>
          </a:prstGeom>
          <a:noFill/>
        </p:spPr>
        <p:txBody>
          <a:bodyPr wrap="square" rtlCol="0">
            <a:spAutoFit/>
          </a:bodyPr>
          <a:lstStyle/>
          <a:p>
            <a:r>
              <a:rPr lang="en-US" sz="1400" dirty="0"/>
              <a:t>{End Tx Init D to C </a:t>
            </a:r>
            <a:r>
              <a:rPr lang="en-IN" sz="1400" dirty="0"/>
              <a:t>eye sweep </a:t>
            </a:r>
            <a:r>
              <a:rPr lang="en-US" sz="1400" dirty="0"/>
              <a:t>resp}</a:t>
            </a:r>
            <a:endParaRPr lang="en-IN" sz="1400" dirty="0"/>
          </a:p>
        </p:txBody>
      </p:sp>
      <p:sp>
        <p:nvSpPr>
          <p:cNvPr id="74" name="TextBox 73">
            <a:extLst>
              <a:ext uri="{FF2B5EF4-FFF2-40B4-BE49-F238E27FC236}">
                <a16:creationId xmlns:a16="http://schemas.microsoft.com/office/drawing/2014/main" id="{6C5B4142-8BE6-F64F-B6C9-26AA7E38ED15}"/>
              </a:ext>
            </a:extLst>
          </p:cNvPr>
          <p:cNvSpPr txBox="1"/>
          <p:nvPr/>
        </p:nvSpPr>
        <p:spPr>
          <a:xfrm>
            <a:off x="4580726" y="5760055"/>
            <a:ext cx="3760575" cy="307777"/>
          </a:xfrm>
          <a:prstGeom prst="rect">
            <a:avLst/>
          </a:prstGeom>
          <a:noFill/>
        </p:spPr>
        <p:txBody>
          <a:bodyPr wrap="square" rtlCol="0">
            <a:spAutoFit/>
          </a:bodyPr>
          <a:lstStyle/>
          <a:p>
            <a:r>
              <a:rPr lang="en-US" sz="1400" dirty="0"/>
              <a:t>{End Tx Init D to C </a:t>
            </a:r>
            <a:r>
              <a:rPr lang="en-IN" sz="1400" dirty="0"/>
              <a:t>eye sweep </a:t>
            </a:r>
            <a:r>
              <a:rPr lang="en-US" sz="1400" dirty="0"/>
              <a:t>req}</a:t>
            </a:r>
            <a:endParaRPr lang="en-IN" sz="1400" dirty="0"/>
          </a:p>
        </p:txBody>
      </p:sp>
      <p:sp>
        <p:nvSpPr>
          <p:cNvPr id="75" name="TextBox 74">
            <a:extLst>
              <a:ext uri="{FF2B5EF4-FFF2-40B4-BE49-F238E27FC236}">
                <a16:creationId xmlns:a16="http://schemas.microsoft.com/office/drawing/2014/main" id="{E7B8183A-D2DB-4921-A372-779AD2C54ECC}"/>
              </a:ext>
            </a:extLst>
          </p:cNvPr>
          <p:cNvSpPr txBox="1"/>
          <p:nvPr/>
        </p:nvSpPr>
        <p:spPr>
          <a:xfrm>
            <a:off x="3946191" y="2586101"/>
            <a:ext cx="4330982" cy="369332"/>
          </a:xfrm>
          <a:prstGeom prst="rect">
            <a:avLst/>
          </a:prstGeom>
          <a:noFill/>
        </p:spPr>
        <p:txBody>
          <a:bodyPr wrap="square" rtlCol="0">
            <a:spAutoFit/>
          </a:bodyPr>
          <a:lstStyle/>
          <a:p>
            <a:r>
              <a:rPr lang="en-IN" dirty="0"/>
              <a:t>-------------------------------------------</a:t>
            </a:r>
          </a:p>
        </p:txBody>
      </p:sp>
      <p:sp>
        <p:nvSpPr>
          <p:cNvPr id="80" name="TextBox 79">
            <a:extLst>
              <a:ext uri="{FF2B5EF4-FFF2-40B4-BE49-F238E27FC236}">
                <a16:creationId xmlns:a16="http://schemas.microsoft.com/office/drawing/2014/main" id="{81E8DC7C-83C2-39FF-18E8-F83F1CBE1D7C}"/>
              </a:ext>
            </a:extLst>
          </p:cNvPr>
          <p:cNvSpPr txBox="1"/>
          <p:nvPr/>
        </p:nvSpPr>
        <p:spPr>
          <a:xfrm>
            <a:off x="3995004" y="3926722"/>
            <a:ext cx="4264035" cy="369332"/>
          </a:xfrm>
          <a:prstGeom prst="rect">
            <a:avLst/>
          </a:prstGeom>
          <a:noFill/>
        </p:spPr>
        <p:txBody>
          <a:bodyPr wrap="square" rtlCol="0">
            <a:spAutoFit/>
          </a:bodyPr>
          <a:lstStyle/>
          <a:p>
            <a:r>
              <a:rPr lang="en-IN" dirty="0"/>
              <a:t>-------------------------------------------</a:t>
            </a:r>
          </a:p>
        </p:txBody>
      </p:sp>
      <p:sp>
        <p:nvSpPr>
          <p:cNvPr id="83" name="TextBox 82">
            <a:extLst>
              <a:ext uri="{FF2B5EF4-FFF2-40B4-BE49-F238E27FC236}">
                <a16:creationId xmlns:a16="http://schemas.microsoft.com/office/drawing/2014/main" id="{D6ABD735-9E2B-4A1A-6D7F-A2B4B7AF9B7D}"/>
              </a:ext>
            </a:extLst>
          </p:cNvPr>
          <p:cNvSpPr txBox="1"/>
          <p:nvPr/>
        </p:nvSpPr>
        <p:spPr>
          <a:xfrm flipV="1">
            <a:off x="3310467" y="5194782"/>
            <a:ext cx="4185341" cy="646331"/>
          </a:xfrm>
          <a:prstGeom prst="rect">
            <a:avLst/>
          </a:prstGeom>
          <a:noFill/>
        </p:spPr>
        <p:txBody>
          <a:bodyPr wrap="square" rtlCol="0">
            <a:spAutoFit/>
          </a:bodyPr>
          <a:lstStyle/>
          <a:p>
            <a:r>
              <a:rPr lang="en-IN" dirty="0"/>
              <a:t>-------------------------------------------</a:t>
            </a:r>
          </a:p>
          <a:p>
            <a:endParaRPr lang="en-IN" dirty="0"/>
          </a:p>
        </p:txBody>
      </p:sp>
      <p:sp>
        <p:nvSpPr>
          <p:cNvPr id="2" name="TextBox 1">
            <a:extLst>
              <a:ext uri="{FF2B5EF4-FFF2-40B4-BE49-F238E27FC236}">
                <a16:creationId xmlns:a16="http://schemas.microsoft.com/office/drawing/2014/main" id="{5EDDB96D-732A-3E98-55C5-0B188C26B1D1}"/>
              </a:ext>
            </a:extLst>
          </p:cNvPr>
          <p:cNvSpPr txBox="1"/>
          <p:nvPr/>
        </p:nvSpPr>
        <p:spPr>
          <a:xfrm>
            <a:off x="7737215" y="2735989"/>
            <a:ext cx="4084240" cy="830997"/>
          </a:xfrm>
          <a:prstGeom prst="rect">
            <a:avLst/>
          </a:prstGeom>
          <a:noFill/>
        </p:spPr>
        <p:txBody>
          <a:bodyPr wrap="square" rtlCol="0">
            <a:spAutoFit/>
          </a:bodyPr>
          <a:lstStyle/>
          <a:p>
            <a:r>
              <a:rPr lang="en-US" sz="1600" dirty="0"/>
              <a:t>The UCIe Module Partner resets the LFSR and clears any prior compare results on its main band Receivers</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cxnSp>
        <p:nvCxnSpPr>
          <p:cNvPr id="7" name="Straight Arrow Connector 6">
            <a:extLst>
              <a:ext uri="{FF2B5EF4-FFF2-40B4-BE49-F238E27FC236}">
                <a16:creationId xmlns:a16="http://schemas.microsoft.com/office/drawing/2014/main" id="{527EC653-FDBB-04C5-D427-F105A500D060}"/>
              </a:ext>
            </a:extLst>
          </p:cNvPr>
          <p:cNvCxnSpPr>
            <a:cxnSpLocks/>
          </p:cNvCxnSpPr>
          <p:nvPr/>
        </p:nvCxnSpPr>
        <p:spPr>
          <a:xfrm>
            <a:off x="5888042" y="6480143"/>
            <a:ext cx="0" cy="1792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BD7613AA-3E05-8367-017D-39AE4FFBCA27}"/>
              </a:ext>
            </a:extLst>
          </p:cNvPr>
          <p:cNvSpPr txBox="1"/>
          <p:nvPr/>
        </p:nvSpPr>
        <p:spPr>
          <a:xfrm rot="21418674">
            <a:off x="5288298" y="6605998"/>
            <a:ext cx="1065999" cy="307777"/>
          </a:xfrm>
          <a:prstGeom prst="rect">
            <a:avLst/>
          </a:prstGeom>
          <a:noFill/>
        </p:spPr>
        <p:txBody>
          <a:bodyPr wrap="square">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Completed</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022359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93A3-2D76-9FE3-82BE-5A795B11F035}"/>
              </a:ext>
            </a:extLst>
          </p:cNvPr>
          <p:cNvSpPr>
            <a:spLocks noGrp="1"/>
          </p:cNvSpPr>
          <p:nvPr>
            <p:ph type="title"/>
          </p:nvPr>
        </p:nvSpPr>
        <p:spPr/>
        <p:txBody>
          <a:bodyPr>
            <a:normAutofit fontScale="90000"/>
          </a:bodyPr>
          <a:lstStyle/>
          <a:p>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endParaRPr lang="en-IN" dirty="0"/>
          </a:p>
        </p:txBody>
      </p:sp>
      <p:pic>
        <p:nvPicPr>
          <p:cNvPr id="4" name="Picture 6" descr="Business Thank-You Letter Examples">
            <a:extLst>
              <a:ext uri="{FF2B5EF4-FFF2-40B4-BE49-F238E27FC236}">
                <a16:creationId xmlns:a16="http://schemas.microsoft.com/office/drawing/2014/main" id="{7ECFFA39-EA56-82BF-8033-38007A3886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6138" y="261386"/>
            <a:ext cx="8873366" cy="5915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598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4765C-B112-82CA-AFBB-73D15FE0F6B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C7F670-A60A-0067-8116-7292E9BE5E98}"/>
              </a:ext>
            </a:extLst>
          </p:cNvPr>
          <p:cNvSpPr>
            <a:spLocks noGrp="1"/>
          </p:cNvSpPr>
          <p:nvPr>
            <p:ph idx="1"/>
          </p:nvPr>
        </p:nvSpPr>
        <p:spPr/>
        <p:txBody>
          <a:bodyPr/>
          <a:lstStyle/>
          <a:p>
            <a:r>
              <a:rPr lang="en-IN" dirty="0"/>
              <a:t>revision</a:t>
            </a:r>
          </a:p>
        </p:txBody>
      </p:sp>
      <p:pic>
        <p:nvPicPr>
          <p:cNvPr id="5" name="Picture 4">
            <a:extLst>
              <a:ext uri="{FF2B5EF4-FFF2-40B4-BE49-F238E27FC236}">
                <a16:creationId xmlns:a16="http://schemas.microsoft.com/office/drawing/2014/main" id="{E27E9063-992C-874F-9F55-4773417943C6}"/>
              </a:ext>
            </a:extLst>
          </p:cNvPr>
          <p:cNvPicPr>
            <a:picLocks noChangeAspect="1"/>
          </p:cNvPicPr>
          <p:nvPr/>
        </p:nvPicPr>
        <p:blipFill>
          <a:blip r:embed="rId2"/>
          <a:stretch>
            <a:fillRect/>
          </a:stretch>
        </p:blipFill>
        <p:spPr>
          <a:xfrm>
            <a:off x="976527" y="3428999"/>
            <a:ext cx="5029636" cy="2095682"/>
          </a:xfrm>
          <a:prstGeom prst="rect">
            <a:avLst/>
          </a:prstGeom>
        </p:spPr>
      </p:pic>
      <p:pic>
        <p:nvPicPr>
          <p:cNvPr id="7" name="Picture 6">
            <a:extLst>
              <a:ext uri="{FF2B5EF4-FFF2-40B4-BE49-F238E27FC236}">
                <a16:creationId xmlns:a16="http://schemas.microsoft.com/office/drawing/2014/main" id="{1093FC98-24EF-9470-1380-F1CD3962D519}"/>
              </a:ext>
            </a:extLst>
          </p:cNvPr>
          <p:cNvPicPr>
            <a:picLocks noChangeAspect="1"/>
          </p:cNvPicPr>
          <p:nvPr/>
        </p:nvPicPr>
        <p:blipFill>
          <a:blip r:embed="rId3"/>
          <a:stretch>
            <a:fillRect/>
          </a:stretch>
        </p:blipFill>
        <p:spPr>
          <a:xfrm>
            <a:off x="6354618" y="712234"/>
            <a:ext cx="6022109" cy="5433531"/>
          </a:xfrm>
          <a:prstGeom prst="rect">
            <a:avLst/>
          </a:prstGeom>
        </p:spPr>
      </p:pic>
    </p:spTree>
    <p:extLst>
      <p:ext uri="{BB962C8B-B14F-4D97-AF65-F5344CB8AC3E}">
        <p14:creationId xmlns:p14="http://schemas.microsoft.com/office/powerpoint/2010/main" val="2942239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c91e78c-53b9-49d2-80fe-2267c9de2ac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BB9E5490EEBB438C23297E1D25285B" ma:contentTypeVersion="8" ma:contentTypeDescription="Create a new document." ma:contentTypeScope="" ma:versionID="3d24ed15395863622458c9612afe9077">
  <xsd:schema xmlns:xsd="http://www.w3.org/2001/XMLSchema" xmlns:xs="http://www.w3.org/2001/XMLSchema" xmlns:p="http://schemas.microsoft.com/office/2006/metadata/properties" xmlns:ns3="ec91e78c-53b9-49d2-80fe-2267c9de2ac1" targetNamespace="http://schemas.microsoft.com/office/2006/metadata/properties" ma:root="true" ma:fieldsID="bf5387ec6775c7ffa55b69cbb25365ff" ns3:_="">
    <xsd:import namespace="ec91e78c-53b9-49d2-80fe-2267c9de2ac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91e78c-53b9-49d2-80fe-2267c9de2ac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666954-3D43-40F3-AF96-B2753E1830EC}">
  <ds:schemaRefs>
    <ds:schemaRef ds:uri="http://schemas.microsoft.com/sharepoint/v3/contenttype/forms"/>
  </ds:schemaRefs>
</ds:datastoreItem>
</file>

<file path=customXml/itemProps2.xml><?xml version="1.0" encoding="utf-8"?>
<ds:datastoreItem xmlns:ds="http://schemas.openxmlformats.org/officeDocument/2006/customXml" ds:itemID="{E0C30E90-35A2-433D-8294-0F950042F531}">
  <ds:schemaRefs>
    <ds:schemaRef ds:uri="http://purl.org/dc/elements/1.1/"/>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ec91e78c-53b9-49d2-80fe-2267c9de2ac1"/>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A24A352F-77D0-4731-B0B0-ADD4AE2572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91e78c-53b9-49d2-80fe-2267c9de2a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UCIe_MBTRAIN_MKD</Template>
  <TotalTime>1819</TotalTime>
  <Words>2962</Words>
  <Application>Microsoft Office PowerPoint</Application>
  <PresentationFormat>Widescreen</PresentationFormat>
  <Paragraphs>340</Paragraphs>
  <Slides>37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Aptos</vt:lpstr>
      <vt:lpstr>Aptos Display</vt:lpstr>
      <vt:lpstr>Arial</vt:lpstr>
      <vt:lpstr>Calibri</vt:lpstr>
      <vt:lpstr>Courier New</vt:lpstr>
      <vt:lpstr>Times New Roman</vt:lpstr>
      <vt:lpstr>Wingdings</vt:lpstr>
      <vt:lpstr>Office Theme</vt:lpstr>
      <vt:lpstr>UCIe SBINIT &amp; MBINIT</vt:lpstr>
      <vt:lpstr>CONTENTS</vt:lpstr>
      <vt:lpstr>Introduction</vt:lpstr>
      <vt:lpstr>UCIe Layers</vt:lpstr>
      <vt:lpstr>PowerPoint Presentation</vt:lpstr>
      <vt:lpstr>SBINIT</vt:lpstr>
      <vt:lpstr>SBINIT(Advanced Package)</vt:lpstr>
      <vt:lpstr>SBINIT Advanced Package(Contd..)</vt:lpstr>
      <vt:lpstr>SBINIT Advanced Package(Contd..)</vt:lpstr>
      <vt:lpstr>SBINIT(Standard Package)</vt:lpstr>
      <vt:lpstr>SBINIT Standard Package(Contd..)</vt:lpstr>
      <vt:lpstr>SBINIT Standard Package(Contd..)</vt:lpstr>
      <vt:lpstr>MBINIT</vt:lpstr>
      <vt:lpstr>PowerPoint Presentation</vt:lpstr>
      <vt:lpstr>PowerPoint Presentation</vt:lpstr>
      <vt:lpstr>    </vt:lpstr>
      <vt:lpstr>              </vt:lpstr>
      <vt:lpstr>       </vt:lpstr>
      <vt:lpstr>          </vt:lpstr>
      <vt:lpstr>    </vt:lpstr>
      <vt:lpstr>MBINIT.PARAM (Contd..)</vt:lpstr>
      <vt:lpstr>PowerPoint Presentation</vt:lpstr>
      <vt:lpstr> MBINIT.CAL (Contd..)</vt:lpstr>
      <vt:lpstr>PowerPoint Presentation</vt:lpstr>
      <vt:lpstr>MBINIT.REPAIRCLK  for  Std Package</vt:lpstr>
      <vt:lpstr>MBINIT.REPAIRCLK  for  Advanced Package</vt:lpstr>
      <vt:lpstr>MBINIT.REPAIRCLK  for  Advanced Package (Contd..)</vt:lpstr>
      <vt:lpstr>UCIe Link Training</vt:lpstr>
      <vt:lpstr>CONTENTS</vt:lpstr>
      <vt:lpstr>PowerPoint Presentation</vt:lpstr>
      <vt:lpstr>PowerPoint Presentation</vt:lpstr>
      <vt:lpstr>PowerPoint Presentation</vt:lpstr>
      <vt:lpstr> Transmitter initiated Data to Clock Point Test(Contd..)</vt:lpstr>
      <vt:lpstr>PowerPoint Presentation</vt:lpstr>
      <vt:lpstr> Transmitter initiated Data to Clock Eye Width Sweep (Contd..)</vt:lpstr>
      <vt:lpst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sravanthi Vennapusa</dc:creator>
  <cp:lastModifiedBy>sravanthi Vennapusa</cp:lastModifiedBy>
  <cp:revision>35</cp:revision>
  <dcterms:created xsi:type="dcterms:W3CDTF">2026-02-11T04:12:37Z</dcterms:created>
  <dcterms:modified xsi:type="dcterms:W3CDTF">2026-05-15T06:13:32Z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0x010100F0BB9E5490EEBB438C23297E1D25285B</vt:lpwstr>
  </property>
</Properties>
</file>