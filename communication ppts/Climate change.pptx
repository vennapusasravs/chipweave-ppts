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9" r:id="rId7"/>
    <p:sldId id="269" r:id="rId8"/>
    <p:sldId id="271" r:id="rId9"/>
    <p:sldId id="278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80" r:id="rId18"/>
    <p:sldId id="266" r:id="rId19"/>
    <p:sldId id="268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D66D9-0B22-48F0-97E5-C08EFFA6A96B}" v="168" dt="2026-06-05T07:52:06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94643"/>
  </p:normalViewPr>
  <p:slideViewPr>
    <p:cSldViewPr snapToGrid="0">
      <p:cViewPr varScale="1">
        <p:scale>
          <a:sx n="88" d="100"/>
          <a:sy n="88" d="100"/>
        </p:scale>
        <p:origin x="42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B3B169-6B89-2E17-90EB-E0EF3E4AD9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63D99-7471-BF48-67F8-58D38C642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888-DCC3-4185-9C3A-7AA1F58342CB}" type="datetime1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B3777-0CF7-1AE1-3452-49D3B5D3AC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E6057-1850-6E44-4160-50E69A3E3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A44D-2590-4318-82C0-FDE5A6F6A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9762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3945A-7BD4-4DB8-9257-D92A7400C16E}" type="datetime1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37DFE-63B6-47EB-BC27-2E29CE605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56307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F100-8679-2945-CEC1-87391A9118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30035"/>
            <a:ext cx="9144000" cy="217992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IN" dirty="0"/>
              <a:t>Conscious Living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46D28-BAF1-7BC1-E293-DBC5432E0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0946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Sravanthi</a:t>
            </a:r>
          </a:p>
          <a:p>
            <a:r>
              <a:rPr lang="en-US" dirty="0" err="1"/>
              <a:t>Chipweave</a:t>
            </a:r>
            <a:r>
              <a:rPr lang="en-US" dirty="0"/>
              <a:t> Technologies </a:t>
            </a:r>
            <a:r>
              <a:rPr lang="en-US" dirty="0" err="1"/>
              <a:t>pvt</a:t>
            </a:r>
            <a:r>
              <a:rPr lang="en-US" dirty="0"/>
              <a:t> ltd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D4562-A004-1148-C8A5-0F8C0D62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D1B6F-880F-43BA-90A0-E9B5F0677E7D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7987-7E56-0C2C-94AF-B3A9F9FC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@2020 </a:t>
            </a:r>
            <a:r>
              <a:rPr lang="en-IN" dirty="0" err="1"/>
              <a:t>Chipweave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24D5-785F-D999-6DE6-B05728F3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6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0EEC-F789-FB1F-BA3B-3F70D0C0C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IN" dirty="0"/>
              <a:t>                   Conscious Living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AE33-FD76-B172-5FA6-4CD19EA938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US" dirty="0"/>
              <a:t>To make the most of our lives, we must answer two fundamental questions:</a:t>
            </a:r>
          </a:p>
          <a:p>
            <a:pPr lvl="2"/>
            <a:r>
              <a:rPr lang="en-US" dirty="0"/>
              <a:t>How do I find peace within myself?</a:t>
            </a:r>
          </a:p>
          <a:p>
            <a:pPr lvl="2"/>
            <a:r>
              <a:rPr lang="en-US" dirty="0"/>
              <a:t>And how do I achieve harmony with others? Answering these requires understanding our core selves and recognizing the needs and feelings of those around 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B3896-B2FE-65F3-F816-F9D5E8B5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C6BD99-3B76-4A92-841E-D97127E48EC9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5B90-BCF4-750B-0078-3D184931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@2020 </a:t>
            </a:r>
            <a:r>
              <a:rPr lang="en-IN" dirty="0" err="1"/>
              <a:t>Chipweave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377D5-1018-B411-698F-3D55F514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2EBBD-7309-2DF8-FA95-AE0922296E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88976" y="3633901"/>
            <a:ext cx="2209992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4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EC32-C09B-3466-2F47-11A0027F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E57D6-73BF-AE59-EF39-0D393A4D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DF090-5D8B-7660-A6D6-95304C8B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052950-2F42-4B72-B61B-1B5FCE855CC0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2CA3-6A08-3DC0-8C03-ACC6AFFF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5B46-6396-9CE6-F67D-7C6DDD0F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6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EA15-4BFF-8D14-C912-AD888A47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B6F3-1D36-72A5-8E63-FD753753D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419AB-8CD3-200E-D597-26DD3F69C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63469-1B97-2083-029E-9BA0F5B3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53406-D2D9-46B0-AAE6-30734FE99C32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54598-9E47-9DE6-83FE-D56490E8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4A125-66BF-C02C-D3F4-E495366C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4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99A4-F72F-39D0-AF43-68978DC1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4CD66-4FE0-CC12-40B7-924C8AFD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76E27-85C9-CEF3-2A57-C4BE50484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520B5-1152-CE56-70F9-66F12AAE4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AF7AC-0A06-4B07-248F-B38155AB6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807CE-6A0D-48AD-9481-05CAD663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C2A9E0-F28F-4748-A5D9-5972DE40C20F}" type="datetime1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3A459-068B-17FA-FB91-E77F4F5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9F128-53DF-74FB-7BE9-F70D0E65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9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20CA-E494-BC4F-0703-10F35524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E8929-D49F-BB74-1EBC-DC1F227C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6D193E-08A6-40B0-9298-BE47331AB375}" type="datetime1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49EDA-8F1F-603D-168D-980CC300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141E7-13E9-3014-B7AC-ADDFD4E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DA637-EC5D-4F3B-FC9F-996D771F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D82C4E-A585-4C58-8D36-492AAC938B0E}" type="datetime1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300E7-77A8-0AD2-135F-A77CF40A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30B0-FBE4-284F-EF25-CFDE9C0E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4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6D49-DC20-9211-0AEE-80CD4313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8D73E-60CE-B0D3-AF9B-14785EF1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2199E-77CA-666D-B7DC-477DDA75C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FE4E-04DC-36F0-A6CC-75C68535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03B73-3FD2-4A99-B92E-4EF34086AEF5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7ADD-D77B-F314-0A60-7EEB9640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45D-843D-C22B-B58C-B832AD4B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1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8ACB-38E7-D031-BC7F-39A79912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A4EEA-F907-E97D-341A-DE60C3FA5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86436-AB5F-2848-1DE5-BF7437E3B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932FC-E60B-F780-4B19-ED767677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59E2-FEFB-4E8A-B9C4-B85CA05B72CF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BC34F-2D5B-023D-AC13-E53A6327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F03F6-DD45-FAEA-023A-33A70E79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86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1094-B375-37E6-3DE1-37341D1A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45283-35A2-112F-3AD8-6093B7B5A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6998-92E4-74BC-D5B5-3A0A2D69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D07E8E-5776-46D3-8BD5-6AF533B92F76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E9E3-8BC6-9CFF-A0EA-0EAB852C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DF697-3BC7-FC2F-5B02-D8368B27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6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37B4D-1951-2D4C-7D7F-038A8D916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72BC8-6501-8D41-A291-25A39FFAC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7E03-A329-D4FD-A126-F901B69F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6CD4E3-33E5-43B7-A562-5754FF9D20AE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E05A4-8F44-5185-4FC4-F09942D3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A5EA0-2AD6-2311-52F8-04FF2797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1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ECB40-9420-FB64-4474-2F5D94A1DA0A}"/>
              </a:ext>
            </a:extLst>
          </p:cNvPr>
          <p:cNvCxnSpPr/>
          <p:nvPr userDrawn="1"/>
        </p:nvCxnSpPr>
        <p:spPr>
          <a:xfrm>
            <a:off x="0" y="6314785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7DDC5D0-CED7-5EB1-5C27-CA76F0F4EC28}"/>
              </a:ext>
            </a:extLst>
          </p:cNvPr>
          <p:cNvSpPr txBox="1">
            <a:spLocks/>
          </p:cNvSpPr>
          <p:nvPr userDrawn="1"/>
        </p:nvSpPr>
        <p:spPr>
          <a:xfrm>
            <a:off x="8817429" y="0"/>
            <a:ext cx="3374571" cy="644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1421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1808C2"/>
                </a:solidFill>
                <a:latin typeface="Science Gothic" pitchFamily="2" charset="0"/>
                <a:ea typeface="Science Gothic" pitchFamily="2" charset="0"/>
              </a:rPr>
              <a:t>Chipweave</a:t>
            </a:r>
          </a:p>
        </p:txBody>
      </p:sp>
    </p:spTree>
    <p:extLst>
      <p:ext uri="{BB962C8B-B14F-4D97-AF65-F5344CB8AC3E}">
        <p14:creationId xmlns:p14="http://schemas.microsoft.com/office/powerpoint/2010/main" val="296842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2B26-CBD5-8AE2-4722-3C9057BD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737" y="1251114"/>
            <a:ext cx="9144000" cy="2179927"/>
          </a:xfrm>
        </p:spPr>
        <p:txBody>
          <a:bodyPr lIns="91440" tIns="45720" rIns="91440" bIns="45720" anchor="b"/>
          <a:lstStyle/>
          <a:p>
            <a:r>
              <a:rPr lang="en-US" sz="48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Human Impact on Climate Change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E9FBC-31C9-8842-7A3C-19F93F15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28FE6-6C69-77BE-D606-E9C37036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ADE63-742C-F392-DE9C-74C47D41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E3AB4-84A3-CCD7-F69D-9090A3632D9B}"/>
              </a:ext>
            </a:extLst>
          </p:cNvPr>
          <p:cNvSpPr txBox="1"/>
          <p:nvPr/>
        </p:nvSpPr>
        <p:spPr>
          <a:xfrm>
            <a:off x="6697135" y="4575834"/>
            <a:ext cx="585147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V.Sravanthi</a:t>
            </a:r>
            <a:br>
              <a:rPr lang="en-US" sz="3200" dirty="0">
                <a:latin typeface="Calibri"/>
                <a:ea typeface="Calibri"/>
                <a:cs typeface="Calibri"/>
              </a:rPr>
            </a:br>
            <a:r>
              <a:rPr lang="en-US" sz="32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Design Engineer</a:t>
            </a:r>
            <a:br>
              <a:rPr lang="en-US" sz="3200" dirty="0">
                <a:latin typeface="Calibri"/>
                <a:ea typeface="Calibri"/>
                <a:cs typeface="Calibri"/>
              </a:rPr>
            </a:br>
            <a:r>
              <a:rPr lang="en-US" sz="32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Chipweave Technologies Pvt Ltd</a:t>
            </a:r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54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9AC3-2DFD-B2AB-0B3F-C1BF3911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CB29-6FF9-80F7-C3C6-20FC327A7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6041"/>
            <a:ext cx="3224892" cy="881062"/>
          </a:xfrm>
        </p:spPr>
        <p:txBody>
          <a:bodyPr lIns="91440" tIns="45720" rIns="91440" bIns="45720" anchor="b"/>
          <a:lstStyle/>
          <a:p>
            <a:r>
              <a:rPr lang="en-IN" sz="4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9FCD-A5FA-0478-F234-E570A3A6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4FCD0-9327-1D0E-1916-832D5AF3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72F35-5F71-CB19-5CFA-4626A77F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14A63E3-613C-0C73-C5B5-49EE817C4B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7571" y="1591693"/>
            <a:ext cx="9998529" cy="320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>
              <a:tabLst/>
            </a:pP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Introduction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Human Activities On Climate Change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Scientific Evidence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Impacts of Climate Change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Policy Solutions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Advantages &amp; Disadvantages</a:t>
            </a:r>
          </a:p>
          <a:p>
            <a:pPr marL="285750" indent="-285750" algn="l">
              <a:buFont typeface="Arial"/>
              <a:buChar char="•"/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/>
                <a:ea typeface="Calibri"/>
                <a:cs typeface="Calibri"/>
              </a:rPr>
              <a:t>Conclusion </a:t>
            </a: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074" name="Picture 2" descr="Global warming increase temperature earth with thermometer">
            <a:extLst>
              <a:ext uri="{FF2B5EF4-FFF2-40B4-BE49-F238E27FC236}">
                <a16:creationId xmlns:a16="http://schemas.microsoft.com/office/drawing/2014/main" id="{92ED8597-A3D9-1608-07B6-A71A106F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999" y="1436572"/>
            <a:ext cx="6214533" cy="348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3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8FD4-FF65-97FC-CBEF-162AEBB8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8730-001B-4CC9-EF7B-A0D5A0C9E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71869" y="-295602"/>
            <a:ext cx="9805306" cy="1568286"/>
          </a:xfrm>
        </p:spPr>
        <p:txBody>
          <a:bodyPr lIns="91440" tIns="45720" rIns="91440" bIns="45720" anchor="b"/>
          <a:lstStyle/>
          <a:p>
            <a:r>
              <a:rPr lang="en-US" sz="36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B54A0-1C18-DFE3-9184-564BB5FDC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5384" y="1272684"/>
            <a:ext cx="7661074" cy="2072141"/>
          </a:xfrm>
        </p:spPr>
        <p:txBody>
          <a:bodyPr lIns="91440" tIns="45720" rIns="91440" bIns="45720" anchor="t"/>
          <a:lstStyle/>
          <a:p>
            <a:pPr algn="l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Climate change is the long-term change in Earth's climate, mainly caused by human activities that increase greenhouse gases and trap heat in the atmosphere.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Climate change is one of the most pressing global challenges affecting both people and the environment.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71A5-FA84-DF50-1ED7-56D81FF8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174C-889B-82A3-074A-A190F328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7C3A-1F9F-3C19-08A6-9298866F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https://images.openai.com/static-rsc-4/qEO3Hc4-QL0BaSlBwqxpemn7vmwnlWGQcytbJbwjUYS_xjw8GoLVNNhTMFbJZNsUEyKhYywxVis-n5nqrN8ozRSXonQruNPnwCK7t2pDOlUFqfuscx4y9ifEPIFZwUy1HBuZcwDxIzmz91rjRWkQlBxcCr7rVMiiEoimudrFb_ePMKOh-Y1w09UGjGKnsPbx?purpose=fullsize">
            <a:extLst>
              <a:ext uri="{FF2B5EF4-FFF2-40B4-BE49-F238E27FC236}">
                <a16:creationId xmlns:a16="http://schemas.microsoft.com/office/drawing/2014/main" id="{EDE01729-EB46-E303-F149-557A3CF56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" y="1625414"/>
            <a:ext cx="4231756" cy="291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0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5C1A-9232-BF82-599F-79BC2A379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4FCD-BCAB-7CD3-8C88-9F5EC99F6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747" y="2143125"/>
            <a:ext cx="9805306" cy="1568286"/>
          </a:xfrm>
        </p:spPr>
        <p:txBody>
          <a:bodyPr lIns="91440" tIns="45720" rIns="91440" bIns="45720" anchor="b"/>
          <a:lstStyle/>
          <a:p>
            <a:br>
              <a:rPr lang="en-US" sz="36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36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Is Human Activities Cause Climate Change?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F660-85B0-8E6D-8E91-B8F56D6C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5C46A-AF89-AF38-9A15-FFB74BD2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2291A-09D1-EE9D-AD33-0671297B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27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356191-5057-EDE3-0100-98EC7F17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2DF3-CE12-330D-C92A-813389FFD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94" y="136525"/>
            <a:ext cx="9805306" cy="1568286"/>
          </a:xfrm>
        </p:spPr>
        <p:txBody>
          <a:bodyPr lIns="91440" tIns="45720" rIns="91440" bIns="45720" anchor="b"/>
          <a:lstStyle/>
          <a:p>
            <a:r>
              <a:rPr lang="en-US" sz="36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How Human Activities Cause Climate Change?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46CBE-0300-F08C-1873-3FEEF583C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647" y="2008164"/>
            <a:ext cx="7661074" cy="2072141"/>
          </a:xfrm>
        </p:spPr>
        <p:txBody>
          <a:bodyPr lIns="91440" tIns="45720" rIns="91440" bIns="45720" anchor="t"/>
          <a:lstStyle/>
          <a:p>
            <a:pPr marL="457200" indent="-457200" algn="l"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activities are considered as the primary cause of modern climate change.</a:t>
            </a:r>
          </a:p>
          <a:p>
            <a:pPr marL="457200" indent="-457200" algn="l"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activities release large amounts of greenhouse gases into the atmosphere. </a:t>
            </a:r>
          </a:p>
          <a:p>
            <a:pPr marL="457200" indent="-457200" algn="l"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gases trap heat and warm the Earth.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341A1-3669-ACE4-E65C-35150EDD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C80BB-E832-C1E0-DD5F-B6DC90EC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4215-E8F1-B0D4-E46D-4A5545A3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5</a:t>
            </a:fld>
            <a:endParaRPr lang="en-IN"/>
          </a:p>
        </p:txBody>
      </p:sp>
      <p:pic>
        <p:nvPicPr>
          <p:cNvPr id="1026" name="Picture 2" descr="Climate Change: Causes, Effects, and Solutions | Earth Reminder">
            <a:extLst>
              <a:ext uri="{FF2B5EF4-FFF2-40B4-BE49-F238E27FC236}">
                <a16:creationId xmlns:a16="http://schemas.microsoft.com/office/drawing/2014/main" id="{6852B839-3E34-2D4B-CBA7-01404B038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94" y="1957364"/>
            <a:ext cx="4453467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20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ACFE-A3F0-051F-AC4E-3B7C32F58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717DA-6223-A3B8-CB4C-FCCC1FAA5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94" y="136525"/>
            <a:ext cx="9805306" cy="1568286"/>
          </a:xfrm>
        </p:spPr>
        <p:txBody>
          <a:bodyPr lIns="91440" tIns="45720" rIns="91440" bIns="45720" anchor="b"/>
          <a:lstStyle/>
          <a:p>
            <a:r>
              <a:rPr lang="en-US" sz="36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How Human Activities Cause Climate Change?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2F1A3-14EE-F1EA-4CBD-56623DE24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050498"/>
            <a:ext cx="9602020" cy="2623103"/>
          </a:xfrm>
        </p:spPr>
        <p:txBody>
          <a:bodyPr lIns="91440" tIns="45720" rIns="91440" bIns="45720" anchor="t"/>
          <a:lstStyle/>
          <a:p>
            <a:pPr marL="457200" indent="-457200" algn="l"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activities are considered as the primary cause of modern climate change.</a:t>
            </a:r>
          </a:p>
          <a:p>
            <a:pPr marL="457200" indent="-457200" algn="l"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activities release large amounts of greenhouse gases into the atmosphere. </a:t>
            </a:r>
          </a:p>
          <a:p>
            <a:pPr marL="457200" indent="-457200" algn="l"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gases trap heat and warm the Earth.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18E77-DE1A-887C-0CDC-0FC4D837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EB3C1-159C-05D3-6AB9-B4696419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4667-58E4-EF97-5C90-80234BCB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6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3840-9838-6E17-8A5D-8729B461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4977-D561-587A-E82D-32E407043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94" y="-191558"/>
            <a:ext cx="9805306" cy="1568286"/>
          </a:xfrm>
        </p:spPr>
        <p:txBody>
          <a:bodyPr lIns="91440" tIns="45720" rIns="91440" bIns="45720" anchor="b"/>
          <a:lstStyle/>
          <a:p>
            <a:r>
              <a:rPr lang="en-US" sz="36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How Human Activities Cause Climate Change?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0FFA-F660-FB0D-A63F-87C4397D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9E18B-32C4-C7DA-9712-F3589DFB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2F388-B8D8-212C-17D5-2183E5F1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7</a:t>
            </a:fld>
            <a:endParaRPr lang="en-IN"/>
          </a:p>
        </p:txBody>
      </p:sp>
      <p:sp>
        <p:nvSpPr>
          <p:cNvPr id="7" name="AutoShape 2" descr="Environmental causes of greenhouse gases">
            <a:extLst>
              <a:ext uri="{FF2B5EF4-FFF2-40B4-BE49-F238E27FC236}">
                <a16:creationId xmlns:a16="http://schemas.microsoft.com/office/drawing/2014/main" id="{1B08EEC3-B1C1-E301-6852-16978C138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2" descr="Environmental causes of greenhouse gases">
            <a:extLst>
              <a:ext uri="{FF2B5EF4-FFF2-40B4-BE49-F238E27FC236}">
                <a16:creationId xmlns:a16="http://schemas.microsoft.com/office/drawing/2014/main" id="{633B174A-038B-4310-57B0-A221E589F2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B829F9-BF21-78DE-0F89-6472BB7D6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67" y="1494366"/>
            <a:ext cx="9805307" cy="41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A285-C742-85F7-A69C-6E536711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5C69-3942-27D7-0C02-9C5099334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42395" y="-242318"/>
            <a:ext cx="9805306" cy="1048808"/>
          </a:xfrm>
        </p:spPr>
        <p:txBody>
          <a:bodyPr lIns="91440" tIns="45720" rIns="91440" bIns="45720" anchor="b"/>
          <a:lstStyle/>
          <a:p>
            <a:r>
              <a:rPr lang="en-IN" sz="3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Scientific Evidence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DBDC-E0BB-B1A9-F496-AD68E712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127DD-53AA-20D5-6853-71E925F7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5A2C-40D4-B13A-E89C-52D5C58C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A8A1DEC-CF7C-BA33-6F4E-FFF750AAEE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922345"/>
            <a:ext cx="10918371" cy="4595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Extreme weather events such as floods, droughts and heatwaves are increasing.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Maharashtra Drought (2016):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Large parts of Maharashtra, especially the Marathwada region, faced severe drought due to low rainfall and depleting groundwater levels.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Kerala Floods, India (2018)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Climate monitoring and flood forecasting systems were used to predict heavy rainfall, issue early warnings, and assist evacuation and disaster management efforts, helping reduce loss of life and property.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Severe Heatwaves in Andhra Pradesh (2015):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Extremely high temperatures affected thousands of people across the state, with many heat-related deaths reported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Taj Mahal began showing noticeable pollution damage in the 1970s–1980s due to industrial emissions and acid rain.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6E51D-43A5-BB66-2D6E-80EF59A017A1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“These observations provide strong evidence that climate change is occurring and affecting the planet.”</a:t>
            </a:r>
          </a:p>
        </p:txBody>
      </p:sp>
    </p:spTree>
    <p:extLst>
      <p:ext uri="{BB962C8B-B14F-4D97-AF65-F5344CB8AC3E}">
        <p14:creationId xmlns:p14="http://schemas.microsoft.com/office/powerpoint/2010/main" val="237339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C6EE-07B3-E50C-C219-C409F7995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CAE2-9CA4-4897-5690-F4D40382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4" y="-216996"/>
            <a:ext cx="10898715" cy="1048808"/>
          </a:xfrm>
        </p:spPr>
        <p:txBody>
          <a:bodyPr lIns="91440" tIns="45720" rIns="91440" bIns="45720" anchor="b"/>
          <a:lstStyle/>
          <a:p>
            <a:pPr algn="l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Impacts of Climate Change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10CEE-234B-C186-B2AD-7F9883CF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58A3-072B-98C4-784C-7E58B17A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E3584-EF0E-FB16-1A18-C1D48C49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9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C4BA8-2EB1-B257-451A-F6D75F46186D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2DB5EB58-E995-69E9-C556-48926BD97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67" y="1000106"/>
            <a:ext cx="5479151" cy="23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4D0042-3ACE-4896-6BA0-A88078E5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363" y="1000106"/>
            <a:ext cx="3185436" cy="2548414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368E8284-CF0C-8B26-D097-C66AC09301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60572" y="3252181"/>
            <a:ext cx="1115882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Rising sea levels increase the risk of coastal flooding.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rainfall and  droughts affect water resources and agriculture.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temperatures lead to more frequent heatwaves.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Crop productivity declines due to changing climate conditions.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Ecosystems, wildlife habitats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marine life are increasingly affected.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Extreme weather events and heat-related health risks are becoming more common. </a:t>
            </a:r>
          </a:p>
        </p:txBody>
      </p:sp>
    </p:spTree>
    <p:extLst>
      <p:ext uri="{BB962C8B-B14F-4D97-AF65-F5344CB8AC3E}">
        <p14:creationId xmlns:p14="http://schemas.microsoft.com/office/powerpoint/2010/main" val="59637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3273-C52C-7EB1-78BC-964A2D14D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14EC-D213-9A00-E6BF-C0E331F3E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4" y="-216996"/>
            <a:ext cx="10898715" cy="1048808"/>
          </a:xfrm>
        </p:spPr>
        <p:txBody>
          <a:bodyPr lIns="91440" tIns="45720" rIns="91440" bIns="45720" anchor="b"/>
          <a:lstStyle/>
          <a:p>
            <a:pPr algn="l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 Policy Solution-1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A605-4F33-7C0F-108E-43B3EA36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53C59-CD74-CDE3-7079-DC36132F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6D88F-CD56-EE06-633C-475F094B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10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23C4A-17E8-033B-F689-858A9A872BBC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4C2822F-FDAD-4404-06F4-243ACF374A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3695" y="1325560"/>
            <a:ext cx="11238171" cy="389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Energy Transition Policies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solar power.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wind power.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coal dependence.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energy efficiency.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in clean technologies. </a:t>
            </a:r>
          </a:p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 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energy policies reduce greenhouse gas emissions by replacing fossil fuels with renewable and efficient energy sources.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74944C-9276-ABFA-E3D1-4FA75DA20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25" y="1141746"/>
            <a:ext cx="4959350" cy="283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05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CCAD-1754-5061-5268-91163ECB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9FC7-476D-2FA0-E621-DB3212F9E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4" y="-216996"/>
            <a:ext cx="10898715" cy="1048808"/>
          </a:xfrm>
        </p:spPr>
        <p:txBody>
          <a:bodyPr lIns="91440" tIns="45720" rIns="91440" bIns="45720" anchor="b"/>
          <a:lstStyle/>
          <a:p>
            <a:pPr algn="l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 Policy Solution-2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ABD8-40FC-2721-04E4-E6B049EF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3EA38-9D88-8625-5485-947D8664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C39F-F785-5DF0-9B7C-77B6C5A9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11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45009-11A8-33F8-816E-747AC6024265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94235C-C83B-9FC5-6522-5C0FBBF09A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3695" y="1509167"/>
            <a:ext cx="10898715" cy="3523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and Restore Nature Policies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Reforestation programs.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 conservation.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Wetland restoration.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 agriculture.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Biodiversity protection. </a:t>
            </a:r>
          </a:p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 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Protecting and restoring nature helps absorb carbon dioxide, reduce climate impacts, and support a sustainable future.</a:t>
            </a:r>
          </a:p>
        </p:txBody>
      </p:sp>
      <p:pic>
        <p:nvPicPr>
          <p:cNvPr id="8194" name="Picture 2" descr="Afforestation/Reforestation Clean Development Mechanism study under Uttar Pradesh Participatory Forest Management and Poverty Alleviation Project | TERI">
            <a:extLst>
              <a:ext uri="{FF2B5EF4-FFF2-40B4-BE49-F238E27FC236}">
                <a16:creationId xmlns:a16="http://schemas.microsoft.com/office/drawing/2014/main" id="{BA0D27D8-5F4E-D596-B666-0CC0A4E55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352" y="1026956"/>
            <a:ext cx="5177367" cy="304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41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ACF4-21D5-952C-EB87-627DFECB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7D55-734E-99F9-37D4-09F035031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4" y="-216996"/>
            <a:ext cx="10898715" cy="1048808"/>
          </a:xfrm>
        </p:spPr>
        <p:txBody>
          <a:bodyPr lIns="91440" tIns="45720" rIns="91440" bIns="45720" anchor="b"/>
          <a:lstStyle/>
          <a:p>
            <a:pPr algn="l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 Policy Solution-3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573B-84FA-22F4-C4FC-3D1F9A9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16A9-C5EF-AEF9-2EE5-28214F79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8C694-4409-C817-20A0-5C5DAEA9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DB000-C2BB-D87C-4666-1B94B7564F63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BDDD6CF-6F0D-4AD9-17BA-22FC1B34B89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3695" y="1906743"/>
            <a:ext cx="10898715" cy="2727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 Transportation Policies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electric vehicles.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public transport.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cycling and walking.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green infrastructure. </a:t>
            </a:r>
          </a:p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 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transportation emissions.</a:t>
            </a:r>
          </a:p>
        </p:txBody>
      </p:sp>
      <p:pic>
        <p:nvPicPr>
          <p:cNvPr id="9218" name="Picture 2" descr="Sustainable Urban Mobility: Bicycle Sharing Programs - EcoSocioSphere">
            <a:extLst>
              <a:ext uri="{FF2B5EF4-FFF2-40B4-BE49-F238E27FC236}">
                <a16:creationId xmlns:a16="http://schemas.microsoft.com/office/drawing/2014/main" id="{77A1CD3C-D016-7004-A834-DC1ABB85F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467" y="1472262"/>
            <a:ext cx="5969000" cy="269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71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68B0-3708-5CC1-8300-058CB15A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565B-ABDD-E65F-CF40-51A3948A2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-216997"/>
            <a:ext cx="10713719" cy="1289481"/>
          </a:xfrm>
        </p:spPr>
        <p:txBody>
          <a:bodyPr lIns="91440" tIns="45720" rIns="91440" bIns="45720" anchor="b"/>
          <a:lstStyle/>
          <a:p>
            <a:pPr algn="l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Advantages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66B38-1E65-C552-917C-8EFD1F8A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D2608-A577-2459-F350-AF67016C9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9428-47D5-D30F-1211-32959F14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13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7FA46-16D4-6C08-56A3-2598A747BE26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87ECC32-8BD6-39DA-52B8-BD850DA5C1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8109" y="1153223"/>
            <a:ext cx="10898715" cy="280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growing seasons in some cold regions -Parts of Uttarakhand.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agricultural productivity in certain high latitude regions of Himachal Pradesh.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rainfall in some dry regions- Parts of Rajasthan have experienced occasional increases in rainfall.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heating costs during milder winters-Northern hill regions may require less heating during milder winters</a:t>
            </a:r>
          </a:p>
        </p:txBody>
      </p:sp>
    </p:spTree>
    <p:extLst>
      <p:ext uri="{BB962C8B-B14F-4D97-AF65-F5344CB8AC3E}">
        <p14:creationId xmlns:p14="http://schemas.microsoft.com/office/powerpoint/2010/main" val="4288977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89DD-D00A-7CB7-F9E6-A64715EB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49E7-44DC-7BDE-9A21-97A89D5C5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-216997"/>
            <a:ext cx="10713719" cy="1289481"/>
          </a:xfrm>
        </p:spPr>
        <p:txBody>
          <a:bodyPr lIns="91440" tIns="45720" rIns="91440" bIns="45720" anchor="b"/>
          <a:lstStyle/>
          <a:p>
            <a:pPr algn="l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Disadvantages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6999F-B728-1689-EC76-881F127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99FD-0FEE-5AC6-98A4-8188CB52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1606E-8F17-E86A-C4DE-9DD5556A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14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C43E4-944C-C88E-638E-3641CA30B5CA}"/>
              </a:ext>
            </a:extLst>
          </p:cNvPr>
          <p:cNvSpPr txBox="1"/>
          <p:nvPr/>
        </p:nvSpPr>
        <p:spPr>
          <a:xfrm>
            <a:off x="733696" y="5633497"/>
            <a:ext cx="1036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A5060A-206C-2F5E-290A-BF806C919B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6177" y="1055110"/>
            <a:ext cx="91406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Rising temperatures and frequent heatwaves.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Sea-level rise causing coastal flooding.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More extreme weather events such as floods, storms and droughts.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Reduced crop yields and food insecurity.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Loss of biodiversity and ecosystem damage.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Increased health risks from heat stress and diseases.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Water shortages in many regions.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Damage to infrastructure and economic losses. </a:t>
            </a:r>
          </a:p>
        </p:txBody>
      </p:sp>
    </p:spTree>
    <p:extLst>
      <p:ext uri="{BB962C8B-B14F-4D97-AF65-F5344CB8AC3E}">
        <p14:creationId xmlns:p14="http://schemas.microsoft.com/office/powerpoint/2010/main" val="2059360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5DF7-040C-8115-7E10-9B61A666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789F6-72A3-1032-50B2-C9EB95CE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CBF5-F082-7AE9-0DEA-C02DFAE9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C86B5-7570-435B-989F-975CCFB1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15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AC6792-C0B7-4C8F-EC4A-5096862B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68614" y="604566"/>
            <a:ext cx="5622470" cy="1094653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altLang="en-US" sz="36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36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AB1C2-A61C-5CA7-20E4-2379AEB6A8A3}"/>
              </a:ext>
            </a:extLst>
          </p:cNvPr>
          <p:cNvSpPr txBox="1"/>
          <p:nvPr/>
        </p:nvSpPr>
        <p:spPr>
          <a:xfrm>
            <a:off x="505097" y="5195892"/>
            <a:ext cx="11155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“Human activities are driving climate change, but effective policies and global cooperation can help create a cleaner</a:t>
            </a:r>
            <a:r>
              <a:rPr lang="en-IN">
                <a:solidFill>
                  <a:schemeClr val="accent1">
                    <a:lumMod val="50000"/>
                  </a:schemeClr>
                </a:solidFill>
              </a:rPr>
              <a:t>, safer and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more sustainable future for generations to come.”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29D7107-42E8-C879-8125-208800B624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1802557"/>
            <a:ext cx="85985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Climate change is a major global challenge.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Human activities are the primary cause.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Scientific evidence strongly supports this conclusion.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Clean energy and environmental policies can reduce its impacts.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Global cooperation is essential for a sustainable future. </a:t>
            </a:r>
          </a:p>
        </p:txBody>
      </p:sp>
    </p:spTree>
    <p:extLst>
      <p:ext uri="{BB962C8B-B14F-4D97-AF65-F5344CB8AC3E}">
        <p14:creationId xmlns:p14="http://schemas.microsoft.com/office/powerpoint/2010/main" val="9855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B9BF44-C023-2E3E-1DBC-ADFDC11C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5E85-CA5D-234D-AE4C-F0E78CA4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79E74-F7A1-A5AD-2ACF-A99ACDAB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AE288-1EEA-3893-119B-2EC063EC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25127-FAB9-A836-28E8-25F51A0CFC60}"/>
              </a:ext>
            </a:extLst>
          </p:cNvPr>
          <p:cNvSpPr txBox="1"/>
          <p:nvPr/>
        </p:nvSpPr>
        <p:spPr>
          <a:xfrm>
            <a:off x="3581400" y="2270667"/>
            <a:ext cx="6214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600" b="1" dirty="0">
                <a:solidFill>
                  <a:srgbClr val="0070C0"/>
                </a:solidFill>
                <a:latin typeface="Edwardian Script ITC" panose="030303020407070D0804" pitchFamily="66" charset="0"/>
              </a:rPr>
              <a:t>Q/A </a:t>
            </a:r>
          </a:p>
        </p:txBody>
      </p:sp>
    </p:spTree>
    <p:extLst>
      <p:ext uri="{BB962C8B-B14F-4D97-AF65-F5344CB8AC3E}">
        <p14:creationId xmlns:p14="http://schemas.microsoft.com/office/powerpoint/2010/main" val="3440832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E459-BEE3-F201-9BB3-738DD0E1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7F7C-C2D4-A295-7E03-5682EF40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48C9-1578-990F-E74D-9ECAEBE7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FC50A-A0DB-5FEE-A2CB-F66112E8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17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D3515DA-85C6-8C0A-227A-9E8B9433A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79" y="301335"/>
            <a:ext cx="10047514" cy="3658343"/>
          </a:xfrm>
        </p:spPr>
        <p:txBody>
          <a:bodyPr/>
          <a:lstStyle/>
          <a:p>
            <a:r>
              <a:rPr lang="en-IN" sz="9600" dirty="0">
                <a:solidFill>
                  <a:srgbClr val="0070C0"/>
                </a:solidFill>
                <a:latin typeface="Edwardian Script ITC" panose="030303020407070D0804" pitchFamily="66" charset="0"/>
              </a:rPr>
              <a:t>Thank </a:t>
            </a:r>
            <a:r>
              <a:rPr lang="en-IN" sz="9600" b="1" dirty="0">
                <a:solidFill>
                  <a:srgbClr val="0070C0"/>
                </a:solidFill>
                <a:latin typeface="Edwardian Script ITC" panose="030303020407070D0804" pitchFamily="66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6796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1_Custom Design">
  <a:themeElements>
    <a:clrScheme name="Chipweave 1">
      <a:dk1>
        <a:srgbClr val="020202"/>
      </a:dk1>
      <a:lt1>
        <a:srgbClr val="D6E5EA"/>
      </a:lt1>
      <a:dk2>
        <a:srgbClr val="020202"/>
      </a:dk2>
      <a:lt2>
        <a:srgbClr val="020202"/>
      </a:lt2>
      <a:accent1>
        <a:srgbClr val="3B82F6"/>
      </a:accent1>
      <a:accent2>
        <a:srgbClr val="10B981"/>
      </a:accent2>
      <a:accent3>
        <a:srgbClr val="F97316"/>
      </a:accent3>
      <a:accent4>
        <a:srgbClr val="FBBF24"/>
      </a:accent4>
      <a:accent5>
        <a:srgbClr val="030505"/>
      </a:accent5>
      <a:accent6>
        <a:srgbClr val="FDFEFC"/>
      </a:accent6>
      <a:hlink>
        <a:srgbClr val="005390"/>
      </a:hlink>
      <a:folHlink>
        <a:srgbClr val="C6540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hipweave Template with Date1" id="{4F6D523D-7D25-4F46-AF5E-E0A412E73C01}" vid="{CF21AA0C-4AC5-46A3-BDBE-ABECE1C8E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67AC6C-4B56-40AD-932F-CA6F9EC75CD5}">
  <ds:schemaRefs>
    <ds:schemaRef ds:uri="http://purl.org/dc/dcmitype/"/>
    <ds:schemaRef ds:uri="ec91e78c-53b9-49d2-80fe-2267c9de2ac1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</ds:schemaRefs>
</ds:datastoreItem>
</file>

<file path=customXml/itemProps2.xml><?xml version="1.0" encoding="utf-8"?>
<ds:datastoreItem xmlns:ds="http://schemas.openxmlformats.org/officeDocument/2006/customXml" ds:itemID="{23514176-7F11-4732-A733-C6087B30B9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983E8A-C648-4208-890B-FB0781874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Chipweave Template with Date1</Template>
  <TotalTime>697</TotalTime>
  <Words>801</Words>
  <Application>Microsoft Office PowerPoint</Application>
  <PresentationFormat>Widescreen</PresentationFormat>
  <Paragraphs>139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Edwardian Script ITC</vt:lpstr>
      <vt:lpstr>Science Gothic</vt:lpstr>
      <vt:lpstr>1_Custom Design</vt:lpstr>
      <vt:lpstr>Human Impact on Climate Change</vt:lpstr>
      <vt:lpstr>Agenda</vt:lpstr>
      <vt:lpstr>Introduction</vt:lpstr>
      <vt:lpstr> Is Human Activities Cause Climate Change?</vt:lpstr>
      <vt:lpstr>How Human Activities Cause Climate Change?</vt:lpstr>
      <vt:lpstr>How Human Activities Cause Climate Change?</vt:lpstr>
      <vt:lpstr>How Human Activities Cause Climate Change?</vt:lpstr>
      <vt:lpstr>Scientific Evidence</vt:lpstr>
      <vt:lpstr>Impacts of Climate Change </vt:lpstr>
      <vt:lpstr>  Policy Solution-1 </vt:lpstr>
      <vt:lpstr>  Policy Solution-2 </vt:lpstr>
      <vt:lpstr>  Policy Solution-3 </vt:lpstr>
      <vt:lpstr>Advantages</vt:lpstr>
      <vt:lpstr>Disadvantages</vt:lpstr>
      <vt:lpstr>Conclusion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Kapa</dc:creator>
  <cp:lastModifiedBy>sravanthi Vennapusa</cp:lastModifiedBy>
  <cp:revision>84</cp:revision>
  <dcterms:created xsi:type="dcterms:W3CDTF">2026-04-13T05:02:37Z</dcterms:created>
  <dcterms:modified xsi:type="dcterms:W3CDTF">2026-06-05T09:09:05Z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