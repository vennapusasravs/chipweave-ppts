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sldIdLst>
    <p:sldId id="343" r:id="rId5"/>
    <p:sldId id="344" r:id="rId6"/>
    <p:sldId id="379" r:id="rId7"/>
    <p:sldId id="360" r:id="rId8"/>
    <p:sldId id="369" r:id="rId9"/>
    <p:sldId id="367" r:id="rId10"/>
    <p:sldId id="333" r:id="rId11"/>
    <p:sldId id="363" r:id="rId12"/>
    <p:sldId id="370" r:id="rId13"/>
    <p:sldId id="364" r:id="rId14"/>
    <p:sldId id="365" r:id="rId15"/>
    <p:sldId id="362" r:id="rId16"/>
    <p:sldId id="373" r:id="rId17"/>
    <p:sldId id="371" r:id="rId18"/>
    <p:sldId id="372" r:id="rId19"/>
    <p:sldId id="378" r:id="rId20"/>
    <p:sldId id="374" r:id="rId21"/>
    <p:sldId id="376" r:id="rId22"/>
    <p:sldId id="375" r:id="rId23"/>
    <p:sldId id="380" r:id="rId24"/>
    <p:sldId id="366" r:id="rId25"/>
    <p:sldId id="32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9602"/>
    <a:srgbClr val="FFCCFF"/>
    <a:srgbClr val="FBF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2DAEB0-32B1-4CDD-8062-47D21452E78F}" v="974" dt="2026-05-29T06:56:38.5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0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225CA-DFE5-4E6F-B724-B35D0BBAB7AD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89E79-33F4-43C9-A46F-ABED49D74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770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D4746-A3A9-4076-B59E-03AC67A61B71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8C9A5-3A3C-4EAF-96FF-90F656435968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2583-2E3D-49F4-91F7-5CF3235515A6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26778-2EEF-4088-BAE4-DCA6E4FF6D48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FBC64-6096-40FB-B3F9-6AA13B9E9DB0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6D34A-E751-4BAD-AF84-D19E183F50E2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503C5-33BD-4E95-B2CA-F5BD00B36BAD}" type="datetime1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9F4B2-68A3-4C01-AE98-B1EDBB6437AC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43972-2B23-4274-AFD7-F6E67B648E92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49F7D-EF9C-4E8B-8C96-495275873F4D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7D555-ADCB-48C0-A66B-B2D7EE8C975D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AEC99-070E-48F1-8738-04BD0793E9CD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C7D81-98BF-861F-10AE-5D75B452D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A788D49-97DA-0441-E7CA-67D8F692A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94CEFC-8D95-7D36-A61D-938306E7D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630" y="868014"/>
            <a:ext cx="11388533" cy="2402006"/>
          </a:xfrm>
        </p:spPr>
        <p:txBody>
          <a:bodyPr anchor="b">
            <a:normAutofit/>
          </a:bodyPr>
          <a:lstStyle/>
          <a:p>
            <a:r>
              <a:rPr lang="en-IN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Reduction Techniques in AHB Lite Interface </a:t>
            </a:r>
            <a:br>
              <a:rPr lang="en-IN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&amp; AXI4 to AHB Bus</a:t>
            </a:r>
            <a:endParaRPr lang="en-US" sz="3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0CA17A-42B5-1D7F-9066-C39662978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C0AC95-1077-FFFC-5A17-756EE4630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FFEA58-D7DD-2BEF-F18D-048C38A6C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5841E9-12E9-FC0E-CFCB-FE0932A3B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1A39D5-55CE-7FB2-FABC-FFEF5EC94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9533" y="5079628"/>
            <a:ext cx="4778029" cy="1020664"/>
          </a:xfrm>
        </p:spPr>
        <p:txBody>
          <a:bodyPr anchor="ctr">
            <a:normAutofit fontScale="85000" lnSpcReduction="20000"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V.SRAVANTHI</a:t>
            </a:r>
          </a:p>
          <a:p>
            <a:pPr algn="l"/>
            <a:r>
              <a:rPr lang="en-US">
                <a:solidFill>
                  <a:srgbClr val="FFFFFF"/>
                </a:solidFill>
              </a:rPr>
              <a:t>DESIGN ENGINEER</a:t>
            </a:r>
          </a:p>
          <a:p>
            <a:pPr algn="l"/>
            <a:r>
              <a:rPr lang="en-US">
                <a:solidFill>
                  <a:srgbClr val="FFFFFF"/>
                </a:solidFill>
              </a:rPr>
              <a:t>CHIPWEAVE TECHNOLOGIES PVT LTD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37350-C07A-E2A9-1FCC-763B4E7A4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98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F8802-EEB1-FD76-A8FB-8409AF455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8FA78-7F5F-8D61-873D-867E15781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 Code Encoding In AHB Lite Interface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 Inversion Encoding and Decoding In AHB Lite Interface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 Code Encoding In AXI4 to AHB bridge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 Inversion Encoding and Decoding In AXI4 to AHB bridge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95BDC2-5C79-012B-E9D0-8AF92A1DB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E3C0CF-7903-F071-FA15-5FBF1FBC4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49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9BD89-2BC4-5CEF-83C1-F9BC8BA16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DEBD7-663B-30D5-3BAE-0F6066045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 Code: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We can Apply on </a:t>
            </a:r>
            <a:r>
              <a:rPr lang="en-IN" sz="2400" b="1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FSM state encoding or asynchronous pointer/address crossing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the AXI4-to-AHB-Lite bridge to reduce switching and avoid metastability.</a:t>
            </a:r>
          </a:p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 Inversion: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Apply on AHB address/data buses </a:t>
            </a:r>
            <a:r>
              <a:rPr lang="en-IN" sz="2400" b="1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(HADDR, HWDATA)</a:t>
            </a:r>
            <a:r>
              <a:rPr lang="en-IN" sz="2400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 transmission to reduce bit transitions and dynamic power.</a:t>
            </a:r>
          </a:p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Transition Inversion (T0 Coding):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Apply on </a:t>
            </a:r>
            <a:r>
              <a:rPr lang="en-IN" sz="2400" b="1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sequential address transfers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the AHB interface to minimize transitions when addresses increase consecutively (burst transfers). But in this case address is incremented by 4 so T0 encoding is not possible.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ED997D-B828-3830-8B11-6742AECDF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727D55-A26F-3070-2734-27566590A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76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669C-4729-A854-71F8-538015179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09CEF-F303-059E-239F-171983BDC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use </a:t>
            </a:r>
            <a:r>
              <a:rPr lang="en-IN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 code in the AHB-Lite control FSM</a:t>
            </a: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encoding the transaction states (IDLE, DECODE, ACCESS, RESPONSE) such that only one bit changes between consecutive states.</a:t>
            </a:r>
          </a:p>
          <a:p>
            <a:pPr algn="just"/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This reduces switching activity and dynamic power consumption in the control path and minimize glitches during state changes, improving reliability.</a:t>
            </a:r>
          </a:p>
          <a:p>
            <a:pPr marL="0" indent="0" algn="just">
              <a:buNone/>
            </a:pPr>
            <a:endParaRPr lang="en-IN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5FAFBC3-EA92-6615-360B-10C6F07E7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Gray Code Encoding in AHB-Lite Interface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8AAAE-B4DE-E773-61FC-FB462F3F4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1447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A3BAF3-D69A-3F7C-A5A4-B02F7169B4BB}"/>
              </a:ext>
            </a:extLst>
          </p:cNvPr>
          <p:cNvSpPr/>
          <p:nvPr/>
        </p:nvSpPr>
        <p:spPr>
          <a:xfrm>
            <a:off x="712238" y="3627603"/>
            <a:ext cx="10835590" cy="17833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E99F2A-B83C-8A12-28F2-277BF55E1B34}"/>
              </a:ext>
            </a:extLst>
          </p:cNvPr>
          <p:cNvSpPr/>
          <p:nvPr/>
        </p:nvSpPr>
        <p:spPr>
          <a:xfrm>
            <a:off x="1340313" y="4099812"/>
            <a:ext cx="2059709" cy="77470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AHB Initiator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F47E520-16ED-9B14-9ADD-B97C4DC238AA}"/>
              </a:ext>
            </a:extLst>
          </p:cNvPr>
          <p:cNvSpPr/>
          <p:nvPr/>
        </p:nvSpPr>
        <p:spPr>
          <a:xfrm>
            <a:off x="3737150" y="4099812"/>
            <a:ext cx="2059709" cy="7747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Address Decoder </a:t>
            </a:r>
          </a:p>
          <a:p>
            <a:pPr algn="ctr"/>
            <a:r>
              <a:rPr lang="en-IN"/>
              <a:t>(Existing Code)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CD54AB-23ED-8D60-E63E-09FBD4DB0DB9}"/>
              </a:ext>
            </a:extLst>
          </p:cNvPr>
          <p:cNvSpPr/>
          <p:nvPr/>
        </p:nvSpPr>
        <p:spPr>
          <a:xfrm>
            <a:off x="6133987" y="4099812"/>
            <a:ext cx="2059709" cy="774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Control FSM</a:t>
            </a:r>
          </a:p>
          <a:p>
            <a:pPr algn="ctr"/>
            <a:r>
              <a:rPr lang="en-IN"/>
              <a:t>(Gray Code)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0E2E9C9-737F-F030-6F78-048C23FAE93F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8193696" y="4015242"/>
            <a:ext cx="1597889" cy="4719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7600EC3-C850-BEB9-E389-313139BB3C2E}"/>
              </a:ext>
            </a:extLst>
          </p:cNvPr>
          <p:cNvCxnSpPr>
            <a:cxnSpLocks/>
          </p:cNvCxnSpPr>
          <p:nvPr/>
        </p:nvCxnSpPr>
        <p:spPr>
          <a:xfrm>
            <a:off x="8272201" y="4487160"/>
            <a:ext cx="15193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701C935-3D82-303F-5EEC-AF137AC96A9C}"/>
              </a:ext>
            </a:extLst>
          </p:cNvPr>
          <p:cNvCxnSpPr>
            <a:cxnSpLocks/>
          </p:cNvCxnSpPr>
          <p:nvPr/>
        </p:nvCxnSpPr>
        <p:spPr>
          <a:xfrm>
            <a:off x="8162744" y="4489949"/>
            <a:ext cx="1659793" cy="56592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09E9D68-6E81-FB81-244F-312B6A047759}"/>
              </a:ext>
            </a:extLst>
          </p:cNvPr>
          <p:cNvSpPr txBox="1"/>
          <p:nvPr/>
        </p:nvSpPr>
        <p:spPr>
          <a:xfrm>
            <a:off x="8988160" y="3759547"/>
            <a:ext cx="803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HSEL[0]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FFAA14-C83F-B030-9797-01FE6443DB88}"/>
              </a:ext>
            </a:extLst>
          </p:cNvPr>
          <p:cNvSpPr txBox="1"/>
          <p:nvPr/>
        </p:nvSpPr>
        <p:spPr>
          <a:xfrm>
            <a:off x="8985189" y="4196214"/>
            <a:ext cx="9255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/>
              <a:t>HSEL[1]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A0EAC3-16F9-4B6D-9ABB-9FC0C9FD3F52}"/>
              </a:ext>
            </a:extLst>
          </p:cNvPr>
          <p:cNvSpPr txBox="1"/>
          <p:nvPr/>
        </p:nvSpPr>
        <p:spPr>
          <a:xfrm>
            <a:off x="8957702" y="4761770"/>
            <a:ext cx="833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HSEL[N]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E26DF18-BCFD-A534-DEBD-614BEE9D9C2C}"/>
              </a:ext>
            </a:extLst>
          </p:cNvPr>
          <p:cNvSpPr/>
          <p:nvPr/>
        </p:nvSpPr>
        <p:spPr>
          <a:xfrm>
            <a:off x="9791585" y="3848032"/>
            <a:ext cx="1563062" cy="3077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Responder 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02B2C43-C0DF-E7B1-EA07-28AE4B0A5D85}"/>
              </a:ext>
            </a:extLst>
          </p:cNvPr>
          <p:cNvSpPr/>
          <p:nvPr/>
        </p:nvSpPr>
        <p:spPr>
          <a:xfrm>
            <a:off x="9791585" y="4333272"/>
            <a:ext cx="1563062" cy="30777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Responder 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DE81232-CA26-0D61-F9FA-D3D44CE783DA}"/>
              </a:ext>
            </a:extLst>
          </p:cNvPr>
          <p:cNvSpPr/>
          <p:nvPr/>
        </p:nvSpPr>
        <p:spPr>
          <a:xfrm>
            <a:off x="9781650" y="4898323"/>
            <a:ext cx="1563062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Responder 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2F0B05-59F4-35CD-376E-51E5A92F58E4}"/>
              </a:ext>
            </a:extLst>
          </p:cNvPr>
          <p:cNvSpPr txBox="1"/>
          <p:nvPr/>
        </p:nvSpPr>
        <p:spPr>
          <a:xfrm>
            <a:off x="3959258" y="5704746"/>
            <a:ext cx="3892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Fig 1. Gray Code in AHB-Lite Interface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5EDEB74-D349-CDBD-B73A-CECBA6896F3F}"/>
              </a:ext>
            </a:extLst>
          </p:cNvPr>
          <p:cNvCxnSpPr>
            <a:cxnSpLocks/>
          </p:cNvCxnSpPr>
          <p:nvPr/>
        </p:nvCxnSpPr>
        <p:spPr>
          <a:xfrm>
            <a:off x="3402103" y="4513720"/>
            <a:ext cx="323503" cy="5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F6BF3EE-3AA9-E3CC-0DD6-6CB02092A633}"/>
              </a:ext>
            </a:extLst>
          </p:cNvPr>
          <p:cNvCxnSpPr>
            <a:endCxn id="8" idx="1"/>
          </p:cNvCxnSpPr>
          <p:nvPr/>
        </p:nvCxnSpPr>
        <p:spPr>
          <a:xfrm>
            <a:off x="5796859" y="4487160"/>
            <a:ext cx="337128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729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9A7A-B77A-C493-42F2-3ED1A4E8E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46181-60A3-D6F4-FB21-1B7979EEA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91" y="0"/>
            <a:ext cx="11679404" cy="635635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IN" sz="2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2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2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1:</a:t>
            </a: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AHB transaction starts when HTRANS = NONSEQ and a valid address arrives.</a:t>
            </a:r>
          </a:p>
          <a:p>
            <a:pPr marL="0" indent="0">
              <a:buNone/>
            </a:pPr>
            <a:r>
              <a:rPr lang="en-IN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2:</a:t>
            </a: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controller enters a Gray-coded FSM state:</a:t>
            </a:r>
          </a:p>
          <a:p>
            <a:pPr marL="0" indent="0" algn="ctr">
              <a:buNone/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IDLE = 00</a:t>
            </a:r>
          </a:p>
          <a:p>
            <a:pPr marL="0" indent="0" algn="ctr">
              <a:buNone/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BUSY = 01</a:t>
            </a:r>
          </a:p>
          <a:p>
            <a:pPr marL="0" indent="0" algn="ctr">
              <a:buNone/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 SEQ  = 1</a:t>
            </a:r>
          </a:p>
          <a:p>
            <a:pPr marL="0" indent="0" algn="ctr">
              <a:buNone/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 = 10</a:t>
            </a:r>
          </a:p>
          <a:p>
            <a:pPr marL="0" indent="0">
              <a:buNone/>
            </a:pPr>
            <a:r>
              <a:rPr lang="en-IN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3:</a:t>
            </a: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During transaction processing, the FSM changes as: 00 → 01 → 11 → 10 → 00</a:t>
            </a:r>
          </a:p>
          <a:p>
            <a:pPr marL="0" indent="0">
              <a:buNone/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</a:t>
            </a:r>
            <a:r>
              <a:rPr lang="en-IN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bit changes</a:t>
            </a: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each transition.</a:t>
            </a:r>
          </a:p>
          <a:p>
            <a:pPr marL="0" indent="0">
              <a:buNone/>
            </a:pPr>
            <a:r>
              <a:rPr lang="en-IN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4:</a:t>
            </a: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FSM generates control signals such as HSEL, HREADY, and HRESP based on the current state.</a:t>
            </a:r>
          </a:p>
          <a:p>
            <a:pPr marL="0" indent="0">
              <a:buNone/>
            </a:pPr>
            <a:r>
              <a:rPr lang="en-IN"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5:</a:t>
            </a: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Because only one bit toggles per state change, switching activity, glitches, and power consumption in the control logic are reduced.</a:t>
            </a:r>
          </a:p>
          <a:p>
            <a:pPr marL="0" indent="0" algn="just">
              <a:buNone/>
            </a:pPr>
            <a:endParaRPr lang="en-IN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2A1C06-E633-6786-649E-CCE1680C9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Gray Code Encoding Steps in AHB-Lite Interface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A9C50-F44C-F94F-822A-6A8D96D4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D3F187-B961-A58E-B6DB-587272883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141" y="2401456"/>
            <a:ext cx="4784968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0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D2CA7-C6A1-91C1-84D8-4803C6DE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AD44F-FA3A-E6AE-88E9-649FB68DF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 inversion is used in an AHB-Lite interface mainly to reduce dynamic power consumption caused by frequent switching of wide buses like:</a:t>
            </a:r>
          </a:p>
          <a:p>
            <a:pPr marL="0" indent="0" algn="just">
              <a:buNone/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</a:t>
            </a:r>
            <a:r>
              <a:rPr lang="en-IN" sz="2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hwdata</a:t>
            </a: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 algn="just">
              <a:buNone/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</a:t>
            </a:r>
            <a:r>
              <a:rPr lang="en-IN" sz="2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hrdata</a:t>
            </a: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AHB-Lite data buses are usually 32-bit or 64-bit wide. During every transfer many bits toggle between 0 and 1.</a:t>
            </a:r>
          </a:p>
          <a:p>
            <a:pPr algn="just"/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 inversion reduces the switching activity α.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09C0B1-7A0A-8F9A-5E2B-70D59D9DD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 fontScale="90000"/>
          </a:bodyPr>
          <a:lstStyle/>
          <a:p>
            <a:pPr algn="ctr"/>
            <a:b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 Inversion Encoding </a:t>
            </a:r>
            <a:b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E2E3C-8845-D70E-9C73-7EFFDBE82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88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83A0E2D-7FF6-448C-D6B2-7AFD53919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ECDCE47-7A63-3B4F-2E54-C5884A35F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in Bus Inversion Encoding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11FDD-0EA8-39A2-5794-C4FA94F74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2085C9-417D-AFC2-07BB-923FA4857CEB}"/>
              </a:ext>
            </a:extLst>
          </p:cNvPr>
          <p:cNvSpPr/>
          <p:nvPr/>
        </p:nvSpPr>
        <p:spPr>
          <a:xfrm>
            <a:off x="4202546" y="969817"/>
            <a:ext cx="3362036" cy="3232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E3B0D6-9DDC-6B07-3209-B347CA198AF3}"/>
              </a:ext>
            </a:extLst>
          </p:cNvPr>
          <p:cNvSpPr/>
          <p:nvPr/>
        </p:nvSpPr>
        <p:spPr>
          <a:xfrm>
            <a:off x="4202546" y="1441972"/>
            <a:ext cx="3362036" cy="3232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Current Data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E86BA5-31CB-CAA4-64A8-3F965BD0267D}"/>
              </a:ext>
            </a:extLst>
          </p:cNvPr>
          <p:cNvSpPr/>
          <p:nvPr/>
        </p:nvSpPr>
        <p:spPr>
          <a:xfrm>
            <a:off x="4202546" y="2004292"/>
            <a:ext cx="3362036" cy="3250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Compare with Previous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2C275F-AE1D-3E56-FB17-876982A57E8E}"/>
              </a:ext>
            </a:extLst>
          </p:cNvPr>
          <p:cNvSpPr/>
          <p:nvPr/>
        </p:nvSpPr>
        <p:spPr>
          <a:xfrm>
            <a:off x="4202546" y="2581453"/>
            <a:ext cx="3362035" cy="3232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Count Transition Bits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8FF12E-2B76-871F-34CB-E673197F6587}"/>
              </a:ext>
            </a:extLst>
          </p:cNvPr>
          <p:cNvSpPr/>
          <p:nvPr/>
        </p:nvSpPr>
        <p:spPr>
          <a:xfrm>
            <a:off x="360219" y="3558858"/>
            <a:ext cx="2706254" cy="323273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Invert Data and INV=1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54820F14-7564-E4C6-CDC2-5FC6933DE365}"/>
              </a:ext>
            </a:extLst>
          </p:cNvPr>
          <p:cNvSpPr/>
          <p:nvPr/>
        </p:nvSpPr>
        <p:spPr>
          <a:xfrm>
            <a:off x="4331854" y="3131895"/>
            <a:ext cx="3103418" cy="1177200"/>
          </a:xfrm>
          <a:prstGeom prst="diamond">
            <a:avLst/>
          </a:prstGeom>
          <a:solidFill>
            <a:srgbClr val="FFCC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Transitions &gt; width/2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6CCC3B-C894-E957-3BB0-7A6CF2130FC2}"/>
              </a:ext>
            </a:extLst>
          </p:cNvPr>
          <p:cNvSpPr/>
          <p:nvPr/>
        </p:nvSpPr>
        <p:spPr>
          <a:xfrm>
            <a:off x="8506691" y="3558858"/>
            <a:ext cx="2743199" cy="323273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Send Original data INV=0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0BDF4D-EF06-B4B0-93FE-05567479FABF}"/>
              </a:ext>
            </a:extLst>
          </p:cNvPr>
          <p:cNvSpPr/>
          <p:nvPr/>
        </p:nvSpPr>
        <p:spPr>
          <a:xfrm>
            <a:off x="4294909" y="4847221"/>
            <a:ext cx="3228108" cy="323273"/>
          </a:xfrm>
          <a:prstGeom prst="rect">
            <a:avLst/>
          </a:prstGeom>
          <a:solidFill>
            <a:srgbClr val="81960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Transmit data + INV Bit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E33B0A-0927-B6DB-EEA1-4979197EC2CF}"/>
              </a:ext>
            </a:extLst>
          </p:cNvPr>
          <p:cNvSpPr/>
          <p:nvPr/>
        </p:nvSpPr>
        <p:spPr>
          <a:xfrm>
            <a:off x="4294909" y="5376942"/>
            <a:ext cx="3177308" cy="32327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Receiver Checks Invert Bit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2D22CE-B147-2D15-2D4D-7E16C9E25020}"/>
              </a:ext>
            </a:extLst>
          </p:cNvPr>
          <p:cNvSpPr/>
          <p:nvPr/>
        </p:nvSpPr>
        <p:spPr>
          <a:xfrm>
            <a:off x="4294909" y="5881037"/>
            <a:ext cx="3177308" cy="323273"/>
          </a:xfrm>
          <a:prstGeom prst="rect">
            <a:avLst/>
          </a:prstGeom>
          <a:solidFill>
            <a:srgbClr val="FBFBB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Recover Original Data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2BE92E-3B54-221F-9D39-8BD48137989E}"/>
              </a:ext>
            </a:extLst>
          </p:cNvPr>
          <p:cNvSpPr/>
          <p:nvPr/>
        </p:nvSpPr>
        <p:spPr>
          <a:xfrm>
            <a:off x="4294909" y="6383061"/>
            <a:ext cx="3177308" cy="3232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3CBD4D-762E-FD3B-7126-48140E50294F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883564" y="1293090"/>
            <a:ext cx="0" cy="1488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6857C50-AB1C-F5E0-1E7E-3C7C150FBC35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5883564" y="1765245"/>
            <a:ext cx="0" cy="239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AE21C09-1F29-E60E-0879-B9270924BBD3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5883564" y="2329375"/>
            <a:ext cx="0" cy="2520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980F1FD-DB63-02DC-D576-666130E16E80}"/>
              </a:ext>
            </a:extLst>
          </p:cNvPr>
          <p:cNvCxnSpPr>
            <a:stCxn id="10" idx="2"/>
            <a:endCxn id="16" idx="0"/>
          </p:cNvCxnSpPr>
          <p:nvPr/>
        </p:nvCxnSpPr>
        <p:spPr>
          <a:xfrm flipH="1">
            <a:off x="5883563" y="2904726"/>
            <a:ext cx="1" cy="2271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2A95E81-B829-BDB1-45A4-C8D558F01E64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7435272" y="3720495"/>
            <a:ext cx="10714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2A0DFD1-BB66-F18D-8B57-DBE2BACEF0D4}"/>
              </a:ext>
            </a:extLst>
          </p:cNvPr>
          <p:cNvCxnSpPr>
            <a:stCxn id="16" idx="1"/>
            <a:endCxn id="15" idx="3"/>
          </p:cNvCxnSpPr>
          <p:nvPr/>
        </p:nvCxnSpPr>
        <p:spPr>
          <a:xfrm flipH="1">
            <a:off x="3066473" y="3720495"/>
            <a:ext cx="12653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9D25682A-5C09-5234-83F9-50A77EC9DDE6}"/>
              </a:ext>
            </a:extLst>
          </p:cNvPr>
          <p:cNvCxnSpPr>
            <a:cxnSpLocks/>
          </p:cNvCxnSpPr>
          <p:nvPr/>
        </p:nvCxnSpPr>
        <p:spPr>
          <a:xfrm rot="5400000">
            <a:off x="7415700" y="2392767"/>
            <a:ext cx="965090" cy="396932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4F352799-E829-8674-D88F-89364520A881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28610" y="2293971"/>
            <a:ext cx="965090" cy="4195617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6E9031B-2230-B527-7B20-4FABE89B0F3E}"/>
              </a:ext>
            </a:extLst>
          </p:cNvPr>
          <p:cNvCxnSpPr>
            <a:cxnSpLocks/>
          </p:cNvCxnSpPr>
          <p:nvPr/>
        </p:nvCxnSpPr>
        <p:spPr>
          <a:xfrm>
            <a:off x="5918199" y="5700215"/>
            <a:ext cx="0" cy="1879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93AC5AA-8EC5-9D23-B662-9E344EE2A707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5883563" y="6204310"/>
            <a:ext cx="0" cy="1787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3F6A1C2-B0CC-97BC-D365-2FBAF85489A5}"/>
              </a:ext>
            </a:extLst>
          </p:cNvPr>
          <p:cNvCxnSpPr>
            <a:cxnSpLocks/>
          </p:cNvCxnSpPr>
          <p:nvPr/>
        </p:nvCxnSpPr>
        <p:spPr>
          <a:xfrm>
            <a:off x="5911271" y="5170494"/>
            <a:ext cx="0" cy="1879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2AD207D9-30D8-28E1-8EF9-15FA7F4CEDF2}"/>
              </a:ext>
            </a:extLst>
          </p:cNvPr>
          <p:cNvSpPr txBox="1"/>
          <p:nvPr/>
        </p:nvSpPr>
        <p:spPr>
          <a:xfrm>
            <a:off x="3498824" y="3406617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Yes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3EC4CCE-5F1C-CB16-5C05-3C17D187E52F}"/>
              </a:ext>
            </a:extLst>
          </p:cNvPr>
          <p:cNvSpPr txBox="1"/>
          <p:nvPr/>
        </p:nvSpPr>
        <p:spPr>
          <a:xfrm>
            <a:off x="7805881" y="339970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No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58BA99D-F9D5-D508-C404-5260C329969E}"/>
              </a:ext>
            </a:extLst>
          </p:cNvPr>
          <p:cNvSpPr txBox="1"/>
          <p:nvPr/>
        </p:nvSpPr>
        <p:spPr>
          <a:xfrm>
            <a:off x="7805881" y="6433682"/>
            <a:ext cx="2600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Fig 1. Bus Inversion Flow</a:t>
            </a:r>
          </a:p>
        </p:txBody>
      </p:sp>
    </p:spTree>
    <p:extLst>
      <p:ext uri="{BB962C8B-B14F-4D97-AF65-F5344CB8AC3E}">
        <p14:creationId xmlns:p14="http://schemas.microsoft.com/office/powerpoint/2010/main" val="3981311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859C7-1C5E-C117-D1F1-A328DA802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56328BC-54C4-7042-2EAF-D05DC610A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Bus Inversion Encoding &amp; Decoding in AHB Lite Interface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86FD3-FFC2-7718-D5EF-5537D1F0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850296"/>
            <a:ext cx="2971800" cy="871179"/>
          </a:xfrm>
        </p:spPr>
        <p:txBody>
          <a:bodyPr/>
          <a:lstStyle/>
          <a:p>
            <a:fld id="{330EA680-D336-4FF7-8B7A-9848BB0A1C32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90B224-0FC4-E2CD-473D-BD056FA8FE43}"/>
              </a:ext>
            </a:extLst>
          </p:cNvPr>
          <p:cNvSpPr/>
          <p:nvPr/>
        </p:nvSpPr>
        <p:spPr>
          <a:xfrm>
            <a:off x="4202546" y="969817"/>
            <a:ext cx="3362036" cy="3232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90247A-637B-30A8-7347-31761D57F239}"/>
              </a:ext>
            </a:extLst>
          </p:cNvPr>
          <p:cNvSpPr/>
          <p:nvPr/>
        </p:nvSpPr>
        <p:spPr>
          <a:xfrm>
            <a:off x="4202546" y="1441972"/>
            <a:ext cx="3362036" cy="3232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Select Current AHB Lite Data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8E4089-164B-2BA2-42FE-A37B2F7C86E9}"/>
              </a:ext>
            </a:extLst>
          </p:cNvPr>
          <p:cNvSpPr/>
          <p:nvPr/>
        </p:nvSpPr>
        <p:spPr>
          <a:xfrm>
            <a:off x="4202546" y="2004292"/>
            <a:ext cx="3362036" cy="3250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Compare with Previous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7FC022-C728-8945-8962-773913851A4D}"/>
              </a:ext>
            </a:extLst>
          </p:cNvPr>
          <p:cNvSpPr/>
          <p:nvPr/>
        </p:nvSpPr>
        <p:spPr>
          <a:xfrm>
            <a:off x="4202546" y="2581453"/>
            <a:ext cx="3362035" cy="3232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Count Transition Bits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765F89-B33E-E9D7-9F01-2DB01207E5AC}"/>
              </a:ext>
            </a:extLst>
          </p:cNvPr>
          <p:cNvSpPr/>
          <p:nvPr/>
        </p:nvSpPr>
        <p:spPr>
          <a:xfrm>
            <a:off x="755625" y="3288146"/>
            <a:ext cx="2310848" cy="593986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Invert Data and INV=1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7E3B8B95-EBF6-981F-A729-01FFD58FB64B}"/>
              </a:ext>
            </a:extLst>
          </p:cNvPr>
          <p:cNvSpPr/>
          <p:nvPr/>
        </p:nvSpPr>
        <p:spPr>
          <a:xfrm>
            <a:off x="4331854" y="3131895"/>
            <a:ext cx="3103418" cy="1177200"/>
          </a:xfrm>
          <a:prstGeom prst="diamond">
            <a:avLst/>
          </a:prstGeom>
          <a:solidFill>
            <a:srgbClr val="FFCC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Transitions &gt; width/2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20B7E8-415D-BE2F-4C02-9015B2BEFF73}"/>
              </a:ext>
            </a:extLst>
          </p:cNvPr>
          <p:cNvSpPr/>
          <p:nvPr/>
        </p:nvSpPr>
        <p:spPr>
          <a:xfrm>
            <a:off x="8506691" y="3288146"/>
            <a:ext cx="2456873" cy="593985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Send Original data INV=0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5B23B0-C7D3-AE71-016B-8B6BFF1BA533}"/>
              </a:ext>
            </a:extLst>
          </p:cNvPr>
          <p:cNvSpPr/>
          <p:nvPr/>
        </p:nvSpPr>
        <p:spPr>
          <a:xfrm>
            <a:off x="4294909" y="4847221"/>
            <a:ext cx="3228108" cy="323273"/>
          </a:xfrm>
          <a:prstGeom prst="rect">
            <a:avLst/>
          </a:prstGeom>
          <a:solidFill>
            <a:srgbClr val="81960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Transmit data + INV Bit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DC9C5B-6FA7-D430-3992-8944C5203833}"/>
              </a:ext>
            </a:extLst>
          </p:cNvPr>
          <p:cNvSpPr/>
          <p:nvPr/>
        </p:nvSpPr>
        <p:spPr>
          <a:xfrm>
            <a:off x="4294909" y="5376942"/>
            <a:ext cx="3177308" cy="32327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Receiver Checks Invert Bit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DF664A-FF1C-9160-11AB-5471BD2C4393}"/>
              </a:ext>
            </a:extLst>
          </p:cNvPr>
          <p:cNvSpPr/>
          <p:nvPr/>
        </p:nvSpPr>
        <p:spPr>
          <a:xfrm>
            <a:off x="4294909" y="5881037"/>
            <a:ext cx="3177308" cy="323273"/>
          </a:xfrm>
          <a:prstGeom prst="rect">
            <a:avLst/>
          </a:prstGeom>
          <a:solidFill>
            <a:srgbClr val="FBFBB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Recover Original Data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ABD626-BF01-7BF5-5CD7-0EC892883777}"/>
              </a:ext>
            </a:extLst>
          </p:cNvPr>
          <p:cNvSpPr/>
          <p:nvPr/>
        </p:nvSpPr>
        <p:spPr>
          <a:xfrm>
            <a:off x="4294909" y="6383061"/>
            <a:ext cx="3177308" cy="3232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3B5706-21D6-E052-4288-0F3ED39C825D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883564" y="1293090"/>
            <a:ext cx="0" cy="1488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84EEBD7-27AF-AD63-2E33-799ABB610AD9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5883564" y="1765245"/>
            <a:ext cx="0" cy="239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3FBE39D-7816-EABA-D114-AEDF54A0EB2F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5883564" y="2329375"/>
            <a:ext cx="0" cy="2520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8888D3-59EA-C4A4-0F21-D21B876BFF7E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flipH="1">
            <a:off x="5883563" y="2904726"/>
            <a:ext cx="1" cy="2271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CC066B5-0009-A6FE-D648-B0333288307A}"/>
              </a:ext>
            </a:extLst>
          </p:cNvPr>
          <p:cNvCxnSpPr>
            <a:cxnSpLocks/>
          </p:cNvCxnSpPr>
          <p:nvPr/>
        </p:nvCxnSpPr>
        <p:spPr>
          <a:xfrm flipV="1">
            <a:off x="7435272" y="3706918"/>
            <a:ext cx="1071419" cy="257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E426FB6-D6D1-B315-C421-6543245DA4BF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066473" y="3720495"/>
            <a:ext cx="1265381" cy="74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FFC32675-5262-E621-54CF-DE234A653952}"/>
              </a:ext>
            </a:extLst>
          </p:cNvPr>
          <p:cNvCxnSpPr>
            <a:cxnSpLocks/>
          </p:cNvCxnSpPr>
          <p:nvPr/>
        </p:nvCxnSpPr>
        <p:spPr>
          <a:xfrm rot="5400000">
            <a:off x="7415700" y="2392767"/>
            <a:ext cx="965090" cy="396932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264DA9D1-76C1-07DE-08D8-F8EBDECE180F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28610" y="2293971"/>
            <a:ext cx="965090" cy="4195617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FE4910E-BE9E-BF77-91BA-CC54CC8BA126}"/>
              </a:ext>
            </a:extLst>
          </p:cNvPr>
          <p:cNvCxnSpPr>
            <a:cxnSpLocks/>
          </p:cNvCxnSpPr>
          <p:nvPr/>
        </p:nvCxnSpPr>
        <p:spPr>
          <a:xfrm>
            <a:off x="5918199" y="5700215"/>
            <a:ext cx="0" cy="1879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9848425-0A60-CD67-85FA-70A874EB0D7F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5883563" y="6204310"/>
            <a:ext cx="0" cy="1787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9A29D03-B5E2-A4DE-D52B-E6FEA7F551EB}"/>
              </a:ext>
            </a:extLst>
          </p:cNvPr>
          <p:cNvCxnSpPr>
            <a:cxnSpLocks/>
          </p:cNvCxnSpPr>
          <p:nvPr/>
        </p:nvCxnSpPr>
        <p:spPr>
          <a:xfrm>
            <a:off x="5911271" y="5170494"/>
            <a:ext cx="0" cy="1879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A4C73C86-3D10-FC0E-DF3C-F777852AE911}"/>
              </a:ext>
            </a:extLst>
          </p:cNvPr>
          <p:cNvSpPr txBox="1"/>
          <p:nvPr/>
        </p:nvSpPr>
        <p:spPr>
          <a:xfrm>
            <a:off x="3498824" y="3406617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Yes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16AD2CE-9CE3-F216-92E5-6674353DEEE9}"/>
              </a:ext>
            </a:extLst>
          </p:cNvPr>
          <p:cNvSpPr txBox="1"/>
          <p:nvPr/>
        </p:nvSpPr>
        <p:spPr>
          <a:xfrm>
            <a:off x="7805881" y="339970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No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DCE2D34-F42A-44A4-B723-EC4C68D11006}"/>
              </a:ext>
            </a:extLst>
          </p:cNvPr>
          <p:cNvSpPr txBox="1"/>
          <p:nvPr/>
        </p:nvSpPr>
        <p:spPr>
          <a:xfrm>
            <a:off x="7472217" y="6433682"/>
            <a:ext cx="466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Fig 2. Bus Inversion Flow in AHB Lite Interface</a:t>
            </a:r>
          </a:p>
        </p:txBody>
      </p:sp>
    </p:spTree>
    <p:extLst>
      <p:ext uri="{BB962C8B-B14F-4D97-AF65-F5344CB8AC3E}">
        <p14:creationId xmlns:p14="http://schemas.microsoft.com/office/powerpoint/2010/main" val="1436778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88E55-BF97-F41E-C024-7F2157618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F07BB0-5FDA-4A61-27AD-ADF39491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Example Of Bus Inversion Encoding in AHB Lite Interface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142DF-B837-7227-9207-881501EC0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3EF0DAD-A53F-9136-C87F-227C39BF79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6618" y="1841549"/>
            <a:ext cx="1048327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Previous </a:t>
            </a:r>
            <a:r>
              <a:rPr lang="en-US" altLang="en-US" sz="2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hwdata</a:t>
            </a:r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32'hAAAAAAAA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Current </a:t>
            </a:r>
            <a:r>
              <a:rPr lang="en-US" altLang="en-US" sz="2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hwdata</a:t>
            </a:r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:  32'h55555555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Compare transitions between previous and current data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Total transitions: 32 transitions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Check condition</a:t>
            </a:r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(</a:t>
            </a:r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32 &gt; 16) ? invert current </a:t>
            </a:r>
            <a:r>
              <a:rPr lang="en-US" altLang="en-US" sz="2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hwdata</a:t>
            </a:r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Original Data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Transmit: </a:t>
            </a:r>
            <a:r>
              <a:rPr lang="en-US" altLang="en-US" sz="2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hwdata</a:t>
            </a:r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32'hAAAAAAAA and INV = 1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Receiver checks INV=1 and recovers 32'h55555555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813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68D1-214D-5FA2-40FD-117F58E62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EB4A21E-F32C-B7A2-19B9-1853823B0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8837" y="1216928"/>
            <a:ext cx="5260109" cy="462741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55DC2C9-7CEE-5C72-1BBE-08073E718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 fontScale="90000"/>
          </a:bodyPr>
          <a:lstStyle/>
          <a:p>
            <a:pPr algn="ctr"/>
            <a:b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 Inversion Encoding Logic In AHB Lite Interface </a:t>
            </a:r>
            <a:b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09A5F-3D47-C343-4BDE-1E372F083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173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C2D7F-5853-D4B1-8A4F-1BECCF2CB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E9E87BF-E1A1-7DAE-8325-6051D096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 fontScale="90000"/>
          </a:bodyPr>
          <a:lstStyle/>
          <a:p>
            <a:pPr algn="ctr"/>
            <a:b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 Inversion Decoding Logic In AHB Lite Interface </a:t>
            </a:r>
            <a:b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C3E3-0400-2355-9866-0C8E7F1F2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012A28-569B-27A3-0248-6C11E87D3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945" y="1607127"/>
            <a:ext cx="5936663" cy="432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10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0FCC73-853D-48B8-906F-C668F2FEC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339468F-F43D-FC9C-4428-9B7B6CEC2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/>
          </a:bodyPr>
          <a:lstStyle/>
          <a:p>
            <a:r>
              <a:rPr lang="en-IN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Transition Inversion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4A712-6752-9E52-6C6A-A82BA11D3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888A4B0-BD0B-C55A-F097-609D7814C1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310" y="1210635"/>
            <a:ext cx="10843490" cy="606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Transition inversion is a low-power technique used to reduce switching activity on high-speed buses.</a:t>
            </a:r>
          </a:p>
          <a:p>
            <a:pPr marL="0" indent="0" algn="just">
              <a:buNone/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WHY?</a:t>
            </a:r>
          </a:p>
          <a:p>
            <a:pPr algn="just"/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too many bits change between consecutive data, invert the current data before transmission.</a:t>
            </a:r>
          </a:p>
          <a:p>
            <a:pPr algn="just"/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Transition inversion reduces  switching activity (α)</a:t>
            </a:r>
          </a:p>
          <a:p>
            <a:pPr algn="just"/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Calculate the transition pattern using XOR:  T=P⊕C</a:t>
            </a:r>
          </a:p>
          <a:p>
            <a:pPr marL="0" indent="0">
              <a:buNone/>
            </a:pP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Where:</a:t>
            </a:r>
          </a:p>
          <a:p>
            <a:pPr marL="285750" indent="-285750" algn="ctr"/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= Previous bus value</a:t>
            </a:r>
          </a:p>
          <a:p>
            <a:pPr marL="285750" indent="-285750" algn="ctr"/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 = Current bus value</a:t>
            </a:r>
          </a:p>
          <a:p>
            <a:pPr marL="285750" indent="-285750" algn="ctr"/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 = Transition pattern</a:t>
            </a:r>
            <a:endParaRPr lang="en-IN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694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F14CF5-8A6A-7B84-94A3-E201DDF52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A6026AE-BCA6-CFC7-566A-F4BAA9AB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Transition Inversion Encoding &amp; Decoding in AHB Lite Interface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5B192-B052-619A-D976-8BD9423D5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850296"/>
            <a:ext cx="2971800" cy="871179"/>
          </a:xfrm>
        </p:spPr>
        <p:txBody>
          <a:bodyPr/>
          <a:lstStyle/>
          <a:p>
            <a:fld id="{330EA680-D336-4FF7-8B7A-9848BB0A1C32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C573DC-A5E0-2A47-CE6E-98601E4E2A24}"/>
              </a:ext>
            </a:extLst>
          </p:cNvPr>
          <p:cNvSpPr/>
          <p:nvPr/>
        </p:nvSpPr>
        <p:spPr>
          <a:xfrm>
            <a:off x="4202546" y="969817"/>
            <a:ext cx="3362036" cy="3232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ED7603-8AAC-9FC7-250D-613B9E1D4F33}"/>
              </a:ext>
            </a:extLst>
          </p:cNvPr>
          <p:cNvSpPr/>
          <p:nvPr/>
        </p:nvSpPr>
        <p:spPr>
          <a:xfrm>
            <a:off x="4202546" y="1441972"/>
            <a:ext cx="3362036" cy="3232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Select Current AHB Lite Data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CDD78B-D51F-4E91-23CB-74ADFE8AFA59}"/>
              </a:ext>
            </a:extLst>
          </p:cNvPr>
          <p:cNvSpPr/>
          <p:nvPr/>
        </p:nvSpPr>
        <p:spPr>
          <a:xfrm>
            <a:off x="4202546" y="2004292"/>
            <a:ext cx="3362036" cy="3250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Compare with Previous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7476C2-57DA-1BDB-E31C-828E7D652FA4}"/>
              </a:ext>
            </a:extLst>
          </p:cNvPr>
          <p:cNvSpPr/>
          <p:nvPr/>
        </p:nvSpPr>
        <p:spPr>
          <a:xfrm>
            <a:off x="4202546" y="2581453"/>
            <a:ext cx="3362035" cy="3232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XOR Operation between them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8032A0-8A83-588B-472B-7C2614498BE0}"/>
              </a:ext>
            </a:extLst>
          </p:cNvPr>
          <p:cNvSpPr/>
          <p:nvPr/>
        </p:nvSpPr>
        <p:spPr>
          <a:xfrm>
            <a:off x="360219" y="3558858"/>
            <a:ext cx="2706254" cy="323273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Invert Data and INV=1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F857CAE3-D77E-1707-1A20-EA64D575EE3E}"/>
              </a:ext>
            </a:extLst>
          </p:cNvPr>
          <p:cNvSpPr/>
          <p:nvPr/>
        </p:nvSpPr>
        <p:spPr>
          <a:xfrm>
            <a:off x="4331854" y="3131895"/>
            <a:ext cx="3103418" cy="1177200"/>
          </a:xfrm>
          <a:prstGeom prst="diamond">
            <a:avLst/>
          </a:prstGeom>
          <a:solidFill>
            <a:srgbClr val="FFCC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Transitions &gt; width/2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4016C0-01DD-79BC-B89F-715E057B0EDA}"/>
              </a:ext>
            </a:extLst>
          </p:cNvPr>
          <p:cNvSpPr/>
          <p:nvPr/>
        </p:nvSpPr>
        <p:spPr>
          <a:xfrm>
            <a:off x="8506691" y="3558858"/>
            <a:ext cx="2743199" cy="323273"/>
          </a:xfrm>
          <a:prstGeom prst="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Send Original data INV=0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4B5FE-D90C-0F01-A34C-0906E83D983C}"/>
              </a:ext>
            </a:extLst>
          </p:cNvPr>
          <p:cNvSpPr/>
          <p:nvPr/>
        </p:nvSpPr>
        <p:spPr>
          <a:xfrm>
            <a:off x="4294909" y="4847221"/>
            <a:ext cx="3228108" cy="323273"/>
          </a:xfrm>
          <a:prstGeom prst="rect">
            <a:avLst/>
          </a:prstGeom>
          <a:solidFill>
            <a:srgbClr val="81960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Transmit data + INV Bit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58C829-85BF-9E7A-FDA9-9D9B67AB8BA0}"/>
              </a:ext>
            </a:extLst>
          </p:cNvPr>
          <p:cNvSpPr/>
          <p:nvPr/>
        </p:nvSpPr>
        <p:spPr>
          <a:xfrm>
            <a:off x="4294909" y="5376942"/>
            <a:ext cx="3177308" cy="32327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Receiver Checks Invert Bit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EC2CBD-BA58-11DB-1B11-258E64BBB7FD}"/>
              </a:ext>
            </a:extLst>
          </p:cNvPr>
          <p:cNvSpPr/>
          <p:nvPr/>
        </p:nvSpPr>
        <p:spPr>
          <a:xfrm>
            <a:off x="4294909" y="5881037"/>
            <a:ext cx="3177308" cy="323273"/>
          </a:xfrm>
          <a:prstGeom prst="rect">
            <a:avLst/>
          </a:prstGeom>
          <a:solidFill>
            <a:srgbClr val="FBFBBB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Recover Original Data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95A440-EB4B-D22F-EEF7-9BBC30299B02}"/>
              </a:ext>
            </a:extLst>
          </p:cNvPr>
          <p:cNvSpPr/>
          <p:nvPr/>
        </p:nvSpPr>
        <p:spPr>
          <a:xfrm>
            <a:off x="4294909" y="6383061"/>
            <a:ext cx="3177308" cy="3232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CB0232-1ADC-3590-07DF-87B78DFD6CF0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883564" y="1293090"/>
            <a:ext cx="0" cy="1488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3D34D9C-4B9A-2B16-53DB-6F36AE22BF13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5883564" y="1765245"/>
            <a:ext cx="0" cy="2390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1A0B4E3-3CA2-37AF-CC0F-7B443070B293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5883564" y="2329375"/>
            <a:ext cx="0" cy="2520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86E23E8-6263-2095-733E-FEBEFC469EC1}"/>
              </a:ext>
            </a:extLst>
          </p:cNvPr>
          <p:cNvCxnSpPr>
            <a:stCxn id="10" idx="2"/>
            <a:endCxn id="16" idx="0"/>
          </p:cNvCxnSpPr>
          <p:nvPr/>
        </p:nvCxnSpPr>
        <p:spPr>
          <a:xfrm flipH="1">
            <a:off x="5883563" y="2904726"/>
            <a:ext cx="1" cy="2271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61F9171-E09D-6678-E8A4-A3D50E85A4E0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7435272" y="3720495"/>
            <a:ext cx="107141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DDD3A48-328F-3710-C56D-F7E7D059A9A8}"/>
              </a:ext>
            </a:extLst>
          </p:cNvPr>
          <p:cNvCxnSpPr>
            <a:stCxn id="16" idx="1"/>
            <a:endCxn id="15" idx="3"/>
          </p:cNvCxnSpPr>
          <p:nvPr/>
        </p:nvCxnSpPr>
        <p:spPr>
          <a:xfrm flipH="1">
            <a:off x="3066473" y="3720495"/>
            <a:ext cx="12653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F690AA9E-DE22-DD90-E30E-4E58F2C1C54A}"/>
              </a:ext>
            </a:extLst>
          </p:cNvPr>
          <p:cNvCxnSpPr>
            <a:cxnSpLocks/>
          </p:cNvCxnSpPr>
          <p:nvPr/>
        </p:nvCxnSpPr>
        <p:spPr>
          <a:xfrm rot="5400000">
            <a:off x="7415700" y="2392767"/>
            <a:ext cx="965090" cy="396932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AA96F7A-B8DF-2E8C-3D90-4338549DC66E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28610" y="2293971"/>
            <a:ext cx="965090" cy="4195617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E213C68-8B21-B09B-BC5D-203FB95D52F4}"/>
              </a:ext>
            </a:extLst>
          </p:cNvPr>
          <p:cNvCxnSpPr>
            <a:cxnSpLocks/>
          </p:cNvCxnSpPr>
          <p:nvPr/>
        </p:nvCxnSpPr>
        <p:spPr>
          <a:xfrm>
            <a:off x="5918199" y="5700215"/>
            <a:ext cx="0" cy="1879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9F21860-4CB8-4E1A-4A03-BB8138ED827A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5883563" y="6204310"/>
            <a:ext cx="0" cy="1787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47BB695-1FAF-AABF-4ECF-375E961D95F1}"/>
              </a:ext>
            </a:extLst>
          </p:cNvPr>
          <p:cNvCxnSpPr>
            <a:cxnSpLocks/>
          </p:cNvCxnSpPr>
          <p:nvPr/>
        </p:nvCxnSpPr>
        <p:spPr>
          <a:xfrm>
            <a:off x="5911271" y="5170494"/>
            <a:ext cx="0" cy="1879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111F3E7-663B-3B90-CF07-A141FEF017D4}"/>
              </a:ext>
            </a:extLst>
          </p:cNvPr>
          <p:cNvSpPr txBox="1"/>
          <p:nvPr/>
        </p:nvSpPr>
        <p:spPr>
          <a:xfrm>
            <a:off x="3498824" y="3406617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Yes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A5CE46E-D81D-5630-9C86-95C7BD563543}"/>
              </a:ext>
            </a:extLst>
          </p:cNvPr>
          <p:cNvSpPr txBox="1"/>
          <p:nvPr/>
        </p:nvSpPr>
        <p:spPr>
          <a:xfrm>
            <a:off x="7805881" y="339970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No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E0CBCD5-D021-22AF-B046-FF1500B3101B}"/>
              </a:ext>
            </a:extLst>
          </p:cNvPr>
          <p:cNvSpPr txBox="1"/>
          <p:nvPr/>
        </p:nvSpPr>
        <p:spPr>
          <a:xfrm>
            <a:off x="7472217" y="6433682"/>
            <a:ext cx="4701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/>
              <a:t>Fig 3. Transition Inversion Flow in AHB Lite Interface</a:t>
            </a:r>
          </a:p>
        </p:txBody>
      </p:sp>
    </p:spTree>
    <p:extLst>
      <p:ext uri="{BB962C8B-B14F-4D97-AF65-F5344CB8AC3E}">
        <p14:creationId xmlns:p14="http://schemas.microsoft.com/office/powerpoint/2010/main" val="1699869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2C1F49-F9E8-C3BE-5AE1-63CBD0273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83D81-3796-E46D-7DC4-F5E9FE39B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08" y="1247024"/>
            <a:ext cx="4474974" cy="547445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ahb_transition_inversion_encoder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#(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 DATA_WIDTH = 32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)(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logic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hclk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logic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hreset_n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logic [DATA_WIDTH-1:0]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data_in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logic [DATA_WIDTH-1:0]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data_out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logic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</a:t>
            </a:r>
          </a:p>
          <a:p>
            <a:pPr marL="0" indent="0">
              <a:buNone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 [DATA_WIDTH-1:0]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prev_data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integer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transition_count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integer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0" indent="0">
              <a:buNone/>
            </a:pP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always_ff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@(posedge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hclk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negedge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hreset_n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begin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(!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hreset_n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prev_data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&lt;= '0;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else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prev_data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&lt;=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data_out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F3055AA-491B-C763-2C87-82A6493D0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Autofit/>
          </a:bodyPr>
          <a:lstStyle/>
          <a:p>
            <a:pPr algn="ctr"/>
            <a:br>
              <a:rPr 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Transition Inversion Encoding and Decoding Logic In AHB Lite Interface </a:t>
            </a:r>
            <a:br>
              <a:rPr 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2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C70C9-C524-FEB3-5CFC-C2BBE7239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BC5E70-012B-D3A8-928F-F7C3FA52A2C9}"/>
              </a:ext>
            </a:extLst>
          </p:cNvPr>
          <p:cNvSpPr txBox="1"/>
          <p:nvPr/>
        </p:nvSpPr>
        <p:spPr>
          <a:xfrm>
            <a:off x="5761181" y="972781"/>
            <a:ext cx="422101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always_comb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begin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transition_count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0;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for (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0;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 DATA_WIDTH;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+ 1) 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// Compare transitions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if (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data_in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!=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prev_data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])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transition_count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transition_count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+ 1;</a:t>
            </a:r>
          </a:p>
          <a:p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always_comb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(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transition_count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 (DATA_WIDTH/2))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data_out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~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data_in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1'b1;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else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data_out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data_in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1'b0;</a:t>
            </a:r>
            <a:b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endmodule</a:t>
            </a:r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864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B70849-9A13-4373-9BF8-C38308CF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A9449-128E-AAAF-82B5-7BA4FE75E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456" y="871181"/>
            <a:ext cx="8645236" cy="548516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ahb_transition_inversion_decoder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#(</a:t>
            </a:r>
          </a:p>
          <a:p>
            <a:pPr marL="0" indent="0">
              <a:buNone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parameter DATA_WIDTH = 32</a:t>
            </a:r>
          </a:p>
          <a:p>
            <a:pPr marL="0" indent="0">
              <a:buNone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)(</a:t>
            </a:r>
          </a:p>
          <a:p>
            <a:pPr marL="0" indent="0">
              <a:buNone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input  logic [DATA_WIDTH-1:0]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data_in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 marL="0" indent="0">
              <a:buNone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input  logic                 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 marL="0" indent="0">
              <a:buNone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output logic [DATA_WIDTH-1:0]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data_out</a:t>
            </a:r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pPr marL="0" indent="0">
              <a:buNone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always_comb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if (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data_out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~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data_in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0" indent="0">
              <a:buNone/>
            </a:pP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else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data_out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data_in</a:t>
            </a:r>
            <a:r>
              <a:rPr lang="en-I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0" indent="0">
              <a:buNone/>
            </a:pPr>
            <a:r>
              <a:rPr lang="en-I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endmodule</a:t>
            </a:r>
            <a:endParaRPr lang="en-IN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EC5235C-D9C4-DBF1-E9C5-3EBCDE96C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 fontScale="90000"/>
          </a:bodyPr>
          <a:lstStyle/>
          <a:p>
            <a:pPr algn="ctr"/>
            <a:b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Transition Inversion Decoding Logic In AHB Lite Interface </a:t>
            </a:r>
            <a:b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5EC39-750A-1E04-D788-3F8EF968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70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2DB80-7DA9-50F7-4DFD-4928F8D4A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5D9B2F1-6A0B-EF97-2169-1BACCC08A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Reduction techniques in AXI4 to AHB Bus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1764B-1DE2-CD91-2826-197918F65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22E9D1-7CFE-1477-10D9-91AD511CD9A4}"/>
              </a:ext>
            </a:extLst>
          </p:cNvPr>
          <p:cNvSpPr/>
          <p:nvPr/>
        </p:nvSpPr>
        <p:spPr>
          <a:xfrm>
            <a:off x="1856509" y="1191491"/>
            <a:ext cx="8475590" cy="18288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A17F482-04A2-0F02-F407-C48677148A80}"/>
              </a:ext>
            </a:extLst>
          </p:cNvPr>
          <p:cNvSpPr/>
          <p:nvPr/>
        </p:nvSpPr>
        <p:spPr>
          <a:xfrm>
            <a:off x="2170544" y="1450109"/>
            <a:ext cx="1147691" cy="13392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AXI Address</a:t>
            </a:r>
          </a:p>
          <a:p>
            <a:pPr algn="ctr"/>
            <a:r>
              <a:rPr lang="en-IN" b="1">
                <a:solidFill>
                  <a:schemeClr val="tx1"/>
                </a:solidFill>
              </a:rPr>
              <a:t>Handler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866979-76D3-E819-90DB-8855E17EA933}"/>
              </a:ext>
            </a:extLst>
          </p:cNvPr>
          <p:cNvSpPr/>
          <p:nvPr/>
        </p:nvSpPr>
        <p:spPr>
          <a:xfrm>
            <a:off x="3754580" y="1450109"/>
            <a:ext cx="1226987" cy="133927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Burst Counter</a:t>
            </a:r>
          </a:p>
          <a:p>
            <a:pPr algn="ctr"/>
            <a:r>
              <a:rPr lang="en-IN" b="1">
                <a:solidFill>
                  <a:schemeClr val="tx1"/>
                </a:solidFill>
              </a:rPr>
              <a:t>(Gray code)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2F5EA3E-90E9-8438-8C42-1216CB663023}"/>
              </a:ext>
            </a:extLst>
          </p:cNvPr>
          <p:cNvSpPr/>
          <p:nvPr/>
        </p:nvSpPr>
        <p:spPr>
          <a:xfrm>
            <a:off x="5338616" y="1450109"/>
            <a:ext cx="1331747" cy="133927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Address generator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AD557E9-DA10-E4CB-8868-27C42A0ACCD7}"/>
              </a:ext>
            </a:extLst>
          </p:cNvPr>
          <p:cNvSpPr/>
          <p:nvPr/>
        </p:nvSpPr>
        <p:spPr>
          <a:xfrm>
            <a:off x="6975391" y="1372361"/>
            <a:ext cx="1140693" cy="133927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FSM</a:t>
            </a:r>
          </a:p>
          <a:p>
            <a:pPr algn="ctr"/>
            <a:r>
              <a:rPr lang="en-IN" b="1">
                <a:solidFill>
                  <a:schemeClr val="tx1"/>
                </a:solidFill>
              </a:rPr>
              <a:t>(Gray code)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0AEA1D-5811-65AA-C161-B4D10E46C57F}"/>
              </a:ext>
            </a:extLst>
          </p:cNvPr>
          <p:cNvSpPr/>
          <p:nvPr/>
        </p:nvSpPr>
        <p:spPr>
          <a:xfrm>
            <a:off x="8588122" y="1372361"/>
            <a:ext cx="1210302" cy="133927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AHB Control logic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04631D-D679-4B6B-DB90-403EB830006A}"/>
              </a:ext>
            </a:extLst>
          </p:cNvPr>
          <p:cNvSpPr txBox="1"/>
          <p:nvPr/>
        </p:nvSpPr>
        <p:spPr>
          <a:xfrm>
            <a:off x="5208637" y="1118490"/>
            <a:ext cx="1428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Control Path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3E5B183-9EB7-0631-92FA-59DEA5AFC103}"/>
              </a:ext>
            </a:extLst>
          </p:cNvPr>
          <p:cNvCxnSpPr>
            <a:cxnSpLocks/>
          </p:cNvCxnSpPr>
          <p:nvPr/>
        </p:nvCxnSpPr>
        <p:spPr>
          <a:xfrm>
            <a:off x="3318235" y="2069390"/>
            <a:ext cx="447712" cy="1449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5492F0A-3129-A503-D0A4-4DD56751A665}"/>
              </a:ext>
            </a:extLst>
          </p:cNvPr>
          <p:cNvCxnSpPr>
            <a:cxnSpLocks/>
          </p:cNvCxnSpPr>
          <p:nvPr/>
        </p:nvCxnSpPr>
        <p:spPr>
          <a:xfrm flipV="1">
            <a:off x="4981567" y="2070858"/>
            <a:ext cx="357049" cy="578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DA870E5-90B5-C7E1-0A28-7B2B2ADE36FC}"/>
              </a:ext>
            </a:extLst>
          </p:cNvPr>
          <p:cNvCxnSpPr>
            <a:cxnSpLocks/>
          </p:cNvCxnSpPr>
          <p:nvPr/>
        </p:nvCxnSpPr>
        <p:spPr>
          <a:xfrm>
            <a:off x="6637105" y="2069390"/>
            <a:ext cx="324840" cy="1494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08E92D1-15EC-ABA6-F00F-47B83F3541A7}"/>
              </a:ext>
            </a:extLst>
          </p:cNvPr>
          <p:cNvCxnSpPr>
            <a:cxnSpLocks/>
          </p:cNvCxnSpPr>
          <p:nvPr/>
        </p:nvCxnSpPr>
        <p:spPr>
          <a:xfrm>
            <a:off x="8063345" y="2069390"/>
            <a:ext cx="547255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25704D15-72DF-F7F7-5672-DFD665D865DB}"/>
              </a:ext>
            </a:extLst>
          </p:cNvPr>
          <p:cNvSpPr/>
          <p:nvPr/>
        </p:nvSpPr>
        <p:spPr>
          <a:xfrm>
            <a:off x="1856509" y="3258024"/>
            <a:ext cx="8475590" cy="18288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F68F4CA-D370-95AE-02EA-EF3B932DBBBF}"/>
              </a:ext>
            </a:extLst>
          </p:cNvPr>
          <p:cNvSpPr/>
          <p:nvPr/>
        </p:nvSpPr>
        <p:spPr>
          <a:xfrm>
            <a:off x="2170544" y="3516642"/>
            <a:ext cx="1147691" cy="1339273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AXI </a:t>
            </a:r>
          </a:p>
          <a:p>
            <a:pPr algn="ctr"/>
            <a:r>
              <a:rPr lang="en-IN" b="1">
                <a:solidFill>
                  <a:schemeClr val="tx1"/>
                </a:solidFill>
              </a:rPr>
              <a:t>WDATA</a:t>
            </a:r>
          </a:p>
          <a:p>
            <a:pPr algn="ctr"/>
            <a:r>
              <a:rPr lang="en-IN" b="1">
                <a:solidFill>
                  <a:schemeClr val="tx1"/>
                </a:solidFill>
              </a:rPr>
              <a:t>Handler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00AFD19-EB22-8893-83D7-D6ED4C09009D}"/>
              </a:ext>
            </a:extLst>
          </p:cNvPr>
          <p:cNvSpPr/>
          <p:nvPr/>
        </p:nvSpPr>
        <p:spPr>
          <a:xfrm>
            <a:off x="3860205" y="3464318"/>
            <a:ext cx="1277221" cy="13392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Bus</a:t>
            </a:r>
          </a:p>
          <a:p>
            <a:pPr algn="ctr"/>
            <a:r>
              <a:rPr lang="en-IN" b="1">
                <a:solidFill>
                  <a:schemeClr val="tx1"/>
                </a:solidFill>
              </a:rPr>
              <a:t>Inversion Encoder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E26014A-92ED-DDE1-E858-5D157C1084EB}"/>
              </a:ext>
            </a:extLst>
          </p:cNvPr>
          <p:cNvSpPr/>
          <p:nvPr/>
        </p:nvSpPr>
        <p:spPr>
          <a:xfrm>
            <a:off x="5558708" y="3554354"/>
            <a:ext cx="1623329" cy="13015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Write data</a:t>
            </a:r>
          </a:p>
          <a:p>
            <a:pPr algn="ctr"/>
            <a:r>
              <a:rPr lang="en-IN" b="1">
                <a:solidFill>
                  <a:schemeClr val="tx1"/>
                </a:solidFill>
              </a:rPr>
              <a:t>FIFO</a:t>
            </a:r>
          </a:p>
          <a:p>
            <a:pPr algn="ctr"/>
            <a:r>
              <a:rPr lang="en-IN" b="1">
                <a:solidFill>
                  <a:schemeClr val="tx1"/>
                </a:solidFill>
              </a:rPr>
              <a:t>(Gray code)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65B8713-6814-310B-94D7-212C44883ABB}"/>
              </a:ext>
            </a:extLst>
          </p:cNvPr>
          <p:cNvSpPr/>
          <p:nvPr/>
        </p:nvSpPr>
        <p:spPr>
          <a:xfrm>
            <a:off x="7497738" y="3551173"/>
            <a:ext cx="1277221" cy="13392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Bus Inversion Decoder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B3E44AD-9AF4-406E-7FBB-779802C25C53}"/>
              </a:ext>
            </a:extLst>
          </p:cNvPr>
          <p:cNvSpPr/>
          <p:nvPr/>
        </p:nvSpPr>
        <p:spPr>
          <a:xfrm>
            <a:off x="9104252" y="3516641"/>
            <a:ext cx="1071419" cy="133927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AHB Output logic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58880D-8316-8D39-3096-59CE2BDF61E2}"/>
              </a:ext>
            </a:extLst>
          </p:cNvPr>
          <p:cNvSpPr txBox="1"/>
          <p:nvPr/>
        </p:nvSpPr>
        <p:spPr>
          <a:xfrm>
            <a:off x="5226662" y="3185023"/>
            <a:ext cx="1735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Write Data Path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110AB57-A03B-DED0-47DA-E8B1A4668A8A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3318235" y="4133955"/>
            <a:ext cx="54197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1073C3B-7478-4B00-5D8B-08F3BFAA6416}"/>
              </a:ext>
            </a:extLst>
          </p:cNvPr>
          <p:cNvCxnSpPr>
            <a:cxnSpLocks/>
          </p:cNvCxnSpPr>
          <p:nvPr/>
        </p:nvCxnSpPr>
        <p:spPr>
          <a:xfrm>
            <a:off x="5156328" y="4105746"/>
            <a:ext cx="40238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374091A-4B84-726D-2509-0CB26A4A54BB}"/>
              </a:ext>
            </a:extLst>
          </p:cNvPr>
          <p:cNvCxnSpPr>
            <a:cxnSpLocks/>
          </p:cNvCxnSpPr>
          <p:nvPr/>
        </p:nvCxnSpPr>
        <p:spPr>
          <a:xfrm>
            <a:off x="7182037" y="4133955"/>
            <a:ext cx="315701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747EE83-BEA1-42AE-FF99-5B148144B8B4}"/>
              </a:ext>
            </a:extLst>
          </p:cNvPr>
          <p:cNvCxnSpPr>
            <a:cxnSpLocks/>
          </p:cNvCxnSpPr>
          <p:nvPr/>
        </p:nvCxnSpPr>
        <p:spPr>
          <a:xfrm>
            <a:off x="8774959" y="4133955"/>
            <a:ext cx="329293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02080F9-322B-5014-AB66-E1F29D992D73}"/>
              </a:ext>
            </a:extLst>
          </p:cNvPr>
          <p:cNvSpPr txBox="1"/>
          <p:nvPr/>
        </p:nvSpPr>
        <p:spPr>
          <a:xfrm>
            <a:off x="3251940" y="5407891"/>
            <a:ext cx="5244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Fig 4.</a:t>
            </a: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Power Reduction techniques in AXI4 to AHB Bus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840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A752A-D676-3D08-BC30-4AFD6178A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F506EFA-85B3-1E7E-093D-16DC296B1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IN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 Code Encoding </a:t>
            </a:r>
            <a:r>
              <a:rPr 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AXI4 to AHB Bus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01DC7-E9E0-8CCF-B7CF-EF5185F2D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816ACDE-3666-4D1D-73FC-4FE7AC5991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437" y="1513367"/>
            <a:ext cx="10427854" cy="1550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 coding in the AXI4-to-AHB bridge is used to reduce switching activity in the FSM (Finite State Machine).</a:t>
            </a:r>
          </a:p>
          <a:p>
            <a:pPr algn="just"/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bridge FSM controls AXI read/write transactions and AHB transfers using states such as : </a:t>
            </a:r>
            <a:r>
              <a:rPr lang="en-IN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IDLE- CMD_RD- DATA_RD -CMD_WR -DATA_WR -DONE_RD -DONE_WR</a:t>
            </a:r>
          </a:p>
        </p:txBody>
      </p:sp>
    </p:spTree>
    <p:extLst>
      <p:ext uri="{BB962C8B-B14F-4D97-AF65-F5344CB8AC3E}">
        <p14:creationId xmlns:p14="http://schemas.microsoft.com/office/powerpoint/2010/main" val="145654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F2970-7269-E06B-92FB-31848B1A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7D2DC3-04BE-E153-2883-4BBF7981C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Gray Code Encoding Steps in AXI4 to AHB Bus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DF9AC-2A05-3AD3-F050-3CA6CE837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4045329-E151-1C8D-DC9C-7E0FEE8098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5782" y="1547164"/>
            <a:ext cx="10095345" cy="487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1: Identify FSM states in AXI-to-AHB bridge : IDLE, CMD_RD, DATA_RD, DONE_RD</a:t>
            </a:r>
          </a:p>
          <a:p>
            <a:pPr marL="0" indent="0" algn="just">
              <a:buNone/>
            </a:pPr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2:Check normal binary encoding</a:t>
            </a:r>
          </a:p>
          <a:p>
            <a:pPr algn="just"/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IDLE    = 0000</a:t>
            </a:r>
          </a:p>
          <a:p>
            <a:pPr algn="just"/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CMD_RD  = 0001</a:t>
            </a:r>
          </a:p>
          <a:p>
            <a:pPr algn="just"/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DATA_RD = 0010</a:t>
            </a:r>
          </a:p>
          <a:p>
            <a:pPr algn="just"/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DONE_RD = 0011</a:t>
            </a:r>
          </a:p>
          <a:p>
            <a:pPr marL="0" indent="0" algn="just">
              <a:buNone/>
            </a:pPr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3:Observe multiple bit transitions:0001 -&gt; 0010(2 bits change)</a:t>
            </a:r>
          </a:p>
          <a:p>
            <a:pPr marL="0" indent="0" algn="just">
              <a:buNone/>
            </a:pPr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4:Assign Gray-coded values</a:t>
            </a:r>
          </a:p>
          <a:p>
            <a:pPr algn="just"/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IDLE    = 0000</a:t>
            </a:r>
          </a:p>
          <a:p>
            <a:pPr algn="just"/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CMD_RD  = 0001</a:t>
            </a:r>
          </a:p>
          <a:p>
            <a:pPr algn="just"/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DATA_RD = 0011</a:t>
            </a:r>
          </a:p>
          <a:p>
            <a:pPr algn="just"/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DONE_RD = 0010</a:t>
            </a:r>
          </a:p>
          <a:p>
            <a:pPr marL="0" indent="0" algn="just">
              <a:buNone/>
            </a:pPr>
            <a:r>
              <a:rPr lang="en-IN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5: only one bit changes 0001 -&gt; 0011(1 bit change)</a:t>
            </a:r>
          </a:p>
        </p:txBody>
      </p:sp>
    </p:spTree>
    <p:extLst>
      <p:ext uri="{BB962C8B-B14F-4D97-AF65-F5344CB8AC3E}">
        <p14:creationId xmlns:p14="http://schemas.microsoft.com/office/powerpoint/2010/main" val="4171658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AAA6F-C87A-5F42-0BCC-A12182FA1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7D67802-DC93-FFE3-9A31-92FEA2EEB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Bus Inversion Encoding in AXI4 to AHB  Bus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3458E-5A64-3B9A-457C-A9B25B2B7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2">
                <a:extLst>
                  <a:ext uri="{FF2B5EF4-FFF2-40B4-BE49-F238E27FC236}">
                    <a16:creationId xmlns:a16="http://schemas.microsoft.com/office/drawing/2014/main" id="{2BE92129-FC0F-6853-A4EB-13E76B72E157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748146" y="1202616"/>
                <a:ext cx="10427854" cy="31692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just"/>
                <a:r>
                  <a:rPr lang="en-IN" sz="24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AXI4-to-AHB bridge, the major power consumption comes from frequent switching of wide buses such as:</a:t>
                </a:r>
              </a:p>
              <a:p>
                <a:pPr marL="0" indent="0" algn="just">
                  <a:buNone/>
                </a:pPr>
                <a:r>
                  <a:rPr lang="en-IN" sz="24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axi_wdata[63:0]</a:t>
                </a:r>
                <a:br>
                  <a:rPr lang="en-IN" sz="24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IN" sz="24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ahb_hwdata[63:0]</a:t>
                </a:r>
                <a:br>
                  <a:rPr lang="en-IN" sz="24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IN" sz="24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ahb_hrdata[63:0]</a:t>
                </a:r>
                <a:br>
                  <a:rPr lang="en-IN" sz="24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IN" sz="24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If more bits toggle, α increases, causing more power consumption.</a:t>
                </a:r>
              </a:p>
              <a:p>
                <a:pPr algn="just"/>
                <a:r>
                  <a:rPr lang="en-IN" sz="24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Dynamic power depends on switching activity: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𝑑𝑦𝑛𝑎𝑚𝑖𝑐</m:t>
                        </m:r>
                      </m:sub>
                    </m:sSub>
                    <m:r>
                      <a:rPr lang="en-I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IN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IN" sz="2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 algn="just">
                  <a:buNone/>
                </a:pPr>
                <a:endParaRPr lang="en-IN" sz="24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Rectangle 2">
                <a:extLst>
                  <a:ext uri="{FF2B5EF4-FFF2-40B4-BE49-F238E27FC236}">
                    <a16:creationId xmlns:a16="http://schemas.microsoft.com/office/drawing/2014/main" id="{2BE92129-FC0F-6853-A4EB-13E76B72E1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748146" y="1202616"/>
                <a:ext cx="10427854" cy="3169201"/>
              </a:xfrm>
              <a:prstGeom prst="rect">
                <a:avLst/>
              </a:prstGeom>
              <a:blipFill>
                <a:blip r:embed="rId2"/>
                <a:stretch>
                  <a:fillRect l="-819" t="-2115" r="-8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5060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F7060-39F5-890D-1579-24EB95D86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7713429-63E3-F8FF-2A63-B69F0B63A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Bus Inversion Encoding in AXI4 to AHB Bus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A8A4A-F120-77BA-9379-5EC04A98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C2D0A94-D024-A0A1-C70D-CE26BFA3A6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8927" y="2674858"/>
            <a:ext cx="10081490" cy="2324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encoder here:</a:t>
            </a:r>
          </a:p>
          <a:p>
            <a:pPr algn="just"/>
            <a:endParaRPr lang="en-IN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: buf_data and inv_bit</a:t>
            </a:r>
          </a:p>
          <a:p>
            <a:pPr algn="just"/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Decode before AHB output: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518D4A-4FF1-B2EF-2CA0-35C5362FFB19}"/>
              </a:ext>
            </a:extLst>
          </p:cNvPr>
          <p:cNvSpPr/>
          <p:nvPr/>
        </p:nvSpPr>
        <p:spPr>
          <a:xfrm>
            <a:off x="1551707" y="5084178"/>
            <a:ext cx="2068947" cy="598155"/>
          </a:xfrm>
          <a:prstGeom prst="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buf_data + inv_bit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21C13E-C876-7E97-5370-8B42F78404BE}"/>
              </a:ext>
            </a:extLst>
          </p:cNvPr>
          <p:cNvSpPr/>
          <p:nvPr/>
        </p:nvSpPr>
        <p:spPr>
          <a:xfrm>
            <a:off x="4304146" y="5084178"/>
            <a:ext cx="1791854" cy="598155"/>
          </a:xfrm>
          <a:prstGeom prst="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Bus Inversion Decoder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C58379-D172-E73F-0606-C558823EA74B}"/>
              </a:ext>
            </a:extLst>
          </p:cNvPr>
          <p:cNvSpPr/>
          <p:nvPr/>
        </p:nvSpPr>
        <p:spPr>
          <a:xfrm>
            <a:off x="6682508" y="5089780"/>
            <a:ext cx="1625601" cy="598155"/>
          </a:xfrm>
          <a:prstGeom prst="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/>
              <a:t>AHB_hwdata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9C16F3B-32DB-B9A0-DA29-B47A5252CA59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3620654" y="5383256"/>
            <a:ext cx="683492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4BE86E-3268-6465-128C-FDEDF72B6611}"/>
              </a:ext>
            </a:extLst>
          </p:cNvPr>
          <p:cNvCxnSpPr>
            <a:cxnSpLocks/>
          </p:cNvCxnSpPr>
          <p:nvPr/>
        </p:nvCxnSpPr>
        <p:spPr>
          <a:xfrm flipV="1">
            <a:off x="5999016" y="5377652"/>
            <a:ext cx="683492" cy="1120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3218C30-2701-C315-2519-AE925B48CDC7}"/>
              </a:ext>
            </a:extLst>
          </p:cNvPr>
          <p:cNvSpPr/>
          <p:nvPr/>
        </p:nvSpPr>
        <p:spPr>
          <a:xfrm>
            <a:off x="1574811" y="3317245"/>
            <a:ext cx="2068947" cy="598155"/>
          </a:xfrm>
          <a:prstGeom prst="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wrbuf_data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E714EA-3516-5B40-1C86-1FD76B3AEB22}"/>
              </a:ext>
            </a:extLst>
          </p:cNvPr>
          <p:cNvSpPr/>
          <p:nvPr/>
        </p:nvSpPr>
        <p:spPr>
          <a:xfrm>
            <a:off x="4327250" y="3317245"/>
            <a:ext cx="1791854" cy="598155"/>
          </a:xfrm>
          <a:prstGeom prst="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Bus Inversion Encoder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C74EA2-DD5A-CB47-571F-6F0E0FEBFD17}"/>
              </a:ext>
            </a:extLst>
          </p:cNvPr>
          <p:cNvSpPr/>
          <p:nvPr/>
        </p:nvSpPr>
        <p:spPr>
          <a:xfrm>
            <a:off x="6705612" y="3322847"/>
            <a:ext cx="1791855" cy="598155"/>
          </a:xfrm>
          <a:prstGeom prst="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/>
              <a:t>encoded_data + inv_bit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FAA670-F2CA-7D9A-0AF4-8DDB7C4CB971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3643758" y="3616323"/>
            <a:ext cx="6834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25A94C5-3E16-2C11-F550-809FCFFCA9EF}"/>
              </a:ext>
            </a:extLst>
          </p:cNvPr>
          <p:cNvCxnSpPr>
            <a:cxnSpLocks/>
          </p:cNvCxnSpPr>
          <p:nvPr/>
        </p:nvCxnSpPr>
        <p:spPr>
          <a:xfrm flipV="1">
            <a:off x="6022120" y="3610719"/>
            <a:ext cx="683492" cy="11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D6A9EB39-A38C-BB7D-10A3-7CE6466F9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518" y="1831417"/>
            <a:ext cx="3254022" cy="45724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E579591-3EAB-85A2-14FA-F6D3BC1C80AC}"/>
              </a:ext>
            </a:extLst>
          </p:cNvPr>
          <p:cNvSpPr txBox="1"/>
          <p:nvPr/>
        </p:nvSpPr>
        <p:spPr>
          <a:xfrm>
            <a:off x="768927" y="1396674"/>
            <a:ext cx="3317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Bus Inversion:</a:t>
            </a:r>
          </a:p>
        </p:txBody>
      </p:sp>
    </p:spTree>
    <p:extLst>
      <p:ext uri="{BB962C8B-B14F-4D97-AF65-F5344CB8AC3E}">
        <p14:creationId xmlns:p14="http://schemas.microsoft.com/office/powerpoint/2010/main" val="1043679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663E8-6C4A-2E4E-98F3-220CFFACB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A0116F8-FECD-6EB8-B763-1C1383B74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71180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Example Of Bus Inversion Encoding in AXI4 to AHB Bus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3E9CF-0596-C819-E021-627DDA44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526E80B-35E2-C4D6-8D0F-F6F75BC6BD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5782" y="1234139"/>
            <a:ext cx="10095345" cy="4759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 Previous Data = 64'h0000_0000_0000_0000</a:t>
            </a:r>
            <a:b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Current Data  = 64'hFFFF_FFFF_FFFF_FFFF</a:t>
            </a:r>
          </a:p>
          <a:p>
            <a:pPr marL="0" indent="0">
              <a:buNone/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Transitions = 64</a:t>
            </a:r>
          </a:p>
          <a:p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64 &gt; 32:</a:t>
            </a:r>
          </a:p>
          <a:p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Send:</a:t>
            </a:r>
            <a:b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encoded_data = 64'h0000_0000_0000_0000</a:t>
            </a:r>
            <a:b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inv_bit      = 1</a:t>
            </a:r>
          </a:p>
          <a:p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Receiver:</a:t>
            </a:r>
          </a:p>
          <a:p>
            <a:pPr marL="0" indent="0">
              <a:buNone/>
            </a:pP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inv_bit</a:t>
            </a: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</a:t>
            </a:r>
            <a:b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IN" sz="2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decoded_data</a:t>
            </a: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~(encoded_data)</a:t>
            </a:r>
            <a:b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= FFFF_FFFF_FFFF_FFFF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223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93A3-2D76-9FE3-82BE-5A795B11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/>
          </a:p>
        </p:txBody>
      </p:sp>
      <p:pic>
        <p:nvPicPr>
          <p:cNvPr id="4" name="Picture 6" descr="Business Thank-You Letter Examples">
            <a:extLst>
              <a:ext uri="{FF2B5EF4-FFF2-40B4-BE49-F238E27FC236}">
                <a16:creationId xmlns:a16="http://schemas.microsoft.com/office/drawing/2014/main" id="{7ECFFA39-EA56-82BF-8033-38007A3886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38" y="261386"/>
            <a:ext cx="8873366" cy="591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30B8DC-19DA-4847-998E-AEF8DF015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98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c91e78c-53b9-49d2-80fe-2267c9de2ac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BB9E5490EEBB438C23297E1D25285B" ma:contentTypeVersion="10" ma:contentTypeDescription="Create a new document." ma:contentTypeScope="" ma:versionID="f1ce0bbb77ae981bb3236c4ff3e5e8c2">
  <xsd:schema xmlns:xsd="http://www.w3.org/2001/XMLSchema" xmlns:xs="http://www.w3.org/2001/XMLSchema" xmlns:p="http://schemas.microsoft.com/office/2006/metadata/properties" xmlns:ns3="ec91e78c-53b9-49d2-80fe-2267c9de2ac1" targetNamespace="http://schemas.microsoft.com/office/2006/metadata/properties" ma:root="true" ma:fieldsID="2211f0910273cfef75d430a4eb610fe0" ns3:_="">
    <xsd:import namespace="ec91e78c-53b9-49d2-80fe-2267c9de2ac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91e78c-53b9-49d2-80fe-2267c9de2ac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0C30E90-35A2-433D-8294-0F950042F531}">
  <ds:schemaRefs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ec91e78c-53b9-49d2-80fe-2267c9de2ac1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6EBB823-49FC-4521-89C2-91E8AC07C21D}">
  <ds:schemaRefs>
    <ds:schemaRef ds:uri="ec91e78c-53b9-49d2-80fe-2267c9de2ac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8666954-3D43-40F3-AF96-B2753E1830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Bus and Transition invertion</Template>
  <TotalTime>535</TotalTime>
  <Words>1613</Words>
  <Application>Microsoft Office PowerPoint</Application>
  <PresentationFormat>Widescreen</PresentationFormat>
  <Paragraphs>221</Paragraphs>
  <Slides>22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Cambria Math</vt:lpstr>
      <vt:lpstr>Office Theme</vt:lpstr>
      <vt:lpstr>Power Reduction Techniques in AHB Lite Interface  &amp; AXI4 to AHB Bus</vt:lpstr>
      <vt:lpstr>CONTENTS</vt:lpstr>
      <vt:lpstr>Introduction</vt:lpstr>
      <vt:lpstr>                           Gray Code Encoding in AHB-Lite Interface</vt:lpstr>
      <vt:lpstr>                           Gray Code Encoding Steps in AHB-Lite Interface</vt:lpstr>
      <vt:lpstr> Bus Inversion Encoding  </vt:lpstr>
      <vt:lpstr>Steps in Bus Inversion Encoding</vt:lpstr>
      <vt:lpstr> Bus Inversion Encoding &amp; Decoding in AHB Lite Interface</vt:lpstr>
      <vt:lpstr> Example Of Bus Inversion Encoding in AHB Lite Interface</vt:lpstr>
      <vt:lpstr> Bus Inversion Encoding Logic In AHB Lite Interface  </vt:lpstr>
      <vt:lpstr> Bus Inversion Decoding Logic In AHB Lite Interface  </vt:lpstr>
      <vt:lpstr>                                              Transition Inversion Introduction</vt:lpstr>
      <vt:lpstr>Transition Inversion Encoding &amp; Decoding in AHB Lite Interface</vt:lpstr>
      <vt:lpstr> Transition Inversion Encoding and Decoding Logic In AHB Lite Interface  </vt:lpstr>
      <vt:lpstr> Transition Inversion Decoding Logic In AHB Lite Interface  </vt:lpstr>
      <vt:lpstr>Power Reduction techniques in AXI4 to AHB Bus</vt:lpstr>
      <vt:lpstr>Gray Code Encoding in AXI4 to AHB Bus</vt:lpstr>
      <vt:lpstr>Gray Code Encoding Steps in AXI4 to AHB Bus</vt:lpstr>
      <vt:lpstr> Bus Inversion Encoding in AXI4 to AHB  Bus</vt:lpstr>
      <vt:lpstr> Bus Inversion Encoding in AXI4 to AHB Bus</vt:lpstr>
      <vt:lpstr> Example Of Bus Inversion Encoding in AXI4 to AHB Bus</vt:lpstr>
      <vt:lpstr>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sravanthi Vennapusa</dc:creator>
  <cp:lastModifiedBy>sravanthi Vennapusa</cp:lastModifiedBy>
  <cp:revision>3</cp:revision>
  <dcterms:created xsi:type="dcterms:W3CDTF">2026-06-04T11:04:31Z</dcterms:created>
  <dcterms:modified xsi:type="dcterms:W3CDTF">2026-06-17T11:49:17Z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0x010100F0BB9E5490EEBB438C23297E1D25285B</vt:lpwstr>
  </property>
</Properties>
</file>