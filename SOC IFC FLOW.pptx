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2"/>
  </p:notesMasterIdLst>
  <p:sldIdLst>
    <p:sldId id="256" r:id="rId5"/>
    <p:sldId id="257" r:id="rId6"/>
    <p:sldId id="349" r:id="rId7"/>
    <p:sldId id="259" r:id="rId8"/>
    <p:sldId id="260" r:id="rId9"/>
    <p:sldId id="258" r:id="rId10"/>
    <p:sldId id="339" r:id="rId11"/>
    <p:sldId id="263" r:id="rId12"/>
    <p:sldId id="264" r:id="rId13"/>
    <p:sldId id="265" r:id="rId14"/>
    <p:sldId id="266" r:id="rId15"/>
    <p:sldId id="340" r:id="rId16"/>
    <p:sldId id="341" r:id="rId17"/>
    <p:sldId id="342" r:id="rId18"/>
    <p:sldId id="343" r:id="rId19"/>
    <p:sldId id="344" r:id="rId20"/>
    <p:sldId id="345" r:id="rId21"/>
    <p:sldId id="346" r:id="rId22"/>
    <p:sldId id="347" r:id="rId23"/>
    <p:sldId id="319" r:id="rId24"/>
    <p:sldId id="320" r:id="rId25"/>
    <p:sldId id="321" r:id="rId26"/>
    <p:sldId id="322" r:id="rId27"/>
    <p:sldId id="323" r:id="rId28"/>
    <p:sldId id="324" r:id="rId29"/>
    <p:sldId id="325" r:id="rId30"/>
    <p:sldId id="327" r:id="rId31"/>
    <p:sldId id="329" r:id="rId32"/>
    <p:sldId id="330" r:id="rId33"/>
    <p:sldId id="331" r:id="rId34"/>
    <p:sldId id="332" r:id="rId35"/>
    <p:sldId id="326" r:id="rId36"/>
    <p:sldId id="333" r:id="rId37"/>
    <p:sldId id="328" r:id="rId38"/>
    <p:sldId id="334" r:id="rId39"/>
    <p:sldId id="335" r:id="rId40"/>
    <p:sldId id="336" r:id="rId41"/>
    <p:sldId id="337" r:id="rId42"/>
    <p:sldId id="276" r:id="rId43"/>
    <p:sldId id="277" r:id="rId44"/>
    <p:sldId id="278"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50" r:id="rId63"/>
    <p:sldId id="391" r:id="rId64"/>
    <p:sldId id="351" r:id="rId65"/>
    <p:sldId id="352" r:id="rId66"/>
    <p:sldId id="353" r:id="rId67"/>
    <p:sldId id="354" r:id="rId68"/>
    <p:sldId id="355" r:id="rId69"/>
    <p:sldId id="356" r:id="rId70"/>
    <p:sldId id="357" r:id="rId71"/>
    <p:sldId id="358" r:id="rId72"/>
    <p:sldId id="359" r:id="rId73"/>
    <p:sldId id="360" r:id="rId74"/>
    <p:sldId id="361" r:id="rId75"/>
    <p:sldId id="362" r:id="rId76"/>
    <p:sldId id="363" r:id="rId77"/>
    <p:sldId id="364" r:id="rId78"/>
    <p:sldId id="365" r:id="rId79"/>
    <p:sldId id="366" r:id="rId80"/>
    <p:sldId id="367" r:id="rId81"/>
    <p:sldId id="379" r:id="rId82"/>
    <p:sldId id="380" r:id="rId83"/>
    <p:sldId id="381" r:id="rId84"/>
    <p:sldId id="382" r:id="rId85"/>
    <p:sldId id="383" r:id="rId86"/>
    <p:sldId id="384" r:id="rId87"/>
    <p:sldId id="370" r:id="rId88"/>
    <p:sldId id="385" r:id="rId89"/>
    <p:sldId id="386" r:id="rId90"/>
    <p:sldId id="387" r:id="rId91"/>
    <p:sldId id="373" r:id="rId92"/>
    <p:sldId id="371" r:id="rId93"/>
    <p:sldId id="372" r:id="rId94"/>
    <p:sldId id="378" r:id="rId95"/>
    <p:sldId id="374" r:id="rId96"/>
    <p:sldId id="376" r:id="rId97"/>
    <p:sldId id="375" r:id="rId98"/>
    <p:sldId id="388" r:id="rId99"/>
    <p:sldId id="389" r:id="rId100"/>
    <p:sldId id="390"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DEDDD1-D8CE-4A57-96E8-9BF3104842E5}" v="1" dt="2026-06-16T12:26:50.7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microsoft.com/office/2015/10/relationships/revisionInfo" Target="revisionInfo.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3C5950-E28C-452A-B682-2E2036D9797D}" type="datetimeFigureOut">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246E1-99E3-46A8-90C8-720860D234D4}" type="slidenum">
              <a:t>‹#›</a:t>
            </a:fld>
            <a:endParaRPr lang="en-US"/>
          </a:p>
        </p:txBody>
      </p:sp>
    </p:spTree>
    <p:extLst>
      <p:ext uri="{BB962C8B-B14F-4D97-AF65-F5344CB8AC3E}">
        <p14:creationId xmlns:p14="http://schemas.microsoft.com/office/powerpoint/2010/main" val="1880542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B68813C-3545-4354-BD86-DB2C0E41B74C}" type="slidenum">
              <a:rPr lang="en-IN" smtClean="0"/>
              <a:t>58</a:t>
            </a:fld>
            <a:endParaRPr lang="en-IN"/>
          </a:p>
        </p:txBody>
      </p:sp>
    </p:spTree>
    <p:extLst>
      <p:ext uri="{BB962C8B-B14F-4D97-AF65-F5344CB8AC3E}">
        <p14:creationId xmlns:p14="http://schemas.microsoft.com/office/powerpoint/2010/main" val="3702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11D1F-DA6B-3BDB-D6F1-034EC4761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1C637-D96B-1477-136F-BBBB31606ED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1C28123-6A5E-C657-0A89-FA28E0B0C52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F5A0E4B-AF82-5DAF-7249-C572904B008C}"/>
              </a:ext>
            </a:extLst>
          </p:cNvPr>
          <p:cNvSpPr>
            <a:spLocks noGrp="1"/>
          </p:cNvSpPr>
          <p:nvPr>
            <p:ph type="sldNum" sz="quarter" idx="5"/>
          </p:nvPr>
        </p:nvSpPr>
        <p:spPr/>
        <p:txBody>
          <a:bodyPr/>
          <a:lstStyle/>
          <a:p>
            <a:fld id="{6B68813C-3545-4354-BD86-DB2C0E41B74C}" type="slidenum">
              <a:rPr lang="en-IN" smtClean="0"/>
              <a:t>61</a:t>
            </a:fld>
            <a:endParaRPr lang="en-IN"/>
          </a:p>
        </p:txBody>
      </p:sp>
    </p:spTree>
    <p:extLst>
      <p:ext uri="{BB962C8B-B14F-4D97-AF65-F5344CB8AC3E}">
        <p14:creationId xmlns:p14="http://schemas.microsoft.com/office/powerpoint/2010/main" val="1226604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2D3EB-E77D-2FC3-7433-70C9DB4223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95CD1-FBD9-25AF-868F-193CB8D5A55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9A83405-1255-81EA-A785-C70CDB4457E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B60B319-1992-8232-C80B-B7D2C1037377}"/>
              </a:ext>
            </a:extLst>
          </p:cNvPr>
          <p:cNvSpPr>
            <a:spLocks noGrp="1"/>
          </p:cNvSpPr>
          <p:nvPr>
            <p:ph type="sldNum" sz="quarter" idx="5"/>
          </p:nvPr>
        </p:nvSpPr>
        <p:spPr/>
        <p:txBody>
          <a:bodyPr/>
          <a:lstStyle/>
          <a:p>
            <a:fld id="{6B68813C-3545-4354-BD86-DB2C0E41B74C}" type="slidenum">
              <a:rPr lang="en-IN" smtClean="0"/>
              <a:t>62</a:t>
            </a:fld>
            <a:endParaRPr lang="en-IN"/>
          </a:p>
        </p:txBody>
      </p:sp>
    </p:spTree>
    <p:extLst>
      <p:ext uri="{BB962C8B-B14F-4D97-AF65-F5344CB8AC3E}">
        <p14:creationId xmlns:p14="http://schemas.microsoft.com/office/powerpoint/2010/main" val="188192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CE99A-A260-41DE-871E-B89EE0C68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A0BB3-1E87-3119-7064-5E23845F0D9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583CF61-25CE-B4BD-BAA4-1D0AD23EBFA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58E9CAC-2D46-BCEE-B7E2-F7BCBE43492C}"/>
              </a:ext>
            </a:extLst>
          </p:cNvPr>
          <p:cNvSpPr>
            <a:spLocks noGrp="1"/>
          </p:cNvSpPr>
          <p:nvPr>
            <p:ph type="sldNum" sz="quarter" idx="5"/>
          </p:nvPr>
        </p:nvSpPr>
        <p:spPr/>
        <p:txBody>
          <a:bodyPr/>
          <a:lstStyle/>
          <a:p>
            <a:fld id="{6B68813C-3545-4354-BD86-DB2C0E41B74C}" type="slidenum">
              <a:rPr lang="en-IN" smtClean="0"/>
              <a:t>63</a:t>
            </a:fld>
            <a:endParaRPr lang="en-IN"/>
          </a:p>
        </p:txBody>
      </p:sp>
    </p:spTree>
    <p:extLst>
      <p:ext uri="{BB962C8B-B14F-4D97-AF65-F5344CB8AC3E}">
        <p14:creationId xmlns:p14="http://schemas.microsoft.com/office/powerpoint/2010/main" val="773744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AB98B-647B-1DE3-9CA6-9BFF3F3A7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28C41-9D8D-9387-EAB0-D365F947F15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FBA2C77-3970-5FB3-5EBE-FEE15D010C7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6D9D560-6A9D-F27F-80A2-3309B007B0FA}"/>
              </a:ext>
            </a:extLst>
          </p:cNvPr>
          <p:cNvSpPr>
            <a:spLocks noGrp="1"/>
          </p:cNvSpPr>
          <p:nvPr>
            <p:ph type="sldNum" sz="quarter" idx="5"/>
          </p:nvPr>
        </p:nvSpPr>
        <p:spPr/>
        <p:txBody>
          <a:bodyPr/>
          <a:lstStyle/>
          <a:p>
            <a:fld id="{6B68813C-3545-4354-BD86-DB2C0E41B74C}" type="slidenum">
              <a:rPr lang="en-IN" smtClean="0"/>
              <a:t>64</a:t>
            </a:fld>
            <a:endParaRPr lang="en-IN"/>
          </a:p>
        </p:txBody>
      </p:sp>
    </p:spTree>
    <p:extLst>
      <p:ext uri="{BB962C8B-B14F-4D97-AF65-F5344CB8AC3E}">
        <p14:creationId xmlns:p14="http://schemas.microsoft.com/office/powerpoint/2010/main" val="19941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4889F-4D2F-3963-FED0-CA88974FE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4A574-57D0-C64B-7B6F-61DEEB0A7DF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11B9EFC-CD70-553E-9334-BC0AF9BD755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258FDF9-480F-7F5C-BE0A-DA28B46F927D}"/>
              </a:ext>
            </a:extLst>
          </p:cNvPr>
          <p:cNvSpPr>
            <a:spLocks noGrp="1"/>
          </p:cNvSpPr>
          <p:nvPr>
            <p:ph type="sldNum" sz="quarter" idx="5"/>
          </p:nvPr>
        </p:nvSpPr>
        <p:spPr/>
        <p:txBody>
          <a:bodyPr/>
          <a:lstStyle/>
          <a:p>
            <a:fld id="{6B68813C-3545-4354-BD86-DB2C0E41B74C}" type="slidenum">
              <a:rPr lang="en-IN" smtClean="0"/>
              <a:t>65</a:t>
            </a:fld>
            <a:endParaRPr lang="en-IN"/>
          </a:p>
        </p:txBody>
      </p:sp>
    </p:spTree>
    <p:extLst>
      <p:ext uri="{BB962C8B-B14F-4D97-AF65-F5344CB8AC3E}">
        <p14:creationId xmlns:p14="http://schemas.microsoft.com/office/powerpoint/2010/main" val="354862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77004-5C66-E9E7-F4E0-F31A1BDF8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6E785-9467-0942-E87A-E9C4AD24AFD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ABD39CF-9F3D-A09A-62B9-A4F7B2A402A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9C0B33E-835B-A875-05E3-8613849D3DCF}"/>
              </a:ext>
            </a:extLst>
          </p:cNvPr>
          <p:cNvSpPr>
            <a:spLocks noGrp="1"/>
          </p:cNvSpPr>
          <p:nvPr>
            <p:ph type="sldNum" sz="quarter" idx="5"/>
          </p:nvPr>
        </p:nvSpPr>
        <p:spPr/>
        <p:txBody>
          <a:bodyPr/>
          <a:lstStyle/>
          <a:p>
            <a:fld id="{6B68813C-3545-4354-BD86-DB2C0E41B74C}" type="slidenum">
              <a:rPr lang="en-IN" smtClean="0"/>
              <a:t>66</a:t>
            </a:fld>
            <a:endParaRPr lang="en-IN"/>
          </a:p>
        </p:txBody>
      </p:sp>
    </p:spTree>
    <p:extLst>
      <p:ext uri="{BB962C8B-B14F-4D97-AF65-F5344CB8AC3E}">
        <p14:creationId xmlns:p14="http://schemas.microsoft.com/office/powerpoint/2010/main" val="3576213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09110-6094-03C4-2CC6-840E1AC52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7938D-2BA8-943B-1854-59A15E9C6FA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FB6CDDA-EF8D-AD45-2FCC-84226AE59FC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D811CA9-C24F-32E2-38F0-9E242126028A}"/>
              </a:ext>
            </a:extLst>
          </p:cNvPr>
          <p:cNvSpPr>
            <a:spLocks noGrp="1"/>
          </p:cNvSpPr>
          <p:nvPr>
            <p:ph type="sldNum" sz="quarter" idx="5"/>
          </p:nvPr>
        </p:nvSpPr>
        <p:spPr/>
        <p:txBody>
          <a:bodyPr/>
          <a:lstStyle/>
          <a:p>
            <a:fld id="{6B68813C-3545-4354-BD86-DB2C0E41B74C}" type="slidenum">
              <a:rPr lang="en-IN" smtClean="0"/>
              <a:t>67</a:t>
            </a:fld>
            <a:endParaRPr lang="en-IN"/>
          </a:p>
        </p:txBody>
      </p:sp>
    </p:spTree>
    <p:extLst>
      <p:ext uri="{BB962C8B-B14F-4D97-AF65-F5344CB8AC3E}">
        <p14:creationId xmlns:p14="http://schemas.microsoft.com/office/powerpoint/2010/main" val="560212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9CCEC-45F8-8697-2930-D5A0652AD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40874-F1FC-D181-092C-6BC2C8E2817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199171A-ED31-FD88-D543-96CB823E07F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BF25ED3-84D4-3853-9495-6D91E53366BD}"/>
              </a:ext>
            </a:extLst>
          </p:cNvPr>
          <p:cNvSpPr>
            <a:spLocks noGrp="1"/>
          </p:cNvSpPr>
          <p:nvPr>
            <p:ph type="sldNum" sz="quarter" idx="5"/>
          </p:nvPr>
        </p:nvSpPr>
        <p:spPr/>
        <p:txBody>
          <a:bodyPr/>
          <a:lstStyle/>
          <a:p>
            <a:fld id="{6B68813C-3545-4354-BD86-DB2C0E41B74C}" type="slidenum">
              <a:rPr lang="en-IN" smtClean="0"/>
              <a:t>68</a:t>
            </a:fld>
            <a:endParaRPr lang="en-IN"/>
          </a:p>
        </p:txBody>
      </p:sp>
    </p:spTree>
    <p:extLst>
      <p:ext uri="{BB962C8B-B14F-4D97-AF65-F5344CB8AC3E}">
        <p14:creationId xmlns:p14="http://schemas.microsoft.com/office/powerpoint/2010/main" val="225182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199" y="1093788"/>
            <a:ext cx="10506455" cy="2967208"/>
          </a:xfrm>
        </p:spPr>
        <p:txBody>
          <a:bodyPr>
            <a:normAutofit/>
          </a:bodyPr>
          <a:lstStyle/>
          <a:p>
            <a:r>
              <a:rPr lang="en-US" sz="4800" err="1"/>
              <a:t>ChipTrust</a:t>
            </a:r>
            <a:r>
              <a:rPr lang="en-US" sz="4800"/>
              <a:t> Security IP - </a:t>
            </a:r>
            <a:r>
              <a:rPr lang="en-US" sz="4800" err="1"/>
              <a:t>MicroArchitecture</a:t>
            </a:r>
            <a:endParaRPr lang="en-US" err="1"/>
          </a:p>
        </p:txBody>
      </p:sp>
      <p:sp>
        <p:nvSpPr>
          <p:cNvPr id="3" name="Subtitle 2"/>
          <p:cNvSpPr>
            <a:spLocks noGrp="1"/>
          </p:cNvSpPr>
          <p:nvPr>
            <p:ph type="subTitle" idx="1"/>
          </p:nvPr>
        </p:nvSpPr>
        <p:spPr>
          <a:xfrm>
            <a:off x="7400924" y="4619624"/>
            <a:ext cx="3946779" cy="1038225"/>
          </a:xfrm>
        </p:spPr>
        <p:txBody>
          <a:bodyPr vert="horz" lIns="91440" tIns="45720" rIns="91440" bIns="45720" rtlCol="0" anchor="t">
            <a:normAutofit fontScale="85000" lnSpcReduction="20000"/>
          </a:bodyPr>
          <a:lstStyle/>
          <a:p>
            <a:pPr algn="r"/>
            <a:r>
              <a:rPr lang="en-US" sz="1500"/>
              <a:t>                                 </a:t>
            </a:r>
            <a:r>
              <a:rPr lang="en-US"/>
              <a:t>    Jishnu Mohan</a:t>
            </a:r>
          </a:p>
          <a:p>
            <a:pPr algn="r"/>
            <a:r>
              <a:rPr lang="en-US"/>
              <a:t>      Lokesh </a:t>
            </a:r>
            <a:r>
              <a:rPr lang="en-US" err="1"/>
              <a:t>Kumbaganti</a:t>
            </a:r>
          </a:p>
          <a:p>
            <a:pPr algn="r"/>
            <a:r>
              <a:rPr lang="en-US"/>
              <a:t>Sravanthi </a:t>
            </a:r>
            <a:r>
              <a:rPr lang="en-US" err="1"/>
              <a:t>Vennapusa</a:t>
            </a:r>
            <a:r>
              <a:rPr lang="en-US"/>
              <a:t> </a:t>
            </a:r>
          </a:p>
        </p:txBody>
      </p:sp>
      <p:sp>
        <p:nvSpPr>
          <p:cNvPr id="10" name="Rectangle 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FA94E-2B38-60E2-36A6-874360528A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0FB657-6A0F-3ECC-DA11-151E6239B5C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67459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9A7CC4-A3E3-5D34-3B8F-8293C71918A7}"/>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0C151E0-E7BF-78FB-3A50-838761409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339E468-6581-EB5D-DD74-6568C1670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24" name="Group 23">
            <a:extLst>
              <a:ext uri="{FF2B5EF4-FFF2-40B4-BE49-F238E27FC236}">
                <a16:creationId xmlns:a16="http://schemas.microsoft.com/office/drawing/2014/main" id="{25AF656E-C9AE-9566-2058-0D905DC765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5" name="Freeform: Shape 14">
              <a:extLst>
                <a:ext uri="{FF2B5EF4-FFF2-40B4-BE49-F238E27FC236}">
                  <a16:creationId xmlns:a16="http://schemas.microsoft.com/office/drawing/2014/main" id="{3BE6E84A-78A0-D53F-B908-2A098BD2D5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AF55B1EB-3AD5-1939-48E9-CC2370521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1DDBF114-FACB-8797-2643-D85669563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DF2EA28A-AB80-F385-5CBD-4EA1614D2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4D67EC2B-3ACA-BB49-89AA-3AC30EDB7A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5A475AC-3116-2732-DB6D-28B591511C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AE396F79-6E7B-9590-DC27-9970B1AC2A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5" name="Title 1">
            <a:extLst>
              <a:ext uri="{FF2B5EF4-FFF2-40B4-BE49-F238E27FC236}">
                <a16:creationId xmlns:a16="http://schemas.microsoft.com/office/drawing/2014/main" id="{AE08080D-42F7-31AC-C30F-5DE61B62544F}"/>
              </a:ext>
            </a:extLst>
          </p:cNvPr>
          <p:cNvSpPr txBox="1">
            <a:spLocks/>
          </p:cNvSpPr>
          <p:nvPr/>
        </p:nvSpPr>
        <p:spPr>
          <a:xfrm>
            <a:off x="3045368" y="2043663"/>
            <a:ext cx="6105194" cy="2031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5200">
                <a:solidFill>
                  <a:schemeClr val="tx2"/>
                </a:solidFill>
              </a:rPr>
              <a:t>Architecture</a:t>
            </a:r>
            <a:r>
              <a:rPr lang="en-US" sz="5200" kern="1200">
                <a:solidFill>
                  <a:schemeClr val="tx2"/>
                </a:solidFill>
                <a:latin typeface="+mj-lt"/>
                <a:ea typeface="+mj-ea"/>
                <a:cs typeface="+mj-cs"/>
              </a:rPr>
              <a:t> </a:t>
            </a:r>
          </a:p>
        </p:txBody>
      </p:sp>
    </p:spTree>
    <p:extLst>
      <p:ext uri="{BB962C8B-B14F-4D97-AF65-F5344CB8AC3E}">
        <p14:creationId xmlns:p14="http://schemas.microsoft.com/office/powerpoint/2010/main" val="492992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D18EB-9183-720C-313C-BB17F30608C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57AEFE6-BA9D-421C-E94D-BAA977C37C47}"/>
              </a:ext>
            </a:extLst>
          </p:cNvPr>
          <p:cNvSpPr/>
          <p:nvPr/>
        </p:nvSpPr>
        <p:spPr>
          <a:xfrm>
            <a:off x="187373" y="477337"/>
            <a:ext cx="11523070" cy="578348"/>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2">
                    <a:lumMod val="90000"/>
                    <a:lumOff val="10000"/>
                  </a:schemeClr>
                </a:solidFill>
              </a:rPr>
              <a:t>SoC (host chip)</a:t>
            </a:r>
          </a:p>
          <a:p>
            <a:pPr algn="ctr"/>
            <a:r>
              <a:rPr lang="en-GB">
                <a:solidFill>
                  <a:schemeClr val="tx2">
                    <a:lumMod val="90000"/>
                    <a:lumOff val="10000"/>
                  </a:schemeClr>
                </a:solidFill>
              </a:rPr>
              <a:t>.</a:t>
            </a:r>
            <a:r>
              <a:rPr lang="en-GB" err="1">
                <a:solidFill>
                  <a:schemeClr val="tx2">
                    <a:lumMod val="90000"/>
                    <a:lumOff val="10000"/>
                  </a:schemeClr>
                </a:solidFill>
              </a:rPr>
              <a:t>cptra_pwrgood</a:t>
            </a:r>
            <a:r>
              <a:rPr lang="en-GB">
                <a:solidFill>
                  <a:schemeClr val="tx2">
                    <a:lumMod val="90000"/>
                    <a:lumOff val="10000"/>
                  </a:schemeClr>
                </a:solidFill>
              </a:rPr>
              <a:t> .</a:t>
            </a:r>
            <a:r>
              <a:rPr lang="en-GB" err="1">
                <a:solidFill>
                  <a:schemeClr val="tx2">
                    <a:lumMod val="90000"/>
                    <a:lumOff val="10000"/>
                  </a:schemeClr>
                </a:solidFill>
              </a:rPr>
              <a:t>cptra_rst_b</a:t>
            </a:r>
            <a:r>
              <a:rPr lang="en-GB">
                <a:solidFill>
                  <a:schemeClr val="tx2">
                    <a:lumMod val="90000"/>
                    <a:lumOff val="10000"/>
                  </a:schemeClr>
                </a:solidFill>
              </a:rPr>
              <a:t> .fuse writes .AXI manager .TAP/JTAG</a:t>
            </a:r>
          </a:p>
        </p:txBody>
      </p:sp>
      <p:sp>
        <p:nvSpPr>
          <p:cNvPr id="5" name="Rectangle: Rounded Corners 4">
            <a:extLst>
              <a:ext uri="{FF2B5EF4-FFF2-40B4-BE49-F238E27FC236}">
                <a16:creationId xmlns:a16="http://schemas.microsoft.com/office/drawing/2014/main" id="{8093E66E-DBA7-9EC3-EF23-0D589532B017}"/>
              </a:ext>
            </a:extLst>
          </p:cNvPr>
          <p:cNvSpPr/>
          <p:nvPr/>
        </p:nvSpPr>
        <p:spPr>
          <a:xfrm>
            <a:off x="187372" y="1475613"/>
            <a:ext cx="11523071" cy="5180020"/>
          </a:xfrm>
          <a:prstGeom prst="roundRect">
            <a:avLst/>
          </a:prstGeom>
          <a:solidFill>
            <a:srgbClr val="92D050"/>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a:extLst>
              <a:ext uri="{FF2B5EF4-FFF2-40B4-BE49-F238E27FC236}">
                <a16:creationId xmlns:a16="http://schemas.microsoft.com/office/drawing/2014/main" id="{F87C8EE3-A74D-DC3C-C015-87BD6560BC3B}"/>
              </a:ext>
            </a:extLst>
          </p:cNvPr>
          <p:cNvGrpSpPr/>
          <p:nvPr/>
        </p:nvGrpSpPr>
        <p:grpSpPr>
          <a:xfrm>
            <a:off x="481555" y="1810333"/>
            <a:ext cx="10661755" cy="979039"/>
            <a:chOff x="1558979" y="4167264"/>
            <a:chExt cx="7195279" cy="1679022"/>
          </a:xfrm>
        </p:grpSpPr>
        <p:sp>
          <p:nvSpPr>
            <p:cNvPr id="9" name="Rectangle: Rounded Corners 8">
              <a:extLst>
                <a:ext uri="{FF2B5EF4-FFF2-40B4-BE49-F238E27FC236}">
                  <a16:creationId xmlns:a16="http://schemas.microsoft.com/office/drawing/2014/main" id="{71E3AC29-0BCF-FBDF-3E1E-0AE1900B69BC}"/>
                </a:ext>
              </a:extLst>
            </p:cNvPr>
            <p:cNvSpPr/>
            <p:nvPr/>
          </p:nvSpPr>
          <p:spPr>
            <a:xfrm>
              <a:off x="1558979" y="4167264"/>
              <a:ext cx="7195279" cy="1679022"/>
            </a:xfrm>
            <a:prstGeom prst="roundRect">
              <a:avLst/>
            </a:prstGeom>
            <a:solidFill>
              <a:schemeClr val="accent2">
                <a:lumMod val="20000"/>
                <a:lumOff val="80000"/>
              </a:schemeClr>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C30FFC7D-A6B5-7F6F-E94C-E89AAB4E45FC}"/>
                </a:ext>
              </a:extLst>
            </p:cNvPr>
            <p:cNvSpPr/>
            <p:nvPr/>
          </p:nvSpPr>
          <p:spPr>
            <a:xfrm>
              <a:off x="2093749" y="4654444"/>
              <a:ext cx="1633928" cy="88441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2">
                      <a:lumMod val="50000"/>
                    </a:schemeClr>
                  </a:solidFill>
                </a:rPr>
                <a:t>ROM (96 KiB)</a:t>
              </a:r>
            </a:p>
          </p:txBody>
        </p:sp>
        <p:sp>
          <p:nvSpPr>
            <p:cNvPr id="7" name="Rectangle: Rounded Corners 6">
              <a:extLst>
                <a:ext uri="{FF2B5EF4-FFF2-40B4-BE49-F238E27FC236}">
                  <a16:creationId xmlns:a16="http://schemas.microsoft.com/office/drawing/2014/main" id="{F431F17C-CD54-23E5-C092-FCA98A4C8F8D}"/>
                </a:ext>
              </a:extLst>
            </p:cNvPr>
            <p:cNvSpPr/>
            <p:nvPr/>
          </p:nvSpPr>
          <p:spPr>
            <a:xfrm>
              <a:off x="4601981" y="4654443"/>
              <a:ext cx="1633928" cy="88441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2">
                      <a:lumMod val="50000"/>
                    </a:schemeClr>
                  </a:solidFill>
                </a:rPr>
                <a:t>FMC</a:t>
              </a:r>
            </a:p>
          </p:txBody>
        </p:sp>
        <p:sp>
          <p:nvSpPr>
            <p:cNvPr id="8" name="Rectangle: Rounded Corners 7">
              <a:extLst>
                <a:ext uri="{FF2B5EF4-FFF2-40B4-BE49-F238E27FC236}">
                  <a16:creationId xmlns:a16="http://schemas.microsoft.com/office/drawing/2014/main" id="{523F8287-275D-0B89-5867-AF66824786FC}"/>
                </a:ext>
              </a:extLst>
            </p:cNvPr>
            <p:cNvSpPr/>
            <p:nvPr/>
          </p:nvSpPr>
          <p:spPr>
            <a:xfrm>
              <a:off x="6947943" y="4654443"/>
              <a:ext cx="1633928" cy="88441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2">
                      <a:lumMod val="50000"/>
                    </a:schemeClr>
                  </a:solidFill>
                </a:rPr>
                <a:t>Runtime FW</a:t>
              </a:r>
            </a:p>
          </p:txBody>
        </p:sp>
      </p:grpSp>
      <p:sp>
        <p:nvSpPr>
          <p:cNvPr id="11" name="TextBox 10">
            <a:extLst>
              <a:ext uri="{FF2B5EF4-FFF2-40B4-BE49-F238E27FC236}">
                <a16:creationId xmlns:a16="http://schemas.microsoft.com/office/drawing/2014/main" id="{EC05A288-6E25-AD73-B356-35F37591305A}"/>
              </a:ext>
            </a:extLst>
          </p:cNvPr>
          <p:cNvSpPr txBox="1"/>
          <p:nvPr/>
        </p:nvSpPr>
        <p:spPr>
          <a:xfrm>
            <a:off x="1126757" y="1750616"/>
            <a:ext cx="4886794" cy="369332"/>
          </a:xfrm>
          <a:prstGeom prst="rect">
            <a:avLst/>
          </a:prstGeom>
          <a:noFill/>
        </p:spPr>
        <p:txBody>
          <a:bodyPr wrap="square" rtlCol="0">
            <a:spAutoFit/>
          </a:bodyPr>
          <a:lstStyle/>
          <a:p>
            <a:r>
              <a:rPr lang="en-GB" b="1">
                <a:solidFill>
                  <a:schemeClr val="accent2">
                    <a:lumMod val="50000"/>
                  </a:schemeClr>
                </a:solidFill>
              </a:rPr>
              <a:t>Firmware stack (SW – runs on </a:t>
            </a:r>
            <a:r>
              <a:rPr lang="en-GB" b="1" err="1">
                <a:solidFill>
                  <a:schemeClr val="accent2">
                    <a:lumMod val="50000"/>
                  </a:schemeClr>
                </a:solidFill>
              </a:rPr>
              <a:t>VeeR</a:t>
            </a:r>
            <a:r>
              <a:rPr lang="en-GB" b="1">
                <a:solidFill>
                  <a:schemeClr val="accent2">
                    <a:lumMod val="50000"/>
                  </a:schemeClr>
                </a:solidFill>
              </a:rPr>
              <a:t> EL2)</a:t>
            </a:r>
          </a:p>
        </p:txBody>
      </p:sp>
      <p:sp>
        <p:nvSpPr>
          <p:cNvPr id="12" name="Rectangle: Rounded Corners 11">
            <a:extLst>
              <a:ext uri="{FF2B5EF4-FFF2-40B4-BE49-F238E27FC236}">
                <a16:creationId xmlns:a16="http://schemas.microsoft.com/office/drawing/2014/main" id="{9D844132-0CD2-1D8E-76F9-A4DAE49DEFD5}"/>
              </a:ext>
            </a:extLst>
          </p:cNvPr>
          <p:cNvSpPr/>
          <p:nvPr/>
        </p:nvSpPr>
        <p:spPr>
          <a:xfrm>
            <a:off x="481556" y="3001779"/>
            <a:ext cx="10661755" cy="673169"/>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err="1">
                <a:solidFill>
                  <a:schemeClr val="accent4">
                    <a:lumMod val="50000"/>
                  </a:schemeClr>
                </a:solidFill>
              </a:rPr>
              <a:t>VeeR</a:t>
            </a:r>
            <a:r>
              <a:rPr lang="en-GB" b="1">
                <a:solidFill>
                  <a:schemeClr val="accent4">
                    <a:lumMod val="50000"/>
                  </a:schemeClr>
                </a:solidFill>
              </a:rPr>
              <a:t> EL2 RISC-V core (32-bit, 4-stage in-order pipeline)</a:t>
            </a:r>
          </a:p>
          <a:p>
            <a:pPr algn="ctr"/>
            <a:r>
              <a:rPr lang="en-GB">
                <a:solidFill>
                  <a:schemeClr val="accent4">
                    <a:lumMod val="50000"/>
                  </a:schemeClr>
                </a:solidFill>
              </a:rPr>
              <a:t>.IFU (AHB-Lite) .LSU (AHB-Lite) .31 external IRQs .PMP enabled .WDT NMI .ICCM 256 KiB .DCCM 256 KiB</a:t>
            </a:r>
          </a:p>
        </p:txBody>
      </p:sp>
      <p:sp>
        <p:nvSpPr>
          <p:cNvPr id="13" name="Rectangle: Rounded Corners 12">
            <a:extLst>
              <a:ext uri="{FF2B5EF4-FFF2-40B4-BE49-F238E27FC236}">
                <a16:creationId xmlns:a16="http://schemas.microsoft.com/office/drawing/2014/main" id="{AC6DB9A8-4875-C642-A82B-EA9D725DF535}"/>
              </a:ext>
            </a:extLst>
          </p:cNvPr>
          <p:cNvSpPr/>
          <p:nvPr/>
        </p:nvSpPr>
        <p:spPr>
          <a:xfrm>
            <a:off x="481555" y="4025652"/>
            <a:ext cx="10661755" cy="31960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AHB-Lite Interconnect – address decoder routes to 17 target slaves</a:t>
            </a:r>
            <a:endParaRPr lang="en-GB"/>
          </a:p>
        </p:txBody>
      </p:sp>
      <p:grpSp>
        <p:nvGrpSpPr>
          <p:cNvPr id="14" name="Group 13">
            <a:extLst>
              <a:ext uri="{FF2B5EF4-FFF2-40B4-BE49-F238E27FC236}">
                <a16:creationId xmlns:a16="http://schemas.microsoft.com/office/drawing/2014/main" id="{9F7A9052-0A46-16DE-B84C-EFB472D82E0D}"/>
              </a:ext>
            </a:extLst>
          </p:cNvPr>
          <p:cNvGrpSpPr/>
          <p:nvPr/>
        </p:nvGrpSpPr>
        <p:grpSpPr>
          <a:xfrm>
            <a:off x="481556" y="4695962"/>
            <a:ext cx="10777929" cy="828208"/>
            <a:chOff x="1558979" y="4470758"/>
            <a:chExt cx="7195279" cy="1288724"/>
          </a:xfrm>
        </p:grpSpPr>
        <p:sp>
          <p:nvSpPr>
            <p:cNvPr id="15" name="Rectangle: Rounded Corners 14">
              <a:extLst>
                <a:ext uri="{FF2B5EF4-FFF2-40B4-BE49-F238E27FC236}">
                  <a16:creationId xmlns:a16="http://schemas.microsoft.com/office/drawing/2014/main" id="{94C1ED94-5F3A-B583-7C68-D83EDCB5121A}"/>
                </a:ext>
              </a:extLst>
            </p:cNvPr>
            <p:cNvSpPr/>
            <p:nvPr/>
          </p:nvSpPr>
          <p:spPr>
            <a:xfrm>
              <a:off x="1558979" y="4470758"/>
              <a:ext cx="7195279" cy="1288724"/>
            </a:xfrm>
            <a:prstGeom prst="round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Rounded Corners 15">
              <a:extLst>
                <a:ext uri="{FF2B5EF4-FFF2-40B4-BE49-F238E27FC236}">
                  <a16:creationId xmlns:a16="http://schemas.microsoft.com/office/drawing/2014/main" id="{8A046E11-14AB-7396-9AC3-E74FB1374819}"/>
                </a:ext>
              </a:extLst>
            </p:cNvPr>
            <p:cNvSpPr/>
            <p:nvPr/>
          </p:nvSpPr>
          <p:spPr>
            <a:xfrm>
              <a:off x="2083633" y="4654444"/>
              <a:ext cx="1633928" cy="884419"/>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5">
                      <a:lumMod val="50000"/>
                    </a:schemeClr>
                  </a:solidFill>
                </a:rPr>
                <a:t>Crypto subsystem</a:t>
              </a:r>
            </a:p>
          </p:txBody>
        </p:sp>
        <p:sp>
          <p:nvSpPr>
            <p:cNvPr id="17" name="Rectangle: Rounded Corners 16">
              <a:extLst>
                <a:ext uri="{FF2B5EF4-FFF2-40B4-BE49-F238E27FC236}">
                  <a16:creationId xmlns:a16="http://schemas.microsoft.com/office/drawing/2014/main" id="{5884F984-F96A-57C0-37A0-23F6A8E9AB29}"/>
                </a:ext>
              </a:extLst>
            </p:cNvPr>
            <p:cNvSpPr/>
            <p:nvPr/>
          </p:nvSpPr>
          <p:spPr>
            <a:xfrm>
              <a:off x="4601981" y="4654443"/>
              <a:ext cx="1633928" cy="884419"/>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3">
                      <a:lumMod val="50000"/>
                    </a:schemeClr>
                  </a:solidFill>
                </a:rPr>
                <a:t>Peripherals</a:t>
              </a:r>
            </a:p>
          </p:txBody>
        </p:sp>
        <p:sp>
          <p:nvSpPr>
            <p:cNvPr id="18" name="Rectangle: Rounded Corners 17">
              <a:extLst>
                <a:ext uri="{FF2B5EF4-FFF2-40B4-BE49-F238E27FC236}">
                  <a16:creationId xmlns:a16="http://schemas.microsoft.com/office/drawing/2014/main" id="{3B1C8435-CABF-A2F3-1320-84CC38A4BB5F}"/>
                </a:ext>
              </a:extLst>
            </p:cNvPr>
            <p:cNvSpPr/>
            <p:nvPr/>
          </p:nvSpPr>
          <p:spPr>
            <a:xfrm>
              <a:off x="6947943" y="4654443"/>
              <a:ext cx="1633928" cy="884419"/>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2">
                      <a:lumMod val="10000"/>
                    </a:schemeClr>
                  </a:solidFill>
                </a:rPr>
                <a:t>SoC interface</a:t>
              </a:r>
            </a:p>
          </p:txBody>
        </p:sp>
      </p:grpSp>
      <p:sp>
        <p:nvSpPr>
          <p:cNvPr id="19" name="Rectangle: Rounded Corners 18">
            <a:extLst>
              <a:ext uri="{FF2B5EF4-FFF2-40B4-BE49-F238E27FC236}">
                <a16:creationId xmlns:a16="http://schemas.microsoft.com/office/drawing/2014/main" id="{B6951489-55CF-EC2F-EDEB-0F532B4291F4}"/>
              </a:ext>
            </a:extLst>
          </p:cNvPr>
          <p:cNvSpPr/>
          <p:nvPr/>
        </p:nvSpPr>
        <p:spPr>
          <a:xfrm>
            <a:off x="481555" y="5736577"/>
            <a:ext cx="10777929" cy="644086"/>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lumMod val="95000"/>
                    <a:lumOff val="5000"/>
                  </a:schemeClr>
                </a:solidFill>
              </a:rPr>
              <a:t>Chip Trust outputs to SoC</a:t>
            </a:r>
          </a:p>
          <a:p>
            <a:pPr algn="ctr"/>
            <a:r>
              <a:rPr lang="en-GB">
                <a:solidFill>
                  <a:schemeClr val="tx1">
                    <a:lumMod val="95000"/>
                    <a:lumOff val="5000"/>
                  </a:schemeClr>
                </a:solidFill>
              </a:rPr>
              <a:t>.</a:t>
            </a:r>
            <a:r>
              <a:rPr lang="en-GB" err="1">
                <a:solidFill>
                  <a:schemeClr val="tx1">
                    <a:lumMod val="95000"/>
                    <a:lumOff val="5000"/>
                  </a:schemeClr>
                </a:solidFill>
              </a:rPr>
              <a:t>ready_for_fuses</a:t>
            </a:r>
            <a:r>
              <a:rPr lang="en-GB">
                <a:solidFill>
                  <a:schemeClr val="tx1">
                    <a:lumMod val="95000"/>
                    <a:lumOff val="5000"/>
                  </a:schemeClr>
                </a:solidFill>
              </a:rPr>
              <a:t> .</a:t>
            </a:r>
            <a:r>
              <a:rPr lang="en-GB" err="1">
                <a:solidFill>
                  <a:schemeClr val="tx1">
                    <a:lumMod val="95000"/>
                    <a:lumOff val="5000"/>
                  </a:schemeClr>
                </a:solidFill>
              </a:rPr>
              <a:t>ready_for_fw</a:t>
            </a:r>
            <a:r>
              <a:rPr lang="en-GB">
                <a:solidFill>
                  <a:schemeClr val="tx1">
                    <a:lumMod val="95000"/>
                    <a:lumOff val="5000"/>
                  </a:schemeClr>
                </a:solidFill>
              </a:rPr>
              <a:t> .</a:t>
            </a:r>
            <a:r>
              <a:rPr lang="en-GB" err="1">
                <a:solidFill>
                  <a:schemeClr val="tx1">
                    <a:lumMod val="95000"/>
                    <a:lumOff val="5000"/>
                  </a:schemeClr>
                </a:solidFill>
              </a:rPr>
              <a:t>error_fatal</a:t>
            </a:r>
            <a:r>
              <a:rPr lang="en-GB">
                <a:solidFill>
                  <a:schemeClr val="tx1">
                    <a:lumMod val="95000"/>
                    <a:lumOff val="5000"/>
                  </a:schemeClr>
                </a:solidFill>
              </a:rPr>
              <a:t> .</a:t>
            </a:r>
            <a:r>
              <a:rPr lang="en-GB" err="1">
                <a:solidFill>
                  <a:schemeClr val="tx1">
                    <a:lumMod val="95000"/>
                    <a:lumOff val="5000"/>
                  </a:schemeClr>
                </a:solidFill>
              </a:rPr>
              <a:t>error_non</a:t>
            </a:r>
            <a:r>
              <a:rPr lang="en-GB">
                <a:solidFill>
                  <a:schemeClr val="tx1">
                    <a:lumMod val="95000"/>
                    <a:lumOff val="5000"/>
                  </a:schemeClr>
                </a:solidFill>
              </a:rPr>
              <a:t>-fatal .</a:t>
            </a:r>
            <a:r>
              <a:rPr lang="en-GB" err="1">
                <a:solidFill>
                  <a:schemeClr val="tx1">
                    <a:lumMod val="95000"/>
                    <a:lumOff val="5000"/>
                  </a:schemeClr>
                </a:solidFill>
              </a:rPr>
              <a:t>security_state</a:t>
            </a:r>
            <a:r>
              <a:rPr lang="en-GB">
                <a:solidFill>
                  <a:schemeClr val="tx1">
                    <a:lumMod val="95000"/>
                    <a:lumOff val="5000"/>
                  </a:schemeClr>
                </a:solidFill>
              </a:rPr>
              <a:t> .</a:t>
            </a:r>
            <a:r>
              <a:rPr lang="en-GB" err="1">
                <a:solidFill>
                  <a:schemeClr val="tx1">
                    <a:lumMod val="95000"/>
                    <a:lumOff val="5000"/>
                  </a:schemeClr>
                </a:solidFill>
              </a:rPr>
              <a:t>idevid_cert_chain</a:t>
            </a:r>
            <a:endParaRPr lang="en-GB">
              <a:solidFill>
                <a:schemeClr val="tx1">
                  <a:lumMod val="95000"/>
                  <a:lumOff val="5000"/>
                </a:schemeClr>
              </a:solidFill>
            </a:endParaRPr>
          </a:p>
        </p:txBody>
      </p:sp>
      <p:cxnSp>
        <p:nvCxnSpPr>
          <p:cNvPr id="21" name="Straight Arrow Connector 20">
            <a:extLst>
              <a:ext uri="{FF2B5EF4-FFF2-40B4-BE49-F238E27FC236}">
                <a16:creationId xmlns:a16="http://schemas.microsoft.com/office/drawing/2014/main" id="{9EB9B152-EF6C-FF2A-FBF5-9B29E7CABDEB}"/>
              </a:ext>
            </a:extLst>
          </p:cNvPr>
          <p:cNvCxnSpPr/>
          <p:nvPr/>
        </p:nvCxnSpPr>
        <p:spPr>
          <a:xfrm>
            <a:off x="2323475" y="5524170"/>
            <a:ext cx="0" cy="21240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9AE67BA0-6A8B-7F47-5F78-4F588C87802C}"/>
              </a:ext>
            </a:extLst>
          </p:cNvPr>
          <p:cNvCxnSpPr/>
          <p:nvPr/>
        </p:nvCxnSpPr>
        <p:spPr>
          <a:xfrm>
            <a:off x="6096000" y="5524170"/>
            <a:ext cx="0" cy="21240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A8F79598-702E-82A6-171C-775A71F3A4EE}"/>
              </a:ext>
            </a:extLst>
          </p:cNvPr>
          <p:cNvCxnSpPr/>
          <p:nvPr/>
        </p:nvCxnSpPr>
        <p:spPr>
          <a:xfrm>
            <a:off x="9883515" y="5524170"/>
            <a:ext cx="0" cy="21240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C132366D-CD92-F7DB-1108-E3BD08B7D32F}"/>
              </a:ext>
            </a:extLst>
          </p:cNvPr>
          <p:cNvCxnSpPr>
            <a:cxnSpLocks/>
          </p:cNvCxnSpPr>
          <p:nvPr/>
        </p:nvCxnSpPr>
        <p:spPr>
          <a:xfrm>
            <a:off x="6013551" y="2789372"/>
            <a:ext cx="0" cy="21240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B730412-2E33-3EF3-3989-069B89291047}"/>
              </a:ext>
            </a:extLst>
          </p:cNvPr>
          <p:cNvCxnSpPr>
            <a:cxnSpLocks/>
          </p:cNvCxnSpPr>
          <p:nvPr/>
        </p:nvCxnSpPr>
        <p:spPr>
          <a:xfrm>
            <a:off x="5996373" y="3674948"/>
            <a:ext cx="0" cy="35070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5C084404-6701-335C-AA88-2755FC516028}"/>
              </a:ext>
            </a:extLst>
          </p:cNvPr>
          <p:cNvSpPr txBox="1"/>
          <p:nvPr/>
        </p:nvSpPr>
        <p:spPr>
          <a:xfrm>
            <a:off x="6056648" y="3665634"/>
            <a:ext cx="5274027" cy="369332"/>
          </a:xfrm>
          <a:prstGeom prst="rect">
            <a:avLst/>
          </a:prstGeom>
          <a:noFill/>
        </p:spPr>
        <p:txBody>
          <a:bodyPr wrap="square" rtlCol="0">
            <a:spAutoFit/>
          </a:bodyPr>
          <a:lstStyle/>
          <a:p>
            <a:r>
              <a:rPr lang="en-GB"/>
              <a:t>AHB-Lite fabric (32-bit </a:t>
            </a:r>
            <a:r>
              <a:rPr lang="en-GB" err="1"/>
              <a:t>addr</a:t>
            </a:r>
            <a:r>
              <a:rPr lang="en-GB"/>
              <a:t>, 64-bit data, 17 targets)</a:t>
            </a:r>
          </a:p>
        </p:txBody>
      </p:sp>
      <p:cxnSp>
        <p:nvCxnSpPr>
          <p:cNvPr id="31" name="Straight Arrow Connector 30">
            <a:extLst>
              <a:ext uri="{FF2B5EF4-FFF2-40B4-BE49-F238E27FC236}">
                <a16:creationId xmlns:a16="http://schemas.microsoft.com/office/drawing/2014/main" id="{E99BCA84-C343-DD87-DF01-F86679570FE7}"/>
              </a:ext>
            </a:extLst>
          </p:cNvPr>
          <p:cNvCxnSpPr>
            <a:cxnSpLocks/>
          </p:cNvCxnSpPr>
          <p:nvPr/>
        </p:nvCxnSpPr>
        <p:spPr>
          <a:xfrm>
            <a:off x="2323475" y="4345258"/>
            <a:ext cx="0" cy="35070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C1E9A6A6-7729-29D2-34DF-25C16708E68A}"/>
              </a:ext>
            </a:extLst>
          </p:cNvPr>
          <p:cNvCxnSpPr>
            <a:cxnSpLocks/>
          </p:cNvCxnSpPr>
          <p:nvPr/>
        </p:nvCxnSpPr>
        <p:spPr>
          <a:xfrm>
            <a:off x="6013551" y="4345258"/>
            <a:ext cx="0" cy="35070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9DD1ABFE-572D-556D-4558-095C46615CA1}"/>
              </a:ext>
            </a:extLst>
          </p:cNvPr>
          <p:cNvCxnSpPr>
            <a:cxnSpLocks/>
          </p:cNvCxnSpPr>
          <p:nvPr/>
        </p:nvCxnSpPr>
        <p:spPr>
          <a:xfrm>
            <a:off x="9777519" y="4345258"/>
            <a:ext cx="0" cy="35070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44E4D4A9-D81D-AB0B-5A21-BC684D6C425E}"/>
              </a:ext>
            </a:extLst>
          </p:cNvPr>
          <p:cNvCxnSpPr>
            <a:cxnSpLocks/>
            <a:endCxn id="5" idx="0"/>
          </p:cNvCxnSpPr>
          <p:nvPr/>
        </p:nvCxnSpPr>
        <p:spPr>
          <a:xfrm>
            <a:off x="5948907" y="1081193"/>
            <a:ext cx="1" cy="39442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2869C0B9-DD5C-50D8-FA7C-CDDE690C886C}"/>
              </a:ext>
            </a:extLst>
          </p:cNvPr>
          <p:cNvSpPr txBox="1"/>
          <p:nvPr/>
        </p:nvSpPr>
        <p:spPr>
          <a:xfrm>
            <a:off x="6096000" y="1080983"/>
            <a:ext cx="4886794" cy="369332"/>
          </a:xfrm>
          <a:prstGeom prst="rect">
            <a:avLst/>
          </a:prstGeom>
          <a:noFill/>
        </p:spPr>
        <p:txBody>
          <a:bodyPr wrap="square" rtlCol="0">
            <a:spAutoFit/>
          </a:bodyPr>
          <a:lstStyle/>
          <a:p>
            <a:r>
              <a:rPr lang="en-GB"/>
              <a:t>AXI subordinate</a:t>
            </a:r>
          </a:p>
        </p:txBody>
      </p:sp>
      <p:sp>
        <p:nvSpPr>
          <p:cNvPr id="42" name="TextBox 41">
            <a:extLst>
              <a:ext uri="{FF2B5EF4-FFF2-40B4-BE49-F238E27FC236}">
                <a16:creationId xmlns:a16="http://schemas.microsoft.com/office/drawing/2014/main" id="{2D41D3D9-321E-1D4B-557A-C68F8E1BAF0C}"/>
              </a:ext>
            </a:extLst>
          </p:cNvPr>
          <p:cNvSpPr txBox="1"/>
          <p:nvPr/>
        </p:nvSpPr>
        <p:spPr>
          <a:xfrm>
            <a:off x="1135660" y="1458307"/>
            <a:ext cx="4886794" cy="369332"/>
          </a:xfrm>
          <a:prstGeom prst="rect">
            <a:avLst/>
          </a:prstGeom>
          <a:noFill/>
        </p:spPr>
        <p:txBody>
          <a:bodyPr wrap="square" rtlCol="0">
            <a:spAutoFit/>
          </a:bodyPr>
          <a:lstStyle/>
          <a:p>
            <a:r>
              <a:rPr lang="en-GB"/>
              <a:t>Chip Trust IP boundary</a:t>
            </a:r>
          </a:p>
        </p:txBody>
      </p:sp>
    </p:spTree>
    <p:extLst>
      <p:ext uri="{BB962C8B-B14F-4D97-AF65-F5344CB8AC3E}">
        <p14:creationId xmlns:p14="http://schemas.microsoft.com/office/powerpoint/2010/main" val="3358378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78EA2-E4D7-AAE4-9BC6-0A219C81BC71}"/>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Firmware Stack</a:t>
            </a:r>
          </a:p>
        </p:txBody>
      </p:sp>
      <p:grpSp>
        <p:nvGrpSpPr>
          <p:cNvPr id="4" name="Group 3">
            <a:extLst>
              <a:ext uri="{FF2B5EF4-FFF2-40B4-BE49-F238E27FC236}">
                <a16:creationId xmlns:a16="http://schemas.microsoft.com/office/drawing/2014/main" id="{AC1AA033-4EA9-1B84-FE50-16FDBE550831}"/>
              </a:ext>
            </a:extLst>
          </p:cNvPr>
          <p:cNvGrpSpPr/>
          <p:nvPr/>
        </p:nvGrpSpPr>
        <p:grpSpPr>
          <a:xfrm>
            <a:off x="765122" y="1082635"/>
            <a:ext cx="10661755" cy="2927720"/>
            <a:chOff x="1558978" y="4257142"/>
            <a:chExt cx="7195279" cy="1679022"/>
          </a:xfrm>
        </p:grpSpPr>
        <p:sp>
          <p:nvSpPr>
            <p:cNvPr id="5" name="Rectangle: Rounded Corners 4">
              <a:extLst>
                <a:ext uri="{FF2B5EF4-FFF2-40B4-BE49-F238E27FC236}">
                  <a16:creationId xmlns:a16="http://schemas.microsoft.com/office/drawing/2014/main" id="{8DDFEAEB-791A-0A45-C902-73622C3230D0}"/>
                </a:ext>
              </a:extLst>
            </p:cNvPr>
            <p:cNvSpPr/>
            <p:nvPr/>
          </p:nvSpPr>
          <p:spPr>
            <a:xfrm>
              <a:off x="1558978" y="4257142"/>
              <a:ext cx="7195279" cy="1679022"/>
            </a:xfrm>
            <a:prstGeom prst="roundRect">
              <a:avLst/>
            </a:prstGeom>
            <a:solidFill>
              <a:schemeClr val="accent2">
                <a:lumMod val="20000"/>
                <a:lumOff val="80000"/>
              </a:schemeClr>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4797FF22-E8CB-3B8A-9B97-F6044E6C65D8}"/>
                </a:ext>
              </a:extLst>
            </p:cNvPr>
            <p:cNvSpPr/>
            <p:nvPr/>
          </p:nvSpPr>
          <p:spPr>
            <a:xfrm>
              <a:off x="1709327" y="4654443"/>
              <a:ext cx="2094227" cy="88441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2">
                      <a:lumMod val="75000"/>
                    </a:schemeClr>
                  </a:solidFill>
                </a:rPr>
                <a:t>ROM (96 KiB - immutable)</a:t>
              </a:r>
            </a:p>
            <a:p>
              <a:pPr algn="ctr"/>
              <a:r>
                <a:rPr lang="en-GB">
                  <a:solidFill>
                    <a:schemeClr val="accent2">
                      <a:lumMod val="75000"/>
                    </a:schemeClr>
                  </a:solidFill>
                </a:rPr>
                <a:t>First code executed</a:t>
              </a:r>
            </a:p>
            <a:p>
              <a:pPr algn="ctr"/>
              <a:r>
                <a:rPr lang="en-GB">
                  <a:solidFill>
                    <a:schemeClr val="accent2">
                      <a:lumMod val="75000"/>
                    </a:schemeClr>
                  </a:solidFill>
                </a:rPr>
                <a:t>UDS decrypt</a:t>
              </a:r>
            </a:p>
            <a:p>
              <a:pPr algn="ctr"/>
              <a:r>
                <a:rPr lang="en-GB">
                  <a:solidFill>
                    <a:schemeClr val="accent2">
                      <a:lumMod val="75000"/>
                    </a:schemeClr>
                  </a:solidFill>
                </a:rPr>
                <a:t>Mailbox enable</a:t>
              </a:r>
            </a:p>
            <a:p>
              <a:pPr algn="ctr"/>
              <a:r>
                <a:rPr lang="en-GB">
                  <a:solidFill>
                    <a:schemeClr val="accent2">
                      <a:lumMod val="75000"/>
                    </a:schemeClr>
                  </a:solidFill>
                </a:rPr>
                <a:t>Asserts READY_FOR_FW</a:t>
              </a:r>
            </a:p>
          </p:txBody>
        </p:sp>
        <p:sp>
          <p:nvSpPr>
            <p:cNvPr id="7" name="Rectangle: Rounded Corners 6">
              <a:extLst>
                <a:ext uri="{FF2B5EF4-FFF2-40B4-BE49-F238E27FC236}">
                  <a16:creationId xmlns:a16="http://schemas.microsoft.com/office/drawing/2014/main" id="{DFE9BD64-48D8-089E-02DF-E39DA9E696A4}"/>
                </a:ext>
              </a:extLst>
            </p:cNvPr>
            <p:cNvSpPr/>
            <p:nvPr/>
          </p:nvSpPr>
          <p:spPr>
            <a:xfrm>
              <a:off x="4045580" y="4654443"/>
              <a:ext cx="2094227" cy="89673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2">
                      <a:lumMod val="75000"/>
                    </a:schemeClr>
                  </a:solidFill>
                </a:rPr>
                <a:t>FMC (First Mutable Code)</a:t>
              </a:r>
            </a:p>
            <a:p>
              <a:pPr algn="ctr"/>
              <a:r>
                <a:rPr lang="en-GB">
                  <a:solidFill>
                    <a:schemeClr val="accent2">
                      <a:lumMod val="75000"/>
                    </a:schemeClr>
                  </a:solidFill>
                </a:rPr>
                <a:t>DICE cert chain build</a:t>
              </a:r>
            </a:p>
            <a:p>
              <a:pPr algn="ctr"/>
              <a:r>
                <a:rPr lang="en-GB" err="1">
                  <a:solidFill>
                    <a:schemeClr val="accent2">
                      <a:lumMod val="75000"/>
                    </a:schemeClr>
                  </a:solidFill>
                </a:rPr>
                <a:t>IDevID</a:t>
              </a:r>
              <a:r>
                <a:rPr lang="en-GB">
                  <a:solidFill>
                    <a:schemeClr val="accent2">
                      <a:lumMod val="75000"/>
                    </a:schemeClr>
                  </a:solidFill>
                </a:rPr>
                <a:t> </a:t>
              </a:r>
              <a:r>
                <a:rPr lang="en-GB">
                  <a:solidFill>
                    <a:schemeClr val="accent2">
                      <a:lumMod val="75000"/>
                    </a:schemeClr>
                  </a:solidFill>
                  <a:sym typeface="Wingdings" panose="05000000000000000000" pitchFamily="2" charset="2"/>
                </a:rPr>
                <a:t> </a:t>
              </a:r>
              <a:r>
                <a:rPr lang="en-GB" err="1">
                  <a:solidFill>
                    <a:schemeClr val="accent2">
                      <a:lumMod val="75000"/>
                    </a:schemeClr>
                  </a:solidFill>
                  <a:sym typeface="Wingdings" panose="05000000000000000000" pitchFamily="2" charset="2"/>
                </a:rPr>
                <a:t>LDevID</a:t>
              </a:r>
              <a:endParaRPr lang="en-GB">
                <a:solidFill>
                  <a:schemeClr val="accent2">
                    <a:lumMod val="75000"/>
                  </a:schemeClr>
                </a:solidFill>
                <a:sym typeface="Wingdings" panose="05000000000000000000" pitchFamily="2" charset="2"/>
              </a:endParaRPr>
            </a:p>
            <a:p>
              <a:pPr algn="ctr"/>
              <a:r>
                <a:rPr lang="en-GB">
                  <a:solidFill>
                    <a:schemeClr val="accent2">
                      <a:lumMod val="75000"/>
                    </a:schemeClr>
                  </a:solidFill>
                  <a:sym typeface="Wingdings" panose="05000000000000000000" pitchFamily="2" charset="2"/>
                </a:rPr>
                <a:t>Loads runtime firmware </a:t>
              </a:r>
            </a:p>
            <a:p>
              <a:pPr algn="ctr"/>
              <a:r>
                <a:rPr lang="en-GB">
                  <a:solidFill>
                    <a:schemeClr val="accent2">
                      <a:lumMod val="75000"/>
                    </a:schemeClr>
                  </a:solidFill>
                  <a:sym typeface="Wingdings" panose="05000000000000000000" pitchFamily="2" charset="2"/>
                </a:rPr>
                <a:t>Verifies signature</a:t>
              </a:r>
              <a:endParaRPr lang="en-GB">
                <a:solidFill>
                  <a:schemeClr val="accent2">
                    <a:lumMod val="75000"/>
                  </a:schemeClr>
                </a:solidFill>
              </a:endParaRPr>
            </a:p>
          </p:txBody>
        </p:sp>
        <p:sp>
          <p:nvSpPr>
            <p:cNvPr id="8" name="Rectangle: Rounded Corners 7">
              <a:extLst>
                <a:ext uri="{FF2B5EF4-FFF2-40B4-BE49-F238E27FC236}">
                  <a16:creationId xmlns:a16="http://schemas.microsoft.com/office/drawing/2014/main" id="{5D1E2B11-F659-AD7D-C043-D36458D41B09}"/>
                </a:ext>
              </a:extLst>
            </p:cNvPr>
            <p:cNvSpPr/>
            <p:nvPr/>
          </p:nvSpPr>
          <p:spPr>
            <a:xfrm>
              <a:off x="6381832" y="4654443"/>
              <a:ext cx="1903281" cy="89673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2">
                      <a:lumMod val="75000"/>
                    </a:schemeClr>
                  </a:solidFill>
                </a:rPr>
                <a:t>Runtime FW</a:t>
              </a:r>
            </a:p>
            <a:p>
              <a:pPr algn="ctr"/>
              <a:r>
                <a:rPr lang="en-GB">
                  <a:solidFill>
                    <a:schemeClr val="accent2">
                      <a:lumMod val="75000"/>
                    </a:schemeClr>
                  </a:solidFill>
                </a:rPr>
                <a:t>Post-boot services</a:t>
              </a:r>
            </a:p>
            <a:p>
              <a:pPr algn="ctr"/>
              <a:r>
                <a:rPr lang="en-GB">
                  <a:solidFill>
                    <a:schemeClr val="accent2">
                      <a:lumMod val="75000"/>
                    </a:schemeClr>
                  </a:solidFill>
                </a:rPr>
                <a:t>Attestation requests</a:t>
              </a:r>
            </a:p>
            <a:p>
              <a:pPr algn="ctr"/>
              <a:r>
                <a:rPr lang="en-GB">
                  <a:solidFill>
                    <a:schemeClr val="accent2">
                      <a:lumMod val="75000"/>
                    </a:schemeClr>
                  </a:solidFill>
                </a:rPr>
                <a:t>Crypto services</a:t>
              </a:r>
            </a:p>
            <a:p>
              <a:pPr algn="ctr"/>
              <a:r>
                <a:rPr lang="en-GB">
                  <a:solidFill>
                    <a:schemeClr val="accent2">
                      <a:lumMod val="75000"/>
                    </a:schemeClr>
                  </a:solidFill>
                </a:rPr>
                <a:t>WDT servicing</a:t>
              </a:r>
            </a:p>
            <a:p>
              <a:pPr algn="ctr"/>
              <a:r>
                <a:rPr lang="en-GB">
                  <a:solidFill>
                    <a:schemeClr val="accent2">
                      <a:lumMod val="75000"/>
                    </a:schemeClr>
                  </a:solidFill>
                </a:rPr>
                <a:t>Impactless FW update</a:t>
              </a:r>
            </a:p>
          </p:txBody>
        </p:sp>
      </p:grpSp>
      <p:sp>
        <p:nvSpPr>
          <p:cNvPr id="9" name="TextBox 8">
            <a:extLst>
              <a:ext uri="{FF2B5EF4-FFF2-40B4-BE49-F238E27FC236}">
                <a16:creationId xmlns:a16="http://schemas.microsoft.com/office/drawing/2014/main" id="{9AC11D1C-931D-67DE-2653-CE382ECC3DB6}"/>
              </a:ext>
            </a:extLst>
          </p:cNvPr>
          <p:cNvSpPr txBox="1"/>
          <p:nvPr/>
        </p:nvSpPr>
        <p:spPr>
          <a:xfrm>
            <a:off x="1209205" y="1214653"/>
            <a:ext cx="4886794" cy="369332"/>
          </a:xfrm>
          <a:prstGeom prst="rect">
            <a:avLst/>
          </a:prstGeom>
          <a:noFill/>
        </p:spPr>
        <p:txBody>
          <a:bodyPr wrap="square" rtlCol="0">
            <a:spAutoFit/>
          </a:bodyPr>
          <a:lstStyle/>
          <a:p>
            <a:r>
              <a:rPr lang="en-GB" b="1">
                <a:solidFill>
                  <a:schemeClr val="accent2">
                    <a:lumMod val="75000"/>
                  </a:schemeClr>
                </a:solidFill>
              </a:rPr>
              <a:t>Firmware stack (SW – runs on </a:t>
            </a:r>
            <a:r>
              <a:rPr lang="en-GB" b="1" err="1">
                <a:solidFill>
                  <a:schemeClr val="accent2">
                    <a:lumMod val="75000"/>
                  </a:schemeClr>
                </a:solidFill>
              </a:rPr>
              <a:t>VeeR</a:t>
            </a:r>
            <a:r>
              <a:rPr lang="en-GB" b="1">
                <a:solidFill>
                  <a:schemeClr val="accent2">
                    <a:lumMod val="75000"/>
                  </a:schemeClr>
                </a:solidFill>
              </a:rPr>
              <a:t> EL2)</a:t>
            </a:r>
          </a:p>
        </p:txBody>
      </p:sp>
    </p:spTree>
    <p:extLst>
      <p:ext uri="{BB962C8B-B14F-4D97-AF65-F5344CB8AC3E}">
        <p14:creationId xmlns:p14="http://schemas.microsoft.com/office/powerpoint/2010/main" val="1283287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09D99-2846-67DA-47E0-2D11DA72BABF}"/>
              </a:ext>
            </a:extLst>
          </p:cNvPr>
          <p:cNvSpPr>
            <a:spLocks noGrp="1"/>
          </p:cNvSpPr>
          <p:nvPr>
            <p:ph type="title"/>
          </p:nvPr>
        </p:nvSpPr>
        <p:spPr>
          <a:xfrm>
            <a:off x="0" y="-1"/>
            <a:ext cx="12192000" cy="614597"/>
          </a:xfrm>
          <a:solidFill>
            <a:schemeClr val="accent6">
              <a:lumMod val="60000"/>
              <a:lumOff val="40000"/>
            </a:schemeClr>
          </a:solidFill>
        </p:spPr>
        <p:txBody>
          <a:bodyPr>
            <a:normAutofit fontScale="90000"/>
          </a:bodyPr>
          <a:lstStyle/>
          <a:p>
            <a:r>
              <a:rPr lang="en-GB"/>
              <a:t>Crypto subsystem, Peripherals and SoC Interface Blocks</a:t>
            </a:r>
          </a:p>
        </p:txBody>
      </p:sp>
      <p:sp>
        <p:nvSpPr>
          <p:cNvPr id="10" name="TextBox 9">
            <a:extLst>
              <a:ext uri="{FF2B5EF4-FFF2-40B4-BE49-F238E27FC236}">
                <a16:creationId xmlns:a16="http://schemas.microsoft.com/office/drawing/2014/main" id="{5FCD3EB5-6ECD-A3FD-5A79-983F5FD8D6A0}"/>
              </a:ext>
            </a:extLst>
          </p:cNvPr>
          <p:cNvSpPr txBox="1"/>
          <p:nvPr/>
        </p:nvSpPr>
        <p:spPr>
          <a:xfrm>
            <a:off x="704538" y="1686254"/>
            <a:ext cx="2173573" cy="646331"/>
          </a:xfrm>
          <a:prstGeom prst="rect">
            <a:avLst/>
          </a:prstGeom>
          <a:noFill/>
        </p:spPr>
        <p:txBody>
          <a:bodyPr wrap="square" rtlCol="0">
            <a:spAutoFit/>
          </a:bodyPr>
          <a:lstStyle/>
          <a:p>
            <a:r>
              <a:rPr lang="en-GB">
                <a:solidFill>
                  <a:schemeClr val="tx1"/>
                </a:solidFill>
              </a:rPr>
              <a:t>Crypto subsystem</a:t>
            </a:r>
          </a:p>
          <a:p>
            <a:endParaRPr lang="en-GB"/>
          </a:p>
        </p:txBody>
      </p:sp>
      <p:sp>
        <p:nvSpPr>
          <p:cNvPr id="11" name="Rectangle: Rounded Corners 10">
            <a:extLst>
              <a:ext uri="{FF2B5EF4-FFF2-40B4-BE49-F238E27FC236}">
                <a16:creationId xmlns:a16="http://schemas.microsoft.com/office/drawing/2014/main" id="{767A1D40-6961-E60E-AEB5-5E37F0532D0D}"/>
              </a:ext>
            </a:extLst>
          </p:cNvPr>
          <p:cNvSpPr/>
          <p:nvPr/>
        </p:nvSpPr>
        <p:spPr>
          <a:xfrm>
            <a:off x="565382" y="2183929"/>
            <a:ext cx="2552005" cy="52543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Crypto Init Engine (CIE)</a:t>
            </a:r>
          </a:p>
        </p:txBody>
      </p:sp>
      <p:sp>
        <p:nvSpPr>
          <p:cNvPr id="12" name="Rectangle: Rounded Corners 11">
            <a:extLst>
              <a:ext uri="{FF2B5EF4-FFF2-40B4-BE49-F238E27FC236}">
                <a16:creationId xmlns:a16="http://schemas.microsoft.com/office/drawing/2014/main" id="{BAAA7BFE-E1D2-6B2E-AF7B-AEC0666E863C}"/>
              </a:ext>
            </a:extLst>
          </p:cNvPr>
          <p:cNvSpPr/>
          <p:nvPr/>
        </p:nvSpPr>
        <p:spPr>
          <a:xfrm>
            <a:off x="465260" y="2830260"/>
            <a:ext cx="2652128" cy="52543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ECC Secp384 (ECDSA)</a:t>
            </a:r>
          </a:p>
        </p:txBody>
      </p:sp>
      <p:sp>
        <p:nvSpPr>
          <p:cNvPr id="13" name="Rectangle: Rounded Corners 12">
            <a:extLst>
              <a:ext uri="{FF2B5EF4-FFF2-40B4-BE49-F238E27FC236}">
                <a16:creationId xmlns:a16="http://schemas.microsoft.com/office/drawing/2014/main" id="{14131065-155B-5AD3-D3F9-91002F831996}"/>
              </a:ext>
            </a:extLst>
          </p:cNvPr>
          <p:cNvSpPr/>
          <p:nvPr/>
        </p:nvSpPr>
        <p:spPr>
          <a:xfrm>
            <a:off x="465260" y="3579264"/>
            <a:ext cx="2652128" cy="311894"/>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HMAC-512</a:t>
            </a:r>
          </a:p>
        </p:txBody>
      </p:sp>
      <p:sp>
        <p:nvSpPr>
          <p:cNvPr id="14" name="Rectangle: Rounded Corners 13">
            <a:extLst>
              <a:ext uri="{FF2B5EF4-FFF2-40B4-BE49-F238E27FC236}">
                <a16:creationId xmlns:a16="http://schemas.microsoft.com/office/drawing/2014/main" id="{12D7DE31-131A-403C-26EB-83BCAEFF3F3B}"/>
              </a:ext>
            </a:extLst>
          </p:cNvPr>
          <p:cNvSpPr/>
          <p:nvPr/>
        </p:nvSpPr>
        <p:spPr>
          <a:xfrm>
            <a:off x="465260" y="4111984"/>
            <a:ext cx="2652128"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SHA-512/ SHA-256</a:t>
            </a:r>
          </a:p>
        </p:txBody>
      </p:sp>
      <p:sp>
        <p:nvSpPr>
          <p:cNvPr id="15" name="Rectangle: Rounded Corners 14">
            <a:extLst>
              <a:ext uri="{FF2B5EF4-FFF2-40B4-BE49-F238E27FC236}">
                <a16:creationId xmlns:a16="http://schemas.microsoft.com/office/drawing/2014/main" id="{5992B2F4-2B4A-9D32-1E96-91ACBB1FCC1B}"/>
              </a:ext>
            </a:extLst>
          </p:cNvPr>
          <p:cNvSpPr/>
          <p:nvPr/>
        </p:nvSpPr>
        <p:spPr>
          <a:xfrm>
            <a:off x="465260" y="4704196"/>
            <a:ext cx="2652128"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AES-128/192/256</a:t>
            </a:r>
          </a:p>
        </p:txBody>
      </p:sp>
      <p:sp>
        <p:nvSpPr>
          <p:cNvPr id="16" name="Rectangle: Rounded Corners 15">
            <a:extLst>
              <a:ext uri="{FF2B5EF4-FFF2-40B4-BE49-F238E27FC236}">
                <a16:creationId xmlns:a16="http://schemas.microsoft.com/office/drawing/2014/main" id="{EB5E4F74-D387-E4BC-E2DF-939AAB04DE85}"/>
              </a:ext>
            </a:extLst>
          </p:cNvPr>
          <p:cNvSpPr/>
          <p:nvPr/>
        </p:nvSpPr>
        <p:spPr>
          <a:xfrm>
            <a:off x="465259" y="5140460"/>
            <a:ext cx="2652128"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ABR-ML-DSA/ ML-KEM</a:t>
            </a:r>
          </a:p>
        </p:txBody>
      </p:sp>
      <p:sp>
        <p:nvSpPr>
          <p:cNvPr id="17" name="Rectangle: Rounded Corners 16">
            <a:extLst>
              <a:ext uri="{FF2B5EF4-FFF2-40B4-BE49-F238E27FC236}">
                <a16:creationId xmlns:a16="http://schemas.microsoft.com/office/drawing/2014/main" id="{4D8D5A24-C6BC-3D97-06F7-9821E268F22D}"/>
              </a:ext>
            </a:extLst>
          </p:cNvPr>
          <p:cNvSpPr/>
          <p:nvPr/>
        </p:nvSpPr>
        <p:spPr>
          <a:xfrm>
            <a:off x="515320" y="5710681"/>
            <a:ext cx="1208549"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SHA3</a:t>
            </a:r>
          </a:p>
        </p:txBody>
      </p:sp>
      <p:sp>
        <p:nvSpPr>
          <p:cNvPr id="18" name="Rectangle: Rounded Corners 17">
            <a:extLst>
              <a:ext uri="{FF2B5EF4-FFF2-40B4-BE49-F238E27FC236}">
                <a16:creationId xmlns:a16="http://schemas.microsoft.com/office/drawing/2014/main" id="{51A5208A-D17E-6F65-2555-482E4518CB5B}"/>
              </a:ext>
            </a:extLst>
          </p:cNvPr>
          <p:cNvSpPr/>
          <p:nvPr/>
        </p:nvSpPr>
        <p:spPr>
          <a:xfrm>
            <a:off x="1841384" y="5710680"/>
            <a:ext cx="1208549"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err="1">
                <a:solidFill>
                  <a:schemeClr val="tx1"/>
                </a:solidFill>
              </a:rPr>
              <a:t>KeyVault</a:t>
            </a:r>
            <a:endParaRPr lang="en-GB">
              <a:solidFill>
                <a:schemeClr val="tx1"/>
              </a:solidFill>
            </a:endParaRPr>
          </a:p>
        </p:txBody>
      </p:sp>
      <p:sp>
        <p:nvSpPr>
          <p:cNvPr id="19" name="Rectangle: Rounded Corners 18">
            <a:extLst>
              <a:ext uri="{FF2B5EF4-FFF2-40B4-BE49-F238E27FC236}">
                <a16:creationId xmlns:a16="http://schemas.microsoft.com/office/drawing/2014/main" id="{259811FA-3896-C78C-5AD0-D638E04E456B}"/>
              </a:ext>
            </a:extLst>
          </p:cNvPr>
          <p:cNvSpPr/>
          <p:nvPr/>
        </p:nvSpPr>
        <p:spPr>
          <a:xfrm>
            <a:off x="515320" y="6124952"/>
            <a:ext cx="2534613"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PCR Vault + Data Vault</a:t>
            </a:r>
          </a:p>
        </p:txBody>
      </p:sp>
      <p:grpSp>
        <p:nvGrpSpPr>
          <p:cNvPr id="20" name="Group 19">
            <a:extLst>
              <a:ext uri="{FF2B5EF4-FFF2-40B4-BE49-F238E27FC236}">
                <a16:creationId xmlns:a16="http://schemas.microsoft.com/office/drawing/2014/main" id="{44869FEF-B62C-E9C7-FAD5-282FFE9F1015}"/>
              </a:ext>
            </a:extLst>
          </p:cNvPr>
          <p:cNvGrpSpPr/>
          <p:nvPr/>
        </p:nvGrpSpPr>
        <p:grpSpPr>
          <a:xfrm>
            <a:off x="-59872" y="947850"/>
            <a:ext cx="11827240" cy="5910150"/>
            <a:chOff x="1594287" y="4466060"/>
            <a:chExt cx="7195279" cy="1288724"/>
          </a:xfrm>
        </p:grpSpPr>
        <p:sp>
          <p:nvSpPr>
            <p:cNvPr id="21" name="Rectangle: Rounded Corners 20">
              <a:extLst>
                <a:ext uri="{FF2B5EF4-FFF2-40B4-BE49-F238E27FC236}">
                  <a16:creationId xmlns:a16="http://schemas.microsoft.com/office/drawing/2014/main" id="{EBFEC49E-191E-7C5C-A847-B0D283B2CAC1}"/>
                </a:ext>
              </a:extLst>
            </p:cNvPr>
            <p:cNvSpPr/>
            <p:nvPr/>
          </p:nvSpPr>
          <p:spPr>
            <a:xfrm>
              <a:off x="1594287" y="4466060"/>
              <a:ext cx="7195279" cy="1288724"/>
            </a:xfrm>
            <a:prstGeom prst="round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Rounded Corners 21">
              <a:extLst>
                <a:ext uri="{FF2B5EF4-FFF2-40B4-BE49-F238E27FC236}">
                  <a16:creationId xmlns:a16="http://schemas.microsoft.com/office/drawing/2014/main" id="{97661FBE-9FD3-4433-6DA0-F35450817AD2}"/>
                </a:ext>
              </a:extLst>
            </p:cNvPr>
            <p:cNvSpPr/>
            <p:nvPr/>
          </p:nvSpPr>
          <p:spPr>
            <a:xfrm>
              <a:off x="1719686" y="4485950"/>
              <a:ext cx="2289828" cy="125383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3" name="Rectangle: Rounded Corners 22">
              <a:extLst>
                <a:ext uri="{FF2B5EF4-FFF2-40B4-BE49-F238E27FC236}">
                  <a16:creationId xmlns:a16="http://schemas.microsoft.com/office/drawing/2014/main" id="{B852C8E4-F760-FABE-F356-5FBBDF1F42F6}"/>
                </a:ext>
              </a:extLst>
            </p:cNvPr>
            <p:cNvSpPr/>
            <p:nvPr/>
          </p:nvSpPr>
          <p:spPr>
            <a:xfrm>
              <a:off x="4064685" y="4488473"/>
              <a:ext cx="2004443" cy="125383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Rectangle: Rounded Corners 23">
              <a:extLst>
                <a:ext uri="{FF2B5EF4-FFF2-40B4-BE49-F238E27FC236}">
                  <a16:creationId xmlns:a16="http://schemas.microsoft.com/office/drawing/2014/main" id="{99AED464-C5C1-8E9C-77C5-522430F8C117}"/>
                </a:ext>
              </a:extLst>
            </p:cNvPr>
            <p:cNvSpPr/>
            <p:nvPr/>
          </p:nvSpPr>
          <p:spPr>
            <a:xfrm>
              <a:off x="6220651" y="4485950"/>
              <a:ext cx="2568915" cy="1251181"/>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35" name="Group 34">
            <a:extLst>
              <a:ext uri="{FF2B5EF4-FFF2-40B4-BE49-F238E27FC236}">
                <a16:creationId xmlns:a16="http://schemas.microsoft.com/office/drawing/2014/main" id="{068CB2CD-4BB4-178F-EEEC-85997D802A17}"/>
              </a:ext>
            </a:extLst>
          </p:cNvPr>
          <p:cNvGrpSpPr/>
          <p:nvPr/>
        </p:nvGrpSpPr>
        <p:grpSpPr>
          <a:xfrm>
            <a:off x="302219" y="1125924"/>
            <a:ext cx="3539769" cy="5471217"/>
            <a:chOff x="221566" y="1580493"/>
            <a:chExt cx="3613768" cy="4978205"/>
          </a:xfrm>
        </p:grpSpPr>
        <p:sp>
          <p:nvSpPr>
            <p:cNvPr id="25" name="TextBox 24">
              <a:extLst>
                <a:ext uri="{FF2B5EF4-FFF2-40B4-BE49-F238E27FC236}">
                  <a16:creationId xmlns:a16="http://schemas.microsoft.com/office/drawing/2014/main" id="{6B2B9672-328C-1938-D6B1-9D948F0813D6}"/>
                </a:ext>
              </a:extLst>
            </p:cNvPr>
            <p:cNvSpPr txBox="1"/>
            <p:nvPr/>
          </p:nvSpPr>
          <p:spPr>
            <a:xfrm>
              <a:off x="244796" y="1580493"/>
              <a:ext cx="3590538" cy="588090"/>
            </a:xfrm>
            <a:prstGeom prst="rect">
              <a:avLst/>
            </a:prstGeom>
            <a:noFill/>
          </p:spPr>
          <p:txBody>
            <a:bodyPr wrap="square" rtlCol="0">
              <a:spAutoFit/>
            </a:bodyPr>
            <a:lstStyle/>
            <a:p>
              <a:r>
                <a:rPr lang="en-GB" b="1">
                  <a:solidFill>
                    <a:schemeClr val="accent5">
                      <a:lumMod val="50000"/>
                    </a:schemeClr>
                  </a:solidFill>
                </a:rPr>
                <a:t>Crypto subsystem 0x1000_0000</a:t>
              </a:r>
            </a:p>
            <a:p>
              <a:endParaRPr lang="en-GB"/>
            </a:p>
          </p:txBody>
        </p:sp>
        <p:sp>
          <p:nvSpPr>
            <p:cNvPr id="26" name="Rectangle: Rounded Corners 25">
              <a:extLst>
                <a:ext uri="{FF2B5EF4-FFF2-40B4-BE49-F238E27FC236}">
                  <a16:creationId xmlns:a16="http://schemas.microsoft.com/office/drawing/2014/main" id="{98D61E95-A86F-44FA-719C-3CD12105C967}"/>
                </a:ext>
              </a:extLst>
            </p:cNvPr>
            <p:cNvSpPr/>
            <p:nvPr/>
          </p:nvSpPr>
          <p:spPr>
            <a:xfrm>
              <a:off x="221566" y="1966714"/>
              <a:ext cx="3469793" cy="49418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5">
                      <a:lumMod val="50000"/>
                    </a:schemeClr>
                  </a:solidFill>
                </a:rPr>
                <a:t>Crypto Init Engine (CIE)</a:t>
              </a:r>
            </a:p>
            <a:p>
              <a:pPr algn="ctr"/>
              <a:r>
                <a:rPr lang="en-GB">
                  <a:solidFill>
                    <a:schemeClr val="accent5">
                      <a:lumMod val="50000"/>
                    </a:schemeClr>
                  </a:solidFill>
                </a:rPr>
                <a:t>UDS / field entropy derive</a:t>
              </a:r>
            </a:p>
          </p:txBody>
        </p:sp>
        <p:sp>
          <p:nvSpPr>
            <p:cNvPr id="27" name="Rectangle: Rounded Corners 26">
              <a:extLst>
                <a:ext uri="{FF2B5EF4-FFF2-40B4-BE49-F238E27FC236}">
                  <a16:creationId xmlns:a16="http://schemas.microsoft.com/office/drawing/2014/main" id="{FA3B7971-34B8-DA70-9581-C5D4CB66EF3C}"/>
                </a:ext>
              </a:extLst>
            </p:cNvPr>
            <p:cNvSpPr/>
            <p:nvPr/>
          </p:nvSpPr>
          <p:spPr>
            <a:xfrm>
              <a:off x="263227" y="2567394"/>
              <a:ext cx="3406997" cy="52411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5">
                      <a:lumMod val="50000"/>
                    </a:schemeClr>
                  </a:solidFill>
                </a:rPr>
                <a:t>ECC Secp384 (ECDSA)</a:t>
              </a:r>
            </a:p>
            <a:p>
              <a:pPr algn="ctr"/>
              <a:r>
                <a:rPr lang="en-GB">
                  <a:solidFill>
                    <a:schemeClr val="accent5">
                      <a:lumMod val="50000"/>
                    </a:schemeClr>
                  </a:solidFill>
                </a:rPr>
                <a:t>Sign/verify – 0x1000_8000</a:t>
              </a:r>
            </a:p>
          </p:txBody>
        </p:sp>
        <p:sp>
          <p:nvSpPr>
            <p:cNvPr id="28" name="Rectangle: Rounded Corners 27">
              <a:extLst>
                <a:ext uri="{FF2B5EF4-FFF2-40B4-BE49-F238E27FC236}">
                  <a16:creationId xmlns:a16="http://schemas.microsoft.com/office/drawing/2014/main" id="{4A27A0E7-51ED-29B0-B1FE-11C509596C11}"/>
                </a:ext>
              </a:extLst>
            </p:cNvPr>
            <p:cNvSpPr/>
            <p:nvPr/>
          </p:nvSpPr>
          <p:spPr>
            <a:xfrm>
              <a:off x="263227" y="3197037"/>
              <a:ext cx="3406996" cy="46248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5">
                      <a:lumMod val="50000"/>
                    </a:schemeClr>
                  </a:solidFill>
                </a:rPr>
                <a:t>HMAC-512</a:t>
              </a:r>
            </a:p>
            <a:p>
              <a:pPr algn="ctr"/>
              <a:r>
                <a:rPr lang="en-GB">
                  <a:solidFill>
                    <a:schemeClr val="accent5">
                      <a:lumMod val="50000"/>
                    </a:schemeClr>
                  </a:solidFill>
                </a:rPr>
                <a:t>MAC engine – 0x1001_0000</a:t>
              </a:r>
            </a:p>
          </p:txBody>
        </p:sp>
        <p:sp>
          <p:nvSpPr>
            <p:cNvPr id="29" name="Rectangle: Rounded Corners 28">
              <a:extLst>
                <a:ext uri="{FF2B5EF4-FFF2-40B4-BE49-F238E27FC236}">
                  <a16:creationId xmlns:a16="http://schemas.microsoft.com/office/drawing/2014/main" id="{0C2B0914-62EB-D9C3-28D1-A5EB2BD80946}"/>
                </a:ext>
              </a:extLst>
            </p:cNvPr>
            <p:cNvSpPr/>
            <p:nvPr/>
          </p:nvSpPr>
          <p:spPr>
            <a:xfrm>
              <a:off x="260129" y="3800217"/>
              <a:ext cx="3431230" cy="524110"/>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5">
                      <a:lumMod val="50000"/>
                    </a:schemeClr>
                  </a:solidFill>
                </a:rPr>
                <a:t>SHA-512/ SHA-256</a:t>
              </a:r>
            </a:p>
            <a:p>
              <a:pPr algn="ctr"/>
              <a:r>
                <a:rPr lang="en-GB">
                  <a:solidFill>
                    <a:schemeClr val="accent5">
                      <a:lumMod val="50000"/>
                    </a:schemeClr>
                  </a:solidFill>
                </a:rPr>
                <a:t>Hash – 0x1002_0000</a:t>
              </a:r>
            </a:p>
          </p:txBody>
        </p:sp>
        <p:sp>
          <p:nvSpPr>
            <p:cNvPr id="30" name="Rectangle: Rounded Corners 29">
              <a:extLst>
                <a:ext uri="{FF2B5EF4-FFF2-40B4-BE49-F238E27FC236}">
                  <a16:creationId xmlns:a16="http://schemas.microsoft.com/office/drawing/2014/main" id="{ABC012B5-AEF9-1765-3484-9DF6C7E2B151}"/>
                </a:ext>
              </a:extLst>
            </p:cNvPr>
            <p:cNvSpPr/>
            <p:nvPr/>
          </p:nvSpPr>
          <p:spPr>
            <a:xfrm>
              <a:off x="223660" y="4456498"/>
              <a:ext cx="3446563" cy="509909"/>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5">
                      <a:lumMod val="50000"/>
                    </a:schemeClr>
                  </a:solidFill>
                </a:rPr>
                <a:t>AES-128/192/256</a:t>
              </a:r>
            </a:p>
            <a:p>
              <a:pPr algn="ctr"/>
              <a:r>
                <a:rPr lang="en-GB">
                  <a:solidFill>
                    <a:schemeClr val="accent5">
                      <a:lumMod val="50000"/>
                    </a:schemeClr>
                  </a:solidFill>
                </a:rPr>
                <a:t>ECB CBC CFB OFB CTR GCM</a:t>
              </a:r>
            </a:p>
          </p:txBody>
        </p:sp>
        <p:sp>
          <p:nvSpPr>
            <p:cNvPr id="31" name="Rectangle: Rounded Corners 30">
              <a:extLst>
                <a:ext uri="{FF2B5EF4-FFF2-40B4-BE49-F238E27FC236}">
                  <a16:creationId xmlns:a16="http://schemas.microsoft.com/office/drawing/2014/main" id="{92E00B08-A872-8DFC-66D9-04FD303C6804}"/>
                </a:ext>
              </a:extLst>
            </p:cNvPr>
            <p:cNvSpPr/>
            <p:nvPr/>
          </p:nvSpPr>
          <p:spPr>
            <a:xfrm>
              <a:off x="260129" y="5045088"/>
              <a:ext cx="3410094" cy="50339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5">
                      <a:lumMod val="50000"/>
                    </a:schemeClr>
                  </a:solidFill>
                </a:rPr>
                <a:t>ABR-ML-DSA/ ML-KEM</a:t>
              </a:r>
            </a:p>
            <a:p>
              <a:pPr algn="ctr"/>
              <a:r>
                <a:rPr lang="en-GB">
                  <a:solidFill>
                    <a:schemeClr val="accent5">
                      <a:lumMod val="50000"/>
                    </a:schemeClr>
                  </a:solidFill>
                </a:rPr>
                <a:t>Adams Bridge – 0x1003_0000</a:t>
              </a:r>
            </a:p>
          </p:txBody>
        </p:sp>
        <p:sp>
          <p:nvSpPr>
            <p:cNvPr id="32" name="Rectangle: Rounded Corners 31">
              <a:extLst>
                <a:ext uri="{FF2B5EF4-FFF2-40B4-BE49-F238E27FC236}">
                  <a16:creationId xmlns:a16="http://schemas.microsoft.com/office/drawing/2014/main" id="{898002F6-B581-49B2-6EC5-4051FF42D5EA}"/>
                </a:ext>
              </a:extLst>
            </p:cNvPr>
            <p:cNvSpPr/>
            <p:nvPr/>
          </p:nvSpPr>
          <p:spPr>
            <a:xfrm>
              <a:off x="260129" y="5606267"/>
              <a:ext cx="1778567" cy="459943"/>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5">
                      <a:lumMod val="50000"/>
                    </a:schemeClr>
                  </a:solidFill>
                </a:rPr>
                <a:t>SHA3</a:t>
              </a:r>
            </a:p>
            <a:p>
              <a:pPr algn="ctr"/>
              <a:r>
                <a:rPr lang="en-GB">
                  <a:solidFill>
                    <a:schemeClr val="accent5">
                      <a:lumMod val="50000"/>
                    </a:schemeClr>
                  </a:solidFill>
                </a:rPr>
                <a:t>0x1004_0000</a:t>
              </a:r>
            </a:p>
          </p:txBody>
        </p:sp>
        <p:sp>
          <p:nvSpPr>
            <p:cNvPr id="33" name="Rectangle: Rounded Corners 32">
              <a:extLst>
                <a:ext uri="{FF2B5EF4-FFF2-40B4-BE49-F238E27FC236}">
                  <a16:creationId xmlns:a16="http://schemas.microsoft.com/office/drawing/2014/main" id="{5BBDB23F-0228-34A2-15EE-2A1F0B4A17DD}"/>
                </a:ext>
              </a:extLst>
            </p:cNvPr>
            <p:cNvSpPr/>
            <p:nvPr/>
          </p:nvSpPr>
          <p:spPr>
            <a:xfrm>
              <a:off x="2082451" y="5609909"/>
              <a:ext cx="1575962" cy="459943"/>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5">
                      <a:lumMod val="50000"/>
                    </a:schemeClr>
                  </a:solidFill>
                </a:rPr>
                <a:t>Key Vault</a:t>
              </a:r>
            </a:p>
            <a:p>
              <a:pPr algn="ctr"/>
              <a:r>
                <a:rPr lang="en-GB">
                  <a:solidFill>
                    <a:schemeClr val="accent5">
                      <a:lumMod val="50000"/>
                    </a:schemeClr>
                  </a:solidFill>
                </a:rPr>
                <a:t>0x1001_8000</a:t>
              </a:r>
            </a:p>
          </p:txBody>
        </p:sp>
        <p:sp>
          <p:nvSpPr>
            <p:cNvPr id="34" name="Rectangle: Rounded Corners 33">
              <a:extLst>
                <a:ext uri="{FF2B5EF4-FFF2-40B4-BE49-F238E27FC236}">
                  <a16:creationId xmlns:a16="http://schemas.microsoft.com/office/drawing/2014/main" id="{3533AB85-E998-22BF-E619-628591AE32E3}"/>
                </a:ext>
              </a:extLst>
            </p:cNvPr>
            <p:cNvSpPr/>
            <p:nvPr/>
          </p:nvSpPr>
          <p:spPr>
            <a:xfrm>
              <a:off x="260129" y="6153837"/>
              <a:ext cx="3398285" cy="40486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5">
                      <a:lumMod val="50000"/>
                    </a:schemeClr>
                  </a:solidFill>
                </a:rPr>
                <a:t>PCR Vault + Data Vault</a:t>
              </a:r>
            </a:p>
            <a:p>
              <a:pPr algn="ctr"/>
              <a:r>
                <a:rPr lang="en-GB">
                  <a:solidFill>
                    <a:schemeClr val="accent5">
                      <a:lumMod val="50000"/>
                    </a:schemeClr>
                  </a:solidFill>
                </a:rPr>
                <a:t>Measurement storage</a:t>
              </a:r>
            </a:p>
          </p:txBody>
        </p:sp>
      </p:grpSp>
      <p:sp>
        <p:nvSpPr>
          <p:cNvPr id="36" name="TextBox 35">
            <a:extLst>
              <a:ext uri="{FF2B5EF4-FFF2-40B4-BE49-F238E27FC236}">
                <a16:creationId xmlns:a16="http://schemas.microsoft.com/office/drawing/2014/main" id="{5FF44F5D-AB8D-8999-5EFF-FF22A34439D3}"/>
              </a:ext>
            </a:extLst>
          </p:cNvPr>
          <p:cNvSpPr txBox="1"/>
          <p:nvPr/>
        </p:nvSpPr>
        <p:spPr>
          <a:xfrm>
            <a:off x="4308187" y="1200735"/>
            <a:ext cx="2774117" cy="646331"/>
          </a:xfrm>
          <a:prstGeom prst="rect">
            <a:avLst/>
          </a:prstGeom>
          <a:noFill/>
        </p:spPr>
        <p:txBody>
          <a:bodyPr wrap="square" rtlCol="0">
            <a:spAutoFit/>
          </a:bodyPr>
          <a:lstStyle/>
          <a:p>
            <a:r>
              <a:rPr lang="en-GB" b="1"/>
              <a:t>Peripherals 0x2000_0000</a:t>
            </a:r>
            <a:endParaRPr lang="en-GB" b="1">
              <a:solidFill>
                <a:schemeClr val="tx1"/>
              </a:solidFill>
            </a:endParaRPr>
          </a:p>
          <a:p>
            <a:endParaRPr lang="en-GB"/>
          </a:p>
        </p:txBody>
      </p:sp>
      <p:sp>
        <p:nvSpPr>
          <p:cNvPr id="37" name="Rectangle: Rounded Corners 36">
            <a:extLst>
              <a:ext uri="{FF2B5EF4-FFF2-40B4-BE49-F238E27FC236}">
                <a16:creationId xmlns:a16="http://schemas.microsoft.com/office/drawing/2014/main" id="{C34A9315-928C-2B49-F67B-80049B8F4F8A}"/>
              </a:ext>
            </a:extLst>
          </p:cNvPr>
          <p:cNvSpPr/>
          <p:nvPr/>
        </p:nvSpPr>
        <p:spPr>
          <a:xfrm>
            <a:off x="4178393" y="1603087"/>
            <a:ext cx="2958398" cy="801450"/>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3">
                    <a:lumMod val="50000"/>
                  </a:schemeClr>
                </a:solidFill>
              </a:rPr>
              <a:t>CSRNG</a:t>
            </a:r>
          </a:p>
          <a:p>
            <a:pPr algn="ctr"/>
            <a:r>
              <a:rPr lang="en-GB">
                <a:solidFill>
                  <a:schemeClr val="accent3">
                    <a:lumMod val="50000"/>
                  </a:schemeClr>
                </a:solidFill>
              </a:rPr>
              <a:t>Crypto-secure RNG 0x2000_2000</a:t>
            </a:r>
          </a:p>
        </p:txBody>
      </p:sp>
      <p:sp>
        <p:nvSpPr>
          <p:cNvPr id="38" name="TextBox 37">
            <a:extLst>
              <a:ext uri="{FF2B5EF4-FFF2-40B4-BE49-F238E27FC236}">
                <a16:creationId xmlns:a16="http://schemas.microsoft.com/office/drawing/2014/main" id="{E13DE32B-B760-6D40-C8F1-ED200418E6B9}"/>
              </a:ext>
            </a:extLst>
          </p:cNvPr>
          <p:cNvSpPr txBox="1"/>
          <p:nvPr/>
        </p:nvSpPr>
        <p:spPr>
          <a:xfrm>
            <a:off x="8151940" y="1200735"/>
            <a:ext cx="3064125" cy="646331"/>
          </a:xfrm>
          <a:prstGeom prst="rect">
            <a:avLst/>
          </a:prstGeom>
          <a:noFill/>
        </p:spPr>
        <p:txBody>
          <a:bodyPr wrap="square" rtlCol="0">
            <a:spAutoFit/>
          </a:bodyPr>
          <a:lstStyle/>
          <a:p>
            <a:r>
              <a:rPr lang="en-GB" b="1">
                <a:solidFill>
                  <a:schemeClr val="bg2">
                    <a:lumMod val="10000"/>
                  </a:schemeClr>
                </a:solidFill>
              </a:rPr>
              <a:t>SoC Interface 0x3000_0000</a:t>
            </a:r>
          </a:p>
          <a:p>
            <a:endParaRPr lang="en-GB"/>
          </a:p>
        </p:txBody>
      </p:sp>
      <p:sp>
        <p:nvSpPr>
          <p:cNvPr id="39" name="Rectangle: Rounded Corners 38">
            <a:extLst>
              <a:ext uri="{FF2B5EF4-FFF2-40B4-BE49-F238E27FC236}">
                <a16:creationId xmlns:a16="http://schemas.microsoft.com/office/drawing/2014/main" id="{389FBDA5-6F10-AD04-2B96-F5C4D335A718}"/>
              </a:ext>
            </a:extLst>
          </p:cNvPr>
          <p:cNvSpPr/>
          <p:nvPr/>
        </p:nvSpPr>
        <p:spPr>
          <a:xfrm>
            <a:off x="7734610" y="1586557"/>
            <a:ext cx="3942070" cy="833059"/>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2">
                    <a:lumMod val="10000"/>
                  </a:schemeClr>
                </a:solidFill>
              </a:rPr>
              <a:t>Mailbox FSM + SRAM 256 KiB</a:t>
            </a:r>
          </a:p>
          <a:p>
            <a:pPr algn="ctr"/>
            <a:r>
              <a:rPr lang="en-GB" dirty="0">
                <a:solidFill>
                  <a:schemeClr val="bg2">
                    <a:lumMod val="10000"/>
                  </a:schemeClr>
                </a:solidFill>
              </a:rPr>
              <a:t>.FW load .protocol lock</a:t>
            </a:r>
          </a:p>
          <a:p>
            <a:pPr algn="ctr"/>
            <a:r>
              <a:rPr lang="en-GB" dirty="0">
                <a:solidFill>
                  <a:schemeClr val="bg2">
                    <a:lumMod val="10000"/>
                  </a:schemeClr>
                </a:solidFill>
              </a:rPr>
              <a:t>0x3002_0000/0x3004_0000</a:t>
            </a:r>
          </a:p>
        </p:txBody>
      </p:sp>
      <p:sp>
        <p:nvSpPr>
          <p:cNvPr id="40" name="Rectangle: Rounded Corners 39">
            <a:extLst>
              <a:ext uri="{FF2B5EF4-FFF2-40B4-BE49-F238E27FC236}">
                <a16:creationId xmlns:a16="http://schemas.microsoft.com/office/drawing/2014/main" id="{3C0852BF-1400-ED30-AE34-25A901664C29}"/>
              </a:ext>
            </a:extLst>
          </p:cNvPr>
          <p:cNvSpPr/>
          <p:nvPr/>
        </p:nvSpPr>
        <p:spPr>
          <a:xfrm>
            <a:off x="4178391" y="2488403"/>
            <a:ext cx="2958397" cy="796972"/>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3">
                    <a:lumMod val="50000"/>
                  </a:schemeClr>
                </a:solidFill>
              </a:rPr>
              <a:t>Entropy source</a:t>
            </a:r>
          </a:p>
          <a:p>
            <a:pPr algn="ctr"/>
            <a:r>
              <a:rPr lang="en-GB">
                <a:solidFill>
                  <a:schemeClr val="accent3">
                    <a:lumMod val="50000"/>
                  </a:schemeClr>
                </a:solidFill>
              </a:rPr>
              <a:t>Physical RNG seed</a:t>
            </a:r>
          </a:p>
          <a:p>
            <a:pPr algn="ctr"/>
            <a:r>
              <a:rPr lang="en-GB">
                <a:solidFill>
                  <a:schemeClr val="accent3">
                    <a:lumMod val="50000"/>
                  </a:schemeClr>
                </a:solidFill>
              </a:rPr>
              <a:t>0x2000_3000</a:t>
            </a:r>
          </a:p>
        </p:txBody>
      </p:sp>
      <p:sp>
        <p:nvSpPr>
          <p:cNvPr id="41" name="Rectangle: Rounded Corners 40">
            <a:extLst>
              <a:ext uri="{FF2B5EF4-FFF2-40B4-BE49-F238E27FC236}">
                <a16:creationId xmlns:a16="http://schemas.microsoft.com/office/drawing/2014/main" id="{BA644243-B676-BA45-F8B9-FFCA8A85802C}"/>
              </a:ext>
            </a:extLst>
          </p:cNvPr>
          <p:cNvSpPr/>
          <p:nvPr/>
        </p:nvSpPr>
        <p:spPr>
          <a:xfrm>
            <a:off x="4178390" y="3289825"/>
            <a:ext cx="2958398" cy="796972"/>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3">
                    <a:lumMod val="50000"/>
                  </a:schemeClr>
                </a:solidFill>
              </a:rPr>
              <a:t>Watchdog timer</a:t>
            </a:r>
          </a:p>
          <a:p>
            <a:pPr algn="ctr"/>
            <a:r>
              <a:rPr lang="en-GB">
                <a:solidFill>
                  <a:schemeClr val="accent3">
                    <a:lumMod val="50000"/>
                  </a:schemeClr>
                </a:solidFill>
              </a:rPr>
              <a:t>2-stage cascade NMI on timeout</a:t>
            </a:r>
          </a:p>
        </p:txBody>
      </p:sp>
      <p:sp>
        <p:nvSpPr>
          <p:cNvPr id="42" name="Rectangle: Rounded Corners 41">
            <a:extLst>
              <a:ext uri="{FF2B5EF4-FFF2-40B4-BE49-F238E27FC236}">
                <a16:creationId xmlns:a16="http://schemas.microsoft.com/office/drawing/2014/main" id="{AA05384E-90F1-5F57-C97A-AF7142E29FEA}"/>
              </a:ext>
            </a:extLst>
          </p:cNvPr>
          <p:cNvSpPr/>
          <p:nvPr/>
        </p:nvSpPr>
        <p:spPr>
          <a:xfrm>
            <a:off x="4178390" y="4183849"/>
            <a:ext cx="2958398" cy="796972"/>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3">
                    <a:lumMod val="50000"/>
                  </a:schemeClr>
                </a:solidFill>
              </a:rPr>
              <a:t>ICCM 256 KiB</a:t>
            </a:r>
          </a:p>
          <a:p>
            <a:pPr algn="ctr"/>
            <a:r>
              <a:rPr lang="en-GB">
                <a:solidFill>
                  <a:schemeClr val="accent3">
                    <a:lumMod val="50000"/>
                  </a:schemeClr>
                </a:solidFill>
              </a:rPr>
              <a:t>Instruction memory </a:t>
            </a:r>
          </a:p>
          <a:p>
            <a:pPr algn="ctr"/>
            <a:r>
              <a:rPr lang="en-GB">
                <a:solidFill>
                  <a:schemeClr val="accent3">
                    <a:lumMod val="50000"/>
                  </a:schemeClr>
                </a:solidFill>
              </a:rPr>
              <a:t>0x4000_0000</a:t>
            </a:r>
          </a:p>
        </p:txBody>
      </p:sp>
      <p:sp>
        <p:nvSpPr>
          <p:cNvPr id="43" name="Rectangle: Rounded Corners 42">
            <a:extLst>
              <a:ext uri="{FF2B5EF4-FFF2-40B4-BE49-F238E27FC236}">
                <a16:creationId xmlns:a16="http://schemas.microsoft.com/office/drawing/2014/main" id="{FA0D45A1-C4BA-91C7-9230-402FB4858AED}"/>
              </a:ext>
            </a:extLst>
          </p:cNvPr>
          <p:cNvSpPr/>
          <p:nvPr/>
        </p:nvSpPr>
        <p:spPr>
          <a:xfrm>
            <a:off x="4188383" y="5127103"/>
            <a:ext cx="2948405" cy="796972"/>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accent3">
                    <a:lumMod val="50000"/>
                  </a:schemeClr>
                </a:solidFill>
              </a:rPr>
              <a:t>DCCM 256 KiB</a:t>
            </a:r>
          </a:p>
          <a:p>
            <a:pPr algn="ctr"/>
            <a:r>
              <a:rPr lang="en-GB">
                <a:solidFill>
                  <a:schemeClr val="accent3">
                    <a:lumMod val="50000"/>
                  </a:schemeClr>
                </a:solidFill>
              </a:rPr>
              <a:t>Data memory</a:t>
            </a:r>
          </a:p>
          <a:p>
            <a:pPr algn="ctr"/>
            <a:r>
              <a:rPr lang="en-GB">
                <a:solidFill>
                  <a:schemeClr val="accent3">
                    <a:lumMod val="50000"/>
                  </a:schemeClr>
                </a:solidFill>
              </a:rPr>
              <a:t>0x5000_0000</a:t>
            </a:r>
          </a:p>
        </p:txBody>
      </p:sp>
      <p:sp>
        <p:nvSpPr>
          <p:cNvPr id="44" name="Rectangle: Rounded Corners 43">
            <a:extLst>
              <a:ext uri="{FF2B5EF4-FFF2-40B4-BE49-F238E27FC236}">
                <a16:creationId xmlns:a16="http://schemas.microsoft.com/office/drawing/2014/main" id="{175C5FB8-2A41-900A-874E-1595EE670262}"/>
              </a:ext>
            </a:extLst>
          </p:cNvPr>
          <p:cNvSpPr/>
          <p:nvPr/>
        </p:nvSpPr>
        <p:spPr>
          <a:xfrm>
            <a:off x="4207309" y="6022576"/>
            <a:ext cx="2929479" cy="489659"/>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3">
                    <a:lumMod val="50000"/>
                  </a:schemeClr>
                </a:solidFill>
              </a:rPr>
              <a:t>Boot FSM</a:t>
            </a:r>
          </a:p>
          <a:p>
            <a:pPr algn="ctr"/>
            <a:r>
              <a:rPr lang="en-GB" dirty="0">
                <a:solidFill>
                  <a:schemeClr val="accent3">
                    <a:lumMod val="50000"/>
                  </a:schemeClr>
                </a:solidFill>
              </a:rPr>
              <a:t>FUSE</a:t>
            </a:r>
            <a:r>
              <a:rPr lang="en-GB" dirty="0">
                <a:solidFill>
                  <a:schemeClr val="accent3">
                    <a:lumMod val="50000"/>
                  </a:schemeClr>
                </a:solidFill>
                <a:sym typeface="Wingdings" panose="05000000000000000000" pitchFamily="2" charset="2"/>
              </a:rPr>
              <a:t>DONE states</a:t>
            </a:r>
            <a:endParaRPr lang="en-GB" dirty="0">
              <a:solidFill>
                <a:schemeClr val="accent3">
                  <a:lumMod val="50000"/>
                </a:schemeClr>
              </a:solidFill>
            </a:endParaRPr>
          </a:p>
        </p:txBody>
      </p:sp>
      <p:sp>
        <p:nvSpPr>
          <p:cNvPr id="45" name="Rectangle: Rounded Corners 44">
            <a:extLst>
              <a:ext uri="{FF2B5EF4-FFF2-40B4-BE49-F238E27FC236}">
                <a16:creationId xmlns:a16="http://schemas.microsoft.com/office/drawing/2014/main" id="{A08579ED-F963-A989-9180-719AA4E16F4C}"/>
              </a:ext>
            </a:extLst>
          </p:cNvPr>
          <p:cNvSpPr/>
          <p:nvPr/>
        </p:nvSpPr>
        <p:spPr>
          <a:xfrm>
            <a:off x="7734610" y="2518562"/>
            <a:ext cx="3942070" cy="76681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2">
                    <a:lumMod val="10000"/>
                  </a:schemeClr>
                </a:solidFill>
              </a:rPr>
              <a:t>AXI DMA Assist Engine</a:t>
            </a:r>
          </a:p>
          <a:p>
            <a:pPr algn="ctr"/>
            <a:r>
              <a:rPr lang="en-GB">
                <a:solidFill>
                  <a:schemeClr val="bg2">
                    <a:lumMod val="10000"/>
                  </a:schemeClr>
                </a:solidFill>
              </a:rPr>
              <a:t>Streaming SHA/AES-LOCK</a:t>
            </a:r>
          </a:p>
          <a:p>
            <a:pPr algn="ctr"/>
            <a:r>
              <a:rPr lang="en-GB">
                <a:solidFill>
                  <a:schemeClr val="bg2">
                    <a:lumMod val="10000"/>
                  </a:schemeClr>
                </a:solidFill>
              </a:rPr>
              <a:t>0x3002_2000</a:t>
            </a:r>
          </a:p>
        </p:txBody>
      </p:sp>
      <p:sp>
        <p:nvSpPr>
          <p:cNvPr id="46" name="Rectangle: Rounded Corners 45">
            <a:extLst>
              <a:ext uri="{FF2B5EF4-FFF2-40B4-BE49-F238E27FC236}">
                <a16:creationId xmlns:a16="http://schemas.microsoft.com/office/drawing/2014/main" id="{6702B945-5171-03D5-9997-C8E02515C5C2}"/>
              </a:ext>
            </a:extLst>
          </p:cNvPr>
          <p:cNvSpPr/>
          <p:nvPr/>
        </p:nvSpPr>
        <p:spPr>
          <a:xfrm>
            <a:off x="7734610" y="3466813"/>
            <a:ext cx="3942070" cy="76681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2">
                    <a:lumMod val="10000"/>
                  </a:schemeClr>
                </a:solidFill>
              </a:rPr>
              <a:t>SoC IFC CSR</a:t>
            </a:r>
          </a:p>
          <a:p>
            <a:pPr algn="ctr"/>
            <a:r>
              <a:rPr lang="en-GB">
                <a:solidFill>
                  <a:schemeClr val="bg2">
                    <a:lumMod val="10000"/>
                  </a:schemeClr>
                </a:solidFill>
              </a:rPr>
              <a:t>.Fuse regs .timer .flow ctrl</a:t>
            </a:r>
          </a:p>
          <a:p>
            <a:pPr algn="ctr"/>
            <a:r>
              <a:rPr lang="en-GB">
                <a:solidFill>
                  <a:schemeClr val="bg2">
                    <a:lumMod val="10000"/>
                  </a:schemeClr>
                </a:solidFill>
              </a:rPr>
              <a:t>0x3003_0000 </a:t>
            </a:r>
          </a:p>
        </p:txBody>
      </p:sp>
      <p:sp>
        <p:nvSpPr>
          <p:cNvPr id="47" name="Rectangle: Rounded Corners 46">
            <a:extLst>
              <a:ext uri="{FF2B5EF4-FFF2-40B4-BE49-F238E27FC236}">
                <a16:creationId xmlns:a16="http://schemas.microsoft.com/office/drawing/2014/main" id="{C66F29E5-1810-C0B0-93DE-73300899DE7A}"/>
              </a:ext>
            </a:extLst>
          </p:cNvPr>
          <p:cNvSpPr/>
          <p:nvPr/>
        </p:nvSpPr>
        <p:spPr>
          <a:xfrm>
            <a:off x="7740974" y="4383110"/>
            <a:ext cx="3935706" cy="743993"/>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2">
                    <a:lumMod val="10000"/>
                  </a:schemeClr>
                </a:solidFill>
              </a:rPr>
              <a:t>SHA-512 Accelerator</a:t>
            </a:r>
          </a:p>
          <a:p>
            <a:pPr algn="ctr"/>
            <a:r>
              <a:rPr lang="en-GB">
                <a:solidFill>
                  <a:schemeClr val="bg2">
                    <a:lumMod val="10000"/>
                  </a:schemeClr>
                </a:solidFill>
              </a:rPr>
              <a:t>Save/restore .streaming</a:t>
            </a:r>
          </a:p>
          <a:p>
            <a:pPr algn="ctr"/>
            <a:r>
              <a:rPr lang="en-GB">
                <a:solidFill>
                  <a:schemeClr val="bg2">
                    <a:lumMod val="10000"/>
                  </a:schemeClr>
                </a:solidFill>
              </a:rPr>
              <a:t>0x3002_1000 </a:t>
            </a:r>
          </a:p>
        </p:txBody>
      </p:sp>
      <p:sp>
        <p:nvSpPr>
          <p:cNvPr id="48" name="Rectangle: Rounded Corners 47">
            <a:extLst>
              <a:ext uri="{FF2B5EF4-FFF2-40B4-BE49-F238E27FC236}">
                <a16:creationId xmlns:a16="http://schemas.microsoft.com/office/drawing/2014/main" id="{77862FEE-C53D-C159-0869-04E78C99C74F}"/>
              </a:ext>
            </a:extLst>
          </p:cNvPr>
          <p:cNvSpPr/>
          <p:nvPr/>
        </p:nvSpPr>
        <p:spPr>
          <a:xfrm>
            <a:off x="7729407" y="5268577"/>
            <a:ext cx="1875501" cy="847563"/>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2">
                    <a:lumMod val="10000"/>
                  </a:schemeClr>
                </a:solidFill>
              </a:rPr>
              <a:t>TAP/JTAG</a:t>
            </a:r>
          </a:p>
          <a:p>
            <a:pPr algn="ctr"/>
            <a:r>
              <a:rPr lang="en-GB">
                <a:solidFill>
                  <a:schemeClr val="bg2">
                    <a:lumMod val="10000"/>
                  </a:schemeClr>
                </a:solidFill>
              </a:rPr>
              <a:t>Debug/auth breakpoint</a:t>
            </a:r>
          </a:p>
        </p:txBody>
      </p:sp>
      <p:sp>
        <p:nvSpPr>
          <p:cNvPr id="49" name="Rectangle: Rounded Corners 48">
            <a:extLst>
              <a:ext uri="{FF2B5EF4-FFF2-40B4-BE49-F238E27FC236}">
                <a16:creationId xmlns:a16="http://schemas.microsoft.com/office/drawing/2014/main" id="{3BFBF89D-54FE-1572-9C0F-FD672D8EA76F}"/>
              </a:ext>
            </a:extLst>
          </p:cNvPr>
          <p:cNvSpPr/>
          <p:nvPr/>
        </p:nvSpPr>
        <p:spPr>
          <a:xfrm>
            <a:off x="9684003" y="5268576"/>
            <a:ext cx="2042738" cy="847563"/>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2">
                    <a:lumMod val="10000"/>
                  </a:schemeClr>
                </a:solidFill>
              </a:rPr>
              <a:t>AXI subordinate</a:t>
            </a:r>
          </a:p>
          <a:p>
            <a:pPr algn="ctr"/>
            <a:r>
              <a:rPr lang="en-GB">
                <a:solidFill>
                  <a:schemeClr val="bg2">
                    <a:lumMod val="10000"/>
                  </a:schemeClr>
                </a:solidFill>
              </a:rPr>
              <a:t>SoC inbound</a:t>
            </a:r>
          </a:p>
          <a:p>
            <a:pPr algn="ctr"/>
            <a:r>
              <a:rPr lang="en-GB">
                <a:solidFill>
                  <a:schemeClr val="bg2">
                    <a:lumMod val="10000"/>
                  </a:schemeClr>
                </a:solidFill>
              </a:rPr>
              <a:t>R/W access</a:t>
            </a:r>
          </a:p>
        </p:txBody>
      </p:sp>
      <p:sp>
        <p:nvSpPr>
          <p:cNvPr id="50" name="Rectangle: Rounded Corners 49">
            <a:extLst>
              <a:ext uri="{FF2B5EF4-FFF2-40B4-BE49-F238E27FC236}">
                <a16:creationId xmlns:a16="http://schemas.microsoft.com/office/drawing/2014/main" id="{9B809A8D-145F-D2D0-F823-79DA092CFCB1}"/>
              </a:ext>
            </a:extLst>
          </p:cNvPr>
          <p:cNvSpPr/>
          <p:nvPr/>
        </p:nvSpPr>
        <p:spPr>
          <a:xfrm>
            <a:off x="7812496" y="6184038"/>
            <a:ext cx="3729930" cy="465088"/>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2">
                    <a:lumMod val="10000"/>
                  </a:schemeClr>
                </a:solidFill>
              </a:rPr>
              <a:t>AXI manager (outbound)</a:t>
            </a:r>
          </a:p>
          <a:p>
            <a:pPr algn="ctr"/>
            <a:r>
              <a:rPr lang="en-GB">
                <a:solidFill>
                  <a:schemeClr val="bg2">
                    <a:lumMod val="10000"/>
                  </a:schemeClr>
                </a:solidFill>
              </a:rPr>
              <a:t>Chip Trust initiates SoC reads</a:t>
            </a:r>
          </a:p>
        </p:txBody>
      </p:sp>
    </p:spTree>
    <p:extLst>
      <p:ext uri="{BB962C8B-B14F-4D97-AF65-F5344CB8AC3E}">
        <p14:creationId xmlns:p14="http://schemas.microsoft.com/office/powerpoint/2010/main" val="517030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24" name="Group 23">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5" name="Freeform: Shape 14">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5" name="Title 1">
            <a:extLst>
              <a:ext uri="{FF2B5EF4-FFF2-40B4-BE49-F238E27FC236}">
                <a16:creationId xmlns:a16="http://schemas.microsoft.com/office/drawing/2014/main" id="{0FF9ABC2-51F2-FDCF-80AC-B23892E3E89A}"/>
              </a:ext>
            </a:extLst>
          </p:cNvPr>
          <p:cNvSpPr txBox="1">
            <a:spLocks/>
          </p:cNvSpPr>
          <p:nvPr/>
        </p:nvSpPr>
        <p:spPr>
          <a:xfrm>
            <a:off x="3045368" y="2043663"/>
            <a:ext cx="6105194" cy="2031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5200" kern="1200">
                <a:solidFill>
                  <a:schemeClr val="tx2"/>
                </a:solidFill>
                <a:latin typeface="+mj-lt"/>
                <a:ea typeface="+mj-ea"/>
                <a:cs typeface="+mj-cs"/>
              </a:rPr>
              <a:t>MicroArchitecture </a:t>
            </a:r>
          </a:p>
        </p:txBody>
      </p:sp>
    </p:spTree>
    <p:extLst>
      <p:ext uri="{BB962C8B-B14F-4D97-AF65-F5344CB8AC3E}">
        <p14:creationId xmlns:p14="http://schemas.microsoft.com/office/powerpoint/2010/main" val="2402938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val 23">
            <a:extLst>
              <a:ext uri="{FF2B5EF4-FFF2-40B4-BE49-F238E27FC236}">
                <a16:creationId xmlns:a16="http://schemas.microsoft.com/office/drawing/2014/main" id="{EA374EDE-2726-31F6-B30D-F448C07ACCE8}"/>
              </a:ext>
            </a:extLst>
          </p:cNvPr>
          <p:cNvSpPr/>
          <p:nvPr/>
        </p:nvSpPr>
        <p:spPr>
          <a:xfrm>
            <a:off x="4836513" y="1732800"/>
            <a:ext cx="199865" cy="92653"/>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Arrow Connector 25">
            <a:extLst>
              <a:ext uri="{FF2B5EF4-FFF2-40B4-BE49-F238E27FC236}">
                <a16:creationId xmlns:a16="http://schemas.microsoft.com/office/drawing/2014/main" id="{138A3CA6-7736-9934-FD53-656FDC43FCB9}"/>
              </a:ext>
            </a:extLst>
          </p:cNvPr>
          <p:cNvCxnSpPr>
            <a:cxnSpLocks/>
          </p:cNvCxnSpPr>
          <p:nvPr/>
        </p:nvCxnSpPr>
        <p:spPr>
          <a:xfrm flipH="1">
            <a:off x="2972735" y="2020891"/>
            <a:ext cx="1990576" cy="0"/>
          </a:xfrm>
          <a:prstGeom prst="straightConnector1">
            <a:avLst/>
          </a:prstGeom>
          <a:ln w="28575">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grpSp>
        <p:nvGrpSpPr>
          <p:cNvPr id="63" name="Group 62">
            <a:extLst>
              <a:ext uri="{FF2B5EF4-FFF2-40B4-BE49-F238E27FC236}">
                <a16:creationId xmlns:a16="http://schemas.microsoft.com/office/drawing/2014/main" id="{2148D24D-1E46-4639-9A44-282EA610DBD5}"/>
              </a:ext>
            </a:extLst>
          </p:cNvPr>
          <p:cNvGrpSpPr/>
          <p:nvPr/>
        </p:nvGrpSpPr>
        <p:grpSpPr>
          <a:xfrm>
            <a:off x="739831" y="403697"/>
            <a:ext cx="10712337" cy="6050605"/>
            <a:chOff x="933771" y="635008"/>
            <a:chExt cx="10712337" cy="6050605"/>
          </a:xfrm>
        </p:grpSpPr>
        <p:sp>
          <p:nvSpPr>
            <p:cNvPr id="57" name="Oval 56">
              <a:extLst>
                <a:ext uri="{FF2B5EF4-FFF2-40B4-BE49-F238E27FC236}">
                  <a16:creationId xmlns:a16="http://schemas.microsoft.com/office/drawing/2014/main" id="{0810915D-5B6A-2790-865B-26BEF997D696}"/>
                </a:ext>
              </a:extLst>
            </p:cNvPr>
            <p:cNvSpPr/>
            <p:nvPr/>
          </p:nvSpPr>
          <p:spPr>
            <a:xfrm>
              <a:off x="6897971" y="6003700"/>
              <a:ext cx="199865" cy="92653"/>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2" name="Group 61">
              <a:extLst>
                <a:ext uri="{FF2B5EF4-FFF2-40B4-BE49-F238E27FC236}">
                  <a16:creationId xmlns:a16="http://schemas.microsoft.com/office/drawing/2014/main" id="{F1291392-38E7-D54D-C0EE-61B36B3E855C}"/>
                </a:ext>
              </a:extLst>
            </p:cNvPr>
            <p:cNvGrpSpPr/>
            <p:nvPr/>
          </p:nvGrpSpPr>
          <p:grpSpPr>
            <a:xfrm>
              <a:off x="933771" y="635008"/>
              <a:ext cx="10712337" cy="6050605"/>
              <a:chOff x="559017" y="125343"/>
              <a:chExt cx="10712337" cy="6050605"/>
            </a:xfrm>
          </p:grpSpPr>
          <p:cxnSp>
            <p:nvCxnSpPr>
              <p:cNvPr id="5" name="Straight Connector 4">
                <a:extLst>
                  <a:ext uri="{FF2B5EF4-FFF2-40B4-BE49-F238E27FC236}">
                    <a16:creationId xmlns:a16="http://schemas.microsoft.com/office/drawing/2014/main" id="{CECC5D80-4810-E079-6EAA-701D486E0823}"/>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7ECBF7AC-F4F9-4534-88AA-CB38DF4E9BF1}"/>
                  </a:ext>
                </a:extLst>
              </p:cNvPr>
              <p:cNvCxnSpPr/>
              <p:nvPr/>
            </p:nvCxnSpPr>
            <p:spPr>
              <a:xfrm>
                <a:off x="2805660" y="494674"/>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24E6832B-0F16-37B2-3967-2B07F334C98F}"/>
                  </a:ext>
                </a:extLst>
              </p:cNvPr>
              <p:cNvCxnSpPr/>
              <p:nvPr/>
            </p:nvCxnSpPr>
            <p:spPr>
              <a:xfrm>
                <a:off x="4769371"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370841B7-BF35-9567-6D3C-B53CD4F33380}"/>
                  </a:ext>
                </a:extLst>
              </p:cNvPr>
              <p:cNvCxnSpPr/>
              <p:nvPr/>
            </p:nvCxnSpPr>
            <p:spPr>
              <a:xfrm>
                <a:off x="662815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518A993C-74EF-496E-51AB-8367AA34F7E0}"/>
                  </a:ext>
                </a:extLst>
              </p:cNvPr>
              <p:cNvCxnSpPr/>
              <p:nvPr/>
            </p:nvCxnSpPr>
            <p:spPr>
              <a:xfrm>
                <a:off x="853190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425DB6B5-D01D-CB59-63E1-4140E2AEF806}"/>
                  </a:ext>
                </a:extLst>
              </p:cNvPr>
              <p:cNvSpPr txBox="1"/>
              <p:nvPr/>
            </p:nvSpPr>
            <p:spPr>
              <a:xfrm>
                <a:off x="680801" y="125343"/>
                <a:ext cx="1304144" cy="369332"/>
              </a:xfrm>
              <a:prstGeom prst="rect">
                <a:avLst/>
              </a:prstGeom>
              <a:noFill/>
            </p:spPr>
            <p:txBody>
              <a:bodyPr wrap="square" rtlCol="0">
                <a:spAutoFit/>
              </a:bodyPr>
              <a:lstStyle/>
              <a:p>
                <a:r>
                  <a:rPr lang="en-GB" b="1"/>
                  <a:t>SoC</a:t>
                </a:r>
              </a:p>
            </p:txBody>
          </p:sp>
          <p:sp>
            <p:nvSpPr>
              <p:cNvPr id="11" name="TextBox 10">
                <a:extLst>
                  <a:ext uri="{FF2B5EF4-FFF2-40B4-BE49-F238E27FC236}">
                    <a16:creationId xmlns:a16="http://schemas.microsoft.com/office/drawing/2014/main" id="{47E13AD3-5F51-9B49-3B22-315428EF1536}"/>
                  </a:ext>
                </a:extLst>
              </p:cNvPr>
              <p:cNvSpPr txBox="1"/>
              <p:nvPr/>
            </p:nvSpPr>
            <p:spPr>
              <a:xfrm>
                <a:off x="2284748" y="132839"/>
                <a:ext cx="1753847" cy="369332"/>
              </a:xfrm>
              <a:prstGeom prst="rect">
                <a:avLst/>
              </a:prstGeom>
              <a:noFill/>
            </p:spPr>
            <p:txBody>
              <a:bodyPr wrap="square" rtlCol="0">
                <a:spAutoFit/>
              </a:bodyPr>
              <a:lstStyle/>
              <a:p>
                <a:r>
                  <a:rPr lang="en-GB" b="1"/>
                  <a:t>AXI Interface</a:t>
                </a:r>
              </a:p>
            </p:txBody>
          </p:sp>
          <p:sp>
            <p:nvSpPr>
              <p:cNvPr id="12" name="TextBox 11">
                <a:extLst>
                  <a:ext uri="{FF2B5EF4-FFF2-40B4-BE49-F238E27FC236}">
                    <a16:creationId xmlns:a16="http://schemas.microsoft.com/office/drawing/2014/main" id="{8F576C9C-7835-91D7-0689-AB61A6F09C0D}"/>
                  </a:ext>
                </a:extLst>
              </p:cNvPr>
              <p:cNvSpPr txBox="1"/>
              <p:nvPr/>
            </p:nvSpPr>
            <p:spPr>
              <a:xfrm>
                <a:off x="4379625" y="125343"/>
                <a:ext cx="1304144" cy="369332"/>
              </a:xfrm>
              <a:prstGeom prst="rect">
                <a:avLst/>
              </a:prstGeom>
              <a:noFill/>
            </p:spPr>
            <p:txBody>
              <a:bodyPr wrap="square" rtlCol="0">
                <a:spAutoFit/>
              </a:bodyPr>
              <a:lstStyle/>
              <a:p>
                <a:r>
                  <a:rPr lang="en-GB" b="1" dirty="0"/>
                  <a:t>Boot FSM</a:t>
                </a:r>
              </a:p>
            </p:txBody>
          </p:sp>
          <p:sp>
            <p:nvSpPr>
              <p:cNvPr id="13" name="TextBox 12">
                <a:extLst>
                  <a:ext uri="{FF2B5EF4-FFF2-40B4-BE49-F238E27FC236}">
                    <a16:creationId xmlns:a16="http://schemas.microsoft.com/office/drawing/2014/main" id="{B12E1805-DD15-CB75-D1F0-DD8A55AF09AC}"/>
                  </a:ext>
                </a:extLst>
              </p:cNvPr>
              <p:cNvSpPr txBox="1"/>
              <p:nvPr/>
            </p:nvSpPr>
            <p:spPr>
              <a:xfrm>
                <a:off x="6227161" y="125343"/>
                <a:ext cx="1304144" cy="369332"/>
              </a:xfrm>
              <a:prstGeom prst="rect">
                <a:avLst/>
              </a:prstGeom>
              <a:noFill/>
            </p:spPr>
            <p:txBody>
              <a:bodyPr wrap="square" rtlCol="0">
                <a:spAutoFit/>
              </a:bodyPr>
              <a:lstStyle/>
              <a:p>
                <a:r>
                  <a:rPr lang="en-GB" b="1" err="1"/>
                  <a:t>VeeR</a:t>
                </a:r>
                <a:r>
                  <a:rPr lang="en-GB" b="1"/>
                  <a:t> EL2</a:t>
                </a:r>
              </a:p>
            </p:txBody>
          </p:sp>
          <p:sp>
            <p:nvSpPr>
              <p:cNvPr id="14" name="TextBox 13">
                <a:extLst>
                  <a:ext uri="{FF2B5EF4-FFF2-40B4-BE49-F238E27FC236}">
                    <a16:creationId xmlns:a16="http://schemas.microsoft.com/office/drawing/2014/main" id="{AFAB07A1-47A2-0FA4-B13D-1E54161D53C1}"/>
                  </a:ext>
                </a:extLst>
              </p:cNvPr>
              <p:cNvSpPr txBox="1"/>
              <p:nvPr/>
            </p:nvSpPr>
            <p:spPr>
              <a:xfrm>
                <a:off x="8213365" y="125343"/>
                <a:ext cx="1304144" cy="369332"/>
              </a:xfrm>
              <a:prstGeom prst="rect">
                <a:avLst/>
              </a:prstGeom>
              <a:noFill/>
            </p:spPr>
            <p:txBody>
              <a:bodyPr wrap="square" rtlCol="0">
                <a:spAutoFit/>
              </a:bodyPr>
              <a:lstStyle/>
              <a:p>
                <a:r>
                  <a:rPr lang="en-GB" b="1"/>
                  <a:t>Crypto</a:t>
                </a:r>
              </a:p>
            </p:txBody>
          </p:sp>
          <p:sp>
            <p:nvSpPr>
              <p:cNvPr id="15" name="TextBox 14">
                <a:extLst>
                  <a:ext uri="{FF2B5EF4-FFF2-40B4-BE49-F238E27FC236}">
                    <a16:creationId xmlns:a16="http://schemas.microsoft.com/office/drawing/2014/main" id="{97B06ED0-91B3-11EC-473F-319142BDB087}"/>
                  </a:ext>
                </a:extLst>
              </p:cNvPr>
              <p:cNvSpPr txBox="1"/>
              <p:nvPr/>
            </p:nvSpPr>
            <p:spPr>
              <a:xfrm>
                <a:off x="9967210" y="125343"/>
                <a:ext cx="1304144" cy="369332"/>
              </a:xfrm>
              <a:prstGeom prst="rect">
                <a:avLst/>
              </a:prstGeom>
              <a:noFill/>
            </p:spPr>
            <p:txBody>
              <a:bodyPr wrap="square" rtlCol="0">
                <a:spAutoFit/>
              </a:bodyPr>
              <a:lstStyle/>
              <a:p>
                <a:r>
                  <a:rPr lang="en-GB" b="1"/>
                  <a:t>Mailbox</a:t>
                </a:r>
              </a:p>
            </p:txBody>
          </p:sp>
          <p:cxnSp>
            <p:nvCxnSpPr>
              <p:cNvPr id="16" name="Straight Connector 15">
                <a:extLst>
                  <a:ext uri="{FF2B5EF4-FFF2-40B4-BE49-F238E27FC236}">
                    <a16:creationId xmlns:a16="http://schemas.microsoft.com/office/drawing/2014/main" id="{6D71B3F3-7E8C-E579-6A73-4E59790772B3}"/>
                  </a:ext>
                </a:extLst>
              </p:cNvPr>
              <p:cNvCxnSpPr/>
              <p:nvPr/>
            </p:nvCxnSpPr>
            <p:spPr>
              <a:xfrm>
                <a:off x="10348210"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2FDCD510-7CF6-7DE5-E11D-C7B90F06299A}"/>
                  </a:ext>
                </a:extLst>
              </p:cNvPr>
              <p:cNvCxnSpPr>
                <a:cxnSpLocks/>
              </p:cNvCxnSpPr>
              <p:nvPr/>
            </p:nvCxnSpPr>
            <p:spPr>
              <a:xfrm flipV="1">
                <a:off x="989351" y="854440"/>
                <a:ext cx="3780020" cy="12279"/>
              </a:xfrm>
              <a:prstGeom prst="straightConnector1">
                <a:avLst/>
              </a:prstGeom>
              <a:ln w="28575">
                <a:solidFill>
                  <a:schemeClr val="accent5">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57676F01-B840-C4EB-464B-F170BF2D6EDB}"/>
                  </a:ext>
                </a:extLst>
              </p:cNvPr>
              <p:cNvSpPr txBox="1"/>
              <p:nvPr/>
            </p:nvSpPr>
            <p:spPr>
              <a:xfrm>
                <a:off x="1135500" y="497387"/>
                <a:ext cx="1966213" cy="369332"/>
              </a:xfrm>
              <a:prstGeom prst="rect">
                <a:avLst/>
              </a:prstGeom>
              <a:noFill/>
            </p:spPr>
            <p:txBody>
              <a:bodyPr wrap="square" rtlCol="0">
                <a:spAutoFit/>
              </a:bodyPr>
              <a:lstStyle/>
              <a:p>
                <a:r>
                  <a:rPr lang="en-GB" err="1">
                    <a:solidFill>
                      <a:schemeClr val="accent5">
                        <a:lumMod val="75000"/>
                      </a:schemeClr>
                    </a:solidFill>
                  </a:rPr>
                  <a:t>cptra_pwrgood</a:t>
                </a:r>
                <a:endParaRPr lang="en-GB">
                  <a:solidFill>
                    <a:schemeClr val="accent5">
                      <a:lumMod val="75000"/>
                    </a:schemeClr>
                  </a:solidFill>
                </a:endParaRPr>
              </a:p>
            </p:txBody>
          </p:sp>
          <p:sp>
            <p:nvSpPr>
              <p:cNvPr id="22" name="TextBox 21">
                <a:extLst>
                  <a:ext uri="{FF2B5EF4-FFF2-40B4-BE49-F238E27FC236}">
                    <a16:creationId xmlns:a16="http://schemas.microsoft.com/office/drawing/2014/main" id="{49EFF964-BECD-73B6-5583-904DB86D8DF0}"/>
                  </a:ext>
                </a:extLst>
              </p:cNvPr>
              <p:cNvSpPr txBox="1"/>
              <p:nvPr/>
            </p:nvSpPr>
            <p:spPr>
              <a:xfrm>
                <a:off x="1044314" y="837377"/>
                <a:ext cx="2557067" cy="369332"/>
              </a:xfrm>
              <a:prstGeom prst="rect">
                <a:avLst/>
              </a:prstGeom>
              <a:noFill/>
            </p:spPr>
            <p:txBody>
              <a:bodyPr wrap="square" rtlCol="0">
                <a:spAutoFit/>
              </a:bodyPr>
              <a:lstStyle/>
              <a:p>
                <a:r>
                  <a:rPr lang="en-GB" err="1">
                    <a:solidFill>
                      <a:schemeClr val="accent5">
                        <a:lumMod val="75000"/>
                      </a:schemeClr>
                    </a:solidFill>
                  </a:rPr>
                  <a:t>cptra_rst_b</a:t>
                </a:r>
                <a:r>
                  <a:rPr lang="en-GB">
                    <a:solidFill>
                      <a:schemeClr val="accent5">
                        <a:lumMod val="75000"/>
                      </a:schemeClr>
                    </a:solidFill>
                  </a:rPr>
                  <a:t> (</a:t>
                </a:r>
                <a:r>
                  <a:rPr lang="en-GB" err="1">
                    <a:solidFill>
                      <a:schemeClr val="accent5">
                        <a:lumMod val="75000"/>
                      </a:schemeClr>
                    </a:solidFill>
                  </a:rPr>
                  <a:t>deassert</a:t>
                </a:r>
                <a:r>
                  <a:rPr lang="en-GB">
                    <a:solidFill>
                      <a:schemeClr val="accent5">
                        <a:lumMod val="75000"/>
                      </a:schemeClr>
                    </a:solidFill>
                  </a:rPr>
                  <a:t>)</a:t>
                </a:r>
              </a:p>
            </p:txBody>
          </p:sp>
          <p:cxnSp>
            <p:nvCxnSpPr>
              <p:cNvPr id="23" name="Straight Arrow Connector 22">
                <a:extLst>
                  <a:ext uri="{FF2B5EF4-FFF2-40B4-BE49-F238E27FC236}">
                    <a16:creationId xmlns:a16="http://schemas.microsoft.com/office/drawing/2014/main" id="{21157637-EBE1-C4A0-CF9D-5FFA8CCA5BF1}"/>
                  </a:ext>
                </a:extLst>
              </p:cNvPr>
              <p:cNvCxnSpPr>
                <a:cxnSpLocks/>
              </p:cNvCxnSpPr>
              <p:nvPr/>
            </p:nvCxnSpPr>
            <p:spPr>
              <a:xfrm flipV="1">
                <a:off x="975612" y="1206709"/>
                <a:ext cx="3780020" cy="12279"/>
              </a:xfrm>
              <a:prstGeom prst="straightConnector1">
                <a:avLst/>
              </a:prstGeom>
              <a:ln w="28575">
                <a:solidFill>
                  <a:schemeClr val="accent5">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614AC29F-45D1-A0C2-270E-3F98D5AED2C7}"/>
                  </a:ext>
                </a:extLst>
              </p:cNvPr>
              <p:cNvSpPr txBox="1"/>
              <p:nvPr/>
            </p:nvSpPr>
            <p:spPr>
              <a:xfrm>
                <a:off x="4878038" y="1221060"/>
                <a:ext cx="1467788" cy="369332"/>
              </a:xfrm>
              <a:prstGeom prst="rect">
                <a:avLst/>
              </a:prstGeom>
              <a:noFill/>
            </p:spPr>
            <p:txBody>
              <a:bodyPr wrap="square" rtlCol="0">
                <a:spAutoFit/>
              </a:bodyPr>
              <a:lstStyle/>
              <a:p>
                <a:r>
                  <a:rPr lang="en-GB" b="1">
                    <a:solidFill>
                      <a:schemeClr val="accent2">
                        <a:lumMod val="75000"/>
                      </a:schemeClr>
                    </a:solidFill>
                  </a:rPr>
                  <a:t>BOOT_IDLE</a:t>
                </a:r>
              </a:p>
            </p:txBody>
          </p:sp>
          <p:sp>
            <p:nvSpPr>
              <p:cNvPr id="31" name="TextBox 30">
                <a:extLst>
                  <a:ext uri="{FF2B5EF4-FFF2-40B4-BE49-F238E27FC236}">
                    <a16:creationId xmlns:a16="http://schemas.microsoft.com/office/drawing/2014/main" id="{85AE5A9A-2791-1687-C8C2-079334BC1DE4}"/>
                  </a:ext>
                </a:extLst>
              </p:cNvPr>
              <p:cNvSpPr txBox="1"/>
              <p:nvPr/>
            </p:nvSpPr>
            <p:spPr>
              <a:xfrm>
                <a:off x="2845944" y="1376285"/>
                <a:ext cx="1896267" cy="369332"/>
              </a:xfrm>
              <a:prstGeom prst="rect">
                <a:avLst/>
              </a:prstGeom>
              <a:noFill/>
            </p:spPr>
            <p:txBody>
              <a:bodyPr wrap="square" rtlCol="0">
                <a:spAutoFit/>
              </a:bodyPr>
              <a:lstStyle/>
              <a:p>
                <a:r>
                  <a:rPr lang="en-GB" err="1">
                    <a:solidFill>
                      <a:schemeClr val="accent2">
                        <a:lumMod val="75000"/>
                      </a:schemeClr>
                    </a:solidFill>
                  </a:rPr>
                  <a:t>ready_for_fuses</a:t>
                </a:r>
                <a:endParaRPr lang="en-GB">
                  <a:solidFill>
                    <a:schemeClr val="accent2">
                      <a:lumMod val="75000"/>
                    </a:schemeClr>
                  </a:solidFill>
                </a:endParaRPr>
              </a:p>
            </p:txBody>
          </p:sp>
          <p:sp>
            <p:nvSpPr>
              <p:cNvPr id="32" name="TextBox 31">
                <a:extLst>
                  <a:ext uri="{FF2B5EF4-FFF2-40B4-BE49-F238E27FC236}">
                    <a16:creationId xmlns:a16="http://schemas.microsoft.com/office/drawing/2014/main" id="{4EE78947-EDC1-F27A-4F78-C72CAC200D0F}"/>
                  </a:ext>
                </a:extLst>
              </p:cNvPr>
              <p:cNvSpPr txBox="1"/>
              <p:nvPr/>
            </p:nvSpPr>
            <p:spPr>
              <a:xfrm>
                <a:off x="890992" y="1795100"/>
                <a:ext cx="2557067" cy="369332"/>
              </a:xfrm>
              <a:prstGeom prst="rect">
                <a:avLst/>
              </a:prstGeom>
              <a:noFill/>
            </p:spPr>
            <p:txBody>
              <a:bodyPr wrap="square" rtlCol="0">
                <a:spAutoFit/>
              </a:bodyPr>
              <a:lstStyle/>
              <a:p>
                <a:r>
                  <a:rPr lang="en-GB" err="1">
                    <a:solidFill>
                      <a:schemeClr val="accent2">
                        <a:lumMod val="75000"/>
                      </a:schemeClr>
                    </a:solidFill>
                  </a:rPr>
                  <a:t>fuse_req_interrupt</a:t>
                </a:r>
                <a:endParaRPr lang="en-GB">
                  <a:solidFill>
                    <a:schemeClr val="accent2">
                      <a:lumMod val="75000"/>
                    </a:schemeClr>
                  </a:solidFill>
                </a:endParaRPr>
              </a:p>
            </p:txBody>
          </p:sp>
          <p:cxnSp>
            <p:nvCxnSpPr>
              <p:cNvPr id="33" name="Straight Arrow Connector 32">
                <a:extLst>
                  <a:ext uri="{FF2B5EF4-FFF2-40B4-BE49-F238E27FC236}">
                    <a16:creationId xmlns:a16="http://schemas.microsoft.com/office/drawing/2014/main" id="{68F7F159-EEB8-5393-0C92-E9660A8A1FE9}"/>
                  </a:ext>
                </a:extLst>
              </p:cNvPr>
              <p:cNvCxnSpPr>
                <a:cxnSpLocks/>
              </p:cNvCxnSpPr>
              <p:nvPr/>
            </p:nvCxnSpPr>
            <p:spPr>
              <a:xfrm flipH="1">
                <a:off x="975612" y="2155023"/>
                <a:ext cx="1830048" cy="0"/>
              </a:xfrm>
              <a:prstGeom prst="straightConnector1">
                <a:avLst/>
              </a:prstGeom>
              <a:ln w="28575">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47A75F7A-5B5E-2C16-14D2-8E548955B3CE}"/>
                  </a:ext>
                </a:extLst>
              </p:cNvPr>
              <p:cNvCxnSpPr>
                <a:cxnSpLocks/>
              </p:cNvCxnSpPr>
              <p:nvPr/>
            </p:nvCxnSpPr>
            <p:spPr>
              <a:xfrm>
                <a:off x="989351" y="2552262"/>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38" name="TextBox 37">
                <a:extLst>
                  <a:ext uri="{FF2B5EF4-FFF2-40B4-BE49-F238E27FC236}">
                    <a16:creationId xmlns:a16="http://schemas.microsoft.com/office/drawing/2014/main" id="{A88699AD-16E7-D269-2AF0-640F8C1953C1}"/>
                  </a:ext>
                </a:extLst>
              </p:cNvPr>
              <p:cNvSpPr txBox="1"/>
              <p:nvPr/>
            </p:nvSpPr>
            <p:spPr>
              <a:xfrm>
                <a:off x="885990" y="2164432"/>
                <a:ext cx="2557067" cy="369332"/>
              </a:xfrm>
              <a:prstGeom prst="rect">
                <a:avLst/>
              </a:prstGeom>
              <a:noFill/>
            </p:spPr>
            <p:txBody>
              <a:bodyPr wrap="square" rtlCol="0">
                <a:spAutoFit/>
              </a:bodyPr>
              <a:lstStyle/>
              <a:p>
                <a:r>
                  <a:rPr lang="en-GB">
                    <a:solidFill>
                      <a:schemeClr val="accent3">
                        <a:lumMod val="75000"/>
                      </a:schemeClr>
                    </a:solidFill>
                  </a:rPr>
                  <a:t>AXI write: </a:t>
                </a:r>
                <a:r>
                  <a:rPr lang="en-GB" err="1">
                    <a:solidFill>
                      <a:schemeClr val="accent3">
                        <a:lumMod val="75000"/>
                      </a:schemeClr>
                    </a:solidFill>
                  </a:rPr>
                  <a:t>fuse_uds</a:t>
                </a:r>
                <a:endParaRPr lang="en-GB">
                  <a:solidFill>
                    <a:schemeClr val="accent3">
                      <a:lumMod val="75000"/>
                    </a:schemeClr>
                  </a:solidFill>
                </a:endParaRPr>
              </a:p>
            </p:txBody>
          </p:sp>
          <p:sp>
            <p:nvSpPr>
              <p:cNvPr id="39" name="TextBox 38">
                <a:extLst>
                  <a:ext uri="{FF2B5EF4-FFF2-40B4-BE49-F238E27FC236}">
                    <a16:creationId xmlns:a16="http://schemas.microsoft.com/office/drawing/2014/main" id="{E20C532C-2E07-2954-D78E-FBBC84387380}"/>
                  </a:ext>
                </a:extLst>
              </p:cNvPr>
              <p:cNvSpPr txBox="1"/>
              <p:nvPr/>
            </p:nvSpPr>
            <p:spPr>
              <a:xfrm>
                <a:off x="559017" y="2580169"/>
                <a:ext cx="3521429" cy="369332"/>
              </a:xfrm>
              <a:prstGeom prst="rect">
                <a:avLst/>
              </a:prstGeom>
              <a:noFill/>
            </p:spPr>
            <p:txBody>
              <a:bodyPr wrap="square" rtlCol="0">
                <a:spAutoFit/>
              </a:bodyPr>
              <a:lstStyle/>
              <a:p>
                <a:r>
                  <a:rPr lang="en-GB">
                    <a:solidFill>
                      <a:schemeClr val="accent3">
                        <a:lumMod val="75000"/>
                      </a:schemeClr>
                    </a:solidFill>
                  </a:rPr>
                  <a:t>AXI write: </a:t>
                </a:r>
                <a:r>
                  <a:rPr lang="en-GB" err="1">
                    <a:solidFill>
                      <a:schemeClr val="accent3">
                        <a:lumMod val="75000"/>
                      </a:schemeClr>
                    </a:solidFill>
                  </a:rPr>
                  <a:t>fuse_field_entropy</a:t>
                </a:r>
                <a:endParaRPr lang="en-GB">
                  <a:solidFill>
                    <a:schemeClr val="accent3">
                      <a:lumMod val="75000"/>
                    </a:schemeClr>
                  </a:solidFill>
                </a:endParaRPr>
              </a:p>
            </p:txBody>
          </p:sp>
          <p:cxnSp>
            <p:nvCxnSpPr>
              <p:cNvPr id="40" name="Straight Arrow Connector 39">
                <a:extLst>
                  <a:ext uri="{FF2B5EF4-FFF2-40B4-BE49-F238E27FC236}">
                    <a16:creationId xmlns:a16="http://schemas.microsoft.com/office/drawing/2014/main" id="{1F83C256-B04E-9A88-0182-231B46342CA1}"/>
                  </a:ext>
                </a:extLst>
              </p:cNvPr>
              <p:cNvCxnSpPr>
                <a:cxnSpLocks/>
              </p:cNvCxnSpPr>
              <p:nvPr/>
            </p:nvCxnSpPr>
            <p:spPr>
              <a:xfrm>
                <a:off x="1011826" y="2959495"/>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E706728E-1ED6-CD08-30A6-E823E2BFF22B}"/>
                  </a:ext>
                </a:extLst>
              </p:cNvPr>
              <p:cNvCxnSpPr>
                <a:cxnSpLocks/>
              </p:cNvCxnSpPr>
              <p:nvPr/>
            </p:nvCxnSpPr>
            <p:spPr>
              <a:xfrm>
                <a:off x="975612" y="3429000"/>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2" name="TextBox 41">
                <a:extLst>
                  <a:ext uri="{FF2B5EF4-FFF2-40B4-BE49-F238E27FC236}">
                    <a16:creationId xmlns:a16="http://schemas.microsoft.com/office/drawing/2014/main" id="{ECAA1CA5-936A-B87F-F1A2-9877CE3E7642}"/>
                  </a:ext>
                </a:extLst>
              </p:cNvPr>
              <p:cNvSpPr txBox="1"/>
              <p:nvPr/>
            </p:nvSpPr>
            <p:spPr>
              <a:xfrm>
                <a:off x="622724" y="3029023"/>
                <a:ext cx="3242868" cy="369332"/>
              </a:xfrm>
              <a:prstGeom prst="rect">
                <a:avLst/>
              </a:prstGeom>
              <a:noFill/>
            </p:spPr>
            <p:txBody>
              <a:bodyPr wrap="square" rtlCol="0">
                <a:spAutoFit/>
              </a:bodyPr>
              <a:lstStyle/>
              <a:p>
                <a:r>
                  <a:rPr lang="en-GB">
                    <a:solidFill>
                      <a:schemeClr val="accent3">
                        <a:lumMod val="75000"/>
                      </a:schemeClr>
                    </a:solidFill>
                  </a:rPr>
                  <a:t>AXI write: </a:t>
                </a:r>
                <a:r>
                  <a:rPr lang="en-GB" err="1">
                    <a:solidFill>
                      <a:schemeClr val="accent3">
                        <a:lumMod val="75000"/>
                      </a:schemeClr>
                    </a:solidFill>
                  </a:rPr>
                  <a:t>fuse_done</a:t>
                </a:r>
                <a:r>
                  <a:rPr lang="en-GB">
                    <a:solidFill>
                      <a:schemeClr val="accent3">
                        <a:lumMod val="75000"/>
                      </a:schemeClr>
                    </a:solidFill>
                  </a:rPr>
                  <a:t> = 1</a:t>
                </a:r>
              </a:p>
            </p:txBody>
          </p:sp>
          <p:cxnSp>
            <p:nvCxnSpPr>
              <p:cNvPr id="43" name="Straight Arrow Connector 42">
                <a:extLst>
                  <a:ext uri="{FF2B5EF4-FFF2-40B4-BE49-F238E27FC236}">
                    <a16:creationId xmlns:a16="http://schemas.microsoft.com/office/drawing/2014/main" id="{CFE74EC1-D34C-46ED-2DF1-06966CA27DF6}"/>
                  </a:ext>
                </a:extLst>
              </p:cNvPr>
              <p:cNvCxnSpPr>
                <a:cxnSpLocks/>
              </p:cNvCxnSpPr>
              <p:nvPr/>
            </p:nvCxnSpPr>
            <p:spPr>
              <a:xfrm>
                <a:off x="2791921" y="3731302"/>
                <a:ext cx="2004315"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1A5670C6-25D3-0A53-F7A0-29E9A1C73D8B}"/>
                  </a:ext>
                </a:extLst>
              </p:cNvPr>
              <p:cNvSpPr txBox="1"/>
              <p:nvPr/>
            </p:nvSpPr>
            <p:spPr>
              <a:xfrm>
                <a:off x="3031775" y="3398352"/>
                <a:ext cx="2557067" cy="369332"/>
              </a:xfrm>
              <a:prstGeom prst="rect">
                <a:avLst/>
              </a:prstGeom>
              <a:noFill/>
            </p:spPr>
            <p:txBody>
              <a:bodyPr wrap="square" rtlCol="0">
                <a:spAutoFit/>
              </a:bodyPr>
              <a:lstStyle/>
              <a:p>
                <a:r>
                  <a:rPr lang="en-GB" err="1">
                    <a:solidFill>
                      <a:schemeClr val="accent3">
                        <a:lumMod val="75000"/>
                      </a:schemeClr>
                    </a:solidFill>
                  </a:rPr>
                  <a:t>fuse_done</a:t>
                </a:r>
                <a:endParaRPr lang="en-GB">
                  <a:solidFill>
                    <a:schemeClr val="accent3">
                      <a:lumMod val="75000"/>
                    </a:schemeClr>
                  </a:solidFill>
                </a:endParaRPr>
              </a:p>
            </p:txBody>
          </p:sp>
          <p:sp>
            <p:nvSpPr>
              <p:cNvPr id="46" name="TextBox 45">
                <a:extLst>
                  <a:ext uri="{FF2B5EF4-FFF2-40B4-BE49-F238E27FC236}">
                    <a16:creationId xmlns:a16="http://schemas.microsoft.com/office/drawing/2014/main" id="{60A86B6D-8862-55A0-8DA0-4A3EF2489929}"/>
                  </a:ext>
                </a:extLst>
              </p:cNvPr>
              <p:cNvSpPr txBox="1"/>
              <p:nvPr/>
            </p:nvSpPr>
            <p:spPr>
              <a:xfrm>
                <a:off x="4499556" y="3653554"/>
                <a:ext cx="3217882" cy="369332"/>
              </a:xfrm>
              <a:prstGeom prst="rect">
                <a:avLst/>
              </a:prstGeom>
              <a:noFill/>
            </p:spPr>
            <p:txBody>
              <a:bodyPr wrap="square" rtlCol="0">
                <a:spAutoFit/>
              </a:bodyPr>
              <a:lstStyle/>
              <a:p>
                <a:r>
                  <a:rPr lang="en-GB" err="1">
                    <a:solidFill>
                      <a:schemeClr val="accent4">
                        <a:lumMod val="50000"/>
                      </a:schemeClr>
                    </a:solidFill>
                  </a:rPr>
                  <a:t>cptra_uc_rst_b_deassert</a:t>
                </a:r>
                <a:endParaRPr lang="en-GB">
                  <a:solidFill>
                    <a:schemeClr val="accent4">
                      <a:lumMod val="50000"/>
                    </a:schemeClr>
                  </a:solidFill>
                </a:endParaRPr>
              </a:p>
            </p:txBody>
          </p:sp>
          <p:cxnSp>
            <p:nvCxnSpPr>
              <p:cNvPr id="47" name="Straight Arrow Connector 46">
                <a:extLst>
                  <a:ext uri="{FF2B5EF4-FFF2-40B4-BE49-F238E27FC236}">
                    <a16:creationId xmlns:a16="http://schemas.microsoft.com/office/drawing/2014/main" id="{E369C0B9-81C5-829D-02BB-72483C695D27}"/>
                  </a:ext>
                </a:extLst>
              </p:cNvPr>
              <p:cNvCxnSpPr>
                <a:cxnSpLocks/>
              </p:cNvCxnSpPr>
              <p:nvPr/>
            </p:nvCxnSpPr>
            <p:spPr>
              <a:xfrm>
                <a:off x="4769371" y="4018614"/>
                <a:ext cx="1858781"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7A02C9DC-19FC-2283-53F6-55ECA77F3E25}"/>
                  </a:ext>
                </a:extLst>
              </p:cNvPr>
              <p:cNvSpPr txBox="1"/>
              <p:nvPr/>
            </p:nvSpPr>
            <p:spPr>
              <a:xfrm>
                <a:off x="6763689" y="4093422"/>
                <a:ext cx="1907497" cy="369332"/>
              </a:xfrm>
              <a:prstGeom prst="rect">
                <a:avLst/>
              </a:prstGeom>
              <a:noFill/>
            </p:spPr>
            <p:txBody>
              <a:bodyPr wrap="square" rtlCol="0">
                <a:spAutoFit/>
              </a:bodyPr>
              <a:lstStyle/>
              <a:p>
                <a:r>
                  <a:rPr lang="en-GB" b="1">
                    <a:solidFill>
                      <a:schemeClr val="accent4">
                        <a:lumMod val="50000"/>
                      </a:schemeClr>
                    </a:solidFill>
                  </a:rPr>
                  <a:t>ROM executes</a:t>
                </a:r>
              </a:p>
            </p:txBody>
          </p:sp>
          <p:sp>
            <p:nvSpPr>
              <p:cNvPr id="50" name="Oval 49">
                <a:extLst>
                  <a:ext uri="{FF2B5EF4-FFF2-40B4-BE49-F238E27FC236}">
                    <a16:creationId xmlns:a16="http://schemas.microsoft.com/office/drawing/2014/main" id="{F9DCF1DF-1A99-0044-AC72-2626B0265F1C}"/>
                  </a:ext>
                </a:extLst>
              </p:cNvPr>
              <p:cNvSpPr/>
              <p:nvPr/>
            </p:nvSpPr>
            <p:spPr>
              <a:xfrm>
                <a:off x="6533217" y="4215433"/>
                <a:ext cx="199865" cy="92653"/>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1" name="Straight Arrow Connector 50">
                <a:extLst>
                  <a:ext uri="{FF2B5EF4-FFF2-40B4-BE49-F238E27FC236}">
                    <a16:creationId xmlns:a16="http://schemas.microsoft.com/office/drawing/2014/main" id="{C1161340-2C94-8339-82B3-D951FEE1CC30}"/>
                  </a:ext>
                </a:extLst>
              </p:cNvPr>
              <p:cNvCxnSpPr>
                <a:cxnSpLocks/>
              </p:cNvCxnSpPr>
              <p:nvPr/>
            </p:nvCxnSpPr>
            <p:spPr>
              <a:xfrm>
                <a:off x="6623150" y="4760813"/>
                <a:ext cx="3725060"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53" name="TextBox 52">
                <a:extLst>
                  <a:ext uri="{FF2B5EF4-FFF2-40B4-BE49-F238E27FC236}">
                    <a16:creationId xmlns:a16="http://schemas.microsoft.com/office/drawing/2014/main" id="{74A6B0B3-3684-8B88-8D07-E40152638C8C}"/>
                  </a:ext>
                </a:extLst>
              </p:cNvPr>
              <p:cNvSpPr txBox="1"/>
              <p:nvPr/>
            </p:nvSpPr>
            <p:spPr>
              <a:xfrm>
                <a:off x="6910479" y="4391482"/>
                <a:ext cx="3244121" cy="369332"/>
              </a:xfrm>
              <a:prstGeom prst="rect">
                <a:avLst/>
              </a:prstGeom>
              <a:noFill/>
            </p:spPr>
            <p:txBody>
              <a:bodyPr wrap="square" rtlCol="0">
                <a:spAutoFit/>
              </a:bodyPr>
              <a:lstStyle/>
              <a:p>
                <a:r>
                  <a:rPr lang="en-GB">
                    <a:solidFill>
                      <a:schemeClr val="accent4">
                        <a:lumMod val="50000"/>
                      </a:schemeClr>
                    </a:solidFill>
                  </a:rPr>
                  <a:t>AHB read: </a:t>
                </a:r>
                <a:r>
                  <a:rPr lang="en-GB" err="1">
                    <a:solidFill>
                      <a:schemeClr val="accent4">
                        <a:lumMod val="50000"/>
                      </a:schemeClr>
                    </a:solidFill>
                  </a:rPr>
                  <a:t>mailbox_SRAM</a:t>
                </a:r>
                <a:endParaRPr lang="en-GB">
                  <a:solidFill>
                    <a:schemeClr val="accent4">
                      <a:lumMod val="50000"/>
                    </a:schemeClr>
                  </a:solidFill>
                </a:endParaRPr>
              </a:p>
            </p:txBody>
          </p:sp>
          <p:cxnSp>
            <p:nvCxnSpPr>
              <p:cNvPr id="54" name="Straight Arrow Connector 53">
                <a:extLst>
                  <a:ext uri="{FF2B5EF4-FFF2-40B4-BE49-F238E27FC236}">
                    <a16:creationId xmlns:a16="http://schemas.microsoft.com/office/drawing/2014/main" id="{EC7AAB6D-7999-47E4-FC0F-2B8A712520C8}"/>
                  </a:ext>
                </a:extLst>
              </p:cNvPr>
              <p:cNvCxnSpPr>
                <a:cxnSpLocks/>
              </p:cNvCxnSpPr>
              <p:nvPr/>
            </p:nvCxnSpPr>
            <p:spPr>
              <a:xfrm flipH="1">
                <a:off x="6616281" y="5155555"/>
                <a:ext cx="3731929" cy="0"/>
              </a:xfrm>
              <a:prstGeom prst="straightConnector1">
                <a:avLst/>
              </a:prstGeom>
              <a:ln w="28575">
                <a:solidFill>
                  <a:schemeClr val="accent4">
                    <a:lumMod val="75000"/>
                  </a:schemeClr>
                </a:solidFill>
                <a:prstDash val="sysDash"/>
                <a:tailEnd type="triangle"/>
              </a:ln>
            </p:spPr>
            <p:style>
              <a:lnRef idx="2">
                <a:schemeClr val="dk1"/>
              </a:lnRef>
              <a:fillRef idx="0">
                <a:schemeClr val="dk1"/>
              </a:fillRef>
              <a:effectRef idx="1">
                <a:schemeClr val="dk1"/>
              </a:effectRef>
              <a:fontRef idx="minor">
                <a:schemeClr val="tx1"/>
              </a:fontRef>
            </p:style>
          </p:cxnSp>
          <p:sp>
            <p:nvSpPr>
              <p:cNvPr id="56" name="TextBox 55">
                <a:extLst>
                  <a:ext uri="{FF2B5EF4-FFF2-40B4-BE49-F238E27FC236}">
                    <a16:creationId xmlns:a16="http://schemas.microsoft.com/office/drawing/2014/main" id="{135B1EEA-F02C-DC24-78CB-8179562AAFAA}"/>
                  </a:ext>
                </a:extLst>
              </p:cNvPr>
              <p:cNvSpPr txBox="1"/>
              <p:nvPr/>
            </p:nvSpPr>
            <p:spPr>
              <a:xfrm>
                <a:off x="6945437" y="4786223"/>
                <a:ext cx="3021774" cy="369332"/>
              </a:xfrm>
              <a:prstGeom prst="rect">
                <a:avLst/>
              </a:prstGeom>
              <a:noFill/>
            </p:spPr>
            <p:txBody>
              <a:bodyPr wrap="square" rtlCol="0">
                <a:spAutoFit/>
              </a:bodyPr>
              <a:lstStyle/>
              <a:p>
                <a:r>
                  <a:rPr lang="en-GB" err="1">
                    <a:solidFill>
                      <a:schemeClr val="accent4">
                        <a:lumMod val="50000"/>
                      </a:schemeClr>
                    </a:solidFill>
                  </a:rPr>
                  <a:t>fw_data</a:t>
                </a:r>
                <a:r>
                  <a:rPr lang="en-GB">
                    <a:solidFill>
                      <a:schemeClr val="accent4">
                        <a:lumMod val="50000"/>
                      </a:schemeClr>
                    </a:solidFill>
                  </a:rPr>
                  <a:t>[31:0]</a:t>
                </a:r>
              </a:p>
            </p:txBody>
          </p:sp>
          <p:cxnSp>
            <p:nvCxnSpPr>
              <p:cNvPr id="58" name="Straight Arrow Connector 57">
                <a:extLst>
                  <a:ext uri="{FF2B5EF4-FFF2-40B4-BE49-F238E27FC236}">
                    <a16:creationId xmlns:a16="http://schemas.microsoft.com/office/drawing/2014/main" id="{8D27738D-A2B0-B3D3-2FA8-031464CFDF43}"/>
                  </a:ext>
                </a:extLst>
              </p:cNvPr>
              <p:cNvCxnSpPr>
                <a:cxnSpLocks/>
              </p:cNvCxnSpPr>
              <p:nvPr/>
            </p:nvCxnSpPr>
            <p:spPr>
              <a:xfrm>
                <a:off x="7352979" y="5572546"/>
                <a:ext cx="364459"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60" name="TextBox 59">
                <a:extLst>
                  <a:ext uri="{FF2B5EF4-FFF2-40B4-BE49-F238E27FC236}">
                    <a16:creationId xmlns:a16="http://schemas.microsoft.com/office/drawing/2014/main" id="{1908B82C-FBBA-725D-BE0E-948D37C40B1F}"/>
                  </a:ext>
                </a:extLst>
              </p:cNvPr>
              <p:cNvSpPr txBox="1"/>
              <p:nvPr/>
            </p:nvSpPr>
            <p:spPr>
              <a:xfrm>
                <a:off x="6682494" y="5249380"/>
                <a:ext cx="723261" cy="923330"/>
              </a:xfrm>
              <a:prstGeom prst="rect">
                <a:avLst/>
              </a:prstGeom>
              <a:noFill/>
            </p:spPr>
            <p:txBody>
              <a:bodyPr wrap="square" rtlCol="0">
                <a:spAutoFit/>
              </a:bodyPr>
              <a:lstStyle/>
              <a:p>
                <a:r>
                  <a:rPr lang="en-GB">
                    <a:solidFill>
                      <a:schemeClr val="accent4">
                        <a:lumMod val="50000"/>
                      </a:schemeClr>
                    </a:solidFill>
                  </a:rPr>
                  <a:t>FW loaded</a:t>
                </a:r>
              </a:p>
            </p:txBody>
          </p:sp>
          <p:sp>
            <p:nvSpPr>
              <p:cNvPr id="61" name="TextBox 60">
                <a:extLst>
                  <a:ext uri="{FF2B5EF4-FFF2-40B4-BE49-F238E27FC236}">
                    <a16:creationId xmlns:a16="http://schemas.microsoft.com/office/drawing/2014/main" id="{7F29F66B-02D7-9E38-E610-41DABB53CF99}"/>
                  </a:ext>
                </a:extLst>
              </p:cNvPr>
              <p:cNvSpPr txBox="1"/>
              <p:nvPr/>
            </p:nvSpPr>
            <p:spPr>
              <a:xfrm>
                <a:off x="7754292" y="5387880"/>
                <a:ext cx="918146" cy="369332"/>
              </a:xfrm>
              <a:prstGeom prst="rect">
                <a:avLst/>
              </a:prstGeom>
              <a:noFill/>
            </p:spPr>
            <p:txBody>
              <a:bodyPr wrap="square" rtlCol="0">
                <a:spAutoFit/>
              </a:bodyPr>
              <a:lstStyle/>
              <a:p>
                <a:r>
                  <a:rPr lang="en-GB">
                    <a:solidFill>
                      <a:schemeClr val="accent4">
                        <a:lumMod val="50000"/>
                      </a:schemeClr>
                    </a:solidFill>
                  </a:rPr>
                  <a:t>ICCM</a:t>
                </a:r>
              </a:p>
            </p:txBody>
          </p:sp>
        </p:grpSp>
      </p:grpSp>
      <p:sp>
        <p:nvSpPr>
          <p:cNvPr id="64" name="Title 1">
            <a:extLst>
              <a:ext uri="{FF2B5EF4-FFF2-40B4-BE49-F238E27FC236}">
                <a16:creationId xmlns:a16="http://schemas.microsoft.com/office/drawing/2014/main" id="{B2EFB266-6358-3E60-E013-D49E1EC0072A}"/>
              </a:ext>
            </a:extLst>
          </p:cNvPr>
          <p:cNvSpPr>
            <a:spLocks noGrp="1"/>
          </p:cNvSpPr>
          <p:nvPr>
            <p:ph type="title"/>
          </p:nvPr>
        </p:nvSpPr>
        <p:spPr>
          <a:xfrm>
            <a:off x="0" y="0"/>
            <a:ext cx="12192000" cy="413880"/>
          </a:xfrm>
          <a:solidFill>
            <a:schemeClr val="accent6">
              <a:lumMod val="60000"/>
              <a:lumOff val="40000"/>
            </a:schemeClr>
          </a:solidFill>
        </p:spPr>
        <p:txBody>
          <a:bodyPr>
            <a:noAutofit/>
          </a:bodyPr>
          <a:lstStyle/>
          <a:p>
            <a:pPr algn="ctr"/>
            <a:r>
              <a:rPr lang="en-GB" sz="3200" dirty="0"/>
              <a:t>Phase 1-4: power on/boot fsm/fuse programming/firmware load</a:t>
            </a:r>
          </a:p>
        </p:txBody>
      </p:sp>
    </p:spTree>
    <p:extLst>
      <p:ext uri="{BB962C8B-B14F-4D97-AF65-F5344CB8AC3E}">
        <p14:creationId xmlns:p14="http://schemas.microsoft.com/office/powerpoint/2010/main" val="3581288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8C92F-2744-0FAB-EF4A-5E1D9C82AB02}"/>
            </a:ext>
          </a:extLst>
        </p:cNvPr>
        <p:cNvGrpSpPr/>
        <p:nvPr/>
      </p:nvGrpSpPr>
      <p:grpSpPr>
        <a:xfrm>
          <a:off x="0" y="0"/>
          <a:ext cx="0" cy="0"/>
          <a:chOff x="0" y="0"/>
          <a:chExt cx="0" cy="0"/>
        </a:xfrm>
      </p:grpSpPr>
      <p:grpSp>
        <p:nvGrpSpPr>
          <p:cNvPr id="81" name="Group 80">
            <a:extLst>
              <a:ext uri="{FF2B5EF4-FFF2-40B4-BE49-F238E27FC236}">
                <a16:creationId xmlns:a16="http://schemas.microsoft.com/office/drawing/2014/main" id="{68BB1A47-F10A-E480-5AA1-666CC2B12C19}"/>
              </a:ext>
            </a:extLst>
          </p:cNvPr>
          <p:cNvGrpSpPr/>
          <p:nvPr/>
        </p:nvGrpSpPr>
        <p:grpSpPr>
          <a:xfrm>
            <a:off x="800723" y="649999"/>
            <a:ext cx="10590553" cy="6050605"/>
            <a:chOff x="680801" y="125343"/>
            <a:chExt cx="10590553" cy="6050605"/>
          </a:xfrm>
        </p:grpSpPr>
        <p:cxnSp>
          <p:nvCxnSpPr>
            <p:cNvPr id="5" name="Straight Connector 4">
              <a:extLst>
                <a:ext uri="{FF2B5EF4-FFF2-40B4-BE49-F238E27FC236}">
                  <a16:creationId xmlns:a16="http://schemas.microsoft.com/office/drawing/2014/main" id="{BACF7E48-A4BF-8E1C-0C8D-7DA059B5BA8B}"/>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A9672DCB-78BA-85CF-A99D-0AAB6D0AE251}"/>
                </a:ext>
              </a:extLst>
            </p:cNvPr>
            <p:cNvCxnSpPr/>
            <p:nvPr/>
          </p:nvCxnSpPr>
          <p:spPr>
            <a:xfrm>
              <a:off x="2805660" y="494674"/>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15491C3B-8B86-3CFA-7607-AAAC7CC06723}"/>
                </a:ext>
              </a:extLst>
            </p:cNvPr>
            <p:cNvCxnSpPr/>
            <p:nvPr/>
          </p:nvCxnSpPr>
          <p:spPr>
            <a:xfrm>
              <a:off x="4769371"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6D170BDF-B3A6-7487-4EFB-1EEEAF217C6B}"/>
                </a:ext>
              </a:extLst>
            </p:cNvPr>
            <p:cNvCxnSpPr/>
            <p:nvPr/>
          </p:nvCxnSpPr>
          <p:spPr>
            <a:xfrm>
              <a:off x="662815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CC5B2C27-A5B7-DE5A-DD26-6A8B06DAF255}"/>
                </a:ext>
              </a:extLst>
            </p:cNvPr>
            <p:cNvCxnSpPr/>
            <p:nvPr/>
          </p:nvCxnSpPr>
          <p:spPr>
            <a:xfrm>
              <a:off x="853190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25A48CFD-0C8C-7A63-E9BC-C03D95820B23}"/>
                </a:ext>
              </a:extLst>
            </p:cNvPr>
            <p:cNvSpPr txBox="1"/>
            <p:nvPr/>
          </p:nvSpPr>
          <p:spPr>
            <a:xfrm>
              <a:off x="680801" y="125343"/>
              <a:ext cx="1304144" cy="369332"/>
            </a:xfrm>
            <a:prstGeom prst="rect">
              <a:avLst/>
            </a:prstGeom>
            <a:noFill/>
          </p:spPr>
          <p:txBody>
            <a:bodyPr wrap="square" rtlCol="0">
              <a:spAutoFit/>
            </a:bodyPr>
            <a:lstStyle/>
            <a:p>
              <a:r>
                <a:rPr lang="en-GB" b="1"/>
                <a:t>SoC</a:t>
              </a:r>
            </a:p>
          </p:txBody>
        </p:sp>
        <p:sp>
          <p:nvSpPr>
            <p:cNvPr id="11" name="TextBox 10">
              <a:extLst>
                <a:ext uri="{FF2B5EF4-FFF2-40B4-BE49-F238E27FC236}">
                  <a16:creationId xmlns:a16="http://schemas.microsoft.com/office/drawing/2014/main" id="{AF119A64-CD80-A81C-BAE0-CED3D33E58E4}"/>
                </a:ext>
              </a:extLst>
            </p:cNvPr>
            <p:cNvSpPr txBox="1"/>
            <p:nvPr/>
          </p:nvSpPr>
          <p:spPr>
            <a:xfrm>
              <a:off x="2284748" y="132839"/>
              <a:ext cx="1753847" cy="369332"/>
            </a:xfrm>
            <a:prstGeom prst="rect">
              <a:avLst/>
            </a:prstGeom>
            <a:noFill/>
          </p:spPr>
          <p:txBody>
            <a:bodyPr wrap="square" rtlCol="0">
              <a:spAutoFit/>
            </a:bodyPr>
            <a:lstStyle/>
            <a:p>
              <a:r>
                <a:rPr lang="en-GB" b="1"/>
                <a:t>AXI Interface</a:t>
              </a:r>
            </a:p>
          </p:txBody>
        </p:sp>
        <p:sp>
          <p:nvSpPr>
            <p:cNvPr id="12" name="TextBox 11">
              <a:extLst>
                <a:ext uri="{FF2B5EF4-FFF2-40B4-BE49-F238E27FC236}">
                  <a16:creationId xmlns:a16="http://schemas.microsoft.com/office/drawing/2014/main" id="{69A33198-C9A8-6179-CEDC-449A841E45F6}"/>
                </a:ext>
              </a:extLst>
            </p:cNvPr>
            <p:cNvSpPr txBox="1"/>
            <p:nvPr/>
          </p:nvSpPr>
          <p:spPr>
            <a:xfrm>
              <a:off x="4379625" y="125343"/>
              <a:ext cx="1304144" cy="369332"/>
            </a:xfrm>
            <a:prstGeom prst="rect">
              <a:avLst/>
            </a:prstGeom>
            <a:noFill/>
          </p:spPr>
          <p:txBody>
            <a:bodyPr wrap="square" rtlCol="0">
              <a:spAutoFit/>
            </a:bodyPr>
            <a:lstStyle/>
            <a:p>
              <a:r>
                <a:rPr lang="en-GB" b="1" dirty="0"/>
                <a:t>Boot FSM</a:t>
              </a:r>
            </a:p>
          </p:txBody>
        </p:sp>
        <p:sp>
          <p:nvSpPr>
            <p:cNvPr id="13" name="TextBox 12">
              <a:extLst>
                <a:ext uri="{FF2B5EF4-FFF2-40B4-BE49-F238E27FC236}">
                  <a16:creationId xmlns:a16="http://schemas.microsoft.com/office/drawing/2014/main" id="{A5DCABFC-A718-8EB9-8203-EE9F103B330C}"/>
                </a:ext>
              </a:extLst>
            </p:cNvPr>
            <p:cNvSpPr txBox="1"/>
            <p:nvPr/>
          </p:nvSpPr>
          <p:spPr>
            <a:xfrm>
              <a:off x="6227161" y="125343"/>
              <a:ext cx="1304144" cy="369332"/>
            </a:xfrm>
            <a:prstGeom prst="rect">
              <a:avLst/>
            </a:prstGeom>
            <a:noFill/>
          </p:spPr>
          <p:txBody>
            <a:bodyPr wrap="square" rtlCol="0">
              <a:spAutoFit/>
            </a:bodyPr>
            <a:lstStyle/>
            <a:p>
              <a:r>
                <a:rPr lang="en-GB" b="1" err="1"/>
                <a:t>VeeR</a:t>
              </a:r>
              <a:r>
                <a:rPr lang="en-GB" b="1"/>
                <a:t> EL2</a:t>
              </a:r>
            </a:p>
          </p:txBody>
        </p:sp>
        <p:sp>
          <p:nvSpPr>
            <p:cNvPr id="14" name="TextBox 13">
              <a:extLst>
                <a:ext uri="{FF2B5EF4-FFF2-40B4-BE49-F238E27FC236}">
                  <a16:creationId xmlns:a16="http://schemas.microsoft.com/office/drawing/2014/main" id="{44596222-920F-722F-1E8D-192A7FADD6CB}"/>
                </a:ext>
              </a:extLst>
            </p:cNvPr>
            <p:cNvSpPr txBox="1"/>
            <p:nvPr/>
          </p:nvSpPr>
          <p:spPr>
            <a:xfrm>
              <a:off x="8213365" y="125343"/>
              <a:ext cx="1304144" cy="369332"/>
            </a:xfrm>
            <a:prstGeom prst="rect">
              <a:avLst/>
            </a:prstGeom>
            <a:noFill/>
          </p:spPr>
          <p:txBody>
            <a:bodyPr wrap="square" rtlCol="0">
              <a:spAutoFit/>
            </a:bodyPr>
            <a:lstStyle/>
            <a:p>
              <a:r>
                <a:rPr lang="en-GB" b="1"/>
                <a:t>Crypto</a:t>
              </a:r>
            </a:p>
          </p:txBody>
        </p:sp>
        <p:sp>
          <p:nvSpPr>
            <p:cNvPr id="15" name="TextBox 14">
              <a:extLst>
                <a:ext uri="{FF2B5EF4-FFF2-40B4-BE49-F238E27FC236}">
                  <a16:creationId xmlns:a16="http://schemas.microsoft.com/office/drawing/2014/main" id="{17F89EEB-4931-068D-17D2-6178D57C6A7D}"/>
                </a:ext>
              </a:extLst>
            </p:cNvPr>
            <p:cNvSpPr txBox="1"/>
            <p:nvPr/>
          </p:nvSpPr>
          <p:spPr>
            <a:xfrm>
              <a:off x="9967210" y="125343"/>
              <a:ext cx="1304144" cy="369332"/>
            </a:xfrm>
            <a:prstGeom prst="rect">
              <a:avLst/>
            </a:prstGeom>
            <a:noFill/>
          </p:spPr>
          <p:txBody>
            <a:bodyPr wrap="square" rtlCol="0">
              <a:spAutoFit/>
            </a:bodyPr>
            <a:lstStyle/>
            <a:p>
              <a:r>
                <a:rPr lang="en-GB" b="1"/>
                <a:t>Mailbox</a:t>
              </a:r>
            </a:p>
          </p:txBody>
        </p:sp>
        <p:cxnSp>
          <p:nvCxnSpPr>
            <p:cNvPr id="16" name="Straight Connector 15">
              <a:extLst>
                <a:ext uri="{FF2B5EF4-FFF2-40B4-BE49-F238E27FC236}">
                  <a16:creationId xmlns:a16="http://schemas.microsoft.com/office/drawing/2014/main" id="{8531EBFC-BE2D-672F-A843-1458471F97A6}"/>
                </a:ext>
              </a:extLst>
            </p:cNvPr>
            <p:cNvCxnSpPr/>
            <p:nvPr/>
          </p:nvCxnSpPr>
          <p:spPr>
            <a:xfrm>
              <a:off x="10348210"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2D90D5BD-EB5B-8A99-1787-7C42207D04D6}"/>
                </a:ext>
              </a:extLst>
            </p:cNvPr>
            <p:cNvCxnSpPr>
              <a:cxnSpLocks/>
            </p:cNvCxnSpPr>
            <p:nvPr/>
          </p:nvCxnSpPr>
          <p:spPr>
            <a:xfrm flipH="1" flipV="1">
              <a:off x="6636571" y="1939454"/>
              <a:ext cx="1915621" cy="7415"/>
            </a:xfrm>
            <a:prstGeom prst="straightConnector1">
              <a:avLst/>
            </a:prstGeom>
            <a:ln w="28575">
              <a:solidFill>
                <a:schemeClr val="bg2">
                  <a:lumMod val="25000"/>
                </a:schemeClr>
              </a:solidFill>
              <a:prstDash val="dash"/>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FC690C1E-2C7F-E55C-0259-8238D4812802}"/>
                </a:ext>
              </a:extLst>
            </p:cNvPr>
            <p:cNvCxnSpPr>
              <a:cxnSpLocks/>
            </p:cNvCxnSpPr>
            <p:nvPr/>
          </p:nvCxnSpPr>
          <p:spPr>
            <a:xfrm>
              <a:off x="6645178" y="1366817"/>
              <a:ext cx="1915621" cy="0"/>
            </a:xfrm>
            <a:prstGeom prst="straightConnector1">
              <a:avLst/>
            </a:prstGeom>
            <a:ln w="28575">
              <a:solidFill>
                <a:schemeClr val="bg2">
                  <a:lumMod val="2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8F806DF5-D5E0-75FB-E382-DA394835B96E}"/>
                </a:ext>
              </a:extLst>
            </p:cNvPr>
            <p:cNvSpPr txBox="1"/>
            <p:nvPr/>
          </p:nvSpPr>
          <p:spPr>
            <a:xfrm>
              <a:off x="6865646" y="623822"/>
              <a:ext cx="2557067" cy="646331"/>
            </a:xfrm>
            <a:prstGeom prst="rect">
              <a:avLst/>
            </a:prstGeom>
            <a:noFill/>
          </p:spPr>
          <p:txBody>
            <a:bodyPr wrap="square" rtlCol="0">
              <a:spAutoFit/>
            </a:bodyPr>
            <a:lstStyle/>
            <a:p>
              <a:r>
                <a:rPr lang="en-GB" err="1">
                  <a:solidFill>
                    <a:schemeClr val="bg2">
                      <a:lumMod val="10000"/>
                    </a:schemeClr>
                  </a:solidFill>
                </a:rPr>
                <a:t>AHB_write</a:t>
              </a:r>
              <a:r>
                <a:rPr lang="en-GB">
                  <a:solidFill>
                    <a:schemeClr val="bg2">
                      <a:lumMod val="10000"/>
                    </a:schemeClr>
                  </a:solidFill>
                </a:rPr>
                <a:t>: sha512_block</a:t>
              </a:r>
            </a:p>
          </p:txBody>
        </p:sp>
        <p:cxnSp>
          <p:nvCxnSpPr>
            <p:cNvPr id="4" name="Straight Arrow Connector 3">
              <a:extLst>
                <a:ext uri="{FF2B5EF4-FFF2-40B4-BE49-F238E27FC236}">
                  <a16:creationId xmlns:a16="http://schemas.microsoft.com/office/drawing/2014/main" id="{545E7E83-B4EF-4F6C-6F70-E75719EE141F}"/>
                </a:ext>
              </a:extLst>
            </p:cNvPr>
            <p:cNvCxnSpPr>
              <a:cxnSpLocks/>
            </p:cNvCxnSpPr>
            <p:nvPr/>
          </p:nvCxnSpPr>
          <p:spPr>
            <a:xfrm>
              <a:off x="6644386" y="2682924"/>
              <a:ext cx="1915621" cy="0"/>
            </a:xfrm>
            <a:prstGeom prst="straightConnector1">
              <a:avLst/>
            </a:prstGeom>
            <a:ln w="28575">
              <a:solidFill>
                <a:schemeClr val="bg2">
                  <a:lumMod val="25000"/>
                </a:schemeClr>
              </a:solidFill>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33A5263-A760-162B-821F-8AE57FD84F1E}"/>
                </a:ext>
              </a:extLst>
            </p:cNvPr>
            <p:cNvCxnSpPr>
              <a:cxnSpLocks/>
            </p:cNvCxnSpPr>
            <p:nvPr/>
          </p:nvCxnSpPr>
          <p:spPr>
            <a:xfrm flipH="1" flipV="1">
              <a:off x="6628152" y="3129886"/>
              <a:ext cx="1915621" cy="7415"/>
            </a:xfrm>
            <a:prstGeom prst="straightConnector1">
              <a:avLst/>
            </a:prstGeom>
            <a:ln w="28575">
              <a:solidFill>
                <a:schemeClr val="bg2">
                  <a:lumMod val="25000"/>
                </a:schemeClr>
              </a:solidFill>
              <a:prstDash val="dash"/>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C17CAC61-0278-5D09-7207-42989454FF7F}"/>
                </a:ext>
              </a:extLst>
            </p:cNvPr>
            <p:cNvCxnSpPr>
              <a:cxnSpLocks/>
            </p:cNvCxnSpPr>
            <p:nvPr/>
          </p:nvCxnSpPr>
          <p:spPr>
            <a:xfrm>
              <a:off x="6644386" y="3905364"/>
              <a:ext cx="1915621" cy="0"/>
            </a:xfrm>
            <a:prstGeom prst="straightConnector1">
              <a:avLst/>
            </a:prstGeom>
            <a:ln w="28575">
              <a:solidFill>
                <a:schemeClr val="bg2">
                  <a:lumMod val="25000"/>
                </a:schemeClr>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582664A4-E970-0522-83A1-D589A94F4AEE}"/>
                </a:ext>
              </a:extLst>
            </p:cNvPr>
            <p:cNvCxnSpPr>
              <a:cxnSpLocks/>
            </p:cNvCxnSpPr>
            <p:nvPr/>
          </p:nvCxnSpPr>
          <p:spPr>
            <a:xfrm flipH="1" flipV="1">
              <a:off x="6644386" y="4528256"/>
              <a:ext cx="1915621" cy="7415"/>
            </a:xfrm>
            <a:prstGeom prst="straightConnector1">
              <a:avLst/>
            </a:prstGeom>
            <a:ln w="28575">
              <a:solidFill>
                <a:schemeClr val="bg2">
                  <a:lumMod val="25000"/>
                </a:schemeClr>
              </a:solidFill>
              <a:prstDash val="dash"/>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45F428E8-0DC3-2B27-6666-F85D08C5BB36}"/>
                </a:ext>
              </a:extLst>
            </p:cNvPr>
            <p:cNvCxnSpPr>
              <a:cxnSpLocks/>
            </p:cNvCxnSpPr>
            <p:nvPr/>
          </p:nvCxnSpPr>
          <p:spPr>
            <a:xfrm>
              <a:off x="6628152" y="5464296"/>
              <a:ext cx="1915621" cy="0"/>
            </a:xfrm>
            <a:prstGeom prst="straightConnector1">
              <a:avLst/>
            </a:prstGeom>
            <a:ln w="28575">
              <a:solidFill>
                <a:schemeClr val="bg2">
                  <a:lumMod val="25000"/>
                </a:schemeClr>
              </a:solidFill>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F4D500D3-9B03-AC62-BD8A-CF9123BB6F4C}"/>
                </a:ext>
              </a:extLst>
            </p:cNvPr>
            <p:cNvCxnSpPr>
              <a:cxnSpLocks/>
            </p:cNvCxnSpPr>
            <p:nvPr/>
          </p:nvCxnSpPr>
          <p:spPr>
            <a:xfrm flipH="1" flipV="1">
              <a:off x="6599741" y="5924403"/>
              <a:ext cx="1915621" cy="7415"/>
            </a:xfrm>
            <a:prstGeom prst="straightConnector1">
              <a:avLst/>
            </a:prstGeom>
            <a:ln w="28575">
              <a:solidFill>
                <a:schemeClr val="bg2">
                  <a:lumMod val="25000"/>
                </a:schemeClr>
              </a:solidFill>
              <a:prstDash val="dash"/>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2E2389DB-16F6-3133-6D9C-7CDB15F574A6}"/>
                </a:ext>
              </a:extLst>
            </p:cNvPr>
            <p:cNvSpPr txBox="1"/>
            <p:nvPr/>
          </p:nvSpPr>
          <p:spPr>
            <a:xfrm>
              <a:off x="6870191" y="1492492"/>
              <a:ext cx="1689816" cy="369321"/>
            </a:xfrm>
            <a:prstGeom prst="rect">
              <a:avLst/>
            </a:prstGeom>
            <a:noFill/>
          </p:spPr>
          <p:txBody>
            <a:bodyPr wrap="square" rtlCol="0">
              <a:spAutoFit/>
            </a:bodyPr>
            <a:lstStyle/>
            <a:p>
              <a:r>
                <a:rPr lang="en-GB">
                  <a:solidFill>
                    <a:schemeClr val="bg2">
                      <a:lumMod val="10000"/>
                    </a:schemeClr>
                  </a:solidFill>
                </a:rPr>
                <a:t>sha512_valid</a:t>
              </a:r>
            </a:p>
          </p:txBody>
        </p:sp>
        <p:sp>
          <p:nvSpPr>
            <p:cNvPr id="30" name="TextBox 29">
              <a:extLst>
                <a:ext uri="{FF2B5EF4-FFF2-40B4-BE49-F238E27FC236}">
                  <a16:creationId xmlns:a16="http://schemas.microsoft.com/office/drawing/2014/main" id="{284BAB35-70BC-64BD-AEFA-66C3A3F4E39D}"/>
                </a:ext>
              </a:extLst>
            </p:cNvPr>
            <p:cNvSpPr txBox="1"/>
            <p:nvPr/>
          </p:nvSpPr>
          <p:spPr>
            <a:xfrm>
              <a:off x="7009153" y="1992502"/>
              <a:ext cx="2006492" cy="646331"/>
            </a:xfrm>
            <a:prstGeom prst="rect">
              <a:avLst/>
            </a:prstGeom>
            <a:noFill/>
          </p:spPr>
          <p:txBody>
            <a:bodyPr wrap="square" rtlCol="0">
              <a:spAutoFit/>
            </a:bodyPr>
            <a:lstStyle/>
            <a:p>
              <a:r>
                <a:rPr lang="en-GB" err="1">
                  <a:solidFill>
                    <a:schemeClr val="bg2">
                      <a:lumMod val="10000"/>
                    </a:schemeClr>
                  </a:solidFill>
                </a:rPr>
                <a:t>AHB_write</a:t>
              </a:r>
              <a:r>
                <a:rPr lang="en-GB">
                  <a:solidFill>
                    <a:schemeClr val="bg2">
                      <a:lumMod val="10000"/>
                    </a:schemeClr>
                  </a:solidFill>
                </a:rPr>
                <a:t>: </a:t>
              </a:r>
              <a:r>
                <a:rPr lang="en-GB" err="1">
                  <a:solidFill>
                    <a:schemeClr val="bg2">
                      <a:lumMod val="10000"/>
                    </a:schemeClr>
                  </a:solidFill>
                </a:rPr>
                <a:t>ecc_cmd</a:t>
              </a:r>
              <a:endParaRPr lang="en-GB">
                <a:solidFill>
                  <a:schemeClr val="bg2">
                    <a:lumMod val="10000"/>
                  </a:schemeClr>
                </a:solidFill>
              </a:endParaRPr>
            </a:p>
          </p:txBody>
        </p:sp>
        <p:sp>
          <p:nvSpPr>
            <p:cNvPr id="34" name="TextBox 33">
              <a:extLst>
                <a:ext uri="{FF2B5EF4-FFF2-40B4-BE49-F238E27FC236}">
                  <a16:creationId xmlns:a16="http://schemas.microsoft.com/office/drawing/2014/main" id="{21B45B6D-5E40-FD14-EC7A-58B4985FC4BA}"/>
                </a:ext>
              </a:extLst>
            </p:cNvPr>
            <p:cNvSpPr txBox="1"/>
            <p:nvPr/>
          </p:nvSpPr>
          <p:spPr>
            <a:xfrm>
              <a:off x="6919385" y="2682924"/>
              <a:ext cx="1689816" cy="369321"/>
            </a:xfrm>
            <a:prstGeom prst="rect">
              <a:avLst/>
            </a:prstGeom>
            <a:noFill/>
          </p:spPr>
          <p:txBody>
            <a:bodyPr wrap="square" rtlCol="0">
              <a:spAutoFit/>
            </a:bodyPr>
            <a:lstStyle/>
            <a:p>
              <a:r>
                <a:rPr lang="en-GB" err="1">
                  <a:solidFill>
                    <a:schemeClr val="bg2">
                      <a:lumMod val="10000"/>
                    </a:schemeClr>
                  </a:solidFill>
                </a:rPr>
                <a:t>ecc_valid</a:t>
              </a:r>
              <a:endParaRPr lang="en-GB">
                <a:solidFill>
                  <a:schemeClr val="bg2">
                    <a:lumMod val="10000"/>
                  </a:schemeClr>
                </a:solidFill>
              </a:endParaRPr>
            </a:p>
          </p:txBody>
        </p:sp>
        <p:sp>
          <p:nvSpPr>
            <p:cNvPr id="36" name="TextBox 35">
              <a:extLst>
                <a:ext uri="{FF2B5EF4-FFF2-40B4-BE49-F238E27FC236}">
                  <a16:creationId xmlns:a16="http://schemas.microsoft.com/office/drawing/2014/main" id="{C9389E2D-B274-06F9-69EC-FA3B8069F0A4}"/>
                </a:ext>
              </a:extLst>
            </p:cNvPr>
            <p:cNvSpPr txBox="1"/>
            <p:nvPr/>
          </p:nvSpPr>
          <p:spPr>
            <a:xfrm>
              <a:off x="6733082" y="3181392"/>
              <a:ext cx="2006492" cy="646331"/>
            </a:xfrm>
            <a:prstGeom prst="rect">
              <a:avLst/>
            </a:prstGeom>
            <a:noFill/>
          </p:spPr>
          <p:txBody>
            <a:bodyPr wrap="square" rtlCol="0">
              <a:spAutoFit/>
            </a:bodyPr>
            <a:lstStyle/>
            <a:p>
              <a:r>
                <a:rPr lang="en-GB" err="1">
                  <a:solidFill>
                    <a:schemeClr val="bg2">
                      <a:lumMod val="10000"/>
                    </a:schemeClr>
                  </a:solidFill>
                </a:rPr>
                <a:t>AHB_write</a:t>
              </a:r>
              <a:r>
                <a:rPr lang="en-GB">
                  <a:solidFill>
                    <a:schemeClr val="bg2">
                      <a:lumMod val="10000"/>
                    </a:schemeClr>
                  </a:solidFill>
                </a:rPr>
                <a:t>: </a:t>
              </a:r>
              <a:r>
                <a:rPr lang="en-GB" err="1">
                  <a:solidFill>
                    <a:schemeClr val="bg2">
                      <a:lumMod val="10000"/>
                    </a:schemeClr>
                  </a:solidFill>
                </a:rPr>
                <a:t>hmac_key</a:t>
              </a:r>
              <a:r>
                <a:rPr lang="en-GB">
                  <a:solidFill>
                    <a:schemeClr val="bg2">
                      <a:lumMod val="10000"/>
                    </a:schemeClr>
                  </a:solidFill>
                </a:rPr>
                <a:t>, block</a:t>
              </a:r>
            </a:p>
          </p:txBody>
        </p:sp>
        <p:sp>
          <p:nvSpPr>
            <p:cNvPr id="37" name="TextBox 36">
              <a:extLst>
                <a:ext uri="{FF2B5EF4-FFF2-40B4-BE49-F238E27FC236}">
                  <a16:creationId xmlns:a16="http://schemas.microsoft.com/office/drawing/2014/main" id="{6A266245-761E-BD2D-1AB7-ACC95E20209D}"/>
                </a:ext>
              </a:extLst>
            </p:cNvPr>
            <p:cNvSpPr txBox="1"/>
            <p:nvPr/>
          </p:nvSpPr>
          <p:spPr>
            <a:xfrm>
              <a:off x="6813982" y="4060647"/>
              <a:ext cx="1689816" cy="369321"/>
            </a:xfrm>
            <a:prstGeom prst="rect">
              <a:avLst/>
            </a:prstGeom>
            <a:noFill/>
          </p:spPr>
          <p:txBody>
            <a:bodyPr wrap="square" rtlCol="0">
              <a:spAutoFit/>
            </a:bodyPr>
            <a:lstStyle/>
            <a:p>
              <a:r>
                <a:rPr lang="en-GB" err="1">
                  <a:solidFill>
                    <a:schemeClr val="bg2">
                      <a:lumMod val="10000"/>
                    </a:schemeClr>
                  </a:solidFill>
                </a:rPr>
                <a:t>hmac_valid</a:t>
              </a:r>
              <a:endParaRPr lang="en-GB">
                <a:solidFill>
                  <a:schemeClr val="bg2">
                    <a:lumMod val="10000"/>
                  </a:schemeClr>
                </a:solidFill>
              </a:endParaRPr>
            </a:p>
          </p:txBody>
        </p:sp>
        <p:sp>
          <p:nvSpPr>
            <p:cNvPr id="44" name="TextBox 43">
              <a:extLst>
                <a:ext uri="{FF2B5EF4-FFF2-40B4-BE49-F238E27FC236}">
                  <a16:creationId xmlns:a16="http://schemas.microsoft.com/office/drawing/2014/main" id="{AB01854D-3D3C-7857-F543-3903015CA289}"/>
                </a:ext>
              </a:extLst>
            </p:cNvPr>
            <p:cNvSpPr txBox="1"/>
            <p:nvPr/>
          </p:nvSpPr>
          <p:spPr>
            <a:xfrm>
              <a:off x="6857856" y="4682407"/>
              <a:ext cx="2006492" cy="646331"/>
            </a:xfrm>
            <a:prstGeom prst="rect">
              <a:avLst/>
            </a:prstGeom>
            <a:noFill/>
          </p:spPr>
          <p:txBody>
            <a:bodyPr wrap="square" rtlCol="0">
              <a:spAutoFit/>
            </a:bodyPr>
            <a:lstStyle/>
            <a:p>
              <a:r>
                <a:rPr lang="en-GB" err="1">
                  <a:solidFill>
                    <a:schemeClr val="bg2">
                      <a:lumMod val="10000"/>
                    </a:schemeClr>
                  </a:solidFill>
                </a:rPr>
                <a:t>AHB_write</a:t>
              </a:r>
              <a:r>
                <a:rPr lang="en-GB">
                  <a:solidFill>
                    <a:schemeClr val="bg2">
                      <a:lumMod val="10000"/>
                    </a:schemeClr>
                  </a:solidFill>
                </a:rPr>
                <a:t>: </a:t>
              </a:r>
              <a:r>
                <a:rPr lang="en-GB" err="1">
                  <a:solidFill>
                    <a:schemeClr val="bg2">
                      <a:lumMod val="10000"/>
                    </a:schemeClr>
                  </a:solidFill>
                </a:rPr>
                <a:t>pcr_extend</a:t>
              </a:r>
              <a:endParaRPr lang="en-GB">
                <a:solidFill>
                  <a:schemeClr val="bg2">
                    <a:lumMod val="10000"/>
                  </a:schemeClr>
                </a:solidFill>
              </a:endParaRPr>
            </a:p>
          </p:txBody>
        </p:sp>
        <p:sp>
          <p:nvSpPr>
            <p:cNvPr id="48" name="TextBox 47">
              <a:extLst>
                <a:ext uri="{FF2B5EF4-FFF2-40B4-BE49-F238E27FC236}">
                  <a16:creationId xmlns:a16="http://schemas.microsoft.com/office/drawing/2014/main" id="{D43FF666-964F-6361-4042-4548484538A0}"/>
                </a:ext>
              </a:extLst>
            </p:cNvPr>
            <p:cNvSpPr txBox="1"/>
            <p:nvPr/>
          </p:nvSpPr>
          <p:spPr>
            <a:xfrm>
              <a:off x="7011570" y="5464296"/>
              <a:ext cx="1181254" cy="371661"/>
            </a:xfrm>
            <a:prstGeom prst="rect">
              <a:avLst/>
            </a:prstGeom>
            <a:noFill/>
          </p:spPr>
          <p:txBody>
            <a:bodyPr wrap="square" rtlCol="0">
              <a:spAutoFit/>
            </a:bodyPr>
            <a:lstStyle/>
            <a:p>
              <a:r>
                <a:rPr lang="en-GB" err="1">
                  <a:solidFill>
                    <a:schemeClr val="bg2">
                      <a:lumMod val="10000"/>
                    </a:schemeClr>
                  </a:solidFill>
                </a:rPr>
                <a:t>pcr_valid</a:t>
              </a:r>
              <a:endParaRPr lang="en-GB">
                <a:solidFill>
                  <a:schemeClr val="bg2">
                    <a:lumMod val="10000"/>
                  </a:schemeClr>
                </a:solidFill>
              </a:endParaRPr>
            </a:p>
          </p:txBody>
        </p:sp>
      </p:grpSp>
      <p:sp>
        <p:nvSpPr>
          <p:cNvPr id="82" name="Title 1">
            <a:extLst>
              <a:ext uri="{FF2B5EF4-FFF2-40B4-BE49-F238E27FC236}">
                <a16:creationId xmlns:a16="http://schemas.microsoft.com/office/drawing/2014/main" id="{E9795FE5-93D9-7026-7159-E084B9069413}"/>
              </a:ext>
            </a:extLst>
          </p:cNvPr>
          <p:cNvSpPr>
            <a:spLocks noGrp="1"/>
          </p:cNvSpPr>
          <p:nvPr>
            <p:ph type="title"/>
          </p:nvPr>
        </p:nvSpPr>
        <p:spPr>
          <a:xfrm>
            <a:off x="0" y="-1"/>
            <a:ext cx="12192000" cy="435157"/>
          </a:xfrm>
          <a:solidFill>
            <a:schemeClr val="accent6">
              <a:lumMod val="60000"/>
              <a:lumOff val="40000"/>
            </a:schemeClr>
          </a:solidFill>
        </p:spPr>
        <p:txBody>
          <a:bodyPr>
            <a:normAutofit fontScale="90000"/>
          </a:bodyPr>
          <a:lstStyle/>
          <a:p>
            <a:pPr algn="ctr"/>
            <a:r>
              <a:rPr lang="en-GB" sz="3200"/>
              <a:t>Phase 5: Crypto Operations</a:t>
            </a:r>
          </a:p>
        </p:txBody>
      </p:sp>
    </p:spTree>
    <p:extLst>
      <p:ext uri="{BB962C8B-B14F-4D97-AF65-F5344CB8AC3E}">
        <p14:creationId xmlns:p14="http://schemas.microsoft.com/office/powerpoint/2010/main" val="3498594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1FDAD-D69A-3C22-EF91-62C9697D6A3B}"/>
            </a:ext>
          </a:extLst>
        </p:cNvPr>
        <p:cNvGrpSpPr/>
        <p:nvPr/>
      </p:nvGrpSpPr>
      <p:grpSpPr>
        <a:xfrm>
          <a:off x="0" y="0"/>
          <a:ext cx="0" cy="0"/>
          <a:chOff x="0" y="0"/>
          <a:chExt cx="0" cy="0"/>
        </a:xfrm>
      </p:grpSpPr>
      <p:grpSp>
        <p:nvGrpSpPr>
          <p:cNvPr id="81" name="Group 80">
            <a:extLst>
              <a:ext uri="{FF2B5EF4-FFF2-40B4-BE49-F238E27FC236}">
                <a16:creationId xmlns:a16="http://schemas.microsoft.com/office/drawing/2014/main" id="{BBE8FCFE-4A2B-B11A-7E18-9FA8DC9DBB1D}"/>
              </a:ext>
            </a:extLst>
          </p:cNvPr>
          <p:cNvGrpSpPr/>
          <p:nvPr/>
        </p:nvGrpSpPr>
        <p:grpSpPr>
          <a:xfrm>
            <a:off x="800723" y="649999"/>
            <a:ext cx="10590553" cy="6050605"/>
            <a:chOff x="680801" y="125343"/>
            <a:chExt cx="10590553" cy="6050605"/>
          </a:xfrm>
        </p:grpSpPr>
        <p:cxnSp>
          <p:nvCxnSpPr>
            <p:cNvPr id="5" name="Straight Connector 4">
              <a:extLst>
                <a:ext uri="{FF2B5EF4-FFF2-40B4-BE49-F238E27FC236}">
                  <a16:creationId xmlns:a16="http://schemas.microsoft.com/office/drawing/2014/main" id="{29CEDCA2-F08F-5B3B-AEC5-CD281EC874FA}"/>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9D86538C-6492-A21C-AB4B-156D1869B97A}"/>
                </a:ext>
              </a:extLst>
            </p:cNvPr>
            <p:cNvCxnSpPr/>
            <p:nvPr/>
          </p:nvCxnSpPr>
          <p:spPr>
            <a:xfrm>
              <a:off x="2805660" y="494674"/>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741FEC20-21CA-2BD0-8FB9-5F7E02C924CD}"/>
                </a:ext>
              </a:extLst>
            </p:cNvPr>
            <p:cNvCxnSpPr/>
            <p:nvPr/>
          </p:nvCxnSpPr>
          <p:spPr>
            <a:xfrm>
              <a:off x="4769371"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73522DEC-B331-1AC1-3C62-28D9886562BE}"/>
                </a:ext>
              </a:extLst>
            </p:cNvPr>
            <p:cNvCxnSpPr/>
            <p:nvPr/>
          </p:nvCxnSpPr>
          <p:spPr>
            <a:xfrm>
              <a:off x="662815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D8D3C6F7-313E-E3F8-62E3-B22DA8D4530A}"/>
                </a:ext>
              </a:extLst>
            </p:cNvPr>
            <p:cNvCxnSpPr/>
            <p:nvPr/>
          </p:nvCxnSpPr>
          <p:spPr>
            <a:xfrm>
              <a:off x="853190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5F76ED0B-426E-3A41-BB98-FAF986ED0C0C}"/>
                </a:ext>
              </a:extLst>
            </p:cNvPr>
            <p:cNvSpPr txBox="1"/>
            <p:nvPr/>
          </p:nvSpPr>
          <p:spPr>
            <a:xfrm>
              <a:off x="680801" y="125343"/>
              <a:ext cx="1304144" cy="369332"/>
            </a:xfrm>
            <a:prstGeom prst="rect">
              <a:avLst/>
            </a:prstGeom>
            <a:noFill/>
          </p:spPr>
          <p:txBody>
            <a:bodyPr wrap="square" rtlCol="0">
              <a:spAutoFit/>
            </a:bodyPr>
            <a:lstStyle/>
            <a:p>
              <a:r>
                <a:rPr lang="en-GB" b="1"/>
                <a:t>SoC</a:t>
              </a:r>
            </a:p>
          </p:txBody>
        </p:sp>
        <p:sp>
          <p:nvSpPr>
            <p:cNvPr id="11" name="TextBox 10">
              <a:extLst>
                <a:ext uri="{FF2B5EF4-FFF2-40B4-BE49-F238E27FC236}">
                  <a16:creationId xmlns:a16="http://schemas.microsoft.com/office/drawing/2014/main" id="{3181A95C-CC3F-4805-F902-B6ABC3933B49}"/>
                </a:ext>
              </a:extLst>
            </p:cNvPr>
            <p:cNvSpPr txBox="1"/>
            <p:nvPr/>
          </p:nvSpPr>
          <p:spPr>
            <a:xfrm>
              <a:off x="2284748" y="132839"/>
              <a:ext cx="1753847" cy="369332"/>
            </a:xfrm>
            <a:prstGeom prst="rect">
              <a:avLst/>
            </a:prstGeom>
            <a:noFill/>
          </p:spPr>
          <p:txBody>
            <a:bodyPr wrap="square" rtlCol="0">
              <a:spAutoFit/>
            </a:bodyPr>
            <a:lstStyle/>
            <a:p>
              <a:r>
                <a:rPr lang="en-GB" b="1"/>
                <a:t>AXI Interface</a:t>
              </a:r>
            </a:p>
          </p:txBody>
        </p:sp>
        <p:sp>
          <p:nvSpPr>
            <p:cNvPr id="12" name="TextBox 11">
              <a:extLst>
                <a:ext uri="{FF2B5EF4-FFF2-40B4-BE49-F238E27FC236}">
                  <a16:creationId xmlns:a16="http://schemas.microsoft.com/office/drawing/2014/main" id="{E51813D0-9F4A-E230-C768-1A4CEA8A84F0}"/>
                </a:ext>
              </a:extLst>
            </p:cNvPr>
            <p:cNvSpPr txBox="1"/>
            <p:nvPr/>
          </p:nvSpPr>
          <p:spPr>
            <a:xfrm>
              <a:off x="4379625" y="125343"/>
              <a:ext cx="1304144" cy="369332"/>
            </a:xfrm>
            <a:prstGeom prst="rect">
              <a:avLst/>
            </a:prstGeom>
            <a:noFill/>
          </p:spPr>
          <p:txBody>
            <a:bodyPr wrap="square" rtlCol="0">
              <a:spAutoFit/>
            </a:bodyPr>
            <a:lstStyle/>
            <a:p>
              <a:r>
                <a:rPr lang="en-GB" b="1" dirty="0"/>
                <a:t>Boot FSM</a:t>
              </a:r>
            </a:p>
          </p:txBody>
        </p:sp>
        <p:sp>
          <p:nvSpPr>
            <p:cNvPr id="13" name="TextBox 12">
              <a:extLst>
                <a:ext uri="{FF2B5EF4-FFF2-40B4-BE49-F238E27FC236}">
                  <a16:creationId xmlns:a16="http://schemas.microsoft.com/office/drawing/2014/main" id="{879DF7A1-A8C7-095E-D9A7-6D1A5D1BF6EE}"/>
                </a:ext>
              </a:extLst>
            </p:cNvPr>
            <p:cNvSpPr txBox="1"/>
            <p:nvPr/>
          </p:nvSpPr>
          <p:spPr>
            <a:xfrm>
              <a:off x="6227161" y="125343"/>
              <a:ext cx="1304144" cy="369332"/>
            </a:xfrm>
            <a:prstGeom prst="rect">
              <a:avLst/>
            </a:prstGeom>
            <a:noFill/>
          </p:spPr>
          <p:txBody>
            <a:bodyPr wrap="square" rtlCol="0">
              <a:spAutoFit/>
            </a:bodyPr>
            <a:lstStyle/>
            <a:p>
              <a:r>
                <a:rPr lang="en-GB" b="1" err="1"/>
                <a:t>VeeR</a:t>
              </a:r>
              <a:r>
                <a:rPr lang="en-GB" b="1"/>
                <a:t> EL2</a:t>
              </a:r>
            </a:p>
          </p:txBody>
        </p:sp>
        <p:sp>
          <p:nvSpPr>
            <p:cNvPr id="14" name="TextBox 13">
              <a:extLst>
                <a:ext uri="{FF2B5EF4-FFF2-40B4-BE49-F238E27FC236}">
                  <a16:creationId xmlns:a16="http://schemas.microsoft.com/office/drawing/2014/main" id="{0436146D-450A-7E6C-ACA7-C17254ADA034}"/>
                </a:ext>
              </a:extLst>
            </p:cNvPr>
            <p:cNvSpPr txBox="1"/>
            <p:nvPr/>
          </p:nvSpPr>
          <p:spPr>
            <a:xfrm>
              <a:off x="8213365" y="125343"/>
              <a:ext cx="1304144" cy="369332"/>
            </a:xfrm>
            <a:prstGeom prst="rect">
              <a:avLst/>
            </a:prstGeom>
            <a:noFill/>
          </p:spPr>
          <p:txBody>
            <a:bodyPr wrap="square" rtlCol="0">
              <a:spAutoFit/>
            </a:bodyPr>
            <a:lstStyle/>
            <a:p>
              <a:r>
                <a:rPr lang="en-GB" b="1"/>
                <a:t>Crypto</a:t>
              </a:r>
            </a:p>
          </p:txBody>
        </p:sp>
        <p:sp>
          <p:nvSpPr>
            <p:cNvPr id="15" name="TextBox 14">
              <a:extLst>
                <a:ext uri="{FF2B5EF4-FFF2-40B4-BE49-F238E27FC236}">
                  <a16:creationId xmlns:a16="http://schemas.microsoft.com/office/drawing/2014/main" id="{3E7BF03E-4BBF-687B-3695-F434ACF0F6F0}"/>
                </a:ext>
              </a:extLst>
            </p:cNvPr>
            <p:cNvSpPr txBox="1"/>
            <p:nvPr/>
          </p:nvSpPr>
          <p:spPr>
            <a:xfrm>
              <a:off x="9967210" y="125343"/>
              <a:ext cx="1304144" cy="369332"/>
            </a:xfrm>
            <a:prstGeom prst="rect">
              <a:avLst/>
            </a:prstGeom>
            <a:noFill/>
          </p:spPr>
          <p:txBody>
            <a:bodyPr wrap="square" rtlCol="0">
              <a:spAutoFit/>
            </a:bodyPr>
            <a:lstStyle/>
            <a:p>
              <a:r>
                <a:rPr lang="en-GB" b="1"/>
                <a:t>Mailbox</a:t>
              </a:r>
            </a:p>
          </p:txBody>
        </p:sp>
        <p:cxnSp>
          <p:nvCxnSpPr>
            <p:cNvPr id="16" name="Straight Connector 15">
              <a:extLst>
                <a:ext uri="{FF2B5EF4-FFF2-40B4-BE49-F238E27FC236}">
                  <a16:creationId xmlns:a16="http://schemas.microsoft.com/office/drawing/2014/main" id="{B20650A4-96EF-CDF4-AAF0-B1449B3BB2D1}"/>
                </a:ext>
              </a:extLst>
            </p:cNvPr>
            <p:cNvCxnSpPr/>
            <p:nvPr/>
          </p:nvCxnSpPr>
          <p:spPr>
            <a:xfrm>
              <a:off x="10348210"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CBFDCCC0-283E-656D-3352-B0BCD6D2C77B}"/>
                </a:ext>
              </a:extLst>
            </p:cNvPr>
            <p:cNvCxnSpPr>
              <a:cxnSpLocks/>
            </p:cNvCxnSpPr>
            <p:nvPr/>
          </p:nvCxnSpPr>
          <p:spPr>
            <a:xfrm flipH="1">
              <a:off x="6644386" y="4528256"/>
              <a:ext cx="3666041" cy="0"/>
            </a:xfrm>
            <a:prstGeom prst="straightConnector1">
              <a:avLst/>
            </a:prstGeom>
            <a:ln w="28575">
              <a:solidFill>
                <a:srgbClr val="FFC000"/>
              </a:solidFill>
              <a:prstDash val="dash"/>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EF374B1E-E65E-946F-7E78-8B6F963094FD}"/>
                </a:ext>
              </a:extLst>
            </p:cNvPr>
            <p:cNvCxnSpPr>
              <a:cxnSpLocks/>
            </p:cNvCxnSpPr>
            <p:nvPr/>
          </p:nvCxnSpPr>
          <p:spPr>
            <a:xfrm>
              <a:off x="6644386" y="5209464"/>
              <a:ext cx="3699921" cy="0"/>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F1974534-3D03-0B31-F901-E9794520768E}"/>
                </a:ext>
              </a:extLst>
            </p:cNvPr>
            <p:cNvSpPr txBox="1"/>
            <p:nvPr/>
          </p:nvSpPr>
          <p:spPr>
            <a:xfrm>
              <a:off x="4909925" y="1276800"/>
              <a:ext cx="1689816" cy="369332"/>
            </a:xfrm>
            <a:prstGeom prst="rect">
              <a:avLst/>
            </a:prstGeom>
            <a:noFill/>
          </p:spPr>
          <p:txBody>
            <a:bodyPr wrap="square" rtlCol="0">
              <a:spAutoFit/>
            </a:bodyPr>
            <a:lstStyle/>
            <a:p>
              <a:r>
                <a:rPr lang="en-GB" b="1">
                  <a:solidFill>
                    <a:srgbClr val="FFC000"/>
                  </a:solidFill>
                </a:rPr>
                <a:t>lock granted</a:t>
              </a:r>
            </a:p>
          </p:txBody>
        </p:sp>
        <p:sp>
          <p:nvSpPr>
            <p:cNvPr id="30" name="TextBox 29">
              <a:extLst>
                <a:ext uri="{FF2B5EF4-FFF2-40B4-BE49-F238E27FC236}">
                  <a16:creationId xmlns:a16="http://schemas.microsoft.com/office/drawing/2014/main" id="{75068168-EF9E-B592-AAF3-F7B14F121D26}"/>
                </a:ext>
              </a:extLst>
            </p:cNvPr>
            <p:cNvSpPr txBox="1"/>
            <p:nvPr/>
          </p:nvSpPr>
          <p:spPr>
            <a:xfrm>
              <a:off x="6850049" y="4769967"/>
              <a:ext cx="3175873" cy="369332"/>
            </a:xfrm>
            <a:prstGeom prst="rect">
              <a:avLst/>
            </a:prstGeom>
            <a:noFill/>
          </p:spPr>
          <p:txBody>
            <a:bodyPr wrap="square" rtlCol="0">
              <a:spAutoFit/>
            </a:bodyPr>
            <a:lstStyle/>
            <a:p>
              <a:r>
                <a:rPr lang="en-GB" b="1" err="1">
                  <a:solidFill>
                    <a:srgbClr val="FFC000"/>
                  </a:solidFill>
                </a:rPr>
                <a:t>AHB_read</a:t>
              </a:r>
              <a:r>
                <a:rPr lang="en-GB" b="1">
                  <a:solidFill>
                    <a:srgbClr val="FFC000"/>
                  </a:solidFill>
                </a:rPr>
                <a:t>: </a:t>
              </a:r>
              <a:r>
                <a:rPr lang="en-GB" b="1" err="1">
                  <a:solidFill>
                    <a:srgbClr val="FFC000"/>
                  </a:solidFill>
                </a:rPr>
                <a:t>mbox_cmd</a:t>
              </a:r>
              <a:r>
                <a:rPr lang="en-GB" b="1">
                  <a:solidFill>
                    <a:srgbClr val="FFC000"/>
                  </a:solidFill>
                </a:rPr>
                <a:t>, data</a:t>
              </a:r>
            </a:p>
          </p:txBody>
        </p:sp>
        <p:sp>
          <p:nvSpPr>
            <p:cNvPr id="36" name="TextBox 35">
              <a:extLst>
                <a:ext uri="{FF2B5EF4-FFF2-40B4-BE49-F238E27FC236}">
                  <a16:creationId xmlns:a16="http://schemas.microsoft.com/office/drawing/2014/main" id="{A55BD144-92D5-6A37-C6AD-27963E6A21E0}"/>
                </a:ext>
              </a:extLst>
            </p:cNvPr>
            <p:cNvSpPr txBox="1"/>
            <p:nvPr/>
          </p:nvSpPr>
          <p:spPr>
            <a:xfrm>
              <a:off x="4142795" y="1925778"/>
              <a:ext cx="3666565" cy="369332"/>
            </a:xfrm>
            <a:prstGeom prst="rect">
              <a:avLst/>
            </a:prstGeom>
            <a:noFill/>
          </p:spPr>
          <p:txBody>
            <a:bodyPr wrap="square" rtlCol="0">
              <a:spAutoFit/>
            </a:bodyPr>
            <a:lstStyle/>
            <a:p>
              <a:r>
                <a:rPr lang="en-GB" b="1">
                  <a:solidFill>
                    <a:srgbClr val="FFC000"/>
                  </a:solidFill>
                </a:rPr>
                <a:t>AXI write: </a:t>
              </a:r>
              <a:r>
                <a:rPr lang="en-GB" b="1" err="1">
                  <a:solidFill>
                    <a:srgbClr val="FFC000"/>
                  </a:solidFill>
                </a:rPr>
                <a:t>mbox_cmd</a:t>
              </a:r>
              <a:r>
                <a:rPr lang="en-GB" b="1">
                  <a:solidFill>
                    <a:srgbClr val="FFC000"/>
                  </a:solidFill>
                </a:rPr>
                <a:t>, </a:t>
              </a:r>
              <a:r>
                <a:rPr lang="en-GB" b="1" err="1">
                  <a:solidFill>
                    <a:srgbClr val="FFC000"/>
                  </a:solidFill>
                </a:rPr>
                <a:t>mbox_dlen</a:t>
              </a:r>
              <a:endParaRPr lang="en-GB" b="1">
                <a:solidFill>
                  <a:srgbClr val="FFC000"/>
                </a:solidFill>
              </a:endParaRPr>
            </a:p>
          </p:txBody>
        </p:sp>
        <p:sp>
          <p:nvSpPr>
            <p:cNvPr id="37" name="TextBox 36">
              <a:extLst>
                <a:ext uri="{FF2B5EF4-FFF2-40B4-BE49-F238E27FC236}">
                  <a16:creationId xmlns:a16="http://schemas.microsoft.com/office/drawing/2014/main" id="{B43DFB3B-8F25-578E-4603-3F59C33CB2D9}"/>
                </a:ext>
              </a:extLst>
            </p:cNvPr>
            <p:cNvSpPr txBox="1"/>
            <p:nvPr/>
          </p:nvSpPr>
          <p:spPr>
            <a:xfrm>
              <a:off x="6813981" y="4060647"/>
              <a:ext cx="2703528" cy="369332"/>
            </a:xfrm>
            <a:prstGeom prst="rect">
              <a:avLst/>
            </a:prstGeom>
            <a:noFill/>
          </p:spPr>
          <p:txBody>
            <a:bodyPr wrap="square" rtlCol="0">
              <a:spAutoFit/>
            </a:bodyPr>
            <a:lstStyle/>
            <a:p>
              <a:r>
                <a:rPr lang="en-GB" b="1" err="1">
                  <a:solidFill>
                    <a:srgbClr val="FFC000"/>
                  </a:solidFill>
                </a:rPr>
                <a:t>mbox_notif</a:t>
              </a:r>
              <a:r>
                <a:rPr lang="en-GB" b="1">
                  <a:solidFill>
                    <a:srgbClr val="FFC000"/>
                  </a:solidFill>
                </a:rPr>
                <a:t> interrupt</a:t>
              </a:r>
            </a:p>
          </p:txBody>
        </p:sp>
      </p:grpSp>
      <p:sp>
        <p:nvSpPr>
          <p:cNvPr id="2" name="Title 1">
            <a:extLst>
              <a:ext uri="{FF2B5EF4-FFF2-40B4-BE49-F238E27FC236}">
                <a16:creationId xmlns:a16="http://schemas.microsoft.com/office/drawing/2014/main" id="{447BA48E-61BC-F6C0-E2A8-F0E09E3EBC4F}"/>
              </a:ext>
            </a:extLst>
          </p:cNvPr>
          <p:cNvSpPr>
            <a:spLocks noGrp="1"/>
          </p:cNvSpPr>
          <p:nvPr>
            <p:ph type="title"/>
          </p:nvPr>
        </p:nvSpPr>
        <p:spPr>
          <a:xfrm>
            <a:off x="0" y="-59582"/>
            <a:ext cx="12192000" cy="475367"/>
          </a:xfrm>
          <a:solidFill>
            <a:schemeClr val="accent6">
              <a:lumMod val="60000"/>
              <a:lumOff val="40000"/>
            </a:schemeClr>
          </a:solidFill>
        </p:spPr>
        <p:txBody>
          <a:bodyPr>
            <a:normAutofit fontScale="90000"/>
          </a:bodyPr>
          <a:lstStyle/>
          <a:p>
            <a:pPr algn="ctr"/>
            <a:r>
              <a:rPr lang="en-GB" sz="3200"/>
              <a:t>Phase 6: Mailbox Command</a:t>
            </a:r>
          </a:p>
        </p:txBody>
      </p:sp>
      <p:sp>
        <p:nvSpPr>
          <p:cNvPr id="3" name="TextBox 2">
            <a:extLst>
              <a:ext uri="{FF2B5EF4-FFF2-40B4-BE49-F238E27FC236}">
                <a16:creationId xmlns:a16="http://schemas.microsoft.com/office/drawing/2014/main" id="{AA11278F-FEC3-0A0F-04E1-054349BEE3A1}"/>
              </a:ext>
            </a:extLst>
          </p:cNvPr>
          <p:cNvSpPr txBox="1"/>
          <p:nvPr/>
        </p:nvSpPr>
        <p:spPr>
          <a:xfrm>
            <a:off x="1314603" y="1121810"/>
            <a:ext cx="1403308" cy="646331"/>
          </a:xfrm>
          <a:prstGeom prst="rect">
            <a:avLst/>
          </a:prstGeom>
          <a:noFill/>
        </p:spPr>
        <p:txBody>
          <a:bodyPr wrap="square" rtlCol="0">
            <a:spAutoFit/>
          </a:bodyPr>
          <a:lstStyle/>
          <a:p>
            <a:r>
              <a:rPr lang="en-GB" b="1">
                <a:solidFill>
                  <a:srgbClr val="FFC000"/>
                </a:solidFill>
              </a:rPr>
              <a:t>AXI write: </a:t>
            </a:r>
            <a:r>
              <a:rPr lang="en-GB" b="1" err="1">
                <a:solidFill>
                  <a:srgbClr val="FFC000"/>
                </a:solidFill>
              </a:rPr>
              <a:t>mbox_lock</a:t>
            </a:r>
            <a:endParaRPr lang="en-GB" b="1">
              <a:solidFill>
                <a:srgbClr val="FFC000"/>
              </a:solidFill>
            </a:endParaRPr>
          </a:p>
        </p:txBody>
      </p:sp>
      <p:cxnSp>
        <p:nvCxnSpPr>
          <p:cNvPr id="18" name="Straight Arrow Connector 17">
            <a:extLst>
              <a:ext uri="{FF2B5EF4-FFF2-40B4-BE49-F238E27FC236}">
                <a16:creationId xmlns:a16="http://schemas.microsoft.com/office/drawing/2014/main" id="{D3CECD8B-16BE-8535-1CD9-93CC90216340}"/>
              </a:ext>
            </a:extLst>
          </p:cNvPr>
          <p:cNvCxnSpPr>
            <a:cxnSpLocks/>
          </p:cNvCxnSpPr>
          <p:nvPr/>
        </p:nvCxnSpPr>
        <p:spPr>
          <a:xfrm>
            <a:off x="1147056" y="1926664"/>
            <a:ext cx="1778526" cy="0"/>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682854D0-0E0D-4434-5E05-FA6750520CFE}"/>
              </a:ext>
            </a:extLst>
          </p:cNvPr>
          <p:cNvCxnSpPr>
            <a:cxnSpLocks/>
          </p:cNvCxnSpPr>
          <p:nvPr/>
        </p:nvCxnSpPr>
        <p:spPr>
          <a:xfrm flipV="1">
            <a:off x="2925582" y="2215011"/>
            <a:ext cx="7542550" cy="6889"/>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A698D469-7DF1-DD14-17E4-C6EEEA5119E9}"/>
              </a:ext>
            </a:extLst>
          </p:cNvPr>
          <p:cNvCxnSpPr>
            <a:cxnSpLocks/>
          </p:cNvCxnSpPr>
          <p:nvPr/>
        </p:nvCxnSpPr>
        <p:spPr>
          <a:xfrm>
            <a:off x="1071491" y="2857407"/>
            <a:ext cx="9321076" cy="29702"/>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286CC2BA-6437-C2F3-F348-66D5F21DCEF0}"/>
              </a:ext>
            </a:extLst>
          </p:cNvPr>
          <p:cNvCxnSpPr>
            <a:cxnSpLocks/>
          </p:cNvCxnSpPr>
          <p:nvPr/>
        </p:nvCxnSpPr>
        <p:spPr>
          <a:xfrm>
            <a:off x="1109273" y="3519480"/>
            <a:ext cx="9321076" cy="29702"/>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6C6848BF-D576-471F-1F3D-F18AD7F4D453}"/>
              </a:ext>
            </a:extLst>
          </p:cNvPr>
          <p:cNvSpPr txBox="1"/>
          <p:nvPr/>
        </p:nvSpPr>
        <p:spPr>
          <a:xfrm>
            <a:off x="4300790" y="3082369"/>
            <a:ext cx="3666565" cy="369332"/>
          </a:xfrm>
          <a:prstGeom prst="rect">
            <a:avLst/>
          </a:prstGeom>
          <a:noFill/>
        </p:spPr>
        <p:txBody>
          <a:bodyPr wrap="square" rtlCol="0">
            <a:spAutoFit/>
          </a:bodyPr>
          <a:lstStyle/>
          <a:p>
            <a:r>
              <a:rPr lang="en-GB" b="1">
                <a:solidFill>
                  <a:srgbClr val="FFC000"/>
                </a:solidFill>
              </a:rPr>
              <a:t>AXI write: </a:t>
            </a:r>
            <a:r>
              <a:rPr lang="en-GB" b="1" err="1">
                <a:solidFill>
                  <a:srgbClr val="FFC000"/>
                </a:solidFill>
              </a:rPr>
              <a:t>mbox_datain</a:t>
            </a:r>
            <a:endParaRPr lang="en-GB" b="1">
              <a:solidFill>
                <a:srgbClr val="FFC000"/>
              </a:solidFill>
            </a:endParaRPr>
          </a:p>
        </p:txBody>
      </p:sp>
      <p:cxnSp>
        <p:nvCxnSpPr>
          <p:cNvPr id="33" name="Straight Arrow Connector 32">
            <a:extLst>
              <a:ext uri="{FF2B5EF4-FFF2-40B4-BE49-F238E27FC236}">
                <a16:creationId xmlns:a16="http://schemas.microsoft.com/office/drawing/2014/main" id="{16549DFB-5B56-0891-0750-344C51BC3315}"/>
              </a:ext>
            </a:extLst>
          </p:cNvPr>
          <p:cNvCxnSpPr>
            <a:cxnSpLocks/>
          </p:cNvCxnSpPr>
          <p:nvPr/>
        </p:nvCxnSpPr>
        <p:spPr>
          <a:xfrm>
            <a:off x="1143153" y="4286196"/>
            <a:ext cx="9321076" cy="29702"/>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796B0CD3-0294-1023-E8B4-BACF5B8A0B53}"/>
              </a:ext>
            </a:extLst>
          </p:cNvPr>
          <p:cNvSpPr txBox="1"/>
          <p:nvPr/>
        </p:nvSpPr>
        <p:spPr>
          <a:xfrm>
            <a:off x="4262717" y="3759315"/>
            <a:ext cx="3666565" cy="369332"/>
          </a:xfrm>
          <a:prstGeom prst="rect">
            <a:avLst/>
          </a:prstGeom>
          <a:noFill/>
        </p:spPr>
        <p:txBody>
          <a:bodyPr wrap="square" rtlCol="0">
            <a:spAutoFit/>
          </a:bodyPr>
          <a:lstStyle/>
          <a:p>
            <a:r>
              <a:rPr lang="en-GB" b="1">
                <a:solidFill>
                  <a:srgbClr val="FFC000"/>
                </a:solidFill>
              </a:rPr>
              <a:t>AXI write: </a:t>
            </a:r>
            <a:r>
              <a:rPr lang="en-GB" b="1" err="1">
                <a:solidFill>
                  <a:srgbClr val="FFC000"/>
                </a:solidFill>
              </a:rPr>
              <a:t>mbox_execute</a:t>
            </a:r>
            <a:r>
              <a:rPr lang="en-GB" b="1">
                <a:solidFill>
                  <a:srgbClr val="FFC000"/>
                </a:solidFill>
              </a:rPr>
              <a:t> = 1</a:t>
            </a:r>
          </a:p>
        </p:txBody>
      </p:sp>
    </p:spTree>
    <p:extLst>
      <p:ext uri="{BB962C8B-B14F-4D97-AF65-F5344CB8AC3E}">
        <p14:creationId xmlns:p14="http://schemas.microsoft.com/office/powerpoint/2010/main" val="4103844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6E114-B944-C2D8-0384-3B09A754DFFF}"/>
            </a:ext>
          </a:extLst>
        </p:cNvPr>
        <p:cNvGrpSpPr/>
        <p:nvPr/>
      </p:nvGrpSpPr>
      <p:grpSpPr>
        <a:xfrm>
          <a:off x="0" y="0"/>
          <a:ext cx="0" cy="0"/>
          <a:chOff x="0" y="0"/>
          <a:chExt cx="0" cy="0"/>
        </a:xfrm>
      </p:grpSpPr>
      <p:grpSp>
        <p:nvGrpSpPr>
          <p:cNvPr id="81" name="Group 80">
            <a:extLst>
              <a:ext uri="{FF2B5EF4-FFF2-40B4-BE49-F238E27FC236}">
                <a16:creationId xmlns:a16="http://schemas.microsoft.com/office/drawing/2014/main" id="{A610774A-1F6C-3072-A186-E2E88B1AA719}"/>
              </a:ext>
            </a:extLst>
          </p:cNvPr>
          <p:cNvGrpSpPr/>
          <p:nvPr/>
        </p:nvGrpSpPr>
        <p:grpSpPr>
          <a:xfrm>
            <a:off x="800723" y="649999"/>
            <a:ext cx="10590553" cy="6050605"/>
            <a:chOff x="680801" y="125343"/>
            <a:chExt cx="10590553" cy="6050605"/>
          </a:xfrm>
        </p:grpSpPr>
        <p:cxnSp>
          <p:nvCxnSpPr>
            <p:cNvPr id="5" name="Straight Connector 4">
              <a:extLst>
                <a:ext uri="{FF2B5EF4-FFF2-40B4-BE49-F238E27FC236}">
                  <a16:creationId xmlns:a16="http://schemas.microsoft.com/office/drawing/2014/main" id="{9F888791-0D7C-8086-5584-F6F2505AC664}"/>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37781D7E-7429-9241-7ECC-55FC585A6DD5}"/>
                </a:ext>
              </a:extLst>
            </p:cNvPr>
            <p:cNvCxnSpPr/>
            <p:nvPr/>
          </p:nvCxnSpPr>
          <p:spPr>
            <a:xfrm>
              <a:off x="2805660" y="494674"/>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DD77E855-EFAB-2A95-745C-6DC1C784C0E1}"/>
                </a:ext>
              </a:extLst>
            </p:cNvPr>
            <p:cNvCxnSpPr/>
            <p:nvPr/>
          </p:nvCxnSpPr>
          <p:spPr>
            <a:xfrm>
              <a:off x="4769371"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9247702E-8E70-1CEA-48C6-3A563DD16CDA}"/>
                </a:ext>
              </a:extLst>
            </p:cNvPr>
            <p:cNvCxnSpPr/>
            <p:nvPr/>
          </p:nvCxnSpPr>
          <p:spPr>
            <a:xfrm>
              <a:off x="662815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A6E45F4B-A201-4EE6-B2FD-F32E43D83802}"/>
                </a:ext>
              </a:extLst>
            </p:cNvPr>
            <p:cNvCxnSpPr/>
            <p:nvPr/>
          </p:nvCxnSpPr>
          <p:spPr>
            <a:xfrm>
              <a:off x="853190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4FD48222-DCD4-A88E-AE0E-A2762B35F8CA}"/>
                </a:ext>
              </a:extLst>
            </p:cNvPr>
            <p:cNvSpPr txBox="1"/>
            <p:nvPr/>
          </p:nvSpPr>
          <p:spPr>
            <a:xfrm>
              <a:off x="680801" y="125343"/>
              <a:ext cx="1304144" cy="369332"/>
            </a:xfrm>
            <a:prstGeom prst="rect">
              <a:avLst/>
            </a:prstGeom>
            <a:noFill/>
          </p:spPr>
          <p:txBody>
            <a:bodyPr wrap="square" rtlCol="0">
              <a:spAutoFit/>
            </a:bodyPr>
            <a:lstStyle/>
            <a:p>
              <a:r>
                <a:rPr lang="en-GB" b="1"/>
                <a:t>SoC</a:t>
              </a:r>
            </a:p>
          </p:txBody>
        </p:sp>
        <p:sp>
          <p:nvSpPr>
            <p:cNvPr id="11" name="TextBox 10">
              <a:extLst>
                <a:ext uri="{FF2B5EF4-FFF2-40B4-BE49-F238E27FC236}">
                  <a16:creationId xmlns:a16="http://schemas.microsoft.com/office/drawing/2014/main" id="{4ED38E3A-2ACF-2936-D112-A9D39146F210}"/>
                </a:ext>
              </a:extLst>
            </p:cNvPr>
            <p:cNvSpPr txBox="1"/>
            <p:nvPr/>
          </p:nvSpPr>
          <p:spPr>
            <a:xfrm>
              <a:off x="2284748" y="132839"/>
              <a:ext cx="1753847" cy="369332"/>
            </a:xfrm>
            <a:prstGeom prst="rect">
              <a:avLst/>
            </a:prstGeom>
            <a:noFill/>
          </p:spPr>
          <p:txBody>
            <a:bodyPr wrap="square" rtlCol="0">
              <a:spAutoFit/>
            </a:bodyPr>
            <a:lstStyle/>
            <a:p>
              <a:r>
                <a:rPr lang="en-GB" b="1"/>
                <a:t>AXI Interface</a:t>
              </a:r>
            </a:p>
          </p:txBody>
        </p:sp>
        <p:sp>
          <p:nvSpPr>
            <p:cNvPr id="12" name="TextBox 11">
              <a:extLst>
                <a:ext uri="{FF2B5EF4-FFF2-40B4-BE49-F238E27FC236}">
                  <a16:creationId xmlns:a16="http://schemas.microsoft.com/office/drawing/2014/main" id="{0BAA2254-8DF0-5A22-FA55-D7BFE2A05E86}"/>
                </a:ext>
              </a:extLst>
            </p:cNvPr>
            <p:cNvSpPr txBox="1"/>
            <p:nvPr/>
          </p:nvSpPr>
          <p:spPr>
            <a:xfrm>
              <a:off x="4379625" y="125343"/>
              <a:ext cx="1304144" cy="369332"/>
            </a:xfrm>
            <a:prstGeom prst="rect">
              <a:avLst/>
            </a:prstGeom>
            <a:noFill/>
          </p:spPr>
          <p:txBody>
            <a:bodyPr wrap="square" rtlCol="0">
              <a:spAutoFit/>
            </a:bodyPr>
            <a:lstStyle/>
            <a:p>
              <a:r>
                <a:rPr lang="en-GB" b="1" dirty="0"/>
                <a:t>Boot FSM</a:t>
              </a:r>
            </a:p>
          </p:txBody>
        </p:sp>
        <p:sp>
          <p:nvSpPr>
            <p:cNvPr id="13" name="TextBox 12">
              <a:extLst>
                <a:ext uri="{FF2B5EF4-FFF2-40B4-BE49-F238E27FC236}">
                  <a16:creationId xmlns:a16="http://schemas.microsoft.com/office/drawing/2014/main" id="{E34512BE-F394-CAD9-9290-BBFC0327235B}"/>
                </a:ext>
              </a:extLst>
            </p:cNvPr>
            <p:cNvSpPr txBox="1"/>
            <p:nvPr/>
          </p:nvSpPr>
          <p:spPr>
            <a:xfrm>
              <a:off x="6227161" y="125343"/>
              <a:ext cx="1304144" cy="369332"/>
            </a:xfrm>
            <a:prstGeom prst="rect">
              <a:avLst/>
            </a:prstGeom>
            <a:noFill/>
          </p:spPr>
          <p:txBody>
            <a:bodyPr wrap="square" rtlCol="0">
              <a:spAutoFit/>
            </a:bodyPr>
            <a:lstStyle/>
            <a:p>
              <a:r>
                <a:rPr lang="en-GB" b="1" err="1"/>
                <a:t>VeeR</a:t>
              </a:r>
              <a:r>
                <a:rPr lang="en-GB" b="1"/>
                <a:t> EL2</a:t>
              </a:r>
            </a:p>
          </p:txBody>
        </p:sp>
        <p:sp>
          <p:nvSpPr>
            <p:cNvPr id="14" name="TextBox 13">
              <a:extLst>
                <a:ext uri="{FF2B5EF4-FFF2-40B4-BE49-F238E27FC236}">
                  <a16:creationId xmlns:a16="http://schemas.microsoft.com/office/drawing/2014/main" id="{4D4617BF-098A-D3B4-5603-A5AE78C2B82A}"/>
                </a:ext>
              </a:extLst>
            </p:cNvPr>
            <p:cNvSpPr txBox="1"/>
            <p:nvPr/>
          </p:nvSpPr>
          <p:spPr>
            <a:xfrm>
              <a:off x="8213365" y="125343"/>
              <a:ext cx="1304144" cy="369332"/>
            </a:xfrm>
            <a:prstGeom prst="rect">
              <a:avLst/>
            </a:prstGeom>
            <a:noFill/>
          </p:spPr>
          <p:txBody>
            <a:bodyPr wrap="square" rtlCol="0">
              <a:spAutoFit/>
            </a:bodyPr>
            <a:lstStyle/>
            <a:p>
              <a:r>
                <a:rPr lang="en-GB" b="1"/>
                <a:t>Crypto</a:t>
              </a:r>
            </a:p>
          </p:txBody>
        </p:sp>
        <p:sp>
          <p:nvSpPr>
            <p:cNvPr id="15" name="TextBox 14">
              <a:extLst>
                <a:ext uri="{FF2B5EF4-FFF2-40B4-BE49-F238E27FC236}">
                  <a16:creationId xmlns:a16="http://schemas.microsoft.com/office/drawing/2014/main" id="{FD8AC816-9BD2-068C-4A3C-C05DF24D6F59}"/>
                </a:ext>
              </a:extLst>
            </p:cNvPr>
            <p:cNvSpPr txBox="1"/>
            <p:nvPr/>
          </p:nvSpPr>
          <p:spPr>
            <a:xfrm>
              <a:off x="9967210" y="125343"/>
              <a:ext cx="1304144" cy="369332"/>
            </a:xfrm>
            <a:prstGeom prst="rect">
              <a:avLst/>
            </a:prstGeom>
            <a:noFill/>
          </p:spPr>
          <p:txBody>
            <a:bodyPr wrap="square" rtlCol="0">
              <a:spAutoFit/>
            </a:bodyPr>
            <a:lstStyle/>
            <a:p>
              <a:r>
                <a:rPr lang="en-GB" b="1"/>
                <a:t>Mailbox</a:t>
              </a:r>
            </a:p>
          </p:txBody>
        </p:sp>
        <p:cxnSp>
          <p:nvCxnSpPr>
            <p:cNvPr id="16" name="Straight Connector 15">
              <a:extLst>
                <a:ext uri="{FF2B5EF4-FFF2-40B4-BE49-F238E27FC236}">
                  <a16:creationId xmlns:a16="http://schemas.microsoft.com/office/drawing/2014/main" id="{97F9A68A-866F-5909-AE3E-7F433B7AD2E7}"/>
                </a:ext>
              </a:extLst>
            </p:cNvPr>
            <p:cNvCxnSpPr/>
            <p:nvPr/>
          </p:nvCxnSpPr>
          <p:spPr>
            <a:xfrm>
              <a:off x="10348210"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82CDEE86-9C68-9007-67A6-4BE7BBF157A8}"/>
                </a:ext>
              </a:extLst>
            </p:cNvPr>
            <p:cNvCxnSpPr>
              <a:cxnSpLocks/>
            </p:cNvCxnSpPr>
            <p:nvPr/>
          </p:nvCxnSpPr>
          <p:spPr>
            <a:xfrm flipH="1" flipV="1">
              <a:off x="6636571" y="1939454"/>
              <a:ext cx="1915621" cy="7415"/>
            </a:xfrm>
            <a:prstGeom prst="straightConnector1">
              <a:avLst/>
            </a:prstGeom>
            <a:ln w="28575">
              <a:solidFill>
                <a:srgbClr val="FF0000"/>
              </a:solidFill>
              <a:prstDash val="dash"/>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4906C17E-26AC-4682-44AC-967776746994}"/>
                </a:ext>
              </a:extLst>
            </p:cNvPr>
            <p:cNvCxnSpPr>
              <a:cxnSpLocks/>
            </p:cNvCxnSpPr>
            <p:nvPr/>
          </p:nvCxnSpPr>
          <p:spPr>
            <a:xfrm>
              <a:off x="6645178" y="1366817"/>
              <a:ext cx="1915621" cy="0"/>
            </a:xfrm>
            <a:prstGeom prst="straightConnector1">
              <a:avLst/>
            </a:prstGeom>
            <a:ln w="28575">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35DFDDC4-162D-CAF6-85BB-7F1EFB21D205}"/>
                </a:ext>
              </a:extLst>
            </p:cNvPr>
            <p:cNvSpPr txBox="1"/>
            <p:nvPr/>
          </p:nvSpPr>
          <p:spPr>
            <a:xfrm>
              <a:off x="6796164" y="696252"/>
              <a:ext cx="1763842" cy="646331"/>
            </a:xfrm>
            <a:prstGeom prst="rect">
              <a:avLst/>
            </a:prstGeom>
            <a:noFill/>
          </p:spPr>
          <p:txBody>
            <a:bodyPr wrap="square" rtlCol="0">
              <a:spAutoFit/>
            </a:bodyPr>
            <a:lstStyle/>
            <a:p>
              <a:r>
                <a:rPr lang="en-GB" err="1">
                  <a:solidFill>
                    <a:srgbClr val="FF0000"/>
                  </a:solidFill>
                </a:rPr>
                <a:t>AHB_write</a:t>
              </a:r>
              <a:r>
                <a:rPr lang="en-GB">
                  <a:solidFill>
                    <a:srgbClr val="FF0000"/>
                  </a:solidFill>
                </a:rPr>
                <a:t>: </a:t>
              </a:r>
              <a:r>
                <a:rPr lang="en-GB" err="1">
                  <a:solidFill>
                    <a:srgbClr val="FF0000"/>
                  </a:solidFill>
                </a:rPr>
                <a:t>ecc_sign_r</a:t>
              </a:r>
              <a:r>
                <a:rPr lang="en-GB">
                  <a:solidFill>
                    <a:srgbClr val="FF0000"/>
                  </a:solidFill>
                </a:rPr>
                <a:t>/s</a:t>
              </a:r>
            </a:p>
          </p:txBody>
        </p:sp>
        <p:cxnSp>
          <p:nvCxnSpPr>
            <p:cNvPr id="4" name="Straight Arrow Connector 3">
              <a:extLst>
                <a:ext uri="{FF2B5EF4-FFF2-40B4-BE49-F238E27FC236}">
                  <a16:creationId xmlns:a16="http://schemas.microsoft.com/office/drawing/2014/main" id="{2A33B8A4-AC7B-2AE7-7E0D-4862BAE250C8}"/>
                </a:ext>
              </a:extLst>
            </p:cNvPr>
            <p:cNvCxnSpPr>
              <a:cxnSpLocks/>
            </p:cNvCxnSpPr>
            <p:nvPr/>
          </p:nvCxnSpPr>
          <p:spPr>
            <a:xfrm>
              <a:off x="6644386" y="2682924"/>
              <a:ext cx="3703824" cy="0"/>
            </a:xfrm>
            <a:prstGeom prst="straightConnector1">
              <a:avLst/>
            </a:prstGeom>
            <a:ln w="28575">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5517016C-6AD6-F901-B3A9-640126EFBBAF}"/>
                </a:ext>
              </a:extLst>
            </p:cNvPr>
            <p:cNvCxnSpPr>
              <a:cxnSpLocks/>
            </p:cNvCxnSpPr>
            <p:nvPr/>
          </p:nvCxnSpPr>
          <p:spPr>
            <a:xfrm>
              <a:off x="6644386" y="3515620"/>
              <a:ext cx="3703824" cy="0"/>
            </a:xfrm>
            <a:prstGeom prst="straightConnector1">
              <a:avLst/>
            </a:prstGeom>
            <a:ln w="28575">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45250CEC-2979-E938-DA72-65A1F59BDA38}"/>
                </a:ext>
              </a:extLst>
            </p:cNvPr>
            <p:cNvCxnSpPr>
              <a:cxnSpLocks/>
            </p:cNvCxnSpPr>
            <p:nvPr/>
          </p:nvCxnSpPr>
          <p:spPr>
            <a:xfrm flipH="1" flipV="1">
              <a:off x="989351" y="4294958"/>
              <a:ext cx="9329963" cy="15789"/>
            </a:xfrm>
            <a:prstGeom prst="straightConnector1">
              <a:avLst/>
            </a:prstGeom>
            <a:ln w="28575">
              <a:solidFill>
                <a:srgbClr val="FF0000"/>
              </a:solidFill>
              <a:prstDash val="solid"/>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7C9BB8A0-DBB9-EEDA-8363-57ED8BD165B3}"/>
                </a:ext>
              </a:extLst>
            </p:cNvPr>
            <p:cNvCxnSpPr>
              <a:cxnSpLocks/>
            </p:cNvCxnSpPr>
            <p:nvPr/>
          </p:nvCxnSpPr>
          <p:spPr>
            <a:xfrm>
              <a:off x="1027134" y="5910908"/>
              <a:ext cx="9292180" cy="0"/>
            </a:xfrm>
            <a:prstGeom prst="straightConnector1">
              <a:avLst/>
            </a:prstGeom>
            <a:ln w="28575">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B9448B32-C2C5-F9AD-2509-4B36633E54DE}"/>
                </a:ext>
              </a:extLst>
            </p:cNvPr>
            <p:cNvCxnSpPr>
              <a:cxnSpLocks/>
            </p:cNvCxnSpPr>
            <p:nvPr/>
          </p:nvCxnSpPr>
          <p:spPr>
            <a:xfrm flipH="1">
              <a:off x="994970" y="5282546"/>
              <a:ext cx="9324344" cy="86379"/>
            </a:xfrm>
            <a:prstGeom prst="straightConnector1">
              <a:avLst/>
            </a:prstGeom>
            <a:ln w="28575">
              <a:solidFill>
                <a:srgbClr val="FF0000"/>
              </a:solidFill>
              <a:prstDash val="dash"/>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B14BACE7-3DBC-578C-836B-3AFEE818D37A}"/>
                </a:ext>
              </a:extLst>
            </p:cNvPr>
            <p:cNvSpPr txBox="1"/>
            <p:nvPr/>
          </p:nvSpPr>
          <p:spPr>
            <a:xfrm>
              <a:off x="6870191" y="1492492"/>
              <a:ext cx="1689816" cy="369321"/>
            </a:xfrm>
            <a:prstGeom prst="rect">
              <a:avLst/>
            </a:prstGeom>
            <a:noFill/>
          </p:spPr>
          <p:txBody>
            <a:bodyPr wrap="square" rtlCol="0">
              <a:spAutoFit/>
            </a:bodyPr>
            <a:lstStyle/>
            <a:p>
              <a:r>
                <a:rPr lang="en-GB" err="1">
                  <a:solidFill>
                    <a:srgbClr val="FF0000"/>
                  </a:solidFill>
                </a:rPr>
                <a:t>ecc_sign_valid</a:t>
              </a:r>
              <a:endParaRPr lang="en-GB">
                <a:solidFill>
                  <a:srgbClr val="FF0000"/>
                </a:solidFill>
              </a:endParaRPr>
            </a:p>
          </p:txBody>
        </p:sp>
        <p:sp>
          <p:nvSpPr>
            <p:cNvPr id="30" name="TextBox 29">
              <a:extLst>
                <a:ext uri="{FF2B5EF4-FFF2-40B4-BE49-F238E27FC236}">
                  <a16:creationId xmlns:a16="http://schemas.microsoft.com/office/drawing/2014/main" id="{6851A3A8-1F2C-6A69-AD03-235B981B2925}"/>
                </a:ext>
              </a:extLst>
            </p:cNvPr>
            <p:cNvSpPr txBox="1"/>
            <p:nvPr/>
          </p:nvSpPr>
          <p:spPr>
            <a:xfrm>
              <a:off x="6857856" y="2260670"/>
              <a:ext cx="2958047" cy="369332"/>
            </a:xfrm>
            <a:prstGeom prst="rect">
              <a:avLst/>
            </a:prstGeom>
            <a:noFill/>
          </p:spPr>
          <p:txBody>
            <a:bodyPr wrap="square" rtlCol="0">
              <a:spAutoFit/>
            </a:bodyPr>
            <a:lstStyle/>
            <a:p>
              <a:r>
                <a:rPr lang="en-GB" err="1">
                  <a:solidFill>
                    <a:srgbClr val="FF0000"/>
                  </a:solidFill>
                </a:rPr>
                <a:t>AHB_write</a:t>
              </a:r>
              <a:r>
                <a:rPr lang="en-GB">
                  <a:solidFill>
                    <a:srgbClr val="FF0000"/>
                  </a:solidFill>
                </a:rPr>
                <a:t>: </a:t>
              </a:r>
              <a:r>
                <a:rPr lang="en-GB" err="1">
                  <a:solidFill>
                    <a:srgbClr val="FF0000"/>
                  </a:solidFill>
                </a:rPr>
                <a:t>mbox_dataout</a:t>
              </a:r>
              <a:endParaRPr lang="en-GB">
                <a:solidFill>
                  <a:srgbClr val="FF0000"/>
                </a:solidFill>
              </a:endParaRPr>
            </a:p>
          </p:txBody>
        </p:sp>
        <p:sp>
          <p:nvSpPr>
            <p:cNvPr id="36" name="TextBox 35">
              <a:extLst>
                <a:ext uri="{FF2B5EF4-FFF2-40B4-BE49-F238E27FC236}">
                  <a16:creationId xmlns:a16="http://schemas.microsoft.com/office/drawing/2014/main" id="{7D03168F-079F-F960-6EE2-7636A1CF2296}"/>
                </a:ext>
              </a:extLst>
            </p:cNvPr>
            <p:cNvSpPr txBox="1"/>
            <p:nvPr/>
          </p:nvSpPr>
          <p:spPr>
            <a:xfrm>
              <a:off x="6445148" y="3121926"/>
              <a:ext cx="4229717" cy="369332"/>
            </a:xfrm>
            <a:prstGeom prst="rect">
              <a:avLst/>
            </a:prstGeom>
            <a:noFill/>
          </p:spPr>
          <p:txBody>
            <a:bodyPr wrap="square" rtlCol="0">
              <a:spAutoFit/>
            </a:bodyPr>
            <a:lstStyle/>
            <a:p>
              <a:r>
                <a:rPr lang="en-GB" err="1">
                  <a:solidFill>
                    <a:srgbClr val="FF0000"/>
                  </a:solidFill>
                </a:rPr>
                <a:t>AHB_write</a:t>
              </a:r>
              <a:r>
                <a:rPr lang="en-GB">
                  <a:solidFill>
                    <a:srgbClr val="FF0000"/>
                  </a:solidFill>
                </a:rPr>
                <a:t>: </a:t>
              </a:r>
              <a:r>
                <a:rPr lang="en-GB" err="1">
                  <a:solidFill>
                    <a:srgbClr val="FF0000"/>
                  </a:solidFill>
                </a:rPr>
                <a:t>mbox_status</a:t>
              </a:r>
              <a:r>
                <a:rPr lang="en-GB">
                  <a:solidFill>
                    <a:srgbClr val="FF0000"/>
                  </a:solidFill>
                </a:rPr>
                <a:t> = DATA_READY</a:t>
              </a:r>
            </a:p>
          </p:txBody>
        </p:sp>
        <p:sp>
          <p:nvSpPr>
            <p:cNvPr id="37" name="TextBox 36">
              <a:extLst>
                <a:ext uri="{FF2B5EF4-FFF2-40B4-BE49-F238E27FC236}">
                  <a16:creationId xmlns:a16="http://schemas.microsoft.com/office/drawing/2014/main" id="{FCE5309E-0004-91C4-4DD7-6A157D4CD281}"/>
                </a:ext>
              </a:extLst>
            </p:cNvPr>
            <p:cNvSpPr txBox="1"/>
            <p:nvPr/>
          </p:nvSpPr>
          <p:spPr>
            <a:xfrm>
              <a:off x="4057489" y="3865396"/>
              <a:ext cx="4086690" cy="369332"/>
            </a:xfrm>
            <a:prstGeom prst="rect">
              <a:avLst/>
            </a:prstGeom>
            <a:noFill/>
          </p:spPr>
          <p:txBody>
            <a:bodyPr wrap="square" rtlCol="0">
              <a:spAutoFit/>
            </a:bodyPr>
            <a:lstStyle/>
            <a:p>
              <a:r>
                <a:rPr lang="en-GB" err="1">
                  <a:solidFill>
                    <a:srgbClr val="FF0000"/>
                  </a:solidFill>
                </a:rPr>
                <a:t>mbox_data_avail</a:t>
              </a:r>
              <a:r>
                <a:rPr lang="en-GB">
                  <a:solidFill>
                    <a:srgbClr val="FF0000"/>
                  </a:solidFill>
                </a:rPr>
                <a:t> interrupt</a:t>
              </a:r>
            </a:p>
          </p:txBody>
        </p:sp>
        <p:sp>
          <p:nvSpPr>
            <p:cNvPr id="44" name="TextBox 43">
              <a:extLst>
                <a:ext uri="{FF2B5EF4-FFF2-40B4-BE49-F238E27FC236}">
                  <a16:creationId xmlns:a16="http://schemas.microsoft.com/office/drawing/2014/main" id="{73DF40CB-1EED-1026-7F44-DD29BDBF76E4}"/>
                </a:ext>
              </a:extLst>
            </p:cNvPr>
            <p:cNvSpPr txBox="1"/>
            <p:nvPr/>
          </p:nvSpPr>
          <p:spPr>
            <a:xfrm>
              <a:off x="4094816" y="4344363"/>
              <a:ext cx="2878027" cy="369332"/>
            </a:xfrm>
            <a:prstGeom prst="rect">
              <a:avLst/>
            </a:prstGeom>
            <a:noFill/>
          </p:spPr>
          <p:txBody>
            <a:bodyPr wrap="square" rtlCol="0">
              <a:spAutoFit/>
            </a:bodyPr>
            <a:lstStyle/>
            <a:p>
              <a:r>
                <a:rPr lang="en-GB">
                  <a:solidFill>
                    <a:srgbClr val="FF0000"/>
                  </a:solidFill>
                </a:rPr>
                <a:t>AXI read: </a:t>
              </a:r>
              <a:r>
                <a:rPr lang="en-GB" err="1">
                  <a:solidFill>
                    <a:srgbClr val="FF0000"/>
                  </a:solidFill>
                </a:rPr>
                <a:t>mbox_dataout</a:t>
              </a:r>
              <a:endParaRPr lang="en-GB">
                <a:solidFill>
                  <a:srgbClr val="FF0000"/>
                </a:solidFill>
              </a:endParaRPr>
            </a:p>
          </p:txBody>
        </p:sp>
        <p:sp>
          <p:nvSpPr>
            <p:cNvPr id="48" name="TextBox 47">
              <a:extLst>
                <a:ext uri="{FF2B5EF4-FFF2-40B4-BE49-F238E27FC236}">
                  <a16:creationId xmlns:a16="http://schemas.microsoft.com/office/drawing/2014/main" id="{B6F9365A-1BA6-D5BB-BB6D-008F81480623}"/>
                </a:ext>
              </a:extLst>
            </p:cNvPr>
            <p:cNvSpPr txBox="1"/>
            <p:nvPr/>
          </p:nvSpPr>
          <p:spPr>
            <a:xfrm>
              <a:off x="4379624" y="4860314"/>
              <a:ext cx="2803161" cy="369332"/>
            </a:xfrm>
            <a:prstGeom prst="rect">
              <a:avLst/>
            </a:prstGeom>
            <a:noFill/>
          </p:spPr>
          <p:txBody>
            <a:bodyPr wrap="square" rtlCol="0">
              <a:spAutoFit/>
            </a:bodyPr>
            <a:lstStyle/>
            <a:p>
              <a:r>
                <a:rPr lang="en-GB">
                  <a:solidFill>
                    <a:srgbClr val="FF0000"/>
                  </a:solidFill>
                </a:rPr>
                <a:t>cert/signature data</a:t>
              </a:r>
            </a:p>
          </p:txBody>
        </p:sp>
      </p:grpSp>
      <p:sp>
        <p:nvSpPr>
          <p:cNvPr id="82" name="Title 1">
            <a:extLst>
              <a:ext uri="{FF2B5EF4-FFF2-40B4-BE49-F238E27FC236}">
                <a16:creationId xmlns:a16="http://schemas.microsoft.com/office/drawing/2014/main" id="{328DA6CA-F316-B59F-56CD-AF057F15C0A8}"/>
              </a:ext>
            </a:extLst>
          </p:cNvPr>
          <p:cNvSpPr>
            <a:spLocks noGrp="1"/>
          </p:cNvSpPr>
          <p:nvPr>
            <p:ph type="title"/>
          </p:nvPr>
        </p:nvSpPr>
        <p:spPr>
          <a:xfrm>
            <a:off x="0" y="0"/>
            <a:ext cx="12192000" cy="392458"/>
          </a:xfrm>
          <a:solidFill>
            <a:schemeClr val="accent6">
              <a:lumMod val="60000"/>
              <a:lumOff val="40000"/>
            </a:schemeClr>
          </a:solidFill>
        </p:spPr>
        <p:txBody>
          <a:bodyPr>
            <a:normAutofit fontScale="90000"/>
          </a:bodyPr>
          <a:lstStyle/>
          <a:p>
            <a:pPr algn="ctr"/>
            <a:r>
              <a:rPr lang="en-GB" sz="3200"/>
              <a:t>Phase 7: Attestation Response</a:t>
            </a:r>
          </a:p>
        </p:txBody>
      </p:sp>
      <p:cxnSp>
        <p:nvCxnSpPr>
          <p:cNvPr id="22" name="Straight Arrow Connector 21">
            <a:extLst>
              <a:ext uri="{FF2B5EF4-FFF2-40B4-BE49-F238E27FC236}">
                <a16:creationId xmlns:a16="http://schemas.microsoft.com/office/drawing/2014/main" id="{9912EA47-93EA-55A6-025E-40C3576713F1}"/>
              </a:ext>
            </a:extLst>
          </p:cNvPr>
          <p:cNvCxnSpPr>
            <a:cxnSpLocks/>
          </p:cNvCxnSpPr>
          <p:nvPr/>
        </p:nvCxnSpPr>
        <p:spPr>
          <a:xfrm>
            <a:off x="1109273" y="5271968"/>
            <a:ext cx="9329963" cy="0"/>
          </a:xfrm>
          <a:prstGeom prst="straightConnector1">
            <a:avLst/>
          </a:prstGeom>
          <a:ln w="28575">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0224A5F1-84CE-2F45-89D1-D501E17EBD98}"/>
              </a:ext>
            </a:extLst>
          </p:cNvPr>
          <p:cNvSpPr txBox="1"/>
          <p:nvPr/>
        </p:nvSpPr>
        <p:spPr>
          <a:xfrm>
            <a:off x="4158517" y="5973147"/>
            <a:ext cx="2878027" cy="369332"/>
          </a:xfrm>
          <a:prstGeom prst="rect">
            <a:avLst/>
          </a:prstGeom>
          <a:noFill/>
        </p:spPr>
        <p:txBody>
          <a:bodyPr wrap="square" rtlCol="0">
            <a:spAutoFit/>
          </a:bodyPr>
          <a:lstStyle/>
          <a:p>
            <a:r>
              <a:rPr lang="en-GB">
                <a:solidFill>
                  <a:srgbClr val="FF0000"/>
                </a:solidFill>
              </a:rPr>
              <a:t>AXI write: </a:t>
            </a:r>
            <a:r>
              <a:rPr lang="en-GB" err="1">
                <a:solidFill>
                  <a:srgbClr val="FF0000"/>
                </a:solidFill>
              </a:rPr>
              <a:t>mbox_unlock</a:t>
            </a:r>
            <a:r>
              <a:rPr lang="en-GB">
                <a:solidFill>
                  <a:srgbClr val="FF0000"/>
                </a:solidFill>
              </a:rPr>
              <a:t> = 1</a:t>
            </a:r>
          </a:p>
        </p:txBody>
      </p:sp>
    </p:spTree>
    <p:extLst>
      <p:ext uri="{BB962C8B-B14F-4D97-AF65-F5344CB8AC3E}">
        <p14:creationId xmlns:p14="http://schemas.microsoft.com/office/powerpoint/2010/main" val="229398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A88AB-8FBF-E774-00A8-FDEEFD6BAF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F45CC1-8C58-E435-A3E1-9E540EAC498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44097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DE3D4-A368-0575-7F67-C61294A5B823}"/>
              </a:ext>
            </a:extLst>
          </p:cNvPr>
          <p:cNvSpPr>
            <a:spLocks noGrp="1"/>
          </p:cNvSpPr>
          <p:nvPr>
            <p:ph type="title"/>
          </p:nvPr>
        </p:nvSpPr>
        <p:spPr/>
        <p:txBody>
          <a:bodyPr/>
          <a:lstStyle/>
          <a:p>
            <a:pPr algn="ctr"/>
            <a:r>
              <a:rPr lang="en-US" dirty="0" err="1"/>
              <a:t>MicroArchitecture</a:t>
            </a:r>
            <a:r>
              <a:rPr lang="en-US" dirty="0"/>
              <a:t> Block Diagram - VeeREL2 RISC V Core</a:t>
            </a:r>
          </a:p>
        </p:txBody>
      </p:sp>
      <p:sp>
        <p:nvSpPr>
          <p:cNvPr id="3" name="Content Placeholder 2">
            <a:extLst>
              <a:ext uri="{FF2B5EF4-FFF2-40B4-BE49-F238E27FC236}">
                <a16:creationId xmlns:a16="http://schemas.microsoft.com/office/drawing/2014/main" id="{7107F51D-A96F-AC7C-A9EA-1E2093C16E7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99109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3E427-264D-A268-D7FA-83C8EC4FABFB}"/>
              </a:ext>
            </a:extLst>
          </p:cNvPr>
          <p:cNvSpPr>
            <a:spLocks noGrp="1"/>
          </p:cNvSpPr>
          <p:nvPr>
            <p:ph type="title"/>
          </p:nvPr>
        </p:nvSpPr>
        <p:spPr/>
        <p:txBody>
          <a:bodyPr/>
          <a:lstStyle/>
          <a:p>
            <a:pPr algn="ctr"/>
            <a:r>
              <a:rPr lang="en-US"/>
              <a:t>Interface Signal List - VeeREL2 RISC V Core</a:t>
            </a:r>
          </a:p>
        </p:txBody>
      </p:sp>
      <p:sp>
        <p:nvSpPr>
          <p:cNvPr id="3" name="Content Placeholder 2">
            <a:extLst>
              <a:ext uri="{FF2B5EF4-FFF2-40B4-BE49-F238E27FC236}">
                <a16:creationId xmlns:a16="http://schemas.microsoft.com/office/drawing/2014/main" id="{29B90C7F-70F3-0F37-F6A5-40AE41A170C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78922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21A05-210B-F0A1-4EA5-8A055F2E1AD4}"/>
              </a:ext>
            </a:extLst>
          </p:cNvPr>
          <p:cNvSpPr>
            <a:spLocks noGrp="1"/>
          </p:cNvSpPr>
          <p:nvPr>
            <p:ph type="title"/>
          </p:nvPr>
        </p:nvSpPr>
        <p:spPr/>
        <p:txBody>
          <a:bodyPr/>
          <a:lstStyle/>
          <a:p>
            <a:pPr algn="ctr"/>
            <a:r>
              <a:rPr lang="en-US" dirty="0"/>
              <a:t>CWTRUST </a:t>
            </a:r>
            <a:r>
              <a:rPr lang="en-US" dirty="0" err="1"/>
              <a:t>MicroArchitecture</a:t>
            </a:r>
            <a:r>
              <a:rPr lang="en-US" dirty="0"/>
              <a:t> Design Hierarchy – VeeREL2 RISC V Core</a:t>
            </a:r>
          </a:p>
        </p:txBody>
      </p:sp>
      <p:sp>
        <p:nvSpPr>
          <p:cNvPr id="3" name="Content Placeholder 2">
            <a:extLst>
              <a:ext uri="{FF2B5EF4-FFF2-40B4-BE49-F238E27FC236}">
                <a16:creationId xmlns:a16="http://schemas.microsoft.com/office/drawing/2014/main" id="{3EB8D68D-E405-F0DA-CD7E-89E77493311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50747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69370-99E1-C536-C834-64A2C8BE6EBA}"/>
              </a:ext>
            </a:extLst>
          </p:cNvPr>
          <p:cNvSpPr>
            <a:spLocks noGrp="1"/>
          </p:cNvSpPr>
          <p:nvPr>
            <p:ph type="title"/>
          </p:nvPr>
        </p:nvSpPr>
        <p:spPr/>
        <p:txBody>
          <a:bodyPr/>
          <a:lstStyle/>
          <a:p>
            <a:pPr algn="ctr"/>
            <a:r>
              <a:rPr lang="en-US"/>
              <a:t>Crypto</a:t>
            </a:r>
          </a:p>
        </p:txBody>
      </p:sp>
      <p:sp>
        <p:nvSpPr>
          <p:cNvPr id="3" name="Content Placeholder 2">
            <a:extLst>
              <a:ext uri="{FF2B5EF4-FFF2-40B4-BE49-F238E27FC236}">
                <a16:creationId xmlns:a16="http://schemas.microsoft.com/office/drawing/2014/main" id="{1ED57DC8-D9B1-BB1C-252D-745B04B62C8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35164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F95BB-B0F5-FE5E-1438-34154FD0819D}"/>
              </a:ext>
            </a:extLst>
          </p:cNvPr>
          <p:cNvSpPr>
            <a:spLocks noGrp="1"/>
          </p:cNvSpPr>
          <p:nvPr>
            <p:ph type="title"/>
          </p:nvPr>
        </p:nvSpPr>
        <p:spPr/>
        <p:txBody>
          <a:bodyPr/>
          <a:lstStyle/>
          <a:p>
            <a:pPr algn="ctr"/>
            <a:r>
              <a:rPr lang="en-US"/>
              <a:t>SoC IFC</a:t>
            </a:r>
          </a:p>
        </p:txBody>
      </p:sp>
      <p:sp>
        <p:nvSpPr>
          <p:cNvPr id="3" name="Content Placeholder 2">
            <a:extLst>
              <a:ext uri="{FF2B5EF4-FFF2-40B4-BE49-F238E27FC236}">
                <a16:creationId xmlns:a16="http://schemas.microsoft.com/office/drawing/2014/main" id="{7A155E56-A7BE-6086-8BEA-C3307461C75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57837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24" name="Group 23">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5" name="Freeform: Shape 14">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5" name="Title 1">
            <a:extLst>
              <a:ext uri="{FF2B5EF4-FFF2-40B4-BE49-F238E27FC236}">
                <a16:creationId xmlns:a16="http://schemas.microsoft.com/office/drawing/2014/main" id="{F0A38EA6-7364-613E-F40C-0672F651D04B}"/>
              </a:ext>
            </a:extLst>
          </p:cNvPr>
          <p:cNvSpPr txBox="1">
            <a:spLocks/>
          </p:cNvSpPr>
          <p:nvPr/>
        </p:nvSpPr>
        <p:spPr>
          <a:xfrm>
            <a:off x="3045368" y="2043663"/>
            <a:ext cx="6105194" cy="20310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kern="1200">
                <a:solidFill>
                  <a:schemeClr val="tx2"/>
                </a:solidFill>
                <a:latin typeface="+mj-lt"/>
                <a:ea typeface="+mj-ea"/>
                <a:cs typeface="+mj-cs"/>
              </a:rPr>
              <a:t>PM Reduction Techniques in Security IP</a:t>
            </a:r>
          </a:p>
        </p:txBody>
      </p:sp>
    </p:spTree>
    <p:extLst>
      <p:ext uri="{BB962C8B-B14F-4D97-AF65-F5344CB8AC3E}">
        <p14:creationId xmlns:p14="http://schemas.microsoft.com/office/powerpoint/2010/main" val="2741285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CE211-194A-EBD7-7E54-E4BA39820B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1DC06C8-D7AE-6638-15D6-F3FBD937795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28010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CAF54-712A-A746-D9E1-6FCE8178A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F06A1-558D-58D1-7CBB-6C053EACAC46}"/>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err="1">
                <a:latin typeface="Calibre"/>
              </a:rPr>
              <a:t>Caliptra</a:t>
            </a:r>
            <a:r>
              <a:rPr lang="en-US" dirty="0">
                <a:latin typeface="Calibre"/>
              </a:rPr>
              <a:t> High Level Block Diagram</a:t>
            </a:r>
            <a:endParaRPr lang="en-US" dirty="0"/>
          </a:p>
        </p:txBody>
      </p:sp>
      <p:pic>
        <p:nvPicPr>
          <p:cNvPr id="3" name="Picture 2">
            <a:extLst>
              <a:ext uri="{FF2B5EF4-FFF2-40B4-BE49-F238E27FC236}">
                <a16:creationId xmlns:a16="http://schemas.microsoft.com/office/drawing/2014/main" id="{5C8E9B31-6462-F5A8-BACB-9558A9F97D49}"/>
              </a:ext>
            </a:extLst>
          </p:cNvPr>
          <p:cNvPicPr>
            <a:picLocks noChangeAspect="1"/>
          </p:cNvPicPr>
          <p:nvPr/>
        </p:nvPicPr>
        <p:blipFill>
          <a:blip r:embed="rId2"/>
          <a:stretch>
            <a:fillRect/>
          </a:stretch>
        </p:blipFill>
        <p:spPr>
          <a:xfrm>
            <a:off x="855132" y="1318883"/>
            <a:ext cx="9431867" cy="4580620"/>
          </a:xfrm>
          <a:prstGeom prst="rect">
            <a:avLst/>
          </a:prstGeom>
        </p:spPr>
      </p:pic>
      <p:sp>
        <p:nvSpPr>
          <p:cNvPr id="6" name="TextBox 5">
            <a:extLst>
              <a:ext uri="{FF2B5EF4-FFF2-40B4-BE49-F238E27FC236}">
                <a16:creationId xmlns:a16="http://schemas.microsoft.com/office/drawing/2014/main" id="{4C1D5A7D-A0E3-B8AA-DA31-F60021594304}"/>
              </a:ext>
            </a:extLst>
          </p:cNvPr>
          <p:cNvSpPr txBox="1"/>
          <p:nvPr/>
        </p:nvSpPr>
        <p:spPr>
          <a:xfrm>
            <a:off x="4182533" y="6087533"/>
            <a:ext cx="3945467" cy="369332"/>
          </a:xfrm>
          <a:prstGeom prst="rect">
            <a:avLst/>
          </a:prstGeom>
          <a:noFill/>
        </p:spPr>
        <p:txBody>
          <a:bodyPr wrap="square" rtlCol="0">
            <a:spAutoFit/>
          </a:bodyPr>
          <a:lstStyle/>
          <a:p>
            <a:r>
              <a:rPr lang="en-IN" dirty="0"/>
              <a:t>Fig. 1 </a:t>
            </a:r>
            <a:r>
              <a:rPr lang="en-IN" dirty="0" err="1"/>
              <a:t>Caliptra</a:t>
            </a:r>
            <a:r>
              <a:rPr lang="en-IN" dirty="0"/>
              <a:t> high level block diagram</a:t>
            </a:r>
          </a:p>
        </p:txBody>
      </p:sp>
    </p:spTree>
    <p:extLst>
      <p:ext uri="{BB962C8B-B14F-4D97-AF65-F5344CB8AC3E}">
        <p14:creationId xmlns:p14="http://schemas.microsoft.com/office/powerpoint/2010/main" val="2711562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11220-7ADA-F89A-30C3-DCA2A864B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1F716-7A04-C189-C972-F5B36E09F353}"/>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sz="4000" dirty="0">
                <a:latin typeface="Calibre"/>
              </a:rPr>
              <a:t>SROM Introduction</a:t>
            </a:r>
            <a:endParaRPr lang="en-US" dirty="0"/>
          </a:p>
        </p:txBody>
      </p:sp>
      <p:sp>
        <p:nvSpPr>
          <p:cNvPr id="3" name="TextBox 2">
            <a:extLst>
              <a:ext uri="{FF2B5EF4-FFF2-40B4-BE49-F238E27FC236}">
                <a16:creationId xmlns:a16="http://schemas.microsoft.com/office/drawing/2014/main" id="{3F3B352A-1424-F21E-6A81-33DA2AD0226C}"/>
              </a:ext>
            </a:extLst>
          </p:cNvPr>
          <p:cNvSpPr txBox="1"/>
          <p:nvPr/>
        </p:nvSpPr>
        <p:spPr>
          <a:xfrm>
            <a:off x="270933" y="1193800"/>
            <a:ext cx="11303000"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libre"/>
              </a:rPr>
              <a:t>SROM module is </a:t>
            </a:r>
            <a:r>
              <a:rPr lang="en-IN" sz="2400" b="1" dirty="0">
                <a:latin typeface="Calibre"/>
              </a:rPr>
              <a:t>AHB-Lite compliant slave interface</a:t>
            </a:r>
          </a:p>
          <a:p>
            <a:pPr marL="342900" indent="-342900">
              <a:buFont typeface="Arial" panose="020B0604020202020204" pitchFamily="34" charset="0"/>
              <a:buChar char="•"/>
            </a:pPr>
            <a:r>
              <a:rPr lang="en-IN" sz="2400" b="1" dirty="0">
                <a:latin typeface="Calibre"/>
              </a:rPr>
              <a:t>64-bit read data path</a:t>
            </a:r>
          </a:p>
          <a:p>
            <a:pPr marL="342900" indent="-342900">
              <a:buFont typeface="Arial" panose="020B0604020202020204" pitchFamily="34" charset="0"/>
              <a:buChar char="•"/>
            </a:pPr>
            <a:r>
              <a:rPr lang="en-IN" sz="2400" b="1" dirty="0">
                <a:latin typeface="Calibre"/>
              </a:rPr>
              <a:t>Word-aligned (</a:t>
            </a:r>
            <a:r>
              <a:rPr lang="en-US" sz="2400" dirty="0">
                <a:latin typeface="Calibre"/>
              </a:rPr>
              <a:t>addresses are arranged according to the size of the data word) </a:t>
            </a:r>
            <a:r>
              <a:rPr lang="en-IN" sz="2400" b="1" dirty="0">
                <a:latin typeface="Calibre"/>
              </a:rPr>
              <a:t> SROM addressing</a:t>
            </a:r>
          </a:p>
          <a:p>
            <a:pPr marL="342900" indent="-342900">
              <a:buFont typeface="Arial" panose="020B0604020202020204" pitchFamily="34" charset="0"/>
              <a:buChar char="•"/>
            </a:pPr>
            <a:r>
              <a:rPr lang="en-IN" sz="2400" b="1" dirty="0">
                <a:latin typeface="Calibre"/>
              </a:rPr>
              <a:t>Read-only protection</a:t>
            </a:r>
            <a:endParaRPr lang="en-IN" sz="2400" dirty="0">
              <a:latin typeface="Calibre"/>
            </a:endParaRPr>
          </a:p>
          <a:p>
            <a:pPr marL="800100" lvl="1" indent="-342900">
              <a:buFont typeface="Arial" panose="020B0604020202020204" pitchFamily="34" charset="0"/>
              <a:buChar char="•"/>
            </a:pPr>
            <a:r>
              <a:rPr lang="en-US" sz="2400" dirty="0">
                <a:latin typeface="Calibre"/>
              </a:rPr>
              <a:t>Any write access generates an AHB ERROR response </a:t>
            </a:r>
          </a:p>
          <a:p>
            <a:pPr marL="342900" indent="-342900">
              <a:buFont typeface="Arial" panose="020B0604020202020204" pitchFamily="34" charset="0"/>
              <a:buChar char="•"/>
            </a:pPr>
            <a:r>
              <a:rPr lang="en-IN" sz="2400" b="1" dirty="0">
                <a:latin typeface="Calibre"/>
              </a:rPr>
              <a:t>Single-cycle ROM read </a:t>
            </a:r>
            <a:r>
              <a:rPr lang="en-IN" sz="2400" b="1" dirty="0" err="1">
                <a:latin typeface="Calibre"/>
              </a:rPr>
              <a:t>datapath</a:t>
            </a:r>
            <a:endParaRPr lang="en-IN" sz="2400" b="1" dirty="0">
              <a:latin typeface="Calibre"/>
            </a:endParaRPr>
          </a:p>
          <a:p>
            <a:pPr marL="342900" indent="-342900">
              <a:buFont typeface="Arial" panose="020B0604020202020204" pitchFamily="34" charset="0"/>
              <a:buChar char="•"/>
            </a:pPr>
            <a:r>
              <a:rPr lang="en-US" sz="2400" dirty="0">
                <a:latin typeface="Calibre"/>
              </a:rPr>
              <a:t>Simple chip-select-based SROM access mechanism</a:t>
            </a:r>
          </a:p>
          <a:p>
            <a:pPr marL="342900" indent="-342900">
              <a:buFont typeface="Arial" panose="020B0604020202020204" pitchFamily="34" charset="0"/>
              <a:buChar char="•"/>
            </a:pPr>
            <a:r>
              <a:rPr lang="en-US" sz="2400" dirty="0">
                <a:latin typeface="Calibre"/>
              </a:rPr>
              <a:t>Supports 64-bit read data transfers </a:t>
            </a:r>
          </a:p>
          <a:p>
            <a:pPr marL="342900" indent="-342900">
              <a:buFont typeface="Arial" panose="020B0604020202020204" pitchFamily="34" charset="0"/>
              <a:buChar char="•"/>
            </a:pPr>
            <a:r>
              <a:rPr lang="en-US" sz="2400" dirty="0"/>
              <a:t>32-bit address</a:t>
            </a:r>
            <a:endParaRPr lang="en-US" sz="2400" dirty="0">
              <a:latin typeface="Calibre"/>
            </a:endParaRPr>
          </a:p>
          <a:p>
            <a:pPr marL="342900" indent="-342900">
              <a:buFont typeface="Arial" panose="020B0604020202020204" pitchFamily="34" charset="0"/>
              <a:buChar char="•"/>
            </a:pPr>
            <a:endParaRPr lang="en-IN" sz="2400" dirty="0">
              <a:latin typeface="Calibre"/>
            </a:endParaRPr>
          </a:p>
        </p:txBody>
      </p:sp>
    </p:spTree>
    <p:extLst>
      <p:ext uri="{BB962C8B-B14F-4D97-AF65-F5344CB8AC3E}">
        <p14:creationId xmlns:p14="http://schemas.microsoft.com/office/powerpoint/2010/main" val="3220760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48C25-92EE-8E37-9E55-C803A6306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EE3AF-83CB-AF2B-DE67-75C3FFE13026}"/>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SROM Block Diagram</a:t>
            </a:r>
            <a:endParaRPr lang="en-US" dirty="0"/>
          </a:p>
        </p:txBody>
      </p:sp>
      <p:sp>
        <p:nvSpPr>
          <p:cNvPr id="5" name="TextBox 4">
            <a:extLst>
              <a:ext uri="{FF2B5EF4-FFF2-40B4-BE49-F238E27FC236}">
                <a16:creationId xmlns:a16="http://schemas.microsoft.com/office/drawing/2014/main" id="{535B17D8-0108-4C5B-726C-DE7983E4F914}"/>
              </a:ext>
            </a:extLst>
          </p:cNvPr>
          <p:cNvSpPr txBox="1"/>
          <p:nvPr/>
        </p:nvSpPr>
        <p:spPr>
          <a:xfrm>
            <a:off x="4857735" y="6284837"/>
            <a:ext cx="3351675"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Fig. 2 SROM block diagram</a:t>
            </a:r>
          </a:p>
        </p:txBody>
      </p:sp>
      <p:grpSp>
        <p:nvGrpSpPr>
          <p:cNvPr id="6" name="Group 5">
            <a:extLst>
              <a:ext uri="{FF2B5EF4-FFF2-40B4-BE49-F238E27FC236}">
                <a16:creationId xmlns:a16="http://schemas.microsoft.com/office/drawing/2014/main" id="{024189CB-E243-2810-C1C3-A83E0FF2F8D6}"/>
              </a:ext>
            </a:extLst>
          </p:cNvPr>
          <p:cNvGrpSpPr/>
          <p:nvPr/>
        </p:nvGrpSpPr>
        <p:grpSpPr>
          <a:xfrm>
            <a:off x="2615714" y="1295077"/>
            <a:ext cx="6960572" cy="4876606"/>
            <a:chOff x="1943099" y="1065733"/>
            <a:chExt cx="8077196" cy="5658917"/>
          </a:xfrm>
        </p:grpSpPr>
        <p:sp>
          <p:nvSpPr>
            <p:cNvPr id="7" name="Rectangle 6">
              <a:extLst>
                <a:ext uri="{FF2B5EF4-FFF2-40B4-BE49-F238E27FC236}">
                  <a16:creationId xmlns:a16="http://schemas.microsoft.com/office/drawing/2014/main" id="{2D5DF140-0DBA-E6E4-8FE4-36C59F8BA4B1}"/>
                </a:ext>
              </a:extLst>
            </p:cNvPr>
            <p:cNvSpPr/>
            <p:nvPr/>
          </p:nvSpPr>
          <p:spPr>
            <a:xfrm>
              <a:off x="1943099" y="1065733"/>
              <a:ext cx="8077195" cy="693317"/>
            </a:xfrm>
            <a:prstGeom prst="rect">
              <a:avLst/>
            </a:prstGeom>
            <a:solidFill>
              <a:srgbClr val="CDB3FB"/>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Read Request from AHB</a:t>
              </a:r>
              <a:endParaRPr lang="en-IN"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35DDC25F-07A3-24E7-8415-4F945B4248DC}"/>
                </a:ext>
              </a:extLst>
            </p:cNvPr>
            <p:cNvSpPr/>
            <p:nvPr/>
          </p:nvSpPr>
          <p:spPr>
            <a:xfrm>
              <a:off x="1943099" y="1893333"/>
              <a:ext cx="8077195" cy="693317"/>
            </a:xfrm>
            <a:prstGeom prst="rect">
              <a:avLst/>
            </a:prstGeom>
            <a:solidFill>
              <a:schemeClr val="accent1">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Chip Select Generation</a:t>
              </a:r>
              <a:endParaRPr lang="en-IN"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F4B42DC2-56EA-F1AE-0FFE-5271B1918522}"/>
                </a:ext>
              </a:extLst>
            </p:cNvPr>
            <p:cNvSpPr/>
            <p:nvPr/>
          </p:nvSpPr>
          <p:spPr>
            <a:xfrm>
              <a:off x="1943100" y="2720933"/>
              <a:ext cx="8077195" cy="693317"/>
            </a:xfrm>
            <a:prstGeom prst="rect">
              <a:avLst/>
            </a:prstGeom>
            <a:solidFill>
              <a:srgbClr val="C4FEFB"/>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Write Access Check</a:t>
              </a:r>
              <a:endParaRPr lang="en-IN"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891E3AD8-C5C9-F1A2-5AA9-C8CFD58A0574}"/>
                </a:ext>
              </a:extLst>
            </p:cNvPr>
            <p:cNvSpPr/>
            <p:nvPr/>
          </p:nvSpPr>
          <p:spPr>
            <a:xfrm>
              <a:off x="1943100" y="3548533"/>
              <a:ext cx="8077195" cy="693317"/>
            </a:xfrm>
            <a:prstGeom prst="rect">
              <a:avLst/>
            </a:prstGeom>
            <a:solidFill>
              <a:srgbClr val="F1A1A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Address Generation &amp; Alignment</a:t>
              </a:r>
              <a:endParaRPr lang="en-IN"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347B6075-2506-33F9-176E-888C6D832526}"/>
                </a:ext>
              </a:extLst>
            </p:cNvPr>
            <p:cNvSpPr/>
            <p:nvPr/>
          </p:nvSpPr>
          <p:spPr>
            <a:xfrm>
              <a:off x="1943100" y="4376133"/>
              <a:ext cx="8077195" cy="693317"/>
            </a:xfrm>
            <a:prstGeom prst="rect">
              <a:avLst/>
            </a:prstGeom>
            <a:solidFill>
              <a:schemeClr val="accent5">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External IMEM / ROM Array</a:t>
              </a:r>
              <a:endParaRPr lang="en-IN"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B11260BB-66A1-A722-5203-706763AB6FA0}"/>
                </a:ext>
              </a:extLst>
            </p:cNvPr>
            <p:cNvSpPr/>
            <p:nvPr/>
          </p:nvSpPr>
          <p:spPr>
            <a:xfrm>
              <a:off x="1943100" y="5203733"/>
              <a:ext cx="8077195" cy="693317"/>
            </a:xfrm>
            <a:prstGeom prst="rect">
              <a:avLst/>
            </a:prstGeom>
            <a:solidFill>
              <a:schemeClr val="accent6">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Error Pipeline Registers</a:t>
              </a:r>
              <a:endParaRPr lang="en-IN"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48AAE235-4490-0EDB-F62B-46184D774D0A}"/>
                </a:ext>
              </a:extLst>
            </p:cNvPr>
            <p:cNvSpPr/>
            <p:nvPr/>
          </p:nvSpPr>
          <p:spPr>
            <a:xfrm>
              <a:off x="1943100" y="6031333"/>
              <a:ext cx="8077195" cy="693317"/>
            </a:xfrm>
            <a:prstGeom prst="rect">
              <a:avLst/>
            </a:prstGeom>
            <a:solidFill>
              <a:srgbClr val="D1D6A6"/>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AHB Response Logic</a:t>
              </a:r>
              <a:endParaRPr lang="en-IN"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14" name="Straight Arrow Connector 13">
              <a:extLst>
                <a:ext uri="{FF2B5EF4-FFF2-40B4-BE49-F238E27FC236}">
                  <a16:creationId xmlns:a16="http://schemas.microsoft.com/office/drawing/2014/main" id="{D4A355D7-D543-6F2D-AD1E-F5CFB0FBCC52}"/>
                </a:ext>
              </a:extLst>
            </p:cNvPr>
            <p:cNvCxnSpPr>
              <a:stCxn id="7" idx="2"/>
              <a:endCxn id="8" idx="0"/>
            </p:cNvCxnSpPr>
            <p:nvPr/>
          </p:nvCxnSpPr>
          <p:spPr>
            <a:xfrm>
              <a:off x="5981697" y="1759050"/>
              <a:ext cx="0" cy="1342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BC66C679-7027-01A4-4975-58FC78076238}"/>
                </a:ext>
              </a:extLst>
            </p:cNvPr>
            <p:cNvCxnSpPr>
              <a:stCxn id="8" idx="2"/>
              <a:endCxn id="9" idx="0"/>
            </p:cNvCxnSpPr>
            <p:nvPr/>
          </p:nvCxnSpPr>
          <p:spPr>
            <a:xfrm>
              <a:off x="5981697" y="2586650"/>
              <a:ext cx="1" cy="1342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E37F5CC3-C824-617E-C0D0-4C98FC87DBA9}"/>
                </a:ext>
              </a:extLst>
            </p:cNvPr>
            <p:cNvCxnSpPr>
              <a:stCxn id="9" idx="2"/>
              <a:endCxn id="10" idx="0"/>
            </p:cNvCxnSpPr>
            <p:nvPr/>
          </p:nvCxnSpPr>
          <p:spPr>
            <a:xfrm>
              <a:off x="5981698" y="3414250"/>
              <a:ext cx="0" cy="1342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D2973C47-9FA5-DE39-458F-D81A816D1574}"/>
                </a:ext>
              </a:extLst>
            </p:cNvPr>
            <p:cNvCxnSpPr>
              <a:stCxn id="10" idx="2"/>
              <a:endCxn id="11" idx="0"/>
            </p:cNvCxnSpPr>
            <p:nvPr/>
          </p:nvCxnSpPr>
          <p:spPr>
            <a:xfrm>
              <a:off x="5981698" y="4241850"/>
              <a:ext cx="0" cy="1342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389851E3-DEEE-844A-141D-AD6552123617}"/>
                </a:ext>
              </a:extLst>
            </p:cNvPr>
            <p:cNvCxnSpPr>
              <a:stCxn id="11" idx="2"/>
              <a:endCxn id="12" idx="0"/>
            </p:cNvCxnSpPr>
            <p:nvPr/>
          </p:nvCxnSpPr>
          <p:spPr>
            <a:xfrm>
              <a:off x="5981698" y="5069450"/>
              <a:ext cx="0" cy="1342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7CBCA57E-C089-3356-0C60-86BCA4201D04}"/>
                </a:ext>
              </a:extLst>
            </p:cNvPr>
            <p:cNvCxnSpPr>
              <a:stCxn id="12" idx="2"/>
              <a:endCxn id="13" idx="0"/>
            </p:cNvCxnSpPr>
            <p:nvPr/>
          </p:nvCxnSpPr>
          <p:spPr>
            <a:xfrm>
              <a:off x="5981698" y="5897050"/>
              <a:ext cx="0" cy="1342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3926533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671AD-9DA5-B462-AD94-E4D162BEB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F5CB4-41A5-FEF2-8469-44E678CA507A}"/>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SROM Pin Diagram</a:t>
            </a:r>
            <a:endParaRPr lang="en-US" dirty="0"/>
          </a:p>
        </p:txBody>
      </p:sp>
      <p:sp>
        <p:nvSpPr>
          <p:cNvPr id="3" name="TextBox 2">
            <a:extLst>
              <a:ext uri="{FF2B5EF4-FFF2-40B4-BE49-F238E27FC236}">
                <a16:creationId xmlns:a16="http://schemas.microsoft.com/office/drawing/2014/main" id="{C19D1290-DCA1-BC4F-D462-B4FC9A9409BE}"/>
              </a:ext>
            </a:extLst>
          </p:cNvPr>
          <p:cNvSpPr txBox="1"/>
          <p:nvPr/>
        </p:nvSpPr>
        <p:spPr>
          <a:xfrm>
            <a:off x="4617801" y="5626632"/>
            <a:ext cx="2588546" cy="369332"/>
          </a:xfrm>
          <a:prstGeom prst="rect">
            <a:avLst/>
          </a:prstGeom>
          <a:noFill/>
        </p:spPr>
        <p:txBody>
          <a:bodyPr wrap="square" rtlCol="0">
            <a:spAutoFit/>
          </a:bodyPr>
          <a:lstStyle/>
          <a:p>
            <a:r>
              <a:rPr lang="en-IN" dirty="0"/>
              <a:t>Fig. 3 SROM pin diagram</a:t>
            </a:r>
          </a:p>
        </p:txBody>
      </p:sp>
      <p:grpSp>
        <p:nvGrpSpPr>
          <p:cNvPr id="5" name="Group 4">
            <a:extLst>
              <a:ext uri="{FF2B5EF4-FFF2-40B4-BE49-F238E27FC236}">
                <a16:creationId xmlns:a16="http://schemas.microsoft.com/office/drawing/2014/main" id="{1023504B-3D39-65B3-74D2-4C17104B0BF8}"/>
              </a:ext>
            </a:extLst>
          </p:cNvPr>
          <p:cNvGrpSpPr/>
          <p:nvPr/>
        </p:nvGrpSpPr>
        <p:grpSpPr>
          <a:xfrm>
            <a:off x="2426054" y="1355217"/>
            <a:ext cx="7339892" cy="4147566"/>
            <a:chOff x="2870908" y="199905"/>
            <a:chExt cx="7339892" cy="4147566"/>
          </a:xfrm>
        </p:grpSpPr>
        <p:sp>
          <p:nvSpPr>
            <p:cNvPr id="6" name="Rectangle 5">
              <a:extLst>
                <a:ext uri="{FF2B5EF4-FFF2-40B4-BE49-F238E27FC236}">
                  <a16:creationId xmlns:a16="http://schemas.microsoft.com/office/drawing/2014/main" id="{602B0DA8-51EC-C857-E97B-CAE0CE609CBC}"/>
                </a:ext>
              </a:extLst>
            </p:cNvPr>
            <p:cNvSpPr/>
            <p:nvPr/>
          </p:nvSpPr>
          <p:spPr>
            <a:xfrm>
              <a:off x="4743092" y="199905"/>
              <a:ext cx="3092958" cy="4147566"/>
            </a:xfrm>
            <a:prstGeom prst="rect">
              <a:avLst/>
            </a:prstGeom>
            <a:solidFill>
              <a:srgbClr val="99C6E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rPr>
                <a:t>AHB SROM Interface</a:t>
              </a:r>
            </a:p>
          </p:txBody>
        </p:sp>
        <p:cxnSp>
          <p:nvCxnSpPr>
            <p:cNvPr id="7" name="Straight Arrow Connector 6">
              <a:extLst>
                <a:ext uri="{FF2B5EF4-FFF2-40B4-BE49-F238E27FC236}">
                  <a16:creationId xmlns:a16="http://schemas.microsoft.com/office/drawing/2014/main" id="{20D0E3AF-1930-1C7A-6E5E-1AF524AC0C60}"/>
                </a:ext>
              </a:extLst>
            </p:cNvPr>
            <p:cNvCxnSpPr>
              <a:cxnSpLocks/>
            </p:cNvCxnSpPr>
            <p:nvPr/>
          </p:nvCxnSpPr>
          <p:spPr>
            <a:xfrm>
              <a:off x="3918608" y="565785"/>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188FD725-C1C9-F73C-AE32-9F8EF7C07448}"/>
                </a:ext>
              </a:extLst>
            </p:cNvPr>
            <p:cNvCxnSpPr>
              <a:cxnSpLocks/>
            </p:cNvCxnSpPr>
            <p:nvPr/>
          </p:nvCxnSpPr>
          <p:spPr>
            <a:xfrm>
              <a:off x="3918608" y="947166"/>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0991CE9F-C5FD-0130-4FEC-6C5060980625}"/>
                </a:ext>
              </a:extLst>
            </p:cNvPr>
            <p:cNvCxnSpPr>
              <a:cxnSpLocks/>
            </p:cNvCxnSpPr>
            <p:nvPr/>
          </p:nvCxnSpPr>
          <p:spPr>
            <a:xfrm>
              <a:off x="3909083" y="1288161"/>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B9B8B21E-D66E-81FD-64CF-F035465F0F4F}"/>
                </a:ext>
              </a:extLst>
            </p:cNvPr>
            <p:cNvCxnSpPr>
              <a:cxnSpLocks/>
            </p:cNvCxnSpPr>
            <p:nvPr/>
          </p:nvCxnSpPr>
          <p:spPr>
            <a:xfrm>
              <a:off x="3918608" y="1646682"/>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D1382970-C256-D6B6-DB82-5D493FD6535C}"/>
                </a:ext>
              </a:extLst>
            </p:cNvPr>
            <p:cNvCxnSpPr>
              <a:cxnSpLocks/>
            </p:cNvCxnSpPr>
            <p:nvPr/>
          </p:nvCxnSpPr>
          <p:spPr>
            <a:xfrm>
              <a:off x="3899558" y="1999107"/>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86BB6BB6-72EC-DB37-F674-2B4C02658FD2}"/>
                </a:ext>
              </a:extLst>
            </p:cNvPr>
            <p:cNvCxnSpPr>
              <a:cxnSpLocks/>
            </p:cNvCxnSpPr>
            <p:nvPr/>
          </p:nvCxnSpPr>
          <p:spPr>
            <a:xfrm>
              <a:off x="3918608" y="2366010"/>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EDA0A06D-C0E3-B755-13ED-E59A41921112}"/>
                </a:ext>
              </a:extLst>
            </p:cNvPr>
            <p:cNvCxnSpPr>
              <a:cxnSpLocks/>
            </p:cNvCxnSpPr>
            <p:nvPr/>
          </p:nvCxnSpPr>
          <p:spPr>
            <a:xfrm>
              <a:off x="3918608" y="2718816"/>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AE094C14-8331-8481-002B-C208485B7C6A}"/>
                </a:ext>
              </a:extLst>
            </p:cNvPr>
            <p:cNvCxnSpPr>
              <a:cxnSpLocks/>
            </p:cNvCxnSpPr>
            <p:nvPr/>
          </p:nvCxnSpPr>
          <p:spPr>
            <a:xfrm>
              <a:off x="3918607" y="3110144"/>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A58661C1-499A-D5D5-3466-B2C5B81DB04B}"/>
                </a:ext>
              </a:extLst>
            </p:cNvPr>
            <p:cNvCxnSpPr>
              <a:cxnSpLocks/>
            </p:cNvCxnSpPr>
            <p:nvPr/>
          </p:nvCxnSpPr>
          <p:spPr>
            <a:xfrm>
              <a:off x="3899557" y="3462569"/>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4FF81C72-82CB-08FE-7BEE-75F15DAEC2BF}"/>
                </a:ext>
              </a:extLst>
            </p:cNvPr>
            <p:cNvCxnSpPr>
              <a:cxnSpLocks/>
            </p:cNvCxnSpPr>
            <p:nvPr/>
          </p:nvCxnSpPr>
          <p:spPr>
            <a:xfrm>
              <a:off x="3909082" y="3831287"/>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TextBox 16">
              <a:extLst>
                <a:ext uri="{FF2B5EF4-FFF2-40B4-BE49-F238E27FC236}">
                  <a16:creationId xmlns:a16="http://schemas.microsoft.com/office/drawing/2014/main" id="{90A57F00-184E-508D-5A71-BAFA9EF6B7DD}"/>
                </a:ext>
              </a:extLst>
            </p:cNvPr>
            <p:cNvSpPr txBox="1"/>
            <p:nvPr/>
          </p:nvSpPr>
          <p:spPr>
            <a:xfrm>
              <a:off x="3362325" y="353688"/>
              <a:ext cx="570903" cy="369332"/>
            </a:xfrm>
            <a:prstGeom prst="rect">
              <a:avLst/>
            </a:prstGeom>
            <a:noFill/>
          </p:spPr>
          <p:txBody>
            <a:bodyPr wrap="square" rtlCol="0">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hclk</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5DD45433-E57C-A314-5979-3F76E170F1C3}"/>
                </a:ext>
              </a:extLst>
            </p:cNvPr>
            <p:cNvSpPr txBox="1"/>
            <p:nvPr/>
          </p:nvSpPr>
          <p:spPr>
            <a:xfrm>
              <a:off x="2907219" y="726199"/>
              <a:ext cx="1079160" cy="369332"/>
            </a:xfrm>
            <a:prstGeom prst="rect">
              <a:avLst/>
            </a:prstGeom>
            <a:noFill/>
          </p:spPr>
          <p:txBody>
            <a:bodyPr wrap="square" rtlCol="0">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hreset_n</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065118E3-D521-B243-31BC-5EC45A7679E4}"/>
                </a:ext>
              </a:extLst>
            </p:cNvPr>
            <p:cNvSpPr txBox="1"/>
            <p:nvPr/>
          </p:nvSpPr>
          <p:spPr>
            <a:xfrm>
              <a:off x="3203588" y="1090918"/>
              <a:ext cx="803436" cy="369332"/>
            </a:xfrm>
            <a:prstGeom prst="rect">
              <a:avLst/>
            </a:prstGeom>
            <a:noFill/>
          </p:spPr>
          <p:txBody>
            <a:bodyPr wrap="square" rtlCol="0">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hsel_i</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C89F36E7-ACB0-F951-79C8-24C32B0AFBF2}"/>
                </a:ext>
              </a:extLst>
            </p:cNvPr>
            <p:cNvSpPr txBox="1"/>
            <p:nvPr/>
          </p:nvSpPr>
          <p:spPr>
            <a:xfrm>
              <a:off x="2976823" y="1441061"/>
              <a:ext cx="978429" cy="369332"/>
            </a:xfrm>
            <a:prstGeom prst="rect">
              <a:avLst/>
            </a:prstGeom>
            <a:noFill/>
          </p:spPr>
          <p:txBody>
            <a:bodyPr wrap="square">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hwrite_i</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12F909DF-6560-28E3-842D-195E3ABF52DD}"/>
                </a:ext>
              </a:extLst>
            </p:cNvPr>
            <p:cNvSpPr txBox="1"/>
            <p:nvPr/>
          </p:nvSpPr>
          <p:spPr>
            <a:xfrm>
              <a:off x="2923437" y="1794771"/>
              <a:ext cx="1079182" cy="369332"/>
            </a:xfrm>
            <a:prstGeom prst="rect">
              <a:avLst/>
            </a:prstGeom>
            <a:noFill/>
          </p:spPr>
          <p:txBody>
            <a:bodyPr wrap="square">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hready_i</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117CCE88-4D4C-133C-0CFB-42EE4F21C94B}"/>
                </a:ext>
              </a:extLst>
            </p:cNvPr>
            <p:cNvSpPr txBox="1"/>
            <p:nvPr/>
          </p:nvSpPr>
          <p:spPr>
            <a:xfrm>
              <a:off x="2984444" y="2166506"/>
              <a:ext cx="979168" cy="369332"/>
            </a:xfrm>
            <a:prstGeom prst="rect">
              <a:avLst/>
            </a:prstGeom>
            <a:noFill/>
          </p:spPr>
          <p:txBody>
            <a:bodyPr wrap="square">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htrans_i</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2F0128F8-A192-7734-D724-E44CF5FED468}"/>
                </a:ext>
              </a:extLst>
            </p:cNvPr>
            <p:cNvSpPr txBox="1"/>
            <p:nvPr/>
          </p:nvSpPr>
          <p:spPr>
            <a:xfrm>
              <a:off x="3068263" y="2515170"/>
              <a:ext cx="921709" cy="369332"/>
            </a:xfrm>
            <a:prstGeom prst="rect">
              <a:avLst/>
            </a:prstGeom>
            <a:noFill/>
          </p:spPr>
          <p:txBody>
            <a:bodyPr wrap="square">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hsize</a:t>
              </a:r>
              <a:r>
                <a:rPr lang="en-IN" b="1" dirty="0">
                  <a:latin typeface="Calibri" panose="020F0502020204030204" pitchFamily="34" charset="0"/>
                  <a:ea typeface="Calibri" panose="020F0502020204030204" pitchFamily="34" charset="0"/>
                  <a:cs typeface="Calibri" panose="020F0502020204030204" pitchFamily="34" charset="0"/>
                </a:rPr>
                <a:t>_ </a:t>
              </a:r>
              <a:r>
                <a:rPr lang="en-IN" b="1" dirty="0" err="1">
                  <a:latin typeface="Calibri" panose="020F0502020204030204" pitchFamily="34" charset="0"/>
                  <a:ea typeface="Calibri" panose="020F0502020204030204" pitchFamily="34" charset="0"/>
                  <a:cs typeface="Calibri" panose="020F0502020204030204" pitchFamily="34" charset="0"/>
                </a:rPr>
                <a:t>i</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868A1EE9-4766-94A7-75E3-0F4C7E98D550}"/>
                </a:ext>
              </a:extLst>
            </p:cNvPr>
            <p:cNvSpPr txBox="1"/>
            <p:nvPr/>
          </p:nvSpPr>
          <p:spPr>
            <a:xfrm>
              <a:off x="3022641" y="2905392"/>
              <a:ext cx="979167" cy="369332"/>
            </a:xfrm>
            <a:prstGeom prst="rect">
              <a:avLst/>
            </a:prstGeom>
            <a:noFill/>
          </p:spPr>
          <p:txBody>
            <a:bodyPr wrap="square">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haddr_i</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CE3CCF93-1825-E4B3-AAD5-51A4CF095094}"/>
                </a:ext>
              </a:extLst>
            </p:cNvPr>
            <p:cNvSpPr txBox="1"/>
            <p:nvPr/>
          </p:nvSpPr>
          <p:spPr>
            <a:xfrm>
              <a:off x="2870908" y="3254624"/>
              <a:ext cx="1082751" cy="369332"/>
            </a:xfrm>
            <a:prstGeom prst="rect">
              <a:avLst/>
            </a:prstGeom>
            <a:noFill/>
          </p:spPr>
          <p:txBody>
            <a:bodyPr wrap="square">
              <a:spAutoFit/>
            </a:bodyPr>
            <a:lstStyle/>
            <a:p>
              <a:r>
                <a:rPr lang="en-US" b="1" dirty="0" err="1">
                  <a:latin typeface="Calibri" panose="020F0502020204030204" pitchFamily="34" charset="0"/>
                  <a:ea typeface="Calibri" panose="020F0502020204030204" pitchFamily="34" charset="0"/>
                  <a:cs typeface="Calibri" panose="020F0502020204030204" pitchFamily="34" charset="0"/>
                </a:rPr>
                <a:t>hwdata_i</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AABF6524-59B6-EE92-4DC9-7D70A2ECE5F6}"/>
                </a:ext>
              </a:extLst>
            </p:cNvPr>
            <p:cNvSpPr txBox="1"/>
            <p:nvPr/>
          </p:nvSpPr>
          <p:spPr>
            <a:xfrm>
              <a:off x="3245164" y="3623649"/>
              <a:ext cx="740568" cy="369332"/>
            </a:xfrm>
            <a:prstGeom prst="rect">
              <a:avLst/>
            </a:prstGeom>
            <a:noFill/>
          </p:spPr>
          <p:txBody>
            <a:bodyPr wrap="square">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rdata</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62084A8D-12B9-F51E-C8C1-C1599B301529}"/>
                </a:ext>
              </a:extLst>
            </p:cNvPr>
            <p:cNvSpPr txBox="1"/>
            <p:nvPr/>
          </p:nvSpPr>
          <p:spPr>
            <a:xfrm>
              <a:off x="8661818" y="1441061"/>
              <a:ext cx="1000341" cy="369332"/>
            </a:xfrm>
            <a:prstGeom prst="rect">
              <a:avLst/>
            </a:prstGeom>
            <a:noFill/>
          </p:spPr>
          <p:txBody>
            <a:bodyPr wrap="square">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hresp_o</a:t>
              </a:r>
              <a:endParaRPr lang="en-IN" b="1" dirty="0">
                <a:latin typeface="Calibri" panose="020F0502020204030204" pitchFamily="34" charset="0"/>
                <a:ea typeface="Calibri" panose="020F0502020204030204" pitchFamily="34" charset="0"/>
                <a:cs typeface="Calibri" panose="020F0502020204030204" pitchFamily="34" charset="0"/>
              </a:endParaRPr>
            </a:p>
          </p:txBody>
        </p:sp>
        <p:cxnSp>
          <p:nvCxnSpPr>
            <p:cNvPr id="28" name="Straight Connector 27">
              <a:extLst>
                <a:ext uri="{FF2B5EF4-FFF2-40B4-BE49-F238E27FC236}">
                  <a16:creationId xmlns:a16="http://schemas.microsoft.com/office/drawing/2014/main" id="{BCA7B647-3F25-ED92-E0EE-67805CF74248}"/>
                </a:ext>
              </a:extLst>
            </p:cNvPr>
            <p:cNvCxnSpPr/>
            <p:nvPr/>
          </p:nvCxnSpPr>
          <p:spPr>
            <a:xfrm flipH="1">
              <a:off x="4443815" y="2971584"/>
              <a:ext cx="142875" cy="250937"/>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61F9515-72A0-4C13-EF64-4E6AE3E357FC}"/>
                </a:ext>
              </a:extLst>
            </p:cNvPr>
            <p:cNvCxnSpPr/>
            <p:nvPr/>
          </p:nvCxnSpPr>
          <p:spPr>
            <a:xfrm flipH="1">
              <a:off x="4414193" y="3324804"/>
              <a:ext cx="142875" cy="250937"/>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982E63B9-DD06-37EC-3523-0C432A8669BE}"/>
                </a:ext>
              </a:extLst>
            </p:cNvPr>
            <p:cNvCxnSpPr/>
            <p:nvPr/>
          </p:nvCxnSpPr>
          <p:spPr>
            <a:xfrm flipH="1">
              <a:off x="4414193" y="3713506"/>
              <a:ext cx="142875" cy="250937"/>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1A7B83D6-C5D7-7ADC-1460-020B97176CE6}"/>
                </a:ext>
              </a:extLst>
            </p:cNvPr>
            <p:cNvSpPr txBox="1"/>
            <p:nvPr/>
          </p:nvSpPr>
          <p:spPr>
            <a:xfrm>
              <a:off x="4048719" y="2786918"/>
              <a:ext cx="441960"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32</a:t>
              </a:r>
            </a:p>
          </p:txBody>
        </p:sp>
        <p:sp>
          <p:nvSpPr>
            <p:cNvPr id="32" name="TextBox 31">
              <a:extLst>
                <a:ext uri="{FF2B5EF4-FFF2-40B4-BE49-F238E27FC236}">
                  <a16:creationId xmlns:a16="http://schemas.microsoft.com/office/drawing/2014/main" id="{02404147-9743-853E-C09B-151651097EAA}"/>
                </a:ext>
              </a:extLst>
            </p:cNvPr>
            <p:cNvSpPr txBox="1"/>
            <p:nvPr/>
          </p:nvSpPr>
          <p:spPr>
            <a:xfrm>
              <a:off x="4043671" y="3142716"/>
              <a:ext cx="441960"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64</a:t>
              </a:r>
            </a:p>
          </p:txBody>
        </p:sp>
        <p:sp>
          <p:nvSpPr>
            <p:cNvPr id="33" name="TextBox 32">
              <a:extLst>
                <a:ext uri="{FF2B5EF4-FFF2-40B4-BE49-F238E27FC236}">
                  <a16:creationId xmlns:a16="http://schemas.microsoft.com/office/drawing/2014/main" id="{EAA3473C-016F-FA15-6113-FE50131D9983}"/>
                </a:ext>
              </a:extLst>
            </p:cNvPr>
            <p:cNvSpPr txBox="1"/>
            <p:nvPr/>
          </p:nvSpPr>
          <p:spPr>
            <a:xfrm>
              <a:off x="4043670" y="3505483"/>
              <a:ext cx="441960"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64</a:t>
              </a:r>
            </a:p>
          </p:txBody>
        </p:sp>
        <p:cxnSp>
          <p:nvCxnSpPr>
            <p:cNvPr id="34" name="Straight Connector 33">
              <a:extLst>
                <a:ext uri="{FF2B5EF4-FFF2-40B4-BE49-F238E27FC236}">
                  <a16:creationId xmlns:a16="http://schemas.microsoft.com/office/drawing/2014/main" id="{848D04CE-0101-2A9C-94E3-787A5FA6C881}"/>
                </a:ext>
              </a:extLst>
            </p:cNvPr>
            <p:cNvCxnSpPr/>
            <p:nvPr/>
          </p:nvCxnSpPr>
          <p:spPr>
            <a:xfrm flipH="1">
              <a:off x="4459055" y="2590584"/>
              <a:ext cx="142875" cy="250937"/>
            </a:xfrm>
            <a:prstGeom prst="line">
              <a:avLst/>
            </a:prstGeom>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6C2E5DD8-CBC8-8E5A-75C6-C9B62EE0531B}"/>
                </a:ext>
              </a:extLst>
            </p:cNvPr>
            <p:cNvSpPr txBox="1"/>
            <p:nvPr/>
          </p:nvSpPr>
          <p:spPr>
            <a:xfrm>
              <a:off x="4063959" y="2405918"/>
              <a:ext cx="441960"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3</a:t>
              </a:r>
            </a:p>
          </p:txBody>
        </p:sp>
        <p:cxnSp>
          <p:nvCxnSpPr>
            <p:cNvPr id="36" name="Straight Connector 35">
              <a:extLst>
                <a:ext uri="{FF2B5EF4-FFF2-40B4-BE49-F238E27FC236}">
                  <a16:creationId xmlns:a16="http://schemas.microsoft.com/office/drawing/2014/main" id="{8B616D9E-9EC7-8518-0EBC-5B26B319F7CD}"/>
                </a:ext>
              </a:extLst>
            </p:cNvPr>
            <p:cNvCxnSpPr/>
            <p:nvPr/>
          </p:nvCxnSpPr>
          <p:spPr>
            <a:xfrm flipH="1">
              <a:off x="4467269" y="2232146"/>
              <a:ext cx="142875" cy="250937"/>
            </a:xfrm>
            <a:prstGeom prst="line">
              <a:avLst/>
            </a:prstGeom>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CDB11626-2895-5873-4EDE-CFB8041EBD4C}"/>
                </a:ext>
              </a:extLst>
            </p:cNvPr>
            <p:cNvSpPr txBox="1"/>
            <p:nvPr/>
          </p:nvSpPr>
          <p:spPr>
            <a:xfrm>
              <a:off x="4048719" y="2037201"/>
              <a:ext cx="441960"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2</a:t>
              </a:r>
            </a:p>
          </p:txBody>
        </p:sp>
        <p:cxnSp>
          <p:nvCxnSpPr>
            <p:cNvPr id="38" name="Straight Arrow Connector 37">
              <a:extLst>
                <a:ext uri="{FF2B5EF4-FFF2-40B4-BE49-F238E27FC236}">
                  <a16:creationId xmlns:a16="http://schemas.microsoft.com/office/drawing/2014/main" id="{8B06B140-63A4-D039-3B35-290602B7C7F2}"/>
                </a:ext>
              </a:extLst>
            </p:cNvPr>
            <p:cNvCxnSpPr>
              <a:cxnSpLocks/>
            </p:cNvCxnSpPr>
            <p:nvPr/>
          </p:nvCxnSpPr>
          <p:spPr>
            <a:xfrm>
              <a:off x="7864626" y="2384587"/>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a:extLst>
                <a:ext uri="{FF2B5EF4-FFF2-40B4-BE49-F238E27FC236}">
                  <a16:creationId xmlns:a16="http://schemas.microsoft.com/office/drawing/2014/main" id="{C489911A-23CD-46AE-7E89-D561FB61C79C}"/>
                </a:ext>
              </a:extLst>
            </p:cNvPr>
            <p:cNvCxnSpPr>
              <a:cxnSpLocks/>
            </p:cNvCxnSpPr>
            <p:nvPr/>
          </p:nvCxnSpPr>
          <p:spPr>
            <a:xfrm>
              <a:off x="7874151" y="2714533"/>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0" name="Straight Arrow Connector 39">
              <a:extLst>
                <a:ext uri="{FF2B5EF4-FFF2-40B4-BE49-F238E27FC236}">
                  <a16:creationId xmlns:a16="http://schemas.microsoft.com/office/drawing/2014/main" id="{47D5B1D8-89DC-9996-E791-980B5A15A640}"/>
                </a:ext>
              </a:extLst>
            </p:cNvPr>
            <p:cNvCxnSpPr>
              <a:cxnSpLocks/>
            </p:cNvCxnSpPr>
            <p:nvPr/>
          </p:nvCxnSpPr>
          <p:spPr>
            <a:xfrm>
              <a:off x="7855101" y="3086008"/>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1" name="TextBox 40">
              <a:extLst>
                <a:ext uri="{FF2B5EF4-FFF2-40B4-BE49-F238E27FC236}">
                  <a16:creationId xmlns:a16="http://schemas.microsoft.com/office/drawing/2014/main" id="{9E0AFBD8-DFD3-0088-A1F6-A4E58FA64828}"/>
                </a:ext>
              </a:extLst>
            </p:cNvPr>
            <p:cNvSpPr txBox="1"/>
            <p:nvPr/>
          </p:nvSpPr>
          <p:spPr>
            <a:xfrm>
              <a:off x="8660534" y="2165657"/>
              <a:ext cx="522851" cy="369332"/>
            </a:xfrm>
            <a:prstGeom prst="rect">
              <a:avLst/>
            </a:prstGeom>
            <a:noFill/>
          </p:spPr>
          <p:txBody>
            <a:bodyPr wrap="square">
              <a:spAutoFit/>
            </a:bodyPr>
            <a:lstStyle/>
            <a:p>
              <a:r>
                <a:rPr lang="en-IN" b="1" dirty="0">
                  <a:latin typeface="Calibri" panose="020F0502020204030204" pitchFamily="34" charset="0"/>
                  <a:ea typeface="Calibri" panose="020F0502020204030204" pitchFamily="34" charset="0"/>
                  <a:cs typeface="Calibri" panose="020F0502020204030204" pitchFamily="34" charset="0"/>
                </a:rPr>
                <a:t>cs</a:t>
              </a:r>
            </a:p>
          </p:txBody>
        </p:sp>
        <p:sp>
          <p:nvSpPr>
            <p:cNvPr id="42" name="TextBox 41">
              <a:extLst>
                <a:ext uri="{FF2B5EF4-FFF2-40B4-BE49-F238E27FC236}">
                  <a16:creationId xmlns:a16="http://schemas.microsoft.com/office/drawing/2014/main" id="{5A318DCA-A0E6-F2A8-E316-609A298A1910}"/>
                </a:ext>
              </a:extLst>
            </p:cNvPr>
            <p:cNvSpPr txBox="1"/>
            <p:nvPr/>
          </p:nvSpPr>
          <p:spPr>
            <a:xfrm>
              <a:off x="8662439" y="2905392"/>
              <a:ext cx="1321046" cy="369332"/>
            </a:xfrm>
            <a:prstGeom prst="rect">
              <a:avLst/>
            </a:prstGeom>
            <a:noFill/>
          </p:spPr>
          <p:txBody>
            <a:bodyPr wrap="square">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hrdata_o</a:t>
              </a:r>
              <a:endParaRPr lang="en-IN" b="1" dirty="0">
                <a:latin typeface="Calibri" panose="020F0502020204030204" pitchFamily="34" charset="0"/>
                <a:ea typeface="Calibri" panose="020F0502020204030204" pitchFamily="34" charset="0"/>
                <a:cs typeface="Calibri" panose="020F0502020204030204" pitchFamily="34" charset="0"/>
              </a:endParaRPr>
            </a:p>
          </p:txBody>
        </p:sp>
        <p:cxnSp>
          <p:nvCxnSpPr>
            <p:cNvPr id="43" name="Straight Connector 42">
              <a:extLst>
                <a:ext uri="{FF2B5EF4-FFF2-40B4-BE49-F238E27FC236}">
                  <a16:creationId xmlns:a16="http://schemas.microsoft.com/office/drawing/2014/main" id="{68ECEF2C-F0BD-7299-A838-BC5D722E02E7}"/>
                </a:ext>
              </a:extLst>
            </p:cNvPr>
            <p:cNvCxnSpPr/>
            <p:nvPr/>
          </p:nvCxnSpPr>
          <p:spPr>
            <a:xfrm flipH="1">
              <a:off x="8269914" y="2608114"/>
              <a:ext cx="142875" cy="250937"/>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25332B18-DE4F-2955-6BF8-5DD4185FBF90}"/>
                </a:ext>
              </a:extLst>
            </p:cNvPr>
            <p:cNvCxnSpPr/>
            <p:nvPr/>
          </p:nvCxnSpPr>
          <p:spPr>
            <a:xfrm flipH="1">
              <a:off x="8267343" y="2954443"/>
              <a:ext cx="142875" cy="250937"/>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4433F275-5131-2865-096F-3138E89BF525}"/>
                </a:ext>
              </a:extLst>
            </p:cNvPr>
            <p:cNvSpPr txBox="1"/>
            <p:nvPr/>
          </p:nvSpPr>
          <p:spPr>
            <a:xfrm>
              <a:off x="7992832" y="2396396"/>
              <a:ext cx="441960"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31</a:t>
              </a:r>
            </a:p>
          </p:txBody>
        </p:sp>
        <p:sp>
          <p:nvSpPr>
            <p:cNvPr id="46" name="TextBox 45">
              <a:extLst>
                <a:ext uri="{FF2B5EF4-FFF2-40B4-BE49-F238E27FC236}">
                  <a16:creationId xmlns:a16="http://schemas.microsoft.com/office/drawing/2014/main" id="{67E67BC9-5F6F-DDCC-4DE9-C514421B8322}"/>
                </a:ext>
              </a:extLst>
            </p:cNvPr>
            <p:cNvSpPr txBox="1"/>
            <p:nvPr/>
          </p:nvSpPr>
          <p:spPr>
            <a:xfrm>
              <a:off x="7992832" y="2773207"/>
              <a:ext cx="441960"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64</a:t>
              </a:r>
            </a:p>
          </p:txBody>
        </p:sp>
        <p:cxnSp>
          <p:nvCxnSpPr>
            <p:cNvPr id="47" name="Straight Arrow Connector 46">
              <a:extLst>
                <a:ext uri="{FF2B5EF4-FFF2-40B4-BE49-F238E27FC236}">
                  <a16:creationId xmlns:a16="http://schemas.microsoft.com/office/drawing/2014/main" id="{FCB7B5CF-1090-535E-9526-B113B716A853}"/>
                </a:ext>
              </a:extLst>
            </p:cNvPr>
            <p:cNvCxnSpPr>
              <a:cxnSpLocks/>
            </p:cNvCxnSpPr>
            <p:nvPr/>
          </p:nvCxnSpPr>
          <p:spPr>
            <a:xfrm>
              <a:off x="7855100" y="1647780"/>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3C2DB357-2A5A-0747-CA6D-9AC46DED5E5B}"/>
                </a:ext>
              </a:extLst>
            </p:cNvPr>
            <p:cNvCxnSpPr>
              <a:cxnSpLocks/>
            </p:cNvCxnSpPr>
            <p:nvPr/>
          </p:nvCxnSpPr>
          <p:spPr>
            <a:xfrm>
              <a:off x="7836050" y="2019255"/>
              <a:ext cx="82448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9" name="TextBox 48">
              <a:extLst>
                <a:ext uri="{FF2B5EF4-FFF2-40B4-BE49-F238E27FC236}">
                  <a16:creationId xmlns:a16="http://schemas.microsoft.com/office/drawing/2014/main" id="{A5B766FB-9D5D-A8ED-DB82-973568D6892B}"/>
                </a:ext>
              </a:extLst>
            </p:cNvPr>
            <p:cNvSpPr txBox="1"/>
            <p:nvPr/>
          </p:nvSpPr>
          <p:spPr>
            <a:xfrm>
              <a:off x="8666248" y="1838639"/>
              <a:ext cx="1544552" cy="369332"/>
            </a:xfrm>
            <a:prstGeom prst="rect">
              <a:avLst/>
            </a:prstGeom>
            <a:noFill/>
          </p:spPr>
          <p:txBody>
            <a:bodyPr wrap="square">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hreadyout_o</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EC44B277-D45B-6CF8-7308-21749E0D113E}"/>
                </a:ext>
              </a:extLst>
            </p:cNvPr>
            <p:cNvSpPr txBox="1"/>
            <p:nvPr/>
          </p:nvSpPr>
          <p:spPr>
            <a:xfrm>
              <a:off x="8671964" y="2523360"/>
              <a:ext cx="729543" cy="369332"/>
            </a:xfrm>
            <a:prstGeom prst="rect">
              <a:avLst/>
            </a:prstGeom>
            <a:noFill/>
          </p:spPr>
          <p:txBody>
            <a:bodyPr wrap="square">
              <a:spAutoFit/>
            </a:bodyPr>
            <a:lstStyle/>
            <a:p>
              <a:r>
                <a:rPr lang="en-IN" b="1" dirty="0" err="1">
                  <a:latin typeface="Calibri" panose="020F0502020204030204" pitchFamily="34" charset="0"/>
                  <a:ea typeface="Calibri" panose="020F0502020204030204" pitchFamily="34" charset="0"/>
                  <a:cs typeface="Calibri" panose="020F0502020204030204" pitchFamily="34" charset="0"/>
                </a:rPr>
                <a:t>addr</a:t>
              </a:r>
              <a:endParaRPr lang="en-IN" b="1" dirty="0">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211698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E7EED-D803-FCA3-D5A1-A081390A1B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C36C0-2769-D7A0-F327-68618552483B}"/>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t>SROM</a:t>
            </a:r>
            <a:r>
              <a:rPr lang="en-US" dirty="0">
                <a:latin typeface="Calibre"/>
              </a:rPr>
              <a:t> Signal Descriptions</a:t>
            </a:r>
            <a:endParaRPr lang="en-US" dirty="0"/>
          </a:p>
        </p:txBody>
      </p:sp>
      <p:graphicFrame>
        <p:nvGraphicFramePr>
          <p:cNvPr id="3" name="Table 2">
            <a:extLst>
              <a:ext uri="{FF2B5EF4-FFF2-40B4-BE49-F238E27FC236}">
                <a16:creationId xmlns:a16="http://schemas.microsoft.com/office/drawing/2014/main" id="{8E5C6421-8CAC-E86D-4454-EC248AE66B29}"/>
              </a:ext>
            </a:extLst>
          </p:cNvPr>
          <p:cNvGraphicFramePr>
            <a:graphicFrameLocks noGrp="1"/>
          </p:cNvGraphicFramePr>
          <p:nvPr/>
        </p:nvGraphicFramePr>
        <p:xfrm>
          <a:off x="1257300" y="1297912"/>
          <a:ext cx="9973732" cy="4754880"/>
        </p:xfrm>
        <a:graphic>
          <a:graphicData uri="http://schemas.openxmlformats.org/drawingml/2006/table">
            <a:tbl>
              <a:tblPr firstRow="1" bandRow="1">
                <a:tableStyleId>{5C22544A-7EE6-4342-B048-85BDC9FD1C3A}</a:tableStyleId>
              </a:tblPr>
              <a:tblGrid>
                <a:gridCol w="2493432">
                  <a:extLst>
                    <a:ext uri="{9D8B030D-6E8A-4147-A177-3AD203B41FA5}">
                      <a16:colId xmlns:a16="http://schemas.microsoft.com/office/drawing/2014/main" val="3921041682"/>
                    </a:ext>
                  </a:extLst>
                </a:gridCol>
                <a:gridCol w="1061351">
                  <a:extLst>
                    <a:ext uri="{9D8B030D-6E8A-4147-A177-3AD203B41FA5}">
                      <a16:colId xmlns:a16="http://schemas.microsoft.com/office/drawing/2014/main" val="743869448"/>
                    </a:ext>
                  </a:extLst>
                </a:gridCol>
                <a:gridCol w="1457504">
                  <a:extLst>
                    <a:ext uri="{9D8B030D-6E8A-4147-A177-3AD203B41FA5}">
                      <a16:colId xmlns:a16="http://schemas.microsoft.com/office/drawing/2014/main" val="1225331280"/>
                    </a:ext>
                  </a:extLst>
                </a:gridCol>
                <a:gridCol w="4961445">
                  <a:extLst>
                    <a:ext uri="{9D8B030D-6E8A-4147-A177-3AD203B41FA5}">
                      <a16:colId xmlns:a16="http://schemas.microsoft.com/office/drawing/2014/main" val="1848869435"/>
                    </a:ext>
                  </a:extLst>
                </a:gridCol>
              </a:tblGrid>
              <a:tr h="308010">
                <a:tc>
                  <a:txBody>
                    <a:bodyPr/>
                    <a:lstStyle/>
                    <a:p>
                      <a:pPr>
                        <a:buNone/>
                      </a:pPr>
                      <a:r>
                        <a:rPr lang="en-IN" dirty="0">
                          <a:latin typeface="Calibre"/>
                        </a:rPr>
                        <a:t>Signal</a:t>
                      </a:r>
                    </a:p>
                  </a:txBody>
                  <a:tcPr anchor="ctr"/>
                </a:tc>
                <a:tc>
                  <a:txBody>
                    <a:bodyPr/>
                    <a:lstStyle/>
                    <a:p>
                      <a:pPr>
                        <a:buNone/>
                      </a:pPr>
                      <a:r>
                        <a:rPr lang="en-IN">
                          <a:latin typeface="Calibre"/>
                        </a:rPr>
                        <a:t>Width</a:t>
                      </a:r>
                    </a:p>
                  </a:txBody>
                  <a:tcPr anchor="ctr"/>
                </a:tc>
                <a:tc>
                  <a:txBody>
                    <a:bodyPr/>
                    <a:lstStyle/>
                    <a:p>
                      <a:pPr>
                        <a:buNone/>
                      </a:pPr>
                      <a:r>
                        <a:rPr lang="en-IN">
                          <a:latin typeface="Calibre"/>
                        </a:rPr>
                        <a:t>Direction</a:t>
                      </a:r>
                    </a:p>
                  </a:txBody>
                  <a:tcPr anchor="ctr"/>
                </a:tc>
                <a:tc>
                  <a:txBody>
                    <a:bodyPr/>
                    <a:lstStyle/>
                    <a:p>
                      <a:pPr>
                        <a:buNone/>
                      </a:pPr>
                      <a:r>
                        <a:rPr lang="en-IN">
                          <a:latin typeface="Calibre"/>
                        </a:rPr>
                        <a:t>Description</a:t>
                      </a:r>
                    </a:p>
                  </a:txBody>
                  <a:tcPr anchor="ctr"/>
                </a:tc>
                <a:extLst>
                  <a:ext uri="{0D108BD9-81ED-4DB2-BD59-A6C34878D82A}">
                    <a16:rowId xmlns:a16="http://schemas.microsoft.com/office/drawing/2014/main" val="3026705487"/>
                  </a:ext>
                </a:extLst>
              </a:tr>
              <a:tr h="308010">
                <a:tc>
                  <a:txBody>
                    <a:bodyPr/>
                    <a:lstStyle/>
                    <a:p>
                      <a:pPr>
                        <a:buNone/>
                      </a:pPr>
                      <a:r>
                        <a:rPr lang="en-IN">
                          <a:latin typeface="Calibre"/>
                        </a:rPr>
                        <a:t>hclk</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IN">
                          <a:latin typeface="Calibre"/>
                        </a:rPr>
                        <a:t>AHB clock signal</a:t>
                      </a:r>
                    </a:p>
                  </a:txBody>
                  <a:tcPr anchor="ctr"/>
                </a:tc>
                <a:extLst>
                  <a:ext uri="{0D108BD9-81ED-4DB2-BD59-A6C34878D82A}">
                    <a16:rowId xmlns:a16="http://schemas.microsoft.com/office/drawing/2014/main" val="1851534311"/>
                  </a:ext>
                </a:extLst>
              </a:tr>
              <a:tr h="308010">
                <a:tc>
                  <a:txBody>
                    <a:bodyPr/>
                    <a:lstStyle/>
                    <a:p>
                      <a:pPr>
                        <a:buNone/>
                      </a:pPr>
                      <a:r>
                        <a:rPr lang="en-IN">
                          <a:latin typeface="Calibre"/>
                        </a:rPr>
                        <a:t>hreset_n</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IN">
                          <a:latin typeface="Calibre"/>
                        </a:rPr>
                        <a:t>Active low reset signal</a:t>
                      </a:r>
                    </a:p>
                  </a:txBody>
                  <a:tcPr anchor="ctr"/>
                </a:tc>
                <a:extLst>
                  <a:ext uri="{0D108BD9-81ED-4DB2-BD59-A6C34878D82A}">
                    <a16:rowId xmlns:a16="http://schemas.microsoft.com/office/drawing/2014/main" val="2481190153"/>
                  </a:ext>
                </a:extLst>
              </a:tr>
              <a:tr h="308010">
                <a:tc>
                  <a:txBody>
                    <a:bodyPr/>
                    <a:lstStyle/>
                    <a:p>
                      <a:pPr>
                        <a:buNone/>
                      </a:pPr>
                      <a:r>
                        <a:rPr lang="en-IN">
                          <a:latin typeface="Calibre"/>
                        </a:rPr>
                        <a:t>hsel_i</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IN">
                          <a:latin typeface="Calibre"/>
                        </a:rPr>
                        <a:t>AHB slave select signal</a:t>
                      </a:r>
                    </a:p>
                  </a:txBody>
                  <a:tcPr anchor="ctr"/>
                </a:tc>
                <a:extLst>
                  <a:ext uri="{0D108BD9-81ED-4DB2-BD59-A6C34878D82A}">
                    <a16:rowId xmlns:a16="http://schemas.microsoft.com/office/drawing/2014/main" val="3758558041"/>
                  </a:ext>
                </a:extLst>
              </a:tr>
              <a:tr h="308010">
                <a:tc>
                  <a:txBody>
                    <a:bodyPr/>
                    <a:lstStyle/>
                    <a:p>
                      <a:pPr>
                        <a:buNone/>
                      </a:pPr>
                      <a:r>
                        <a:rPr lang="en-IN">
                          <a:latin typeface="Calibre"/>
                        </a:rPr>
                        <a:t>hwrite_i</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IN">
                          <a:latin typeface="Calibre"/>
                        </a:rPr>
                        <a:t>AHB write control signal</a:t>
                      </a:r>
                    </a:p>
                  </a:txBody>
                  <a:tcPr anchor="ctr"/>
                </a:tc>
                <a:extLst>
                  <a:ext uri="{0D108BD9-81ED-4DB2-BD59-A6C34878D82A}">
                    <a16:rowId xmlns:a16="http://schemas.microsoft.com/office/drawing/2014/main" val="3565089179"/>
                  </a:ext>
                </a:extLst>
              </a:tr>
              <a:tr h="308010">
                <a:tc>
                  <a:txBody>
                    <a:bodyPr/>
                    <a:lstStyle/>
                    <a:p>
                      <a:pPr>
                        <a:buNone/>
                      </a:pPr>
                      <a:r>
                        <a:rPr lang="en-IN">
                          <a:latin typeface="Calibre"/>
                        </a:rPr>
                        <a:t>hready_i</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US">
                          <a:latin typeface="Calibre"/>
                        </a:rPr>
                        <a:t>Indicates valid and ready AHB transfer</a:t>
                      </a:r>
                    </a:p>
                  </a:txBody>
                  <a:tcPr anchor="ctr"/>
                </a:tc>
                <a:extLst>
                  <a:ext uri="{0D108BD9-81ED-4DB2-BD59-A6C34878D82A}">
                    <a16:rowId xmlns:a16="http://schemas.microsoft.com/office/drawing/2014/main" val="1941302646"/>
                  </a:ext>
                </a:extLst>
              </a:tr>
              <a:tr h="308010">
                <a:tc>
                  <a:txBody>
                    <a:bodyPr/>
                    <a:lstStyle/>
                    <a:p>
                      <a:pPr>
                        <a:buNone/>
                      </a:pPr>
                      <a:r>
                        <a:rPr lang="en-IN">
                          <a:latin typeface="Calibre"/>
                        </a:rPr>
                        <a:t>htrans_i</a:t>
                      </a:r>
                    </a:p>
                  </a:txBody>
                  <a:tcPr anchor="ctr"/>
                </a:tc>
                <a:tc>
                  <a:txBody>
                    <a:bodyPr/>
                    <a:lstStyle/>
                    <a:p>
                      <a:pPr>
                        <a:buNone/>
                      </a:pPr>
                      <a:r>
                        <a:rPr lang="en-IN">
                          <a:latin typeface="Calibre"/>
                        </a:rPr>
                        <a:t>2</a:t>
                      </a:r>
                    </a:p>
                  </a:txBody>
                  <a:tcPr anchor="ctr"/>
                </a:tc>
                <a:tc>
                  <a:txBody>
                    <a:bodyPr/>
                    <a:lstStyle/>
                    <a:p>
                      <a:pPr>
                        <a:buNone/>
                      </a:pPr>
                      <a:r>
                        <a:rPr lang="en-IN">
                          <a:latin typeface="Calibre"/>
                        </a:rPr>
                        <a:t>input</a:t>
                      </a:r>
                    </a:p>
                  </a:txBody>
                  <a:tcPr anchor="ctr"/>
                </a:tc>
                <a:tc>
                  <a:txBody>
                    <a:bodyPr/>
                    <a:lstStyle/>
                    <a:p>
                      <a:pPr>
                        <a:buNone/>
                      </a:pPr>
                      <a:r>
                        <a:rPr lang="en-IN">
                          <a:latin typeface="Calibre"/>
                        </a:rPr>
                        <a:t>AHB transfer type signal</a:t>
                      </a:r>
                    </a:p>
                  </a:txBody>
                  <a:tcPr anchor="ctr"/>
                </a:tc>
                <a:extLst>
                  <a:ext uri="{0D108BD9-81ED-4DB2-BD59-A6C34878D82A}">
                    <a16:rowId xmlns:a16="http://schemas.microsoft.com/office/drawing/2014/main" val="3001411141"/>
                  </a:ext>
                </a:extLst>
              </a:tr>
              <a:tr h="308010">
                <a:tc>
                  <a:txBody>
                    <a:bodyPr/>
                    <a:lstStyle/>
                    <a:p>
                      <a:pPr>
                        <a:buNone/>
                      </a:pPr>
                      <a:r>
                        <a:rPr lang="en-IN">
                          <a:latin typeface="Calibre"/>
                        </a:rPr>
                        <a:t>hsize_i</a:t>
                      </a:r>
                    </a:p>
                  </a:txBody>
                  <a:tcPr anchor="ctr"/>
                </a:tc>
                <a:tc>
                  <a:txBody>
                    <a:bodyPr/>
                    <a:lstStyle/>
                    <a:p>
                      <a:pPr>
                        <a:buNone/>
                      </a:pPr>
                      <a:r>
                        <a:rPr lang="en-IN">
                          <a:latin typeface="Calibre"/>
                        </a:rPr>
                        <a:t>3</a:t>
                      </a:r>
                    </a:p>
                  </a:txBody>
                  <a:tcPr anchor="ctr"/>
                </a:tc>
                <a:tc>
                  <a:txBody>
                    <a:bodyPr/>
                    <a:lstStyle/>
                    <a:p>
                      <a:pPr>
                        <a:buNone/>
                      </a:pPr>
                      <a:r>
                        <a:rPr lang="en-IN">
                          <a:latin typeface="Calibre"/>
                        </a:rPr>
                        <a:t>input</a:t>
                      </a:r>
                    </a:p>
                  </a:txBody>
                  <a:tcPr anchor="ctr"/>
                </a:tc>
                <a:tc>
                  <a:txBody>
                    <a:bodyPr/>
                    <a:lstStyle/>
                    <a:p>
                      <a:pPr>
                        <a:buNone/>
                      </a:pPr>
                      <a:r>
                        <a:rPr lang="en-IN">
                          <a:latin typeface="Calibre"/>
                        </a:rPr>
                        <a:t>AHB transfer size indication</a:t>
                      </a:r>
                    </a:p>
                  </a:txBody>
                  <a:tcPr anchor="ctr"/>
                </a:tc>
                <a:extLst>
                  <a:ext uri="{0D108BD9-81ED-4DB2-BD59-A6C34878D82A}">
                    <a16:rowId xmlns:a16="http://schemas.microsoft.com/office/drawing/2014/main" val="60307703"/>
                  </a:ext>
                </a:extLst>
              </a:tr>
              <a:tr h="308010">
                <a:tc>
                  <a:txBody>
                    <a:bodyPr/>
                    <a:lstStyle/>
                    <a:p>
                      <a:pPr>
                        <a:buNone/>
                      </a:pPr>
                      <a:r>
                        <a:rPr lang="en-IN">
                          <a:latin typeface="Calibre"/>
                        </a:rPr>
                        <a:t>haddr_i</a:t>
                      </a:r>
                    </a:p>
                  </a:txBody>
                  <a:tcPr anchor="ctr"/>
                </a:tc>
                <a:tc>
                  <a:txBody>
                    <a:bodyPr/>
                    <a:lstStyle/>
                    <a:p>
                      <a:pPr>
                        <a:buNone/>
                      </a:pPr>
                      <a:r>
                        <a:rPr lang="en-IN">
                          <a:latin typeface="Calibre"/>
                        </a:rPr>
                        <a:t>32</a:t>
                      </a:r>
                    </a:p>
                  </a:txBody>
                  <a:tcPr anchor="ctr"/>
                </a:tc>
                <a:tc>
                  <a:txBody>
                    <a:bodyPr/>
                    <a:lstStyle/>
                    <a:p>
                      <a:pPr>
                        <a:buNone/>
                      </a:pPr>
                      <a:r>
                        <a:rPr lang="en-IN">
                          <a:latin typeface="Calibre"/>
                        </a:rPr>
                        <a:t>input</a:t>
                      </a:r>
                    </a:p>
                  </a:txBody>
                  <a:tcPr anchor="ctr"/>
                </a:tc>
                <a:tc>
                  <a:txBody>
                    <a:bodyPr/>
                    <a:lstStyle/>
                    <a:p>
                      <a:pPr>
                        <a:buNone/>
                      </a:pPr>
                      <a:r>
                        <a:rPr lang="en-IN">
                          <a:latin typeface="Calibre"/>
                        </a:rPr>
                        <a:t>AHB address input</a:t>
                      </a:r>
                    </a:p>
                  </a:txBody>
                  <a:tcPr anchor="ctr"/>
                </a:tc>
                <a:extLst>
                  <a:ext uri="{0D108BD9-81ED-4DB2-BD59-A6C34878D82A}">
                    <a16:rowId xmlns:a16="http://schemas.microsoft.com/office/drawing/2014/main" val="2936665747"/>
                  </a:ext>
                </a:extLst>
              </a:tr>
              <a:tr h="308010">
                <a:tc>
                  <a:txBody>
                    <a:bodyPr/>
                    <a:lstStyle/>
                    <a:p>
                      <a:pPr>
                        <a:buNone/>
                      </a:pPr>
                      <a:r>
                        <a:rPr lang="en-IN">
                          <a:latin typeface="Calibre"/>
                        </a:rPr>
                        <a:t>hwdata_i</a:t>
                      </a:r>
                    </a:p>
                  </a:txBody>
                  <a:tcPr anchor="ctr"/>
                </a:tc>
                <a:tc>
                  <a:txBody>
                    <a:bodyPr/>
                    <a:lstStyle/>
                    <a:p>
                      <a:pPr>
                        <a:buNone/>
                      </a:pPr>
                      <a:r>
                        <a:rPr lang="en-IN">
                          <a:latin typeface="Calibre"/>
                        </a:rPr>
                        <a:t>64</a:t>
                      </a:r>
                    </a:p>
                  </a:txBody>
                  <a:tcPr anchor="ctr"/>
                </a:tc>
                <a:tc>
                  <a:txBody>
                    <a:bodyPr/>
                    <a:lstStyle/>
                    <a:p>
                      <a:pPr>
                        <a:buNone/>
                      </a:pPr>
                      <a:r>
                        <a:rPr lang="en-IN">
                          <a:latin typeface="Calibre"/>
                        </a:rPr>
                        <a:t>input</a:t>
                      </a:r>
                    </a:p>
                  </a:txBody>
                  <a:tcPr anchor="ctr"/>
                </a:tc>
                <a:tc>
                  <a:txBody>
                    <a:bodyPr/>
                    <a:lstStyle/>
                    <a:p>
                      <a:pPr>
                        <a:buNone/>
                      </a:pPr>
                      <a:r>
                        <a:rPr lang="en-US">
                          <a:latin typeface="Calibre"/>
                        </a:rPr>
                        <a:t>AHB write data input (unused for ROM writes)</a:t>
                      </a:r>
                    </a:p>
                  </a:txBody>
                  <a:tcPr anchor="ctr"/>
                </a:tc>
                <a:extLst>
                  <a:ext uri="{0D108BD9-81ED-4DB2-BD59-A6C34878D82A}">
                    <a16:rowId xmlns:a16="http://schemas.microsoft.com/office/drawing/2014/main" val="1775961626"/>
                  </a:ext>
                </a:extLst>
              </a:tr>
              <a:tr h="308010">
                <a:tc>
                  <a:txBody>
                    <a:bodyPr/>
                    <a:lstStyle/>
                    <a:p>
                      <a:pPr>
                        <a:buNone/>
                      </a:pPr>
                      <a:r>
                        <a:rPr lang="en-IN">
                          <a:latin typeface="Calibre"/>
                        </a:rPr>
                        <a:t>rdata</a:t>
                      </a:r>
                    </a:p>
                  </a:txBody>
                  <a:tcPr anchor="ctr"/>
                </a:tc>
                <a:tc>
                  <a:txBody>
                    <a:bodyPr/>
                    <a:lstStyle/>
                    <a:p>
                      <a:pPr>
                        <a:buNone/>
                      </a:pPr>
                      <a:r>
                        <a:rPr lang="en-IN">
                          <a:latin typeface="Calibre"/>
                        </a:rPr>
                        <a:t>64</a:t>
                      </a:r>
                    </a:p>
                  </a:txBody>
                  <a:tcPr anchor="ctr"/>
                </a:tc>
                <a:tc>
                  <a:txBody>
                    <a:bodyPr/>
                    <a:lstStyle/>
                    <a:p>
                      <a:pPr>
                        <a:buNone/>
                      </a:pPr>
                      <a:r>
                        <a:rPr lang="en-IN">
                          <a:latin typeface="Calibre"/>
                        </a:rPr>
                        <a:t>input</a:t>
                      </a:r>
                    </a:p>
                  </a:txBody>
                  <a:tcPr anchor="ctr"/>
                </a:tc>
                <a:tc>
                  <a:txBody>
                    <a:bodyPr/>
                    <a:lstStyle/>
                    <a:p>
                      <a:pPr>
                        <a:buNone/>
                      </a:pPr>
                      <a:r>
                        <a:rPr lang="en-US">
                          <a:latin typeface="Calibre"/>
                        </a:rPr>
                        <a:t>Read data returned from SROM array</a:t>
                      </a:r>
                    </a:p>
                  </a:txBody>
                  <a:tcPr anchor="ctr"/>
                </a:tc>
                <a:extLst>
                  <a:ext uri="{0D108BD9-81ED-4DB2-BD59-A6C34878D82A}">
                    <a16:rowId xmlns:a16="http://schemas.microsoft.com/office/drawing/2014/main" val="3985340446"/>
                  </a:ext>
                </a:extLst>
              </a:tr>
              <a:tr h="308010">
                <a:tc>
                  <a:txBody>
                    <a:bodyPr/>
                    <a:lstStyle/>
                    <a:p>
                      <a:pPr>
                        <a:buNone/>
                      </a:pPr>
                      <a:r>
                        <a:rPr lang="en-IN">
                          <a:latin typeface="Calibre"/>
                        </a:rPr>
                        <a:t>hresp_o</a:t>
                      </a:r>
                    </a:p>
                  </a:txBody>
                  <a:tcPr anchor="ctr"/>
                </a:tc>
                <a:tc>
                  <a:txBody>
                    <a:bodyPr/>
                    <a:lstStyle/>
                    <a:p>
                      <a:pPr>
                        <a:buNone/>
                      </a:pPr>
                      <a:r>
                        <a:rPr lang="en-IN">
                          <a:latin typeface="Calibre"/>
                        </a:rPr>
                        <a:t>1</a:t>
                      </a:r>
                    </a:p>
                  </a:txBody>
                  <a:tcPr anchor="ctr"/>
                </a:tc>
                <a:tc>
                  <a:txBody>
                    <a:bodyPr/>
                    <a:lstStyle/>
                    <a:p>
                      <a:pPr>
                        <a:buNone/>
                      </a:pPr>
                      <a:r>
                        <a:rPr lang="en-IN">
                          <a:latin typeface="Calibre"/>
                        </a:rPr>
                        <a:t>output</a:t>
                      </a:r>
                    </a:p>
                  </a:txBody>
                  <a:tcPr anchor="ctr"/>
                </a:tc>
                <a:tc>
                  <a:txBody>
                    <a:bodyPr/>
                    <a:lstStyle/>
                    <a:p>
                      <a:pPr>
                        <a:buNone/>
                      </a:pPr>
                      <a:r>
                        <a:rPr lang="en-US">
                          <a:latin typeface="Calibre"/>
                        </a:rPr>
                        <a:t>AHB response signal indicating OKAY or ERROR</a:t>
                      </a:r>
                    </a:p>
                  </a:txBody>
                  <a:tcPr anchor="ctr"/>
                </a:tc>
                <a:extLst>
                  <a:ext uri="{0D108BD9-81ED-4DB2-BD59-A6C34878D82A}">
                    <a16:rowId xmlns:a16="http://schemas.microsoft.com/office/drawing/2014/main" val="2870350705"/>
                  </a:ext>
                </a:extLst>
              </a:tr>
              <a:tr h="308010">
                <a:tc>
                  <a:txBody>
                    <a:bodyPr/>
                    <a:lstStyle/>
                    <a:p>
                      <a:pPr>
                        <a:buNone/>
                      </a:pPr>
                      <a:r>
                        <a:rPr lang="en-IN">
                          <a:latin typeface="Calibre"/>
                        </a:rPr>
                        <a:t>hreadyout_o</a:t>
                      </a:r>
                    </a:p>
                  </a:txBody>
                  <a:tcPr anchor="ctr"/>
                </a:tc>
                <a:tc>
                  <a:txBody>
                    <a:bodyPr/>
                    <a:lstStyle/>
                    <a:p>
                      <a:pPr>
                        <a:buNone/>
                      </a:pPr>
                      <a:r>
                        <a:rPr lang="en-IN">
                          <a:latin typeface="Calibre"/>
                        </a:rPr>
                        <a:t>1</a:t>
                      </a:r>
                    </a:p>
                  </a:txBody>
                  <a:tcPr anchor="ctr"/>
                </a:tc>
                <a:tc>
                  <a:txBody>
                    <a:bodyPr/>
                    <a:lstStyle/>
                    <a:p>
                      <a:pPr>
                        <a:buNone/>
                      </a:pPr>
                      <a:r>
                        <a:rPr lang="en-IN">
                          <a:latin typeface="Calibre"/>
                        </a:rPr>
                        <a:t>output</a:t>
                      </a:r>
                    </a:p>
                  </a:txBody>
                  <a:tcPr anchor="ctr"/>
                </a:tc>
                <a:tc>
                  <a:txBody>
                    <a:bodyPr/>
                    <a:lstStyle/>
                    <a:p>
                      <a:pPr>
                        <a:buNone/>
                      </a:pPr>
                      <a:r>
                        <a:rPr lang="en-IN" dirty="0">
                          <a:latin typeface="Calibre"/>
                        </a:rPr>
                        <a:t>AHB ready response signal</a:t>
                      </a:r>
                    </a:p>
                  </a:txBody>
                  <a:tcPr anchor="ctr"/>
                </a:tc>
                <a:extLst>
                  <a:ext uri="{0D108BD9-81ED-4DB2-BD59-A6C34878D82A}">
                    <a16:rowId xmlns:a16="http://schemas.microsoft.com/office/drawing/2014/main" val="4207610422"/>
                  </a:ext>
                </a:extLst>
              </a:tr>
            </a:tbl>
          </a:graphicData>
        </a:graphic>
      </p:graphicFrame>
      <p:sp>
        <p:nvSpPr>
          <p:cNvPr id="5" name="TextBox 4">
            <a:extLst>
              <a:ext uri="{FF2B5EF4-FFF2-40B4-BE49-F238E27FC236}">
                <a16:creationId xmlns:a16="http://schemas.microsoft.com/office/drawing/2014/main" id="{EBED119F-570C-CFA9-54DE-05405430C36D}"/>
              </a:ext>
            </a:extLst>
          </p:cNvPr>
          <p:cNvSpPr txBox="1"/>
          <p:nvPr/>
        </p:nvSpPr>
        <p:spPr>
          <a:xfrm>
            <a:off x="4585995" y="6367895"/>
            <a:ext cx="3701488" cy="369332"/>
          </a:xfrm>
          <a:prstGeom prst="rect">
            <a:avLst/>
          </a:prstGeom>
          <a:noFill/>
        </p:spPr>
        <p:txBody>
          <a:bodyPr wrap="square" lIns="91440" tIns="45720" rIns="91440" bIns="45720" rtlCol="0" anchor="t">
            <a:spAutoFit/>
          </a:bodyPr>
          <a:lstStyle/>
          <a:p>
            <a:r>
              <a:rPr lang="en-IN" dirty="0"/>
              <a:t>Table 1 SROM signal descriptions</a:t>
            </a:r>
            <a:endParaRPr lang="en-US" dirty="0"/>
          </a:p>
        </p:txBody>
      </p:sp>
    </p:spTree>
    <p:extLst>
      <p:ext uri="{BB962C8B-B14F-4D97-AF65-F5344CB8AC3E}">
        <p14:creationId xmlns:p14="http://schemas.microsoft.com/office/powerpoint/2010/main" val="2339866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E2BA2-9D3A-38EC-D526-48BE652C7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420B95-F52D-49B3-8FD0-9D857C6313BA}"/>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t>SROM</a:t>
            </a:r>
            <a:r>
              <a:rPr lang="en-US" dirty="0">
                <a:latin typeface="Calibre"/>
              </a:rPr>
              <a:t> Signal Descriptions (Contd..)</a:t>
            </a:r>
            <a:endParaRPr lang="en-US" dirty="0"/>
          </a:p>
        </p:txBody>
      </p:sp>
      <p:graphicFrame>
        <p:nvGraphicFramePr>
          <p:cNvPr id="4" name="Table 3">
            <a:extLst>
              <a:ext uri="{FF2B5EF4-FFF2-40B4-BE49-F238E27FC236}">
                <a16:creationId xmlns:a16="http://schemas.microsoft.com/office/drawing/2014/main" id="{FCA1C37C-DD63-A925-811F-262D5D94AD6F}"/>
              </a:ext>
            </a:extLst>
          </p:cNvPr>
          <p:cNvGraphicFramePr>
            <a:graphicFrameLocks noGrp="1"/>
          </p:cNvGraphicFramePr>
          <p:nvPr/>
        </p:nvGraphicFramePr>
        <p:xfrm>
          <a:off x="1109134" y="1414633"/>
          <a:ext cx="9973732" cy="1463040"/>
        </p:xfrm>
        <a:graphic>
          <a:graphicData uri="http://schemas.openxmlformats.org/drawingml/2006/table">
            <a:tbl>
              <a:tblPr firstRow="1" bandRow="1">
                <a:tableStyleId>{5C22544A-7EE6-4342-B048-85BDC9FD1C3A}</a:tableStyleId>
              </a:tblPr>
              <a:tblGrid>
                <a:gridCol w="2493432">
                  <a:extLst>
                    <a:ext uri="{9D8B030D-6E8A-4147-A177-3AD203B41FA5}">
                      <a16:colId xmlns:a16="http://schemas.microsoft.com/office/drawing/2014/main" val="3921041682"/>
                    </a:ext>
                  </a:extLst>
                </a:gridCol>
                <a:gridCol w="1061351">
                  <a:extLst>
                    <a:ext uri="{9D8B030D-6E8A-4147-A177-3AD203B41FA5}">
                      <a16:colId xmlns:a16="http://schemas.microsoft.com/office/drawing/2014/main" val="743869448"/>
                    </a:ext>
                  </a:extLst>
                </a:gridCol>
                <a:gridCol w="1457504">
                  <a:extLst>
                    <a:ext uri="{9D8B030D-6E8A-4147-A177-3AD203B41FA5}">
                      <a16:colId xmlns:a16="http://schemas.microsoft.com/office/drawing/2014/main" val="1225331280"/>
                    </a:ext>
                  </a:extLst>
                </a:gridCol>
                <a:gridCol w="4961445">
                  <a:extLst>
                    <a:ext uri="{9D8B030D-6E8A-4147-A177-3AD203B41FA5}">
                      <a16:colId xmlns:a16="http://schemas.microsoft.com/office/drawing/2014/main" val="1848869435"/>
                    </a:ext>
                  </a:extLst>
                </a:gridCol>
              </a:tblGrid>
              <a:tr h="308010">
                <a:tc>
                  <a:txBody>
                    <a:bodyPr/>
                    <a:lstStyle/>
                    <a:p>
                      <a:pPr>
                        <a:buNone/>
                      </a:pPr>
                      <a:r>
                        <a:rPr lang="en-IN" dirty="0">
                          <a:latin typeface="Calibre"/>
                        </a:rPr>
                        <a:t>Signal</a:t>
                      </a:r>
                    </a:p>
                  </a:txBody>
                  <a:tcPr anchor="ctr"/>
                </a:tc>
                <a:tc>
                  <a:txBody>
                    <a:bodyPr/>
                    <a:lstStyle/>
                    <a:p>
                      <a:pPr>
                        <a:buNone/>
                      </a:pPr>
                      <a:r>
                        <a:rPr lang="en-IN">
                          <a:latin typeface="Calibre"/>
                        </a:rPr>
                        <a:t>Width</a:t>
                      </a:r>
                    </a:p>
                  </a:txBody>
                  <a:tcPr anchor="ctr"/>
                </a:tc>
                <a:tc>
                  <a:txBody>
                    <a:bodyPr/>
                    <a:lstStyle/>
                    <a:p>
                      <a:pPr>
                        <a:buNone/>
                      </a:pPr>
                      <a:r>
                        <a:rPr lang="en-IN">
                          <a:latin typeface="Calibre"/>
                        </a:rPr>
                        <a:t>Direction</a:t>
                      </a:r>
                    </a:p>
                  </a:txBody>
                  <a:tcPr anchor="ctr"/>
                </a:tc>
                <a:tc>
                  <a:txBody>
                    <a:bodyPr/>
                    <a:lstStyle/>
                    <a:p>
                      <a:pPr>
                        <a:buNone/>
                      </a:pPr>
                      <a:r>
                        <a:rPr lang="en-IN">
                          <a:latin typeface="Calibre"/>
                        </a:rPr>
                        <a:t>Description</a:t>
                      </a:r>
                    </a:p>
                  </a:txBody>
                  <a:tcPr anchor="ctr"/>
                </a:tc>
                <a:extLst>
                  <a:ext uri="{0D108BD9-81ED-4DB2-BD59-A6C34878D82A}">
                    <a16:rowId xmlns:a16="http://schemas.microsoft.com/office/drawing/2014/main" val="3026705487"/>
                  </a:ext>
                </a:extLst>
              </a:tr>
              <a:tr h="308010">
                <a:tc>
                  <a:txBody>
                    <a:bodyPr/>
                    <a:lstStyle/>
                    <a:p>
                      <a:pPr>
                        <a:buNone/>
                      </a:pPr>
                      <a:r>
                        <a:rPr lang="en-IN">
                          <a:latin typeface="Calibre"/>
                        </a:rPr>
                        <a:t>cs</a:t>
                      </a:r>
                    </a:p>
                  </a:txBody>
                  <a:tcPr anchor="ctr"/>
                </a:tc>
                <a:tc>
                  <a:txBody>
                    <a:bodyPr/>
                    <a:lstStyle/>
                    <a:p>
                      <a:pPr>
                        <a:buNone/>
                      </a:pPr>
                      <a:r>
                        <a:rPr lang="en-IN" dirty="0">
                          <a:latin typeface="Calibre"/>
                        </a:rPr>
                        <a:t>1</a:t>
                      </a:r>
                    </a:p>
                  </a:txBody>
                  <a:tcPr anchor="ctr"/>
                </a:tc>
                <a:tc>
                  <a:txBody>
                    <a:bodyPr/>
                    <a:lstStyle/>
                    <a:p>
                      <a:pPr>
                        <a:buNone/>
                      </a:pPr>
                      <a:r>
                        <a:rPr lang="en-IN">
                          <a:latin typeface="Calibre"/>
                        </a:rPr>
                        <a:t>output</a:t>
                      </a:r>
                    </a:p>
                  </a:txBody>
                  <a:tcPr anchor="ctr"/>
                </a:tc>
                <a:tc>
                  <a:txBody>
                    <a:bodyPr/>
                    <a:lstStyle/>
                    <a:p>
                      <a:pPr>
                        <a:buNone/>
                      </a:pPr>
                      <a:r>
                        <a:rPr lang="en-US" dirty="0">
                          <a:latin typeface="Calibre"/>
                        </a:rPr>
                        <a:t>Chip select signal for SROM access</a:t>
                      </a:r>
                    </a:p>
                  </a:txBody>
                  <a:tcPr anchor="ctr"/>
                </a:tc>
                <a:extLst>
                  <a:ext uri="{0D108BD9-81ED-4DB2-BD59-A6C34878D82A}">
                    <a16:rowId xmlns:a16="http://schemas.microsoft.com/office/drawing/2014/main" val="610078649"/>
                  </a:ext>
                </a:extLst>
              </a:tr>
              <a:tr h="308010">
                <a:tc>
                  <a:txBody>
                    <a:bodyPr/>
                    <a:lstStyle/>
                    <a:p>
                      <a:pPr>
                        <a:buNone/>
                      </a:pPr>
                      <a:r>
                        <a:rPr lang="en-IN">
                          <a:latin typeface="Calibre"/>
                        </a:rPr>
                        <a:t>addr</a:t>
                      </a:r>
                    </a:p>
                  </a:txBody>
                  <a:tcPr anchor="ctr"/>
                </a:tc>
                <a:tc>
                  <a:txBody>
                    <a:bodyPr/>
                    <a:lstStyle/>
                    <a:p>
                      <a:pPr>
                        <a:buNone/>
                      </a:pPr>
                      <a:r>
                        <a:rPr lang="en-IN">
                          <a:latin typeface="Calibre"/>
                        </a:rPr>
                        <a:t>32</a:t>
                      </a:r>
                    </a:p>
                  </a:txBody>
                  <a:tcPr anchor="ctr"/>
                </a:tc>
                <a:tc>
                  <a:txBody>
                    <a:bodyPr/>
                    <a:lstStyle/>
                    <a:p>
                      <a:pPr>
                        <a:buNone/>
                      </a:pPr>
                      <a:r>
                        <a:rPr lang="en-IN">
                          <a:latin typeface="Calibre"/>
                        </a:rPr>
                        <a:t>output</a:t>
                      </a:r>
                    </a:p>
                  </a:txBody>
                  <a:tcPr anchor="ctr"/>
                </a:tc>
                <a:tc>
                  <a:txBody>
                    <a:bodyPr/>
                    <a:lstStyle/>
                    <a:p>
                      <a:pPr>
                        <a:buNone/>
                      </a:pPr>
                      <a:r>
                        <a:rPr lang="en-US">
                          <a:latin typeface="Calibre"/>
                        </a:rPr>
                        <a:t>Word-aligned address sent to SROM array</a:t>
                      </a:r>
                    </a:p>
                  </a:txBody>
                  <a:tcPr anchor="ctr"/>
                </a:tc>
                <a:extLst>
                  <a:ext uri="{0D108BD9-81ED-4DB2-BD59-A6C34878D82A}">
                    <a16:rowId xmlns:a16="http://schemas.microsoft.com/office/drawing/2014/main" val="1996860165"/>
                  </a:ext>
                </a:extLst>
              </a:tr>
              <a:tr h="308010">
                <a:tc>
                  <a:txBody>
                    <a:bodyPr/>
                    <a:lstStyle/>
                    <a:p>
                      <a:pPr>
                        <a:buNone/>
                      </a:pPr>
                      <a:r>
                        <a:rPr lang="en-IN">
                          <a:latin typeface="Calibre"/>
                        </a:rPr>
                        <a:t>hrdata_o</a:t>
                      </a:r>
                    </a:p>
                  </a:txBody>
                  <a:tcPr anchor="ctr"/>
                </a:tc>
                <a:tc>
                  <a:txBody>
                    <a:bodyPr/>
                    <a:lstStyle/>
                    <a:p>
                      <a:pPr>
                        <a:buNone/>
                      </a:pPr>
                      <a:r>
                        <a:rPr lang="en-IN">
                          <a:latin typeface="Calibre"/>
                        </a:rPr>
                        <a:t>64</a:t>
                      </a:r>
                    </a:p>
                  </a:txBody>
                  <a:tcPr anchor="ctr"/>
                </a:tc>
                <a:tc>
                  <a:txBody>
                    <a:bodyPr/>
                    <a:lstStyle/>
                    <a:p>
                      <a:pPr>
                        <a:buNone/>
                      </a:pPr>
                      <a:r>
                        <a:rPr lang="en-IN">
                          <a:latin typeface="Calibre"/>
                        </a:rPr>
                        <a:t>output</a:t>
                      </a:r>
                    </a:p>
                  </a:txBody>
                  <a:tcPr anchor="ctr"/>
                </a:tc>
                <a:tc>
                  <a:txBody>
                    <a:bodyPr/>
                    <a:lstStyle/>
                    <a:p>
                      <a:pPr>
                        <a:buNone/>
                      </a:pPr>
                      <a:r>
                        <a:rPr lang="en-US" dirty="0">
                          <a:latin typeface="Calibre"/>
                        </a:rPr>
                        <a:t>Read data output returned to AHB master</a:t>
                      </a:r>
                    </a:p>
                  </a:txBody>
                  <a:tcPr anchor="ctr"/>
                </a:tc>
                <a:extLst>
                  <a:ext uri="{0D108BD9-81ED-4DB2-BD59-A6C34878D82A}">
                    <a16:rowId xmlns:a16="http://schemas.microsoft.com/office/drawing/2014/main" val="951569424"/>
                  </a:ext>
                </a:extLst>
              </a:tr>
            </a:tbl>
          </a:graphicData>
        </a:graphic>
      </p:graphicFrame>
      <p:sp>
        <p:nvSpPr>
          <p:cNvPr id="6" name="TextBox 5">
            <a:extLst>
              <a:ext uri="{FF2B5EF4-FFF2-40B4-BE49-F238E27FC236}">
                <a16:creationId xmlns:a16="http://schemas.microsoft.com/office/drawing/2014/main" id="{18629540-D9C0-98D2-B4B2-1CF0A8EFDDAC}"/>
              </a:ext>
            </a:extLst>
          </p:cNvPr>
          <p:cNvSpPr txBox="1"/>
          <p:nvPr/>
        </p:nvSpPr>
        <p:spPr>
          <a:xfrm>
            <a:off x="4398996" y="2983468"/>
            <a:ext cx="3544854" cy="369332"/>
          </a:xfrm>
          <a:prstGeom prst="rect">
            <a:avLst/>
          </a:prstGeom>
          <a:noFill/>
        </p:spPr>
        <p:txBody>
          <a:bodyPr wrap="square" rtlCol="0">
            <a:spAutoFit/>
          </a:bodyPr>
          <a:lstStyle/>
          <a:p>
            <a:r>
              <a:rPr lang="en-IN" dirty="0"/>
              <a:t>Table 1 SROM signal descriptions</a:t>
            </a:r>
          </a:p>
        </p:txBody>
      </p:sp>
    </p:spTree>
    <p:extLst>
      <p:ext uri="{BB962C8B-B14F-4D97-AF65-F5344CB8AC3E}">
        <p14:creationId xmlns:p14="http://schemas.microsoft.com/office/powerpoint/2010/main" val="4088952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46E9A-F3D6-8521-C7B1-EA3A7CC4B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FE1D5-1A1C-4E0F-1568-50E370BBF192}"/>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SROM </a:t>
            </a:r>
            <a:r>
              <a:rPr lang="en-US" dirty="0"/>
              <a:t>Working</a:t>
            </a:r>
          </a:p>
        </p:txBody>
      </p:sp>
      <p:sp>
        <p:nvSpPr>
          <p:cNvPr id="4" name="TextBox 3">
            <a:extLst>
              <a:ext uri="{FF2B5EF4-FFF2-40B4-BE49-F238E27FC236}">
                <a16:creationId xmlns:a16="http://schemas.microsoft.com/office/drawing/2014/main" id="{3DE6D409-512D-2458-8F61-596A9E873903}"/>
              </a:ext>
            </a:extLst>
          </p:cNvPr>
          <p:cNvSpPr txBox="1"/>
          <p:nvPr/>
        </p:nvSpPr>
        <p:spPr>
          <a:xfrm>
            <a:off x="211667" y="1126067"/>
            <a:ext cx="11523133" cy="4893647"/>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Calibre"/>
                <a:ea typeface="Calibri" panose="020F0502020204030204" pitchFamily="34" charset="0"/>
                <a:cs typeface="Calibri" panose="020F0502020204030204" pitchFamily="34" charset="0"/>
              </a:rPr>
              <a:t>Read Operation</a:t>
            </a:r>
          </a:p>
          <a:p>
            <a:pPr marL="800100" lvl="1" indent="-342900">
              <a:buFont typeface="Arial" panose="020B0604020202020204" pitchFamily="34" charset="0"/>
              <a:buChar char="•"/>
            </a:pPr>
            <a:r>
              <a:rPr lang="en-US" sz="2400" dirty="0">
                <a:latin typeface="Calibre"/>
              </a:rPr>
              <a:t>AHB interface detects valid AHB read transfer </a:t>
            </a:r>
            <a:r>
              <a:rPr lang="en-IN" sz="2400" dirty="0">
                <a:latin typeface="Calibre"/>
              </a:rPr>
              <a:t>(NONSEQ / SEQ)</a:t>
            </a:r>
          </a:p>
          <a:p>
            <a:pPr marL="800100" lvl="1" indent="-342900">
              <a:buFont typeface="Arial" panose="020B0604020202020204" pitchFamily="34" charset="0"/>
              <a:buChar char="•"/>
            </a:pPr>
            <a:r>
              <a:rPr lang="en-US" sz="2400" dirty="0">
                <a:latin typeface="Calibre"/>
              </a:rPr>
              <a:t>Generates chip select signal </a:t>
            </a:r>
            <a:r>
              <a:rPr lang="en-US" sz="2400" dirty="0">
                <a:highlight>
                  <a:srgbClr val="FFFF00"/>
                </a:highlight>
                <a:latin typeface="Calibre"/>
              </a:rPr>
              <a:t>(cs)</a:t>
            </a:r>
            <a:r>
              <a:rPr lang="en-US" sz="2400" dirty="0">
                <a:latin typeface="Calibre"/>
              </a:rPr>
              <a:t> for valid memory access</a:t>
            </a:r>
          </a:p>
          <a:p>
            <a:pPr marL="800100" lvl="1" indent="-342900">
              <a:buFont typeface="Arial" panose="020B0604020202020204" pitchFamily="34" charset="0"/>
              <a:buChar char="•"/>
            </a:pPr>
            <a:r>
              <a:rPr lang="en-IN" sz="2400" dirty="0">
                <a:latin typeface="Calibre"/>
              </a:rPr>
              <a:t>Receives byte address through AHB address channel of 32 bits</a:t>
            </a:r>
            <a:endParaRPr lang="en-IN" sz="2400" dirty="0">
              <a:highlight>
                <a:srgbClr val="FFFF00"/>
              </a:highlight>
              <a:latin typeface="Calibre"/>
            </a:endParaRPr>
          </a:p>
          <a:p>
            <a:pPr marL="800100" lvl="1" indent="-342900">
              <a:buFont typeface="Arial" panose="020B0604020202020204" pitchFamily="34" charset="0"/>
              <a:buChar char="•"/>
            </a:pPr>
            <a:r>
              <a:rPr lang="en-IN" sz="2400" dirty="0">
                <a:latin typeface="Calibre"/>
              </a:rPr>
              <a:t>Performs word-aligned address generation</a:t>
            </a:r>
          </a:p>
          <a:p>
            <a:pPr marL="800100" lvl="1" indent="-342900">
              <a:buFont typeface="Arial" panose="020B0604020202020204" pitchFamily="34" charset="0"/>
              <a:buChar char="•"/>
            </a:pPr>
            <a:r>
              <a:rPr lang="en-US" sz="2400" dirty="0">
                <a:latin typeface="Calibre"/>
              </a:rPr>
              <a:t>Sends aligned address to external ROM memory</a:t>
            </a:r>
          </a:p>
          <a:p>
            <a:pPr marL="800100" lvl="1" indent="-342900">
              <a:buFont typeface="Arial" panose="020B0604020202020204" pitchFamily="34" charset="0"/>
              <a:buChar char="•"/>
            </a:pPr>
            <a:r>
              <a:rPr lang="en-US" sz="2400" dirty="0">
                <a:latin typeface="Calibre"/>
              </a:rPr>
              <a:t>External memory returns read data through AHB read channel, having 64 bits</a:t>
            </a:r>
          </a:p>
          <a:p>
            <a:pPr marL="800100" lvl="1" indent="-342900">
              <a:buFont typeface="Arial" panose="020B0604020202020204" pitchFamily="34" charset="0"/>
              <a:buChar char="•"/>
            </a:pPr>
            <a:r>
              <a:rPr lang="en-IN" sz="2400" dirty="0">
                <a:latin typeface="Calibre"/>
              </a:rPr>
              <a:t>Generates successful AHB response </a:t>
            </a:r>
            <a:r>
              <a:rPr lang="en-IN" sz="2400" dirty="0">
                <a:highlight>
                  <a:srgbClr val="FFFF00"/>
                </a:highlight>
                <a:latin typeface="Calibre"/>
              </a:rPr>
              <a:t>H_OKAY</a:t>
            </a:r>
          </a:p>
          <a:p>
            <a:pPr marL="342900" indent="-342900">
              <a:buFont typeface="Arial" panose="020B0604020202020204" pitchFamily="34" charset="0"/>
              <a:buChar char="•"/>
            </a:pPr>
            <a:r>
              <a:rPr lang="en-IN" sz="2400" b="1" dirty="0">
                <a:latin typeface="Calibre"/>
              </a:rPr>
              <a:t>SROM Write Error Handling</a:t>
            </a:r>
          </a:p>
          <a:p>
            <a:pPr marL="800100" lvl="1" indent="-342900">
              <a:buFont typeface="Arial" panose="020B0604020202020204" pitchFamily="34" charset="0"/>
              <a:buChar char="•"/>
            </a:pPr>
            <a:r>
              <a:rPr lang="en-US" sz="2400" dirty="0">
                <a:latin typeface="Calibre"/>
              </a:rPr>
              <a:t>SROM supports only read operations</a:t>
            </a:r>
          </a:p>
          <a:p>
            <a:pPr marL="800100" lvl="1" indent="-342900">
              <a:buFont typeface="Arial" panose="020B0604020202020204" pitchFamily="34" charset="0"/>
              <a:buChar char="•"/>
            </a:pPr>
            <a:r>
              <a:rPr lang="en-US" sz="2400" dirty="0">
                <a:latin typeface="Calibre"/>
              </a:rPr>
              <a:t>Detects invalid write access when: </a:t>
            </a:r>
            <a:r>
              <a:rPr lang="en-IN" sz="2400" dirty="0" err="1">
                <a:highlight>
                  <a:srgbClr val="FFFF00"/>
                </a:highlight>
                <a:latin typeface="Calibre"/>
              </a:rPr>
              <a:t>chipselect</a:t>
            </a:r>
            <a:r>
              <a:rPr lang="en-IN" sz="2400" dirty="0">
                <a:highlight>
                  <a:srgbClr val="FFFF00"/>
                </a:highlight>
                <a:latin typeface="Calibre"/>
              </a:rPr>
              <a:t> is high, and the AHB write signal is asserted</a:t>
            </a:r>
          </a:p>
          <a:p>
            <a:pPr marL="800100" lvl="1" indent="-342900">
              <a:buFont typeface="Arial" panose="020B0604020202020204" pitchFamily="34" charset="0"/>
              <a:buChar char="•"/>
            </a:pPr>
            <a:r>
              <a:rPr lang="en-IN" sz="2400" dirty="0">
                <a:latin typeface="Calibre"/>
              </a:rPr>
              <a:t>Generates internal error signal for write operation</a:t>
            </a:r>
            <a:endParaRPr lang="en-IN" sz="2400" dirty="0">
              <a:highlight>
                <a:srgbClr val="FFFF00"/>
              </a:highlight>
              <a:latin typeface="Calibre"/>
            </a:endParaRPr>
          </a:p>
        </p:txBody>
      </p:sp>
    </p:spTree>
    <p:extLst>
      <p:ext uri="{BB962C8B-B14F-4D97-AF65-F5344CB8AC3E}">
        <p14:creationId xmlns:p14="http://schemas.microsoft.com/office/powerpoint/2010/main" val="183208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38991-4182-F14C-2993-5D313F08D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8946E-A7B5-B0E7-8819-ED5594D26089}"/>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Fetch Control Introduction</a:t>
            </a:r>
            <a:endParaRPr lang="en-US" dirty="0"/>
          </a:p>
        </p:txBody>
      </p:sp>
      <p:sp>
        <p:nvSpPr>
          <p:cNvPr id="3" name="TextBox 2">
            <a:extLst>
              <a:ext uri="{FF2B5EF4-FFF2-40B4-BE49-F238E27FC236}">
                <a16:creationId xmlns:a16="http://schemas.microsoft.com/office/drawing/2014/main" id="{B8868A40-2DE0-7714-C14E-D01DF75501F2}"/>
              </a:ext>
            </a:extLst>
          </p:cNvPr>
          <p:cNvSpPr txBox="1"/>
          <p:nvPr/>
        </p:nvSpPr>
        <p:spPr>
          <a:xfrm>
            <a:off x="270933" y="1193800"/>
            <a:ext cx="11303000"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libre"/>
              </a:rPr>
              <a:t>Generates and manages next fetch addresses</a:t>
            </a:r>
          </a:p>
          <a:p>
            <a:pPr marL="342900" indent="-342900">
              <a:buFont typeface="Arial" panose="020B0604020202020204" pitchFamily="34" charset="0"/>
              <a:buChar char="•"/>
            </a:pPr>
            <a:r>
              <a:rPr lang="en-US" sz="2400" dirty="0">
                <a:latin typeface="Calibre"/>
              </a:rPr>
              <a:t>Controls instruction fetch requests to instruction memory/cache</a:t>
            </a:r>
          </a:p>
          <a:p>
            <a:pPr marL="342900" indent="-342900">
              <a:buFont typeface="Arial" panose="020B0604020202020204" pitchFamily="34" charset="0"/>
              <a:buChar char="•"/>
            </a:pPr>
            <a:r>
              <a:rPr lang="en-US" sz="2400" dirty="0">
                <a:latin typeface="Calibre"/>
              </a:rPr>
              <a:t>Handles pipeline flush, replay, and redirect operation</a:t>
            </a:r>
          </a:p>
          <a:p>
            <a:pPr marL="342900" indent="-342900">
              <a:buFont typeface="Arial" panose="020B0604020202020204" pitchFamily="34" charset="0"/>
              <a:buChar char="•"/>
            </a:pPr>
            <a:r>
              <a:rPr lang="en-US" sz="2400" dirty="0"/>
              <a:t>Detects ICCM and uncacheable memory </a:t>
            </a:r>
            <a:r>
              <a:rPr lang="en-US" sz="2400" dirty="0" err="1"/>
              <a:t>accesses</a:t>
            </a:r>
            <a:r>
              <a:rPr lang="en-US" sz="2400" dirty="0" err="1">
                <a:latin typeface="Calibre"/>
              </a:rPr>
              <a:t>s</a:t>
            </a:r>
            <a:endParaRPr lang="en-US" sz="2400" dirty="0">
              <a:latin typeface="Calibre"/>
            </a:endParaRPr>
          </a:p>
          <a:p>
            <a:pPr marL="342900" indent="-342900">
              <a:buFont typeface="Arial" panose="020B0604020202020204" pitchFamily="34" charset="0"/>
              <a:buChar char="•"/>
            </a:pPr>
            <a:r>
              <a:rPr lang="en-US" sz="2400" dirty="0"/>
              <a:t>Handles instruction cache miss recovery </a:t>
            </a:r>
            <a:endParaRPr lang="en-US" sz="2400" dirty="0">
              <a:latin typeface="Calibre"/>
            </a:endParaRPr>
          </a:p>
          <a:p>
            <a:pPr marL="342900" indent="-342900">
              <a:buFont typeface="Arial" panose="020B0604020202020204" pitchFamily="34" charset="0"/>
              <a:buChar char="•"/>
            </a:pPr>
            <a:r>
              <a:rPr lang="en-US" sz="2400" dirty="0">
                <a:latin typeface="Calibre"/>
              </a:rPr>
              <a:t>Uses FSM-based fetch sequencing and control </a:t>
            </a:r>
            <a:endParaRPr lang="en-IN" sz="2400" dirty="0">
              <a:latin typeface="Calibre"/>
            </a:endParaRPr>
          </a:p>
        </p:txBody>
      </p:sp>
    </p:spTree>
    <p:extLst>
      <p:ext uri="{BB962C8B-B14F-4D97-AF65-F5344CB8AC3E}">
        <p14:creationId xmlns:p14="http://schemas.microsoft.com/office/powerpoint/2010/main" val="4230511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40158-660C-092B-71C3-05C425747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5E269-21D6-EE77-24CC-5D92A0E0F07C}"/>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t>Fetch Control Block Diagram</a:t>
            </a:r>
          </a:p>
        </p:txBody>
      </p:sp>
      <p:sp>
        <p:nvSpPr>
          <p:cNvPr id="4" name="TextBox 3">
            <a:extLst>
              <a:ext uri="{FF2B5EF4-FFF2-40B4-BE49-F238E27FC236}">
                <a16:creationId xmlns:a16="http://schemas.microsoft.com/office/drawing/2014/main" id="{AEFCA7E5-F975-B7D8-136D-5CDCD74E716A}"/>
              </a:ext>
            </a:extLst>
          </p:cNvPr>
          <p:cNvSpPr txBox="1"/>
          <p:nvPr/>
        </p:nvSpPr>
        <p:spPr>
          <a:xfrm>
            <a:off x="3983801" y="6486854"/>
            <a:ext cx="4517464"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Fig. 4 Fetch control path block diagram</a:t>
            </a:r>
          </a:p>
        </p:txBody>
      </p:sp>
      <p:grpSp>
        <p:nvGrpSpPr>
          <p:cNvPr id="5" name="Group 4">
            <a:extLst>
              <a:ext uri="{FF2B5EF4-FFF2-40B4-BE49-F238E27FC236}">
                <a16:creationId xmlns:a16="http://schemas.microsoft.com/office/drawing/2014/main" id="{4DC69B4A-27AE-30B6-F2E8-1E7E759429B5}"/>
              </a:ext>
            </a:extLst>
          </p:cNvPr>
          <p:cNvGrpSpPr/>
          <p:nvPr/>
        </p:nvGrpSpPr>
        <p:grpSpPr>
          <a:xfrm>
            <a:off x="2549769" y="952559"/>
            <a:ext cx="6878515" cy="5523220"/>
            <a:chOff x="1851659" y="57856"/>
            <a:chExt cx="8488682" cy="6816130"/>
          </a:xfrm>
        </p:grpSpPr>
        <p:sp>
          <p:nvSpPr>
            <p:cNvPr id="6" name="Rectangle 5">
              <a:extLst>
                <a:ext uri="{FF2B5EF4-FFF2-40B4-BE49-F238E27FC236}">
                  <a16:creationId xmlns:a16="http://schemas.microsoft.com/office/drawing/2014/main" id="{4C2D4656-84B8-735D-DA0E-E9AC29B553A4}"/>
                </a:ext>
              </a:extLst>
            </p:cNvPr>
            <p:cNvSpPr/>
            <p:nvPr/>
          </p:nvSpPr>
          <p:spPr>
            <a:xfrm>
              <a:off x="4213858" y="57856"/>
              <a:ext cx="3539440" cy="311987"/>
            </a:xfrm>
            <a:prstGeom prst="rect">
              <a:avLst/>
            </a:prstGeom>
            <a:solidFill>
              <a:srgbClr val="CDB3FB"/>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Flush/Redirect Control</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B40B4538-46FD-4177-88DE-3823EAEAEF20}"/>
                </a:ext>
              </a:extLst>
            </p:cNvPr>
            <p:cNvSpPr/>
            <p:nvPr/>
          </p:nvSpPr>
          <p:spPr>
            <a:xfrm>
              <a:off x="4213857" y="3864299"/>
              <a:ext cx="3539440" cy="311987"/>
            </a:xfrm>
            <a:prstGeom prst="rect">
              <a:avLst/>
            </a:prstGeom>
            <a:solidFill>
              <a:schemeClr val="accent1">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Fetch Request Generation</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322C82A9-649E-3CFF-56F1-E40107433EC0}"/>
                </a:ext>
              </a:extLst>
            </p:cNvPr>
            <p:cNvSpPr/>
            <p:nvPr/>
          </p:nvSpPr>
          <p:spPr>
            <a:xfrm>
              <a:off x="4213857" y="3416898"/>
              <a:ext cx="3539440" cy="311987"/>
            </a:xfrm>
            <a:prstGeom prst="rect">
              <a:avLst/>
            </a:prstGeom>
            <a:solidFill>
              <a:srgbClr val="C4FEFB"/>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Fetch Address Pipeline Reg</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F83FB38B-9DCD-D2FF-0FE9-F7138066FFEC}"/>
                </a:ext>
              </a:extLst>
            </p:cNvPr>
            <p:cNvSpPr/>
            <p:nvPr/>
          </p:nvSpPr>
          <p:spPr>
            <a:xfrm>
              <a:off x="4213858" y="530670"/>
              <a:ext cx="3539440" cy="2313603"/>
            </a:xfrm>
            <a:prstGeom prst="rect">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Fetch Address Selection Mux</a:t>
              </a:r>
            </a:p>
            <a:p>
              <a:pPr algn="ct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ctangle: Rounded Corners 9">
              <a:extLst>
                <a:ext uri="{FF2B5EF4-FFF2-40B4-BE49-F238E27FC236}">
                  <a16:creationId xmlns:a16="http://schemas.microsoft.com/office/drawing/2014/main" id="{CEB5AC27-F8B4-0F60-C0E7-82D8F3D28C92}"/>
                </a:ext>
              </a:extLst>
            </p:cNvPr>
            <p:cNvSpPr/>
            <p:nvPr/>
          </p:nvSpPr>
          <p:spPr>
            <a:xfrm>
              <a:off x="4455073" y="1007823"/>
              <a:ext cx="3057008" cy="322738"/>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Flush Path</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ectangle: Rounded Corners 10">
              <a:extLst>
                <a:ext uri="{FF2B5EF4-FFF2-40B4-BE49-F238E27FC236}">
                  <a16:creationId xmlns:a16="http://schemas.microsoft.com/office/drawing/2014/main" id="{2A87F80C-2357-78F9-ECF1-F9039C457A9E}"/>
                </a:ext>
              </a:extLst>
            </p:cNvPr>
            <p:cNvSpPr/>
            <p:nvPr/>
          </p:nvSpPr>
          <p:spPr>
            <a:xfrm>
              <a:off x="4463232" y="2268432"/>
              <a:ext cx="3048848" cy="322738"/>
            </a:xfrm>
            <a:prstGeom prst="roundRect">
              <a:avLst/>
            </a:prstGeom>
            <a:solidFill>
              <a:srgbClr val="FFCC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Sequential Path</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Rectangle: Rounded Corners 11">
              <a:extLst>
                <a:ext uri="{FF2B5EF4-FFF2-40B4-BE49-F238E27FC236}">
                  <a16:creationId xmlns:a16="http://schemas.microsoft.com/office/drawing/2014/main" id="{43811462-1820-D897-9AC3-02AB7B682272}"/>
                </a:ext>
              </a:extLst>
            </p:cNvPr>
            <p:cNvSpPr/>
            <p:nvPr/>
          </p:nvSpPr>
          <p:spPr>
            <a:xfrm>
              <a:off x="4463231" y="1848584"/>
              <a:ext cx="3048848" cy="322738"/>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Calibri" panose="020F0502020204030204" pitchFamily="34" charset="0"/>
                  <a:ea typeface="Calibri" panose="020F0502020204030204" pitchFamily="34" charset="0"/>
                  <a:cs typeface="Calibri" panose="020F0502020204030204" pitchFamily="34" charset="0"/>
                </a:rPr>
                <a:t>Branch Predictor </a:t>
              </a: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Target Path</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Rectangle: Rounded Corners 12">
              <a:extLst>
                <a:ext uri="{FF2B5EF4-FFF2-40B4-BE49-F238E27FC236}">
                  <a16:creationId xmlns:a16="http://schemas.microsoft.com/office/drawing/2014/main" id="{925F4ED0-B55B-D2B6-D7B5-B024857E12F0}"/>
                </a:ext>
              </a:extLst>
            </p:cNvPr>
            <p:cNvSpPr/>
            <p:nvPr/>
          </p:nvSpPr>
          <p:spPr>
            <a:xfrm>
              <a:off x="4463231" y="1426488"/>
              <a:ext cx="3048848" cy="322738"/>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Miss Replay Path</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96643BF-16BA-C187-1D70-0AD846505E2C}"/>
                </a:ext>
              </a:extLst>
            </p:cNvPr>
            <p:cNvSpPr/>
            <p:nvPr/>
          </p:nvSpPr>
          <p:spPr>
            <a:xfrm>
              <a:off x="4213858" y="2976240"/>
              <a:ext cx="3539440" cy="311987"/>
            </a:xfrm>
            <a:prstGeom prst="rect">
              <a:avLst/>
            </a:prstGeom>
            <a:solidFill>
              <a:srgbClr val="F1A1A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Sequential Address Generator</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B0D61424-70D2-6C3C-5311-D401666D3AFC}"/>
                </a:ext>
              </a:extLst>
            </p:cNvPr>
            <p:cNvSpPr/>
            <p:nvPr/>
          </p:nvSpPr>
          <p:spPr>
            <a:xfrm>
              <a:off x="1851659" y="4416390"/>
              <a:ext cx="3539440" cy="585568"/>
            </a:xfrm>
            <a:prstGeom prst="rect">
              <a:avLst/>
            </a:prstGeom>
            <a:solidFill>
              <a:srgbClr val="E1E5DD"/>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Fetch Buffer Tracking</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58C14951-E238-B99B-D225-A8EAE65F3629}"/>
                </a:ext>
              </a:extLst>
            </p:cNvPr>
            <p:cNvSpPr/>
            <p:nvPr/>
          </p:nvSpPr>
          <p:spPr>
            <a:xfrm>
              <a:off x="6800901" y="4416389"/>
              <a:ext cx="3539440" cy="585569"/>
            </a:xfrm>
            <a:prstGeom prst="rect">
              <a:avLst/>
            </a:prstGeom>
            <a:solidFill>
              <a:srgbClr val="E1E5DD"/>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Fetch FSM / Stall FSM</a:t>
              </a:r>
            </a:p>
            <a:p>
              <a:pPr algn="ctr"/>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IDLE, FETCH, STALL, WFM</a:t>
              </a:r>
            </a:p>
          </p:txBody>
        </p:sp>
        <p:sp>
          <p:nvSpPr>
            <p:cNvPr id="17" name="Rectangle 16">
              <a:extLst>
                <a:ext uri="{FF2B5EF4-FFF2-40B4-BE49-F238E27FC236}">
                  <a16:creationId xmlns:a16="http://schemas.microsoft.com/office/drawing/2014/main" id="{F96A0E41-85AF-48ED-88E5-6BBA54DCD2DA}"/>
                </a:ext>
              </a:extLst>
            </p:cNvPr>
            <p:cNvSpPr/>
            <p:nvPr/>
          </p:nvSpPr>
          <p:spPr>
            <a:xfrm>
              <a:off x="4213857" y="5271424"/>
              <a:ext cx="3539440" cy="311987"/>
            </a:xfrm>
            <a:prstGeom prst="rect">
              <a:avLst/>
            </a:prstGeom>
            <a:solidFill>
              <a:srgbClr val="C4FEFB"/>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DMA/ Stall Control</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94CCF73-2F74-C62C-80B5-8D8FF4530D09}"/>
                </a:ext>
              </a:extLst>
            </p:cNvPr>
            <p:cNvSpPr/>
            <p:nvPr/>
          </p:nvSpPr>
          <p:spPr>
            <a:xfrm>
              <a:off x="4213857" y="5693153"/>
              <a:ext cx="3539440" cy="311987"/>
            </a:xfrm>
            <a:prstGeom prst="rect">
              <a:avLst/>
            </a:prstGeom>
            <a:solidFill>
              <a:srgbClr val="F1A1A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ICCM Range Checker</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CB888F4A-A4BB-1B6F-ECDD-A3A5E45F23CC}"/>
                </a:ext>
              </a:extLst>
            </p:cNvPr>
            <p:cNvSpPr/>
            <p:nvPr/>
          </p:nvSpPr>
          <p:spPr>
            <a:xfrm>
              <a:off x="4213857" y="6561999"/>
              <a:ext cx="3539440" cy="311987"/>
            </a:xfrm>
            <a:prstGeom prst="rect">
              <a:avLst/>
            </a:prstGeom>
            <a:solidFill>
              <a:srgbClr val="E4D2DB"/>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PMU Fetch Stall Monitor</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20" name="Straight Arrow Connector 19">
              <a:extLst>
                <a:ext uri="{FF2B5EF4-FFF2-40B4-BE49-F238E27FC236}">
                  <a16:creationId xmlns:a16="http://schemas.microsoft.com/office/drawing/2014/main" id="{B0D9E171-4D54-3684-4832-39A9925448D2}"/>
                </a:ext>
              </a:extLst>
            </p:cNvPr>
            <p:cNvCxnSpPr>
              <a:cxnSpLocks/>
              <a:endCxn id="9" idx="0"/>
            </p:cNvCxnSpPr>
            <p:nvPr/>
          </p:nvCxnSpPr>
          <p:spPr>
            <a:xfrm>
              <a:off x="5983578" y="403427"/>
              <a:ext cx="0" cy="12724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E4055CEE-43EA-00B6-936C-49C0673A3D71}"/>
                </a:ext>
              </a:extLst>
            </p:cNvPr>
            <p:cNvCxnSpPr>
              <a:cxnSpLocks/>
              <a:stCxn id="9" idx="2"/>
              <a:endCxn id="14" idx="0"/>
            </p:cNvCxnSpPr>
            <p:nvPr/>
          </p:nvCxnSpPr>
          <p:spPr>
            <a:xfrm>
              <a:off x="5983579" y="2844273"/>
              <a:ext cx="0" cy="13196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049177BA-1AD6-6D20-2721-61974261704D}"/>
                </a:ext>
              </a:extLst>
            </p:cNvPr>
            <p:cNvCxnSpPr>
              <a:cxnSpLocks/>
              <a:stCxn id="14" idx="2"/>
              <a:endCxn id="8" idx="0"/>
            </p:cNvCxnSpPr>
            <p:nvPr/>
          </p:nvCxnSpPr>
          <p:spPr>
            <a:xfrm flipH="1">
              <a:off x="5983578" y="3288227"/>
              <a:ext cx="1" cy="1286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BE937C87-3C27-1E3D-48E7-E65E4D206B1A}"/>
                </a:ext>
              </a:extLst>
            </p:cNvPr>
            <p:cNvCxnSpPr>
              <a:cxnSpLocks/>
              <a:stCxn id="8" idx="2"/>
              <a:endCxn id="7" idx="0"/>
            </p:cNvCxnSpPr>
            <p:nvPr/>
          </p:nvCxnSpPr>
          <p:spPr>
            <a:xfrm>
              <a:off x="5983578" y="3728885"/>
              <a:ext cx="0" cy="1354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4" name="Rectangle 23">
              <a:extLst>
                <a:ext uri="{FF2B5EF4-FFF2-40B4-BE49-F238E27FC236}">
                  <a16:creationId xmlns:a16="http://schemas.microsoft.com/office/drawing/2014/main" id="{4F5C8BD5-672A-EE20-3307-C1787A5099F0}"/>
                </a:ext>
              </a:extLst>
            </p:cNvPr>
            <p:cNvSpPr/>
            <p:nvPr/>
          </p:nvSpPr>
          <p:spPr>
            <a:xfrm>
              <a:off x="4213857" y="6111301"/>
              <a:ext cx="3539440" cy="311987"/>
            </a:xfrm>
            <a:prstGeom prst="rect">
              <a:avLst/>
            </a:prstGeom>
            <a:solidFill>
              <a:srgbClr val="DDE2E5"/>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Uncacheable Region Check</a:t>
              </a:r>
              <a:endPar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25" name="Connector: Elbow 24">
              <a:extLst>
                <a:ext uri="{FF2B5EF4-FFF2-40B4-BE49-F238E27FC236}">
                  <a16:creationId xmlns:a16="http://schemas.microsoft.com/office/drawing/2014/main" id="{6E1CD3E3-BF55-4210-DB5B-DD94B34006F4}"/>
                </a:ext>
              </a:extLst>
            </p:cNvPr>
            <p:cNvCxnSpPr>
              <a:cxnSpLocks/>
            </p:cNvCxnSpPr>
            <p:nvPr/>
          </p:nvCxnSpPr>
          <p:spPr>
            <a:xfrm rot="5400000">
              <a:off x="4682427" y="3115239"/>
              <a:ext cx="240104" cy="2362198"/>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6" name="Connector: Elbow 25">
              <a:extLst>
                <a:ext uri="{FF2B5EF4-FFF2-40B4-BE49-F238E27FC236}">
                  <a16:creationId xmlns:a16="http://schemas.microsoft.com/office/drawing/2014/main" id="{E5105A3C-F4A0-3046-0CB1-0252406DF5CA}"/>
                </a:ext>
              </a:extLst>
            </p:cNvPr>
            <p:cNvCxnSpPr>
              <a:cxnSpLocks/>
            </p:cNvCxnSpPr>
            <p:nvPr/>
          </p:nvCxnSpPr>
          <p:spPr>
            <a:xfrm rot="16200000" flipH="1">
              <a:off x="7162472" y="2997392"/>
              <a:ext cx="229254" cy="2587044"/>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7" name="Connector: Elbow 26">
              <a:extLst>
                <a:ext uri="{FF2B5EF4-FFF2-40B4-BE49-F238E27FC236}">
                  <a16:creationId xmlns:a16="http://schemas.microsoft.com/office/drawing/2014/main" id="{64758947-6D9A-96D3-B337-66C81E5E77EF}"/>
                </a:ext>
              </a:extLst>
            </p:cNvPr>
            <p:cNvCxnSpPr>
              <a:stCxn id="15" idx="2"/>
              <a:endCxn id="17" idx="0"/>
            </p:cNvCxnSpPr>
            <p:nvPr/>
          </p:nvCxnSpPr>
          <p:spPr>
            <a:xfrm rot="16200000" flipH="1">
              <a:off x="4667745" y="3955591"/>
              <a:ext cx="269466" cy="2362198"/>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8" name="Connector: Elbow 27">
              <a:extLst>
                <a:ext uri="{FF2B5EF4-FFF2-40B4-BE49-F238E27FC236}">
                  <a16:creationId xmlns:a16="http://schemas.microsoft.com/office/drawing/2014/main" id="{84576DA2-D682-DE8E-6F92-54DCC47F31F0}"/>
                </a:ext>
              </a:extLst>
            </p:cNvPr>
            <p:cNvCxnSpPr>
              <a:stCxn id="16" idx="2"/>
              <a:endCxn id="17" idx="0"/>
            </p:cNvCxnSpPr>
            <p:nvPr/>
          </p:nvCxnSpPr>
          <p:spPr>
            <a:xfrm rot="5400000">
              <a:off x="7142368" y="3843170"/>
              <a:ext cx="269465" cy="2587044"/>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a:extLst>
                <a:ext uri="{FF2B5EF4-FFF2-40B4-BE49-F238E27FC236}">
                  <a16:creationId xmlns:a16="http://schemas.microsoft.com/office/drawing/2014/main" id="{245E0FC9-3EEA-E340-35DA-F67822320E2F}"/>
                </a:ext>
              </a:extLst>
            </p:cNvPr>
            <p:cNvCxnSpPr>
              <a:stCxn id="17" idx="2"/>
              <a:endCxn id="18" idx="0"/>
            </p:cNvCxnSpPr>
            <p:nvPr/>
          </p:nvCxnSpPr>
          <p:spPr>
            <a:xfrm>
              <a:off x="5983578" y="5583411"/>
              <a:ext cx="0" cy="10974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FEEFC783-21D1-B82F-17D9-011458AAD59C}"/>
                </a:ext>
              </a:extLst>
            </p:cNvPr>
            <p:cNvCxnSpPr>
              <a:stCxn id="18" idx="2"/>
              <a:endCxn id="24" idx="0"/>
            </p:cNvCxnSpPr>
            <p:nvPr/>
          </p:nvCxnSpPr>
          <p:spPr>
            <a:xfrm>
              <a:off x="5983578" y="6005140"/>
              <a:ext cx="0" cy="10616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id="{140048E2-8BF0-B9AD-9ACD-23A9F5C63559}"/>
                </a:ext>
              </a:extLst>
            </p:cNvPr>
            <p:cNvCxnSpPr>
              <a:stCxn id="24" idx="2"/>
              <a:endCxn id="19" idx="0"/>
            </p:cNvCxnSpPr>
            <p:nvPr/>
          </p:nvCxnSpPr>
          <p:spPr>
            <a:xfrm>
              <a:off x="5983578" y="6423288"/>
              <a:ext cx="0" cy="1387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1272127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1DC49-82FC-467E-AA29-F99731BBDC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B63ED-30FA-63C9-A68E-0B821F4E9B70}"/>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Fetch Control Pin Diagram</a:t>
            </a:r>
            <a:endParaRPr lang="en-US" dirty="0"/>
          </a:p>
        </p:txBody>
      </p:sp>
      <p:sp>
        <p:nvSpPr>
          <p:cNvPr id="33" name="TextBox 32">
            <a:extLst>
              <a:ext uri="{FF2B5EF4-FFF2-40B4-BE49-F238E27FC236}">
                <a16:creationId xmlns:a16="http://schemas.microsoft.com/office/drawing/2014/main" id="{F2C1E589-428E-A7A0-B44A-15C69754C7C4}"/>
              </a:ext>
            </a:extLst>
          </p:cNvPr>
          <p:cNvSpPr txBox="1"/>
          <p:nvPr/>
        </p:nvSpPr>
        <p:spPr>
          <a:xfrm>
            <a:off x="4327653" y="5987018"/>
            <a:ext cx="3260107" cy="369332"/>
          </a:xfrm>
          <a:prstGeom prst="rect">
            <a:avLst/>
          </a:prstGeom>
          <a:noFill/>
        </p:spPr>
        <p:txBody>
          <a:bodyPr wrap="square" rtlCol="0">
            <a:spAutoFit/>
          </a:bodyPr>
          <a:lstStyle/>
          <a:p>
            <a:r>
              <a:rPr lang="en-IN" dirty="0"/>
              <a:t>Fig. 5 Fetch control pin diagram</a:t>
            </a:r>
          </a:p>
        </p:txBody>
      </p:sp>
      <p:pic>
        <p:nvPicPr>
          <p:cNvPr id="34" name="Picture 33">
            <a:extLst>
              <a:ext uri="{FF2B5EF4-FFF2-40B4-BE49-F238E27FC236}">
                <a16:creationId xmlns:a16="http://schemas.microsoft.com/office/drawing/2014/main" id="{10D453BC-5DDA-94D3-B0D2-88C8597A441E}"/>
              </a:ext>
            </a:extLst>
          </p:cNvPr>
          <p:cNvPicPr>
            <a:picLocks noChangeAspect="1"/>
          </p:cNvPicPr>
          <p:nvPr/>
        </p:nvPicPr>
        <p:blipFill>
          <a:blip r:embed="rId2"/>
          <a:stretch>
            <a:fillRect/>
          </a:stretch>
        </p:blipFill>
        <p:spPr>
          <a:xfrm>
            <a:off x="1915498" y="929106"/>
            <a:ext cx="8084416" cy="5057912"/>
          </a:xfrm>
          <a:prstGeom prst="rect">
            <a:avLst/>
          </a:prstGeom>
        </p:spPr>
      </p:pic>
    </p:spTree>
    <p:extLst>
      <p:ext uri="{BB962C8B-B14F-4D97-AF65-F5344CB8AC3E}">
        <p14:creationId xmlns:p14="http://schemas.microsoft.com/office/powerpoint/2010/main" val="270457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117AE-5105-470B-7691-7CDEF030B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BB429-986F-C97E-9583-1D70298C0E60}"/>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Fetch Control Signal Descriptions</a:t>
            </a:r>
            <a:endParaRPr lang="en-US" dirty="0"/>
          </a:p>
        </p:txBody>
      </p:sp>
      <p:graphicFrame>
        <p:nvGraphicFramePr>
          <p:cNvPr id="3" name="Table 2">
            <a:extLst>
              <a:ext uri="{FF2B5EF4-FFF2-40B4-BE49-F238E27FC236}">
                <a16:creationId xmlns:a16="http://schemas.microsoft.com/office/drawing/2014/main" id="{7493BD4C-4BB9-CE70-F27C-60639E3C0F7B}"/>
              </a:ext>
            </a:extLst>
          </p:cNvPr>
          <p:cNvGraphicFramePr>
            <a:graphicFrameLocks noGrp="1"/>
          </p:cNvGraphicFramePr>
          <p:nvPr/>
        </p:nvGraphicFramePr>
        <p:xfrm>
          <a:off x="1257300" y="1297912"/>
          <a:ext cx="9973732" cy="4846320"/>
        </p:xfrm>
        <a:graphic>
          <a:graphicData uri="http://schemas.openxmlformats.org/drawingml/2006/table">
            <a:tbl>
              <a:tblPr firstRow="1" bandRow="1">
                <a:tableStyleId>{5C22544A-7EE6-4342-B048-85BDC9FD1C3A}</a:tableStyleId>
              </a:tblPr>
              <a:tblGrid>
                <a:gridCol w="2493432">
                  <a:extLst>
                    <a:ext uri="{9D8B030D-6E8A-4147-A177-3AD203B41FA5}">
                      <a16:colId xmlns:a16="http://schemas.microsoft.com/office/drawing/2014/main" val="3921041682"/>
                    </a:ext>
                  </a:extLst>
                </a:gridCol>
                <a:gridCol w="1061351">
                  <a:extLst>
                    <a:ext uri="{9D8B030D-6E8A-4147-A177-3AD203B41FA5}">
                      <a16:colId xmlns:a16="http://schemas.microsoft.com/office/drawing/2014/main" val="743869448"/>
                    </a:ext>
                  </a:extLst>
                </a:gridCol>
                <a:gridCol w="1457504">
                  <a:extLst>
                    <a:ext uri="{9D8B030D-6E8A-4147-A177-3AD203B41FA5}">
                      <a16:colId xmlns:a16="http://schemas.microsoft.com/office/drawing/2014/main" val="1225331280"/>
                    </a:ext>
                  </a:extLst>
                </a:gridCol>
                <a:gridCol w="4961445">
                  <a:extLst>
                    <a:ext uri="{9D8B030D-6E8A-4147-A177-3AD203B41FA5}">
                      <a16:colId xmlns:a16="http://schemas.microsoft.com/office/drawing/2014/main" val="1848869435"/>
                    </a:ext>
                  </a:extLst>
                </a:gridCol>
              </a:tblGrid>
              <a:tr h="308010">
                <a:tc>
                  <a:txBody>
                    <a:bodyPr/>
                    <a:lstStyle/>
                    <a:p>
                      <a:pPr>
                        <a:buNone/>
                      </a:pPr>
                      <a:r>
                        <a:rPr lang="en-IN" dirty="0">
                          <a:latin typeface="Calibre"/>
                        </a:rPr>
                        <a:t>Signal</a:t>
                      </a:r>
                    </a:p>
                  </a:txBody>
                  <a:tcPr anchor="ctr"/>
                </a:tc>
                <a:tc>
                  <a:txBody>
                    <a:bodyPr/>
                    <a:lstStyle/>
                    <a:p>
                      <a:pPr>
                        <a:buNone/>
                      </a:pPr>
                      <a:r>
                        <a:rPr lang="en-IN">
                          <a:latin typeface="Calibre"/>
                        </a:rPr>
                        <a:t>Width</a:t>
                      </a:r>
                    </a:p>
                  </a:txBody>
                  <a:tcPr anchor="ctr"/>
                </a:tc>
                <a:tc>
                  <a:txBody>
                    <a:bodyPr/>
                    <a:lstStyle/>
                    <a:p>
                      <a:pPr>
                        <a:buNone/>
                      </a:pPr>
                      <a:r>
                        <a:rPr lang="en-IN">
                          <a:latin typeface="Calibre"/>
                        </a:rPr>
                        <a:t>Direction</a:t>
                      </a:r>
                    </a:p>
                  </a:txBody>
                  <a:tcPr anchor="ctr"/>
                </a:tc>
                <a:tc>
                  <a:txBody>
                    <a:bodyPr/>
                    <a:lstStyle/>
                    <a:p>
                      <a:pPr>
                        <a:buNone/>
                      </a:pPr>
                      <a:r>
                        <a:rPr lang="en-IN">
                          <a:latin typeface="Calibre"/>
                        </a:rPr>
                        <a:t>Description</a:t>
                      </a:r>
                    </a:p>
                  </a:txBody>
                  <a:tcPr anchor="ctr"/>
                </a:tc>
                <a:extLst>
                  <a:ext uri="{0D108BD9-81ED-4DB2-BD59-A6C34878D82A}">
                    <a16:rowId xmlns:a16="http://schemas.microsoft.com/office/drawing/2014/main" val="3026705487"/>
                  </a:ext>
                </a:extLst>
              </a:tr>
              <a:tr h="308010">
                <a:tc>
                  <a:txBody>
                    <a:bodyPr/>
                    <a:lstStyle/>
                    <a:p>
                      <a:pPr>
                        <a:buNone/>
                      </a:pPr>
                      <a:r>
                        <a:rPr lang="en-IN" dirty="0" err="1">
                          <a:latin typeface="Calibre"/>
                        </a:rPr>
                        <a:t>clk</a:t>
                      </a:r>
                      <a:endParaRPr lang="en-IN" dirty="0">
                        <a:latin typeface="Calibre"/>
                      </a:endParaRPr>
                    </a:p>
                  </a:txBody>
                  <a:tcPr anchor="ctr"/>
                </a:tc>
                <a:tc>
                  <a:txBody>
                    <a:bodyPr/>
                    <a:lstStyle/>
                    <a:p>
                      <a:pPr>
                        <a:buNone/>
                      </a:pPr>
                      <a:r>
                        <a:rPr lang="en-IN">
                          <a:latin typeface="Calibre"/>
                        </a:rPr>
                        <a:t>1</a:t>
                      </a:r>
                    </a:p>
                  </a:txBody>
                  <a:tcPr anchor="ctr"/>
                </a:tc>
                <a:tc>
                  <a:txBody>
                    <a:bodyPr/>
                    <a:lstStyle/>
                    <a:p>
                      <a:pPr>
                        <a:buNone/>
                      </a:pPr>
                      <a:r>
                        <a:rPr lang="en-IN" dirty="0">
                          <a:latin typeface="Calibre"/>
                        </a:rPr>
                        <a:t>input</a:t>
                      </a:r>
                    </a:p>
                  </a:txBody>
                  <a:tcPr anchor="ctr"/>
                </a:tc>
                <a:tc>
                  <a:txBody>
                    <a:bodyPr/>
                    <a:lstStyle/>
                    <a:p>
                      <a:pPr>
                        <a:buNone/>
                      </a:pPr>
                      <a:r>
                        <a:rPr lang="en-IN">
                          <a:latin typeface="Calibre"/>
                        </a:rPr>
                        <a:t>Active core clock signal</a:t>
                      </a:r>
                    </a:p>
                  </a:txBody>
                  <a:tcPr anchor="ctr"/>
                </a:tc>
                <a:extLst>
                  <a:ext uri="{0D108BD9-81ED-4DB2-BD59-A6C34878D82A}">
                    <a16:rowId xmlns:a16="http://schemas.microsoft.com/office/drawing/2014/main" val="1267702038"/>
                  </a:ext>
                </a:extLst>
              </a:tr>
              <a:tr h="308010">
                <a:tc>
                  <a:txBody>
                    <a:bodyPr/>
                    <a:lstStyle/>
                    <a:p>
                      <a:pPr>
                        <a:buNone/>
                      </a:pPr>
                      <a:r>
                        <a:rPr lang="en-IN" dirty="0">
                          <a:latin typeface="Calibre"/>
                        </a:rPr>
                        <a:t>free_l2clk</a:t>
                      </a:r>
                    </a:p>
                  </a:txBody>
                  <a:tcPr anchor="ctr"/>
                </a:tc>
                <a:tc>
                  <a:txBody>
                    <a:bodyPr/>
                    <a:lstStyle/>
                    <a:p>
                      <a:pPr>
                        <a:buNone/>
                      </a:pPr>
                      <a:r>
                        <a:rPr lang="en-IN">
                          <a:latin typeface="Calibre"/>
                        </a:rPr>
                        <a:t>1</a:t>
                      </a:r>
                    </a:p>
                  </a:txBody>
                  <a:tcPr anchor="ctr"/>
                </a:tc>
                <a:tc>
                  <a:txBody>
                    <a:bodyPr/>
                    <a:lstStyle/>
                    <a:p>
                      <a:pPr>
                        <a:buNone/>
                      </a:pPr>
                      <a:r>
                        <a:rPr lang="en-IN" dirty="0">
                          <a:latin typeface="Calibre"/>
                        </a:rPr>
                        <a:t>input</a:t>
                      </a:r>
                    </a:p>
                  </a:txBody>
                  <a:tcPr anchor="ctr"/>
                </a:tc>
                <a:tc>
                  <a:txBody>
                    <a:bodyPr/>
                    <a:lstStyle/>
                    <a:p>
                      <a:pPr>
                        <a:buNone/>
                      </a:pPr>
                      <a:r>
                        <a:rPr lang="en-IN">
                          <a:latin typeface="Calibre"/>
                        </a:rPr>
                        <a:t>Free-running clock signal</a:t>
                      </a:r>
                    </a:p>
                  </a:txBody>
                  <a:tcPr anchor="ctr"/>
                </a:tc>
                <a:extLst>
                  <a:ext uri="{0D108BD9-81ED-4DB2-BD59-A6C34878D82A}">
                    <a16:rowId xmlns:a16="http://schemas.microsoft.com/office/drawing/2014/main" val="976323178"/>
                  </a:ext>
                </a:extLst>
              </a:tr>
              <a:tr h="308010">
                <a:tc>
                  <a:txBody>
                    <a:bodyPr/>
                    <a:lstStyle/>
                    <a:p>
                      <a:pPr>
                        <a:buNone/>
                      </a:pPr>
                      <a:r>
                        <a:rPr lang="en-IN">
                          <a:latin typeface="Calibre"/>
                        </a:rPr>
                        <a:t>rst_l</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IN" dirty="0">
                          <a:latin typeface="Calibre"/>
                        </a:rPr>
                        <a:t>Active low reset signal</a:t>
                      </a:r>
                    </a:p>
                  </a:txBody>
                  <a:tcPr anchor="ctr"/>
                </a:tc>
                <a:extLst>
                  <a:ext uri="{0D108BD9-81ED-4DB2-BD59-A6C34878D82A}">
                    <a16:rowId xmlns:a16="http://schemas.microsoft.com/office/drawing/2014/main" val="2294665718"/>
                  </a:ext>
                </a:extLst>
              </a:tr>
              <a:tr h="308010">
                <a:tc>
                  <a:txBody>
                    <a:bodyPr/>
                    <a:lstStyle/>
                    <a:p>
                      <a:pPr>
                        <a:buNone/>
                      </a:pPr>
                      <a:r>
                        <a:rPr lang="en-IN">
                          <a:latin typeface="Calibre"/>
                        </a:rPr>
                        <a:t>scan_mode</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IN" dirty="0">
                          <a:latin typeface="Calibre"/>
                        </a:rPr>
                        <a:t>Scan/test mode control</a:t>
                      </a:r>
                    </a:p>
                  </a:txBody>
                  <a:tcPr anchor="ctr"/>
                </a:tc>
                <a:extLst>
                  <a:ext uri="{0D108BD9-81ED-4DB2-BD59-A6C34878D82A}">
                    <a16:rowId xmlns:a16="http://schemas.microsoft.com/office/drawing/2014/main" val="1434341005"/>
                  </a:ext>
                </a:extLst>
              </a:tr>
              <a:tr h="308010">
                <a:tc>
                  <a:txBody>
                    <a:bodyPr/>
                    <a:lstStyle/>
                    <a:p>
                      <a:pPr>
                        <a:buNone/>
                      </a:pPr>
                      <a:r>
                        <a:rPr lang="en-IN">
                          <a:latin typeface="Calibre"/>
                        </a:rPr>
                        <a:t>ic_hit_f</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US" dirty="0">
                          <a:latin typeface="Calibre"/>
                        </a:rPr>
                        <a:t>Indicates instruction cache hit in fetch stage</a:t>
                      </a:r>
                    </a:p>
                  </a:txBody>
                  <a:tcPr anchor="ctr"/>
                </a:tc>
                <a:extLst>
                  <a:ext uri="{0D108BD9-81ED-4DB2-BD59-A6C34878D82A}">
                    <a16:rowId xmlns:a16="http://schemas.microsoft.com/office/drawing/2014/main" val="2786396316"/>
                  </a:ext>
                </a:extLst>
              </a:tr>
              <a:tr h="308010">
                <a:tc>
                  <a:txBody>
                    <a:bodyPr/>
                    <a:lstStyle/>
                    <a:p>
                      <a:pPr>
                        <a:buNone/>
                      </a:pPr>
                      <a:r>
                        <a:rPr lang="en-IN">
                          <a:latin typeface="Calibre"/>
                        </a:rPr>
                        <a:t>ifu_ic_mb_empty</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US" dirty="0">
                          <a:latin typeface="Calibre"/>
                        </a:rPr>
                        <a:t>Indicates instruction cache miss buffer empty</a:t>
                      </a:r>
                    </a:p>
                  </a:txBody>
                  <a:tcPr anchor="ctr"/>
                </a:tc>
                <a:extLst>
                  <a:ext uri="{0D108BD9-81ED-4DB2-BD59-A6C34878D82A}">
                    <a16:rowId xmlns:a16="http://schemas.microsoft.com/office/drawing/2014/main" val="201614132"/>
                  </a:ext>
                </a:extLst>
              </a:tr>
              <a:tr h="308010">
                <a:tc>
                  <a:txBody>
                    <a:bodyPr/>
                    <a:lstStyle/>
                    <a:p>
                      <a:pPr>
                        <a:buNone/>
                      </a:pPr>
                      <a:r>
                        <a:rPr lang="en-IN">
                          <a:latin typeface="Calibre"/>
                        </a:rPr>
                        <a:t>ifu_fb_consume1</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US" dirty="0">
                          <a:latin typeface="Calibre"/>
                        </a:rPr>
                        <a:t>Instruction aligner consumed one fetch buffer entry</a:t>
                      </a:r>
                    </a:p>
                  </a:txBody>
                  <a:tcPr anchor="ctr"/>
                </a:tc>
                <a:extLst>
                  <a:ext uri="{0D108BD9-81ED-4DB2-BD59-A6C34878D82A}">
                    <a16:rowId xmlns:a16="http://schemas.microsoft.com/office/drawing/2014/main" val="3607406740"/>
                  </a:ext>
                </a:extLst>
              </a:tr>
              <a:tr h="308010">
                <a:tc>
                  <a:txBody>
                    <a:bodyPr/>
                    <a:lstStyle/>
                    <a:p>
                      <a:pPr>
                        <a:buNone/>
                      </a:pPr>
                      <a:r>
                        <a:rPr lang="en-IN">
                          <a:latin typeface="Calibre"/>
                        </a:rPr>
                        <a:t>ifu_fb_consume2</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US" dirty="0">
                          <a:latin typeface="Calibre"/>
                        </a:rPr>
                        <a:t>Instruction aligner consumed two fetch buffer entries</a:t>
                      </a:r>
                    </a:p>
                  </a:txBody>
                  <a:tcPr anchor="ctr"/>
                </a:tc>
                <a:extLst>
                  <a:ext uri="{0D108BD9-81ED-4DB2-BD59-A6C34878D82A}">
                    <a16:rowId xmlns:a16="http://schemas.microsoft.com/office/drawing/2014/main" val="99519476"/>
                  </a:ext>
                </a:extLst>
              </a:tr>
              <a:tr h="308010">
                <a:tc>
                  <a:txBody>
                    <a:bodyPr/>
                    <a:lstStyle/>
                    <a:p>
                      <a:pPr>
                        <a:buNone/>
                      </a:pPr>
                      <a:r>
                        <a:rPr lang="en-US" dirty="0" err="1">
                          <a:latin typeface="Calibre"/>
                        </a:rPr>
                        <a:t>dec_tlu_flush_noredir_wb</a:t>
                      </a:r>
                      <a:endParaRPr lang="en-US" dirty="0">
                        <a:latin typeface="Calibre"/>
                      </a:endParaRP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US" dirty="0">
                          <a:latin typeface="Calibre"/>
                        </a:rPr>
                        <a:t>Flush request without fetch redirection</a:t>
                      </a:r>
                    </a:p>
                  </a:txBody>
                  <a:tcPr anchor="ctr"/>
                </a:tc>
                <a:extLst>
                  <a:ext uri="{0D108BD9-81ED-4DB2-BD59-A6C34878D82A}">
                    <a16:rowId xmlns:a16="http://schemas.microsoft.com/office/drawing/2014/main" val="2994054695"/>
                  </a:ext>
                </a:extLst>
              </a:tr>
              <a:tr h="308010">
                <a:tc>
                  <a:txBody>
                    <a:bodyPr/>
                    <a:lstStyle/>
                    <a:p>
                      <a:pPr>
                        <a:buNone/>
                      </a:pPr>
                      <a:r>
                        <a:rPr lang="en-IN" dirty="0" err="1">
                          <a:latin typeface="Calibre"/>
                        </a:rPr>
                        <a:t>exu_flush_final</a:t>
                      </a:r>
                      <a:endParaRPr lang="en-IN" dirty="0">
                        <a:latin typeface="Calibre"/>
                      </a:endParaRP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IN" dirty="0">
                          <a:latin typeface="Calibre"/>
                        </a:rPr>
                        <a:t>Final pipeline flush signal</a:t>
                      </a:r>
                    </a:p>
                  </a:txBody>
                  <a:tcPr anchor="ctr"/>
                </a:tc>
                <a:extLst>
                  <a:ext uri="{0D108BD9-81ED-4DB2-BD59-A6C34878D82A}">
                    <a16:rowId xmlns:a16="http://schemas.microsoft.com/office/drawing/2014/main" val="1668832930"/>
                  </a:ext>
                </a:extLst>
              </a:tr>
            </a:tbl>
          </a:graphicData>
        </a:graphic>
      </p:graphicFrame>
      <p:sp>
        <p:nvSpPr>
          <p:cNvPr id="4" name="TextBox 3">
            <a:extLst>
              <a:ext uri="{FF2B5EF4-FFF2-40B4-BE49-F238E27FC236}">
                <a16:creationId xmlns:a16="http://schemas.microsoft.com/office/drawing/2014/main" id="{FFFE9102-F15E-8B1E-F208-B7B08CEDBD2B}"/>
              </a:ext>
            </a:extLst>
          </p:cNvPr>
          <p:cNvSpPr txBox="1"/>
          <p:nvPr/>
        </p:nvSpPr>
        <p:spPr>
          <a:xfrm>
            <a:off x="4449225" y="6250665"/>
            <a:ext cx="4226828" cy="369332"/>
          </a:xfrm>
          <a:prstGeom prst="rect">
            <a:avLst/>
          </a:prstGeom>
          <a:noFill/>
        </p:spPr>
        <p:txBody>
          <a:bodyPr wrap="square" rtlCol="0">
            <a:spAutoFit/>
          </a:bodyPr>
          <a:lstStyle/>
          <a:p>
            <a:r>
              <a:rPr lang="en-IN" dirty="0"/>
              <a:t>Table 2 Fetch control signal descriptions</a:t>
            </a:r>
          </a:p>
        </p:txBody>
      </p:sp>
    </p:spTree>
    <p:extLst>
      <p:ext uri="{BB962C8B-B14F-4D97-AF65-F5344CB8AC3E}">
        <p14:creationId xmlns:p14="http://schemas.microsoft.com/office/powerpoint/2010/main" val="3228064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003E0-849B-328B-7ECA-4490B7232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E88A68-1D34-2F2E-4FF9-C98F6E7CC0D4}"/>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Fetch Control Signal Descriptions</a:t>
            </a:r>
            <a:endParaRPr lang="en-US" dirty="0"/>
          </a:p>
        </p:txBody>
      </p:sp>
      <p:graphicFrame>
        <p:nvGraphicFramePr>
          <p:cNvPr id="5" name="Table 4">
            <a:extLst>
              <a:ext uri="{FF2B5EF4-FFF2-40B4-BE49-F238E27FC236}">
                <a16:creationId xmlns:a16="http://schemas.microsoft.com/office/drawing/2014/main" id="{5764DA7F-4D0D-9AAC-4891-D980B9943524}"/>
              </a:ext>
            </a:extLst>
          </p:cNvPr>
          <p:cNvGraphicFramePr>
            <a:graphicFrameLocks noGrp="1"/>
          </p:cNvGraphicFramePr>
          <p:nvPr/>
        </p:nvGraphicFramePr>
        <p:xfrm>
          <a:off x="1257300" y="1297912"/>
          <a:ext cx="9973732" cy="4754880"/>
        </p:xfrm>
        <a:graphic>
          <a:graphicData uri="http://schemas.openxmlformats.org/drawingml/2006/table">
            <a:tbl>
              <a:tblPr firstRow="1" bandRow="1">
                <a:tableStyleId>{5C22544A-7EE6-4342-B048-85BDC9FD1C3A}</a:tableStyleId>
              </a:tblPr>
              <a:tblGrid>
                <a:gridCol w="2493432">
                  <a:extLst>
                    <a:ext uri="{9D8B030D-6E8A-4147-A177-3AD203B41FA5}">
                      <a16:colId xmlns:a16="http://schemas.microsoft.com/office/drawing/2014/main" val="3921041682"/>
                    </a:ext>
                  </a:extLst>
                </a:gridCol>
                <a:gridCol w="1061351">
                  <a:extLst>
                    <a:ext uri="{9D8B030D-6E8A-4147-A177-3AD203B41FA5}">
                      <a16:colId xmlns:a16="http://schemas.microsoft.com/office/drawing/2014/main" val="743869448"/>
                    </a:ext>
                  </a:extLst>
                </a:gridCol>
                <a:gridCol w="1457504">
                  <a:extLst>
                    <a:ext uri="{9D8B030D-6E8A-4147-A177-3AD203B41FA5}">
                      <a16:colId xmlns:a16="http://schemas.microsoft.com/office/drawing/2014/main" val="1225331280"/>
                    </a:ext>
                  </a:extLst>
                </a:gridCol>
                <a:gridCol w="4961445">
                  <a:extLst>
                    <a:ext uri="{9D8B030D-6E8A-4147-A177-3AD203B41FA5}">
                      <a16:colId xmlns:a16="http://schemas.microsoft.com/office/drawing/2014/main" val="1848869435"/>
                    </a:ext>
                  </a:extLst>
                </a:gridCol>
              </a:tblGrid>
              <a:tr h="308010">
                <a:tc>
                  <a:txBody>
                    <a:bodyPr/>
                    <a:lstStyle/>
                    <a:p>
                      <a:pPr>
                        <a:buNone/>
                      </a:pPr>
                      <a:r>
                        <a:rPr lang="en-IN" dirty="0">
                          <a:latin typeface="Calibre"/>
                        </a:rPr>
                        <a:t>Signal</a:t>
                      </a:r>
                    </a:p>
                  </a:txBody>
                  <a:tcPr anchor="ctr"/>
                </a:tc>
                <a:tc>
                  <a:txBody>
                    <a:bodyPr/>
                    <a:lstStyle/>
                    <a:p>
                      <a:pPr>
                        <a:buNone/>
                      </a:pPr>
                      <a:r>
                        <a:rPr lang="en-IN">
                          <a:latin typeface="Calibre"/>
                        </a:rPr>
                        <a:t>Width</a:t>
                      </a:r>
                    </a:p>
                  </a:txBody>
                  <a:tcPr anchor="ctr"/>
                </a:tc>
                <a:tc>
                  <a:txBody>
                    <a:bodyPr/>
                    <a:lstStyle/>
                    <a:p>
                      <a:pPr>
                        <a:buNone/>
                      </a:pPr>
                      <a:r>
                        <a:rPr lang="en-IN">
                          <a:latin typeface="Calibre"/>
                        </a:rPr>
                        <a:t>Direction</a:t>
                      </a:r>
                    </a:p>
                  </a:txBody>
                  <a:tcPr anchor="ctr"/>
                </a:tc>
                <a:tc>
                  <a:txBody>
                    <a:bodyPr/>
                    <a:lstStyle/>
                    <a:p>
                      <a:pPr>
                        <a:buNone/>
                      </a:pPr>
                      <a:r>
                        <a:rPr lang="en-IN">
                          <a:latin typeface="Calibre"/>
                        </a:rPr>
                        <a:t>Description</a:t>
                      </a:r>
                    </a:p>
                  </a:txBody>
                  <a:tcPr anchor="ctr"/>
                </a:tc>
                <a:extLst>
                  <a:ext uri="{0D108BD9-81ED-4DB2-BD59-A6C34878D82A}">
                    <a16:rowId xmlns:a16="http://schemas.microsoft.com/office/drawing/2014/main" val="3026705487"/>
                  </a:ext>
                </a:extLst>
              </a:tr>
              <a:tr h="308010">
                <a:tc>
                  <a:txBody>
                    <a:bodyPr/>
                    <a:lstStyle/>
                    <a:p>
                      <a:pPr>
                        <a:buNone/>
                      </a:pPr>
                      <a:r>
                        <a:rPr lang="en-US" dirty="0" err="1">
                          <a:latin typeface="Calibre"/>
                        </a:rPr>
                        <a:t>ifu_bp_hit_taken_f</a:t>
                      </a:r>
                      <a:endParaRPr lang="en-US" dirty="0">
                        <a:latin typeface="Calibre"/>
                      </a:endParaRPr>
                    </a:p>
                  </a:txBody>
                  <a:tcPr anchor="ctr"/>
                </a:tc>
                <a:tc>
                  <a:txBody>
                    <a:bodyPr/>
                    <a:lstStyle/>
                    <a:p>
                      <a:pPr>
                        <a:buNone/>
                      </a:pPr>
                      <a:r>
                        <a:rPr lang="en-IN" dirty="0">
                          <a:latin typeface="Calibre"/>
                        </a:rPr>
                        <a:t>1</a:t>
                      </a:r>
                    </a:p>
                  </a:txBody>
                  <a:tcPr anchor="ctr"/>
                </a:tc>
                <a:tc>
                  <a:txBody>
                    <a:bodyPr/>
                    <a:lstStyle/>
                    <a:p>
                      <a:pPr>
                        <a:buNone/>
                      </a:pPr>
                      <a:r>
                        <a:rPr lang="en-IN" dirty="0">
                          <a:latin typeface="Calibre"/>
                        </a:rPr>
                        <a:t>input</a:t>
                      </a:r>
                    </a:p>
                  </a:txBody>
                  <a:tcPr anchor="ctr"/>
                </a:tc>
                <a:tc>
                  <a:txBody>
                    <a:bodyPr/>
                    <a:lstStyle/>
                    <a:p>
                      <a:pPr>
                        <a:buNone/>
                      </a:pPr>
                      <a:r>
                        <a:rPr lang="en-US" dirty="0">
                          <a:latin typeface="Calibre"/>
                        </a:rPr>
                        <a:t>Branch predictor indicates branch has taken</a:t>
                      </a:r>
                    </a:p>
                  </a:txBody>
                  <a:tcPr anchor="ctr"/>
                </a:tc>
                <a:extLst>
                  <a:ext uri="{0D108BD9-81ED-4DB2-BD59-A6C34878D82A}">
                    <a16:rowId xmlns:a16="http://schemas.microsoft.com/office/drawing/2014/main" val="3439524368"/>
                  </a:ext>
                </a:extLst>
              </a:tr>
              <a:tr h="308010">
                <a:tc>
                  <a:txBody>
                    <a:bodyPr/>
                    <a:lstStyle/>
                    <a:p>
                      <a:pPr>
                        <a:buNone/>
                      </a:pPr>
                      <a:r>
                        <a:rPr lang="en-IN">
                          <a:latin typeface="Calibre"/>
                        </a:rPr>
                        <a:t>ic_dma_active</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IN" dirty="0">
                          <a:latin typeface="Calibre"/>
                        </a:rPr>
                        <a:t>Indicates active instruction cache DMA operation</a:t>
                      </a:r>
                    </a:p>
                  </a:txBody>
                  <a:tcPr anchor="ctr"/>
                </a:tc>
                <a:extLst>
                  <a:ext uri="{0D108BD9-81ED-4DB2-BD59-A6C34878D82A}">
                    <a16:rowId xmlns:a16="http://schemas.microsoft.com/office/drawing/2014/main" val="554325088"/>
                  </a:ext>
                </a:extLst>
              </a:tr>
              <a:tr h="308010">
                <a:tc>
                  <a:txBody>
                    <a:bodyPr/>
                    <a:lstStyle/>
                    <a:p>
                      <a:pPr>
                        <a:buNone/>
                      </a:pPr>
                      <a:r>
                        <a:rPr lang="en-IN">
                          <a:latin typeface="Calibre"/>
                        </a:rPr>
                        <a:t>ic_write_stall</a:t>
                      </a:r>
                    </a:p>
                  </a:txBody>
                  <a:tcPr anchor="ctr"/>
                </a:tc>
                <a:tc>
                  <a:txBody>
                    <a:bodyPr/>
                    <a:lstStyle/>
                    <a:p>
                      <a:pPr>
                        <a:buNone/>
                      </a:pPr>
                      <a:r>
                        <a:rPr lang="en-IN">
                          <a:latin typeface="Calibre"/>
                        </a:rPr>
                        <a:t>1</a:t>
                      </a:r>
                    </a:p>
                  </a:txBody>
                  <a:tcPr anchor="ctr"/>
                </a:tc>
                <a:tc>
                  <a:txBody>
                    <a:bodyPr/>
                    <a:lstStyle/>
                    <a:p>
                      <a:pPr>
                        <a:buNone/>
                      </a:pPr>
                      <a:r>
                        <a:rPr lang="en-IN" dirty="0">
                          <a:latin typeface="Calibre"/>
                        </a:rPr>
                        <a:t>input</a:t>
                      </a:r>
                    </a:p>
                  </a:txBody>
                  <a:tcPr anchor="ctr"/>
                </a:tc>
                <a:tc>
                  <a:txBody>
                    <a:bodyPr/>
                    <a:lstStyle/>
                    <a:p>
                      <a:pPr>
                        <a:buNone/>
                      </a:pPr>
                      <a:r>
                        <a:rPr lang="en-US">
                          <a:latin typeface="Calibre"/>
                        </a:rPr>
                        <a:t>Instruction cache write stall signal</a:t>
                      </a:r>
                    </a:p>
                  </a:txBody>
                  <a:tcPr anchor="ctr"/>
                </a:tc>
                <a:extLst>
                  <a:ext uri="{0D108BD9-81ED-4DB2-BD59-A6C34878D82A}">
                    <a16:rowId xmlns:a16="http://schemas.microsoft.com/office/drawing/2014/main" val="1725223781"/>
                  </a:ext>
                </a:extLst>
              </a:tr>
              <a:tr h="308010">
                <a:tc>
                  <a:txBody>
                    <a:bodyPr/>
                    <a:lstStyle/>
                    <a:p>
                      <a:pPr>
                        <a:buNone/>
                      </a:pPr>
                      <a:r>
                        <a:rPr lang="en-IN">
                          <a:latin typeface="Calibre"/>
                        </a:rPr>
                        <a:t>dma_iccm_stall_any</a:t>
                      </a:r>
                    </a:p>
                  </a:txBody>
                  <a:tcPr anchor="ctr"/>
                </a:tc>
                <a:tc>
                  <a:txBody>
                    <a:bodyPr/>
                    <a:lstStyle/>
                    <a:p>
                      <a:pPr>
                        <a:buNone/>
                      </a:pPr>
                      <a:r>
                        <a:rPr lang="en-IN">
                          <a:latin typeface="Calibre"/>
                        </a:rPr>
                        <a:t>1</a:t>
                      </a:r>
                    </a:p>
                  </a:txBody>
                  <a:tcPr anchor="ctr"/>
                </a:tc>
                <a:tc>
                  <a:txBody>
                    <a:bodyPr/>
                    <a:lstStyle/>
                    <a:p>
                      <a:pPr>
                        <a:buNone/>
                      </a:pPr>
                      <a:r>
                        <a:rPr lang="en-IN">
                          <a:latin typeface="Calibre"/>
                        </a:rPr>
                        <a:t>input</a:t>
                      </a:r>
                    </a:p>
                  </a:txBody>
                  <a:tcPr anchor="ctr"/>
                </a:tc>
                <a:tc>
                  <a:txBody>
                    <a:bodyPr/>
                    <a:lstStyle/>
                    <a:p>
                      <a:pPr>
                        <a:buNone/>
                      </a:pPr>
                      <a:r>
                        <a:rPr lang="en-US" dirty="0">
                          <a:latin typeface="Calibre"/>
                        </a:rPr>
                        <a:t>DMA ICCM access stall indication</a:t>
                      </a:r>
                    </a:p>
                  </a:txBody>
                  <a:tcPr anchor="ctr"/>
                </a:tc>
                <a:extLst>
                  <a:ext uri="{0D108BD9-81ED-4DB2-BD59-A6C34878D82A}">
                    <a16:rowId xmlns:a16="http://schemas.microsoft.com/office/drawing/2014/main" val="2836399494"/>
                  </a:ext>
                </a:extLst>
              </a:tr>
              <a:tr h="308010">
                <a:tc>
                  <a:txBody>
                    <a:bodyPr/>
                    <a:lstStyle/>
                    <a:p>
                      <a:pPr>
                        <a:buNone/>
                      </a:pPr>
                      <a:r>
                        <a:rPr lang="en-IN" dirty="0" err="1">
                          <a:latin typeface="Calibre"/>
                        </a:rPr>
                        <a:t>exu_flush_path_final</a:t>
                      </a:r>
                      <a:endParaRPr lang="en-IN" dirty="0">
                        <a:latin typeface="Calibre"/>
                      </a:endParaRPr>
                    </a:p>
                  </a:txBody>
                  <a:tcPr anchor="ctr"/>
                </a:tc>
                <a:tc>
                  <a:txBody>
                    <a:bodyPr/>
                    <a:lstStyle/>
                    <a:p>
                      <a:pPr>
                        <a:buNone/>
                      </a:pPr>
                      <a:r>
                        <a:rPr lang="en-IN">
                          <a:latin typeface="Calibre"/>
                        </a:rPr>
                        <a:t>31</a:t>
                      </a:r>
                    </a:p>
                  </a:txBody>
                  <a:tcPr anchor="ctr"/>
                </a:tc>
                <a:tc>
                  <a:txBody>
                    <a:bodyPr/>
                    <a:lstStyle/>
                    <a:p>
                      <a:pPr>
                        <a:buNone/>
                      </a:pPr>
                      <a:r>
                        <a:rPr lang="en-IN">
                          <a:latin typeface="Calibre"/>
                        </a:rPr>
                        <a:t>input</a:t>
                      </a:r>
                    </a:p>
                  </a:txBody>
                  <a:tcPr anchor="ctr"/>
                </a:tc>
                <a:tc>
                  <a:txBody>
                    <a:bodyPr/>
                    <a:lstStyle/>
                    <a:p>
                      <a:pPr>
                        <a:buNone/>
                      </a:pPr>
                      <a:r>
                        <a:rPr lang="en-US" dirty="0">
                          <a:latin typeface="Calibre"/>
                        </a:rPr>
                        <a:t>Redirect fetch address after pipeline flush</a:t>
                      </a:r>
                    </a:p>
                  </a:txBody>
                  <a:tcPr anchor="ctr"/>
                </a:tc>
                <a:extLst>
                  <a:ext uri="{0D108BD9-81ED-4DB2-BD59-A6C34878D82A}">
                    <a16:rowId xmlns:a16="http://schemas.microsoft.com/office/drawing/2014/main" val="80609062"/>
                  </a:ext>
                </a:extLst>
              </a:tr>
              <a:tr h="308010">
                <a:tc>
                  <a:txBody>
                    <a:bodyPr/>
                    <a:lstStyle/>
                    <a:p>
                      <a:pPr>
                        <a:buNone/>
                      </a:pPr>
                      <a:r>
                        <a:rPr lang="en-IN">
                          <a:latin typeface="Calibre"/>
                        </a:rPr>
                        <a:t>ifu_bp_btb_target_f</a:t>
                      </a:r>
                    </a:p>
                  </a:txBody>
                  <a:tcPr anchor="ctr"/>
                </a:tc>
                <a:tc>
                  <a:txBody>
                    <a:bodyPr/>
                    <a:lstStyle/>
                    <a:p>
                      <a:pPr>
                        <a:buNone/>
                      </a:pPr>
                      <a:r>
                        <a:rPr lang="en-IN">
                          <a:latin typeface="Calibre"/>
                        </a:rPr>
                        <a:t>31</a:t>
                      </a:r>
                    </a:p>
                  </a:txBody>
                  <a:tcPr anchor="ctr"/>
                </a:tc>
                <a:tc>
                  <a:txBody>
                    <a:bodyPr/>
                    <a:lstStyle/>
                    <a:p>
                      <a:pPr>
                        <a:buNone/>
                      </a:pPr>
                      <a:r>
                        <a:rPr lang="en-IN">
                          <a:latin typeface="Calibre"/>
                        </a:rPr>
                        <a:t>input</a:t>
                      </a:r>
                    </a:p>
                  </a:txBody>
                  <a:tcPr anchor="ctr"/>
                </a:tc>
                <a:tc>
                  <a:txBody>
                    <a:bodyPr/>
                    <a:lstStyle/>
                    <a:p>
                      <a:pPr>
                        <a:buNone/>
                      </a:pPr>
                      <a:r>
                        <a:rPr lang="en-US" dirty="0">
                          <a:latin typeface="Calibre"/>
                        </a:rPr>
                        <a:t>Predicted branch target address from BTB</a:t>
                      </a:r>
                    </a:p>
                  </a:txBody>
                  <a:tcPr anchor="ctr"/>
                </a:tc>
                <a:extLst>
                  <a:ext uri="{0D108BD9-81ED-4DB2-BD59-A6C34878D82A}">
                    <a16:rowId xmlns:a16="http://schemas.microsoft.com/office/drawing/2014/main" val="1851534311"/>
                  </a:ext>
                </a:extLst>
              </a:tr>
              <a:tr h="308010">
                <a:tc>
                  <a:txBody>
                    <a:bodyPr/>
                    <a:lstStyle/>
                    <a:p>
                      <a:pPr>
                        <a:buNone/>
                      </a:pPr>
                      <a:r>
                        <a:rPr lang="en-IN">
                          <a:latin typeface="Calibre"/>
                        </a:rPr>
                        <a:t>dec_tlu_mrac_ff</a:t>
                      </a:r>
                    </a:p>
                  </a:txBody>
                  <a:tcPr anchor="ctr"/>
                </a:tc>
                <a:tc>
                  <a:txBody>
                    <a:bodyPr/>
                    <a:lstStyle/>
                    <a:p>
                      <a:pPr>
                        <a:buNone/>
                      </a:pPr>
                      <a:r>
                        <a:rPr lang="en-IN">
                          <a:latin typeface="Calibre"/>
                        </a:rPr>
                        <a:t>32</a:t>
                      </a:r>
                    </a:p>
                  </a:txBody>
                  <a:tcPr anchor="ctr"/>
                </a:tc>
                <a:tc>
                  <a:txBody>
                    <a:bodyPr/>
                    <a:lstStyle/>
                    <a:p>
                      <a:pPr>
                        <a:buNone/>
                      </a:pPr>
                      <a:r>
                        <a:rPr lang="en-IN">
                          <a:latin typeface="Calibre"/>
                        </a:rPr>
                        <a:t>input</a:t>
                      </a:r>
                    </a:p>
                  </a:txBody>
                  <a:tcPr anchor="ctr"/>
                </a:tc>
                <a:tc>
                  <a:txBody>
                    <a:bodyPr/>
                    <a:lstStyle/>
                    <a:p>
                      <a:pPr>
                        <a:buNone/>
                      </a:pPr>
                      <a:r>
                        <a:rPr lang="en-US" dirty="0">
                          <a:latin typeface="Calibre"/>
                        </a:rPr>
                        <a:t>Region </a:t>
                      </a:r>
                      <a:r>
                        <a:rPr lang="en-US" dirty="0" err="1">
                          <a:latin typeface="Calibre"/>
                        </a:rPr>
                        <a:t>cacheability</a:t>
                      </a:r>
                      <a:r>
                        <a:rPr lang="en-US" dirty="0">
                          <a:latin typeface="Calibre"/>
                        </a:rPr>
                        <a:t> and side-effect attributes</a:t>
                      </a:r>
                    </a:p>
                  </a:txBody>
                  <a:tcPr anchor="ctr"/>
                </a:tc>
                <a:extLst>
                  <a:ext uri="{0D108BD9-81ED-4DB2-BD59-A6C34878D82A}">
                    <a16:rowId xmlns:a16="http://schemas.microsoft.com/office/drawing/2014/main" val="2481190153"/>
                  </a:ext>
                </a:extLst>
              </a:tr>
              <a:tr h="308010">
                <a:tc>
                  <a:txBody>
                    <a:bodyPr/>
                    <a:lstStyle/>
                    <a:p>
                      <a:pPr>
                        <a:buNone/>
                      </a:pPr>
                      <a:r>
                        <a:rPr lang="en-IN">
                          <a:latin typeface="Calibre"/>
                        </a:rPr>
                        <a:t>ifc_fetch_req_f</a:t>
                      </a:r>
                    </a:p>
                  </a:txBody>
                  <a:tcPr anchor="ctr"/>
                </a:tc>
                <a:tc>
                  <a:txBody>
                    <a:bodyPr/>
                    <a:lstStyle/>
                    <a:p>
                      <a:pPr>
                        <a:buNone/>
                      </a:pPr>
                      <a:r>
                        <a:rPr lang="en-IN">
                          <a:latin typeface="Calibre"/>
                        </a:rPr>
                        <a:t>1</a:t>
                      </a:r>
                    </a:p>
                  </a:txBody>
                  <a:tcPr anchor="ctr"/>
                </a:tc>
                <a:tc>
                  <a:txBody>
                    <a:bodyPr/>
                    <a:lstStyle/>
                    <a:p>
                      <a:pPr>
                        <a:buNone/>
                      </a:pPr>
                      <a:r>
                        <a:rPr lang="en-IN">
                          <a:latin typeface="Calibre"/>
                        </a:rPr>
                        <a:t>output</a:t>
                      </a:r>
                    </a:p>
                  </a:txBody>
                  <a:tcPr anchor="ctr"/>
                </a:tc>
                <a:tc>
                  <a:txBody>
                    <a:bodyPr/>
                    <a:lstStyle/>
                    <a:p>
                      <a:pPr>
                        <a:buNone/>
                      </a:pPr>
                      <a:r>
                        <a:rPr lang="en-US" dirty="0">
                          <a:latin typeface="Calibre"/>
                        </a:rPr>
                        <a:t>Qualified fetch request in fetch stage</a:t>
                      </a:r>
                    </a:p>
                  </a:txBody>
                  <a:tcPr anchor="ctr"/>
                </a:tc>
                <a:extLst>
                  <a:ext uri="{0D108BD9-81ED-4DB2-BD59-A6C34878D82A}">
                    <a16:rowId xmlns:a16="http://schemas.microsoft.com/office/drawing/2014/main" val="3758558041"/>
                  </a:ext>
                </a:extLst>
              </a:tr>
              <a:tr h="308010">
                <a:tc>
                  <a:txBody>
                    <a:bodyPr/>
                    <a:lstStyle/>
                    <a:p>
                      <a:pPr>
                        <a:buNone/>
                      </a:pPr>
                      <a:r>
                        <a:rPr lang="en-IN" dirty="0" err="1">
                          <a:latin typeface="Calibre"/>
                        </a:rPr>
                        <a:t>ifu_pmu_fetch_stall</a:t>
                      </a:r>
                      <a:endParaRPr lang="en-IN" dirty="0">
                        <a:latin typeface="Calibre"/>
                      </a:endParaRPr>
                    </a:p>
                  </a:txBody>
                  <a:tcPr anchor="ctr"/>
                </a:tc>
                <a:tc>
                  <a:txBody>
                    <a:bodyPr/>
                    <a:lstStyle/>
                    <a:p>
                      <a:pPr>
                        <a:buNone/>
                      </a:pPr>
                      <a:r>
                        <a:rPr lang="en-IN" dirty="0">
                          <a:latin typeface="Calibre"/>
                        </a:rPr>
                        <a:t>1</a:t>
                      </a:r>
                    </a:p>
                  </a:txBody>
                  <a:tcPr anchor="ctr"/>
                </a:tc>
                <a:tc>
                  <a:txBody>
                    <a:bodyPr/>
                    <a:lstStyle/>
                    <a:p>
                      <a:pPr>
                        <a:buNone/>
                      </a:pPr>
                      <a:r>
                        <a:rPr lang="en-IN" dirty="0">
                          <a:latin typeface="Calibre"/>
                        </a:rPr>
                        <a:t>output</a:t>
                      </a:r>
                    </a:p>
                  </a:txBody>
                  <a:tcPr anchor="ctr"/>
                </a:tc>
                <a:tc>
                  <a:txBody>
                    <a:bodyPr/>
                    <a:lstStyle/>
                    <a:p>
                      <a:pPr>
                        <a:buNone/>
                      </a:pPr>
                      <a:r>
                        <a:rPr lang="en-US" dirty="0">
                          <a:latin typeface="Calibre"/>
                        </a:rPr>
                        <a:t>PMU indication for instruction fetch stall</a:t>
                      </a:r>
                    </a:p>
                  </a:txBody>
                  <a:tcPr anchor="ctr"/>
                </a:tc>
                <a:extLst>
                  <a:ext uri="{0D108BD9-81ED-4DB2-BD59-A6C34878D82A}">
                    <a16:rowId xmlns:a16="http://schemas.microsoft.com/office/drawing/2014/main" val="3565089179"/>
                  </a:ext>
                </a:extLst>
              </a:tr>
              <a:tr h="308010">
                <a:tc>
                  <a:txBody>
                    <a:bodyPr/>
                    <a:lstStyle/>
                    <a:p>
                      <a:pPr>
                        <a:buNone/>
                      </a:pPr>
                      <a:r>
                        <a:rPr lang="en-IN" dirty="0" err="1">
                          <a:latin typeface="Calibre"/>
                        </a:rPr>
                        <a:t>ifc_fetch_req_bf</a:t>
                      </a:r>
                      <a:endParaRPr lang="en-IN" dirty="0">
                        <a:latin typeface="Calibre"/>
                      </a:endParaRPr>
                    </a:p>
                  </a:txBody>
                  <a:tcPr anchor="ctr"/>
                </a:tc>
                <a:tc>
                  <a:txBody>
                    <a:bodyPr/>
                    <a:lstStyle/>
                    <a:p>
                      <a:pPr>
                        <a:buNone/>
                      </a:pPr>
                      <a:r>
                        <a:rPr lang="en-IN" dirty="0">
                          <a:latin typeface="Calibre"/>
                        </a:rPr>
                        <a:t>1</a:t>
                      </a:r>
                    </a:p>
                  </a:txBody>
                  <a:tcPr anchor="ctr"/>
                </a:tc>
                <a:tc>
                  <a:txBody>
                    <a:bodyPr/>
                    <a:lstStyle/>
                    <a:p>
                      <a:pPr>
                        <a:buNone/>
                      </a:pPr>
                      <a:r>
                        <a:rPr lang="en-IN">
                          <a:latin typeface="Calibre"/>
                        </a:rPr>
                        <a:t>output</a:t>
                      </a:r>
                    </a:p>
                  </a:txBody>
                  <a:tcPr anchor="ctr"/>
                </a:tc>
                <a:tc>
                  <a:txBody>
                    <a:bodyPr/>
                    <a:lstStyle/>
                    <a:p>
                      <a:pPr>
                        <a:buNone/>
                      </a:pPr>
                      <a:r>
                        <a:rPr lang="en-US" dirty="0">
                          <a:latin typeface="Calibre"/>
                        </a:rPr>
                        <a:t>Fetch request in BF stage</a:t>
                      </a:r>
                    </a:p>
                  </a:txBody>
                  <a:tcPr anchor="ctr"/>
                </a:tc>
                <a:extLst>
                  <a:ext uri="{0D108BD9-81ED-4DB2-BD59-A6C34878D82A}">
                    <a16:rowId xmlns:a16="http://schemas.microsoft.com/office/drawing/2014/main" val="1941302646"/>
                  </a:ext>
                </a:extLst>
              </a:tr>
              <a:tr h="308010">
                <a:tc>
                  <a:txBody>
                    <a:bodyPr/>
                    <a:lstStyle/>
                    <a:p>
                      <a:pPr>
                        <a:buNone/>
                      </a:pPr>
                      <a:r>
                        <a:rPr lang="en-US" dirty="0" err="1">
                          <a:latin typeface="Calibre"/>
                        </a:rPr>
                        <a:t>ifc_fetch_req_bf_raw</a:t>
                      </a:r>
                      <a:endParaRPr lang="en-US" dirty="0">
                        <a:latin typeface="Calibre"/>
                      </a:endParaRPr>
                    </a:p>
                  </a:txBody>
                  <a:tcPr anchor="ctr"/>
                </a:tc>
                <a:tc>
                  <a:txBody>
                    <a:bodyPr/>
                    <a:lstStyle/>
                    <a:p>
                      <a:pPr>
                        <a:buNone/>
                      </a:pPr>
                      <a:r>
                        <a:rPr lang="en-IN" dirty="0">
                          <a:latin typeface="Calibre"/>
                        </a:rPr>
                        <a:t>1</a:t>
                      </a:r>
                    </a:p>
                  </a:txBody>
                  <a:tcPr anchor="ctr"/>
                </a:tc>
                <a:tc>
                  <a:txBody>
                    <a:bodyPr/>
                    <a:lstStyle/>
                    <a:p>
                      <a:pPr>
                        <a:buNone/>
                      </a:pPr>
                      <a:r>
                        <a:rPr lang="en-IN" dirty="0">
                          <a:latin typeface="Calibre"/>
                        </a:rPr>
                        <a:t>output</a:t>
                      </a:r>
                    </a:p>
                  </a:txBody>
                  <a:tcPr anchor="ctr"/>
                </a:tc>
                <a:tc>
                  <a:txBody>
                    <a:bodyPr/>
                    <a:lstStyle/>
                    <a:p>
                      <a:pPr>
                        <a:buNone/>
                      </a:pPr>
                      <a:r>
                        <a:rPr lang="en-US" dirty="0">
                          <a:latin typeface="Calibre"/>
                        </a:rPr>
                        <a:t>Raw fetch request before stall qualification</a:t>
                      </a:r>
                    </a:p>
                  </a:txBody>
                  <a:tcPr anchor="ctr"/>
                </a:tc>
                <a:extLst>
                  <a:ext uri="{0D108BD9-81ED-4DB2-BD59-A6C34878D82A}">
                    <a16:rowId xmlns:a16="http://schemas.microsoft.com/office/drawing/2014/main" val="3001411141"/>
                  </a:ext>
                </a:extLst>
              </a:tr>
              <a:tr h="308010">
                <a:tc>
                  <a:txBody>
                    <a:bodyPr/>
                    <a:lstStyle/>
                    <a:p>
                      <a:pPr>
                        <a:buNone/>
                      </a:pPr>
                      <a:r>
                        <a:rPr lang="en-IN">
                          <a:latin typeface="Calibre"/>
                        </a:rPr>
                        <a:t>ifc_iccm_access_bf</a:t>
                      </a:r>
                    </a:p>
                  </a:txBody>
                  <a:tcPr anchor="ctr"/>
                </a:tc>
                <a:tc>
                  <a:txBody>
                    <a:bodyPr/>
                    <a:lstStyle/>
                    <a:p>
                      <a:pPr>
                        <a:buNone/>
                      </a:pPr>
                      <a:r>
                        <a:rPr lang="en-IN">
                          <a:latin typeface="Calibre"/>
                        </a:rPr>
                        <a:t>1</a:t>
                      </a:r>
                    </a:p>
                  </a:txBody>
                  <a:tcPr anchor="ctr"/>
                </a:tc>
                <a:tc>
                  <a:txBody>
                    <a:bodyPr/>
                    <a:lstStyle/>
                    <a:p>
                      <a:pPr>
                        <a:buNone/>
                      </a:pPr>
                      <a:r>
                        <a:rPr lang="en-IN">
                          <a:latin typeface="Calibre"/>
                        </a:rPr>
                        <a:t>output</a:t>
                      </a:r>
                    </a:p>
                  </a:txBody>
                  <a:tcPr anchor="ctr"/>
                </a:tc>
                <a:tc>
                  <a:txBody>
                    <a:bodyPr/>
                    <a:lstStyle/>
                    <a:p>
                      <a:pPr>
                        <a:buNone/>
                      </a:pPr>
                      <a:r>
                        <a:rPr lang="en-US" dirty="0">
                          <a:latin typeface="Calibre"/>
                        </a:rPr>
                        <a:t>Indicates fetch access targets ICCM</a:t>
                      </a:r>
                    </a:p>
                  </a:txBody>
                  <a:tcPr anchor="ctr"/>
                </a:tc>
                <a:extLst>
                  <a:ext uri="{0D108BD9-81ED-4DB2-BD59-A6C34878D82A}">
                    <a16:rowId xmlns:a16="http://schemas.microsoft.com/office/drawing/2014/main" val="60307703"/>
                  </a:ext>
                </a:extLst>
              </a:tr>
            </a:tbl>
          </a:graphicData>
        </a:graphic>
      </p:graphicFrame>
      <p:sp>
        <p:nvSpPr>
          <p:cNvPr id="6" name="TextBox 5">
            <a:extLst>
              <a:ext uri="{FF2B5EF4-FFF2-40B4-BE49-F238E27FC236}">
                <a16:creationId xmlns:a16="http://schemas.microsoft.com/office/drawing/2014/main" id="{FD501109-6C62-F979-9AEC-60ABA605C803}"/>
              </a:ext>
            </a:extLst>
          </p:cNvPr>
          <p:cNvSpPr txBox="1"/>
          <p:nvPr/>
        </p:nvSpPr>
        <p:spPr>
          <a:xfrm>
            <a:off x="4238214" y="6367069"/>
            <a:ext cx="4226828" cy="369332"/>
          </a:xfrm>
          <a:prstGeom prst="rect">
            <a:avLst/>
          </a:prstGeom>
          <a:noFill/>
        </p:spPr>
        <p:txBody>
          <a:bodyPr wrap="square" rtlCol="0">
            <a:spAutoFit/>
          </a:bodyPr>
          <a:lstStyle/>
          <a:p>
            <a:r>
              <a:rPr lang="en-IN" dirty="0"/>
              <a:t>Table 2 Fetch control signal descriptions</a:t>
            </a:r>
          </a:p>
        </p:txBody>
      </p:sp>
    </p:spTree>
    <p:extLst>
      <p:ext uri="{BB962C8B-B14F-4D97-AF65-F5344CB8AC3E}">
        <p14:creationId xmlns:p14="http://schemas.microsoft.com/office/powerpoint/2010/main" val="788258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CD3B7-2A31-824E-58E9-3E7C996C7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593A7-EF96-4D23-2381-28D4DA25C86D}"/>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Fetch Control Signal Descriptions</a:t>
            </a:r>
            <a:endParaRPr lang="en-US" dirty="0"/>
          </a:p>
        </p:txBody>
      </p:sp>
      <p:graphicFrame>
        <p:nvGraphicFramePr>
          <p:cNvPr id="3" name="Table 2">
            <a:extLst>
              <a:ext uri="{FF2B5EF4-FFF2-40B4-BE49-F238E27FC236}">
                <a16:creationId xmlns:a16="http://schemas.microsoft.com/office/drawing/2014/main" id="{B1F7D6A3-6610-C956-BE8E-43FBFF7564C2}"/>
              </a:ext>
            </a:extLst>
          </p:cNvPr>
          <p:cNvGraphicFramePr>
            <a:graphicFrameLocks noGrp="1"/>
          </p:cNvGraphicFramePr>
          <p:nvPr>
            <p:extLst>
              <p:ext uri="{D42A27DB-BD31-4B8C-83A1-F6EECF244321}">
                <p14:modId xmlns:p14="http://schemas.microsoft.com/office/powerpoint/2010/main" val="482304800"/>
              </p:ext>
            </p:extLst>
          </p:nvPr>
        </p:nvGraphicFramePr>
        <p:xfrm>
          <a:off x="417285" y="1460499"/>
          <a:ext cx="11040137" cy="2194560"/>
        </p:xfrm>
        <a:graphic>
          <a:graphicData uri="http://schemas.openxmlformats.org/drawingml/2006/table">
            <a:tbl>
              <a:tblPr firstRow="1" bandRow="1">
                <a:tableStyleId>{5C22544A-7EE6-4342-B048-85BDC9FD1C3A}</a:tableStyleId>
              </a:tblPr>
              <a:tblGrid>
                <a:gridCol w="2760034">
                  <a:extLst>
                    <a:ext uri="{9D8B030D-6E8A-4147-A177-3AD203B41FA5}">
                      <a16:colId xmlns:a16="http://schemas.microsoft.com/office/drawing/2014/main" val="3921041682"/>
                    </a:ext>
                  </a:extLst>
                </a:gridCol>
                <a:gridCol w="1174831">
                  <a:extLst>
                    <a:ext uri="{9D8B030D-6E8A-4147-A177-3AD203B41FA5}">
                      <a16:colId xmlns:a16="http://schemas.microsoft.com/office/drawing/2014/main" val="743869448"/>
                    </a:ext>
                  </a:extLst>
                </a:gridCol>
                <a:gridCol w="1613341">
                  <a:extLst>
                    <a:ext uri="{9D8B030D-6E8A-4147-A177-3AD203B41FA5}">
                      <a16:colId xmlns:a16="http://schemas.microsoft.com/office/drawing/2014/main" val="1225331280"/>
                    </a:ext>
                  </a:extLst>
                </a:gridCol>
                <a:gridCol w="5491931">
                  <a:extLst>
                    <a:ext uri="{9D8B030D-6E8A-4147-A177-3AD203B41FA5}">
                      <a16:colId xmlns:a16="http://schemas.microsoft.com/office/drawing/2014/main" val="1848869435"/>
                    </a:ext>
                  </a:extLst>
                </a:gridCol>
              </a:tblGrid>
              <a:tr h="308010">
                <a:tc>
                  <a:txBody>
                    <a:bodyPr/>
                    <a:lstStyle/>
                    <a:p>
                      <a:pPr>
                        <a:buNone/>
                      </a:pPr>
                      <a:r>
                        <a:rPr lang="en-IN" dirty="0">
                          <a:latin typeface="Calibre"/>
                        </a:rPr>
                        <a:t>Signal</a:t>
                      </a:r>
                    </a:p>
                  </a:txBody>
                  <a:tcPr anchor="ctr"/>
                </a:tc>
                <a:tc>
                  <a:txBody>
                    <a:bodyPr/>
                    <a:lstStyle/>
                    <a:p>
                      <a:pPr>
                        <a:buNone/>
                      </a:pPr>
                      <a:r>
                        <a:rPr lang="en-IN">
                          <a:latin typeface="Calibre"/>
                        </a:rPr>
                        <a:t>Width</a:t>
                      </a:r>
                    </a:p>
                  </a:txBody>
                  <a:tcPr anchor="ctr"/>
                </a:tc>
                <a:tc>
                  <a:txBody>
                    <a:bodyPr/>
                    <a:lstStyle/>
                    <a:p>
                      <a:pPr>
                        <a:buNone/>
                      </a:pPr>
                      <a:r>
                        <a:rPr lang="en-IN">
                          <a:latin typeface="Calibre"/>
                        </a:rPr>
                        <a:t>Direction</a:t>
                      </a:r>
                    </a:p>
                  </a:txBody>
                  <a:tcPr anchor="ctr"/>
                </a:tc>
                <a:tc>
                  <a:txBody>
                    <a:bodyPr/>
                    <a:lstStyle/>
                    <a:p>
                      <a:pPr>
                        <a:buNone/>
                      </a:pPr>
                      <a:r>
                        <a:rPr lang="en-IN">
                          <a:latin typeface="Calibre"/>
                        </a:rPr>
                        <a:t>Description</a:t>
                      </a:r>
                    </a:p>
                  </a:txBody>
                  <a:tcPr anchor="ctr"/>
                </a:tc>
                <a:extLst>
                  <a:ext uri="{0D108BD9-81ED-4DB2-BD59-A6C34878D82A}">
                    <a16:rowId xmlns:a16="http://schemas.microsoft.com/office/drawing/2014/main" val="3026705487"/>
                  </a:ext>
                </a:extLst>
              </a:tr>
              <a:tr h="308010">
                <a:tc>
                  <a:txBody>
                    <a:bodyPr/>
                    <a:lstStyle/>
                    <a:p>
                      <a:pPr>
                        <a:buNone/>
                      </a:pPr>
                      <a:r>
                        <a:rPr lang="en-US" dirty="0" err="1">
                          <a:latin typeface="Calibre"/>
                        </a:rPr>
                        <a:t>ifc_region_acc_fault_bf</a:t>
                      </a:r>
                      <a:endParaRPr lang="en-US" dirty="0">
                        <a:latin typeface="Calibre"/>
                      </a:endParaRPr>
                    </a:p>
                  </a:txBody>
                  <a:tcPr anchor="ctr"/>
                </a:tc>
                <a:tc>
                  <a:txBody>
                    <a:bodyPr/>
                    <a:lstStyle/>
                    <a:p>
                      <a:pPr>
                        <a:buNone/>
                      </a:pPr>
                      <a:r>
                        <a:rPr lang="en-IN">
                          <a:latin typeface="Calibre"/>
                        </a:rPr>
                        <a:t>1</a:t>
                      </a:r>
                    </a:p>
                  </a:txBody>
                  <a:tcPr anchor="ctr"/>
                </a:tc>
                <a:tc>
                  <a:txBody>
                    <a:bodyPr/>
                    <a:lstStyle/>
                    <a:p>
                      <a:pPr>
                        <a:buNone/>
                      </a:pPr>
                      <a:r>
                        <a:rPr lang="en-IN" dirty="0">
                          <a:latin typeface="Calibre"/>
                        </a:rPr>
                        <a:t>output</a:t>
                      </a:r>
                    </a:p>
                  </a:txBody>
                  <a:tcPr anchor="ctr"/>
                </a:tc>
                <a:tc>
                  <a:txBody>
                    <a:bodyPr/>
                    <a:lstStyle/>
                    <a:p>
                      <a:pPr>
                        <a:buNone/>
                      </a:pPr>
                      <a:r>
                        <a:rPr lang="en-US" dirty="0">
                          <a:latin typeface="Calibre"/>
                        </a:rPr>
                        <a:t>Indicates invalid ICCM region access fault</a:t>
                      </a:r>
                    </a:p>
                  </a:txBody>
                  <a:tcPr anchor="ctr"/>
                </a:tc>
                <a:extLst>
                  <a:ext uri="{0D108BD9-81ED-4DB2-BD59-A6C34878D82A}">
                    <a16:rowId xmlns:a16="http://schemas.microsoft.com/office/drawing/2014/main" val="2936665747"/>
                  </a:ext>
                </a:extLst>
              </a:tr>
              <a:tr h="308010">
                <a:tc>
                  <a:txBody>
                    <a:bodyPr/>
                    <a:lstStyle/>
                    <a:p>
                      <a:pPr>
                        <a:buNone/>
                      </a:pPr>
                      <a:r>
                        <a:rPr lang="en-IN" dirty="0" err="1">
                          <a:latin typeface="Calibre"/>
                        </a:rPr>
                        <a:t>ifc_dma_access_ok</a:t>
                      </a:r>
                    </a:p>
                  </a:txBody>
                  <a:tcPr anchor="ctr"/>
                </a:tc>
                <a:tc>
                  <a:txBody>
                    <a:bodyPr/>
                    <a:lstStyle/>
                    <a:p>
                      <a:pPr>
                        <a:buNone/>
                      </a:pPr>
                      <a:r>
                        <a:rPr lang="en-IN">
                          <a:latin typeface="Calibre"/>
                        </a:rPr>
                        <a:t>1</a:t>
                      </a:r>
                    </a:p>
                  </a:txBody>
                  <a:tcPr anchor="ctr"/>
                </a:tc>
                <a:tc>
                  <a:txBody>
                    <a:bodyPr/>
                    <a:lstStyle/>
                    <a:p>
                      <a:pPr>
                        <a:buNone/>
                      </a:pPr>
                      <a:r>
                        <a:rPr lang="en-IN">
                          <a:latin typeface="Calibre"/>
                        </a:rPr>
                        <a:t>output</a:t>
                      </a:r>
                    </a:p>
                  </a:txBody>
                  <a:tcPr anchor="ctr"/>
                </a:tc>
                <a:tc>
                  <a:txBody>
                    <a:bodyPr/>
                    <a:lstStyle/>
                    <a:p>
                      <a:pPr>
                        <a:buNone/>
                      </a:pPr>
                      <a:r>
                        <a:rPr lang="en-US" dirty="0">
                          <a:latin typeface="Calibre"/>
                        </a:rPr>
                        <a:t>Indicates DMA can safely proceed</a:t>
                      </a:r>
                    </a:p>
                  </a:txBody>
                  <a:tcPr anchor="ctr"/>
                </a:tc>
                <a:extLst>
                  <a:ext uri="{0D108BD9-81ED-4DB2-BD59-A6C34878D82A}">
                    <a16:rowId xmlns:a16="http://schemas.microsoft.com/office/drawing/2014/main" val="1775961626"/>
                  </a:ext>
                </a:extLst>
              </a:tr>
              <a:tr h="308010">
                <a:tc>
                  <a:txBody>
                    <a:bodyPr/>
                    <a:lstStyle/>
                    <a:p>
                      <a:pPr>
                        <a:buNone/>
                      </a:pPr>
                      <a:r>
                        <a:rPr lang="en-IN" dirty="0" err="1">
                          <a:latin typeface="Calibre"/>
                        </a:rPr>
                        <a:t>ifc_fetch_uncacheable_bf</a:t>
                      </a:r>
                      <a:endParaRPr lang="en-IN" dirty="0">
                        <a:latin typeface="Calibre"/>
                      </a:endParaRPr>
                    </a:p>
                  </a:txBody>
                  <a:tcPr anchor="ctr"/>
                </a:tc>
                <a:tc>
                  <a:txBody>
                    <a:bodyPr/>
                    <a:lstStyle/>
                    <a:p>
                      <a:pPr>
                        <a:buNone/>
                      </a:pPr>
                      <a:r>
                        <a:rPr lang="en-IN" dirty="0">
                          <a:latin typeface="Calibre"/>
                        </a:rPr>
                        <a:t>1</a:t>
                      </a:r>
                    </a:p>
                  </a:txBody>
                  <a:tcPr anchor="ctr"/>
                </a:tc>
                <a:tc>
                  <a:txBody>
                    <a:bodyPr/>
                    <a:lstStyle/>
                    <a:p>
                      <a:pPr>
                        <a:buNone/>
                      </a:pPr>
                      <a:r>
                        <a:rPr lang="en-IN" dirty="0">
                          <a:latin typeface="Calibre"/>
                        </a:rPr>
                        <a:t>output</a:t>
                      </a:r>
                    </a:p>
                  </a:txBody>
                  <a:tcPr anchor="ctr"/>
                </a:tc>
                <a:tc>
                  <a:txBody>
                    <a:bodyPr/>
                    <a:lstStyle/>
                    <a:p>
                      <a:pPr>
                        <a:buNone/>
                      </a:pPr>
                      <a:r>
                        <a:rPr lang="en-US" dirty="0">
                          <a:latin typeface="Calibre"/>
                        </a:rPr>
                        <a:t>Indicates fetch access is uncacheable</a:t>
                      </a:r>
                    </a:p>
                  </a:txBody>
                  <a:tcPr anchor="ctr"/>
                </a:tc>
                <a:extLst>
                  <a:ext uri="{0D108BD9-81ED-4DB2-BD59-A6C34878D82A}">
                    <a16:rowId xmlns:a16="http://schemas.microsoft.com/office/drawing/2014/main" val="3985340446"/>
                  </a:ext>
                </a:extLst>
              </a:tr>
              <a:tr h="308010">
                <a:tc>
                  <a:txBody>
                    <a:bodyPr/>
                    <a:lstStyle/>
                    <a:p>
                      <a:pPr>
                        <a:buNone/>
                      </a:pPr>
                      <a:r>
                        <a:rPr lang="en-IN" dirty="0" err="1">
                          <a:latin typeface="Calibre"/>
                        </a:rPr>
                        <a:t>ifc_fetch_addr_f</a:t>
                      </a:r>
                    </a:p>
                  </a:txBody>
                  <a:tcPr anchor="ctr"/>
                </a:tc>
                <a:tc>
                  <a:txBody>
                    <a:bodyPr/>
                    <a:lstStyle/>
                    <a:p>
                      <a:pPr>
                        <a:buNone/>
                      </a:pPr>
                      <a:r>
                        <a:rPr lang="en-IN">
                          <a:latin typeface="Calibre"/>
                        </a:rPr>
                        <a:t>31</a:t>
                      </a:r>
                    </a:p>
                  </a:txBody>
                  <a:tcPr anchor="ctr"/>
                </a:tc>
                <a:tc>
                  <a:txBody>
                    <a:bodyPr/>
                    <a:lstStyle/>
                    <a:p>
                      <a:pPr>
                        <a:buNone/>
                      </a:pPr>
                      <a:r>
                        <a:rPr lang="en-IN">
                          <a:latin typeface="Calibre"/>
                        </a:rPr>
                        <a:t>output</a:t>
                      </a:r>
                    </a:p>
                  </a:txBody>
                  <a:tcPr anchor="ctr"/>
                </a:tc>
                <a:tc>
                  <a:txBody>
                    <a:bodyPr/>
                    <a:lstStyle/>
                    <a:p>
                      <a:pPr>
                        <a:buNone/>
                      </a:pPr>
                      <a:r>
                        <a:rPr lang="en-US" dirty="0">
                          <a:latin typeface="Calibre"/>
                        </a:rPr>
                        <a:t>Fetch address in fetch stage</a:t>
                      </a:r>
                    </a:p>
                  </a:txBody>
                  <a:tcPr anchor="ctr"/>
                </a:tc>
                <a:extLst>
                  <a:ext uri="{0D108BD9-81ED-4DB2-BD59-A6C34878D82A}">
                    <a16:rowId xmlns:a16="http://schemas.microsoft.com/office/drawing/2014/main" val="2870350705"/>
                  </a:ext>
                </a:extLst>
              </a:tr>
              <a:tr h="308010">
                <a:tc>
                  <a:txBody>
                    <a:bodyPr/>
                    <a:lstStyle/>
                    <a:p>
                      <a:pPr>
                        <a:buNone/>
                      </a:pPr>
                      <a:r>
                        <a:rPr lang="en-IN" dirty="0" err="1">
                          <a:latin typeface="Calibre"/>
                        </a:rPr>
                        <a:t>ifc_fetch_addr_bf</a:t>
                      </a:r>
                      <a:endParaRPr lang="en-IN" dirty="0">
                        <a:latin typeface="Calibre"/>
                      </a:endParaRPr>
                    </a:p>
                  </a:txBody>
                  <a:tcPr anchor="ctr"/>
                </a:tc>
                <a:tc>
                  <a:txBody>
                    <a:bodyPr/>
                    <a:lstStyle/>
                    <a:p>
                      <a:pPr>
                        <a:buNone/>
                      </a:pPr>
                      <a:r>
                        <a:rPr lang="en-IN" dirty="0">
                          <a:latin typeface="Calibre"/>
                        </a:rPr>
                        <a:t>31</a:t>
                      </a:r>
                    </a:p>
                  </a:txBody>
                  <a:tcPr anchor="ctr"/>
                </a:tc>
                <a:tc>
                  <a:txBody>
                    <a:bodyPr/>
                    <a:lstStyle/>
                    <a:p>
                      <a:pPr>
                        <a:buNone/>
                      </a:pPr>
                      <a:r>
                        <a:rPr lang="en-IN" dirty="0">
                          <a:latin typeface="Calibre"/>
                        </a:rPr>
                        <a:t>output</a:t>
                      </a:r>
                    </a:p>
                  </a:txBody>
                  <a:tcPr anchor="ctr"/>
                </a:tc>
                <a:tc>
                  <a:txBody>
                    <a:bodyPr/>
                    <a:lstStyle/>
                    <a:p>
                      <a:pPr>
                        <a:buNone/>
                      </a:pPr>
                      <a:r>
                        <a:rPr lang="en-US" dirty="0">
                          <a:latin typeface="Calibre"/>
                        </a:rPr>
                        <a:t>Fetch address in BF stage</a:t>
                      </a:r>
                    </a:p>
                  </a:txBody>
                  <a:tcPr anchor="ctr"/>
                </a:tc>
                <a:extLst>
                  <a:ext uri="{0D108BD9-81ED-4DB2-BD59-A6C34878D82A}">
                    <a16:rowId xmlns:a16="http://schemas.microsoft.com/office/drawing/2014/main" val="4207610422"/>
                  </a:ext>
                </a:extLst>
              </a:tr>
            </a:tbl>
          </a:graphicData>
        </a:graphic>
      </p:graphicFrame>
      <p:sp>
        <p:nvSpPr>
          <p:cNvPr id="4" name="TextBox 3">
            <a:extLst>
              <a:ext uri="{FF2B5EF4-FFF2-40B4-BE49-F238E27FC236}">
                <a16:creationId xmlns:a16="http://schemas.microsoft.com/office/drawing/2014/main" id="{F74670AF-9F4A-A8B2-2518-7F754EBE2E4D}"/>
              </a:ext>
            </a:extLst>
          </p:cNvPr>
          <p:cNvSpPr txBox="1"/>
          <p:nvPr/>
        </p:nvSpPr>
        <p:spPr>
          <a:xfrm>
            <a:off x="4130752" y="4148198"/>
            <a:ext cx="4226828" cy="369332"/>
          </a:xfrm>
          <a:prstGeom prst="rect">
            <a:avLst/>
          </a:prstGeom>
          <a:noFill/>
        </p:spPr>
        <p:txBody>
          <a:bodyPr wrap="square" rtlCol="0">
            <a:spAutoFit/>
          </a:bodyPr>
          <a:lstStyle/>
          <a:p>
            <a:r>
              <a:rPr lang="en-IN" dirty="0"/>
              <a:t>Table 2 Fetch control signal descriptions</a:t>
            </a:r>
          </a:p>
        </p:txBody>
      </p:sp>
    </p:spTree>
    <p:extLst>
      <p:ext uri="{BB962C8B-B14F-4D97-AF65-F5344CB8AC3E}">
        <p14:creationId xmlns:p14="http://schemas.microsoft.com/office/powerpoint/2010/main" val="28546037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16145-C45A-7E25-F89C-2723CF38B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1EEDC-A5EE-C065-28B4-E94D94DE3C4B}"/>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Fetch Control </a:t>
            </a:r>
            <a:r>
              <a:rPr lang="en-US" dirty="0"/>
              <a:t>Working</a:t>
            </a:r>
          </a:p>
        </p:txBody>
      </p:sp>
      <p:sp>
        <p:nvSpPr>
          <p:cNvPr id="5" name="TextBox 4">
            <a:extLst>
              <a:ext uri="{FF2B5EF4-FFF2-40B4-BE49-F238E27FC236}">
                <a16:creationId xmlns:a16="http://schemas.microsoft.com/office/drawing/2014/main" id="{8DF3634B-9982-8E93-507C-CF312E048F9C}"/>
              </a:ext>
            </a:extLst>
          </p:cNvPr>
          <p:cNvSpPr txBox="1"/>
          <p:nvPr/>
        </p:nvSpPr>
        <p:spPr>
          <a:xfrm>
            <a:off x="150121" y="862036"/>
            <a:ext cx="11523133" cy="4524315"/>
          </a:xfrm>
          <a:prstGeom prst="rect">
            <a:avLst/>
          </a:prstGeom>
          <a:noFill/>
        </p:spPr>
        <p:txBody>
          <a:bodyPr wrap="square" lIns="91440" tIns="45720" rIns="91440" bIns="45720" rtlCol="0" anchor="t">
            <a:spAutoFit/>
          </a:bodyPr>
          <a:lstStyle/>
          <a:p>
            <a:pPr marL="457200" indent="-457200">
              <a:buFont typeface="+mj-lt"/>
              <a:buAutoNum type="arabicPeriod"/>
            </a:pPr>
            <a:r>
              <a:rPr lang="en-IN" sz="2400" dirty="0">
                <a:latin typeface="Calibre"/>
              </a:rPr>
              <a:t>Flush / Redirect Control </a:t>
            </a:r>
            <a:r>
              <a:rPr lang="en-US" sz="2400" dirty="0">
                <a:latin typeface="Calibre"/>
              </a:rPr>
              <a:t>detects flush conditions caused by:</a:t>
            </a:r>
          </a:p>
          <a:p>
            <a:pPr marL="800100" lvl="1" indent="-342900">
              <a:buFont typeface="Arial" panose="020B0604020202020204" pitchFamily="34" charset="0"/>
              <a:buChar char="•"/>
            </a:pPr>
            <a:r>
              <a:rPr lang="en-US" sz="2400" dirty="0">
                <a:latin typeface="Calibre"/>
              </a:rPr>
              <a:t>Branch misprediction </a:t>
            </a:r>
          </a:p>
          <a:p>
            <a:pPr marL="800100" lvl="1" indent="-342900">
              <a:buFont typeface="Arial" panose="020B0604020202020204" pitchFamily="34" charset="0"/>
              <a:buChar char="•"/>
            </a:pPr>
            <a:r>
              <a:rPr lang="en-US" sz="2400" dirty="0">
                <a:latin typeface="Calibre"/>
              </a:rPr>
              <a:t>Exception </a:t>
            </a:r>
          </a:p>
          <a:p>
            <a:pPr marL="800100" lvl="1" indent="-342900">
              <a:buFont typeface="Arial" panose="020B0604020202020204" pitchFamily="34" charset="0"/>
              <a:buChar char="•"/>
            </a:pPr>
            <a:r>
              <a:rPr lang="en-US" sz="2400" dirty="0">
                <a:latin typeface="Calibre"/>
              </a:rPr>
              <a:t>Interrupt</a:t>
            </a:r>
            <a:endParaRPr lang="en-IN" sz="2400" dirty="0">
              <a:latin typeface="Calibre"/>
            </a:endParaRPr>
          </a:p>
          <a:p>
            <a:pPr marL="800100" lvl="1" indent="-342900">
              <a:buFont typeface="Arial" panose="020B0604020202020204" pitchFamily="34" charset="0"/>
              <a:buChar char="•"/>
            </a:pPr>
            <a:r>
              <a:rPr lang="en-US" sz="2400" dirty="0">
                <a:latin typeface="Calibre"/>
              </a:rPr>
              <a:t>The fetch logic redirects instruction fetch (updated PC) and prevents wrong instructions from continuing in the pipeline</a:t>
            </a:r>
          </a:p>
          <a:p>
            <a:pPr marL="457200" indent="-457200">
              <a:buFont typeface="+mj-lt"/>
              <a:buAutoNum type="arabicPeriod"/>
            </a:pPr>
            <a:r>
              <a:rPr lang="en-IN" sz="2400">
                <a:latin typeface="Calibre"/>
              </a:rPr>
              <a:t>Fetch Address Selection Mux : </a:t>
            </a:r>
          </a:p>
          <a:p>
            <a:pPr marL="742950" lvl="1" indent="-285750">
              <a:buFont typeface="Arial" panose="020B0604020202020204" pitchFamily="34" charset="0"/>
              <a:buChar char="•"/>
            </a:pPr>
            <a:r>
              <a:rPr lang="en-US" sz="2400" dirty="0">
                <a:latin typeface="Calibre"/>
              </a:rPr>
              <a:t>Selects next fetch address from multiple sources: </a:t>
            </a:r>
          </a:p>
          <a:p>
            <a:pPr marL="1371600" lvl="2" indent="-457200">
              <a:buFont typeface="+mj-lt"/>
              <a:buAutoNum type="arabicPeriod"/>
            </a:pPr>
            <a:r>
              <a:rPr lang="en-US" sz="2400" dirty="0">
                <a:latin typeface="Calibre"/>
              </a:rPr>
              <a:t>Flush path : </a:t>
            </a:r>
            <a:r>
              <a:rPr lang="en-IN" sz="2400" dirty="0">
                <a:latin typeface="Calibre"/>
              </a:rPr>
              <a:t>removes invalid instruction flow </a:t>
            </a:r>
          </a:p>
          <a:p>
            <a:pPr marL="1371600" lvl="2" indent="-457200">
              <a:buFont typeface="+mj-lt"/>
              <a:buAutoNum type="arabicPeriod"/>
            </a:pPr>
            <a:r>
              <a:rPr lang="en-US" sz="2400" dirty="0">
                <a:latin typeface="Calibre"/>
              </a:rPr>
              <a:t>Miss Replay path : </a:t>
            </a:r>
            <a:r>
              <a:rPr lang="en-IN" sz="2400" dirty="0">
                <a:latin typeface="Calibre"/>
              </a:rPr>
              <a:t>Previous fetch failed, or a cache miss happened</a:t>
            </a:r>
            <a:endParaRPr lang="en-US" sz="2400" dirty="0">
              <a:latin typeface="Calibre"/>
            </a:endParaRPr>
          </a:p>
          <a:p>
            <a:pPr marL="1371600" lvl="2" indent="-457200">
              <a:buFont typeface="+mj-lt"/>
              <a:buAutoNum type="arabicPeriod"/>
            </a:pPr>
            <a:r>
              <a:rPr lang="en-US" sz="2400" dirty="0">
                <a:latin typeface="Calibre"/>
              </a:rPr>
              <a:t>Branch predictor path: when branch predictor predicts the branch taken </a:t>
            </a:r>
            <a:r>
              <a:rPr lang="en-IN" sz="2400" dirty="0">
                <a:latin typeface="Calibre"/>
              </a:rPr>
              <a:t>or not </a:t>
            </a:r>
            <a:r>
              <a:rPr lang="en-US" sz="2400" dirty="0">
                <a:latin typeface="Calibre"/>
              </a:rPr>
              <a:t>then IFU fetches from the branch target buffer</a:t>
            </a:r>
            <a:endParaRPr lang="en-IN" sz="2400" dirty="0">
              <a:latin typeface="Calibre"/>
            </a:endParaRPr>
          </a:p>
        </p:txBody>
      </p:sp>
    </p:spTree>
    <p:extLst>
      <p:ext uri="{BB962C8B-B14F-4D97-AF65-F5344CB8AC3E}">
        <p14:creationId xmlns:p14="http://schemas.microsoft.com/office/powerpoint/2010/main" val="24684053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398D3-F7D8-86C3-B680-D5A798072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879FC-56C7-CBA1-E039-003B9065D452}"/>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Fetch Control </a:t>
            </a:r>
            <a:r>
              <a:rPr lang="en-US" dirty="0"/>
              <a:t>Working (Contd..)</a:t>
            </a:r>
          </a:p>
        </p:txBody>
      </p:sp>
      <p:sp>
        <p:nvSpPr>
          <p:cNvPr id="3" name="TextBox 2">
            <a:extLst>
              <a:ext uri="{FF2B5EF4-FFF2-40B4-BE49-F238E27FC236}">
                <a16:creationId xmlns:a16="http://schemas.microsoft.com/office/drawing/2014/main" id="{50F6E260-F39E-DD9E-D2BC-139A9A627440}"/>
              </a:ext>
            </a:extLst>
          </p:cNvPr>
          <p:cNvSpPr txBox="1"/>
          <p:nvPr/>
        </p:nvSpPr>
        <p:spPr>
          <a:xfrm>
            <a:off x="185290" y="862036"/>
            <a:ext cx="11523133" cy="6001643"/>
          </a:xfrm>
          <a:prstGeom prst="rect">
            <a:avLst/>
          </a:prstGeom>
          <a:noFill/>
        </p:spPr>
        <p:txBody>
          <a:bodyPr wrap="square" lIns="91440" tIns="45720" rIns="91440" bIns="45720" rtlCol="0" anchor="t">
            <a:spAutoFit/>
          </a:bodyPr>
          <a:lstStyle/>
          <a:p>
            <a:pPr marL="457200" indent="-457200">
              <a:buFont typeface="+mj-lt"/>
              <a:buAutoNum type="arabicPeriod" startAt="2"/>
            </a:pPr>
            <a:r>
              <a:rPr lang="en-IN" sz="2400">
                <a:latin typeface="Calibre"/>
              </a:rPr>
              <a:t>Fetch Address Selection Mux : (Contd..)</a:t>
            </a:r>
          </a:p>
          <a:p>
            <a:pPr marL="742950" lvl="1" indent="-285750">
              <a:buFont typeface="Arial" panose="020B0604020202020204" pitchFamily="34" charset="0"/>
              <a:buChar char="•"/>
            </a:pPr>
            <a:r>
              <a:rPr lang="en-US" sz="2400" dirty="0">
                <a:latin typeface="Calibre"/>
              </a:rPr>
              <a:t>Selects next fetch address from multiple sources: (Contd..) </a:t>
            </a:r>
          </a:p>
          <a:p>
            <a:pPr marL="1371600" lvl="2" indent="-457200">
              <a:buFont typeface="+mj-lt"/>
              <a:buAutoNum type="arabicPeriod" startAt="4"/>
            </a:pPr>
            <a:r>
              <a:rPr lang="en-US" sz="2400" dirty="0">
                <a:latin typeface="Calibre"/>
              </a:rPr>
              <a:t>Sequential path : </a:t>
            </a:r>
            <a:r>
              <a:rPr lang="en-US" sz="2400" dirty="0">
                <a:highlight>
                  <a:srgbClr val="FFFF00"/>
                </a:highlight>
                <a:latin typeface="Calibre"/>
              </a:rPr>
              <a:t>current PC + next instruction offset</a:t>
            </a:r>
            <a:endParaRPr lang="en-IN" sz="2400" dirty="0">
              <a:highlight>
                <a:srgbClr val="FFFF00"/>
              </a:highlight>
              <a:latin typeface="Calibre"/>
            </a:endParaRPr>
          </a:p>
          <a:p>
            <a:pPr marL="457200" indent="-457200">
              <a:buFont typeface="+mj-lt"/>
              <a:buAutoNum type="arabicPeriod" startAt="3"/>
            </a:pPr>
            <a:r>
              <a:rPr lang="en-US" sz="2400" dirty="0">
                <a:latin typeface="Calibre"/>
              </a:rPr>
              <a:t>Sequential Address Generator : increments address </a:t>
            </a:r>
          </a:p>
          <a:p>
            <a:pPr marL="457200" indent="-457200">
              <a:buFont typeface="+mj-lt"/>
              <a:buAutoNum type="arabicPeriod" startAt="3"/>
            </a:pPr>
            <a:r>
              <a:rPr lang="en-IN" sz="2400">
                <a:latin typeface="Calibre"/>
              </a:rPr>
              <a:t>Fetch Address Pipeline Register : synchronises fetch pipeline timing</a:t>
            </a:r>
            <a:endParaRPr lang="en-IN" sz="2400">
              <a:highlight>
                <a:srgbClr val="FFFF00"/>
              </a:highlight>
              <a:latin typeface="Calibre"/>
            </a:endParaRPr>
          </a:p>
          <a:p>
            <a:pPr marL="457200" indent="-457200">
              <a:buFont typeface="+mj-lt"/>
              <a:buAutoNum type="arabicPeriod" startAt="3"/>
            </a:pPr>
            <a:r>
              <a:rPr lang="en-IN" sz="2400" dirty="0">
                <a:latin typeface="Calibre"/>
              </a:rPr>
              <a:t>Fetch Request Generation: </a:t>
            </a:r>
            <a:r>
              <a:rPr lang="en-US" sz="2400" dirty="0">
                <a:latin typeface="Calibre"/>
              </a:rPr>
              <a:t>Generates fetch requests to the instruction cache/memory</a:t>
            </a:r>
          </a:p>
          <a:p>
            <a:pPr marL="914400" lvl="1" indent="-457200">
              <a:buFont typeface="Arial" panose="020B0604020202020204" pitchFamily="34" charset="0"/>
              <a:buChar char="•"/>
            </a:pPr>
            <a:r>
              <a:rPr lang="en-IN" sz="2400" dirty="0">
                <a:latin typeface="Calibre"/>
              </a:rPr>
              <a:t>Raw fetch request </a:t>
            </a:r>
            <a:endParaRPr lang="en-US" sz="2400" dirty="0">
              <a:highlight>
                <a:srgbClr val="FFFF00"/>
              </a:highlight>
              <a:latin typeface="Calibre"/>
            </a:endParaRPr>
          </a:p>
          <a:p>
            <a:pPr marL="914400" lvl="1" indent="-457200">
              <a:buFont typeface="Arial" panose="020B0604020202020204" pitchFamily="34" charset="0"/>
              <a:buChar char="•"/>
            </a:pPr>
            <a:r>
              <a:rPr lang="en-IN" sz="2400" dirty="0">
                <a:latin typeface="Calibre"/>
              </a:rPr>
              <a:t>Qualified fetch request :</a:t>
            </a:r>
            <a:endParaRPr lang="en-US" sz="2400" dirty="0">
              <a:highlight>
                <a:srgbClr val="FFFF00"/>
              </a:highlight>
              <a:latin typeface="Calibre"/>
            </a:endParaRPr>
          </a:p>
          <a:p>
            <a:pPr marL="1371600" lvl="2" indent="-457200">
              <a:buFont typeface="Arial" panose="020B0604020202020204" pitchFamily="34" charset="0"/>
              <a:buChar char="•"/>
            </a:pPr>
            <a:r>
              <a:rPr lang="en-US" sz="2400" dirty="0"/>
              <a:t>Fetch request allowed only when:</a:t>
            </a:r>
          </a:p>
          <a:p>
            <a:pPr marL="1828800" lvl="3" indent="-457200">
              <a:buFont typeface="Arial" panose="020B0604020202020204" pitchFamily="34" charset="0"/>
              <a:buChar char="•"/>
            </a:pPr>
            <a:r>
              <a:rPr lang="en-IN" sz="2400" dirty="0"/>
              <a:t>Buffer not full </a:t>
            </a:r>
          </a:p>
          <a:p>
            <a:pPr marL="1828800" lvl="3" indent="-457200">
              <a:buFont typeface="Arial" panose="020B0604020202020204" pitchFamily="34" charset="0"/>
              <a:buChar char="•"/>
            </a:pPr>
            <a:r>
              <a:rPr lang="en-IN" sz="2400" dirty="0"/>
              <a:t>No DMA stall </a:t>
            </a:r>
          </a:p>
          <a:p>
            <a:pPr marL="1828800" lvl="3" indent="-457200">
              <a:buFont typeface="Arial" panose="020B0604020202020204" pitchFamily="34" charset="0"/>
              <a:buChar char="•"/>
            </a:pPr>
            <a:r>
              <a:rPr lang="en-IN" sz="2400" dirty="0"/>
              <a:t>No write stall </a:t>
            </a:r>
          </a:p>
          <a:p>
            <a:pPr marL="1828800" lvl="3" indent="-457200">
              <a:buFont typeface="Arial" panose="020B0604020202020204" pitchFamily="34" charset="0"/>
              <a:buChar char="•"/>
            </a:pPr>
            <a:r>
              <a:rPr lang="en-IN" sz="2400" dirty="0"/>
              <a:t>No flush blocking </a:t>
            </a:r>
            <a:endParaRPr lang="en-IN" sz="2400" dirty="0">
              <a:latin typeface="Calibre"/>
            </a:endParaRPr>
          </a:p>
          <a:p>
            <a:pPr marL="457200" indent="-457200">
              <a:buFont typeface="+mj-lt"/>
              <a:buAutoNum type="arabicPeriod" startAt="3"/>
            </a:pPr>
            <a:endParaRPr lang="en-IN" sz="2400" dirty="0">
              <a:highlight>
                <a:srgbClr val="FFFF00"/>
              </a:highlight>
              <a:latin typeface="Calibre"/>
            </a:endParaRPr>
          </a:p>
          <a:p>
            <a:pPr marL="1200150" lvl="2" indent="-285750">
              <a:buFont typeface="Arial" panose="020B0604020202020204" pitchFamily="34" charset="0"/>
              <a:buChar char="•"/>
            </a:pPr>
            <a:endParaRPr lang="en-US" sz="2400" dirty="0">
              <a:highlight>
                <a:srgbClr val="FFFF00"/>
              </a:highlight>
              <a:latin typeface="Calibre"/>
            </a:endParaRPr>
          </a:p>
          <a:p>
            <a:pPr marL="1200150" lvl="2" indent="-285750">
              <a:buFont typeface="Arial" panose="020B0604020202020204" pitchFamily="34" charset="0"/>
              <a:buChar char="•"/>
            </a:pPr>
            <a:endParaRPr lang="en-US" sz="2400" dirty="0">
              <a:latin typeface="Calibre"/>
            </a:endParaRPr>
          </a:p>
        </p:txBody>
      </p:sp>
    </p:spTree>
    <p:extLst>
      <p:ext uri="{BB962C8B-B14F-4D97-AF65-F5344CB8AC3E}">
        <p14:creationId xmlns:p14="http://schemas.microsoft.com/office/powerpoint/2010/main" val="18969715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250F1-E461-3F22-BA8B-7648D9780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C73FA-0A2E-CB82-9728-F07FBC19E4CF}"/>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Fetch Control </a:t>
            </a:r>
            <a:r>
              <a:rPr lang="en-US" dirty="0"/>
              <a:t>Working (Contd..)</a:t>
            </a:r>
          </a:p>
        </p:txBody>
      </p:sp>
      <p:sp>
        <p:nvSpPr>
          <p:cNvPr id="4" name="TextBox 3">
            <a:extLst>
              <a:ext uri="{FF2B5EF4-FFF2-40B4-BE49-F238E27FC236}">
                <a16:creationId xmlns:a16="http://schemas.microsoft.com/office/drawing/2014/main" id="{042ADB47-2967-7C29-2B49-8B0138B8416F}"/>
              </a:ext>
            </a:extLst>
          </p:cNvPr>
          <p:cNvSpPr txBox="1"/>
          <p:nvPr/>
        </p:nvSpPr>
        <p:spPr>
          <a:xfrm>
            <a:off x="211667" y="1126067"/>
            <a:ext cx="11523133" cy="4893647"/>
          </a:xfrm>
          <a:prstGeom prst="rect">
            <a:avLst/>
          </a:prstGeom>
          <a:noFill/>
        </p:spPr>
        <p:txBody>
          <a:bodyPr wrap="square" rtlCol="0">
            <a:spAutoFit/>
          </a:bodyPr>
          <a:lstStyle/>
          <a:p>
            <a:pPr marL="457200" indent="-457200">
              <a:buFont typeface="+mj-lt"/>
              <a:buAutoNum type="arabicPeriod" startAt="6"/>
            </a:pPr>
            <a:r>
              <a:rPr lang="en-IN" sz="2400" dirty="0">
                <a:latin typeface="Calibre"/>
              </a:rPr>
              <a:t>Fetch Buffer Tracking :</a:t>
            </a:r>
            <a:endParaRPr lang="en-IN" sz="2400" dirty="0">
              <a:highlight>
                <a:srgbClr val="FFFF00"/>
              </a:highlight>
              <a:latin typeface="Calibre"/>
            </a:endParaRPr>
          </a:p>
          <a:p>
            <a:pPr marL="914400" lvl="1" indent="-457200">
              <a:buFont typeface="Arial" panose="020B0604020202020204" pitchFamily="34" charset="0"/>
              <a:buChar char="•"/>
            </a:pPr>
            <a:r>
              <a:rPr lang="en-US" sz="2400" dirty="0">
                <a:latin typeface="Calibre"/>
              </a:rPr>
              <a:t>Instruction fetch and instruction decode may run at different speeds in order to have synchronization, a fetch buffer is used</a:t>
            </a:r>
          </a:p>
          <a:p>
            <a:pPr marL="914400" lvl="1" indent="-457200">
              <a:buFont typeface="Arial" panose="020B0604020202020204" pitchFamily="34" charset="0"/>
              <a:buChar char="•"/>
            </a:pPr>
            <a:r>
              <a:rPr lang="en-US" sz="2400" dirty="0">
                <a:latin typeface="Calibre"/>
              </a:rPr>
              <a:t>Tracks fetch buffer usage. </a:t>
            </a:r>
          </a:p>
          <a:p>
            <a:pPr marL="914400" lvl="1" indent="-457200">
              <a:buFont typeface="Arial" panose="020B0604020202020204" pitchFamily="34" charset="0"/>
              <a:buChar char="•"/>
            </a:pPr>
            <a:r>
              <a:rPr lang="en-US" sz="2400" dirty="0">
                <a:latin typeface="Calibre"/>
              </a:rPr>
              <a:t>Monitors: </a:t>
            </a:r>
          </a:p>
          <a:p>
            <a:pPr marL="1371600" lvl="2" indent="-457200">
              <a:buFont typeface="Arial" panose="020B0604020202020204" pitchFamily="34" charset="0"/>
              <a:buChar char="•"/>
            </a:pPr>
            <a:r>
              <a:rPr lang="en-US" sz="2400" dirty="0">
                <a:latin typeface="Calibre"/>
              </a:rPr>
              <a:t>Buffer writes </a:t>
            </a:r>
          </a:p>
          <a:p>
            <a:pPr marL="1371600" lvl="2" indent="-457200">
              <a:buFont typeface="Arial" panose="020B0604020202020204" pitchFamily="34" charset="0"/>
              <a:buChar char="•"/>
            </a:pPr>
            <a:r>
              <a:rPr lang="en-US" sz="2400" dirty="0">
                <a:latin typeface="Calibre"/>
              </a:rPr>
              <a:t>Buffer full condition </a:t>
            </a:r>
          </a:p>
          <a:p>
            <a:pPr marL="1371600" lvl="2" indent="-457200">
              <a:buFont typeface="Arial" panose="020B0604020202020204" pitchFamily="34" charset="0"/>
              <a:buChar char="•"/>
            </a:pPr>
            <a:r>
              <a:rPr lang="en-US" sz="2400" dirty="0">
                <a:latin typeface="Calibre"/>
              </a:rPr>
              <a:t>Instruction consumption </a:t>
            </a:r>
          </a:p>
          <a:p>
            <a:pPr marL="914400" lvl="1" indent="-457200">
              <a:buFont typeface="Arial" panose="020B0604020202020204" pitchFamily="34" charset="0"/>
              <a:buChar char="•"/>
            </a:pPr>
            <a:r>
              <a:rPr lang="en-US" sz="2400" dirty="0">
                <a:latin typeface="Calibre"/>
              </a:rPr>
              <a:t>Prevents fetch buffer overflow, based write operations,  </a:t>
            </a:r>
            <a:r>
              <a:rPr lang="en-IN" sz="2400" dirty="0">
                <a:highlight>
                  <a:srgbClr val="FFFF00"/>
                </a:highlight>
                <a:latin typeface="Calibre"/>
              </a:rPr>
              <a:t>buffer full signal, and also how many instruction consumed</a:t>
            </a:r>
          </a:p>
          <a:p>
            <a:pPr marL="457200" indent="-457200">
              <a:buFont typeface="+mj-lt"/>
              <a:buAutoNum type="arabicPeriod" startAt="7"/>
            </a:pPr>
            <a:r>
              <a:rPr lang="en-IN" sz="2400" dirty="0">
                <a:latin typeface="Calibre"/>
              </a:rPr>
              <a:t>Fetch FSM / Stall FSM : IDLE , FETCH, WFM (Wait For Miss) </a:t>
            </a:r>
            <a:endParaRPr lang="en-IN" sz="2400" dirty="0">
              <a:highlight>
                <a:srgbClr val="FFFF00"/>
              </a:highlight>
              <a:latin typeface="Calibre"/>
            </a:endParaRPr>
          </a:p>
          <a:p>
            <a:pPr marL="1200150" lvl="2" indent="-285750">
              <a:buFont typeface="Arial" panose="020B0604020202020204" pitchFamily="34" charset="0"/>
              <a:buChar char="•"/>
            </a:pPr>
            <a:endParaRPr lang="en-US" sz="2400" dirty="0">
              <a:highlight>
                <a:srgbClr val="FFFF00"/>
              </a:highlight>
              <a:latin typeface="Calibre"/>
            </a:endParaRPr>
          </a:p>
          <a:p>
            <a:pPr marL="1200150" lvl="2" indent="-285750">
              <a:buFont typeface="Arial" panose="020B0604020202020204" pitchFamily="34" charset="0"/>
              <a:buChar char="•"/>
            </a:pPr>
            <a:endParaRPr lang="en-US" sz="2400" dirty="0">
              <a:latin typeface="Calibre"/>
            </a:endParaRPr>
          </a:p>
        </p:txBody>
      </p:sp>
    </p:spTree>
    <p:extLst>
      <p:ext uri="{BB962C8B-B14F-4D97-AF65-F5344CB8AC3E}">
        <p14:creationId xmlns:p14="http://schemas.microsoft.com/office/powerpoint/2010/main" val="2270597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5C948-D0C2-A253-7E05-79DD25D879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D2245-BB2C-C22F-206E-DA5B7D8244C3}"/>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Fetch Control </a:t>
            </a:r>
            <a:r>
              <a:rPr lang="en-US" dirty="0"/>
              <a:t>Working (Contd..)</a:t>
            </a:r>
          </a:p>
        </p:txBody>
      </p:sp>
      <p:grpSp>
        <p:nvGrpSpPr>
          <p:cNvPr id="3" name="Group 2">
            <a:extLst>
              <a:ext uri="{FF2B5EF4-FFF2-40B4-BE49-F238E27FC236}">
                <a16:creationId xmlns:a16="http://schemas.microsoft.com/office/drawing/2014/main" id="{9139A790-C8A3-9D93-6ED2-E31491FC60B2}"/>
              </a:ext>
            </a:extLst>
          </p:cNvPr>
          <p:cNvGrpSpPr/>
          <p:nvPr/>
        </p:nvGrpSpPr>
        <p:grpSpPr>
          <a:xfrm>
            <a:off x="1655521" y="1512278"/>
            <a:ext cx="9985493" cy="4717672"/>
            <a:chOff x="190627" y="1212934"/>
            <a:chExt cx="8662406" cy="3790737"/>
          </a:xfrm>
        </p:grpSpPr>
        <p:grpSp>
          <p:nvGrpSpPr>
            <p:cNvPr id="5" name="Group 4">
              <a:extLst>
                <a:ext uri="{FF2B5EF4-FFF2-40B4-BE49-F238E27FC236}">
                  <a16:creationId xmlns:a16="http://schemas.microsoft.com/office/drawing/2014/main" id="{E5FE854A-6CCF-705C-0766-F532A3B342B7}"/>
                </a:ext>
              </a:extLst>
            </p:cNvPr>
            <p:cNvGrpSpPr/>
            <p:nvPr/>
          </p:nvGrpSpPr>
          <p:grpSpPr>
            <a:xfrm>
              <a:off x="488868" y="1710448"/>
              <a:ext cx="5607132" cy="3119357"/>
              <a:chOff x="5823101" y="766842"/>
              <a:chExt cx="5607132" cy="3119357"/>
            </a:xfrm>
          </p:grpSpPr>
          <p:sp>
            <p:nvSpPr>
              <p:cNvPr id="19" name="Oval 18">
                <a:extLst>
                  <a:ext uri="{FF2B5EF4-FFF2-40B4-BE49-F238E27FC236}">
                    <a16:creationId xmlns:a16="http://schemas.microsoft.com/office/drawing/2014/main" id="{5782A9D8-7933-38F3-CCBD-76EEE29C769E}"/>
                  </a:ext>
                </a:extLst>
              </p:cNvPr>
              <p:cNvSpPr/>
              <p:nvPr/>
            </p:nvSpPr>
            <p:spPr>
              <a:xfrm>
                <a:off x="5823101" y="2971799"/>
                <a:ext cx="1078992" cy="914400"/>
              </a:xfrm>
              <a:prstGeom prst="ellipse">
                <a:avLst/>
              </a:prstGeom>
              <a:solidFill>
                <a:schemeClr val="accent1">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dirty="0">
                    <a:solidFill>
                      <a:schemeClr val="tx1"/>
                    </a:solidFill>
                    <a:latin typeface="Calibre"/>
                  </a:rPr>
                  <a:t>WFM</a:t>
                </a:r>
              </a:p>
            </p:txBody>
          </p:sp>
          <p:sp>
            <p:nvSpPr>
              <p:cNvPr id="20" name="Oval 19">
                <a:extLst>
                  <a:ext uri="{FF2B5EF4-FFF2-40B4-BE49-F238E27FC236}">
                    <a16:creationId xmlns:a16="http://schemas.microsoft.com/office/drawing/2014/main" id="{D0656759-D016-9051-3562-BA9E679305F3}"/>
                  </a:ext>
                </a:extLst>
              </p:cNvPr>
              <p:cNvSpPr/>
              <p:nvPr/>
            </p:nvSpPr>
            <p:spPr>
              <a:xfrm>
                <a:off x="10351241" y="2971799"/>
                <a:ext cx="1078992" cy="914400"/>
              </a:xfrm>
              <a:prstGeom prst="ellipse">
                <a:avLst/>
              </a:prstGeom>
              <a:solidFill>
                <a:schemeClr val="accent1">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dirty="0">
                    <a:solidFill>
                      <a:schemeClr val="tx1"/>
                    </a:solidFill>
                    <a:latin typeface="Calibre"/>
                  </a:rPr>
                  <a:t>FETCH</a:t>
                </a:r>
              </a:p>
            </p:txBody>
          </p:sp>
          <p:sp>
            <p:nvSpPr>
              <p:cNvPr id="21" name="Oval 20">
                <a:extLst>
                  <a:ext uri="{FF2B5EF4-FFF2-40B4-BE49-F238E27FC236}">
                    <a16:creationId xmlns:a16="http://schemas.microsoft.com/office/drawing/2014/main" id="{7C9117DC-D176-D0A8-82B5-02582992EB42}"/>
                  </a:ext>
                </a:extLst>
              </p:cNvPr>
              <p:cNvSpPr/>
              <p:nvPr/>
            </p:nvSpPr>
            <p:spPr>
              <a:xfrm>
                <a:off x="8071103" y="766842"/>
                <a:ext cx="1078992" cy="914400"/>
              </a:xfrm>
              <a:prstGeom prst="ellipse">
                <a:avLst/>
              </a:prstGeom>
              <a:solidFill>
                <a:schemeClr val="accent1">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dirty="0">
                    <a:solidFill>
                      <a:schemeClr val="tx1"/>
                    </a:solidFill>
                    <a:latin typeface="Calibre"/>
                  </a:rPr>
                  <a:t>IDLE</a:t>
                </a:r>
              </a:p>
            </p:txBody>
          </p:sp>
          <p:cxnSp>
            <p:nvCxnSpPr>
              <p:cNvPr id="22" name="Straight Arrow Connector 21">
                <a:extLst>
                  <a:ext uri="{FF2B5EF4-FFF2-40B4-BE49-F238E27FC236}">
                    <a16:creationId xmlns:a16="http://schemas.microsoft.com/office/drawing/2014/main" id="{9C5E785E-E3BF-B575-1961-A4A260519644}"/>
                  </a:ext>
                </a:extLst>
              </p:cNvPr>
              <p:cNvCxnSpPr>
                <a:cxnSpLocks/>
              </p:cNvCxnSpPr>
              <p:nvPr/>
            </p:nvCxnSpPr>
            <p:spPr>
              <a:xfrm>
                <a:off x="9124627" y="1359252"/>
                <a:ext cx="1613491" cy="165883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B4709919-A2AF-C814-DDA6-F79E05FE27A0}"/>
                  </a:ext>
                </a:extLst>
              </p:cNvPr>
              <p:cNvCxnSpPr>
                <a:cxnSpLocks/>
                <a:stCxn id="20" idx="3"/>
                <a:endCxn id="19" idx="5"/>
              </p:cNvCxnSpPr>
              <p:nvPr/>
            </p:nvCxnSpPr>
            <p:spPr>
              <a:xfrm flipH="1">
                <a:off x="6744078" y="3752288"/>
                <a:ext cx="376517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75273569-D597-1964-4BE2-EE3D0950A0CC}"/>
                  </a:ext>
                </a:extLst>
              </p:cNvPr>
              <p:cNvCxnSpPr>
                <a:stCxn id="19" idx="7"/>
                <a:endCxn id="21" idx="3"/>
              </p:cNvCxnSpPr>
              <p:nvPr/>
            </p:nvCxnSpPr>
            <p:spPr>
              <a:xfrm flipV="1">
                <a:off x="6744078" y="1547331"/>
                <a:ext cx="1485040" cy="155837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cxnSp>
          <p:nvCxnSpPr>
            <p:cNvPr id="6" name="Connector: Curved 5">
              <a:extLst>
                <a:ext uri="{FF2B5EF4-FFF2-40B4-BE49-F238E27FC236}">
                  <a16:creationId xmlns:a16="http://schemas.microsoft.com/office/drawing/2014/main" id="{532F3EFE-17B0-3CA0-891F-C6366FDF23A8}"/>
                </a:ext>
              </a:extLst>
            </p:cNvPr>
            <p:cNvCxnSpPr>
              <a:stCxn id="21" idx="6"/>
              <a:endCxn id="21" idx="0"/>
            </p:cNvCxnSpPr>
            <p:nvPr/>
          </p:nvCxnSpPr>
          <p:spPr>
            <a:xfrm flipH="1" flipV="1">
              <a:off x="3276366" y="1710448"/>
              <a:ext cx="539496" cy="457200"/>
            </a:xfrm>
            <a:prstGeom prst="curvedConnector4">
              <a:avLst>
                <a:gd name="adj1" fmla="val -42373"/>
                <a:gd name="adj2" fmla="val 150000"/>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C163F31C-58AB-B9C3-7701-9039C9832C1D}"/>
                </a:ext>
              </a:extLst>
            </p:cNvPr>
            <p:cNvSpPr txBox="1"/>
            <p:nvPr/>
          </p:nvSpPr>
          <p:spPr>
            <a:xfrm rot="2839172">
              <a:off x="3802717" y="3137609"/>
              <a:ext cx="2476483" cy="307777"/>
            </a:xfrm>
            <a:prstGeom prst="rect">
              <a:avLst/>
            </a:prstGeom>
            <a:noFill/>
          </p:spPr>
          <p:txBody>
            <a:bodyPr wrap="square">
              <a:spAutoFit/>
            </a:bodyPr>
            <a:lstStyle/>
            <a:p>
              <a:r>
                <a:rPr lang="en-IN" sz="1400" b="1" dirty="0" err="1">
                  <a:latin typeface="Calibre"/>
                </a:rPr>
                <a:t>fetch_req</a:t>
              </a:r>
              <a:r>
                <a:rPr lang="en-IN" sz="1400" b="1" dirty="0">
                  <a:latin typeface="Calibre"/>
                </a:rPr>
                <a:t> &amp; ~</a:t>
              </a:r>
              <a:r>
                <a:rPr lang="en-IN" sz="1400" b="1" dirty="0" err="1">
                  <a:latin typeface="Calibre"/>
                </a:rPr>
                <a:t>goto_idle</a:t>
              </a:r>
              <a:endParaRPr lang="en-IN" sz="1400" b="1" dirty="0">
                <a:latin typeface="Calibre"/>
              </a:endParaRPr>
            </a:p>
          </p:txBody>
        </p:sp>
        <p:sp>
          <p:nvSpPr>
            <p:cNvPr id="8" name="TextBox 7">
              <a:extLst>
                <a:ext uri="{FF2B5EF4-FFF2-40B4-BE49-F238E27FC236}">
                  <a16:creationId xmlns:a16="http://schemas.microsoft.com/office/drawing/2014/main" id="{414807C1-914E-0723-4A2E-496FFF9B70A6}"/>
                </a:ext>
              </a:extLst>
            </p:cNvPr>
            <p:cNvSpPr txBox="1"/>
            <p:nvPr/>
          </p:nvSpPr>
          <p:spPr>
            <a:xfrm>
              <a:off x="2412094" y="4695894"/>
              <a:ext cx="1866521" cy="307777"/>
            </a:xfrm>
            <a:prstGeom prst="rect">
              <a:avLst/>
            </a:prstGeom>
            <a:noFill/>
          </p:spPr>
          <p:txBody>
            <a:bodyPr wrap="square">
              <a:spAutoFit/>
            </a:bodyPr>
            <a:lstStyle/>
            <a:p>
              <a:r>
                <a:rPr lang="en-IN" sz="1400" b="1" dirty="0" err="1">
                  <a:latin typeface="Calibre"/>
                </a:rPr>
                <a:t>miss_f</a:t>
              </a:r>
              <a:r>
                <a:rPr lang="en-IN" sz="1400" b="1" dirty="0">
                  <a:latin typeface="Calibre"/>
                </a:rPr>
                <a:t> &amp; ~</a:t>
              </a:r>
              <a:r>
                <a:rPr lang="en-IN" sz="1400" b="1" dirty="0" err="1">
                  <a:latin typeface="Calibre"/>
                </a:rPr>
                <a:t>goto_idle</a:t>
              </a:r>
              <a:endParaRPr lang="en-IN" sz="1400" b="1" dirty="0">
                <a:latin typeface="Calibre"/>
              </a:endParaRPr>
            </a:p>
          </p:txBody>
        </p:sp>
        <p:cxnSp>
          <p:nvCxnSpPr>
            <p:cNvPr id="9" name="Connector: Curved 8">
              <a:extLst>
                <a:ext uri="{FF2B5EF4-FFF2-40B4-BE49-F238E27FC236}">
                  <a16:creationId xmlns:a16="http://schemas.microsoft.com/office/drawing/2014/main" id="{F29D5540-183F-BD38-D392-C282E971E5B3}"/>
                </a:ext>
              </a:extLst>
            </p:cNvPr>
            <p:cNvCxnSpPr>
              <a:stCxn id="20" idx="0"/>
              <a:endCxn id="20" idx="6"/>
            </p:cNvCxnSpPr>
            <p:nvPr/>
          </p:nvCxnSpPr>
          <p:spPr>
            <a:xfrm rot="16200000" flipH="1">
              <a:off x="5597652" y="3874257"/>
              <a:ext cx="457200" cy="539496"/>
            </a:xfrm>
            <a:prstGeom prst="curvedConnector4">
              <a:avLst>
                <a:gd name="adj1" fmla="val -50000"/>
                <a:gd name="adj2" fmla="val 142373"/>
              </a:avLst>
            </a:prstGeom>
            <a:ln>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F1B334A8-0232-C627-5CAD-1793874EFAAB}"/>
                </a:ext>
              </a:extLst>
            </p:cNvPr>
            <p:cNvSpPr txBox="1"/>
            <p:nvPr/>
          </p:nvSpPr>
          <p:spPr>
            <a:xfrm>
              <a:off x="6146207" y="3613664"/>
              <a:ext cx="2706826" cy="307777"/>
            </a:xfrm>
            <a:prstGeom prst="rect">
              <a:avLst/>
            </a:prstGeom>
            <a:noFill/>
          </p:spPr>
          <p:txBody>
            <a:bodyPr wrap="square">
              <a:spAutoFit/>
            </a:bodyPr>
            <a:lstStyle/>
            <a:p>
              <a:r>
                <a:rPr lang="en-IN" sz="1400" b="1" dirty="0" err="1">
                  <a:latin typeface="Calibre"/>
                </a:rPr>
                <a:t>cache_hit</a:t>
              </a:r>
              <a:r>
                <a:rPr lang="en-IN" sz="1400" b="1" dirty="0">
                  <a:latin typeface="Calibre"/>
                </a:rPr>
                <a:t> &amp; ~stall &amp; ~</a:t>
              </a:r>
              <a:r>
                <a:rPr lang="en-IN" sz="1400" b="1" dirty="0" err="1">
                  <a:latin typeface="Calibre"/>
                </a:rPr>
                <a:t>goto_idle</a:t>
              </a:r>
              <a:endParaRPr lang="en-IN" sz="1400" b="1" dirty="0">
                <a:latin typeface="Calibre"/>
              </a:endParaRPr>
            </a:p>
          </p:txBody>
        </p:sp>
        <p:cxnSp>
          <p:nvCxnSpPr>
            <p:cNvPr id="11" name="Connector: Curved 10">
              <a:extLst>
                <a:ext uri="{FF2B5EF4-FFF2-40B4-BE49-F238E27FC236}">
                  <a16:creationId xmlns:a16="http://schemas.microsoft.com/office/drawing/2014/main" id="{2BA5930E-20AF-821A-638C-783F3915C7C8}"/>
                </a:ext>
              </a:extLst>
            </p:cNvPr>
            <p:cNvCxnSpPr>
              <a:stCxn id="19" idx="6"/>
              <a:endCxn id="20" idx="2"/>
            </p:cNvCxnSpPr>
            <p:nvPr/>
          </p:nvCxnSpPr>
          <p:spPr>
            <a:xfrm>
              <a:off x="1567860" y="4372605"/>
              <a:ext cx="3449148" cy="12700"/>
            </a:xfrm>
            <a:prstGeom prst="curvedConnector3">
              <a:avLst>
                <a:gd name="adj1" fmla="val 46176"/>
              </a:avLst>
            </a:prstGeom>
            <a:ln>
              <a:tailEnd type="triangle"/>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941A5158-EC4B-5011-6C37-50040BC25A27}"/>
                </a:ext>
              </a:extLst>
            </p:cNvPr>
            <p:cNvSpPr txBox="1"/>
            <p:nvPr/>
          </p:nvSpPr>
          <p:spPr>
            <a:xfrm>
              <a:off x="2306253" y="4078811"/>
              <a:ext cx="2221733" cy="307777"/>
            </a:xfrm>
            <a:prstGeom prst="rect">
              <a:avLst/>
            </a:prstGeom>
            <a:noFill/>
          </p:spPr>
          <p:txBody>
            <a:bodyPr wrap="square">
              <a:spAutoFit/>
            </a:bodyPr>
            <a:lstStyle/>
            <a:p>
              <a:r>
                <a:rPr lang="en-IN" sz="1400" b="1" dirty="0" err="1">
                  <a:latin typeface="Calibre"/>
                </a:rPr>
                <a:t>miss_done</a:t>
              </a:r>
              <a:r>
                <a:rPr lang="en-IN" sz="1400" b="1" dirty="0">
                  <a:latin typeface="Calibre"/>
                </a:rPr>
                <a:t> &amp; ~</a:t>
              </a:r>
              <a:r>
                <a:rPr lang="en-IN" sz="1400" b="1" dirty="0" err="1">
                  <a:latin typeface="Calibre"/>
                </a:rPr>
                <a:t>goto_idle</a:t>
              </a:r>
              <a:endParaRPr lang="en-IN" sz="1400" b="1" dirty="0">
                <a:latin typeface="Calibre"/>
              </a:endParaRPr>
            </a:p>
          </p:txBody>
        </p:sp>
        <p:cxnSp>
          <p:nvCxnSpPr>
            <p:cNvPr id="13" name="Connector: Curved 12">
              <a:extLst>
                <a:ext uri="{FF2B5EF4-FFF2-40B4-BE49-F238E27FC236}">
                  <a16:creationId xmlns:a16="http://schemas.microsoft.com/office/drawing/2014/main" id="{BC43F21B-54DE-6031-0714-B9BCDDDD0514}"/>
                </a:ext>
              </a:extLst>
            </p:cNvPr>
            <p:cNvCxnSpPr>
              <a:stCxn id="19" idx="2"/>
              <a:endCxn id="19" idx="0"/>
            </p:cNvCxnSpPr>
            <p:nvPr/>
          </p:nvCxnSpPr>
          <p:spPr>
            <a:xfrm rot="10800000" flipH="1">
              <a:off x="488868" y="3915405"/>
              <a:ext cx="539496" cy="457200"/>
            </a:xfrm>
            <a:prstGeom prst="curvedConnector4">
              <a:avLst>
                <a:gd name="adj1" fmla="val -42373"/>
                <a:gd name="adj2" fmla="val 150000"/>
              </a:avLst>
            </a:prstGeom>
            <a:ln>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5B6D590F-5D3D-33D9-1EF4-726B929FBCC7}"/>
                </a:ext>
              </a:extLst>
            </p:cNvPr>
            <p:cNvSpPr txBox="1"/>
            <p:nvPr/>
          </p:nvSpPr>
          <p:spPr>
            <a:xfrm>
              <a:off x="190627" y="3254656"/>
              <a:ext cx="1675473" cy="523220"/>
            </a:xfrm>
            <a:prstGeom prst="rect">
              <a:avLst/>
            </a:prstGeom>
            <a:noFill/>
          </p:spPr>
          <p:txBody>
            <a:bodyPr wrap="square">
              <a:spAutoFit/>
            </a:bodyPr>
            <a:lstStyle/>
            <a:p>
              <a:r>
                <a:rPr lang="en-IN" sz="1400" b="1" dirty="0" err="1">
                  <a:latin typeface="Calibre"/>
                </a:rPr>
                <a:t>miss_pending</a:t>
              </a:r>
              <a:r>
                <a:rPr lang="en-IN" sz="1400" b="1" dirty="0">
                  <a:latin typeface="Calibre"/>
                </a:rPr>
                <a:t> &amp; ~</a:t>
              </a:r>
              <a:r>
                <a:rPr lang="en-IN" sz="1400" b="1" dirty="0" err="1">
                  <a:latin typeface="Calibre"/>
                </a:rPr>
                <a:t>goto_idle</a:t>
              </a:r>
              <a:endParaRPr lang="en-IN" sz="1400" b="1" dirty="0">
                <a:latin typeface="Calibre"/>
              </a:endParaRPr>
            </a:p>
          </p:txBody>
        </p:sp>
        <p:sp>
          <p:nvSpPr>
            <p:cNvPr id="15" name="TextBox 14">
              <a:extLst>
                <a:ext uri="{FF2B5EF4-FFF2-40B4-BE49-F238E27FC236}">
                  <a16:creationId xmlns:a16="http://schemas.microsoft.com/office/drawing/2014/main" id="{F0A32463-36DB-2F1F-EFF9-ACAC39AADEF3}"/>
                </a:ext>
              </a:extLst>
            </p:cNvPr>
            <p:cNvSpPr txBox="1"/>
            <p:nvPr/>
          </p:nvSpPr>
          <p:spPr>
            <a:xfrm rot="18835667">
              <a:off x="1419186" y="2769912"/>
              <a:ext cx="1621070" cy="307777"/>
            </a:xfrm>
            <a:prstGeom prst="rect">
              <a:avLst/>
            </a:prstGeom>
            <a:noFill/>
          </p:spPr>
          <p:txBody>
            <a:bodyPr wrap="square">
              <a:spAutoFit/>
            </a:bodyPr>
            <a:lstStyle/>
            <a:p>
              <a:r>
                <a:rPr lang="en-IN" sz="1400" b="1" dirty="0" err="1">
                  <a:latin typeface="Calibre"/>
                </a:rPr>
                <a:t>goto_idle</a:t>
              </a:r>
              <a:endParaRPr lang="en-IN" sz="1400" b="1" dirty="0">
                <a:latin typeface="Calibre"/>
              </a:endParaRPr>
            </a:p>
          </p:txBody>
        </p:sp>
        <p:sp>
          <p:nvSpPr>
            <p:cNvPr id="16" name="TextBox 15">
              <a:extLst>
                <a:ext uri="{FF2B5EF4-FFF2-40B4-BE49-F238E27FC236}">
                  <a16:creationId xmlns:a16="http://schemas.microsoft.com/office/drawing/2014/main" id="{14E414CA-F97F-60B5-776C-89F6B65916B0}"/>
                </a:ext>
              </a:extLst>
            </p:cNvPr>
            <p:cNvSpPr txBox="1"/>
            <p:nvPr/>
          </p:nvSpPr>
          <p:spPr>
            <a:xfrm>
              <a:off x="3395938" y="1212934"/>
              <a:ext cx="1621070" cy="307777"/>
            </a:xfrm>
            <a:prstGeom prst="rect">
              <a:avLst/>
            </a:prstGeom>
            <a:noFill/>
          </p:spPr>
          <p:txBody>
            <a:bodyPr wrap="square">
              <a:spAutoFit/>
            </a:bodyPr>
            <a:lstStyle/>
            <a:p>
              <a:r>
                <a:rPr lang="en-IN" sz="1400" b="1" dirty="0" err="1">
                  <a:latin typeface="Calibre"/>
                </a:rPr>
                <a:t>goto_idle</a:t>
              </a:r>
              <a:endParaRPr lang="en-IN" sz="1400" b="1" dirty="0">
                <a:latin typeface="Calibre"/>
              </a:endParaRPr>
            </a:p>
          </p:txBody>
        </p:sp>
        <p:cxnSp>
          <p:nvCxnSpPr>
            <p:cNvPr id="17" name="Straight Arrow Connector 16">
              <a:extLst>
                <a:ext uri="{FF2B5EF4-FFF2-40B4-BE49-F238E27FC236}">
                  <a16:creationId xmlns:a16="http://schemas.microsoft.com/office/drawing/2014/main" id="{58EF72B0-9792-B84C-26A3-6537ECD72823}"/>
                </a:ext>
              </a:extLst>
            </p:cNvPr>
            <p:cNvCxnSpPr>
              <a:stCxn id="20" idx="1"/>
              <a:endCxn id="21" idx="5"/>
            </p:cNvCxnSpPr>
            <p:nvPr/>
          </p:nvCxnSpPr>
          <p:spPr>
            <a:xfrm flipH="1" flipV="1">
              <a:off x="3657847" y="2490937"/>
              <a:ext cx="1517176" cy="155837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221CBC9E-B547-0070-C35C-70CC42AE0F22}"/>
                </a:ext>
              </a:extLst>
            </p:cNvPr>
            <p:cNvSpPr txBox="1"/>
            <p:nvPr/>
          </p:nvSpPr>
          <p:spPr>
            <a:xfrm rot="2912132">
              <a:off x="3803059" y="3246534"/>
              <a:ext cx="1033647" cy="307777"/>
            </a:xfrm>
            <a:prstGeom prst="rect">
              <a:avLst/>
            </a:prstGeom>
            <a:noFill/>
          </p:spPr>
          <p:txBody>
            <a:bodyPr wrap="square">
              <a:spAutoFit/>
            </a:bodyPr>
            <a:lstStyle/>
            <a:p>
              <a:r>
                <a:rPr lang="en-IN" sz="1400" b="1" dirty="0" err="1">
                  <a:latin typeface="Calibre"/>
                </a:rPr>
                <a:t>goto_idle</a:t>
              </a:r>
              <a:endParaRPr lang="en-IN" sz="1400" b="1" dirty="0">
                <a:latin typeface="Calibre"/>
              </a:endParaRPr>
            </a:p>
          </p:txBody>
        </p:sp>
      </p:grpSp>
      <p:sp>
        <p:nvSpPr>
          <p:cNvPr id="25" name="TextBox 24">
            <a:extLst>
              <a:ext uri="{FF2B5EF4-FFF2-40B4-BE49-F238E27FC236}">
                <a16:creationId xmlns:a16="http://schemas.microsoft.com/office/drawing/2014/main" id="{93A21CDD-BBC9-FB02-213D-5A097E8F2E3A}"/>
              </a:ext>
            </a:extLst>
          </p:cNvPr>
          <p:cNvSpPr txBox="1"/>
          <p:nvPr/>
        </p:nvSpPr>
        <p:spPr>
          <a:xfrm>
            <a:off x="301772" y="1109016"/>
            <a:ext cx="6565019" cy="830997"/>
          </a:xfrm>
          <a:prstGeom prst="rect">
            <a:avLst/>
          </a:prstGeom>
          <a:noFill/>
        </p:spPr>
        <p:txBody>
          <a:bodyPr wrap="square">
            <a:spAutoFit/>
          </a:bodyPr>
          <a:lstStyle/>
          <a:p>
            <a:pPr marL="457200" indent="-457200">
              <a:buFont typeface="+mj-lt"/>
              <a:buAutoNum type="arabicPeriod" startAt="7"/>
            </a:pPr>
            <a:r>
              <a:rPr lang="en-IN" sz="2400" dirty="0">
                <a:latin typeface="Calibre"/>
              </a:rPr>
              <a:t>Fetch </a:t>
            </a:r>
            <a:r>
              <a:rPr lang="en-IN" sz="2400">
                <a:latin typeface="Calibre"/>
              </a:rPr>
              <a:t>FSM : </a:t>
            </a:r>
            <a:r>
              <a:rPr lang="en-IN" sz="2400" dirty="0">
                <a:latin typeface="Calibre"/>
              </a:rPr>
              <a:t>IDLE , FETCH, WFM (Wait For Miss) (Contd..)</a:t>
            </a:r>
            <a:endParaRPr lang="en-US" sz="2400" dirty="0">
              <a:latin typeface="Calibre"/>
            </a:endParaRPr>
          </a:p>
        </p:txBody>
      </p:sp>
      <p:sp>
        <p:nvSpPr>
          <p:cNvPr id="26" name="TextBox 25">
            <a:extLst>
              <a:ext uri="{FF2B5EF4-FFF2-40B4-BE49-F238E27FC236}">
                <a16:creationId xmlns:a16="http://schemas.microsoft.com/office/drawing/2014/main" id="{3798AF5C-B85C-A4B3-8AE0-DFF309D2E5DC}"/>
              </a:ext>
            </a:extLst>
          </p:cNvPr>
          <p:cNvSpPr txBox="1"/>
          <p:nvPr/>
        </p:nvSpPr>
        <p:spPr>
          <a:xfrm>
            <a:off x="7432870" y="1445978"/>
            <a:ext cx="4019729"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dirty="0">
                <a:latin typeface="Calibre"/>
              </a:rPr>
              <a:t>It controls how the processor:</a:t>
            </a:r>
          </a:p>
          <a:p>
            <a:pPr marL="285750" indent="-285750">
              <a:buFont typeface="Arial" panose="020B0604020202020204" pitchFamily="34" charset="0"/>
              <a:buChar char="•"/>
            </a:pPr>
            <a:r>
              <a:rPr lang="en-US" dirty="0">
                <a:latin typeface="Calibre"/>
              </a:rPr>
              <a:t>fetches instructions </a:t>
            </a:r>
          </a:p>
          <a:p>
            <a:pPr marL="285750" indent="-285750">
              <a:buFont typeface="Arial" panose="020B0604020202020204" pitchFamily="34" charset="0"/>
              <a:buChar char="•"/>
            </a:pPr>
            <a:r>
              <a:rPr lang="en-US" dirty="0">
                <a:latin typeface="Calibre"/>
              </a:rPr>
              <a:t>waits during cache miss/stall</a:t>
            </a:r>
          </a:p>
          <a:p>
            <a:pPr marL="285750" indent="-285750">
              <a:buFont typeface="Arial" panose="020B0604020202020204" pitchFamily="34" charset="0"/>
              <a:buChar char="•"/>
            </a:pPr>
            <a:r>
              <a:rPr lang="en-US" dirty="0">
                <a:latin typeface="Calibre"/>
              </a:rPr>
              <a:t>and resumes fetching again</a:t>
            </a:r>
          </a:p>
          <a:p>
            <a:pPr marL="285750" indent="-285750">
              <a:buFont typeface="Arial" panose="020B0604020202020204" pitchFamily="34" charset="0"/>
              <a:buChar char="•"/>
            </a:pPr>
            <a:endParaRPr lang="en-US" dirty="0">
              <a:latin typeface="Calibre"/>
            </a:endParaRPr>
          </a:p>
          <a:p>
            <a:pPr marL="285750" indent="-285750">
              <a:buFont typeface="Arial" panose="020B0604020202020204" pitchFamily="34" charset="0"/>
              <a:buChar char="•"/>
            </a:pPr>
            <a:r>
              <a:rPr lang="en-US" dirty="0">
                <a:highlight>
                  <a:srgbClr val="FFFF00"/>
                </a:highlight>
                <a:latin typeface="Calibre"/>
              </a:rPr>
              <a:t>How long wait ? </a:t>
            </a:r>
          </a:p>
        </p:txBody>
      </p:sp>
    </p:spTree>
    <p:extLst>
      <p:ext uri="{BB962C8B-B14F-4D97-AF65-F5344CB8AC3E}">
        <p14:creationId xmlns:p14="http://schemas.microsoft.com/office/powerpoint/2010/main" val="2263722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BECBA-E6EA-C682-8CF5-6492BB254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5A02D-1443-0932-76CB-C7019E896673}"/>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Fetch Control </a:t>
            </a:r>
            <a:r>
              <a:rPr lang="en-US" dirty="0"/>
              <a:t>Working (Contd..)</a:t>
            </a:r>
          </a:p>
        </p:txBody>
      </p:sp>
      <p:sp>
        <p:nvSpPr>
          <p:cNvPr id="4" name="TextBox 3">
            <a:extLst>
              <a:ext uri="{FF2B5EF4-FFF2-40B4-BE49-F238E27FC236}">
                <a16:creationId xmlns:a16="http://schemas.microsoft.com/office/drawing/2014/main" id="{A2FD4EAE-58BE-E785-423E-EBC3179EC74B}"/>
              </a:ext>
            </a:extLst>
          </p:cNvPr>
          <p:cNvSpPr txBox="1"/>
          <p:nvPr/>
        </p:nvSpPr>
        <p:spPr>
          <a:xfrm>
            <a:off x="211667" y="1126067"/>
            <a:ext cx="11523133" cy="3416320"/>
          </a:xfrm>
          <a:prstGeom prst="rect">
            <a:avLst/>
          </a:prstGeom>
          <a:noFill/>
        </p:spPr>
        <p:txBody>
          <a:bodyPr wrap="square" lIns="91440" tIns="45720" rIns="91440" bIns="45720" rtlCol="0" anchor="t">
            <a:spAutoFit/>
          </a:bodyPr>
          <a:lstStyle/>
          <a:p>
            <a:pPr marL="457200" indent="-457200">
              <a:buFont typeface="+mj-lt"/>
              <a:buAutoNum type="arabicPeriod" startAt="6"/>
            </a:pPr>
            <a:r>
              <a:rPr lang="en-IN" sz="2400">
                <a:latin typeface="Calibre"/>
              </a:rPr>
              <a:t>DMA / Stall Control :</a:t>
            </a:r>
            <a:endParaRPr lang="en-IN" sz="2400" dirty="0">
              <a:highlight>
                <a:srgbClr val="FFFF00"/>
              </a:highlight>
              <a:latin typeface="Calibre"/>
            </a:endParaRPr>
          </a:p>
          <a:p>
            <a:pPr marL="914400" lvl="1" indent="-457200">
              <a:buFont typeface="Arial" panose="020B0604020202020204" pitchFamily="34" charset="0"/>
              <a:buChar char="•"/>
            </a:pPr>
            <a:r>
              <a:rPr lang="en-US" sz="2400" dirty="0">
                <a:latin typeface="Calibre"/>
              </a:rPr>
              <a:t>Detects DMA and instruction cache stall conditions.</a:t>
            </a:r>
          </a:p>
          <a:p>
            <a:pPr marL="914400" lvl="1" indent="-457200">
              <a:buFont typeface="Arial" panose="020B0604020202020204" pitchFamily="34" charset="0"/>
              <a:buChar char="•"/>
            </a:pPr>
            <a:r>
              <a:rPr lang="en-US" sz="2400" dirty="0">
                <a:latin typeface="Calibre"/>
              </a:rPr>
              <a:t>Temporarily pauses instruction fetching while DMA operations are active.</a:t>
            </a:r>
          </a:p>
          <a:p>
            <a:pPr marL="914400" lvl="1" indent="-457200">
              <a:buFont typeface="Arial" panose="020B0604020202020204" pitchFamily="34" charset="0"/>
              <a:buChar char="•"/>
            </a:pPr>
            <a:r>
              <a:rPr lang="en-US" sz="2400" dirty="0">
                <a:latin typeface="Calibre"/>
              </a:rPr>
              <a:t>Signals fetch pipeline stalls during ICCM DMA accesses.</a:t>
            </a:r>
          </a:p>
          <a:p>
            <a:pPr marL="914400" lvl="1" indent="-457200">
              <a:buFont typeface="Arial" panose="020B0604020202020204" pitchFamily="34" charset="0"/>
              <a:buChar char="•"/>
            </a:pPr>
            <a:r>
              <a:rPr lang="en-US" sz="2400" dirty="0">
                <a:latin typeface="Calibre"/>
              </a:rPr>
              <a:t>Blocks fetch requests while instruction cache write operations are in progress.</a:t>
            </a:r>
          </a:p>
          <a:p>
            <a:pPr marL="914400" lvl="1" indent="-457200">
              <a:buFont typeface="Arial" panose="020B0604020202020204" pitchFamily="34" charset="0"/>
              <a:buChar char="•"/>
            </a:pPr>
            <a:r>
              <a:rPr lang="en-US" sz="2400" dirty="0">
                <a:latin typeface="Calibre"/>
              </a:rPr>
              <a:t>Prevents resource conflicts between the IFU, DMA, and instruction cache.</a:t>
            </a:r>
          </a:p>
          <a:p>
            <a:pPr marL="914400" lvl="1" indent="-457200">
              <a:buFont typeface="Arial" panose="020B0604020202020204" pitchFamily="34" charset="0"/>
              <a:buChar char="•"/>
            </a:pPr>
            <a:r>
              <a:rPr lang="en-US" sz="2400" dirty="0">
                <a:latin typeface="Calibre"/>
              </a:rPr>
              <a:t>Resumes normal instruction fetching when the stall condition is removed.</a:t>
            </a:r>
            <a:endParaRPr lang="en-IN" sz="2400" dirty="0">
              <a:latin typeface="Calibre"/>
            </a:endParaRPr>
          </a:p>
          <a:p>
            <a:pPr marL="914400" lvl="1" indent="-457200">
              <a:buFont typeface="Arial" panose="020B0604020202020204" pitchFamily="34" charset="0"/>
              <a:buChar char="•"/>
            </a:pPr>
            <a:endParaRPr lang="en-US" sz="2400" dirty="0">
              <a:highlight>
                <a:srgbClr val="FFFF00"/>
              </a:highlight>
              <a:latin typeface="Calibre"/>
            </a:endParaRPr>
          </a:p>
          <a:p>
            <a:pPr marL="1200150" lvl="2" indent="-285750">
              <a:buFont typeface="Arial" panose="020B0604020202020204" pitchFamily="34" charset="0"/>
              <a:buChar char="•"/>
            </a:pPr>
            <a:endParaRPr lang="en-US" sz="2400" dirty="0">
              <a:latin typeface="Calibre"/>
            </a:endParaRPr>
          </a:p>
        </p:txBody>
      </p:sp>
      <p:sp>
        <p:nvSpPr>
          <p:cNvPr id="27" name="TextBox 26">
            <a:extLst>
              <a:ext uri="{FF2B5EF4-FFF2-40B4-BE49-F238E27FC236}">
                <a16:creationId xmlns:a16="http://schemas.microsoft.com/office/drawing/2014/main" id="{89E6B1E2-2F30-D115-C39A-0A9B42034292}"/>
              </a:ext>
            </a:extLst>
          </p:cNvPr>
          <p:cNvSpPr txBox="1"/>
          <p:nvPr/>
        </p:nvSpPr>
        <p:spPr>
          <a:xfrm>
            <a:off x="6513147" y="4853354"/>
            <a:ext cx="5092699"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b="1" dirty="0">
                <a:latin typeface="Calibre"/>
              </a:rPr>
              <a:t>Note : </a:t>
            </a:r>
            <a:r>
              <a:rPr lang="en-IN" dirty="0">
                <a:latin typeface="Calibre"/>
              </a:rPr>
              <a:t>IFU can access instructions from -&gt;  </a:t>
            </a:r>
            <a:r>
              <a:rPr lang="en-IN" dirty="0" err="1">
                <a:latin typeface="Calibre"/>
              </a:rPr>
              <a:t>ICache</a:t>
            </a:r>
            <a:r>
              <a:rPr lang="en-IN" dirty="0">
                <a:latin typeface="Calibre"/>
              </a:rPr>
              <a:t> / ICCM / Memory</a:t>
            </a:r>
          </a:p>
        </p:txBody>
      </p:sp>
    </p:spTree>
    <p:extLst>
      <p:ext uri="{BB962C8B-B14F-4D97-AF65-F5344CB8AC3E}">
        <p14:creationId xmlns:p14="http://schemas.microsoft.com/office/powerpoint/2010/main" val="27903592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E7DB1-677A-3F65-0278-1430B6FBA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D7B10-4A35-4BFD-426C-29AA79B4D20D}"/>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dirty="0">
                <a:latin typeface="Calibre"/>
              </a:rPr>
              <a:t>Fetch Control </a:t>
            </a:r>
            <a:r>
              <a:rPr lang="en-US" dirty="0"/>
              <a:t>Working (Contd..)</a:t>
            </a:r>
          </a:p>
        </p:txBody>
      </p:sp>
      <p:sp>
        <p:nvSpPr>
          <p:cNvPr id="5" name="TextBox 4">
            <a:extLst>
              <a:ext uri="{FF2B5EF4-FFF2-40B4-BE49-F238E27FC236}">
                <a16:creationId xmlns:a16="http://schemas.microsoft.com/office/drawing/2014/main" id="{30F54548-F0A8-8C70-7421-BEAF2A8163DE}"/>
              </a:ext>
            </a:extLst>
          </p:cNvPr>
          <p:cNvSpPr txBox="1"/>
          <p:nvPr/>
        </p:nvSpPr>
        <p:spPr>
          <a:xfrm>
            <a:off x="202875" y="862036"/>
            <a:ext cx="11523133" cy="6740307"/>
          </a:xfrm>
          <a:prstGeom prst="rect">
            <a:avLst/>
          </a:prstGeom>
          <a:noFill/>
        </p:spPr>
        <p:txBody>
          <a:bodyPr wrap="square" lIns="91440" tIns="45720" rIns="91440" bIns="45720" rtlCol="0" anchor="t">
            <a:spAutoFit/>
          </a:bodyPr>
          <a:lstStyle/>
          <a:p>
            <a:pPr marL="457200" indent="-457200">
              <a:buFont typeface="+mj-lt"/>
              <a:buAutoNum type="arabicPeriod" startAt="7"/>
            </a:pPr>
            <a:r>
              <a:rPr lang="en-IN" sz="2400">
                <a:latin typeface="Calibre"/>
              </a:rPr>
              <a:t>ICCM Range Checker : </a:t>
            </a:r>
          </a:p>
          <a:p>
            <a:pPr marL="914400" lvl="1" indent="-457200">
              <a:buFont typeface="Arial" panose="020B0604020202020204" pitchFamily="34" charset="0"/>
              <a:buChar char="•"/>
            </a:pPr>
            <a:r>
              <a:rPr lang="en-US" sz="2400" dirty="0">
                <a:latin typeface="Calibre"/>
              </a:rPr>
              <a:t>Checks whether fetch address belongs to ICCM region</a:t>
            </a:r>
          </a:p>
          <a:p>
            <a:pPr marL="457200" indent="-457200">
              <a:buFont typeface="+mj-lt"/>
              <a:buAutoNum type="arabicPeriod" startAt="8"/>
            </a:pPr>
            <a:r>
              <a:rPr lang="en-IN" sz="2400">
                <a:latin typeface="Calibre"/>
              </a:rPr>
              <a:t>Uncacheable Region Check : </a:t>
            </a:r>
            <a:endParaRPr lang="en-US" sz="2400">
              <a:highlight>
                <a:srgbClr val="FFFF00"/>
              </a:highlight>
              <a:latin typeface="Calibre"/>
            </a:endParaRPr>
          </a:p>
          <a:p>
            <a:pPr marL="914400" lvl="1" indent="-457200">
              <a:buFont typeface="Arial" panose="020B0604020202020204" pitchFamily="34" charset="0"/>
              <a:buChar char="•"/>
            </a:pPr>
            <a:r>
              <a:rPr lang="en-US" sz="2400" dirty="0">
                <a:latin typeface="Calibre"/>
              </a:rPr>
              <a:t>Detects uncacheable memory regions </a:t>
            </a:r>
          </a:p>
          <a:p>
            <a:pPr marL="914400" lvl="1" indent="-457200">
              <a:buFont typeface="Arial" panose="020B0604020202020204" pitchFamily="34" charset="0"/>
              <a:buChar char="•"/>
            </a:pPr>
            <a:r>
              <a:rPr lang="en-US" sz="2400" dirty="0">
                <a:latin typeface="Calibre"/>
              </a:rPr>
              <a:t>Such accesses bypass the instruction cache. </a:t>
            </a:r>
          </a:p>
          <a:p>
            <a:pPr marL="914400" lvl="1" indent="-457200">
              <a:buFont typeface="Arial" panose="020B0604020202020204" pitchFamily="34" charset="0"/>
              <a:buChar char="•"/>
            </a:pPr>
            <a:r>
              <a:rPr lang="en-US" sz="2400" dirty="0">
                <a:latin typeface="Calibre"/>
              </a:rPr>
              <a:t>Uncacheable memory is used for: </a:t>
            </a:r>
          </a:p>
          <a:p>
            <a:pPr marL="1371600" lvl="2" indent="-457200">
              <a:buFont typeface="Arial" panose="020B0604020202020204" pitchFamily="34" charset="0"/>
              <a:buChar char="•"/>
            </a:pPr>
            <a:r>
              <a:rPr lang="en-US" sz="2400" dirty="0">
                <a:latin typeface="Calibre"/>
              </a:rPr>
              <a:t>Device memory </a:t>
            </a:r>
          </a:p>
          <a:p>
            <a:pPr marL="1371600" lvl="2" indent="-457200">
              <a:buFont typeface="Arial" panose="020B0604020202020204" pitchFamily="34" charset="0"/>
              <a:buChar char="•"/>
            </a:pPr>
            <a:r>
              <a:rPr lang="en-US" sz="2400" dirty="0">
                <a:latin typeface="Calibre"/>
              </a:rPr>
              <a:t>Peripheral regions </a:t>
            </a:r>
          </a:p>
          <a:p>
            <a:pPr marL="1371600" lvl="2" indent="-457200">
              <a:buFont typeface="Arial" panose="020B0604020202020204" pitchFamily="34" charset="0"/>
              <a:buChar char="•"/>
            </a:pPr>
            <a:r>
              <a:rPr lang="en-US" sz="2400" dirty="0">
                <a:latin typeface="Calibre"/>
              </a:rPr>
              <a:t>Special hardware blocks</a:t>
            </a:r>
          </a:p>
          <a:p>
            <a:pPr marL="457200" indent="-457200">
              <a:buFont typeface="+mj-lt"/>
              <a:buAutoNum type="arabicPeriod" startAt="9"/>
            </a:pPr>
            <a:r>
              <a:rPr lang="en-IN" sz="2400" dirty="0">
                <a:latin typeface="Calibre"/>
              </a:rPr>
              <a:t>PMU Fetch Stall Monitor : </a:t>
            </a:r>
            <a:endParaRPr lang="en-IN" sz="2400" dirty="0">
              <a:highlight>
                <a:srgbClr val="FFFF00"/>
              </a:highlight>
              <a:latin typeface="Calibre"/>
            </a:endParaRPr>
          </a:p>
          <a:p>
            <a:pPr marL="914400" lvl="1" indent="-457200">
              <a:buFont typeface="Arial" panose="020B0604020202020204" pitchFamily="34" charset="0"/>
              <a:buChar char="•"/>
            </a:pPr>
            <a:r>
              <a:rPr lang="en-US" sz="2400" dirty="0">
                <a:latin typeface="Calibre"/>
              </a:rPr>
              <a:t>Monitors fetch stall conditions. Indicates stalls caused by: cache misses, full buffers, DMA stalls </a:t>
            </a:r>
          </a:p>
          <a:p>
            <a:pPr marL="742950" lvl="1" indent="-285750">
              <a:buFont typeface="Arial" panose="020B0604020202020204" pitchFamily="34" charset="0"/>
              <a:buChar char="•"/>
            </a:pPr>
            <a:r>
              <a:rPr lang="en-US" sz="2400" dirty="0">
                <a:latin typeface="Calibre"/>
              </a:rPr>
              <a:t>Sends performance information to PMU</a:t>
            </a:r>
            <a:endParaRPr lang="en-IN" sz="2400" dirty="0">
              <a:latin typeface="Calibre"/>
            </a:endParaRPr>
          </a:p>
          <a:p>
            <a:pPr marL="457200" indent="-457200">
              <a:buFont typeface="Arial" panose="020B0604020202020204" pitchFamily="34" charset="0"/>
              <a:buChar char="•"/>
            </a:pPr>
            <a:endParaRPr lang="en-US" sz="2400" dirty="0">
              <a:latin typeface="Calibre"/>
            </a:endParaRPr>
          </a:p>
          <a:p>
            <a:pPr marL="914400" lvl="1" indent="-457200">
              <a:buFont typeface="+mj-lt"/>
              <a:buAutoNum type="arabicPeriod" startAt="8"/>
            </a:pPr>
            <a:endParaRPr lang="en-US" sz="2400" dirty="0">
              <a:latin typeface="Calibre"/>
            </a:endParaRPr>
          </a:p>
          <a:p>
            <a:pPr marL="457200" indent="-457200">
              <a:buFont typeface="Arial" panose="020B0604020202020204" pitchFamily="34" charset="0"/>
              <a:buChar char="•"/>
            </a:pPr>
            <a:endParaRPr lang="en-IN" sz="2400" dirty="0">
              <a:latin typeface="Calibre"/>
            </a:endParaRPr>
          </a:p>
          <a:p>
            <a:pPr marL="914400" lvl="1" indent="-457200">
              <a:buFont typeface="Arial" panose="020B0604020202020204" pitchFamily="34" charset="0"/>
              <a:buChar char="•"/>
            </a:pPr>
            <a:endParaRPr lang="en-US" sz="2400" dirty="0">
              <a:highlight>
                <a:srgbClr val="FFFF00"/>
              </a:highlight>
              <a:latin typeface="Calibre"/>
            </a:endParaRPr>
          </a:p>
          <a:p>
            <a:pPr marL="1200150" lvl="2" indent="-285750">
              <a:buFont typeface="Arial" panose="020B0604020202020204" pitchFamily="34" charset="0"/>
              <a:buChar char="•"/>
            </a:pPr>
            <a:endParaRPr lang="en-US" sz="2400" dirty="0">
              <a:latin typeface="Calibre"/>
            </a:endParaRPr>
          </a:p>
        </p:txBody>
      </p:sp>
    </p:spTree>
    <p:extLst>
      <p:ext uri="{BB962C8B-B14F-4D97-AF65-F5344CB8AC3E}">
        <p14:creationId xmlns:p14="http://schemas.microsoft.com/office/powerpoint/2010/main" val="3871252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BA26F-0FA9-F87A-D535-D14C39B89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9E013-D260-2E58-31CA-F49B8904A106}"/>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SoC Address Decode &amp; Arbitration</a:t>
            </a:r>
          </a:p>
        </p:txBody>
      </p:sp>
      <p:sp>
        <p:nvSpPr>
          <p:cNvPr id="4" name="TextBox 3">
            <a:extLst>
              <a:ext uri="{FF2B5EF4-FFF2-40B4-BE49-F238E27FC236}">
                <a16:creationId xmlns:a16="http://schemas.microsoft.com/office/drawing/2014/main" id="{6BA124BA-D51A-5643-8FC1-6E16E350B2EB}"/>
              </a:ext>
            </a:extLst>
          </p:cNvPr>
          <p:cNvSpPr txBox="1"/>
          <p:nvPr/>
        </p:nvSpPr>
        <p:spPr>
          <a:xfrm>
            <a:off x="239233" y="726558"/>
            <a:ext cx="11297092"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85800" indent="-228600" algn="just" rtl="0">
              <a:buFont typeface="Arial"/>
              <a:buChar char="•"/>
            </a:pPr>
            <a:r>
              <a:rPr lang="en-US" sz="2400" kern="1200">
                <a:latin typeface="Aptos"/>
                <a:ea typeface="Calibri"/>
                <a:cs typeface="Calibri"/>
              </a:rPr>
              <a:t>The SoC Interface Address Decode &amp; Arbitration is the central arbitration and address decoding block used in the SoC </a:t>
            </a:r>
            <a:r>
              <a:rPr lang="en-US" sz="2400" kern="1200">
                <a:latin typeface="Aptos"/>
                <a:ea typeface="+mn-ea"/>
                <a:cs typeface="+mn-cs"/>
              </a:rPr>
              <a:t>Interface</a:t>
            </a:r>
            <a:r>
              <a:rPr lang="en-US" sz="2400" kern="1200">
                <a:latin typeface="Aptos"/>
                <a:ea typeface="Calibri"/>
                <a:cs typeface="Calibri"/>
              </a:rPr>
              <a:t> subsystem. </a:t>
            </a:r>
          </a:p>
          <a:p>
            <a:pPr marL="685800" indent="-228600" algn="just" rtl="0">
              <a:buFont typeface="Arial"/>
              <a:buChar char="•"/>
            </a:pPr>
            <a:r>
              <a:rPr lang="en-US" sz="2400" kern="1200">
                <a:latin typeface="Aptos"/>
                <a:ea typeface="Calibri"/>
                <a:cs typeface="Calibri"/>
              </a:rPr>
              <a:t>The module receives requests from two masters, namely the UC (Microcontroller) and the external SoC, and routes these requests to different internal peripherals such as the Mailbox, SHA Engine, DMA Register block, and SOC IFC Register block.</a:t>
            </a:r>
          </a:p>
          <a:p>
            <a:pPr marL="685800" indent="-228600" algn="just" rtl="0">
              <a:buFont typeface="Arial"/>
              <a:buChar char="•"/>
            </a:pPr>
            <a:r>
              <a:rPr lang="en-US" sz="2400" kern="1200">
                <a:latin typeface="Aptos"/>
                <a:ea typeface="Calibri"/>
                <a:cs typeface="Calibri"/>
              </a:rPr>
              <a:t>The arbiter performs address decoding by checking the incoming request address against predefined address ranges. Based on the decoded address, the request is directed to the corresponding destination block. </a:t>
            </a:r>
          </a:p>
          <a:p>
            <a:pPr marL="685800" indent="-228600" algn="just" rtl="0">
              <a:buFont typeface="Arial"/>
              <a:buChar char="•"/>
            </a:pPr>
            <a:r>
              <a:rPr lang="en-US" sz="2400" kern="1200">
                <a:latin typeface="Aptos"/>
                <a:ea typeface="Calibri"/>
                <a:cs typeface="Calibri"/>
              </a:rPr>
              <a:t>The module also validates access permissions for protected resources such as the Mailbox, SHA engine, and Fuse registers using user validation signals.</a:t>
            </a:r>
          </a:p>
          <a:p>
            <a:pPr algn="ctr"/>
            <a:endParaRPr lang="en-US" sz="2400"/>
          </a:p>
        </p:txBody>
      </p:sp>
    </p:spTree>
    <p:extLst>
      <p:ext uri="{BB962C8B-B14F-4D97-AF65-F5344CB8AC3E}">
        <p14:creationId xmlns:p14="http://schemas.microsoft.com/office/powerpoint/2010/main" val="2572613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AF484-CF7F-23AF-800D-42FD281C3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0AB29-8049-DC3F-1145-8D585B49AAE2}"/>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Block Diagram of SoC Address Decode &amp; Arbitration</a:t>
            </a:r>
          </a:p>
        </p:txBody>
      </p:sp>
      <p:pic>
        <p:nvPicPr>
          <p:cNvPr id="3" name="Picture 2" descr="A diagram of a computer system&#10;&#10;AI-generated content may be incorrect.">
            <a:extLst>
              <a:ext uri="{FF2B5EF4-FFF2-40B4-BE49-F238E27FC236}">
                <a16:creationId xmlns:a16="http://schemas.microsoft.com/office/drawing/2014/main" id="{42DE23EE-ACFA-126B-62E9-930E954344D8}"/>
              </a:ext>
            </a:extLst>
          </p:cNvPr>
          <p:cNvPicPr>
            <a:picLocks noChangeAspect="1"/>
          </p:cNvPicPr>
          <p:nvPr/>
        </p:nvPicPr>
        <p:blipFill>
          <a:blip r:embed="rId2"/>
          <a:stretch>
            <a:fillRect/>
          </a:stretch>
        </p:blipFill>
        <p:spPr>
          <a:xfrm>
            <a:off x="1204913" y="1400175"/>
            <a:ext cx="9982200" cy="4038600"/>
          </a:xfrm>
          <a:prstGeom prst="rect">
            <a:avLst/>
          </a:prstGeom>
        </p:spPr>
      </p:pic>
      <p:sp>
        <p:nvSpPr>
          <p:cNvPr id="5" name="TextBox 4">
            <a:extLst>
              <a:ext uri="{FF2B5EF4-FFF2-40B4-BE49-F238E27FC236}">
                <a16:creationId xmlns:a16="http://schemas.microsoft.com/office/drawing/2014/main" id="{E2F778B2-0274-D6C6-2B9E-5B232AA13C8C}"/>
              </a:ext>
            </a:extLst>
          </p:cNvPr>
          <p:cNvSpPr txBox="1"/>
          <p:nvPr/>
        </p:nvSpPr>
        <p:spPr>
          <a:xfrm>
            <a:off x="3048000" y="5286375"/>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IN" sz="1800" kern="1200">
                <a:solidFill>
                  <a:schemeClr val="tx1"/>
                </a:solidFill>
                <a:latin typeface="Aptos"/>
                <a:ea typeface="+mn-ea"/>
                <a:cs typeface="+mn-cs"/>
              </a:rPr>
              <a:t>Fig 1.Block Diagram of </a:t>
            </a:r>
            <a:r>
              <a:rPr lang="en-US" sz="1800" kern="1200">
                <a:solidFill>
                  <a:schemeClr val="tx1"/>
                </a:solidFill>
                <a:latin typeface="Calibri"/>
                <a:ea typeface="Calibri"/>
                <a:cs typeface="Calibri"/>
              </a:rPr>
              <a:t>Address Decode &amp; Arbitration</a:t>
            </a:r>
          </a:p>
          <a:p>
            <a:pPr algn="ctr"/>
            <a:endParaRPr lang="en-US"/>
          </a:p>
        </p:txBody>
      </p:sp>
    </p:spTree>
    <p:extLst>
      <p:ext uri="{BB962C8B-B14F-4D97-AF65-F5344CB8AC3E}">
        <p14:creationId xmlns:p14="http://schemas.microsoft.com/office/powerpoint/2010/main" val="38239641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BA5E4-5275-DFD1-BF36-218AAE550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FF8F0-CB07-7C21-AED5-807FEF627942}"/>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Pin Diagram of SoC Address Decode &amp; Arbitration</a:t>
            </a:r>
          </a:p>
        </p:txBody>
      </p:sp>
      <p:sp>
        <p:nvSpPr>
          <p:cNvPr id="5" name="TextBox 4">
            <a:extLst>
              <a:ext uri="{FF2B5EF4-FFF2-40B4-BE49-F238E27FC236}">
                <a16:creationId xmlns:a16="http://schemas.microsoft.com/office/drawing/2014/main" id="{DA645C07-7712-5838-1170-5BCAF9D86260}"/>
              </a:ext>
            </a:extLst>
          </p:cNvPr>
          <p:cNvSpPr txBox="1"/>
          <p:nvPr/>
        </p:nvSpPr>
        <p:spPr>
          <a:xfrm>
            <a:off x="3180522" y="6070462"/>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IN" sz="1800" kern="1200">
                <a:latin typeface="Aptos"/>
                <a:ea typeface="+mn-ea"/>
                <a:cs typeface="+mn-cs"/>
              </a:rPr>
              <a:t>Fig </a:t>
            </a:r>
            <a:r>
              <a:rPr lang="en-IN">
                <a:latin typeface="Aptos"/>
              </a:rPr>
              <a:t>2</a:t>
            </a:r>
            <a:r>
              <a:rPr lang="en-IN" sz="1800" kern="1200">
                <a:latin typeface="Aptos"/>
                <a:ea typeface="+mn-ea"/>
                <a:cs typeface="+mn-cs"/>
              </a:rPr>
              <a:t>.</a:t>
            </a:r>
            <a:r>
              <a:rPr lang="en-IN">
                <a:latin typeface="Aptos"/>
              </a:rPr>
              <a:t>Pin</a:t>
            </a:r>
            <a:r>
              <a:rPr lang="en-IN" sz="1800" kern="1200">
                <a:latin typeface="Aptos"/>
                <a:ea typeface="+mn-ea"/>
                <a:cs typeface="+mn-cs"/>
              </a:rPr>
              <a:t> Diagram of </a:t>
            </a:r>
            <a:r>
              <a:rPr lang="en-US" sz="1800" kern="1200">
                <a:latin typeface="Calibri"/>
                <a:ea typeface="Calibri"/>
                <a:cs typeface="Calibri"/>
              </a:rPr>
              <a:t>Address Decode &amp; Arbitration</a:t>
            </a:r>
          </a:p>
          <a:p>
            <a:pPr algn="ctr"/>
            <a:endParaRPr lang="en-US"/>
          </a:p>
        </p:txBody>
      </p:sp>
      <p:pic>
        <p:nvPicPr>
          <p:cNvPr id="4" name="Picture 3" descr="A blue rectangular object with text&#10;&#10;AI-generated content may be incorrect.">
            <a:extLst>
              <a:ext uri="{FF2B5EF4-FFF2-40B4-BE49-F238E27FC236}">
                <a16:creationId xmlns:a16="http://schemas.microsoft.com/office/drawing/2014/main" id="{54055A60-B69C-5FB8-D599-4BB45F0FEA3F}"/>
              </a:ext>
            </a:extLst>
          </p:cNvPr>
          <p:cNvPicPr>
            <a:picLocks noChangeAspect="1"/>
          </p:cNvPicPr>
          <p:nvPr/>
        </p:nvPicPr>
        <p:blipFill>
          <a:blip r:embed="rId2"/>
          <a:stretch>
            <a:fillRect/>
          </a:stretch>
        </p:blipFill>
        <p:spPr>
          <a:xfrm>
            <a:off x="2130573" y="877266"/>
            <a:ext cx="8361551" cy="4876386"/>
          </a:xfrm>
          <a:prstGeom prst="rect">
            <a:avLst/>
          </a:prstGeom>
        </p:spPr>
      </p:pic>
    </p:spTree>
    <p:extLst>
      <p:ext uri="{BB962C8B-B14F-4D97-AF65-F5344CB8AC3E}">
        <p14:creationId xmlns:p14="http://schemas.microsoft.com/office/powerpoint/2010/main" val="8463619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D9794-B923-31F0-7A36-3F675D8AA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CCF6B-2540-B938-458B-A91B3DA7280E}"/>
              </a:ext>
            </a:extLst>
          </p:cNvPr>
          <p:cNvSpPr>
            <a:spLocks noGrp="1"/>
          </p:cNvSpPr>
          <p:nvPr>
            <p:ph type="title"/>
          </p:nvPr>
        </p:nvSpPr>
        <p:spPr>
          <a:xfrm>
            <a:off x="0" y="0"/>
            <a:ext cx="12192000" cy="521877"/>
          </a:xfrm>
          <a:solidFill>
            <a:schemeClr val="accent6">
              <a:lumMod val="60000"/>
              <a:lumOff val="40000"/>
            </a:schemeClr>
          </a:solidFill>
        </p:spPr>
        <p:txBody>
          <a:bodyPr vert="horz" lIns="91440" tIns="45720" rIns="91440" bIns="45720" rtlCol="0" anchor="ctr">
            <a:noAutofit/>
          </a:bodyPr>
          <a:lstStyle/>
          <a:p>
            <a:pPr algn="ctr"/>
            <a:r>
              <a:rPr lang="en-GB" sz="4000">
                <a:latin typeface="Aptos Display"/>
                <a:ea typeface="Calibri"/>
                <a:cs typeface="Calibri"/>
              </a:rPr>
              <a:t>Address Decode &amp; Arbitration Input Signal Description</a:t>
            </a:r>
            <a:endParaRPr lang="en-US" sz="4000">
              <a:latin typeface="Aptos Display"/>
              <a:ea typeface="Calibri"/>
              <a:cs typeface="Calibri"/>
            </a:endParaRPr>
          </a:p>
        </p:txBody>
      </p:sp>
      <p:sp>
        <p:nvSpPr>
          <p:cNvPr id="5" name="TextBox 4">
            <a:extLst>
              <a:ext uri="{FF2B5EF4-FFF2-40B4-BE49-F238E27FC236}">
                <a16:creationId xmlns:a16="http://schemas.microsoft.com/office/drawing/2014/main" id="{3ACA4B9B-B375-A705-67F2-607F8B5E46BE}"/>
              </a:ext>
            </a:extLst>
          </p:cNvPr>
          <p:cNvSpPr txBox="1"/>
          <p:nvPr/>
        </p:nvSpPr>
        <p:spPr>
          <a:xfrm>
            <a:off x="904047" y="698362"/>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a:t>Table 1.Inputs of Address Decode &amp; Arbitration</a:t>
            </a:r>
          </a:p>
        </p:txBody>
      </p:sp>
      <p:graphicFrame>
        <p:nvGraphicFramePr>
          <p:cNvPr id="3" name="Table 2">
            <a:extLst>
              <a:ext uri="{FF2B5EF4-FFF2-40B4-BE49-F238E27FC236}">
                <a16:creationId xmlns:a16="http://schemas.microsoft.com/office/drawing/2014/main" id="{B11DDFB1-EA9B-4514-749F-FD0258A5E0DC}"/>
              </a:ext>
            </a:extLst>
          </p:cNvPr>
          <p:cNvGraphicFramePr>
            <a:graphicFrameLocks noGrp="1"/>
          </p:cNvGraphicFramePr>
          <p:nvPr/>
        </p:nvGraphicFramePr>
        <p:xfrm>
          <a:off x="1261533" y="1457422"/>
          <a:ext cx="8788400" cy="445008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209960730"/>
                    </a:ext>
                  </a:extLst>
                </a:gridCol>
                <a:gridCol w="1464734">
                  <a:extLst>
                    <a:ext uri="{9D8B030D-6E8A-4147-A177-3AD203B41FA5}">
                      <a16:colId xmlns:a16="http://schemas.microsoft.com/office/drawing/2014/main" val="719270197"/>
                    </a:ext>
                  </a:extLst>
                </a:gridCol>
                <a:gridCol w="2041471">
                  <a:extLst>
                    <a:ext uri="{9D8B030D-6E8A-4147-A177-3AD203B41FA5}">
                      <a16:colId xmlns:a16="http://schemas.microsoft.com/office/drawing/2014/main" val="3662510579"/>
                    </a:ext>
                  </a:extLst>
                </a:gridCol>
                <a:gridCol w="3085095">
                  <a:extLst>
                    <a:ext uri="{9D8B030D-6E8A-4147-A177-3AD203B41FA5}">
                      <a16:colId xmlns:a16="http://schemas.microsoft.com/office/drawing/2014/main" val="1405130566"/>
                    </a:ext>
                  </a:extLst>
                </a:gridCol>
              </a:tblGrid>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 Name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2836992518"/>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clk</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System clock</a:t>
                      </a:r>
                    </a:p>
                  </a:txBody>
                  <a:tcPr anchor="ctr"/>
                </a:tc>
                <a:extLst>
                  <a:ext uri="{0D108BD9-81ED-4DB2-BD59-A6C34878D82A}">
                    <a16:rowId xmlns:a16="http://schemas.microsoft.com/office/drawing/2014/main" val="4084963003"/>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rst_b</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Active low reset</a:t>
                      </a:r>
                    </a:p>
                  </a:txBody>
                  <a:tcPr anchor="ctr"/>
                </a:tc>
                <a:extLst>
                  <a:ext uri="{0D108BD9-81ED-4DB2-BD59-A6C34878D82A}">
                    <a16:rowId xmlns:a16="http://schemas.microsoft.com/office/drawing/2014/main" val="1793834519"/>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uc_req_dv</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UC request valid signal</a:t>
                      </a:r>
                    </a:p>
                  </a:txBody>
                  <a:tcPr anchor="ctr"/>
                </a:tc>
                <a:extLst>
                  <a:ext uri="{0D108BD9-81ED-4DB2-BD59-A6C34878D82A}">
                    <a16:rowId xmlns:a16="http://schemas.microsoft.com/office/drawing/2014/main" val="279992889"/>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soc_req_dv</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 request valid signal</a:t>
                      </a:r>
                    </a:p>
                  </a:txBody>
                  <a:tcPr anchor="ctr"/>
                </a:tc>
                <a:extLst>
                  <a:ext uri="{0D108BD9-81ED-4DB2-BD59-A6C34878D82A}">
                    <a16:rowId xmlns:a16="http://schemas.microsoft.com/office/drawing/2014/main" val="2303509867"/>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valid_fuse_user</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Valid fuse access user</a:t>
                      </a:r>
                    </a:p>
                  </a:txBody>
                  <a:tcPr anchor="ctr"/>
                </a:tc>
                <a:extLst>
                  <a:ext uri="{0D108BD9-81ED-4DB2-BD59-A6C34878D82A}">
                    <a16:rowId xmlns:a16="http://schemas.microsoft.com/office/drawing/2014/main" val="4055630500"/>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valid_sha_user</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Valid SHA access user</a:t>
                      </a:r>
                    </a:p>
                  </a:txBody>
                  <a:tcPr anchor="ctr"/>
                </a:tc>
                <a:extLst>
                  <a:ext uri="{0D108BD9-81ED-4DB2-BD59-A6C34878D82A}">
                    <a16:rowId xmlns:a16="http://schemas.microsoft.com/office/drawing/2014/main" val="4018520252"/>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mbox_req_hold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hold signal</a:t>
                      </a:r>
                    </a:p>
                  </a:txBody>
                  <a:tcPr anchor="ctr"/>
                </a:tc>
                <a:extLst>
                  <a:ext uri="{0D108BD9-81ED-4DB2-BD59-A6C34878D82A}">
                    <a16:rowId xmlns:a16="http://schemas.microsoft.com/office/drawing/2014/main" val="3155794374"/>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mbox_error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error signal</a:t>
                      </a:r>
                    </a:p>
                  </a:txBody>
                  <a:tcPr anchor="ctr"/>
                </a:tc>
                <a:extLst>
                  <a:ext uri="{0D108BD9-81ED-4DB2-BD59-A6C34878D82A}">
                    <a16:rowId xmlns:a16="http://schemas.microsoft.com/office/drawing/2014/main" val="883899207"/>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sha_req_hold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 hold signal</a:t>
                      </a:r>
                    </a:p>
                  </a:txBody>
                  <a:tcPr anchor="ctr"/>
                </a:tc>
                <a:extLst>
                  <a:ext uri="{0D108BD9-81ED-4DB2-BD59-A6C34878D82A}">
                    <a16:rowId xmlns:a16="http://schemas.microsoft.com/office/drawing/2014/main" val="3535520434"/>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sha_error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 error signal</a:t>
                      </a:r>
                    </a:p>
                  </a:txBody>
                  <a:tcPr anchor="ctr"/>
                </a:tc>
                <a:extLst>
                  <a:ext uri="{0D108BD9-81ED-4DB2-BD59-A6C34878D82A}">
                    <a16:rowId xmlns:a16="http://schemas.microsoft.com/office/drawing/2014/main" val="366793963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dma_reg_req_hold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hold signal</a:t>
                      </a:r>
                    </a:p>
                  </a:txBody>
                  <a:tcPr anchor="ctr"/>
                </a:tc>
                <a:extLst>
                  <a:ext uri="{0D108BD9-81ED-4DB2-BD59-A6C34878D82A}">
                    <a16:rowId xmlns:a16="http://schemas.microsoft.com/office/drawing/2014/main" val="1569406365"/>
                  </a:ext>
                </a:extLst>
              </a:tr>
            </a:tbl>
          </a:graphicData>
        </a:graphic>
      </p:graphicFrame>
    </p:spTree>
    <p:extLst>
      <p:ext uri="{BB962C8B-B14F-4D97-AF65-F5344CB8AC3E}">
        <p14:creationId xmlns:p14="http://schemas.microsoft.com/office/powerpoint/2010/main" val="3077509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BC89E-93DC-305C-C73D-6499D071D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D11E5-CF13-F48B-116E-537798D6E65F}"/>
              </a:ext>
            </a:extLst>
          </p:cNvPr>
          <p:cNvSpPr>
            <a:spLocks noGrp="1"/>
          </p:cNvSpPr>
          <p:nvPr>
            <p:ph type="title"/>
          </p:nvPr>
        </p:nvSpPr>
        <p:spPr>
          <a:xfrm>
            <a:off x="0" y="0"/>
            <a:ext cx="12192000" cy="521877"/>
          </a:xfrm>
          <a:solidFill>
            <a:schemeClr val="accent6">
              <a:lumMod val="60000"/>
              <a:lumOff val="40000"/>
            </a:schemeClr>
          </a:solidFill>
        </p:spPr>
        <p:txBody>
          <a:bodyPr vert="horz" lIns="91440" tIns="45720" rIns="91440" bIns="45720" rtlCol="0" anchor="ctr">
            <a:noAutofit/>
          </a:bodyPr>
          <a:lstStyle/>
          <a:p>
            <a:pPr algn="ctr"/>
            <a:r>
              <a:rPr lang="en-GB" sz="4000">
                <a:latin typeface="Aptos Display"/>
                <a:ea typeface="Calibri"/>
                <a:cs typeface="Calibri"/>
              </a:rPr>
              <a:t>Address Decode &amp; Arbitration Input Signal Description</a:t>
            </a:r>
            <a:endParaRPr lang="en-US" sz="4000">
              <a:latin typeface="Aptos Display"/>
              <a:ea typeface="Calibri"/>
              <a:cs typeface="Calibri"/>
            </a:endParaRPr>
          </a:p>
        </p:txBody>
      </p:sp>
      <p:sp>
        <p:nvSpPr>
          <p:cNvPr id="5" name="TextBox 4">
            <a:extLst>
              <a:ext uri="{FF2B5EF4-FFF2-40B4-BE49-F238E27FC236}">
                <a16:creationId xmlns:a16="http://schemas.microsoft.com/office/drawing/2014/main" id="{AF89FADE-F369-B12D-7538-A191164A34E9}"/>
              </a:ext>
            </a:extLst>
          </p:cNvPr>
          <p:cNvSpPr txBox="1"/>
          <p:nvPr/>
        </p:nvSpPr>
        <p:spPr>
          <a:xfrm>
            <a:off x="904047" y="698362"/>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a:t>Table 2.Inputs of Address Decode &amp; Arbitration</a:t>
            </a:r>
          </a:p>
        </p:txBody>
      </p:sp>
      <p:graphicFrame>
        <p:nvGraphicFramePr>
          <p:cNvPr id="3" name="Table 2">
            <a:extLst>
              <a:ext uri="{FF2B5EF4-FFF2-40B4-BE49-F238E27FC236}">
                <a16:creationId xmlns:a16="http://schemas.microsoft.com/office/drawing/2014/main" id="{E209AEBF-5DE9-E0C4-3CF2-2E4808F70951}"/>
              </a:ext>
            </a:extLst>
          </p:cNvPr>
          <p:cNvGraphicFramePr>
            <a:graphicFrameLocks noGrp="1"/>
          </p:cNvGraphicFramePr>
          <p:nvPr/>
        </p:nvGraphicFramePr>
        <p:xfrm>
          <a:off x="1261533" y="1457422"/>
          <a:ext cx="8788400" cy="445008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209960730"/>
                    </a:ext>
                  </a:extLst>
                </a:gridCol>
                <a:gridCol w="1464734">
                  <a:extLst>
                    <a:ext uri="{9D8B030D-6E8A-4147-A177-3AD203B41FA5}">
                      <a16:colId xmlns:a16="http://schemas.microsoft.com/office/drawing/2014/main" val="719270197"/>
                    </a:ext>
                  </a:extLst>
                </a:gridCol>
                <a:gridCol w="2041471">
                  <a:extLst>
                    <a:ext uri="{9D8B030D-6E8A-4147-A177-3AD203B41FA5}">
                      <a16:colId xmlns:a16="http://schemas.microsoft.com/office/drawing/2014/main" val="3662510579"/>
                    </a:ext>
                  </a:extLst>
                </a:gridCol>
                <a:gridCol w="3085095">
                  <a:extLst>
                    <a:ext uri="{9D8B030D-6E8A-4147-A177-3AD203B41FA5}">
                      <a16:colId xmlns:a16="http://schemas.microsoft.com/office/drawing/2014/main" val="1405130566"/>
                    </a:ext>
                  </a:extLst>
                </a:gridCol>
              </a:tblGrid>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 Name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2836992518"/>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dma_reg_error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error signal</a:t>
                      </a:r>
                    </a:p>
                  </a:txBody>
                  <a:tcPr anchor="ctr"/>
                </a:tc>
                <a:extLst>
                  <a:ext uri="{0D108BD9-81ED-4DB2-BD59-A6C34878D82A}">
                    <a16:rowId xmlns:a16="http://schemas.microsoft.com/office/drawing/2014/main" val="4084963003"/>
                  </a:ext>
                </a:extLst>
              </a:tr>
              <a:tr h="370840">
                <a:tc>
                  <a:txBody>
                    <a:bodyPr/>
                    <a:lstStyle/>
                    <a:p>
                      <a:pPr algn="ctr">
                        <a:buNone/>
                      </a:pPr>
                      <a:r>
                        <a:rPr lang="en-US">
                          <a:latin typeface="Calibri" panose="020F0502020204030204" pitchFamily="34" charset="0"/>
                          <a:ea typeface="Calibri" panose="020F0502020204030204" pitchFamily="34" charset="0"/>
                          <a:cs typeface="Calibri" panose="020F0502020204030204" pitchFamily="34" charset="0"/>
                        </a:rPr>
                        <a:t>soc_ifc_reg_req_hold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Register block hold signal</a:t>
                      </a:r>
                    </a:p>
                  </a:txBody>
                  <a:tcPr anchor="ctr"/>
                </a:tc>
                <a:extLst>
                  <a:ext uri="{0D108BD9-81ED-4DB2-BD59-A6C34878D82A}">
                    <a16:rowId xmlns:a16="http://schemas.microsoft.com/office/drawing/2014/main" val="179383451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soc_ifc_reg_error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Register block error signal</a:t>
                      </a:r>
                    </a:p>
                  </a:txBody>
                  <a:tcPr anchor="ctr"/>
                </a:tc>
                <a:extLst>
                  <a:ext uri="{0D108BD9-81ED-4DB2-BD59-A6C34878D82A}">
                    <a16:rowId xmlns:a16="http://schemas.microsoft.com/office/drawing/2014/main" val="27999288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mbox_rdata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read data</a:t>
                      </a:r>
                    </a:p>
                  </a:txBody>
                  <a:tcPr anchor="ctr"/>
                </a:tc>
                <a:extLst>
                  <a:ext uri="{0D108BD9-81ED-4DB2-BD59-A6C34878D82A}">
                    <a16:rowId xmlns:a16="http://schemas.microsoft.com/office/drawing/2014/main" val="2303509867"/>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mbox_dir_rdata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direct read data</a:t>
                      </a:r>
                    </a:p>
                  </a:txBody>
                  <a:tcPr anchor="ctr"/>
                </a:tc>
                <a:extLst>
                  <a:ext uri="{0D108BD9-81ED-4DB2-BD59-A6C34878D82A}">
                    <a16:rowId xmlns:a16="http://schemas.microsoft.com/office/drawing/2014/main" val="4055630500"/>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sha_rdata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 read data</a:t>
                      </a:r>
                    </a:p>
                  </a:txBody>
                  <a:tcPr anchor="ctr"/>
                </a:tc>
                <a:extLst>
                  <a:ext uri="{0D108BD9-81ED-4DB2-BD59-A6C34878D82A}">
                    <a16:rowId xmlns:a16="http://schemas.microsoft.com/office/drawing/2014/main" val="4018520252"/>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dma_reg_rdata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read data</a:t>
                      </a:r>
                    </a:p>
                  </a:txBody>
                  <a:tcPr anchor="ctr"/>
                </a:tc>
                <a:extLst>
                  <a:ext uri="{0D108BD9-81ED-4DB2-BD59-A6C34878D82A}">
                    <a16:rowId xmlns:a16="http://schemas.microsoft.com/office/drawing/2014/main" val="3155794374"/>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soc_ifc_reg_rdata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Register block read data</a:t>
                      </a:r>
                    </a:p>
                  </a:txBody>
                  <a:tcPr anchor="ctr"/>
                </a:tc>
                <a:extLst>
                  <a:ext uri="{0D108BD9-81ED-4DB2-BD59-A6C34878D82A}">
                    <a16:rowId xmlns:a16="http://schemas.microsoft.com/office/drawing/2014/main" val="883899207"/>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uc_req_data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Struct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UC request packet</a:t>
                      </a:r>
                    </a:p>
                  </a:txBody>
                  <a:tcPr anchor="ctr"/>
                </a:tc>
                <a:extLst>
                  <a:ext uri="{0D108BD9-81ED-4DB2-BD59-A6C34878D82A}">
                    <a16:rowId xmlns:a16="http://schemas.microsoft.com/office/drawing/2014/main" val="3535520434"/>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soc_req_data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Struct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 request packet</a:t>
                      </a:r>
                    </a:p>
                  </a:txBody>
                  <a:tcPr anchor="ctr"/>
                </a:tc>
                <a:extLst>
                  <a:ext uri="{0D108BD9-81ED-4DB2-BD59-A6C34878D82A}">
                    <a16:rowId xmlns:a16="http://schemas.microsoft.com/office/drawing/2014/main" val="366793963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valid_mbox_users</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Array</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Valid mailbox users array</a:t>
                      </a:r>
                    </a:p>
                  </a:txBody>
                  <a:tcPr anchor="ctr"/>
                </a:tc>
                <a:extLst>
                  <a:ext uri="{0D108BD9-81ED-4DB2-BD59-A6C34878D82A}">
                    <a16:rowId xmlns:a16="http://schemas.microsoft.com/office/drawing/2014/main" val="1569406365"/>
                  </a:ext>
                </a:extLst>
              </a:tr>
            </a:tbl>
          </a:graphicData>
        </a:graphic>
      </p:graphicFrame>
    </p:spTree>
    <p:extLst>
      <p:ext uri="{BB962C8B-B14F-4D97-AF65-F5344CB8AC3E}">
        <p14:creationId xmlns:p14="http://schemas.microsoft.com/office/powerpoint/2010/main" val="15547956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C3699-89EE-9A00-C3BE-374A79DD9F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392FDB-93C8-7D3E-2F72-569D5A63E115}"/>
              </a:ext>
            </a:extLst>
          </p:cNvPr>
          <p:cNvSpPr>
            <a:spLocks noGrp="1"/>
          </p:cNvSpPr>
          <p:nvPr>
            <p:ph type="title"/>
          </p:nvPr>
        </p:nvSpPr>
        <p:spPr>
          <a:xfrm>
            <a:off x="0" y="0"/>
            <a:ext cx="12192000" cy="521877"/>
          </a:xfrm>
          <a:solidFill>
            <a:schemeClr val="accent6">
              <a:lumMod val="60000"/>
              <a:lumOff val="40000"/>
            </a:schemeClr>
          </a:solidFill>
        </p:spPr>
        <p:txBody>
          <a:bodyPr vert="horz" lIns="91440" tIns="45720" rIns="91440" bIns="45720" rtlCol="0" anchor="ctr">
            <a:noAutofit/>
          </a:bodyPr>
          <a:lstStyle/>
          <a:p>
            <a:pPr algn="ctr"/>
            <a:r>
              <a:rPr lang="en-GB" sz="4000">
                <a:latin typeface="Aptos Display"/>
                <a:ea typeface="Calibri"/>
                <a:cs typeface="Calibri"/>
              </a:rPr>
              <a:t>Address Decode &amp; Arbitration Output Signal Description</a:t>
            </a:r>
            <a:endParaRPr lang="en-US" sz="4000">
              <a:latin typeface="Aptos Display"/>
              <a:ea typeface="Calibri"/>
              <a:cs typeface="Calibri"/>
            </a:endParaRPr>
          </a:p>
        </p:txBody>
      </p:sp>
      <p:sp>
        <p:nvSpPr>
          <p:cNvPr id="5" name="TextBox 4">
            <a:extLst>
              <a:ext uri="{FF2B5EF4-FFF2-40B4-BE49-F238E27FC236}">
                <a16:creationId xmlns:a16="http://schemas.microsoft.com/office/drawing/2014/main" id="{FFD1DF57-6CB3-FE03-5632-4867993BAB35}"/>
              </a:ext>
            </a:extLst>
          </p:cNvPr>
          <p:cNvSpPr txBox="1"/>
          <p:nvPr/>
        </p:nvSpPr>
        <p:spPr>
          <a:xfrm>
            <a:off x="904047" y="698362"/>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a:t>Table 3.Outputs of Address Decode &amp; Arbitration</a:t>
            </a:r>
          </a:p>
        </p:txBody>
      </p:sp>
      <p:graphicFrame>
        <p:nvGraphicFramePr>
          <p:cNvPr id="3" name="Table 2">
            <a:extLst>
              <a:ext uri="{FF2B5EF4-FFF2-40B4-BE49-F238E27FC236}">
                <a16:creationId xmlns:a16="http://schemas.microsoft.com/office/drawing/2014/main" id="{5B15B86C-394F-A680-1986-D1BB431D20B9}"/>
              </a:ext>
            </a:extLst>
          </p:cNvPr>
          <p:cNvGraphicFramePr>
            <a:graphicFrameLocks noGrp="1"/>
          </p:cNvGraphicFramePr>
          <p:nvPr/>
        </p:nvGraphicFramePr>
        <p:xfrm>
          <a:off x="1016000" y="1067694"/>
          <a:ext cx="8788400" cy="556260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209960730"/>
                    </a:ext>
                  </a:extLst>
                </a:gridCol>
                <a:gridCol w="1464734">
                  <a:extLst>
                    <a:ext uri="{9D8B030D-6E8A-4147-A177-3AD203B41FA5}">
                      <a16:colId xmlns:a16="http://schemas.microsoft.com/office/drawing/2014/main" val="719270197"/>
                    </a:ext>
                  </a:extLst>
                </a:gridCol>
                <a:gridCol w="2041471">
                  <a:extLst>
                    <a:ext uri="{9D8B030D-6E8A-4147-A177-3AD203B41FA5}">
                      <a16:colId xmlns:a16="http://schemas.microsoft.com/office/drawing/2014/main" val="3662510579"/>
                    </a:ext>
                  </a:extLst>
                </a:gridCol>
                <a:gridCol w="3085095">
                  <a:extLst>
                    <a:ext uri="{9D8B030D-6E8A-4147-A177-3AD203B41FA5}">
                      <a16:colId xmlns:a16="http://schemas.microsoft.com/office/drawing/2014/main" val="1405130566"/>
                    </a:ext>
                  </a:extLst>
                </a:gridCol>
              </a:tblGrid>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 Name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2836992518"/>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uc_req_hold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Hold UC request</a:t>
                      </a:r>
                    </a:p>
                  </a:txBody>
                  <a:tcPr anchor="ctr"/>
                </a:tc>
                <a:extLst>
                  <a:ext uri="{0D108BD9-81ED-4DB2-BD59-A6C34878D82A}">
                    <a16:rowId xmlns:a16="http://schemas.microsoft.com/office/drawing/2014/main" val="4084963003"/>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uc_error</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UC transaction error</a:t>
                      </a:r>
                    </a:p>
                  </a:txBody>
                  <a:tcPr anchor="ctr"/>
                </a:tc>
                <a:extLst>
                  <a:ext uri="{0D108BD9-81ED-4DB2-BD59-A6C34878D82A}">
                    <a16:rowId xmlns:a16="http://schemas.microsoft.com/office/drawing/2014/main" val="179383451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soc_req_hold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Hold SoC request</a:t>
                      </a:r>
                    </a:p>
                  </a:txBody>
                  <a:tcPr anchor="ctr"/>
                </a:tc>
                <a:extLst>
                  <a:ext uri="{0D108BD9-81ED-4DB2-BD59-A6C34878D82A}">
                    <a16:rowId xmlns:a16="http://schemas.microsoft.com/office/drawing/2014/main" val="27999288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soc_error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 transaction error</a:t>
                      </a:r>
                    </a:p>
                  </a:txBody>
                  <a:tcPr anchor="ctr"/>
                </a:tc>
                <a:extLst>
                  <a:ext uri="{0D108BD9-81ED-4DB2-BD59-A6C34878D82A}">
                    <a16:rowId xmlns:a16="http://schemas.microsoft.com/office/drawing/2014/main" val="2303509867"/>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mbox_req_dv</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request valid</a:t>
                      </a:r>
                    </a:p>
                  </a:txBody>
                  <a:tcPr anchor="ctr"/>
                </a:tc>
                <a:extLst>
                  <a:ext uri="{0D108BD9-81ED-4DB2-BD59-A6C34878D82A}">
                    <a16:rowId xmlns:a16="http://schemas.microsoft.com/office/drawing/2014/main" val="4055630500"/>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mbox_dir_req_dv</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direct request</a:t>
                      </a:r>
                    </a:p>
                  </a:txBody>
                  <a:tcPr anchor="ctr"/>
                </a:tc>
                <a:extLst>
                  <a:ext uri="{0D108BD9-81ED-4DB2-BD59-A6C34878D82A}">
                    <a16:rowId xmlns:a16="http://schemas.microsoft.com/office/drawing/2014/main" val="4018520252"/>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sha_req_dv</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 request valid</a:t>
                      </a:r>
                    </a:p>
                  </a:txBody>
                  <a:tcPr anchor="ctr"/>
                </a:tc>
                <a:extLst>
                  <a:ext uri="{0D108BD9-81ED-4DB2-BD59-A6C34878D82A}">
                    <a16:rowId xmlns:a16="http://schemas.microsoft.com/office/drawing/2014/main" val="3155794374"/>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dma_reg_req_dv</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request valid</a:t>
                      </a:r>
                    </a:p>
                  </a:txBody>
                  <a:tcPr anchor="ctr"/>
                </a:tc>
                <a:extLst>
                  <a:ext uri="{0D108BD9-81ED-4DB2-BD59-A6C34878D82A}">
                    <a16:rowId xmlns:a16="http://schemas.microsoft.com/office/drawing/2014/main" val="883899207"/>
                  </a:ext>
                </a:extLst>
              </a:tr>
              <a:tr h="370840">
                <a:tc>
                  <a:txBody>
                    <a:bodyPr/>
                    <a:lstStyle/>
                    <a:p>
                      <a:pPr algn="ctr">
                        <a:buNone/>
                      </a:pPr>
                      <a:r>
                        <a:rPr lang="nn-NO">
                          <a:latin typeface="Calibri" panose="020F0502020204030204" pitchFamily="34" charset="0"/>
                          <a:ea typeface="Calibri" panose="020F0502020204030204" pitchFamily="34" charset="0"/>
                          <a:cs typeface="Calibri" panose="020F0502020204030204" pitchFamily="34" charset="0"/>
                        </a:rPr>
                        <a:t>soc_ifc_reg_req_dv</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Register request valid</a:t>
                      </a:r>
                    </a:p>
                  </a:txBody>
                  <a:tcPr anchor="ctr"/>
                </a:tc>
                <a:extLst>
                  <a:ext uri="{0D108BD9-81ED-4DB2-BD59-A6C34878D82A}">
                    <a16:rowId xmlns:a16="http://schemas.microsoft.com/office/drawing/2014/main" val="3535520434"/>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uc_rdata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UC read response data</a:t>
                      </a:r>
                    </a:p>
                  </a:txBody>
                  <a:tcPr anchor="ctr"/>
                </a:tc>
                <a:extLst>
                  <a:ext uri="{0D108BD9-81ED-4DB2-BD59-A6C34878D82A}">
                    <a16:rowId xmlns:a16="http://schemas.microsoft.com/office/drawing/2014/main" val="3667939639"/>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 read response data</a:t>
                      </a:r>
                    </a:p>
                  </a:txBody>
                  <a:tcPr anchor="ctr"/>
                </a:tc>
                <a:extLst>
                  <a:ext uri="{0D108BD9-81ED-4DB2-BD59-A6C34878D82A}">
                    <a16:rowId xmlns:a16="http://schemas.microsoft.com/office/drawing/2014/main" val="1762425578"/>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mbox_req_data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Struct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request packet</a:t>
                      </a:r>
                    </a:p>
                  </a:txBody>
                  <a:tcPr anchor="ctr"/>
                </a:tc>
                <a:extLst>
                  <a:ext uri="{0D108BD9-81ED-4DB2-BD59-A6C34878D82A}">
                    <a16:rowId xmlns:a16="http://schemas.microsoft.com/office/drawing/2014/main" val="982150347"/>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sha_req_data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Struct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SHA request packet</a:t>
                      </a:r>
                    </a:p>
                  </a:txBody>
                  <a:tcPr anchor="ctr"/>
                </a:tc>
                <a:extLst>
                  <a:ext uri="{0D108BD9-81ED-4DB2-BD59-A6C34878D82A}">
                    <a16:rowId xmlns:a16="http://schemas.microsoft.com/office/drawing/2014/main" val="3657804920"/>
                  </a:ext>
                </a:extLst>
              </a:tr>
              <a:tr h="370840">
                <a:tc>
                  <a:txBody>
                    <a:bodyPr/>
                    <a:lstStyle/>
                    <a:p>
                      <a:pPr algn="ctr">
                        <a:buNone/>
                      </a:pPr>
                      <a:r>
                        <a:rPr lang="en-IN" err="1">
                          <a:latin typeface="Calibri" panose="020F0502020204030204" pitchFamily="34" charset="0"/>
                          <a:ea typeface="Calibri" panose="020F0502020204030204" pitchFamily="34" charset="0"/>
                          <a:cs typeface="Calibri" panose="020F0502020204030204" pitchFamily="34" charset="0"/>
                        </a:rPr>
                        <a:t>dma_reg_req_data</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Struct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request packet</a:t>
                      </a:r>
                    </a:p>
                  </a:txBody>
                  <a:tcPr anchor="ctr"/>
                </a:tc>
                <a:extLst>
                  <a:ext uri="{0D108BD9-81ED-4DB2-BD59-A6C34878D82A}">
                    <a16:rowId xmlns:a16="http://schemas.microsoft.com/office/drawing/2014/main" val="1569406365"/>
                  </a:ext>
                </a:extLst>
              </a:tr>
            </a:tbl>
          </a:graphicData>
        </a:graphic>
      </p:graphicFrame>
    </p:spTree>
    <p:extLst>
      <p:ext uri="{BB962C8B-B14F-4D97-AF65-F5344CB8AC3E}">
        <p14:creationId xmlns:p14="http://schemas.microsoft.com/office/powerpoint/2010/main" val="24403031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B21EF-35C7-393A-1C60-073B7BB52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1A99A3-C25A-4D0E-187B-7446B8D106B5}"/>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Working of SoC Address Decode &amp; Arbitration</a:t>
            </a:r>
          </a:p>
        </p:txBody>
      </p:sp>
      <p:sp>
        <p:nvSpPr>
          <p:cNvPr id="4" name="TextBox 3">
            <a:extLst>
              <a:ext uri="{FF2B5EF4-FFF2-40B4-BE49-F238E27FC236}">
                <a16:creationId xmlns:a16="http://schemas.microsoft.com/office/drawing/2014/main" id="{9CDED918-CA43-0A59-D57C-32868A61A6DF}"/>
              </a:ext>
            </a:extLst>
          </p:cNvPr>
          <p:cNvSpPr txBox="1"/>
          <p:nvPr/>
        </p:nvSpPr>
        <p:spPr>
          <a:xfrm>
            <a:off x="222300" y="887425"/>
            <a:ext cx="1129709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panose="020B0604020202020204" pitchFamily="34" charset="0"/>
              <a:buChar char="•"/>
            </a:pPr>
            <a:r>
              <a:rPr lang="en-US" sz="2400">
                <a:latin typeface="Calibri" panose="020F0502020204030204" pitchFamily="34" charset="0"/>
                <a:ea typeface="Calibri" panose="020F0502020204030204" pitchFamily="34" charset="0"/>
                <a:cs typeface="Calibri" panose="020F0502020204030204" pitchFamily="34" charset="0"/>
              </a:rPr>
              <a:t>The working of the Address decoder and Arbitration  begins when either the SoC or the internal microcontroller (uC) sends a request through the request interface.</a:t>
            </a:r>
          </a:p>
          <a:p>
            <a:pPr marL="342900" indent="-342900" algn="just">
              <a:buFont typeface="Arial" panose="020B0604020202020204" pitchFamily="34" charset="0"/>
              <a:buChar char="•"/>
            </a:pPr>
            <a:r>
              <a:rPr lang="en-US" sz="2400">
                <a:latin typeface="Calibri" panose="020F0502020204030204" pitchFamily="34" charset="0"/>
                <a:ea typeface="Calibri" panose="020F0502020204030204" pitchFamily="34" charset="0"/>
                <a:cs typeface="Calibri" panose="020F0502020204030204" pitchFamily="34" charset="0"/>
              </a:rPr>
              <a:t> Each request contains important information such as address, write/read control, user information, and write data. These details are stored in the soc ifc req t request structure.</a:t>
            </a:r>
          </a:p>
          <a:p>
            <a:pPr marL="342900" indent="-342900" algn="just">
              <a:buFont typeface="Arial" panose="020B0604020202020204" pitchFamily="34" charset="0"/>
              <a:buChar char="•"/>
            </a:pPr>
            <a:r>
              <a:rPr lang="en-US" sz="2400">
                <a:latin typeface="Calibri" panose="020F0502020204030204" pitchFamily="34" charset="0"/>
                <a:ea typeface="Calibri" panose="020F0502020204030204" pitchFamily="34" charset="0"/>
                <a:cs typeface="Calibri" panose="020F0502020204030204" pitchFamily="34" charset="0"/>
              </a:rPr>
              <a:t> The first stage of operation is the Address Decode Logic. This logic checks the incoming request address and determines which internal peripheral should handle the request.</a:t>
            </a:r>
            <a:endParaRPr lang="en-IN" sz="24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043846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BE72B-B9A3-6B94-CC77-01C8E58CD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7C4F9-A801-87DE-7AA7-CFAD7FA5E8F4}"/>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Working of SoC Address Decode &amp; Arbitration(Contd..)</a:t>
            </a:r>
          </a:p>
        </p:txBody>
      </p:sp>
      <p:sp>
        <p:nvSpPr>
          <p:cNvPr id="4" name="TextBox 3">
            <a:extLst>
              <a:ext uri="{FF2B5EF4-FFF2-40B4-BE49-F238E27FC236}">
                <a16:creationId xmlns:a16="http://schemas.microsoft.com/office/drawing/2014/main" id="{2927895A-6336-A232-8574-4C553971A5FD}"/>
              </a:ext>
            </a:extLst>
          </p:cNvPr>
          <p:cNvSpPr txBox="1"/>
          <p:nvPr/>
        </p:nvSpPr>
        <p:spPr>
          <a:xfrm>
            <a:off x="222299" y="887425"/>
            <a:ext cx="1164796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panose="020B0604020202020204" pitchFamily="34" charset="0"/>
              <a:buChar char="•"/>
            </a:pPr>
            <a:r>
              <a:rPr lang="en-US" sz="2400">
                <a:latin typeface="Calibri" panose="020F0502020204030204" pitchFamily="34" charset="0"/>
                <a:ea typeface="Calibri" panose="020F0502020204030204" pitchFamily="34" charset="0"/>
                <a:cs typeface="Calibri" panose="020F0502020204030204" pitchFamily="34" charset="0"/>
              </a:rPr>
              <a:t>The working of the Address decoder and Arbitration  begins when either the SoC or the internal microcontroller (uC) sends a request through the request interface.</a:t>
            </a:r>
          </a:p>
          <a:p>
            <a:pPr marL="342900" indent="-342900" algn="just">
              <a:buFont typeface="Arial" panose="020B0604020202020204" pitchFamily="34" charset="0"/>
              <a:buChar char="•"/>
            </a:pPr>
            <a:r>
              <a:rPr lang="en-US" sz="2400">
                <a:latin typeface="Calibri" panose="020F0502020204030204" pitchFamily="34" charset="0"/>
                <a:ea typeface="Calibri" panose="020F0502020204030204" pitchFamily="34" charset="0"/>
                <a:cs typeface="Calibri" panose="020F0502020204030204" pitchFamily="34" charset="0"/>
              </a:rPr>
              <a:t> Each request contains important information such as address, write/read control, user information, and write data. These details are stored in the soc ifc req t request structure.</a:t>
            </a:r>
          </a:p>
          <a:p>
            <a:pPr marL="342900" indent="-342900" algn="just">
              <a:buFont typeface="Arial" panose="020B0604020202020204" pitchFamily="34" charset="0"/>
              <a:buChar char="•"/>
            </a:pPr>
            <a:r>
              <a:rPr lang="en-US" sz="2400">
                <a:latin typeface="Calibri" panose="020F0502020204030204" pitchFamily="34" charset="0"/>
                <a:ea typeface="Calibri" panose="020F0502020204030204" pitchFamily="34" charset="0"/>
                <a:cs typeface="Calibri" panose="020F0502020204030204" pitchFamily="34" charset="0"/>
              </a:rPr>
              <a:t> The first stage of operation is the Address Decode Logic. This logic checks the incoming request address and determines which internal peripheral should handle the request.</a:t>
            </a:r>
            <a:endParaRPr lang="en-IN" sz="24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33865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02C9E-13A8-169E-1E74-6A292C0E4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5EE8D-FD52-4921-D9A9-98C6690CDAF6}"/>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a:ea typeface="Calibri" panose="020F0502020204030204" pitchFamily="34" charset="0"/>
                <a:cs typeface="Calibri" panose="020F0502020204030204" pitchFamily="34" charset="0"/>
              </a:rPr>
              <a:t>DMA Assist Engine</a:t>
            </a:r>
            <a:endParaRPr lang="en-GB"/>
          </a:p>
        </p:txBody>
      </p:sp>
      <p:sp>
        <p:nvSpPr>
          <p:cNvPr id="4" name="TextBox 3">
            <a:extLst>
              <a:ext uri="{FF2B5EF4-FFF2-40B4-BE49-F238E27FC236}">
                <a16:creationId xmlns:a16="http://schemas.microsoft.com/office/drawing/2014/main" id="{90EE6766-3491-CEA7-EF5B-CD0ECC645E2A}"/>
              </a:ext>
            </a:extLst>
          </p:cNvPr>
          <p:cNvSpPr txBox="1"/>
          <p:nvPr/>
        </p:nvSpPr>
        <p:spPr>
          <a:xfrm>
            <a:off x="222300" y="887425"/>
            <a:ext cx="11297092"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742950" lvl="1" indent="-285750" algn="just">
              <a:buFont typeface="Arial" panose="020B0604020202020204" pitchFamily="34" charset="0"/>
              <a:buChar char="•"/>
            </a:pPr>
            <a:r>
              <a:rPr lang="en-US" sz="2400">
                <a:ea typeface="Calibri" panose="020F0502020204030204" pitchFamily="34" charset="0"/>
                <a:cs typeface="Calibri" panose="020F0502020204030204" pitchFamily="34" charset="0"/>
              </a:rPr>
              <a:t>DMA Assist Engine</a:t>
            </a:r>
            <a:r>
              <a:rPr lang="en-IN" sz="2400">
                <a:ea typeface="Calibri" panose="020F0502020204030204" pitchFamily="34" charset="0"/>
                <a:cs typeface="Calibri" panose="020F0502020204030204" pitchFamily="34" charset="0"/>
              </a:rPr>
              <a:t> performs automatic AXI-based data transfers between mailbox SRAM, SoC memory, AES engine, Key Vault, and recovery image buffers.</a:t>
            </a:r>
          </a:p>
          <a:p>
            <a:pPr marL="742950" lvl="1" indent="-285750" algn="just">
              <a:buFont typeface="Arial" panose="020B0604020202020204" pitchFamily="34" charset="0"/>
              <a:buChar char="•"/>
            </a:pPr>
            <a:r>
              <a:rPr lang="en-IN" sz="2400">
                <a:ea typeface="Calibri" panose="020F0502020204030204" pitchFamily="34" charset="0"/>
                <a:cs typeface="Calibri" panose="020F0502020204030204" pitchFamily="34" charset="0"/>
              </a:rPr>
              <a:t>It supports secure DMA transfers, AES encryption/decryption, mailbox data movement, and AXI burst read/write operations. </a:t>
            </a:r>
          </a:p>
          <a:p>
            <a:pPr marL="742950" lvl="1" indent="-285750" algn="just">
              <a:buFont typeface="Arial" panose="020B0604020202020204" pitchFamily="34" charset="0"/>
              <a:buChar char="•"/>
            </a:pPr>
            <a:r>
              <a:rPr lang="en-IN" sz="2400">
                <a:ea typeface="Calibri" panose="020F0502020204030204" pitchFamily="34" charset="0"/>
                <a:cs typeface="Calibri" panose="020F0502020204030204" pitchFamily="34" charset="0"/>
              </a:rPr>
              <a:t> The DMA engine also supports recovery image handling, interrupt generation, and error management. Over all, the AXI DMA engine improves secure high-speed data movement while reducing CPU involvement.</a:t>
            </a:r>
          </a:p>
          <a:p>
            <a:pPr marL="742950" lvl="1" indent="-285750" algn="just">
              <a:buFont typeface="Arial" panose="020B0604020202020204" pitchFamily="34" charset="0"/>
              <a:buChar char="•"/>
            </a:pPr>
            <a:r>
              <a:rPr lang="en-IN" sz="2400">
                <a:ea typeface="Calibri" panose="020F0502020204030204" pitchFamily="34" charset="0"/>
                <a:cs typeface="Calibri" panose="020F0502020204030204" pitchFamily="34" charset="0"/>
              </a:rPr>
              <a:t>In earlier versions, the CPU may have handled more data movement directly over AXI. In </a:t>
            </a:r>
            <a:r>
              <a:rPr lang="en-IN" sz="2400" err="1">
                <a:ea typeface="Calibri" panose="020F0502020204030204" pitchFamily="34" charset="0"/>
                <a:cs typeface="Calibri" panose="020F0502020204030204" pitchFamily="34" charset="0"/>
              </a:rPr>
              <a:t>Caliptra</a:t>
            </a:r>
            <a:r>
              <a:rPr lang="en-IN" sz="2400">
                <a:ea typeface="Calibri" panose="020F0502020204030204" pitchFamily="34" charset="0"/>
                <a:cs typeface="Calibri" panose="020F0502020204030204" pitchFamily="34" charset="0"/>
              </a:rPr>
              <a:t> 2.1, a DMA Assist Engine was added because secure data movement became larger and more complex.</a:t>
            </a:r>
            <a:endParaRPr lang="en-US" sz="240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86653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2AE2F-C318-C7DC-0C7E-6A0A39C684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C6E2E-A127-950B-DBD0-B8D7C83B0F3A}"/>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a:ea typeface="Calibri" panose="020F0502020204030204" pitchFamily="34" charset="0"/>
                <a:cs typeface="Calibri" panose="020F0502020204030204" pitchFamily="34" charset="0"/>
              </a:rPr>
              <a:t>Block Diagram of DMA Assist Engine</a:t>
            </a:r>
            <a:endParaRPr lang="en-GB"/>
          </a:p>
        </p:txBody>
      </p:sp>
      <p:sp>
        <p:nvSpPr>
          <p:cNvPr id="3" name="Rectangle: Rounded Corners 2">
            <a:extLst>
              <a:ext uri="{FF2B5EF4-FFF2-40B4-BE49-F238E27FC236}">
                <a16:creationId xmlns:a16="http://schemas.microsoft.com/office/drawing/2014/main" id="{1AD60174-365F-9EDB-5EFF-EAE9050E07A2}"/>
              </a:ext>
            </a:extLst>
          </p:cNvPr>
          <p:cNvSpPr/>
          <p:nvPr/>
        </p:nvSpPr>
        <p:spPr>
          <a:xfrm>
            <a:off x="2590797" y="1227672"/>
            <a:ext cx="5926667" cy="524933"/>
          </a:xfrm>
          <a:prstGeom prst="roundRect">
            <a:avLst/>
          </a:prstGeom>
          <a:solidFill>
            <a:schemeClr val="tx2">
              <a:lumMod val="10000"/>
              <a:lumOff val="9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Calibri" panose="020F0502020204030204" pitchFamily="34" charset="0"/>
                <a:ea typeface="Calibri" panose="020F0502020204030204" pitchFamily="34" charset="0"/>
                <a:cs typeface="Calibri" panose="020F0502020204030204" pitchFamily="34" charset="0"/>
              </a:rPr>
              <a:t>AXI DMA Top</a:t>
            </a:r>
          </a:p>
        </p:txBody>
      </p:sp>
      <p:sp>
        <p:nvSpPr>
          <p:cNvPr id="5" name="Rectangle: Rounded Corners 4">
            <a:extLst>
              <a:ext uri="{FF2B5EF4-FFF2-40B4-BE49-F238E27FC236}">
                <a16:creationId xmlns:a16="http://schemas.microsoft.com/office/drawing/2014/main" id="{34D8E1F6-4D04-C78C-50EF-C8AD622531B2}"/>
              </a:ext>
            </a:extLst>
          </p:cNvPr>
          <p:cNvSpPr/>
          <p:nvPr/>
        </p:nvSpPr>
        <p:spPr>
          <a:xfrm>
            <a:off x="2590799" y="1761069"/>
            <a:ext cx="5926667" cy="524933"/>
          </a:xfrm>
          <a:prstGeom prst="roundRect">
            <a:avLst/>
          </a:prstGeom>
          <a:solidFill>
            <a:schemeClr val="accent3">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Calibri" panose="020F0502020204030204" pitchFamily="34" charset="0"/>
                <a:ea typeface="Calibri" panose="020F0502020204030204" pitchFamily="34" charset="0"/>
                <a:cs typeface="Calibri" panose="020F0502020204030204" pitchFamily="34" charset="0"/>
              </a:rPr>
              <a:t>DMA Control +  FSM </a:t>
            </a:r>
          </a:p>
        </p:txBody>
      </p:sp>
      <p:sp>
        <p:nvSpPr>
          <p:cNvPr id="6" name="Rectangle: Rounded Corners 5">
            <a:extLst>
              <a:ext uri="{FF2B5EF4-FFF2-40B4-BE49-F238E27FC236}">
                <a16:creationId xmlns:a16="http://schemas.microsoft.com/office/drawing/2014/main" id="{39B8D0CC-E563-9A9D-24B0-8A582F5D3323}"/>
              </a:ext>
            </a:extLst>
          </p:cNvPr>
          <p:cNvSpPr/>
          <p:nvPr/>
        </p:nvSpPr>
        <p:spPr>
          <a:xfrm>
            <a:off x="2590799" y="2921002"/>
            <a:ext cx="2802468" cy="524933"/>
          </a:xfrm>
          <a:prstGeom prst="roundRect">
            <a:avLst/>
          </a:prstGeom>
          <a:solidFill>
            <a:schemeClr val="accent5">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Calibri" panose="020F0502020204030204" pitchFamily="34" charset="0"/>
                <a:ea typeface="Calibri" panose="020F0502020204030204" pitchFamily="34" charset="0"/>
                <a:cs typeface="Calibri" panose="020F0502020204030204" pitchFamily="34" charset="0"/>
              </a:rPr>
              <a:t>AXI Read Manager</a:t>
            </a:r>
          </a:p>
        </p:txBody>
      </p:sp>
      <p:sp>
        <p:nvSpPr>
          <p:cNvPr id="7" name="Rectangle: Rounded Corners 6">
            <a:extLst>
              <a:ext uri="{FF2B5EF4-FFF2-40B4-BE49-F238E27FC236}">
                <a16:creationId xmlns:a16="http://schemas.microsoft.com/office/drawing/2014/main" id="{C793E6DB-B032-96F3-A8A7-2B740D84B888}"/>
              </a:ext>
            </a:extLst>
          </p:cNvPr>
          <p:cNvSpPr/>
          <p:nvPr/>
        </p:nvSpPr>
        <p:spPr>
          <a:xfrm>
            <a:off x="5985932" y="2921002"/>
            <a:ext cx="2531534" cy="524933"/>
          </a:xfrm>
          <a:prstGeom prst="roundRect">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Calibri" panose="020F0502020204030204" pitchFamily="34" charset="0"/>
                <a:ea typeface="Calibri" panose="020F0502020204030204" pitchFamily="34" charset="0"/>
                <a:cs typeface="Calibri" panose="020F0502020204030204" pitchFamily="34" charset="0"/>
              </a:rPr>
              <a:t>AXI Write Manager</a:t>
            </a:r>
          </a:p>
        </p:txBody>
      </p:sp>
      <p:sp>
        <p:nvSpPr>
          <p:cNvPr id="8" name="Rectangle: Rounded Corners 7">
            <a:extLst>
              <a:ext uri="{FF2B5EF4-FFF2-40B4-BE49-F238E27FC236}">
                <a16:creationId xmlns:a16="http://schemas.microsoft.com/office/drawing/2014/main" id="{19AB0705-F9BA-96DD-EEE2-1D11EDA6EBE5}"/>
              </a:ext>
            </a:extLst>
          </p:cNvPr>
          <p:cNvSpPr/>
          <p:nvPr/>
        </p:nvSpPr>
        <p:spPr>
          <a:xfrm>
            <a:off x="2590798" y="3962403"/>
            <a:ext cx="5926667" cy="524933"/>
          </a:xfrm>
          <a:prstGeom prst="roundRect">
            <a:avLst/>
          </a:prstGeom>
          <a:solidFill>
            <a:schemeClr val="accent2">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Calibri" panose="020F0502020204030204" pitchFamily="34" charset="0"/>
                <a:ea typeface="Calibri" panose="020F0502020204030204" pitchFamily="34" charset="0"/>
                <a:cs typeface="Calibri" panose="020F0502020204030204" pitchFamily="34" charset="0"/>
              </a:rPr>
              <a:t>External AXI Bus</a:t>
            </a:r>
          </a:p>
        </p:txBody>
      </p:sp>
      <p:sp>
        <p:nvSpPr>
          <p:cNvPr id="9" name="Rectangle: Rounded Corners 8">
            <a:extLst>
              <a:ext uri="{FF2B5EF4-FFF2-40B4-BE49-F238E27FC236}">
                <a16:creationId xmlns:a16="http://schemas.microsoft.com/office/drawing/2014/main" id="{88971FEF-ECA3-07DC-FCAE-647C3519805C}"/>
              </a:ext>
            </a:extLst>
          </p:cNvPr>
          <p:cNvSpPr/>
          <p:nvPr/>
        </p:nvSpPr>
        <p:spPr>
          <a:xfrm>
            <a:off x="2590798" y="4944536"/>
            <a:ext cx="5926667" cy="524933"/>
          </a:xfrm>
          <a:prstGeom prst="roundRect">
            <a:avLst/>
          </a:prstGeom>
          <a:solidFill>
            <a:schemeClr val="accent4">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Calibri" panose="020F0502020204030204" pitchFamily="34" charset="0"/>
                <a:ea typeface="Calibri" panose="020F0502020204030204" pitchFamily="34" charset="0"/>
                <a:cs typeface="Calibri" panose="020F0502020204030204" pitchFamily="34" charset="0"/>
              </a:rPr>
              <a:t>SoC Memory/System</a:t>
            </a:r>
          </a:p>
        </p:txBody>
      </p:sp>
      <p:cxnSp>
        <p:nvCxnSpPr>
          <p:cNvPr id="10" name="Connector: Elbow 9">
            <a:extLst>
              <a:ext uri="{FF2B5EF4-FFF2-40B4-BE49-F238E27FC236}">
                <a16:creationId xmlns:a16="http://schemas.microsoft.com/office/drawing/2014/main" id="{8A816670-EF2B-8798-DBCF-9BD3C08FF56A}"/>
              </a:ext>
            </a:extLst>
          </p:cNvPr>
          <p:cNvCxnSpPr>
            <a:stCxn id="5" idx="2"/>
            <a:endCxn id="6" idx="0"/>
          </p:cNvCxnSpPr>
          <p:nvPr/>
        </p:nvCxnSpPr>
        <p:spPr>
          <a:xfrm rot="5400000">
            <a:off x="4455583" y="1822452"/>
            <a:ext cx="635000" cy="1562100"/>
          </a:xfrm>
          <a:prstGeom prst="bentConnector3">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Elbow 10">
            <a:extLst>
              <a:ext uri="{FF2B5EF4-FFF2-40B4-BE49-F238E27FC236}">
                <a16:creationId xmlns:a16="http://schemas.microsoft.com/office/drawing/2014/main" id="{368EDE6E-3F3C-3332-3E36-1A8D9937AB3F}"/>
              </a:ext>
            </a:extLst>
          </p:cNvPr>
          <p:cNvCxnSpPr>
            <a:stCxn id="5" idx="2"/>
            <a:endCxn id="7" idx="0"/>
          </p:cNvCxnSpPr>
          <p:nvPr/>
        </p:nvCxnSpPr>
        <p:spPr>
          <a:xfrm rot="16200000" flipH="1">
            <a:off x="6085416" y="1754719"/>
            <a:ext cx="635000" cy="1697566"/>
          </a:xfrm>
          <a:prstGeom prst="bentConnector3">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BB918755-9532-5D26-4A3F-E852D0558744}"/>
              </a:ext>
            </a:extLst>
          </p:cNvPr>
          <p:cNvCxnSpPr>
            <a:stCxn id="6" idx="2"/>
            <a:endCxn id="8" idx="0"/>
          </p:cNvCxnSpPr>
          <p:nvPr/>
        </p:nvCxnSpPr>
        <p:spPr>
          <a:xfrm rot="16200000" flipH="1">
            <a:off x="4514848" y="2923119"/>
            <a:ext cx="516468" cy="1562099"/>
          </a:xfrm>
          <a:prstGeom prst="bentConnector3">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Elbow 12">
            <a:extLst>
              <a:ext uri="{FF2B5EF4-FFF2-40B4-BE49-F238E27FC236}">
                <a16:creationId xmlns:a16="http://schemas.microsoft.com/office/drawing/2014/main" id="{6E9424CF-E213-D736-A13A-5F58C088E687}"/>
              </a:ext>
            </a:extLst>
          </p:cNvPr>
          <p:cNvCxnSpPr>
            <a:stCxn id="7" idx="2"/>
            <a:endCxn id="8" idx="0"/>
          </p:cNvCxnSpPr>
          <p:nvPr/>
        </p:nvCxnSpPr>
        <p:spPr>
          <a:xfrm rot="5400000">
            <a:off x="6144682" y="2855386"/>
            <a:ext cx="516468" cy="1697567"/>
          </a:xfrm>
          <a:prstGeom prst="bentConnector3">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AC80DD5B-8998-12BE-D093-0A329DEF5E0B}"/>
              </a:ext>
            </a:extLst>
          </p:cNvPr>
          <p:cNvCxnSpPr>
            <a:cxnSpLocks/>
            <a:stCxn id="8" idx="2"/>
            <a:endCxn id="9" idx="0"/>
          </p:cNvCxnSpPr>
          <p:nvPr/>
        </p:nvCxnSpPr>
        <p:spPr>
          <a:xfrm>
            <a:off x="5554132" y="4487336"/>
            <a:ext cx="0" cy="45720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0E598EE-29CD-EB93-5D1F-A3B8C2CF348F}"/>
              </a:ext>
            </a:extLst>
          </p:cNvPr>
          <p:cNvSpPr txBox="1"/>
          <p:nvPr/>
        </p:nvSpPr>
        <p:spPr>
          <a:xfrm>
            <a:off x="4031336" y="3437470"/>
            <a:ext cx="1226298" cy="307777"/>
          </a:xfrm>
          <a:prstGeom prst="rect">
            <a:avLst/>
          </a:prstGeom>
          <a:noFill/>
        </p:spPr>
        <p:txBody>
          <a:bodyPr wrap="none" rtlCol="0">
            <a:spAutoFit/>
          </a:bodyPr>
          <a:lstStyle/>
          <a:p>
            <a:r>
              <a:rPr lang="en-IN" sz="1400">
                <a:latin typeface="Calibri" panose="020F0502020204030204" pitchFamily="34" charset="0"/>
                <a:ea typeface="Calibri" panose="020F0502020204030204" pitchFamily="34" charset="0"/>
                <a:cs typeface="Calibri" panose="020F0502020204030204" pitchFamily="34" charset="0"/>
              </a:rPr>
              <a:t>AXI_READ_IFC</a:t>
            </a:r>
          </a:p>
        </p:txBody>
      </p:sp>
      <p:sp>
        <p:nvSpPr>
          <p:cNvPr id="16" name="TextBox 15">
            <a:extLst>
              <a:ext uri="{FF2B5EF4-FFF2-40B4-BE49-F238E27FC236}">
                <a16:creationId xmlns:a16="http://schemas.microsoft.com/office/drawing/2014/main" id="{35C30111-E434-93A7-8FFD-0CBCE0BCAC45}"/>
              </a:ext>
            </a:extLst>
          </p:cNvPr>
          <p:cNvSpPr txBox="1"/>
          <p:nvPr/>
        </p:nvSpPr>
        <p:spPr>
          <a:xfrm>
            <a:off x="5789080" y="3435807"/>
            <a:ext cx="1306768" cy="523220"/>
          </a:xfrm>
          <a:prstGeom prst="rect">
            <a:avLst/>
          </a:prstGeom>
          <a:noFill/>
        </p:spPr>
        <p:txBody>
          <a:bodyPr wrap="none" rtlCol="0">
            <a:spAutoFit/>
          </a:bodyPr>
          <a:lstStyle/>
          <a:p>
            <a:r>
              <a:rPr lang="en-IN" sz="1400">
                <a:latin typeface="Calibri" panose="020F0502020204030204" pitchFamily="34" charset="0"/>
                <a:ea typeface="Calibri" panose="020F0502020204030204" pitchFamily="34" charset="0"/>
                <a:cs typeface="Calibri" panose="020F0502020204030204" pitchFamily="34" charset="0"/>
              </a:rPr>
              <a:t>AXI_WRITE_IFC</a:t>
            </a:r>
          </a:p>
          <a:p>
            <a:endParaRPr lang="en-IN" sz="1400">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F211EF1C-6707-96FB-EB5D-2C5D27CE4F83}"/>
              </a:ext>
            </a:extLst>
          </p:cNvPr>
          <p:cNvSpPr txBox="1"/>
          <p:nvPr/>
        </p:nvSpPr>
        <p:spPr>
          <a:xfrm>
            <a:off x="3251200" y="5926669"/>
            <a:ext cx="6096000" cy="369332"/>
          </a:xfrm>
          <a:prstGeom prst="rect">
            <a:avLst/>
          </a:prstGeom>
          <a:noFill/>
        </p:spPr>
        <p:txBody>
          <a:bodyPr wrap="square">
            <a:spAutoFit/>
          </a:bodyPr>
          <a:lstStyle/>
          <a:p>
            <a:r>
              <a:rPr lang="en-IN"/>
              <a:t>Fig 3.Block Diagram of DMA Assist Engine</a:t>
            </a:r>
          </a:p>
        </p:txBody>
      </p:sp>
    </p:spTree>
    <p:extLst>
      <p:ext uri="{BB962C8B-B14F-4D97-AF65-F5344CB8AC3E}">
        <p14:creationId xmlns:p14="http://schemas.microsoft.com/office/powerpoint/2010/main" val="14466879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510BB-A97B-5F2A-0288-9C0528818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8EF54-3DD5-1A54-9C5C-BED2E6E7FAD0}"/>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US">
                <a:ea typeface="Calibri" panose="020F0502020204030204" pitchFamily="34" charset="0"/>
                <a:cs typeface="Calibri" panose="020F0502020204030204" pitchFamily="34" charset="0"/>
              </a:rPr>
              <a:t>Pin Diagram of DMA Assist Engine</a:t>
            </a:r>
            <a:endParaRPr lang="en-GB"/>
          </a:p>
        </p:txBody>
      </p:sp>
      <p:sp>
        <p:nvSpPr>
          <p:cNvPr id="18" name="TextBox 17">
            <a:extLst>
              <a:ext uri="{FF2B5EF4-FFF2-40B4-BE49-F238E27FC236}">
                <a16:creationId xmlns:a16="http://schemas.microsoft.com/office/drawing/2014/main" id="{EDE486A4-06C3-D4D5-9DCA-7F44A661CAF9}"/>
              </a:ext>
            </a:extLst>
          </p:cNvPr>
          <p:cNvSpPr txBox="1"/>
          <p:nvPr/>
        </p:nvSpPr>
        <p:spPr>
          <a:xfrm>
            <a:off x="6050205" y="6375771"/>
            <a:ext cx="6096000" cy="369332"/>
          </a:xfrm>
          <a:prstGeom prst="rect">
            <a:avLst/>
          </a:prstGeom>
          <a:noFill/>
        </p:spPr>
        <p:txBody>
          <a:bodyPr wrap="square">
            <a:spAutoFit/>
          </a:bodyPr>
          <a:lstStyle/>
          <a:p>
            <a:r>
              <a:rPr lang="en-IN"/>
              <a:t>Fig 4.Pin Diagram of DMA Assist Engine</a:t>
            </a:r>
          </a:p>
        </p:txBody>
      </p:sp>
      <p:sp>
        <p:nvSpPr>
          <p:cNvPr id="104" name="Slide Number Placeholder 3">
            <a:extLst>
              <a:ext uri="{FF2B5EF4-FFF2-40B4-BE49-F238E27FC236}">
                <a16:creationId xmlns:a16="http://schemas.microsoft.com/office/drawing/2014/main" id="{B991488E-E3A1-94F9-A0AD-00FA4BD7D77A}"/>
              </a:ext>
            </a:extLst>
          </p:cNvPr>
          <p:cNvSpPr>
            <a:spLocks noGrp="1"/>
          </p:cNvSpPr>
          <p:nvPr>
            <p:ph type="sldNum" sz="quarter" idx="12"/>
          </p:nvPr>
        </p:nvSpPr>
        <p:spPr>
          <a:xfrm>
            <a:off x="8610600" y="6889760"/>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49</a:t>
            </a:fld>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05" name="Rectangle 104">
            <a:extLst>
              <a:ext uri="{FF2B5EF4-FFF2-40B4-BE49-F238E27FC236}">
                <a16:creationId xmlns:a16="http://schemas.microsoft.com/office/drawing/2014/main" id="{2724A7CA-8754-9DE5-36E2-00995AEFA5E5}"/>
              </a:ext>
            </a:extLst>
          </p:cNvPr>
          <p:cNvSpPr/>
          <p:nvPr/>
        </p:nvSpPr>
        <p:spPr>
          <a:xfrm>
            <a:off x="4258033" y="908712"/>
            <a:ext cx="1532467" cy="5890019"/>
          </a:xfrm>
          <a:prstGeom prst="rect">
            <a:avLst/>
          </a:prstGeom>
          <a:solidFill>
            <a:srgbClr val="99C6E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Calibri" panose="020F0502020204030204" pitchFamily="34" charset="0"/>
                <a:ea typeface="Calibri" panose="020F0502020204030204" pitchFamily="34" charset="0"/>
                <a:cs typeface="Calibri" panose="020F0502020204030204" pitchFamily="34" charset="0"/>
              </a:rPr>
              <a:t>DMA ASSIST</a:t>
            </a:r>
          </a:p>
          <a:p>
            <a:pPr algn="ctr"/>
            <a:r>
              <a:rPr lang="en-US" sz="1200" b="1">
                <a:solidFill>
                  <a:schemeClr val="tx1"/>
                </a:solidFill>
                <a:latin typeface="Calibri" panose="020F0502020204030204" pitchFamily="34" charset="0"/>
                <a:ea typeface="Calibri" panose="020F0502020204030204" pitchFamily="34" charset="0"/>
                <a:cs typeface="Calibri" panose="020F0502020204030204" pitchFamily="34" charset="0"/>
              </a:rPr>
              <a:t>ENGINE</a:t>
            </a:r>
            <a:endParaRPr lang="en-IN" sz="1200" b="1">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106" name="Straight Arrow Connector 105">
            <a:extLst>
              <a:ext uri="{FF2B5EF4-FFF2-40B4-BE49-F238E27FC236}">
                <a16:creationId xmlns:a16="http://schemas.microsoft.com/office/drawing/2014/main" id="{4D41B800-74BE-77CB-3539-F0C6D5FF6538}"/>
              </a:ext>
            </a:extLst>
          </p:cNvPr>
          <p:cNvCxnSpPr>
            <a:cxnSpLocks/>
          </p:cNvCxnSpPr>
          <p:nvPr/>
        </p:nvCxnSpPr>
        <p:spPr>
          <a:xfrm>
            <a:off x="3556006" y="1041402"/>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7" name="Straight Arrow Connector 106">
            <a:extLst>
              <a:ext uri="{FF2B5EF4-FFF2-40B4-BE49-F238E27FC236}">
                <a16:creationId xmlns:a16="http://schemas.microsoft.com/office/drawing/2014/main" id="{9EE1F82C-ECC6-3E87-E7AC-5C97631E8BFF}"/>
              </a:ext>
            </a:extLst>
          </p:cNvPr>
          <p:cNvCxnSpPr>
            <a:cxnSpLocks/>
          </p:cNvCxnSpPr>
          <p:nvPr/>
        </p:nvCxnSpPr>
        <p:spPr>
          <a:xfrm>
            <a:off x="3556006" y="1236134"/>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8CE0C857-A314-FDD1-807F-98D5C6196147}"/>
              </a:ext>
            </a:extLst>
          </p:cNvPr>
          <p:cNvCxnSpPr>
            <a:cxnSpLocks/>
          </p:cNvCxnSpPr>
          <p:nvPr/>
        </p:nvCxnSpPr>
        <p:spPr>
          <a:xfrm>
            <a:off x="3556006" y="1854202"/>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9" name="Straight Arrow Connector 108">
            <a:extLst>
              <a:ext uri="{FF2B5EF4-FFF2-40B4-BE49-F238E27FC236}">
                <a16:creationId xmlns:a16="http://schemas.microsoft.com/office/drawing/2014/main" id="{FF028A2E-8573-50FB-04C7-46CEDDC4DA47}"/>
              </a:ext>
            </a:extLst>
          </p:cNvPr>
          <p:cNvCxnSpPr>
            <a:cxnSpLocks/>
          </p:cNvCxnSpPr>
          <p:nvPr/>
        </p:nvCxnSpPr>
        <p:spPr>
          <a:xfrm>
            <a:off x="3587276" y="1549401"/>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0" name="Straight Arrow Connector 109">
            <a:extLst>
              <a:ext uri="{FF2B5EF4-FFF2-40B4-BE49-F238E27FC236}">
                <a16:creationId xmlns:a16="http://schemas.microsoft.com/office/drawing/2014/main" id="{1AAE3223-78CB-0A3A-B60E-BDD12D8DF406}"/>
              </a:ext>
            </a:extLst>
          </p:cNvPr>
          <p:cNvCxnSpPr>
            <a:cxnSpLocks/>
          </p:cNvCxnSpPr>
          <p:nvPr/>
        </p:nvCxnSpPr>
        <p:spPr>
          <a:xfrm>
            <a:off x="3556006" y="2084340"/>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1" name="Straight Arrow Connector 110">
            <a:extLst>
              <a:ext uri="{FF2B5EF4-FFF2-40B4-BE49-F238E27FC236}">
                <a16:creationId xmlns:a16="http://schemas.microsoft.com/office/drawing/2014/main" id="{3B97ECB4-C40D-7558-0A4B-D8C54ACA6112}"/>
              </a:ext>
            </a:extLst>
          </p:cNvPr>
          <p:cNvCxnSpPr>
            <a:cxnSpLocks/>
          </p:cNvCxnSpPr>
          <p:nvPr/>
        </p:nvCxnSpPr>
        <p:spPr>
          <a:xfrm>
            <a:off x="3574162" y="2404535"/>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1E06BCF0-1C0C-F0F8-7A8F-4C1115838B67}"/>
              </a:ext>
            </a:extLst>
          </p:cNvPr>
          <p:cNvCxnSpPr>
            <a:cxnSpLocks/>
          </p:cNvCxnSpPr>
          <p:nvPr/>
        </p:nvCxnSpPr>
        <p:spPr>
          <a:xfrm>
            <a:off x="3556006" y="2717801"/>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0AFBB47A-B4FA-893B-4AEF-2C0B68D1DD2D}"/>
              </a:ext>
            </a:extLst>
          </p:cNvPr>
          <p:cNvCxnSpPr>
            <a:cxnSpLocks/>
          </p:cNvCxnSpPr>
          <p:nvPr/>
        </p:nvCxnSpPr>
        <p:spPr>
          <a:xfrm>
            <a:off x="3556006" y="2937935"/>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4" name="Straight Arrow Connector 113">
            <a:extLst>
              <a:ext uri="{FF2B5EF4-FFF2-40B4-BE49-F238E27FC236}">
                <a16:creationId xmlns:a16="http://schemas.microsoft.com/office/drawing/2014/main" id="{5B187477-DFC3-8878-BEED-65A62E584945}"/>
              </a:ext>
            </a:extLst>
          </p:cNvPr>
          <p:cNvCxnSpPr>
            <a:cxnSpLocks/>
          </p:cNvCxnSpPr>
          <p:nvPr/>
        </p:nvCxnSpPr>
        <p:spPr>
          <a:xfrm>
            <a:off x="3573309" y="3217261"/>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Straight Arrow Connector 114">
            <a:extLst>
              <a:ext uri="{FF2B5EF4-FFF2-40B4-BE49-F238E27FC236}">
                <a16:creationId xmlns:a16="http://schemas.microsoft.com/office/drawing/2014/main" id="{006E0D8C-539A-457C-DBF4-5BF3FDA7918C}"/>
              </a:ext>
            </a:extLst>
          </p:cNvPr>
          <p:cNvCxnSpPr>
            <a:cxnSpLocks/>
          </p:cNvCxnSpPr>
          <p:nvPr/>
        </p:nvCxnSpPr>
        <p:spPr>
          <a:xfrm>
            <a:off x="3556006" y="3445935"/>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14550B87-9F6F-46BA-73DA-BFFFE1AC0B24}"/>
              </a:ext>
            </a:extLst>
          </p:cNvPr>
          <p:cNvCxnSpPr>
            <a:cxnSpLocks/>
          </p:cNvCxnSpPr>
          <p:nvPr/>
        </p:nvCxnSpPr>
        <p:spPr>
          <a:xfrm>
            <a:off x="3556006" y="3733801"/>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7" name="Straight Arrow Connector 116">
            <a:extLst>
              <a:ext uri="{FF2B5EF4-FFF2-40B4-BE49-F238E27FC236}">
                <a16:creationId xmlns:a16="http://schemas.microsoft.com/office/drawing/2014/main" id="{312453F6-40AB-E69F-9993-C7BC368F3B2F}"/>
              </a:ext>
            </a:extLst>
          </p:cNvPr>
          <p:cNvCxnSpPr>
            <a:cxnSpLocks/>
          </p:cNvCxnSpPr>
          <p:nvPr/>
        </p:nvCxnSpPr>
        <p:spPr>
          <a:xfrm>
            <a:off x="3555318" y="4009363"/>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8" name="Straight Arrow Connector 117">
            <a:extLst>
              <a:ext uri="{FF2B5EF4-FFF2-40B4-BE49-F238E27FC236}">
                <a16:creationId xmlns:a16="http://schemas.microsoft.com/office/drawing/2014/main" id="{2B3F16DF-E26F-0B75-1AA1-B99D3894B4AD}"/>
              </a:ext>
            </a:extLst>
          </p:cNvPr>
          <p:cNvCxnSpPr>
            <a:cxnSpLocks/>
          </p:cNvCxnSpPr>
          <p:nvPr/>
        </p:nvCxnSpPr>
        <p:spPr>
          <a:xfrm>
            <a:off x="3560783" y="4298132"/>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FFACC75D-AD71-6B48-6E3B-F76DA893D960}"/>
              </a:ext>
            </a:extLst>
          </p:cNvPr>
          <p:cNvCxnSpPr>
            <a:cxnSpLocks/>
          </p:cNvCxnSpPr>
          <p:nvPr/>
        </p:nvCxnSpPr>
        <p:spPr>
          <a:xfrm>
            <a:off x="3568405" y="4841844"/>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Straight Arrow Connector 119">
            <a:extLst>
              <a:ext uri="{FF2B5EF4-FFF2-40B4-BE49-F238E27FC236}">
                <a16:creationId xmlns:a16="http://schemas.microsoft.com/office/drawing/2014/main" id="{412B7D2C-20C1-AA32-3A9C-1D60AE8CBCE2}"/>
              </a:ext>
            </a:extLst>
          </p:cNvPr>
          <p:cNvCxnSpPr>
            <a:cxnSpLocks/>
          </p:cNvCxnSpPr>
          <p:nvPr/>
        </p:nvCxnSpPr>
        <p:spPr>
          <a:xfrm>
            <a:off x="3556006" y="5181601"/>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1" name="Straight Arrow Connector 120">
            <a:extLst>
              <a:ext uri="{FF2B5EF4-FFF2-40B4-BE49-F238E27FC236}">
                <a16:creationId xmlns:a16="http://schemas.microsoft.com/office/drawing/2014/main" id="{FFF3E670-1794-FBE5-0ABF-AD6B7310684C}"/>
              </a:ext>
            </a:extLst>
          </p:cNvPr>
          <p:cNvCxnSpPr>
            <a:cxnSpLocks/>
          </p:cNvCxnSpPr>
          <p:nvPr/>
        </p:nvCxnSpPr>
        <p:spPr>
          <a:xfrm>
            <a:off x="3556006" y="5376335"/>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51A3A009-999A-9E53-95D3-968C9990CE5A}"/>
              </a:ext>
            </a:extLst>
          </p:cNvPr>
          <p:cNvCxnSpPr>
            <a:cxnSpLocks/>
          </p:cNvCxnSpPr>
          <p:nvPr/>
        </p:nvCxnSpPr>
        <p:spPr>
          <a:xfrm>
            <a:off x="3556006" y="5621868"/>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3" name="Straight Arrow Connector 122">
            <a:extLst>
              <a:ext uri="{FF2B5EF4-FFF2-40B4-BE49-F238E27FC236}">
                <a16:creationId xmlns:a16="http://schemas.microsoft.com/office/drawing/2014/main" id="{7AA69A66-E351-341F-CC92-000D5633F318}"/>
              </a:ext>
            </a:extLst>
          </p:cNvPr>
          <p:cNvCxnSpPr>
            <a:cxnSpLocks/>
          </p:cNvCxnSpPr>
          <p:nvPr/>
        </p:nvCxnSpPr>
        <p:spPr>
          <a:xfrm>
            <a:off x="3556006" y="5892801"/>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4" name="TextBox 123">
            <a:extLst>
              <a:ext uri="{FF2B5EF4-FFF2-40B4-BE49-F238E27FC236}">
                <a16:creationId xmlns:a16="http://schemas.microsoft.com/office/drawing/2014/main" id="{0828B568-CCB3-9DAF-66D3-EC3284F62536}"/>
              </a:ext>
            </a:extLst>
          </p:cNvPr>
          <p:cNvSpPr txBox="1"/>
          <p:nvPr/>
        </p:nvSpPr>
        <p:spPr>
          <a:xfrm>
            <a:off x="3153938" y="852024"/>
            <a:ext cx="564292" cy="276999"/>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clk</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25" name="TextBox 124">
            <a:extLst>
              <a:ext uri="{FF2B5EF4-FFF2-40B4-BE49-F238E27FC236}">
                <a16:creationId xmlns:a16="http://schemas.microsoft.com/office/drawing/2014/main" id="{808B4010-848B-5621-E5AD-BF036FA99B0D}"/>
              </a:ext>
            </a:extLst>
          </p:cNvPr>
          <p:cNvSpPr txBox="1"/>
          <p:nvPr/>
        </p:nvSpPr>
        <p:spPr>
          <a:xfrm>
            <a:off x="3018027" y="1075614"/>
            <a:ext cx="601135" cy="276999"/>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rst_n</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26" name="TextBox 125">
            <a:extLst>
              <a:ext uri="{FF2B5EF4-FFF2-40B4-BE49-F238E27FC236}">
                <a16:creationId xmlns:a16="http://schemas.microsoft.com/office/drawing/2014/main" id="{FC1DC3A6-5E34-4C6A-AA1B-377AF844ABD3}"/>
              </a:ext>
            </a:extLst>
          </p:cNvPr>
          <p:cNvSpPr txBox="1"/>
          <p:nvPr/>
        </p:nvSpPr>
        <p:spPr>
          <a:xfrm>
            <a:off x="2371401" y="1364382"/>
            <a:ext cx="1361028" cy="276999"/>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cptra_pwrgood</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27" name="TextBox 126">
            <a:extLst>
              <a:ext uri="{FF2B5EF4-FFF2-40B4-BE49-F238E27FC236}">
                <a16:creationId xmlns:a16="http://schemas.microsoft.com/office/drawing/2014/main" id="{730DC697-D23E-0A0C-572E-BDF4670B80E4}"/>
              </a:ext>
            </a:extLst>
          </p:cNvPr>
          <p:cNvSpPr txBox="1"/>
          <p:nvPr/>
        </p:nvSpPr>
        <p:spPr>
          <a:xfrm>
            <a:off x="2035148" y="1650989"/>
            <a:ext cx="1468928" cy="276999"/>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recovery_data_avail</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28" name="TextBox 127">
            <a:extLst>
              <a:ext uri="{FF2B5EF4-FFF2-40B4-BE49-F238E27FC236}">
                <a16:creationId xmlns:a16="http://schemas.microsoft.com/office/drawing/2014/main" id="{E6778F04-F199-0CCA-65C1-034892CEE2C3}"/>
              </a:ext>
            </a:extLst>
          </p:cNvPr>
          <p:cNvSpPr txBox="1"/>
          <p:nvPr/>
        </p:nvSpPr>
        <p:spPr>
          <a:xfrm>
            <a:off x="1629277" y="1939793"/>
            <a:ext cx="2413132" cy="276999"/>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recovery_image_activated</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29" name="TextBox 128">
            <a:extLst>
              <a:ext uri="{FF2B5EF4-FFF2-40B4-BE49-F238E27FC236}">
                <a16:creationId xmlns:a16="http://schemas.microsoft.com/office/drawing/2014/main" id="{490A50FE-BBDA-BFF0-B1EA-AC8E7F3997EE}"/>
              </a:ext>
            </a:extLst>
          </p:cNvPr>
          <p:cNvSpPr txBox="1"/>
          <p:nvPr/>
        </p:nvSpPr>
        <p:spPr>
          <a:xfrm>
            <a:off x="2585179" y="2149288"/>
            <a:ext cx="880497" cy="276999"/>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mbox_lock</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30" name="TextBox 129">
            <a:extLst>
              <a:ext uri="{FF2B5EF4-FFF2-40B4-BE49-F238E27FC236}">
                <a16:creationId xmlns:a16="http://schemas.microsoft.com/office/drawing/2014/main" id="{932F9E33-B2C7-59B1-4D23-B45C0375C80B}"/>
              </a:ext>
            </a:extLst>
          </p:cNvPr>
          <p:cNvSpPr txBox="1"/>
          <p:nvPr/>
        </p:nvSpPr>
        <p:spPr>
          <a:xfrm>
            <a:off x="2718173" y="2452989"/>
            <a:ext cx="740908" cy="276999"/>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sha_lock</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31" name="TextBox 130">
            <a:extLst>
              <a:ext uri="{FF2B5EF4-FFF2-40B4-BE49-F238E27FC236}">
                <a16:creationId xmlns:a16="http://schemas.microsoft.com/office/drawing/2014/main" id="{B61363EB-F291-7228-5187-6E7827616A4F}"/>
              </a:ext>
            </a:extLst>
          </p:cNvPr>
          <p:cNvSpPr txBox="1"/>
          <p:nvPr/>
        </p:nvSpPr>
        <p:spPr>
          <a:xfrm>
            <a:off x="2223247" y="2732560"/>
            <a:ext cx="1253741"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aes_input_ready</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32" name="TextBox 131">
            <a:extLst>
              <a:ext uri="{FF2B5EF4-FFF2-40B4-BE49-F238E27FC236}">
                <a16:creationId xmlns:a16="http://schemas.microsoft.com/office/drawing/2014/main" id="{565F6534-36A1-6EB6-D6FC-862AD0246007}"/>
              </a:ext>
            </a:extLst>
          </p:cNvPr>
          <p:cNvSpPr txBox="1"/>
          <p:nvPr/>
        </p:nvSpPr>
        <p:spPr>
          <a:xfrm>
            <a:off x="2169492" y="3015616"/>
            <a:ext cx="2185225"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aes_output_valid</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33" name="TextBox 132">
            <a:extLst>
              <a:ext uri="{FF2B5EF4-FFF2-40B4-BE49-F238E27FC236}">
                <a16:creationId xmlns:a16="http://schemas.microsoft.com/office/drawing/2014/main" id="{C5173A64-C19D-E396-D8D0-9A73616187EE}"/>
              </a:ext>
            </a:extLst>
          </p:cNvPr>
          <p:cNvSpPr txBox="1"/>
          <p:nvPr/>
        </p:nvSpPr>
        <p:spPr>
          <a:xfrm>
            <a:off x="2289464" y="3230358"/>
            <a:ext cx="2009613" cy="461665"/>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aes_status_idle</a:t>
            </a:r>
            <a:endParaRPr lang="en-IN" sz="1200" b="1">
              <a:latin typeface="Calibri" panose="020F0502020204030204" pitchFamily="34" charset="0"/>
              <a:ea typeface="Calibri" panose="020F0502020204030204" pitchFamily="34" charset="0"/>
              <a:cs typeface="Calibri" panose="020F0502020204030204" pitchFamily="34" charset="0"/>
            </a:endParaRPr>
          </a:p>
          <a:p>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34" name="TextBox 133">
            <a:extLst>
              <a:ext uri="{FF2B5EF4-FFF2-40B4-BE49-F238E27FC236}">
                <a16:creationId xmlns:a16="http://schemas.microsoft.com/office/drawing/2014/main" id="{3F2F1551-29D9-E366-9825-3E1DED802468}"/>
              </a:ext>
            </a:extLst>
          </p:cNvPr>
          <p:cNvSpPr txBox="1"/>
          <p:nvPr/>
        </p:nvSpPr>
        <p:spPr>
          <a:xfrm>
            <a:off x="2407124" y="3512854"/>
            <a:ext cx="1613278"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aes_reg_hold</a:t>
            </a:r>
            <a:endParaRPr lang="en-IN" sz="1200" b="1">
              <a:latin typeface="Calibri" panose="020F0502020204030204" pitchFamily="34" charset="0"/>
              <a:ea typeface="Calibri" panose="020F0502020204030204" pitchFamily="34" charset="0"/>
              <a:cs typeface="Calibri" panose="020F0502020204030204" pitchFamily="34" charset="0"/>
            </a:endParaRPr>
          </a:p>
        </p:txBody>
      </p:sp>
      <p:cxnSp>
        <p:nvCxnSpPr>
          <p:cNvPr id="135" name="Straight Connector 134">
            <a:extLst>
              <a:ext uri="{FF2B5EF4-FFF2-40B4-BE49-F238E27FC236}">
                <a16:creationId xmlns:a16="http://schemas.microsoft.com/office/drawing/2014/main" id="{E9B03F99-DD05-A409-37C9-7855D3F184A3}"/>
              </a:ext>
            </a:extLst>
          </p:cNvPr>
          <p:cNvCxnSpPr>
            <a:cxnSpLocks/>
          </p:cNvCxnSpPr>
          <p:nvPr/>
        </p:nvCxnSpPr>
        <p:spPr>
          <a:xfrm flipH="1">
            <a:off x="3791761" y="5787500"/>
            <a:ext cx="178353" cy="1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6F0F3F80-6D23-020B-16AB-6E044D80FE40}"/>
              </a:ext>
            </a:extLst>
          </p:cNvPr>
          <p:cNvCxnSpPr>
            <a:cxnSpLocks/>
          </p:cNvCxnSpPr>
          <p:nvPr/>
        </p:nvCxnSpPr>
        <p:spPr>
          <a:xfrm flipH="1">
            <a:off x="3831319" y="5071303"/>
            <a:ext cx="150730" cy="2076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7A8B33F3-A2A2-73B5-4D74-F9EFC79EDC72}"/>
              </a:ext>
            </a:extLst>
          </p:cNvPr>
          <p:cNvCxnSpPr>
            <a:cxnSpLocks/>
          </p:cNvCxnSpPr>
          <p:nvPr/>
        </p:nvCxnSpPr>
        <p:spPr>
          <a:xfrm flipH="1">
            <a:off x="3834802" y="5278969"/>
            <a:ext cx="150730" cy="2076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23ED1273-5C31-6460-0312-8ACB549544D3}"/>
              </a:ext>
            </a:extLst>
          </p:cNvPr>
          <p:cNvCxnSpPr>
            <a:cxnSpLocks/>
          </p:cNvCxnSpPr>
          <p:nvPr/>
        </p:nvCxnSpPr>
        <p:spPr>
          <a:xfrm flipH="1">
            <a:off x="3836270" y="5518035"/>
            <a:ext cx="150730" cy="2076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9" name="TextBox 138">
            <a:extLst>
              <a:ext uri="{FF2B5EF4-FFF2-40B4-BE49-F238E27FC236}">
                <a16:creationId xmlns:a16="http://schemas.microsoft.com/office/drawing/2014/main" id="{07A206CB-CBE6-C071-2CE3-562F1F83D45B}"/>
              </a:ext>
            </a:extLst>
          </p:cNvPr>
          <p:cNvSpPr txBox="1"/>
          <p:nvPr/>
        </p:nvSpPr>
        <p:spPr>
          <a:xfrm>
            <a:off x="2775326" y="3829483"/>
            <a:ext cx="660758" cy="276999"/>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aes_err</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40" name="TextBox 139">
            <a:extLst>
              <a:ext uri="{FF2B5EF4-FFF2-40B4-BE49-F238E27FC236}">
                <a16:creationId xmlns:a16="http://schemas.microsoft.com/office/drawing/2014/main" id="{F72A290B-0929-0FFE-6F4F-2C91F3A58B97}"/>
              </a:ext>
            </a:extLst>
          </p:cNvPr>
          <p:cNvSpPr txBox="1"/>
          <p:nvPr/>
        </p:nvSpPr>
        <p:spPr>
          <a:xfrm>
            <a:off x="3452215" y="5831511"/>
            <a:ext cx="374570" cy="276999"/>
          </a:xfrm>
          <a:prstGeom prst="rect">
            <a:avLst/>
          </a:prstGeom>
          <a:noFill/>
        </p:spPr>
        <p:txBody>
          <a:bodyPr wrap="square" rtlCol="0">
            <a:spAutoFit/>
          </a:bodyPr>
          <a:lstStyle/>
          <a:p>
            <a:r>
              <a:rPr lang="en-US" sz="1200" b="1">
                <a:latin typeface="Calibri" panose="020F0502020204030204" pitchFamily="34" charset="0"/>
                <a:ea typeface="Calibri" panose="020F0502020204030204" pitchFamily="34" charset="0"/>
                <a:cs typeface="Calibri" panose="020F0502020204030204" pitchFamily="34" charset="0"/>
              </a:rPr>
              <a:t>6</a:t>
            </a:r>
            <a:r>
              <a:rPr lang="en-IN" sz="1200" b="1">
                <a:latin typeface="Calibri" panose="020F0502020204030204" pitchFamily="34" charset="0"/>
                <a:ea typeface="Calibri" panose="020F0502020204030204" pitchFamily="34" charset="0"/>
                <a:cs typeface="Calibri" panose="020F0502020204030204" pitchFamily="34" charset="0"/>
              </a:rPr>
              <a:t>4</a:t>
            </a:r>
          </a:p>
        </p:txBody>
      </p:sp>
      <p:sp>
        <p:nvSpPr>
          <p:cNvPr id="141" name="TextBox 140">
            <a:extLst>
              <a:ext uri="{FF2B5EF4-FFF2-40B4-BE49-F238E27FC236}">
                <a16:creationId xmlns:a16="http://schemas.microsoft.com/office/drawing/2014/main" id="{0AE193D3-C028-468C-2B0C-004FD925E5B2}"/>
              </a:ext>
            </a:extLst>
          </p:cNvPr>
          <p:cNvSpPr txBox="1"/>
          <p:nvPr/>
        </p:nvSpPr>
        <p:spPr>
          <a:xfrm>
            <a:off x="2665998" y="4628651"/>
            <a:ext cx="791948"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mb_error</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42" name="TextBox 141">
            <a:extLst>
              <a:ext uri="{FF2B5EF4-FFF2-40B4-BE49-F238E27FC236}">
                <a16:creationId xmlns:a16="http://schemas.microsoft.com/office/drawing/2014/main" id="{B7DE30CC-F3D3-1D9F-3313-C5CDD303EA05}"/>
              </a:ext>
            </a:extLst>
          </p:cNvPr>
          <p:cNvSpPr txBox="1"/>
          <p:nvPr/>
        </p:nvSpPr>
        <p:spPr>
          <a:xfrm rot="10800000" flipV="1">
            <a:off x="3487455" y="5624536"/>
            <a:ext cx="1209825" cy="276999"/>
          </a:xfrm>
          <a:prstGeom prst="rect">
            <a:avLst/>
          </a:prstGeom>
          <a:noFill/>
        </p:spPr>
        <p:txBody>
          <a:bodyPr wrap="square">
            <a:spAutoFit/>
          </a:bodyPr>
          <a:lstStyle/>
          <a:p>
            <a:r>
              <a:rPr lang="en-IN" sz="1200" b="1">
                <a:latin typeface="Calibri" panose="020F0502020204030204" pitchFamily="34" charset="0"/>
                <a:ea typeface="Calibri" panose="020F0502020204030204" pitchFamily="34" charset="0"/>
                <a:cs typeface="Calibri" panose="020F0502020204030204" pitchFamily="34" charset="0"/>
              </a:rPr>
              <a:t>32</a:t>
            </a:r>
          </a:p>
        </p:txBody>
      </p:sp>
      <p:sp>
        <p:nvSpPr>
          <p:cNvPr id="143" name="TextBox 142">
            <a:extLst>
              <a:ext uri="{FF2B5EF4-FFF2-40B4-BE49-F238E27FC236}">
                <a16:creationId xmlns:a16="http://schemas.microsoft.com/office/drawing/2014/main" id="{8EA6F9E7-99E9-C254-94F1-C3878CB076DC}"/>
              </a:ext>
            </a:extLst>
          </p:cNvPr>
          <p:cNvSpPr txBox="1"/>
          <p:nvPr/>
        </p:nvSpPr>
        <p:spPr>
          <a:xfrm>
            <a:off x="2222825" y="4914747"/>
            <a:ext cx="1248419"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key_release_size</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44" name="TextBox 143">
            <a:extLst>
              <a:ext uri="{FF2B5EF4-FFF2-40B4-BE49-F238E27FC236}">
                <a16:creationId xmlns:a16="http://schemas.microsoft.com/office/drawing/2014/main" id="{60BC5192-1AEF-BD7B-95F8-1F014403522F}"/>
              </a:ext>
            </a:extLst>
          </p:cNvPr>
          <p:cNvSpPr txBox="1"/>
          <p:nvPr/>
        </p:nvSpPr>
        <p:spPr>
          <a:xfrm>
            <a:off x="3571550" y="4882689"/>
            <a:ext cx="341760" cy="276999"/>
          </a:xfrm>
          <a:prstGeom prst="rect">
            <a:avLst/>
          </a:prstGeom>
          <a:noFill/>
        </p:spPr>
        <p:txBody>
          <a:bodyPr wrap="square" rtlCol="0">
            <a:spAutoFit/>
          </a:bodyPr>
          <a:lstStyle/>
          <a:p>
            <a:r>
              <a:rPr lang="en-US" sz="1200" b="1">
                <a:latin typeface="Calibri" panose="020F0502020204030204" pitchFamily="34" charset="0"/>
                <a:ea typeface="Calibri" panose="020F0502020204030204" pitchFamily="34" charset="0"/>
                <a:cs typeface="Calibri" panose="020F0502020204030204" pitchFamily="34" charset="0"/>
              </a:rPr>
              <a:t>1</a:t>
            </a:r>
            <a:r>
              <a:rPr lang="en-IN" sz="1200" b="1">
                <a:latin typeface="Calibri" panose="020F0502020204030204" pitchFamily="34" charset="0"/>
                <a:ea typeface="Calibri" panose="020F0502020204030204" pitchFamily="34" charset="0"/>
                <a:cs typeface="Calibri" panose="020F0502020204030204" pitchFamily="34" charset="0"/>
              </a:rPr>
              <a:t>6</a:t>
            </a:r>
          </a:p>
        </p:txBody>
      </p:sp>
      <p:sp>
        <p:nvSpPr>
          <p:cNvPr id="145" name="TextBox 144">
            <a:extLst>
              <a:ext uri="{FF2B5EF4-FFF2-40B4-BE49-F238E27FC236}">
                <a16:creationId xmlns:a16="http://schemas.microsoft.com/office/drawing/2014/main" id="{9B648FC8-BCC8-3B5D-7A4C-7152A7E08694}"/>
              </a:ext>
            </a:extLst>
          </p:cNvPr>
          <p:cNvSpPr txBox="1"/>
          <p:nvPr/>
        </p:nvSpPr>
        <p:spPr>
          <a:xfrm>
            <a:off x="2892150" y="5163418"/>
            <a:ext cx="603370"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axuser</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46" name="TextBox 145">
            <a:extLst>
              <a:ext uri="{FF2B5EF4-FFF2-40B4-BE49-F238E27FC236}">
                <a16:creationId xmlns:a16="http://schemas.microsoft.com/office/drawing/2014/main" id="{E85B967E-3005-FA73-E2B4-A9BA6A392BC7}"/>
              </a:ext>
            </a:extLst>
          </p:cNvPr>
          <p:cNvSpPr txBox="1"/>
          <p:nvPr/>
        </p:nvSpPr>
        <p:spPr>
          <a:xfrm>
            <a:off x="3497224" y="5133664"/>
            <a:ext cx="470410" cy="276999"/>
          </a:xfrm>
          <a:prstGeom prst="rect">
            <a:avLst/>
          </a:prstGeom>
          <a:noFill/>
        </p:spPr>
        <p:txBody>
          <a:bodyPr wrap="square" rtlCol="0">
            <a:spAutoFit/>
          </a:bodyPr>
          <a:lstStyle/>
          <a:p>
            <a:r>
              <a:rPr lang="en-IN" sz="1200" b="1">
                <a:latin typeface="Calibri" panose="020F0502020204030204" pitchFamily="34" charset="0"/>
                <a:ea typeface="Calibri" panose="020F0502020204030204" pitchFamily="34" charset="0"/>
                <a:cs typeface="Calibri" panose="020F0502020204030204" pitchFamily="34" charset="0"/>
              </a:rPr>
              <a:t>32</a:t>
            </a:r>
          </a:p>
        </p:txBody>
      </p:sp>
      <p:sp>
        <p:nvSpPr>
          <p:cNvPr id="147" name="TextBox 146">
            <a:extLst>
              <a:ext uri="{FF2B5EF4-FFF2-40B4-BE49-F238E27FC236}">
                <a16:creationId xmlns:a16="http://schemas.microsoft.com/office/drawing/2014/main" id="{AEADCE2B-30B4-8682-0A0F-B93A84DBB798}"/>
              </a:ext>
            </a:extLst>
          </p:cNvPr>
          <p:cNvSpPr txBox="1"/>
          <p:nvPr/>
        </p:nvSpPr>
        <p:spPr>
          <a:xfrm>
            <a:off x="2672049" y="5382392"/>
            <a:ext cx="811504"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aes_rdata</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48" name="TextBox 147">
            <a:extLst>
              <a:ext uri="{FF2B5EF4-FFF2-40B4-BE49-F238E27FC236}">
                <a16:creationId xmlns:a16="http://schemas.microsoft.com/office/drawing/2014/main" id="{741AE334-C5B0-D76B-15F9-48546FB1F1F4}"/>
              </a:ext>
            </a:extLst>
          </p:cNvPr>
          <p:cNvSpPr txBox="1"/>
          <p:nvPr/>
        </p:nvSpPr>
        <p:spPr>
          <a:xfrm>
            <a:off x="3587276" y="5372730"/>
            <a:ext cx="341760" cy="276999"/>
          </a:xfrm>
          <a:prstGeom prst="rect">
            <a:avLst/>
          </a:prstGeom>
          <a:noFill/>
        </p:spPr>
        <p:txBody>
          <a:bodyPr wrap="square" rtlCol="0">
            <a:spAutoFit/>
          </a:bodyPr>
          <a:lstStyle/>
          <a:p>
            <a:r>
              <a:rPr lang="en-IN" sz="1200" b="1">
                <a:latin typeface="Calibri" panose="020F0502020204030204" pitchFamily="34" charset="0"/>
                <a:ea typeface="Calibri" panose="020F0502020204030204" pitchFamily="34" charset="0"/>
                <a:cs typeface="Calibri" panose="020F0502020204030204" pitchFamily="34" charset="0"/>
              </a:rPr>
              <a:t>32</a:t>
            </a:r>
          </a:p>
        </p:txBody>
      </p:sp>
      <p:sp>
        <p:nvSpPr>
          <p:cNvPr id="149" name="TextBox 148">
            <a:extLst>
              <a:ext uri="{FF2B5EF4-FFF2-40B4-BE49-F238E27FC236}">
                <a16:creationId xmlns:a16="http://schemas.microsoft.com/office/drawing/2014/main" id="{B270EA99-EA12-D9F0-FFDD-299DED575530}"/>
              </a:ext>
            </a:extLst>
          </p:cNvPr>
          <p:cNvSpPr txBox="1"/>
          <p:nvPr/>
        </p:nvSpPr>
        <p:spPr>
          <a:xfrm>
            <a:off x="2668772" y="5668488"/>
            <a:ext cx="1250999" cy="276999"/>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mb_rdata</a:t>
            </a:r>
            <a:endParaRPr lang="en-IN" sz="1200" b="1">
              <a:latin typeface="Calibri" panose="020F0502020204030204" pitchFamily="34" charset="0"/>
              <a:ea typeface="Calibri" panose="020F0502020204030204" pitchFamily="34" charset="0"/>
              <a:cs typeface="Calibri" panose="020F0502020204030204" pitchFamily="34" charset="0"/>
            </a:endParaRPr>
          </a:p>
        </p:txBody>
      </p:sp>
      <p:cxnSp>
        <p:nvCxnSpPr>
          <p:cNvPr id="150" name="Straight Arrow Connector 149">
            <a:extLst>
              <a:ext uri="{FF2B5EF4-FFF2-40B4-BE49-F238E27FC236}">
                <a16:creationId xmlns:a16="http://schemas.microsoft.com/office/drawing/2014/main" id="{5A376DD1-8CDE-E600-3172-52AC4230DCEC}"/>
              </a:ext>
            </a:extLst>
          </p:cNvPr>
          <p:cNvCxnSpPr>
            <a:cxnSpLocks/>
          </p:cNvCxnSpPr>
          <p:nvPr/>
        </p:nvCxnSpPr>
        <p:spPr>
          <a:xfrm>
            <a:off x="5799680" y="1930406"/>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1" name="Straight Arrow Connector 150">
            <a:extLst>
              <a:ext uri="{FF2B5EF4-FFF2-40B4-BE49-F238E27FC236}">
                <a16:creationId xmlns:a16="http://schemas.microsoft.com/office/drawing/2014/main" id="{A9590C4B-BF5F-285F-6DBB-CD606C3EF624}"/>
              </a:ext>
            </a:extLst>
          </p:cNvPr>
          <p:cNvCxnSpPr>
            <a:cxnSpLocks/>
          </p:cNvCxnSpPr>
          <p:nvPr/>
        </p:nvCxnSpPr>
        <p:spPr>
          <a:xfrm>
            <a:off x="5806487" y="2305521"/>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2" name="Straight Arrow Connector 151">
            <a:extLst>
              <a:ext uri="{FF2B5EF4-FFF2-40B4-BE49-F238E27FC236}">
                <a16:creationId xmlns:a16="http://schemas.microsoft.com/office/drawing/2014/main" id="{17F50099-66F8-1D1D-0F88-B5FB9AB56541}"/>
              </a:ext>
            </a:extLst>
          </p:cNvPr>
          <p:cNvCxnSpPr>
            <a:cxnSpLocks/>
          </p:cNvCxnSpPr>
          <p:nvPr/>
        </p:nvCxnSpPr>
        <p:spPr>
          <a:xfrm>
            <a:off x="5791986" y="2647341"/>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3" name="Straight Arrow Connector 152">
            <a:extLst>
              <a:ext uri="{FF2B5EF4-FFF2-40B4-BE49-F238E27FC236}">
                <a16:creationId xmlns:a16="http://schemas.microsoft.com/office/drawing/2014/main" id="{E183A850-D627-9614-7AA3-736563EF2A33}"/>
              </a:ext>
            </a:extLst>
          </p:cNvPr>
          <p:cNvCxnSpPr>
            <a:cxnSpLocks/>
          </p:cNvCxnSpPr>
          <p:nvPr/>
        </p:nvCxnSpPr>
        <p:spPr>
          <a:xfrm>
            <a:off x="5799680" y="2980272"/>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4" name="Straight Arrow Connector 153">
            <a:extLst>
              <a:ext uri="{FF2B5EF4-FFF2-40B4-BE49-F238E27FC236}">
                <a16:creationId xmlns:a16="http://schemas.microsoft.com/office/drawing/2014/main" id="{894E4444-C71B-5336-0488-B63125EF66BD}"/>
              </a:ext>
            </a:extLst>
          </p:cNvPr>
          <p:cNvCxnSpPr>
            <a:cxnSpLocks/>
          </p:cNvCxnSpPr>
          <p:nvPr/>
        </p:nvCxnSpPr>
        <p:spPr>
          <a:xfrm>
            <a:off x="5799680" y="3348602"/>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5" name="Straight Arrow Connector 154">
            <a:extLst>
              <a:ext uri="{FF2B5EF4-FFF2-40B4-BE49-F238E27FC236}">
                <a16:creationId xmlns:a16="http://schemas.microsoft.com/office/drawing/2014/main" id="{A21B8840-9921-B65D-F3B3-61090F407844}"/>
              </a:ext>
            </a:extLst>
          </p:cNvPr>
          <p:cNvCxnSpPr>
            <a:cxnSpLocks/>
          </p:cNvCxnSpPr>
          <p:nvPr/>
        </p:nvCxnSpPr>
        <p:spPr>
          <a:xfrm>
            <a:off x="5799680" y="4656672"/>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6" name="Straight Arrow Connector 155">
            <a:extLst>
              <a:ext uri="{FF2B5EF4-FFF2-40B4-BE49-F238E27FC236}">
                <a16:creationId xmlns:a16="http://schemas.microsoft.com/office/drawing/2014/main" id="{9CD4517E-F10F-5E2C-F208-D2EA9E9F6ED4}"/>
              </a:ext>
            </a:extLst>
          </p:cNvPr>
          <p:cNvCxnSpPr>
            <a:cxnSpLocks/>
          </p:cNvCxnSpPr>
          <p:nvPr/>
        </p:nvCxnSpPr>
        <p:spPr>
          <a:xfrm>
            <a:off x="5799680" y="3708406"/>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7" name="Straight Arrow Connector 156">
            <a:extLst>
              <a:ext uri="{FF2B5EF4-FFF2-40B4-BE49-F238E27FC236}">
                <a16:creationId xmlns:a16="http://schemas.microsoft.com/office/drawing/2014/main" id="{1B916A23-072F-66EF-9221-B9E84F7876EF}"/>
              </a:ext>
            </a:extLst>
          </p:cNvPr>
          <p:cNvCxnSpPr>
            <a:cxnSpLocks/>
          </p:cNvCxnSpPr>
          <p:nvPr/>
        </p:nvCxnSpPr>
        <p:spPr>
          <a:xfrm>
            <a:off x="5799680" y="4130614"/>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8" name="Straight Arrow Connector 157">
            <a:extLst>
              <a:ext uri="{FF2B5EF4-FFF2-40B4-BE49-F238E27FC236}">
                <a16:creationId xmlns:a16="http://schemas.microsoft.com/office/drawing/2014/main" id="{C956019B-AF75-C319-2A48-70CFE1E8B54A}"/>
              </a:ext>
            </a:extLst>
          </p:cNvPr>
          <p:cNvCxnSpPr>
            <a:cxnSpLocks/>
          </p:cNvCxnSpPr>
          <p:nvPr/>
        </p:nvCxnSpPr>
        <p:spPr>
          <a:xfrm>
            <a:off x="3568405" y="6730919"/>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9" name="Straight Arrow Connector 158">
            <a:extLst>
              <a:ext uri="{FF2B5EF4-FFF2-40B4-BE49-F238E27FC236}">
                <a16:creationId xmlns:a16="http://schemas.microsoft.com/office/drawing/2014/main" id="{FF882DF2-EED1-032E-C9A2-2F2DB23F3253}"/>
              </a:ext>
            </a:extLst>
          </p:cNvPr>
          <p:cNvCxnSpPr>
            <a:cxnSpLocks/>
          </p:cNvCxnSpPr>
          <p:nvPr/>
        </p:nvCxnSpPr>
        <p:spPr>
          <a:xfrm>
            <a:off x="5799680" y="4656672"/>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0" name="Straight Arrow Connector 159">
            <a:extLst>
              <a:ext uri="{FF2B5EF4-FFF2-40B4-BE49-F238E27FC236}">
                <a16:creationId xmlns:a16="http://schemas.microsoft.com/office/drawing/2014/main" id="{59AC44FF-292E-950F-F89D-6F3C4003144C}"/>
              </a:ext>
            </a:extLst>
          </p:cNvPr>
          <p:cNvCxnSpPr>
            <a:cxnSpLocks/>
          </p:cNvCxnSpPr>
          <p:nvPr/>
        </p:nvCxnSpPr>
        <p:spPr>
          <a:xfrm>
            <a:off x="5799680" y="4944539"/>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1" name="Straight Arrow Connector 160">
            <a:extLst>
              <a:ext uri="{FF2B5EF4-FFF2-40B4-BE49-F238E27FC236}">
                <a16:creationId xmlns:a16="http://schemas.microsoft.com/office/drawing/2014/main" id="{20CA3E4B-95B2-BE2B-6B29-9DC0C7E850B6}"/>
              </a:ext>
            </a:extLst>
          </p:cNvPr>
          <p:cNvCxnSpPr>
            <a:cxnSpLocks/>
          </p:cNvCxnSpPr>
          <p:nvPr/>
        </p:nvCxnSpPr>
        <p:spPr>
          <a:xfrm>
            <a:off x="5781030" y="5339902"/>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2" name="Straight Arrow Connector 161">
            <a:extLst>
              <a:ext uri="{FF2B5EF4-FFF2-40B4-BE49-F238E27FC236}">
                <a16:creationId xmlns:a16="http://schemas.microsoft.com/office/drawing/2014/main" id="{8F9550C6-039A-8C46-3418-494A6DF1A0E0}"/>
              </a:ext>
            </a:extLst>
          </p:cNvPr>
          <p:cNvCxnSpPr>
            <a:cxnSpLocks/>
          </p:cNvCxnSpPr>
          <p:nvPr/>
        </p:nvCxnSpPr>
        <p:spPr>
          <a:xfrm>
            <a:off x="3563731" y="6129869"/>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BB2CC15D-15EA-DDDA-0B87-2E334A000FBE}"/>
              </a:ext>
            </a:extLst>
          </p:cNvPr>
          <p:cNvCxnSpPr>
            <a:cxnSpLocks/>
          </p:cNvCxnSpPr>
          <p:nvPr/>
        </p:nvCxnSpPr>
        <p:spPr>
          <a:xfrm flipH="1">
            <a:off x="6104426" y="4536610"/>
            <a:ext cx="150730" cy="2076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0CB3434E-C566-A26E-4AFC-F6313D86A30D}"/>
              </a:ext>
            </a:extLst>
          </p:cNvPr>
          <p:cNvCxnSpPr>
            <a:cxnSpLocks/>
          </p:cNvCxnSpPr>
          <p:nvPr/>
        </p:nvCxnSpPr>
        <p:spPr>
          <a:xfrm flipH="1">
            <a:off x="6120349" y="4848082"/>
            <a:ext cx="150730" cy="2076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65" name="TextBox 164">
            <a:extLst>
              <a:ext uri="{FF2B5EF4-FFF2-40B4-BE49-F238E27FC236}">
                <a16:creationId xmlns:a16="http://schemas.microsoft.com/office/drawing/2014/main" id="{20A13B17-C012-13A3-984F-2D409E6BF94D}"/>
              </a:ext>
            </a:extLst>
          </p:cNvPr>
          <p:cNvSpPr txBox="1"/>
          <p:nvPr/>
        </p:nvSpPr>
        <p:spPr>
          <a:xfrm>
            <a:off x="5848010" y="3895315"/>
            <a:ext cx="731734" cy="276999"/>
          </a:xfrm>
          <a:prstGeom prst="rect">
            <a:avLst/>
          </a:prstGeom>
          <a:noFill/>
        </p:spPr>
        <p:txBody>
          <a:bodyPr wrap="square" rtlCol="0">
            <a:spAutoFit/>
          </a:bodyPr>
          <a:lstStyle/>
          <a:p>
            <a:r>
              <a:rPr lang="en-IN" sz="1200" b="1">
                <a:latin typeface="Calibri" panose="020F0502020204030204" pitchFamily="34" charset="0"/>
                <a:ea typeface="Calibri" panose="020F0502020204030204" pitchFamily="34" charset="0"/>
                <a:cs typeface="Calibri" panose="020F0502020204030204" pitchFamily="34" charset="0"/>
              </a:rPr>
              <a:t>32</a:t>
            </a:r>
          </a:p>
        </p:txBody>
      </p:sp>
      <p:sp>
        <p:nvSpPr>
          <p:cNvPr id="166" name="TextBox 165">
            <a:extLst>
              <a:ext uri="{FF2B5EF4-FFF2-40B4-BE49-F238E27FC236}">
                <a16:creationId xmlns:a16="http://schemas.microsoft.com/office/drawing/2014/main" id="{5B5523C4-A42B-B7B1-DBB5-1121D240F511}"/>
              </a:ext>
            </a:extLst>
          </p:cNvPr>
          <p:cNvSpPr txBox="1"/>
          <p:nvPr/>
        </p:nvSpPr>
        <p:spPr>
          <a:xfrm>
            <a:off x="5831196" y="4342624"/>
            <a:ext cx="438019" cy="276999"/>
          </a:xfrm>
          <a:prstGeom prst="rect">
            <a:avLst/>
          </a:prstGeom>
          <a:noFill/>
        </p:spPr>
        <p:txBody>
          <a:bodyPr wrap="square" rtlCol="0">
            <a:spAutoFit/>
          </a:bodyPr>
          <a:lstStyle/>
          <a:p>
            <a:r>
              <a:rPr lang="en-US" sz="1200" b="1">
                <a:latin typeface="Calibri" panose="020F0502020204030204" pitchFamily="34" charset="0"/>
                <a:ea typeface="Calibri" panose="020F0502020204030204" pitchFamily="34" charset="0"/>
                <a:cs typeface="Calibri" panose="020F0502020204030204" pitchFamily="34" charset="0"/>
              </a:rPr>
              <a:t>84</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67" name="TextBox 166">
            <a:extLst>
              <a:ext uri="{FF2B5EF4-FFF2-40B4-BE49-F238E27FC236}">
                <a16:creationId xmlns:a16="http://schemas.microsoft.com/office/drawing/2014/main" id="{07535E92-3079-5894-5D19-B97610168328}"/>
              </a:ext>
            </a:extLst>
          </p:cNvPr>
          <p:cNvSpPr txBox="1"/>
          <p:nvPr/>
        </p:nvSpPr>
        <p:spPr>
          <a:xfrm>
            <a:off x="6478272" y="2516839"/>
            <a:ext cx="2201326" cy="276999"/>
          </a:xfrm>
          <a:prstGeom prst="rect">
            <a:avLst/>
          </a:prstGeom>
          <a:noFill/>
        </p:spPr>
        <p:txBody>
          <a:bodyPr wrap="square" rtlCol="0">
            <a:spAutoFit/>
          </a:bodyPr>
          <a:lstStyle/>
          <a:p>
            <a:r>
              <a:rPr lang="en-IN" sz="1200" b="1">
                <a:latin typeface="Calibri" panose="020F0502020204030204" pitchFamily="34" charset="0"/>
                <a:ea typeface="Calibri" panose="020F0502020204030204" pitchFamily="34" charset="0"/>
                <a:cs typeface="Calibri" panose="020F0502020204030204" pitchFamily="34" charset="0"/>
              </a:rPr>
              <a:t>error</a:t>
            </a:r>
          </a:p>
        </p:txBody>
      </p:sp>
      <p:sp>
        <p:nvSpPr>
          <p:cNvPr id="168" name="TextBox 167">
            <a:extLst>
              <a:ext uri="{FF2B5EF4-FFF2-40B4-BE49-F238E27FC236}">
                <a16:creationId xmlns:a16="http://schemas.microsoft.com/office/drawing/2014/main" id="{CC26055B-73A2-5681-21F7-92207F7628FA}"/>
              </a:ext>
            </a:extLst>
          </p:cNvPr>
          <p:cNvSpPr txBox="1"/>
          <p:nvPr/>
        </p:nvSpPr>
        <p:spPr>
          <a:xfrm>
            <a:off x="6476698" y="1736750"/>
            <a:ext cx="920317"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aes_req_dv</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69" name="TextBox 168">
            <a:extLst>
              <a:ext uri="{FF2B5EF4-FFF2-40B4-BE49-F238E27FC236}">
                <a16:creationId xmlns:a16="http://schemas.microsoft.com/office/drawing/2014/main" id="{B3E2A5DB-78FE-4399-4DA1-5806534CB648}"/>
              </a:ext>
            </a:extLst>
          </p:cNvPr>
          <p:cNvSpPr txBox="1"/>
          <p:nvPr/>
        </p:nvSpPr>
        <p:spPr>
          <a:xfrm>
            <a:off x="6494718" y="2124121"/>
            <a:ext cx="1269994" cy="461665"/>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req_hold</a:t>
            </a:r>
            <a:endParaRPr lang="en-IN" sz="1200" b="1">
              <a:latin typeface="Calibri" panose="020F0502020204030204" pitchFamily="34" charset="0"/>
              <a:ea typeface="Calibri" panose="020F0502020204030204" pitchFamily="34" charset="0"/>
              <a:cs typeface="Calibri" panose="020F0502020204030204" pitchFamily="34" charset="0"/>
            </a:endParaRPr>
          </a:p>
          <a:p>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70" name="TextBox 169">
            <a:extLst>
              <a:ext uri="{FF2B5EF4-FFF2-40B4-BE49-F238E27FC236}">
                <a16:creationId xmlns:a16="http://schemas.microsoft.com/office/drawing/2014/main" id="{4C65BF17-AA04-E26C-9B51-7AF1368C91AF}"/>
              </a:ext>
            </a:extLst>
          </p:cNvPr>
          <p:cNvSpPr txBox="1"/>
          <p:nvPr/>
        </p:nvSpPr>
        <p:spPr>
          <a:xfrm>
            <a:off x="6509219" y="2813802"/>
            <a:ext cx="625492" cy="276999"/>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mb_dv</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71" name="TextBox 170">
            <a:extLst>
              <a:ext uri="{FF2B5EF4-FFF2-40B4-BE49-F238E27FC236}">
                <a16:creationId xmlns:a16="http://schemas.microsoft.com/office/drawing/2014/main" id="{E902C4AB-FD1B-7F46-B5E6-39DBE90079A5}"/>
              </a:ext>
            </a:extLst>
          </p:cNvPr>
          <p:cNvSpPr txBox="1"/>
          <p:nvPr/>
        </p:nvSpPr>
        <p:spPr>
          <a:xfrm>
            <a:off x="2677813" y="6182392"/>
            <a:ext cx="758734"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req_data</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72" name="TextBox 171">
            <a:extLst>
              <a:ext uri="{FF2B5EF4-FFF2-40B4-BE49-F238E27FC236}">
                <a16:creationId xmlns:a16="http://schemas.microsoft.com/office/drawing/2014/main" id="{9B9B43A6-201A-6148-04D4-FE6B175FF618}"/>
              </a:ext>
            </a:extLst>
          </p:cNvPr>
          <p:cNvSpPr txBox="1"/>
          <p:nvPr/>
        </p:nvSpPr>
        <p:spPr>
          <a:xfrm>
            <a:off x="2163795" y="5925440"/>
            <a:ext cx="1310615"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key_release_addr</a:t>
            </a:r>
            <a:endParaRPr lang="en-IN" sz="1200" b="1">
              <a:latin typeface="Calibri" panose="020F0502020204030204" pitchFamily="34" charset="0"/>
              <a:ea typeface="Calibri" panose="020F0502020204030204" pitchFamily="34" charset="0"/>
              <a:cs typeface="Calibri" panose="020F0502020204030204" pitchFamily="34" charset="0"/>
            </a:endParaRPr>
          </a:p>
        </p:txBody>
      </p:sp>
      <p:cxnSp>
        <p:nvCxnSpPr>
          <p:cNvPr id="173" name="Straight Arrow Connector 172">
            <a:extLst>
              <a:ext uri="{FF2B5EF4-FFF2-40B4-BE49-F238E27FC236}">
                <a16:creationId xmlns:a16="http://schemas.microsoft.com/office/drawing/2014/main" id="{3F2DD550-E036-BB23-63FF-23E846D5013A}"/>
              </a:ext>
            </a:extLst>
          </p:cNvPr>
          <p:cNvCxnSpPr>
            <a:cxnSpLocks/>
          </p:cNvCxnSpPr>
          <p:nvPr/>
        </p:nvCxnSpPr>
        <p:spPr>
          <a:xfrm>
            <a:off x="3573718" y="6400803"/>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4" name="TextBox 173">
            <a:extLst>
              <a:ext uri="{FF2B5EF4-FFF2-40B4-BE49-F238E27FC236}">
                <a16:creationId xmlns:a16="http://schemas.microsoft.com/office/drawing/2014/main" id="{E5FB9D78-16EB-FC60-D1FA-BB5A28624958}"/>
              </a:ext>
            </a:extLst>
          </p:cNvPr>
          <p:cNvSpPr txBox="1"/>
          <p:nvPr/>
        </p:nvSpPr>
        <p:spPr>
          <a:xfrm>
            <a:off x="6509219" y="3158305"/>
            <a:ext cx="795602"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notif_intr</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75" name="TextBox 174">
            <a:extLst>
              <a:ext uri="{FF2B5EF4-FFF2-40B4-BE49-F238E27FC236}">
                <a16:creationId xmlns:a16="http://schemas.microsoft.com/office/drawing/2014/main" id="{BC2F05A1-6054-E708-5192-F92D16A6A8C4}"/>
              </a:ext>
            </a:extLst>
          </p:cNvPr>
          <p:cNvSpPr txBox="1"/>
          <p:nvPr/>
        </p:nvSpPr>
        <p:spPr>
          <a:xfrm>
            <a:off x="6488232" y="3509729"/>
            <a:ext cx="811376"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error_intr</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76" name="TextBox 175">
            <a:extLst>
              <a:ext uri="{FF2B5EF4-FFF2-40B4-BE49-F238E27FC236}">
                <a16:creationId xmlns:a16="http://schemas.microsoft.com/office/drawing/2014/main" id="{EE55FBBF-0619-EBB8-3659-F6E2EECE33AE}"/>
              </a:ext>
            </a:extLst>
          </p:cNvPr>
          <p:cNvSpPr txBox="1"/>
          <p:nvPr/>
        </p:nvSpPr>
        <p:spPr>
          <a:xfrm>
            <a:off x="6476698" y="3768014"/>
            <a:ext cx="184731" cy="461665"/>
          </a:xfrm>
          <a:prstGeom prst="rect">
            <a:avLst/>
          </a:prstGeom>
          <a:noFill/>
        </p:spPr>
        <p:txBody>
          <a:bodyPr wrap="square" rtlCol="0">
            <a:spAutoFit/>
          </a:bodyPr>
          <a:lstStyle/>
          <a:p>
            <a:endParaRPr lang="en-IN" sz="1200" b="1">
              <a:latin typeface="Calibri" panose="020F0502020204030204" pitchFamily="34" charset="0"/>
              <a:ea typeface="Calibri" panose="020F0502020204030204" pitchFamily="34" charset="0"/>
              <a:cs typeface="Calibri" panose="020F0502020204030204" pitchFamily="34" charset="0"/>
            </a:endParaRPr>
          </a:p>
          <a:p>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77" name="TextBox 176">
            <a:extLst>
              <a:ext uri="{FF2B5EF4-FFF2-40B4-BE49-F238E27FC236}">
                <a16:creationId xmlns:a16="http://schemas.microsoft.com/office/drawing/2014/main" id="{9A6D5B72-E3CE-11CE-DDB9-D628304BB236}"/>
              </a:ext>
            </a:extLst>
          </p:cNvPr>
          <p:cNvSpPr txBox="1"/>
          <p:nvPr/>
        </p:nvSpPr>
        <p:spPr>
          <a:xfrm>
            <a:off x="6476698" y="3994784"/>
            <a:ext cx="521361"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rdata</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78" name="TextBox 177">
            <a:extLst>
              <a:ext uri="{FF2B5EF4-FFF2-40B4-BE49-F238E27FC236}">
                <a16:creationId xmlns:a16="http://schemas.microsoft.com/office/drawing/2014/main" id="{1E456214-A3C8-0993-B2F4-2480D1551648}"/>
              </a:ext>
            </a:extLst>
          </p:cNvPr>
          <p:cNvSpPr txBox="1"/>
          <p:nvPr/>
        </p:nvSpPr>
        <p:spPr>
          <a:xfrm>
            <a:off x="6488232" y="4408203"/>
            <a:ext cx="695896"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kv_read</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79" name="TextBox 178">
            <a:extLst>
              <a:ext uri="{FF2B5EF4-FFF2-40B4-BE49-F238E27FC236}">
                <a16:creationId xmlns:a16="http://schemas.microsoft.com/office/drawing/2014/main" id="{383E1491-4044-2B7A-2203-5FD96BCBE036}"/>
              </a:ext>
            </a:extLst>
          </p:cNvPr>
          <p:cNvSpPr txBox="1"/>
          <p:nvPr/>
        </p:nvSpPr>
        <p:spPr>
          <a:xfrm>
            <a:off x="6530058" y="4739363"/>
            <a:ext cx="1048877" cy="461665"/>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aes_req_data</a:t>
            </a:r>
            <a:endParaRPr lang="en-IN" sz="1200" b="1">
              <a:latin typeface="Calibri" panose="020F0502020204030204" pitchFamily="34" charset="0"/>
              <a:ea typeface="Calibri" panose="020F0502020204030204" pitchFamily="34" charset="0"/>
              <a:cs typeface="Calibri" panose="020F0502020204030204" pitchFamily="34" charset="0"/>
            </a:endParaRPr>
          </a:p>
          <a:p>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80" name="TextBox 179">
            <a:extLst>
              <a:ext uri="{FF2B5EF4-FFF2-40B4-BE49-F238E27FC236}">
                <a16:creationId xmlns:a16="http://schemas.microsoft.com/office/drawing/2014/main" id="{8CEB846E-12DB-7F3E-FA32-C01EB7951434}"/>
              </a:ext>
            </a:extLst>
          </p:cNvPr>
          <p:cNvSpPr txBox="1"/>
          <p:nvPr/>
        </p:nvSpPr>
        <p:spPr>
          <a:xfrm>
            <a:off x="6490206" y="5171418"/>
            <a:ext cx="1867789" cy="276999"/>
          </a:xfrm>
          <a:prstGeom prst="rect">
            <a:avLst/>
          </a:prstGeom>
          <a:noFill/>
        </p:spPr>
        <p:txBody>
          <a:bodyPr wrap="square" rtlCol="0">
            <a:spAutoFit/>
          </a:bodyPr>
          <a:lstStyle/>
          <a:p>
            <a:r>
              <a:rPr lang="en-IN" sz="1200" b="1" err="1">
                <a:latin typeface="Calibri" panose="020F0502020204030204" pitchFamily="34" charset="0"/>
                <a:ea typeface="Calibri" panose="020F0502020204030204" pitchFamily="34" charset="0"/>
                <a:cs typeface="Calibri" panose="020F0502020204030204" pitchFamily="34" charset="0"/>
              </a:rPr>
              <a:t>mbox_req_data</a:t>
            </a:r>
            <a:endParaRPr lang="en-IN" sz="1200" b="1">
              <a:latin typeface="Calibri" panose="020F0502020204030204" pitchFamily="34" charset="0"/>
              <a:ea typeface="Calibri" panose="020F0502020204030204" pitchFamily="34" charset="0"/>
              <a:cs typeface="Calibri" panose="020F0502020204030204" pitchFamily="34" charset="0"/>
            </a:endParaRPr>
          </a:p>
        </p:txBody>
      </p:sp>
      <p:cxnSp>
        <p:nvCxnSpPr>
          <p:cNvPr id="181" name="Straight Arrow Connector 180">
            <a:extLst>
              <a:ext uri="{FF2B5EF4-FFF2-40B4-BE49-F238E27FC236}">
                <a16:creationId xmlns:a16="http://schemas.microsoft.com/office/drawing/2014/main" id="{7626B372-8340-CD96-55F3-06C98A05DBBD}"/>
              </a:ext>
            </a:extLst>
          </p:cNvPr>
          <p:cNvCxnSpPr>
            <a:cxnSpLocks/>
          </p:cNvCxnSpPr>
          <p:nvPr/>
        </p:nvCxnSpPr>
        <p:spPr>
          <a:xfrm>
            <a:off x="3571550" y="4523851"/>
            <a:ext cx="7027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871EE58C-1033-539F-F857-3DC97E6FDEAB}"/>
              </a:ext>
            </a:extLst>
          </p:cNvPr>
          <p:cNvSpPr txBox="1"/>
          <p:nvPr/>
        </p:nvSpPr>
        <p:spPr>
          <a:xfrm>
            <a:off x="3113257" y="4060802"/>
            <a:ext cx="340158" cy="276999"/>
          </a:xfrm>
          <a:prstGeom prst="rect">
            <a:avLst/>
          </a:prstGeom>
          <a:noFill/>
        </p:spPr>
        <p:txBody>
          <a:bodyPr wrap="square" rtlCol="0">
            <a:spAutoFit/>
          </a:bodyPr>
          <a:lstStyle/>
          <a:p>
            <a:r>
              <a:rPr lang="en-US" sz="1200" b="1">
                <a:latin typeface="Calibri" panose="020F0502020204030204" pitchFamily="34" charset="0"/>
                <a:ea typeface="Calibri" panose="020F0502020204030204" pitchFamily="34" charset="0"/>
                <a:cs typeface="Calibri" panose="020F0502020204030204" pitchFamily="34" charset="0"/>
              </a:rPr>
              <a:t>dv</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83" name="TextBox 182">
            <a:extLst>
              <a:ext uri="{FF2B5EF4-FFF2-40B4-BE49-F238E27FC236}">
                <a16:creationId xmlns:a16="http://schemas.microsoft.com/office/drawing/2014/main" id="{E91E855B-A54E-A639-2690-0F62BAD1DBB2}"/>
              </a:ext>
            </a:extLst>
          </p:cNvPr>
          <p:cNvSpPr txBox="1"/>
          <p:nvPr/>
        </p:nvSpPr>
        <p:spPr>
          <a:xfrm>
            <a:off x="2709547" y="4301837"/>
            <a:ext cx="758541"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mb_hold</a:t>
            </a:r>
            <a:endParaRPr lang="en-IN" sz="1200" b="1">
              <a:latin typeface="Calibri" panose="020F0502020204030204" pitchFamily="34" charset="0"/>
              <a:ea typeface="Calibri" panose="020F0502020204030204" pitchFamily="34" charset="0"/>
              <a:cs typeface="Calibri" panose="020F0502020204030204" pitchFamily="34" charset="0"/>
            </a:endParaRPr>
          </a:p>
        </p:txBody>
      </p:sp>
      <p:cxnSp>
        <p:nvCxnSpPr>
          <p:cNvPr id="184" name="Straight Connector 183">
            <a:extLst>
              <a:ext uri="{FF2B5EF4-FFF2-40B4-BE49-F238E27FC236}">
                <a16:creationId xmlns:a16="http://schemas.microsoft.com/office/drawing/2014/main" id="{CBE4E1B6-F467-F118-AD3C-B4B14993E17C}"/>
              </a:ext>
            </a:extLst>
          </p:cNvPr>
          <p:cNvCxnSpPr>
            <a:cxnSpLocks/>
          </p:cNvCxnSpPr>
          <p:nvPr/>
        </p:nvCxnSpPr>
        <p:spPr>
          <a:xfrm flipH="1">
            <a:off x="3850039" y="5990673"/>
            <a:ext cx="150730" cy="2076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Straight Connector 184">
            <a:extLst>
              <a:ext uri="{FF2B5EF4-FFF2-40B4-BE49-F238E27FC236}">
                <a16:creationId xmlns:a16="http://schemas.microsoft.com/office/drawing/2014/main" id="{C9343AD8-4F32-4402-3B52-2FC464D55799}"/>
              </a:ext>
            </a:extLst>
          </p:cNvPr>
          <p:cNvCxnSpPr>
            <a:cxnSpLocks/>
          </p:cNvCxnSpPr>
          <p:nvPr/>
        </p:nvCxnSpPr>
        <p:spPr>
          <a:xfrm flipH="1">
            <a:off x="3786253" y="6299952"/>
            <a:ext cx="150730" cy="2076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Straight Connector 185">
            <a:extLst>
              <a:ext uri="{FF2B5EF4-FFF2-40B4-BE49-F238E27FC236}">
                <a16:creationId xmlns:a16="http://schemas.microsoft.com/office/drawing/2014/main" id="{00E25D42-ED12-4973-047A-72C041D9B3E3}"/>
              </a:ext>
            </a:extLst>
          </p:cNvPr>
          <p:cNvCxnSpPr>
            <a:cxnSpLocks/>
          </p:cNvCxnSpPr>
          <p:nvPr/>
        </p:nvCxnSpPr>
        <p:spPr>
          <a:xfrm flipH="1">
            <a:off x="3839732" y="6561666"/>
            <a:ext cx="150730" cy="2076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87" name="TextBox 186">
            <a:extLst>
              <a:ext uri="{FF2B5EF4-FFF2-40B4-BE49-F238E27FC236}">
                <a16:creationId xmlns:a16="http://schemas.microsoft.com/office/drawing/2014/main" id="{F855DBB6-6A64-C9BA-AC1F-20ABDE57D52F}"/>
              </a:ext>
            </a:extLst>
          </p:cNvPr>
          <p:cNvSpPr txBox="1"/>
          <p:nvPr/>
        </p:nvSpPr>
        <p:spPr>
          <a:xfrm>
            <a:off x="3359567" y="6093092"/>
            <a:ext cx="420308" cy="276999"/>
          </a:xfrm>
          <a:prstGeom prst="rect">
            <a:avLst/>
          </a:prstGeom>
          <a:noFill/>
        </p:spPr>
        <p:txBody>
          <a:bodyPr wrap="square" rtlCol="0">
            <a:spAutoFit/>
          </a:bodyPr>
          <a:lstStyle/>
          <a:p>
            <a:r>
              <a:rPr lang="en-US" sz="1200" b="1">
                <a:latin typeface="Calibri" panose="020F0502020204030204" pitchFamily="34" charset="0"/>
                <a:ea typeface="Calibri" panose="020F0502020204030204" pitchFamily="34" charset="0"/>
                <a:cs typeface="Calibri" panose="020F0502020204030204" pitchFamily="34" charset="0"/>
              </a:rPr>
              <a:t>134</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88" name="TextBox 187">
            <a:extLst>
              <a:ext uri="{FF2B5EF4-FFF2-40B4-BE49-F238E27FC236}">
                <a16:creationId xmlns:a16="http://schemas.microsoft.com/office/drawing/2014/main" id="{955C9231-3EDD-5098-1716-A8BC616A313A}"/>
              </a:ext>
            </a:extLst>
          </p:cNvPr>
          <p:cNvSpPr txBox="1"/>
          <p:nvPr/>
        </p:nvSpPr>
        <p:spPr>
          <a:xfrm>
            <a:off x="2609664" y="6468488"/>
            <a:ext cx="894412" cy="276999"/>
          </a:xfrm>
          <a:prstGeom prst="rect">
            <a:avLst/>
          </a:prstGeom>
          <a:noFill/>
        </p:spPr>
        <p:txBody>
          <a:bodyPr wrap="square" rtlCol="0">
            <a:spAutoFit/>
          </a:bodyPr>
          <a:lstStyle/>
          <a:p>
            <a:r>
              <a:rPr lang="en-US" sz="1200" b="1" err="1">
                <a:latin typeface="Calibri" panose="020F0502020204030204" pitchFamily="34" charset="0"/>
                <a:ea typeface="Calibri" panose="020F0502020204030204" pitchFamily="34" charset="0"/>
                <a:cs typeface="Calibri" panose="020F0502020204030204" pitchFamily="34" charset="0"/>
              </a:rPr>
              <a:t>kv_rd_resp</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89" name="TextBox 188">
            <a:extLst>
              <a:ext uri="{FF2B5EF4-FFF2-40B4-BE49-F238E27FC236}">
                <a16:creationId xmlns:a16="http://schemas.microsoft.com/office/drawing/2014/main" id="{DC50B151-D8E7-DBDD-F18D-3147415A9DBD}"/>
              </a:ext>
            </a:extLst>
          </p:cNvPr>
          <p:cNvSpPr txBox="1"/>
          <p:nvPr/>
        </p:nvSpPr>
        <p:spPr>
          <a:xfrm>
            <a:off x="3456566" y="6423142"/>
            <a:ext cx="420308" cy="276999"/>
          </a:xfrm>
          <a:prstGeom prst="rect">
            <a:avLst/>
          </a:prstGeom>
          <a:noFill/>
        </p:spPr>
        <p:txBody>
          <a:bodyPr wrap="square" rtlCol="0">
            <a:spAutoFit/>
          </a:bodyPr>
          <a:lstStyle/>
          <a:p>
            <a:r>
              <a:rPr lang="en-US" sz="1200" b="1">
                <a:latin typeface="Calibri" panose="020F0502020204030204" pitchFamily="34" charset="0"/>
                <a:ea typeface="Calibri" panose="020F0502020204030204" pitchFamily="34" charset="0"/>
                <a:cs typeface="Calibri" panose="020F0502020204030204" pitchFamily="34" charset="0"/>
              </a:rPr>
              <a:t>167</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
        <p:nvSpPr>
          <p:cNvPr id="190" name="TextBox 189">
            <a:extLst>
              <a:ext uri="{FF2B5EF4-FFF2-40B4-BE49-F238E27FC236}">
                <a16:creationId xmlns:a16="http://schemas.microsoft.com/office/drawing/2014/main" id="{4A7DDDD0-B7B2-5598-C2E3-633B5AD6F3CD}"/>
              </a:ext>
            </a:extLst>
          </p:cNvPr>
          <p:cNvSpPr txBox="1"/>
          <p:nvPr/>
        </p:nvSpPr>
        <p:spPr>
          <a:xfrm>
            <a:off x="5747508" y="4686092"/>
            <a:ext cx="420308" cy="276999"/>
          </a:xfrm>
          <a:prstGeom prst="rect">
            <a:avLst/>
          </a:prstGeom>
          <a:noFill/>
        </p:spPr>
        <p:txBody>
          <a:bodyPr wrap="square" rtlCol="0">
            <a:spAutoFit/>
          </a:bodyPr>
          <a:lstStyle/>
          <a:p>
            <a:r>
              <a:rPr lang="en-US" sz="1200" b="1">
                <a:latin typeface="Calibri" panose="020F0502020204030204" pitchFamily="34" charset="0"/>
                <a:ea typeface="Calibri" panose="020F0502020204030204" pitchFamily="34" charset="0"/>
                <a:cs typeface="Calibri" panose="020F0502020204030204" pitchFamily="34" charset="0"/>
              </a:rPr>
              <a:t>134</a:t>
            </a:r>
            <a:endParaRPr lang="en-IN" sz="1200" b="1">
              <a:latin typeface="Calibri" panose="020F0502020204030204" pitchFamily="34" charset="0"/>
              <a:ea typeface="Calibri" panose="020F0502020204030204" pitchFamily="34" charset="0"/>
              <a:cs typeface="Calibri" panose="020F0502020204030204" pitchFamily="34" charset="0"/>
            </a:endParaRPr>
          </a:p>
        </p:txBody>
      </p:sp>
      <p:cxnSp>
        <p:nvCxnSpPr>
          <p:cNvPr id="191" name="Straight Connector 190">
            <a:extLst>
              <a:ext uri="{FF2B5EF4-FFF2-40B4-BE49-F238E27FC236}">
                <a16:creationId xmlns:a16="http://schemas.microsoft.com/office/drawing/2014/main" id="{5041695B-9254-35A1-6DF2-A902C9ED9CDB}"/>
              </a:ext>
            </a:extLst>
          </p:cNvPr>
          <p:cNvCxnSpPr>
            <a:cxnSpLocks/>
          </p:cNvCxnSpPr>
          <p:nvPr/>
        </p:nvCxnSpPr>
        <p:spPr>
          <a:xfrm flipH="1">
            <a:off x="6124600" y="3998321"/>
            <a:ext cx="150730" cy="2076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2" name="Straight Connector 191">
            <a:extLst>
              <a:ext uri="{FF2B5EF4-FFF2-40B4-BE49-F238E27FC236}">
                <a16:creationId xmlns:a16="http://schemas.microsoft.com/office/drawing/2014/main" id="{6157CD38-E760-9C62-63AC-61910AD9D27C}"/>
              </a:ext>
            </a:extLst>
          </p:cNvPr>
          <p:cNvCxnSpPr>
            <a:cxnSpLocks/>
          </p:cNvCxnSpPr>
          <p:nvPr/>
        </p:nvCxnSpPr>
        <p:spPr>
          <a:xfrm flipH="1">
            <a:off x="6116083" y="5270333"/>
            <a:ext cx="150730" cy="20766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3" name="TextBox 192">
            <a:extLst>
              <a:ext uri="{FF2B5EF4-FFF2-40B4-BE49-F238E27FC236}">
                <a16:creationId xmlns:a16="http://schemas.microsoft.com/office/drawing/2014/main" id="{FBE13638-A29F-2922-D7C5-207B835A6FB0}"/>
              </a:ext>
            </a:extLst>
          </p:cNvPr>
          <p:cNvSpPr txBox="1"/>
          <p:nvPr/>
        </p:nvSpPr>
        <p:spPr>
          <a:xfrm>
            <a:off x="5737217" y="5040403"/>
            <a:ext cx="420308" cy="276999"/>
          </a:xfrm>
          <a:prstGeom prst="rect">
            <a:avLst/>
          </a:prstGeom>
          <a:noFill/>
        </p:spPr>
        <p:txBody>
          <a:bodyPr wrap="square" rtlCol="0">
            <a:spAutoFit/>
          </a:bodyPr>
          <a:lstStyle/>
          <a:p>
            <a:r>
              <a:rPr lang="en-US" sz="1200" b="1">
                <a:latin typeface="Calibri" panose="020F0502020204030204" pitchFamily="34" charset="0"/>
                <a:ea typeface="Calibri" panose="020F0502020204030204" pitchFamily="34" charset="0"/>
                <a:cs typeface="Calibri" panose="020F0502020204030204" pitchFamily="34" charset="0"/>
              </a:rPr>
              <a:t>134</a:t>
            </a:r>
            <a:endParaRPr lang="en-IN" sz="1200" b="1">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042402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3FE9B-B5D0-FD15-D3BF-4D7A278E1D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E5B04-CF13-4DBB-2F57-1B51EB32CA98}"/>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ea typeface="Calibri"/>
                <a:cs typeface="Calibri"/>
              </a:rPr>
              <a:t>DMA Assist Engine Input Signal Description</a:t>
            </a:r>
            <a:endParaRPr lang="en-GB"/>
          </a:p>
        </p:txBody>
      </p:sp>
      <p:sp>
        <p:nvSpPr>
          <p:cNvPr id="18" name="TextBox 17">
            <a:extLst>
              <a:ext uri="{FF2B5EF4-FFF2-40B4-BE49-F238E27FC236}">
                <a16:creationId xmlns:a16="http://schemas.microsoft.com/office/drawing/2014/main" id="{FCF289BA-FB0D-E530-F128-BB8CF4F26342}"/>
              </a:ext>
            </a:extLst>
          </p:cNvPr>
          <p:cNvSpPr txBox="1"/>
          <p:nvPr/>
        </p:nvSpPr>
        <p:spPr>
          <a:xfrm>
            <a:off x="1131071" y="941142"/>
            <a:ext cx="6096000" cy="369332"/>
          </a:xfrm>
          <a:prstGeom prst="rect">
            <a:avLst/>
          </a:prstGeom>
          <a:noFill/>
        </p:spPr>
        <p:txBody>
          <a:bodyPr wrap="square">
            <a:spAutoFit/>
          </a:bodyPr>
          <a:lstStyle/>
          <a:p>
            <a:r>
              <a:rPr lang="en-IN"/>
              <a:t>Table 4. Inputs of DMA Assist Engine</a:t>
            </a:r>
          </a:p>
        </p:txBody>
      </p:sp>
      <p:sp>
        <p:nvSpPr>
          <p:cNvPr id="104" name="Slide Number Placeholder 3">
            <a:extLst>
              <a:ext uri="{FF2B5EF4-FFF2-40B4-BE49-F238E27FC236}">
                <a16:creationId xmlns:a16="http://schemas.microsoft.com/office/drawing/2014/main" id="{828BF31B-1E22-BEEE-0E3A-A2A8B85C74E9}"/>
              </a:ext>
            </a:extLst>
          </p:cNvPr>
          <p:cNvSpPr>
            <a:spLocks noGrp="1"/>
          </p:cNvSpPr>
          <p:nvPr>
            <p:ph type="sldNum" sz="quarter" idx="12"/>
          </p:nvPr>
        </p:nvSpPr>
        <p:spPr>
          <a:xfrm>
            <a:off x="8610600" y="6889760"/>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50</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D2E7EE7A-9AFA-2005-9E24-BF97C72E3899}"/>
              </a:ext>
            </a:extLst>
          </p:cNvPr>
          <p:cNvGraphicFramePr>
            <a:graphicFrameLocks noGrp="1"/>
          </p:cNvGraphicFramePr>
          <p:nvPr/>
        </p:nvGraphicFramePr>
        <p:xfrm>
          <a:off x="1131071" y="1391920"/>
          <a:ext cx="9152468" cy="4074160"/>
        </p:xfrm>
        <a:graphic>
          <a:graphicData uri="http://schemas.openxmlformats.org/drawingml/2006/table">
            <a:tbl>
              <a:tblPr firstRow="1" bandRow="1">
                <a:tableStyleId>{5C22544A-7EE6-4342-B048-85BDC9FD1C3A}</a:tableStyleId>
              </a:tblPr>
              <a:tblGrid>
                <a:gridCol w="2288117">
                  <a:extLst>
                    <a:ext uri="{9D8B030D-6E8A-4147-A177-3AD203B41FA5}">
                      <a16:colId xmlns:a16="http://schemas.microsoft.com/office/drawing/2014/main" val="1973430579"/>
                    </a:ext>
                  </a:extLst>
                </a:gridCol>
                <a:gridCol w="1310217">
                  <a:extLst>
                    <a:ext uri="{9D8B030D-6E8A-4147-A177-3AD203B41FA5}">
                      <a16:colId xmlns:a16="http://schemas.microsoft.com/office/drawing/2014/main" val="760745386"/>
                    </a:ext>
                  </a:extLst>
                </a:gridCol>
                <a:gridCol w="1752600">
                  <a:extLst>
                    <a:ext uri="{9D8B030D-6E8A-4147-A177-3AD203B41FA5}">
                      <a16:colId xmlns:a16="http://schemas.microsoft.com/office/drawing/2014/main" val="3612705776"/>
                    </a:ext>
                  </a:extLst>
                </a:gridCol>
                <a:gridCol w="3801534">
                  <a:extLst>
                    <a:ext uri="{9D8B030D-6E8A-4147-A177-3AD203B41FA5}">
                      <a16:colId xmlns:a16="http://schemas.microsoft.com/office/drawing/2014/main" val="3943392966"/>
                    </a:ext>
                  </a:extLst>
                </a:gridCol>
              </a:tblGrid>
              <a:tr h="370840">
                <a:tc>
                  <a:txBody>
                    <a:bodyPr/>
                    <a:lstStyle/>
                    <a:p>
                      <a:pPr algn="ctr">
                        <a:buNone/>
                      </a:pPr>
                      <a:r>
                        <a:rPr lang="en-IN"/>
                        <a:t>Signal Name</a:t>
                      </a:r>
                    </a:p>
                  </a:txBody>
                  <a:tcPr anchor="ctr"/>
                </a:tc>
                <a:tc>
                  <a:txBody>
                    <a:bodyPr/>
                    <a:lstStyle/>
                    <a:p>
                      <a:pPr algn="ctr">
                        <a:buNone/>
                      </a:pPr>
                      <a:r>
                        <a:rPr lang="en-IN"/>
                        <a:t>Width</a:t>
                      </a:r>
                    </a:p>
                  </a:txBody>
                  <a:tcPr anchor="ctr"/>
                </a:tc>
                <a:tc>
                  <a:txBody>
                    <a:bodyPr/>
                    <a:lstStyle/>
                    <a:p>
                      <a:pPr algn="ctr">
                        <a:buNone/>
                      </a:pPr>
                      <a:r>
                        <a:rPr lang="en-IN"/>
                        <a:t>Direction</a:t>
                      </a:r>
                    </a:p>
                  </a:txBody>
                  <a:tcPr anchor="ctr"/>
                </a:tc>
                <a:tc>
                  <a:txBody>
                    <a:bodyPr/>
                    <a:lstStyle/>
                    <a:p>
                      <a:pPr algn="ctr">
                        <a:buNone/>
                      </a:pPr>
                      <a:r>
                        <a:rPr lang="en-IN"/>
                        <a:t>Description</a:t>
                      </a:r>
                    </a:p>
                  </a:txBody>
                  <a:tcPr anchor="ctr"/>
                </a:tc>
                <a:extLst>
                  <a:ext uri="{0D108BD9-81ED-4DB2-BD59-A6C34878D82A}">
                    <a16:rowId xmlns:a16="http://schemas.microsoft.com/office/drawing/2014/main" val="4223026766"/>
                  </a:ext>
                </a:extLst>
              </a:tr>
              <a:tr h="178647">
                <a:tc>
                  <a:txBody>
                    <a:bodyPr/>
                    <a:lstStyle/>
                    <a:p>
                      <a:pPr algn="ctr">
                        <a:buNone/>
                      </a:pPr>
                      <a:r>
                        <a:rPr lang="en-IN" err="1">
                          <a:latin typeface="Courier New" panose="02070309020205020404" pitchFamily="49" charset="0"/>
                        </a:rPr>
                        <a:t>clk</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System clock for DMA operation</a:t>
                      </a:r>
                    </a:p>
                  </a:txBody>
                  <a:tcPr anchor="ctr"/>
                </a:tc>
                <a:extLst>
                  <a:ext uri="{0D108BD9-81ED-4DB2-BD59-A6C34878D82A}">
                    <a16:rowId xmlns:a16="http://schemas.microsoft.com/office/drawing/2014/main" val="2211963191"/>
                  </a:ext>
                </a:extLst>
              </a:tr>
              <a:tr h="370840">
                <a:tc>
                  <a:txBody>
                    <a:bodyPr/>
                    <a:lstStyle/>
                    <a:p>
                      <a:pPr algn="ctr">
                        <a:buNone/>
                      </a:pPr>
                      <a:r>
                        <a:rPr lang="en-IN">
                          <a:latin typeface="Courier New" panose="02070309020205020404" pitchFamily="49" charset="0"/>
                        </a:rPr>
                        <a:t>reset_n</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Active-low reset</a:t>
                      </a:r>
                    </a:p>
                  </a:txBody>
                  <a:tcPr anchor="ctr"/>
                </a:tc>
                <a:extLst>
                  <a:ext uri="{0D108BD9-81ED-4DB2-BD59-A6C34878D82A}">
                    <a16:rowId xmlns:a16="http://schemas.microsoft.com/office/drawing/2014/main" val="218062552"/>
                  </a:ext>
                </a:extLst>
              </a:tr>
              <a:tr h="370840">
                <a:tc>
                  <a:txBody>
                    <a:bodyPr/>
                    <a:lstStyle/>
                    <a:p>
                      <a:pPr algn="ctr">
                        <a:buNone/>
                      </a:pPr>
                      <a:r>
                        <a:rPr lang="en-IN">
                          <a:latin typeface="Courier New" panose="02070309020205020404" pitchFamily="49" charset="0"/>
                        </a:rPr>
                        <a:t>dma_start_i</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Starts DMA transfer</a:t>
                      </a:r>
                    </a:p>
                  </a:txBody>
                  <a:tcPr anchor="ctr"/>
                </a:tc>
                <a:extLst>
                  <a:ext uri="{0D108BD9-81ED-4DB2-BD59-A6C34878D82A}">
                    <a16:rowId xmlns:a16="http://schemas.microsoft.com/office/drawing/2014/main" val="4290629588"/>
                  </a:ext>
                </a:extLst>
              </a:tr>
              <a:tr h="370840">
                <a:tc>
                  <a:txBody>
                    <a:bodyPr/>
                    <a:lstStyle/>
                    <a:p>
                      <a:pPr algn="ctr">
                        <a:buNone/>
                      </a:pPr>
                      <a:r>
                        <a:rPr lang="en-IN">
                          <a:latin typeface="Courier New" panose="02070309020205020404" pitchFamily="49" charset="0"/>
                        </a:rPr>
                        <a:t>axi_rvalid_i</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AXI read data valid</a:t>
                      </a:r>
                    </a:p>
                  </a:txBody>
                  <a:tcPr anchor="ctr"/>
                </a:tc>
                <a:extLst>
                  <a:ext uri="{0D108BD9-81ED-4DB2-BD59-A6C34878D82A}">
                    <a16:rowId xmlns:a16="http://schemas.microsoft.com/office/drawing/2014/main" val="4063914112"/>
                  </a:ext>
                </a:extLst>
              </a:tr>
              <a:tr h="370840">
                <a:tc>
                  <a:txBody>
                    <a:bodyPr/>
                    <a:lstStyle/>
                    <a:p>
                      <a:pPr algn="ctr">
                        <a:buNone/>
                      </a:pPr>
                      <a:r>
                        <a:rPr lang="en-IN" err="1">
                          <a:latin typeface="Courier New" panose="02070309020205020404" pitchFamily="49" charset="0"/>
                        </a:rPr>
                        <a:t>axi_rlast_i</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AXI last read transfer indication</a:t>
                      </a:r>
                    </a:p>
                  </a:txBody>
                  <a:tcPr anchor="ctr"/>
                </a:tc>
                <a:extLst>
                  <a:ext uri="{0D108BD9-81ED-4DB2-BD59-A6C34878D82A}">
                    <a16:rowId xmlns:a16="http://schemas.microsoft.com/office/drawing/2014/main" val="2853821321"/>
                  </a:ext>
                </a:extLst>
              </a:tr>
              <a:tr h="370840">
                <a:tc>
                  <a:txBody>
                    <a:bodyPr/>
                    <a:lstStyle/>
                    <a:p>
                      <a:pPr algn="ctr">
                        <a:buNone/>
                      </a:pPr>
                      <a:r>
                        <a:rPr lang="en-IN">
                          <a:latin typeface="Courier New" panose="02070309020205020404" pitchFamily="49" charset="0"/>
                        </a:rPr>
                        <a:t>axi_awready_i</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AXI write address ready</a:t>
                      </a:r>
                    </a:p>
                  </a:txBody>
                  <a:tcPr anchor="ctr"/>
                </a:tc>
                <a:extLst>
                  <a:ext uri="{0D108BD9-81ED-4DB2-BD59-A6C34878D82A}">
                    <a16:rowId xmlns:a16="http://schemas.microsoft.com/office/drawing/2014/main" val="914187702"/>
                  </a:ext>
                </a:extLst>
              </a:tr>
              <a:tr h="370840">
                <a:tc>
                  <a:txBody>
                    <a:bodyPr/>
                    <a:lstStyle/>
                    <a:p>
                      <a:pPr algn="ctr">
                        <a:buNone/>
                      </a:pPr>
                      <a:r>
                        <a:rPr lang="en-IN">
                          <a:latin typeface="Courier New" panose="02070309020205020404" pitchFamily="49" charset="0"/>
                        </a:rPr>
                        <a:t>axi_wready_i</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AXI write data ready</a:t>
                      </a:r>
                    </a:p>
                  </a:txBody>
                  <a:tcPr anchor="ctr"/>
                </a:tc>
                <a:extLst>
                  <a:ext uri="{0D108BD9-81ED-4DB2-BD59-A6C34878D82A}">
                    <a16:rowId xmlns:a16="http://schemas.microsoft.com/office/drawing/2014/main" val="4071241924"/>
                  </a:ext>
                </a:extLst>
              </a:tr>
              <a:tr h="370840">
                <a:tc>
                  <a:txBody>
                    <a:bodyPr/>
                    <a:lstStyle/>
                    <a:p>
                      <a:pPr algn="ctr">
                        <a:buNone/>
                      </a:pPr>
                      <a:r>
                        <a:rPr lang="en-IN">
                          <a:latin typeface="Courier New" panose="02070309020205020404" pitchFamily="49" charset="0"/>
                        </a:rPr>
                        <a:t>axi_bvalid_i</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AXI write response valid</a:t>
                      </a:r>
                    </a:p>
                  </a:txBody>
                  <a:tcPr anchor="ctr"/>
                </a:tc>
                <a:extLst>
                  <a:ext uri="{0D108BD9-81ED-4DB2-BD59-A6C34878D82A}">
                    <a16:rowId xmlns:a16="http://schemas.microsoft.com/office/drawing/2014/main" val="3309553398"/>
                  </a:ext>
                </a:extLst>
              </a:tr>
              <a:tr h="370840">
                <a:tc>
                  <a:txBody>
                    <a:bodyPr/>
                    <a:lstStyle/>
                    <a:p>
                      <a:pPr algn="ctr">
                        <a:buNone/>
                      </a:pPr>
                      <a:r>
                        <a:rPr lang="en-IN">
                          <a:latin typeface="Courier New" panose="02070309020205020404" pitchFamily="49" charset="0"/>
                        </a:rPr>
                        <a:t>aes_done_i</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AES processing completed</a:t>
                      </a:r>
                    </a:p>
                  </a:txBody>
                  <a:tcPr anchor="ctr"/>
                </a:tc>
                <a:extLst>
                  <a:ext uri="{0D108BD9-81ED-4DB2-BD59-A6C34878D82A}">
                    <a16:rowId xmlns:a16="http://schemas.microsoft.com/office/drawing/2014/main" val="1224752665"/>
                  </a:ext>
                </a:extLst>
              </a:tr>
              <a:tr h="370840">
                <a:tc>
                  <a:txBody>
                    <a:bodyPr/>
                    <a:lstStyle/>
                    <a:p>
                      <a:pPr algn="ctr">
                        <a:buNone/>
                      </a:pPr>
                      <a:r>
                        <a:rPr lang="en-IN">
                          <a:latin typeface="Courier New" panose="02070309020205020404" pitchFamily="49" charset="0"/>
                        </a:rPr>
                        <a:t>recovery_req_i</a:t>
                      </a:r>
                      <a:endParaRPr lang="en-IN"/>
                    </a:p>
                  </a:txBody>
                  <a:tcPr anchor="ctr"/>
                </a:tc>
                <a:tc>
                  <a:txBody>
                    <a:bodyPr/>
                    <a:lstStyle/>
                    <a:p>
                      <a:pPr algn="ctr">
                        <a:buNone/>
                      </a:pPr>
                      <a:r>
                        <a:rPr lang="en-IN"/>
                        <a:t>1</a:t>
                      </a:r>
                    </a:p>
                  </a:txBody>
                  <a:tcPr anchor="ctr"/>
                </a:tc>
                <a:tc>
                  <a:txBody>
                    <a:bodyPr/>
                    <a:lstStyle/>
                    <a:p>
                      <a:pPr algn="ctr">
                        <a:buNone/>
                      </a:pPr>
                      <a:r>
                        <a:rPr lang="en-IN"/>
                        <a:t>Input</a:t>
                      </a:r>
                    </a:p>
                  </a:txBody>
                  <a:tcPr anchor="ctr"/>
                </a:tc>
                <a:tc>
                  <a:txBody>
                    <a:bodyPr/>
                    <a:lstStyle/>
                    <a:p>
                      <a:pPr algn="ctr">
                        <a:buNone/>
                      </a:pPr>
                      <a:r>
                        <a:rPr lang="en-IN"/>
                        <a:t>Recovery image transfer request</a:t>
                      </a:r>
                    </a:p>
                  </a:txBody>
                  <a:tcPr anchor="ctr"/>
                </a:tc>
                <a:extLst>
                  <a:ext uri="{0D108BD9-81ED-4DB2-BD59-A6C34878D82A}">
                    <a16:rowId xmlns:a16="http://schemas.microsoft.com/office/drawing/2014/main" val="474784211"/>
                  </a:ext>
                </a:extLst>
              </a:tr>
            </a:tbl>
          </a:graphicData>
        </a:graphic>
      </p:graphicFrame>
    </p:spTree>
    <p:extLst>
      <p:ext uri="{BB962C8B-B14F-4D97-AF65-F5344CB8AC3E}">
        <p14:creationId xmlns:p14="http://schemas.microsoft.com/office/powerpoint/2010/main" val="36360847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A7332-08AE-BAE7-A0E1-D728762DD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3B8C1-E124-7062-EC66-41009006D8C2}"/>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ea typeface="Calibri"/>
                <a:cs typeface="Calibri"/>
              </a:rPr>
              <a:t>DMA Assist Engine Input Signal Description</a:t>
            </a:r>
            <a:endParaRPr lang="en-GB"/>
          </a:p>
        </p:txBody>
      </p:sp>
      <p:sp>
        <p:nvSpPr>
          <p:cNvPr id="18" name="TextBox 17">
            <a:extLst>
              <a:ext uri="{FF2B5EF4-FFF2-40B4-BE49-F238E27FC236}">
                <a16:creationId xmlns:a16="http://schemas.microsoft.com/office/drawing/2014/main" id="{97FB63B8-9A58-957E-773E-4E8460C34EA1}"/>
              </a:ext>
            </a:extLst>
          </p:cNvPr>
          <p:cNvSpPr txBox="1"/>
          <p:nvPr/>
        </p:nvSpPr>
        <p:spPr>
          <a:xfrm>
            <a:off x="1131071" y="941142"/>
            <a:ext cx="6096000" cy="369332"/>
          </a:xfrm>
          <a:prstGeom prst="rect">
            <a:avLst/>
          </a:prstGeom>
          <a:noFill/>
        </p:spPr>
        <p:txBody>
          <a:bodyPr wrap="square">
            <a:spAutoFit/>
          </a:bodyPr>
          <a:lstStyle/>
          <a:p>
            <a:r>
              <a:rPr lang="en-IN"/>
              <a:t>Table 5. Inputs of DMA Assist Engine</a:t>
            </a:r>
          </a:p>
        </p:txBody>
      </p:sp>
      <p:sp>
        <p:nvSpPr>
          <p:cNvPr id="104" name="Slide Number Placeholder 3">
            <a:extLst>
              <a:ext uri="{FF2B5EF4-FFF2-40B4-BE49-F238E27FC236}">
                <a16:creationId xmlns:a16="http://schemas.microsoft.com/office/drawing/2014/main" id="{A875B0F7-A5EF-804A-F449-D42E6DF21BC8}"/>
              </a:ext>
            </a:extLst>
          </p:cNvPr>
          <p:cNvSpPr>
            <a:spLocks noGrp="1"/>
          </p:cNvSpPr>
          <p:nvPr>
            <p:ph type="sldNum" sz="quarter" idx="12"/>
          </p:nvPr>
        </p:nvSpPr>
        <p:spPr>
          <a:xfrm>
            <a:off x="8610600" y="6889760"/>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51</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45D1AFF2-CE76-E9D9-76AF-F900B39D3E16}"/>
              </a:ext>
            </a:extLst>
          </p:cNvPr>
          <p:cNvGraphicFramePr>
            <a:graphicFrameLocks noGrp="1"/>
          </p:cNvGraphicFramePr>
          <p:nvPr/>
        </p:nvGraphicFramePr>
        <p:xfrm>
          <a:off x="1176867" y="1391920"/>
          <a:ext cx="9106672" cy="2961640"/>
        </p:xfrm>
        <a:graphic>
          <a:graphicData uri="http://schemas.openxmlformats.org/drawingml/2006/table">
            <a:tbl>
              <a:tblPr firstRow="1" bandRow="1">
                <a:tableStyleId>{5C22544A-7EE6-4342-B048-85BDC9FD1C3A}</a:tableStyleId>
              </a:tblPr>
              <a:tblGrid>
                <a:gridCol w="2242321">
                  <a:extLst>
                    <a:ext uri="{9D8B030D-6E8A-4147-A177-3AD203B41FA5}">
                      <a16:colId xmlns:a16="http://schemas.microsoft.com/office/drawing/2014/main" val="1973430579"/>
                    </a:ext>
                  </a:extLst>
                </a:gridCol>
                <a:gridCol w="1310217">
                  <a:extLst>
                    <a:ext uri="{9D8B030D-6E8A-4147-A177-3AD203B41FA5}">
                      <a16:colId xmlns:a16="http://schemas.microsoft.com/office/drawing/2014/main" val="760745386"/>
                    </a:ext>
                  </a:extLst>
                </a:gridCol>
                <a:gridCol w="1752600">
                  <a:extLst>
                    <a:ext uri="{9D8B030D-6E8A-4147-A177-3AD203B41FA5}">
                      <a16:colId xmlns:a16="http://schemas.microsoft.com/office/drawing/2014/main" val="3612705776"/>
                    </a:ext>
                  </a:extLst>
                </a:gridCol>
                <a:gridCol w="3801534">
                  <a:extLst>
                    <a:ext uri="{9D8B030D-6E8A-4147-A177-3AD203B41FA5}">
                      <a16:colId xmlns:a16="http://schemas.microsoft.com/office/drawing/2014/main" val="3943392966"/>
                    </a:ext>
                  </a:extLst>
                </a:gridCol>
              </a:tblGrid>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 Name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4223026766"/>
                  </a:ext>
                </a:extLst>
              </a:tr>
              <a:tr h="178647">
                <a:tc>
                  <a:txBody>
                    <a:bodyPr/>
                    <a:lstStyle/>
                    <a:p>
                      <a:pPr algn="ctr">
                        <a:buNone/>
                      </a:pPr>
                      <a:r>
                        <a:rPr lang="en-IN" err="1">
                          <a:latin typeface="Courier New" panose="02070309020205020404" pitchFamily="49" charset="0"/>
                        </a:rPr>
                        <a:t>dma_mode_i</a:t>
                      </a:r>
                      <a:endParaRPr lang="en-IN"/>
                    </a:p>
                  </a:txBody>
                  <a:tcPr anchor="ctr"/>
                </a:tc>
                <a:tc>
                  <a:txBody>
                    <a:bodyPr/>
                    <a:lstStyle/>
                    <a:p>
                      <a:pPr algn="ctr">
                        <a:buNone/>
                      </a:pPr>
                      <a:r>
                        <a:rPr lang="en-IN"/>
                        <a:t>2</a:t>
                      </a:r>
                    </a:p>
                  </a:txBody>
                  <a:tcPr anchor="ctr"/>
                </a:tc>
                <a:tc>
                  <a:txBody>
                    <a:bodyPr/>
                    <a:lstStyle/>
                    <a:p>
                      <a:pPr algn="ctr">
                        <a:buNone/>
                      </a:pPr>
                      <a:r>
                        <a:rPr lang="en-IN"/>
                        <a:t>Input</a:t>
                      </a:r>
                    </a:p>
                  </a:txBody>
                  <a:tcPr anchor="ctr"/>
                </a:tc>
                <a:tc>
                  <a:txBody>
                    <a:bodyPr/>
                    <a:lstStyle/>
                    <a:p>
                      <a:pPr algn="ctr">
                        <a:buNone/>
                      </a:pPr>
                      <a:r>
                        <a:rPr lang="en-IN"/>
                        <a:t>Select DMA mode</a:t>
                      </a:r>
                    </a:p>
                  </a:txBody>
                  <a:tcPr anchor="ctr"/>
                </a:tc>
                <a:extLst>
                  <a:ext uri="{0D108BD9-81ED-4DB2-BD59-A6C34878D82A}">
                    <a16:rowId xmlns:a16="http://schemas.microsoft.com/office/drawing/2014/main" val="2211963191"/>
                  </a:ext>
                </a:extLst>
              </a:tr>
              <a:tr h="370840">
                <a:tc>
                  <a:txBody>
                    <a:bodyPr/>
                    <a:lstStyle/>
                    <a:p>
                      <a:pPr algn="ctr">
                        <a:buNone/>
                      </a:pPr>
                      <a:r>
                        <a:rPr lang="en-IN" err="1">
                          <a:latin typeface="Courier New" panose="02070309020205020404" pitchFamily="49" charset="0"/>
                        </a:rPr>
                        <a:t>src_addr_i</a:t>
                      </a:r>
                      <a:endParaRPr lang="en-IN"/>
                    </a:p>
                  </a:txBody>
                  <a:tcPr anchor="ctr"/>
                </a:tc>
                <a:tc>
                  <a:txBody>
                    <a:bodyPr/>
                    <a:lstStyle/>
                    <a:p>
                      <a:pPr algn="ctr">
                        <a:buNone/>
                      </a:pPr>
                      <a:r>
                        <a:rPr lang="en-IN"/>
                        <a:t>32</a:t>
                      </a:r>
                    </a:p>
                  </a:txBody>
                  <a:tcPr anchor="ctr"/>
                </a:tc>
                <a:tc>
                  <a:txBody>
                    <a:bodyPr/>
                    <a:lstStyle/>
                    <a:p>
                      <a:pPr algn="ctr">
                        <a:buNone/>
                      </a:pPr>
                      <a:r>
                        <a:rPr lang="en-IN"/>
                        <a:t>Input</a:t>
                      </a:r>
                    </a:p>
                  </a:txBody>
                  <a:tcPr anchor="ctr"/>
                </a:tc>
                <a:tc>
                  <a:txBody>
                    <a:bodyPr/>
                    <a:lstStyle/>
                    <a:p>
                      <a:pPr algn="ctr">
                        <a:buNone/>
                      </a:pPr>
                      <a:r>
                        <a:rPr lang="en-IN"/>
                        <a:t>Source address</a:t>
                      </a:r>
                    </a:p>
                  </a:txBody>
                  <a:tcPr anchor="ctr"/>
                </a:tc>
                <a:extLst>
                  <a:ext uri="{0D108BD9-81ED-4DB2-BD59-A6C34878D82A}">
                    <a16:rowId xmlns:a16="http://schemas.microsoft.com/office/drawing/2014/main" val="218062552"/>
                  </a:ext>
                </a:extLst>
              </a:tr>
              <a:tr h="370840">
                <a:tc>
                  <a:txBody>
                    <a:bodyPr/>
                    <a:lstStyle/>
                    <a:p>
                      <a:pPr algn="ctr">
                        <a:buNone/>
                      </a:pPr>
                      <a:r>
                        <a:rPr lang="en-IN" err="1">
                          <a:latin typeface="Courier New" panose="02070309020205020404" pitchFamily="49" charset="0"/>
                        </a:rPr>
                        <a:t>dst_addr_i</a:t>
                      </a:r>
                      <a:endParaRPr lang="en-IN"/>
                    </a:p>
                  </a:txBody>
                  <a:tcPr anchor="ctr"/>
                </a:tc>
                <a:tc>
                  <a:txBody>
                    <a:bodyPr/>
                    <a:lstStyle/>
                    <a:p>
                      <a:pPr algn="ctr">
                        <a:buNone/>
                      </a:pPr>
                      <a:r>
                        <a:rPr lang="en-IN"/>
                        <a:t>32</a:t>
                      </a:r>
                    </a:p>
                  </a:txBody>
                  <a:tcPr anchor="ctr"/>
                </a:tc>
                <a:tc>
                  <a:txBody>
                    <a:bodyPr/>
                    <a:lstStyle/>
                    <a:p>
                      <a:pPr algn="ctr">
                        <a:buNone/>
                      </a:pPr>
                      <a:r>
                        <a:rPr lang="en-IN"/>
                        <a:t>Input</a:t>
                      </a:r>
                    </a:p>
                  </a:txBody>
                  <a:tcPr anchor="ctr"/>
                </a:tc>
                <a:tc>
                  <a:txBody>
                    <a:bodyPr/>
                    <a:lstStyle/>
                    <a:p>
                      <a:pPr algn="ctr">
                        <a:buNone/>
                      </a:pPr>
                      <a:r>
                        <a:rPr lang="en-IN"/>
                        <a:t>Destination address</a:t>
                      </a:r>
                    </a:p>
                  </a:txBody>
                  <a:tcPr anchor="ctr"/>
                </a:tc>
                <a:extLst>
                  <a:ext uri="{0D108BD9-81ED-4DB2-BD59-A6C34878D82A}">
                    <a16:rowId xmlns:a16="http://schemas.microsoft.com/office/drawing/2014/main" val="4290629588"/>
                  </a:ext>
                </a:extLst>
              </a:tr>
              <a:tr h="370840">
                <a:tc>
                  <a:txBody>
                    <a:bodyPr/>
                    <a:lstStyle/>
                    <a:p>
                      <a:pPr algn="ctr">
                        <a:buNone/>
                      </a:pPr>
                      <a:r>
                        <a:rPr lang="en-IN">
                          <a:latin typeface="Courier New" panose="02070309020205020404" pitchFamily="49" charset="0"/>
                        </a:rPr>
                        <a:t>transfer_size_i</a:t>
                      </a:r>
                      <a:endParaRPr lang="en-IN"/>
                    </a:p>
                  </a:txBody>
                  <a:tcPr anchor="ctr"/>
                </a:tc>
                <a:tc>
                  <a:txBody>
                    <a:bodyPr/>
                    <a:lstStyle/>
                    <a:p>
                      <a:pPr algn="ctr">
                        <a:buNone/>
                      </a:pPr>
                      <a:r>
                        <a:rPr lang="en-IN"/>
                        <a:t>32</a:t>
                      </a:r>
                    </a:p>
                  </a:txBody>
                  <a:tcPr anchor="ctr"/>
                </a:tc>
                <a:tc>
                  <a:txBody>
                    <a:bodyPr/>
                    <a:lstStyle/>
                    <a:p>
                      <a:pPr algn="ctr">
                        <a:buNone/>
                      </a:pPr>
                      <a:r>
                        <a:rPr lang="en-IN"/>
                        <a:t>Input</a:t>
                      </a:r>
                    </a:p>
                  </a:txBody>
                  <a:tcPr anchor="ctr"/>
                </a:tc>
                <a:tc>
                  <a:txBody>
                    <a:bodyPr/>
                    <a:lstStyle/>
                    <a:p>
                      <a:pPr algn="ctr">
                        <a:buNone/>
                      </a:pPr>
                      <a:r>
                        <a:rPr lang="en-IN"/>
                        <a:t>Transfer size</a:t>
                      </a:r>
                    </a:p>
                  </a:txBody>
                  <a:tcPr anchor="ctr"/>
                </a:tc>
                <a:extLst>
                  <a:ext uri="{0D108BD9-81ED-4DB2-BD59-A6C34878D82A}">
                    <a16:rowId xmlns:a16="http://schemas.microsoft.com/office/drawing/2014/main" val="4063914112"/>
                  </a:ext>
                </a:extLst>
              </a:tr>
              <a:tr h="370840">
                <a:tc>
                  <a:txBody>
                    <a:bodyPr/>
                    <a:lstStyle/>
                    <a:p>
                      <a:pPr algn="ctr">
                        <a:buNone/>
                      </a:pPr>
                      <a:r>
                        <a:rPr lang="en-IN" err="1">
                          <a:latin typeface="Courier New" panose="02070309020205020404" pitchFamily="49" charset="0"/>
                        </a:rPr>
                        <a:t>mailbox_data_i</a:t>
                      </a:r>
                      <a:endParaRPr lang="en-IN"/>
                    </a:p>
                  </a:txBody>
                  <a:tcPr anchor="ctr"/>
                </a:tc>
                <a:tc>
                  <a:txBody>
                    <a:bodyPr/>
                    <a:lstStyle/>
                    <a:p>
                      <a:pPr algn="ctr">
                        <a:buNone/>
                      </a:pPr>
                      <a:r>
                        <a:rPr lang="en-IN"/>
                        <a:t>32</a:t>
                      </a:r>
                    </a:p>
                  </a:txBody>
                  <a:tcPr anchor="ctr"/>
                </a:tc>
                <a:tc>
                  <a:txBody>
                    <a:bodyPr/>
                    <a:lstStyle/>
                    <a:p>
                      <a:pPr algn="ctr">
                        <a:buNone/>
                      </a:pPr>
                      <a:r>
                        <a:rPr lang="en-IN"/>
                        <a:t>Input</a:t>
                      </a:r>
                    </a:p>
                  </a:txBody>
                  <a:tcPr anchor="ctr"/>
                </a:tc>
                <a:tc>
                  <a:txBody>
                    <a:bodyPr/>
                    <a:lstStyle/>
                    <a:p>
                      <a:pPr algn="ctr">
                        <a:buNone/>
                      </a:pPr>
                      <a:r>
                        <a:rPr lang="en-IN"/>
                        <a:t>Mailbox data input</a:t>
                      </a:r>
                    </a:p>
                  </a:txBody>
                  <a:tcPr anchor="ctr"/>
                </a:tc>
                <a:extLst>
                  <a:ext uri="{0D108BD9-81ED-4DB2-BD59-A6C34878D82A}">
                    <a16:rowId xmlns:a16="http://schemas.microsoft.com/office/drawing/2014/main" val="2853821321"/>
                  </a:ext>
                </a:extLst>
              </a:tr>
              <a:tr h="370840">
                <a:tc>
                  <a:txBody>
                    <a:bodyPr/>
                    <a:lstStyle/>
                    <a:p>
                      <a:pPr algn="ctr">
                        <a:buNone/>
                      </a:pPr>
                      <a:r>
                        <a:rPr lang="en-IN">
                          <a:latin typeface="Courier New" panose="02070309020205020404" pitchFamily="49" charset="0"/>
                        </a:rPr>
                        <a:t>kv_data_i</a:t>
                      </a:r>
                      <a:endParaRPr lang="en-IN"/>
                    </a:p>
                  </a:txBody>
                  <a:tcPr anchor="ctr"/>
                </a:tc>
                <a:tc>
                  <a:txBody>
                    <a:bodyPr/>
                    <a:lstStyle/>
                    <a:p>
                      <a:pPr algn="ctr">
                        <a:buNone/>
                      </a:pPr>
                      <a:r>
                        <a:rPr lang="en-IN"/>
                        <a:t>32</a:t>
                      </a:r>
                    </a:p>
                  </a:txBody>
                  <a:tcPr anchor="ctr"/>
                </a:tc>
                <a:tc>
                  <a:txBody>
                    <a:bodyPr/>
                    <a:lstStyle/>
                    <a:p>
                      <a:pPr algn="ctr">
                        <a:buNone/>
                      </a:pPr>
                      <a:r>
                        <a:rPr lang="en-IN"/>
                        <a:t>Input</a:t>
                      </a:r>
                    </a:p>
                  </a:txBody>
                  <a:tcPr anchor="ctr"/>
                </a:tc>
                <a:tc>
                  <a:txBody>
                    <a:bodyPr/>
                    <a:lstStyle/>
                    <a:p>
                      <a:pPr algn="ctr">
                        <a:buNone/>
                      </a:pPr>
                      <a:r>
                        <a:rPr lang="en-IN"/>
                        <a:t>Key Vault read data</a:t>
                      </a:r>
                    </a:p>
                  </a:txBody>
                  <a:tcPr anchor="ctr"/>
                </a:tc>
                <a:extLst>
                  <a:ext uri="{0D108BD9-81ED-4DB2-BD59-A6C34878D82A}">
                    <a16:rowId xmlns:a16="http://schemas.microsoft.com/office/drawing/2014/main" val="914187702"/>
                  </a:ext>
                </a:extLst>
              </a:tr>
              <a:tr h="370840">
                <a:tc>
                  <a:txBody>
                    <a:bodyPr/>
                    <a:lstStyle/>
                    <a:p>
                      <a:pPr algn="ctr">
                        <a:buNone/>
                      </a:pPr>
                      <a:r>
                        <a:rPr lang="en-IN">
                          <a:latin typeface="Courier New" panose="02070309020205020404" pitchFamily="49" charset="0"/>
                        </a:rPr>
                        <a:t>axi_rdata_i</a:t>
                      </a:r>
                      <a:endParaRPr lang="en-IN"/>
                    </a:p>
                  </a:txBody>
                  <a:tcPr anchor="ctr"/>
                </a:tc>
                <a:tc>
                  <a:txBody>
                    <a:bodyPr/>
                    <a:lstStyle/>
                    <a:p>
                      <a:pPr algn="ctr">
                        <a:buNone/>
                      </a:pPr>
                      <a:r>
                        <a:rPr lang="en-IN"/>
                        <a:t>64</a:t>
                      </a:r>
                    </a:p>
                  </a:txBody>
                  <a:tcPr anchor="ctr"/>
                </a:tc>
                <a:tc>
                  <a:txBody>
                    <a:bodyPr/>
                    <a:lstStyle/>
                    <a:p>
                      <a:pPr algn="ctr">
                        <a:buNone/>
                      </a:pPr>
                      <a:r>
                        <a:rPr lang="en-IN"/>
                        <a:t>Input</a:t>
                      </a:r>
                    </a:p>
                  </a:txBody>
                  <a:tcPr anchor="ctr"/>
                </a:tc>
                <a:tc>
                  <a:txBody>
                    <a:bodyPr/>
                    <a:lstStyle/>
                    <a:p>
                      <a:pPr algn="ctr">
                        <a:buNone/>
                      </a:pPr>
                      <a:r>
                        <a:rPr lang="en-IN"/>
                        <a:t>AXI read data bus</a:t>
                      </a:r>
                    </a:p>
                  </a:txBody>
                  <a:tcPr anchor="ctr"/>
                </a:tc>
                <a:extLst>
                  <a:ext uri="{0D108BD9-81ED-4DB2-BD59-A6C34878D82A}">
                    <a16:rowId xmlns:a16="http://schemas.microsoft.com/office/drawing/2014/main" val="4071241924"/>
                  </a:ext>
                </a:extLst>
              </a:tr>
            </a:tbl>
          </a:graphicData>
        </a:graphic>
      </p:graphicFrame>
    </p:spTree>
    <p:extLst>
      <p:ext uri="{BB962C8B-B14F-4D97-AF65-F5344CB8AC3E}">
        <p14:creationId xmlns:p14="http://schemas.microsoft.com/office/powerpoint/2010/main" val="13538197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C6D89-D59D-89EB-3E71-016525D72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A721D-3C14-D582-319B-5DE63BFE8653}"/>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ea typeface="Calibri"/>
                <a:cs typeface="Calibri"/>
              </a:rPr>
              <a:t>DMA Assist Engine Output Signal Description</a:t>
            </a:r>
            <a:endParaRPr lang="en-GB"/>
          </a:p>
        </p:txBody>
      </p:sp>
      <p:sp>
        <p:nvSpPr>
          <p:cNvPr id="18" name="TextBox 17">
            <a:extLst>
              <a:ext uri="{FF2B5EF4-FFF2-40B4-BE49-F238E27FC236}">
                <a16:creationId xmlns:a16="http://schemas.microsoft.com/office/drawing/2014/main" id="{E1BD7839-8B70-7CEA-E311-3030AB774CD1}"/>
              </a:ext>
            </a:extLst>
          </p:cNvPr>
          <p:cNvSpPr txBox="1"/>
          <p:nvPr/>
        </p:nvSpPr>
        <p:spPr>
          <a:xfrm>
            <a:off x="1054871" y="587566"/>
            <a:ext cx="6096000" cy="369332"/>
          </a:xfrm>
          <a:prstGeom prst="rect">
            <a:avLst/>
          </a:prstGeom>
          <a:noFill/>
        </p:spPr>
        <p:txBody>
          <a:bodyPr wrap="square">
            <a:spAutoFit/>
          </a:bodyPr>
          <a:lstStyle/>
          <a:p>
            <a:r>
              <a:rPr lang="en-IN"/>
              <a:t>Table 6.Outputs of DMA Assist Engine</a:t>
            </a:r>
          </a:p>
        </p:txBody>
      </p:sp>
      <p:sp>
        <p:nvSpPr>
          <p:cNvPr id="104" name="Slide Number Placeholder 3">
            <a:extLst>
              <a:ext uri="{FF2B5EF4-FFF2-40B4-BE49-F238E27FC236}">
                <a16:creationId xmlns:a16="http://schemas.microsoft.com/office/drawing/2014/main" id="{C326457E-8080-C436-9EB7-28B7BF383F59}"/>
              </a:ext>
            </a:extLst>
          </p:cNvPr>
          <p:cNvSpPr>
            <a:spLocks noGrp="1"/>
          </p:cNvSpPr>
          <p:nvPr>
            <p:ph type="sldNum" sz="quarter" idx="12"/>
          </p:nvPr>
        </p:nvSpPr>
        <p:spPr>
          <a:xfrm>
            <a:off x="8610600" y="6889760"/>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52</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17CC95E4-5C15-3466-2C1D-3F0C0FE39755}"/>
              </a:ext>
            </a:extLst>
          </p:cNvPr>
          <p:cNvGraphicFramePr>
            <a:graphicFrameLocks noGrp="1"/>
          </p:cNvGraphicFramePr>
          <p:nvPr/>
        </p:nvGraphicFramePr>
        <p:xfrm>
          <a:off x="1054871" y="1022587"/>
          <a:ext cx="9106672" cy="5532120"/>
        </p:xfrm>
        <a:graphic>
          <a:graphicData uri="http://schemas.openxmlformats.org/drawingml/2006/table">
            <a:tbl>
              <a:tblPr firstRow="1" bandRow="1">
                <a:tableStyleId>{5C22544A-7EE6-4342-B048-85BDC9FD1C3A}</a:tableStyleId>
              </a:tblPr>
              <a:tblGrid>
                <a:gridCol w="2242321">
                  <a:extLst>
                    <a:ext uri="{9D8B030D-6E8A-4147-A177-3AD203B41FA5}">
                      <a16:colId xmlns:a16="http://schemas.microsoft.com/office/drawing/2014/main" val="1973430579"/>
                    </a:ext>
                  </a:extLst>
                </a:gridCol>
                <a:gridCol w="1310217">
                  <a:extLst>
                    <a:ext uri="{9D8B030D-6E8A-4147-A177-3AD203B41FA5}">
                      <a16:colId xmlns:a16="http://schemas.microsoft.com/office/drawing/2014/main" val="760745386"/>
                    </a:ext>
                  </a:extLst>
                </a:gridCol>
                <a:gridCol w="1752600">
                  <a:extLst>
                    <a:ext uri="{9D8B030D-6E8A-4147-A177-3AD203B41FA5}">
                      <a16:colId xmlns:a16="http://schemas.microsoft.com/office/drawing/2014/main" val="3612705776"/>
                    </a:ext>
                  </a:extLst>
                </a:gridCol>
                <a:gridCol w="3801534">
                  <a:extLst>
                    <a:ext uri="{9D8B030D-6E8A-4147-A177-3AD203B41FA5}">
                      <a16:colId xmlns:a16="http://schemas.microsoft.com/office/drawing/2014/main" val="3943392966"/>
                    </a:ext>
                  </a:extLst>
                </a:gridCol>
              </a:tblGrid>
              <a:tr h="370840">
                <a:tc>
                  <a:txBody>
                    <a:bodyPr/>
                    <a:lstStyle/>
                    <a:p>
                      <a:pPr algn="ctr">
                        <a:buNone/>
                      </a:pPr>
                      <a:r>
                        <a:rPr lang="en-IN"/>
                        <a:t>Signal Name</a:t>
                      </a:r>
                    </a:p>
                  </a:txBody>
                  <a:tcPr anchor="ctr"/>
                </a:tc>
                <a:tc>
                  <a:txBody>
                    <a:bodyPr/>
                    <a:lstStyle/>
                    <a:p>
                      <a:pPr algn="ctr">
                        <a:buNone/>
                      </a:pPr>
                      <a:r>
                        <a:rPr lang="en-IN"/>
                        <a:t>Width</a:t>
                      </a:r>
                    </a:p>
                  </a:txBody>
                  <a:tcPr anchor="ctr"/>
                </a:tc>
                <a:tc>
                  <a:txBody>
                    <a:bodyPr/>
                    <a:lstStyle/>
                    <a:p>
                      <a:pPr algn="ctr">
                        <a:buNone/>
                      </a:pPr>
                      <a:r>
                        <a:rPr lang="en-IN"/>
                        <a:t>Direction</a:t>
                      </a:r>
                    </a:p>
                  </a:txBody>
                  <a:tcPr anchor="ctr"/>
                </a:tc>
                <a:tc>
                  <a:txBody>
                    <a:bodyPr/>
                    <a:lstStyle/>
                    <a:p>
                      <a:pPr algn="ctr">
                        <a:buNone/>
                      </a:pPr>
                      <a:r>
                        <a:rPr lang="en-IN"/>
                        <a:t>Description</a:t>
                      </a:r>
                    </a:p>
                  </a:txBody>
                  <a:tcPr anchor="ctr"/>
                </a:tc>
                <a:extLst>
                  <a:ext uri="{0D108BD9-81ED-4DB2-BD59-A6C34878D82A}">
                    <a16:rowId xmlns:a16="http://schemas.microsoft.com/office/drawing/2014/main" val="4223026766"/>
                  </a:ext>
                </a:extLst>
              </a:tr>
              <a:tr h="178647">
                <a:tc>
                  <a:txBody>
                    <a:bodyPr/>
                    <a:lstStyle/>
                    <a:p>
                      <a:pPr algn="ctr">
                        <a:buNone/>
                      </a:pPr>
                      <a:r>
                        <a:rPr lang="en-IN">
                          <a:latin typeface="Courier New" panose="02070309020205020404" pitchFamily="49" charset="0"/>
                        </a:rPr>
                        <a:t>dma_done_o</a:t>
                      </a:r>
                      <a:endParaRPr lang="en-IN"/>
                    </a:p>
                  </a:txBody>
                  <a:tcPr anchor="ctr"/>
                </a:tc>
                <a:tc>
                  <a:txBody>
                    <a:bodyPr/>
                    <a:lstStyle/>
                    <a:p>
                      <a:pPr algn="ctr">
                        <a:buNone/>
                      </a:pPr>
                      <a:r>
                        <a:rPr lang="en-IN"/>
                        <a:t>1</a:t>
                      </a:r>
                    </a:p>
                  </a:txBody>
                  <a:tcPr anchor="ctr"/>
                </a:tc>
                <a:tc>
                  <a:txBody>
                    <a:bodyPr/>
                    <a:lstStyle/>
                    <a:p>
                      <a:pPr algn="ctr">
                        <a:buNone/>
                      </a:pPr>
                      <a:r>
                        <a:rPr lang="en-IN"/>
                        <a:t>Output</a:t>
                      </a:r>
                    </a:p>
                  </a:txBody>
                  <a:tcPr anchor="ctr"/>
                </a:tc>
                <a:tc>
                  <a:txBody>
                    <a:bodyPr/>
                    <a:lstStyle/>
                    <a:p>
                      <a:pPr algn="ctr">
                        <a:buNone/>
                      </a:pPr>
                      <a:r>
                        <a:rPr lang="en-IN"/>
                        <a:t>DMA transfer complete</a:t>
                      </a:r>
                    </a:p>
                  </a:txBody>
                  <a:tcPr anchor="ctr"/>
                </a:tc>
                <a:extLst>
                  <a:ext uri="{0D108BD9-81ED-4DB2-BD59-A6C34878D82A}">
                    <a16:rowId xmlns:a16="http://schemas.microsoft.com/office/drawing/2014/main" val="1809496166"/>
                  </a:ext>
                </a:extLst>
              </a:tr>
              <a:tr h="178647">
                <a:tc>
                  <a:txBody>
                    <a:bodyPr/>
                    <a:lstStyle/>
                    <a:p>
                      <a:pPr algn="ctr">
                        <a:buNone/>
                      </a:pPr>
                      <a:r>
                        <a:rPr lang="en-IN">
                          <a:latin typeface="Courier New" panose="02070309020205020404" pitchFamily="49" charset="0"/>
                        </a:rPr>
                        <a:t>dma_busy_o</a:t>
                      </a:r>
                      <a:endParaRPr lang="en-IN"/>
                    </a:p>
                  </a:txBody>
                  <a:tcPr anchor="ctr"/>
                </a:tc>
                <a:tc>
                  <a:txBody>
                    <a:bodyPr/>
                    <a:lstStyle/>
                    <a:p>
                      <a:pPr algn="ctr">
                        <a:buNone/>
                      </a:pPr>
                      <a:r>
                        <a:rPr lang="en-IN"/>
                        <a:t>1</a:t>
                      </a:r>
                    </a:p>
                  </a:txBody>
                  <a:tcPr anchor="ctr"/>
                </a:tc>
                <a:tc>
                  <a:txBody>
                    <a:bodyPr/>
                    <a:lstStyle/>
                    <a:p>
                      <a:pPr algn="ctr">
                        <a:buNone/>
                      </a:pPr>
                      <a:r>
                        <a:rPr lang="en-IN"/>
                        <a:t>Output</a:t>
                      </a:r>
                    </a:p>
                  </a:txBody>
                  <a:tcPr anchor="ctr"/>
                </a:tc>
                <a:tc>
                  <a:txBody>
                    <a:bodyPr/>
                    <a:lstStyle/>
                    <a:p>
                      <a:pPr algn="ctr">
                        <a:buNone/>
                      </a:pPr>
                      <a:r>
                        <a:rPr lang="en-IN"/>
                        <a:t>DMA operation active</a:t>
                      </a:r>
                    </a:p>
                  </a:txBody>
                  <a:tcPr anchor="ctr"/>
                </a:tc>
                <a:extLst>
                  <a:ext uri="{0D108BD9-81ED-4DB2-BD59-A6C34878D82A}">
                    <a16:rowId xmlns:a16="http://schemas.microsoft.com/office/drawing/2014/main" val="2098744810"/>
                  </a:ext>
                </a:extLst>
              </a:tr>
              <a:tr h="178647">
                <a:tc>
                  <a:txBody>
                    <a:bodyPr/>
                    <a:lstStyle/>
                    <a:p>
                      <a:pPr algn="ctr">
                        <a:buNone/>
                      </a:pPr>
                      <a:r>
                        <a:rPr lang="en-IN" err="1">
                          <a:latin typeface="Courier New" panose="02070309020205020404" pitchFamily="49" charset="0"/>
                        </a:rPr>
                        <a:t>dma_error_o</a:t>
                      </a:r>
                      <a:endParaRPr lang="en-IN"/>
                    </a:p>
                  </a:txBody>
                  <a:tcPr anchor="ctr"/>
                </a:tc>
                <a:tc>
                  <a:txBody>
                    <a:bodyPr/>
                    <a:lstStyle/>
                    <a:p>
                      <a:pPr algn="ctr">
                        <a:buNone/>
                      </a:pPr>
                      <a:r>
                        <a:rPr lang="en-IN"/>
                        <a:t>1</a:t>
                      </a:r>
                    </a:p>
                  </a:txBody>
                  <a:tcPr anchor="ctr"/>
                </a:tc>
                <a:tc>
                  <a:txBody>
                    <a:bodyPr/>
                    <a:lstStyle/>
                    <a:p>
                      <a:pPr algn="ctr">
                        <a:buNone/>
                      </a:pPr>
                      <a:r>
                        <a:rPr lang="en-IN"/>
                        <a:t>Output</a:t>
                      </a:r>
                    </a:p>
                  </a:txBody>
                  <a:tcPr anchor="ctr"/>
                </a:tc>
                <a:tc>
                  <a:txBody>
                    <a:bodyPr/>
                    <a:lstStyle/>
                    <a:p>
                      <a:pPr algn="ctr">
                        <a:buNone/>
                      </a:pPr>
                      <a:r>
                        <a:rPr lang="en-IN"/>
                        <a:t>DMA error indication</a:t>
                      </a:r>
                    </a:p>
                  </a:txBody>
                  <a:tcPr anchor="ctr"/>
                </a:tc>
                <a:extLst>
                  <a:ext uri="{0D108BD9-81ED-4DB2-BD59-A6C34878D82A}">
                    <a16:rowId xmlns:a16="http://schemas.microsoft.com/office/drawing/2014/main" val="2274635830"/>
                  </a:ext>
                </a:extLst>
              </a:tr>
              <a:tr h="178647">
                <a:tc>
                  <a:txBody>
                    <a:bodyPr/>
                    <a:lstStyle/>
                    <a:p>
                      <a:pPr algn="ctr">
                        <a:buNone/>
                      </a:pPr>
                      <a:r>
                        <a:rPr lang="en-IN">
                          <a:latin typeface="Courier New" panose="02070309020205020404" pitchFamily="49" charset="0"/>
                        </a:rPr>
                        <a:t>interrupt_o</a:t>
                      </a:r>
                      <a:endParaRPr lang="en-IN"/>
                    </a:p>
                  </a:txBody>
                  <a:tcPr anchor="ctr"/>
                </a:tc>
                <a:tc>
                  <a:txBody>
                    <a:bodyPr/>
                    <a:lstStyle/>
                    <a:p>
                      <a:pPr algn="ctr">
                        <a:buNone/>
                      </a:pPr>
                      <a:r>
                        <a:rPr lang="en-IN"/>
                        <a:t>1</a:t>
                      </a:r>
                    </a:p>
                  </a:txBody>
                  <a:tcPr anchor="ctr"/>
                </a:tc>
                <a:tc>
                  <a:txBody>
                    <a:bodyPr/>
                    <a:lstStyle/>
                    <a:p>
                      <a:pPr algn="ctr">
                        <a:buNone/>
                      </a:pPr>
                      <a:r>
                        <a:rPr lang="en-IN"/>
                        <a:t>Output</a:t>
                      </a:r>
                    </a:p>
                  </a:txBody>
                  <a:tcPr anchor="ctr"/>
                </a:tc>
                <a:tc>
                  <a:txBody>
                    <a:bodyPr/>
                    <a:lstStyle/>
                    <a:p>
                      <a:pPr algn="ctr">
                        <a:buNone/>
                      </a:pPr>
                      <a:r>
                        <a:rPr lang="en-IN"/>
                        <a:t>Interrupt request</a:t>
                      </a:r>
                    </a:p>
                  </a:txBody>
                  <a:tcPr anchor="ctr"/>
                </a:tc>
                <a:extLst>
                  <a:ext uri="{0D108BD9-81ED-4DB2-BD59-A6C34878D82A}">
                    <a16:rowId xmlns:a16="http://schemas.microsoft.com/office/drawing/2014/main" val="4086745375"/>
                  </a:ext>
                </a:extLst>
              </a:tr>
              <a:tr h="178647">
                <a:tc>
                  <a:txBody>
                    <a:bodyPr/>
                    <a:lstStyle/>
                    <a:p>
                      <a:pPr algn="ctr">
                        <a:buNone/>
                      </a:pPr>
                      <a:r>
                        <a:rPr lang="en-IN" err="1">
                          <a:latin typeface="Courier New" panose="02070309020205020404" pitchFamily="49" charset="0"/>
                        </a:rPr>
                        <a:t>axi_arvalid_o</a:t>
                      </a:r>
                      <a:endParaRPr lang="en-IN"/>
                    </a:p>
                  </a:txBody>
                  <a:tcPr anchor="ctr"/>
                </a:tc>
                <a:tc>
                  <a:txBody>
                    <a:bodyPr/>
                    <a:lstStyle/>
                    <a:p>
                      <a:pPr algn="ctr">
                        <a:buNone/>
                      </a:pPr>
                      <a:r>
                        <a:rPr lang="en-IN"/>
                        <a:t>1</a:t>
                      </a:r>
                    </a:p>
                  </a:txBody>
                  <a:tcPr anchor="ctr"/>
                </a:tc>
                <a:tc>
                  <a:txBody>
                    <a:bodyPr/>
                    <a:lstStyle/>
                    <a:p>
                      <a:pPr algn="ctr">
                        <a:buNone/>
                      </a:pPr>
                      <a:r>
                        <a:rPr lang="en-IN"/>
                        <a:t>Output</a:t>
                      </a:r>
                    </a:p>
                  </a:txBody>
                  <a:tcPr anchor="ctr"/>
                </a:tc>
                <a:tc>
                  <a:txBody>
                    <a:bodyPr/>
                    <a:lstStyle/>
                    <a:p>
                      <a:pPr algn="ctr">
                        <a:buNone/>
                      </a:pPr>
                      <a:r>
                        <a:rPr lang="en-IN"/>
                        <a:t>AXI read address valid</a:t>
                      </a:r>
                    </a:p>
                  </a:txBody>
                  <a:tcPr anchor="ctr"/>
                </a:tc>
                <a:extLst>
                  <a:ext uri="{0D108BD9-81ED-4DB2-BD59-A6C34878D82A}">
                    <a16:rowId xmlns:a16="http://schemas.microsoft.com/office/drawing/2014/main" val="1600013001"/>
                  </a:ext>
                </a:extLst>
              </a:tr>
              <a:tr h="178647">
                <a:tc>
                  <a:txBody>
                    <a:bodyPr/>
                    <a:lstStyle/>
                    <a:p>
                      <a:pPr algn="ctr">
                        <a:buNone/>
                      </a:pPr>
                      <a:r>
                        <a:rPr lang="en-IN">
                          <a:latin typeface="Courier New" panose="02070309020205020404" pitchFamily="49" charset="0"/>
                        </a:rPr>
                        <a:t>axi_awvalid_o</a:t>
                      </a:r>
                      <a:endParaRPr lang="en-IN"/>
                    </a:p>
                  </a:txBody>
                  <a:tcPr anchor="ctr"/>
                </a:tc>
                <a:tc>
                  <a:txBody>
                    <a:bodyPr/>
                    <a:lstStyle/>
                    <a:p>
                      <a:pPr algn="ctr">
                        <a:buNone/>
                      </a:pPr>
                      <a:r>
                        <a:rPr lang="en-IN"/>
                        <a:t>1</a:t>
                      </a:r>
                    </a:p>
                  </a:txBody>
                  <a:tcPr anchor="ctr"/>
                </a:tc>
                <a:tc>
                  <a:txBody>
                    <a:bodyPr/>
                    <a:lstStyle/>
                    <a:p>
                      <a:pPr algn="ctr">
                        <a:buNone/>
                      </a:pPr>
                      <a:r>
                        <a:rPr lang="en-IN"/>
                        <a:t>Output</a:t>
                      </a:r>
                    </a:p>
                  </a:txBody>
                  <a:tcPr anchor="ctr"/>
                </a:tc>
                <a:tc>
                  <a:txBody>
                    <a:bodyPr/>
                    <a:lstStyle/>
                    <a:p>
                      <a:pPr algn="ctr">
                        <a:buNone/>
                      </a:pPr>
                      <a:r>
                        <a:rPr lang="en-IN"/>
                        <a:t>AXI write address valid</a:t>
                      </a:r>
                    </a:p>
                  </a:txBody>
                  <a:tcPr anchor="ctr"/>
                </a:tc>
                <a:extLst>
                  <a:ext uri="{0D108BD9-81ED-4DB2-BD59-A6C34878D82A}">
                    <a16:rowId xmlns:a16="http://schemas.microsoft.com/office/drawing/2014/main" val="2211963191"/>
                  </a:ext>
                </a:extLst>
              </a:tr>
              <a:tr h="370840">
                <a:tc>
                  <a:txBody>
                    <a:bodyPr/>
                    <a:lstStyle/>
                    <a:p>
                      <a:pPr algn="ctr">
                        <a:buNone/>
                      </a:pPr>
                      <a:r>
                        <a:rPr lang="en-IN">
                          <a:latin typeface="Courier New" panose="02070309020205020404" pitchFamily="49" charset="0"/>
                        </a:rPr>
                        <a:t>axi_wvalid_o</a:t>
                      </a:r>
                      <a:endParaRPr lang="en-IN"/>
                    </a:p>
                  </a:txBody>
                  <a:tcPr anchor="ctr"/>
                </a:tc>
                <a:tc>
                  <a:txBody>
                    <a:bodyPr/>
                    <a:lstStyle/>
                    <a:p>
                      <a:pPr algn="ctr">
                        <a:buNone/>
                      </a:pPr>
                      <a:r>
                        <a:rPr lang="en-IN"/>
                        <a:t>1</a:t>
                      </a:r>
                    </a:p>
                  </a:txBody>
                  <a:tcPr anchor="ctr"/>
                </a:tc>
                <a:tc>
                  <a:txBody>
                    <a:bodyPr/>
                    <a:lstStyle/>
                    <a:p>
                      <a:pPr algn="ctr">
                        <a:buNone/>
                      </a:pPr>
                      <a:r>
                        <a:rPr lang="en-IN"/>
                        <a:t>Output</a:t>
                      </a:r>
                    </a:p>
                  </a:txBody>
                  <a:tcPr anchor="ctr"/>
                </a:tc>
                <a:tc>
                  <a:txBody>
                    <a:bodyPr/>
                    <a:lstStyle/>
                    <a:p>
                      <a:pPr algn="ctr">
                        <a:buNone/>
                      </a:pPr>
                      <a:r>
                        <a:rPr lang="en-IN"/>
                        <a:t>AXI write data valid</a:t>
                      </a:r>
                    </a:p>
                  </a:txBody>
                  <a:tcPr anchor="ctr"/>
                </a:tc>
                <a:extLst>
                  <a:ext uri="{0D108BD9-81ED-4DB2-BD59-A6C34878D82A}">
                    <a16:rowId xmlns:a16="http://schemas.microsoft.com/office/drawing/2014/main" val="4106981858"/>
                  </a:ext>
                </a:extLst>
              </a:tr>
              <a:tr h="370840">
                <a:tc>
                  <a:txBody>
                    <a:bodyPr/>
                    <a:lstStyle/>
                    <a:p>
                      <a:pPr algn="ctr">
                        <a:buNone/>
                      </a:pPr>
                      <a:r>
                        <a:rPr lang="en-IN" err="1">
                          <a:latin typeface="Courier New" panose="02070309020205020404" pitchFamily="49" charset="0"/>
                        </a:rPr>
                        <a:t>axi_wlast_o</a:t>
                      </a:r>
                      <a:endParaRPr lang="en-IN"/>
                    </a:p>
                  </a:txBody>
                  <a:tcPr anchor="ctr"/>
                </a:tc>
                <a:tc>
                  <a:txBody>
                    <a:bodyPr/>
                    <a:lstStyle/>
                    <a:p>
                      <a:pPr algn="ctr">
                        <a:buNone/>
                      </a:pPr>
                      <a:r>
                        <a:rPr lang="en-IN"/>
                        <a:t>1</a:t>
                      </a:r>
                    </a:p>
                  </a:txBody>
                  <a:tcPr anchor="ctr"/>
                </a:tc>
                <a:tc>
                  <a:txBody>
                    <a:bodyPr/>
                    <a:lstStyle/>
                    <a:p>
                      <a:pPr algn="ctr">
                        <a:buNone/>
                      </a:pPr>
                      <a:r>
                        <a:rPr lang="en-IN"/>
                        <a:t>Output</a:t>
                      </a:r>
                    </a:p>
                  </a:txBody>
                  <a:tcPr anchor="ctr"/>
                </a:tc>
                <a:tc>
                  <a:txBody>
                    <a:bodyPr/>
                    <a:lstStyle/>
                    <a:p>
                      <a:pPr algn="ctr">
                        <a:buNone/>
                      </a:pPr>
                      <a:r>
                        <a:rPr lang="en-IN"/>
                        <a:t>Last AXI write transfer</a:t>
                      </a:r>
                    </a:p>
                  </a:txBody>
                  <a:tcPr anchor="ctr"/>
                </a:tc>
                <a:extLst>
                  <a:ext uri="{0D108BD9-81ED-4DB2-BD59-A6C34878D82A}">
                    <a16:rowId xmlns:a16="http://schemas.microsoft.com/office/drawing/2014/main" val="1487706840"/>
                  </a:ext>
                </a:extLst>
              </a:tr>
              <a:tr h="370840">
                <a:tc>
                  <a:txBody>
                    <a:bodyPr/>
                    <a:lstStyle/>
                    <a:p>
                      <a:pPr algn="ctr">
                        <a:buNone/>
                      </a:pPr>
                      <a:r>
                        <a:rPr lang="en-IN">
                          <a:latin typeface="Courier New" panose="02070309020205020404" pitchFamily="49" charset="0"/>
                        </a:rPr>
                        <a:t>mailbox_write_o</a:t>
                      </a:r>
                      <a:endParaRPr lang="en-IN"/>
                    </a:p>
                  </a:txBody>
                  <a:tcPr anchor="ctr"/>
                </a:tc>
                <a:tc>
                  <a:txBody>
                    <a:bodyPr/>
                    <a:lstStyle/>
                    <a:p>
                      <a:pPr algn="ctr">
                        <a:buNone/>
                      </a:pPr>
                      <a:r>
                        <a:rPr lang="en-IN"/>
                        <a:t>1</a:t>
                      </a:r>
                    </a:p>
                  </a:txBody>
                  <a:tcPr anchor="ctr"/>
                </a:tc>
                <a:tc>
                  <a:txBody>
                    <a:bodyPr/>
                    <a:lstStyle/>
                    <a:p>
                      <a:pPr algn="ctr">
                        <a:buNone/>
                      </a:pPr>
                      <a:r>
                        <a:rPr lang="en-IN"/>
                        <a:t>Output</a:t>
                      </a:r>
                    </a:p>
                  </a:txBody>
                  <a:tcPr anchor="ctr"/>
                </a:tc>
                <a:tc>
                  <a:txBody>
                    <a:bodyPr/>
                    <a:lstStyle/>
                    <a:p>
                      <a:pPr algn="ctr">
                        <a:buNone/>
                      </a:pPr>
                      <a:r>
                        <a:rPr lang="en-IN"/>
                        <a:t>Mailbox write enable</a:t>
                      </a:r>
                    </a:p>
                  </a:txBody>
                  <a:tcPr anchor="ctr"/>
                </a:tc>
                <a:extLst>
                  <a:ext uri="{0D108BD9-81ED-4DB2-BD59-A6C34878D82A}">
                    <a16:rowId xmlns:a16="http://schemas.microsoft.com/office/drawing/2014/main" val="218062552"/>
                  </a:ext>
                </a:extLst>
              </a:tr>
              <a:tr h="370840">
                <a:tc>
                  <a:txBody>
                    <a:bodyPr/>
                    <a:lstStyle/>
                    <a:p>
                      <a:pPr algn="ctr">
                        <a:buNone/>
                      </a:pPr>
                      <a:r>
                        <a:rPr lang="en-IN">
                          <a:latin typeface="Courier New" panose="02070309020205020404" pitchFamily="49" charset="0"/>
                        </a:rPr>
                        <a:t>kv_write_o</a:t>
                      </a:r>
                      <a:endParaRPr lang="en-IN"/>
                    </a:p>
                  </a:txBody>
                  <a:tcPr anchor="ctr"/>
                </a:tc>
                <a:tc>
                  <a:txBody>
                    <a:bodyPr/>
                    <a:lstStyle/>
                    <a:p>
                      <a:pPr algn="ctr">
                        <a:buNone/>
                      </a:pPr>
                      <a:r>
                        <a:rPr lang="en-IN"/>
                        <a:t>1</a:t>
                      </a:r>
                    </a:p>
                  </a:txBody>
                  <a:tcPr anchor="ctr"/>
                </a:tc>
                <a:tc>
                  <a:txBody>
                    <a:bodyPr/>
                    <a:lstStyle/>
                    <a:p>
                      <a:pPr algn="ctr">
                        <a:buNone/>
                      </a:pPr>
                      <a:r>
                        <a:rPr lang="en-IN"/>
                        <a:t>Output</a:t>
                      </a:r>
                    </a:p>
                  </a:txBody>
                  <a:tcPr anchor="ctr"/>
                </a:tc>
                <a:tc>
                  <a:txBody>
                    <a:bodyPr/>
                    <a:lstStyle/>
                    <a:p>
                      <a:pPr algn="ctr">
                        <a:buNone/>
                      </a:pPr>
                      <a:r>
                        <a:rPr lang="en-IN"/>
                        <a:t>Key Vault write enable</a:t>
                      </a:r>
                    </a:p>
                  </a:txBody>
                  <a:tcPr anchor="ctr"/>
                </a:tc>
                <a:extLst>
                  <a:ext uri="{0D108BD9-81ED-4DB2-BD59-A6C34878D82A}">
                    <a16:rowId xmlns:a16="http://schemas.microsoft.com/office/drawing/2014/main" val="4290629588"/>
                  </a:ext>
                </a:extLst>
              </a:tr>
              <a:tr h="370840">
                <a:tc>
                  <a:txBody>
                    <a:bodyPr/>
                    <a:lstStyle/>
                    <a:p>
                      <a:pPr algn="ctr">
                        <a:buNone/>
                      </a:pPr>
                      <a:r>
                        <a:rPr lang="en-IN">
                          <a:latin typeface="Courier New" panose="02070309020205020404" pitchFamily="49" charset="0"/>
                        </a:rPr>
                        <a:t>recovery_done_o</a:t>
                      </a:r>
                      <a:endParaRPr lang="en-IN"/>
                    </a:p>
                  </a:txBody>
                  <a:tcPr anchor="ctr"/>
                </a:tc>
                <a:tc>
                  <a:txBody>
                    <a:bodyPr/>
                    <a:lstStyle/>
                    <a:p>
                      <a:pPr algn="ctr">
                        <a:buNone/>
                      </a:pPr>
                      <a:r>
                        <a:rPr lang="en-IN"/>
                        <a:t>1</a:t>
                      </a:r>
                    </a:p>
                  </a:txBody>
                  <a:tcPr anchor="ctr"/>
                </a:tc>
                <a:tc>
                  <a:txBody>
                    <a:bodyPr/>
                    <a:lstStyle/>
                    <a:p>
                      <a:pPr algn="ctr">
                        <a:buNone/>
                      </a:pPr>
                      <a:r>
                        <a:rPr lang="en-IN"/>
                        <a:t>Output</a:t>
                      </a:r>
                    </a:p>
                  </a:txBody>
                  <a:tcPr anchor="ctr"/>
                </a:tc>
                <a:tc>
                  <a:txBody>
                    <a:bodyPr/>
                    <a:lstStyle/>
                    <a:p>
                      <a:pPr algn="ctr">
                        <a:buNone/>
                      </a:pPr>
                      <a:r>
                        <a:rPr lang="en-IN"/>
                        <a:t>Recovery transfer complete</a:t>
                      </a:r>
                    </a:p>
                  </a:txBody>
                  <a:tcPr anchor="ctr"/>
                </a:tc>
                <a:extLst>
                  <a:ext uri="{0D108BD9-81ED-4DB2-BD59-A6C34878D82A}">
                    <a16:rowId xmlns:a16="http://schemas.microsoft.com/office/drawing/2014/main" val="4063914112"/>
                  </a:ext>
                </a:extLst>
              </a:tr>
              <a:tr h="370840">
                <a:tc>
                  <a:txBody>
                    <a:bodyPr/>
                    <a:lstStyle/>
                    <a:p>
                      <a:pPr algn="ctr">
                        <a:buNone/>
                      </a:pPr>
                      <a:r>
                        <a:rPr lang="en-IN">
                          <a:latin typeface="Courier New" panose="02070309020205020404" pitchFamily="49" charset="0"/>
                        </a:rPr>
                        <a:t>axi_araddr_o</a:t>
                      </a:r>
                      <a:endParaRPr lang="en-IN"/>
                    </a:p>
                  </a:txBody>
                  <a:tcPr anchor="ctr"/>
                </a:tc>
                <a:tc>
                  <a:txBody>
                    <a:bodyPr/>
                    <a:lstStyle/>
                    <a:p>
                      <a:pPr algn="ctr">
                        <a:buNone/>
                      </a:pPr>
                      <a:r>
                        <a:rPr lang="en-IN"/>
                        <a:t>32</a:t>
                      </a:r>
                    </a:p>
                  </a:txBody>
                  <a:tcPr anchor="ctr"/>
                </a:tc>
                <a:tc>
                  <a:txBody>
                    <a:bodyPr/>
                    <a:lstStyle/>
                    <a:p>
                      <a:pPr algn="ctr">
                        <a:buNone/>
                      </a:pPr>
                      <a:r>
                        <a:rPr lang="en-IN"/>
                        <a:t>Output</a:t>
                      </a:r>
                    </a:p>
                  </a:txBody>
                  <a:tcPr anchor="ctr"/>
                </a:tc>
                <a:tc>
                  <a:txBody>
                    <a:bodyPr/>
                    <a:lstStyle/>
                    <a:p>
                      <a:pPr algn="ctr">
                        <a:buNone/>
                      </a:pPr>
                      <a:r>
                        <a:rPr lang="en-IN"/>
                        <a:t>AXI read address</a:t>
                      </a:r>
                    </a:p>
                  </a:txBody>
                  <a:tcPr anchor="ctr"/>
                </a:tc>
                <a:extLst>
                  <a:ext uri="{0D108BD9-81ED-4DB2-BD59-A6C34878D82A}">
                    <a16:rowId xmlns:a16="http://schemas.microsoft.com/office/drawing/2014/main" val="2853821321"/>
                  </a:ext>
                </a:extLst>
              </a:tr>
              <a:tr h="370840">
                <a:tc>
                  <a:txBody>
                    <a:bodyPr/>
                    <a:lstStyle/>
                    <a:p>
                      <a:pPr algn="ctr">
                        <a:buNone/>
                      </a:pPr>
                      <a:r>
                        <a:rPr lang="en-IN">
                          <a:latin typeface="Courier New" panose="02070309020205020404" pitchFamily="49" charset="0"/>
                        </a:rPr>
                        <a:t>axi_awaddr_o</a:t>
                      </a:r>
                      <a:endParaRPr lang="en-IN"/>
                    </a:p>
                  </a:txBody>
                  <a:tcPr anchor="ctr"/>
                </a:tc>
                <a:tc>
                  <a:txBody>
                    <a:bodyPr/>
                    <a:lstStyle/>
                    <a:p>
                      <a:pPr algn="ctr">
                        <a:buNone/>
                      </a:pPr>
                      <a:r>
                        <a:rPr lang="en-IN"/>
                        <a:t>32</a:t>
                      </a:r>
                    </a:p>
                  </a:txBody>
                  <a:tcPr anchor="ctr"/>
                </a:tc>
                <a:tc>
                  <a:txBody>
                    <a:bodyPr/>
                    <a:lstStyle/>
                    <a:p>
                      <a:pPr algn="ctr">
                        <a:buNone/>
                      </a:pPr>
                      <a:r>
                        <a:rPr lang="en-IN"/>
                        <a:t>Output</a:t>
                      </a:r>
                    </a:p>
                  </a:txBody>
                  <a:tcPr anchor="ctr"/>
                </a:tc>
                <a:tc>
                  <a:txBody>
                    <a:bodyPr/>
                    <a:lstStyle/>
                    <a:p>
                      <a:pPr algn="ctr">
                        <a:buNone/>
                      </a:pPr>
                      <a:r>
                        <a:rPr lang="en-IN"/>
                        <a:t>AXI write address</a:t>
                      </a:r>
                    </a:p>
                  </a:txBody>
                  <a:tcPr anchor="ctr"/>
                </a:tc>
                <a:extLst>
                  <a:ext uri="{0D108BD9-81ED-4DB2-BD59-A6C34878D82A}">
                    <a16:rowId xmlns:a16="http://schemas.microsoft.com/office/drawing/2014/main" val="914187702"/>
                  </a:ext>
                </a:extLst>
              </a:tr>
              <a:tr h="370840">
                <a:tc>
                  <a:txBody>
                    <a:bodyPr/>
                    <a:lstStyle/>
                    <a:p>
                      <a:pPr algn="ctr">
                        <a:buNone/>
                      </a:pPr>
                      <a:r>
                        <a:rPr lang="en-IN">
                          <a:latin typeface="Courier New" panose="02070309020205020404" pitchFamily="49" charset="0"/>
                        </a:rPr>
                        <a:t>mailbox_data_o</a:t>
                      </a:r>
                      <a:endParaRPr lang="en-IN"/>
                    </a:p>
                  </a:txBody>
                  <a:tcPr anchor="ctr"/>
                </a:tc>
                <a:tc>
                  <a:txBody>
                    <a:bodyPr/>
                    <a:lstStyle/>
                    <a:p>
                      <a:pPr algn="ctr">
                        <a:buNone/>
                      </a:pPr>
                      <a:r>
                        <a:rPr lang="en-IN"/>
                        <a:t>32</a:t>
                      </a:r>
                    </a:p>
                  </a:txBody>
                  <a:tcPr anchor="ctr"/>
                </a:tc>
                <a:tc>
                  <a:txBody>
                    <a:bodyPr/>
                    <a:lstStyle/>
                    <a:p>
                      <a:pPr algn="ctr">
                        <a:buNone/>
                      </a:pPr>
                      <a:r>
                        <a:rPr lang="en-IN"/>
                        <a:t>Output</a:t>
                      </a:r>
                    </a:p>
                  </a:txBody>
                  <a:tcPr anchor="ctr"/>
                </a:tc>
                <a:tc>
                  <a:txBody>
                    <a:bodyPr/>
                    <a:lstStyle/>
                    <a:p>
                      <a:pPr algn="ctr">
                        <a:buNone/>
                      </a:pPr>
                      <a:r>
                        <a:rPr lang="en-IN"/>
                        <a:t>Mailbox output data</a:t>
                      </a:r>
                    </a:p>
                  </a:txBody>
                  <a:tcPr anchor="ctr"/>
                </a:tc>
                <a:extLst>
                  <a:ext uri="{0D108BD9-81ED-4DB2-BD59-A6C34878D82A}">
                    <a16:rowId xmlns:a16="http://schemas.microsoft.com/office/drawing/2014/main" val="4071241924"/>
                  </a:ext>
                </a:extLst>
              </a:tr>
            </a:tbl>
          </a:graphicData>
        </a:graphic>
      </p:graphicFrame>
    </p:spTree>
    <p:extLst>
      <p:ext uri="{BB962C8B-B14F-4D97-AF65-F5344CB8AC3E}">
        <p14:creationId xmlns:p14="http://schemas.microsoft.com/office/powerpoint/2010/main" val="33452567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1C79D-980F-720B-FDF1-98BD9E679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9D52D-F855-2984-7880-65929FA6A095}"/>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Fuse Registers</a:t>
            </a:r>
          </a:p>
        </p:txBody>
      </p:sp>
      <p:sp>
        <p:nvSpPr>
          <p:cNvPr id="18" name="TextBox 17">
            <a:extLst>
              <a:ext uri="{FF2B5EF4-FFF2-40B4-BE49-F238E27FC236}">
                <a16:creationId xmlns:a16="http://schemas.microsoft.com/office/drawing/2014/main" id="{2CB03D9C-5899-5D05-62EF-720F8665B22D}"/>
              </a:ext>
            </a:extLst>
          </p:cNvPr>
          <p:cNvSpPr txBox="1"/>
          <p:nvPr/>
        </p:nvSpPr>
        <p:spPr>
          <a:xfrm>
            <a:off x="1215738" y="907255"/>
            <a:ext cx="6096000" cy="369332"/>
          </a:xfrm>
          <a:prstGeom prst="rect">
            <a:avLst/>
          </a:prstGeom>
          <a:noFill/>
        </p:spPr>
        <p:txBody>
          <a:bodyPr wrap="square">
            <a:spAutoFit/>
          </a:bodyPr>
          <a:lstStyle/>
          <a:p>
            <a:r>
              <a:rPr lang="en-IN"/>
              <a:t>Table 7. Fuse Registers </a:t>
            </a:r>
          </a:p>
        </p:txBody>
      </p:sp>
      <p:sp>
        <p:nvSpPr>
          <p:cNvPr id="104" name="Slide Number Placeholder 3">
            <a:extLst>
              <a:ext uri="{FF2B5EF4-FFF2-40B4-BE49-F238E27FC236}">
                <a16:creationId xmlns:a16="http://schemas.microsoft.com/office/drawing/2014/main" id="{20E7C24A-AA7A-1E51-49C4-2E133FFD01F0}"/>
              </a:ext>
            </a:extLst>
          </p:cNvPr>
          <p:cNvSpPr>
            <a:spLocks noGrp="1"/>
          </p:cNvSpPr>
          <p:nvPr>
            <p:ph type="sldNum" sz="quarter" idx="12"/>
          </p:nvPr>
        </p:nvSpPr>
        <p:spPr>
          <a:xfrm>
            <a:off x="8610600" y="6889760"/>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53</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EBC030E7-72DC-FD62-CE86-92AC8B4E2A21}"/>
              </a:ext>
            </a:extLst>
          </p:cNvPr>
          <p:cNvGraphicFramePr>
            <a:graphicFrameLocks noGrp="1"/>
          </p:cNvGraphicFramePr>
          <p:nvPr/>
        </p:nvGraphicFramePr>
        <p:xfrm>
          <a:off x="1054871" y="1276587"/>
          <a:ext cx="9106672" cy="3672840"/>
        </p:xfrm>
        <a:graphic>
          <a:graphicData uri="http://schemas.openxmlformats.org/drawingml/2006/table">
            <a:tbl>
              <a:tblPr firstRow="1" bandRow="1">
                <a:tableStyleId>{5C22544A-7EE6-4342-B048-85BDC9FD1C3A}</a:tableStyleId>
              </a:tblPr>
              <a:tblGrid>
                <a:gridCol w="1298862">
                  <a:extLst>
                    <a:ext uri="{9D8B030D-6E8A-4147-A177-3AD203B41FA5}">
                      <a16:colId xmlns:a16="http://schemas.microsoft.com/office/drawing/2014/main" val="1973430579"/>
                    </a:ext>
                  </a:extLst>
                </a:gridCol>
                <a:gridCol w="3217334">
                  <a:extLst>
                    <a:ext uri="{9D8B030D-6E8A-4147-A177-3AD203B41FA5}">
                      <a16:colId xmlns:a16="http://schemas.microsoft.com/office/drawing/2014/main" val="760745386"/>
                    </a:ext>
                  </a:extLst>
                </a:gridCol>
                <a:gridCol w="1227666">
                  <a:extLst>
                    <a:ext uri="{9D8B030D-6E8A-4147-A177-3AD203B41FA5}">
                      <a16:colId xmlns:a16="http://schemas.microsoft.com/office/drawing/2014/main" val="3612705776"/>
                    </a:ext>
                  </a:extLst>
                </a:gridCol>
                <a:gridCol w="3362810">
                  <a:extLst>
                    <a:ext uri="{9D8B030D-6E8A-4147-A177-3AD203B41FA5}">
                      <a16:colId xmlns:a16="http://schemas.microsoft.com/office/drawing/2014/main" val="3943392966"/>
                    </a:ext>
                  </a:extLst>
                </a:gridCol>
              </a:tblGrid>
              <a:tr h="0">
                <a:tc>
                  <a:txBody>
                    <a:bodyPr/>
                    <a:lstStyle/>
                    <a:p>
                      <a:pPr algn="ctr">
                        <a:buNone/>
                      </a:pPr>
                      <a:r>
                        <a:rPr lang="en-IN"/>
                        <a:t>Address</a:t>
                      </a:r>
                    </a:p>
                  </a:txBody>
                  <a:tcPr anchor="ctr"/>
                </a:tc>
                <a:tc>
                  <a:txBody>
                    <a:bodyPr/>
                    <a:lstStyle/>
                    <a:p>
                      <a:pPr algn="ctr">
                        <a:buNone/>
                      </a:pPr>
                      <a:r>
                        <a:rPr lang="en-IN"/>
                        <a:t>Register Name</a:t>
                      </a:r>
                    </a:p>
                  </a:txBody>
                  <a:tcPr anchor="ctr"/>
                </a:tc>
                <a:tc>
                  <a:txBody>
                    <a:bodyPr/>
                    <a:lstStyle/>
                    <a:p>
                      <a:pPr algn="ctr">
                        <a:buNone/>
                      </a:pPr>
                      <a:r>
                        <a:rPr lang="en-IN"/>
                        <a:t>Width</a:t>
                      </a:r>
                    </a:p>
                  </a:txBody>
                  <a:tcPr anchor="ctr"/>
                </a:tc>
                <a:tc>
                  <a:txBody>
                    <a:bodyPr/>
                    <a:lstStyle/>
                    <a:p>
                      <a:pPr algn="ctr">
                        <a:buNone/>
                      </a:pPr>
                      <a:r>
                        <a:rPr lang="en-IN"/>
                        <a:t>Description</a:t>
                      </a:r>
                    </a:p>
                  </a:txBody>
                  <a:tcPr anchor="ctr"/>
                </a:tc>
                <a:extLst>
                  <a:ext uri="{0D108BD9-81ED-4DB2-BD59-A6C34878D82A}">
                    <a16:rowId xmlns:a16="http://schemas.microsoft.com/office/drawing/2014/main" val="4223026766"/>
                  </a:ext>
                </a:extLst>
              </a:tr>
              <a:tr h="178647">
                <a:tc>
                  <a:txBody>
                    <a:bodyPr/>
                    <a:lstStyle/>
                    <a:p>
                      <a:pPr algn="ctr">
                        <a:buNone/>
                      </a:pPr>
                      <a:r>
                        <a:rPr lang="en-IN"/>
                        <a:t>0x200</a:t>
                      </a:r>
                    </a:p>
                  </a:txBody>
                  <a:tcPr anchor="ctr"/>
                </a:tc>
                <a:tc>
                  <a:txBody>
                    <a:bodyPr/>
                    <a:lstStyle/>
                    <a:p>
                      <a:pPr algn="ctr">
                        <a:buNone/>
                      </a:pPr>
                      <a:r>
                        <a:rPr lang="en-IN"/>
                        <a:t>fuse_uds_seed</a:t>
                      </a:r>
                    </a:p>
                  </a:txBody>
                  <a:tcPr anchor="ctr"/>
                </a:tc>
                <a:tc>
                  <a:txBody>
                    <a:bodyPr/>
                    <a:lstStyle/>
                    <a:p>
                      <a:pPr algn="ctr">
                        <a:buNone/>
                      </a:pPr>
                      <a:r>
                        <a:rPr lang="en-IN"/>
                        <a:t>16</a:t>
                      </a:r>
                    </a:p>
                  </a:txBody>
                  <a:tcPr anchor="ctr"/>
                </a:tc>
                <a:tc>
                  <a:txBody>
                    <a:bodyPr/>
                    <a:lstStyle/>
                    <a:p>
                      <a:pPr algn="ctr">
                        <a:buNone/>
                      </a:pPr>
                      <a:r>
                        <a:rPr lang="en-IN"/>
                        <a:t>Unique Device Secret</a:t>
                      </a:r>
                    </a:p>
                  </a:txBody>
                  <a:tcPr anchor="ctr"/>
                </a:tc>
                <a:extLst>
                  <a:ext uri="{0D108BD9-81ED-4DB2-BD59-A6C34878D82A}">
                    <a16:rowId xmlns:a16="http://schemas.microsoft.com/office/drawing/2014/main" val="1809496166"/>
                  </a:ext>
                </a:extLst>
              </a:tr>
              <a:tr h="178647">
                <a:tc>
                  <a:txBody>
                    <a:bodyPr/>
                    <a:lstStyle/>
                    <a:p>
                      <a:pPr algn="ctr">
                        <a:buNone/>
                      </a:pPr>
                      <a:r>
                        <a:rPr lang="en-IN"/>
                        <a:t>0x240</a:t>
                      </a:r>
                    </a:p>
                  </a:txBody>
                  <a:tcPr anchor="ctr"/>
                </a:tc>
                <a:tc>
                  <a:txBody>
                    <a:bodyPr/>
                    <a:lstStyle/>
                    <a:p>
                      <a:pPr algn="ctr">
                        <a:buNone/>
                      </a:pPr>
                      <a:r>
                        <a:rPr lang="en-IN"/>
                        <a:t>fuse_field_entropy</a:t>
                      </a:r>
                    </a:p>
                  </a:txBody>
                  <a:tcPr anchor="ctr"/>
                </a:tc>
                <a:tc>
                  <a:txBody>
                    <a:bodyPr/>
                    <a:lstStyle/>
                    <a:p>
                      <a:pPr algn="ctr">
                        <a:buNone/>
                      </a:pPr>
                      <a:r>
                        <a:rPr lang="en-IN"/>
                        <a:t>8</a:t>
                      </a:r>
                    </a:p>
                  </a:txBody>
                  <a:tcPr anchor="ctr"/>
                </a:tc>
                <a:tc>
                  <a:txBody>
                    <a:bodyPr/>
                    <a:lstStyle/>
                    <a:p>
                      <a:pPr algn="ctr">
                        <a:buNone/>
                      </a:pPr>
                      <a:r>
                        <a:rPr lang="en-IN"/>
                        <a:t>Field Entropy</a:t>
                      </a:r>
                    </a:p>
                  </a:txBody>
                  <a:tcPr anchor="ctr"/>
                </a:tc>
                <a:extLst>
                  <a:ext uri="{0D108BD9-81ED-4DB2-BD59-A6C34878D82A}">
                    <a16:rowId xmlns:a16="http://schemas.microsoft.com/office/drawing/2014/main" val="2098744810"/>
                  </a:ext>
                </a:extLst>
              </a:tr>
              <a:tr h="178647">
                <a:tc>
                  <a:txBody>
                    <a:bodyPr/>
                    <a:lstStyle/>
                    <a:p>
                      <a:pPr algn="ctr">
                        <a:buNone/>
                      </a:pPr>
                      <a:r>
                        <a:rPr lang="en-IN"/>
                        <a:t>0x260</a:t>
                      </a:r>
                    </a:p>
                  </a:txBody>
                  <a:tcPr anchor="ctr"/>
                </a:tc>
                <a:tc>
                  <a:txBody>
                    <a:bodyPr/>
                    <a:lstStyle/>
                    <a:p>
                      <a:pPr algn="ctr">
                        <a:buNone/>
                      </a:pPr>
                      <a:r>
                        <a:rPr lang="en-IN"/>
                        <a:t>fuse_vendor_pk_hash</a:t>
                      </a:r>
                    </a:p>
                  </a:txBody>
                  <a:tcPr anchor="ctr"/>
                </a:tc>
                <a:tc>
                  <a:txBody>
                    <a:bodyPr/>
                    <a:lstStyle/>
                    <a:p>
                      <a:pPr algn="ctr">
                        <a:buNone/>
                      </a:pPr>
                      <a:r>
                        <a:rPr lang="en-IN"/>
                        <a:t>12</a:t>
                      </a:r>
                    </a:p>
                  </a:txBody>
                  <a:tcPr anchor="ctr"/>
                </a:tc>
                <a:tc>
                  <a:txBody>
                    <a:bodyPr/>
                    <a:lstStyle/>
                    <a:p>
                      <a:pPr algn="ctr">
                        <a:buNone/>
                      </a:pPr>
                      <a:r>
                        <a:rPr lang="en-IN"/>
                        <a:t>Vendor Public Key Hash</a:t>
                      </a:r>
                    </a:p>
                  </a:txBody>
                  <a:tcPr anchor="ctr"/>
                </a:tc>
                <a:extLst>
                  <a:ext uri="{0D108BD9-81ED-4DB2-BD59-A6C34878D82A}">
                    <a16:rowId xmlns:a16="http://schemas.microsoft.com/office/drawing/2014/main" val="2274635830"/>
                  </a:ext>
                </a:extLst>
              </a:tr>
              <a:tr h="178647">
                <a:tc>
                  <a:txBody>
                    <a:bodyPr/>
                    <a:lstStyle/>
                    <a:p>
                      <a:pPr algn="ctr">
                        <a:buNone/>
                      </a:pPr>
                      <a:r>
                        <a:rPr lang="en-IN"/>
                        <a:t>0x290</a:t>
                      </a:r>
                    </a:p>
                  </a:txBody>
                  <a:tcPr anchor="ctr"/>
                </a:tc>
                <a:tc>
                  <a:txBody>
                    <a:bodyPr/>
                    <a:lstStyle/>
                    <a:p>
                      <a:pPr algn="ctr">
                        <a:buNone/>
                      </a:pPr>
                      <a:r>
                        <a:rPr lang="en-IN"/>
                        <a:t>fuse_ecc_revocation</a:t>
                      </a:r>
                    </a:p>
                  </a:txBody>
                  <a:tcPr anchor="ctr"/>
                </a:tc>
                <a:tc>
                  <a:txBody>
                    <a:bodyPr/>
                    <a:lstStyle/>
                    <a:p>
                      <a:pPr algn="ctr">
                        <a:buNone/>
                      </a:pPr>
                      <a:r>
                        <a:rPr lang="en-IN"/>
                        <a:t>1</a:t>
                      </a:r>
                    </a:p>
                  </a:txBody>
                  <a:tcPr anchor="ctr"/>
                </a:tc>
                <a:tc>
                  <a:txBody>
                    <a:bodyPr/>
                    <a:lstStyle/>
                    <a:p>
                      <a:pPr algn="ctr">
                        <a:buNone/>
                      </a:pPr>
                      <a:r>
                        <a:rPr lang="en-IN"/>
                        <a:t>ECC Revocation</a:t>
                      </a:r>
                    </a:p>
                  </a:txBody>
                  <a:tcPr anchor="ctr"/>
                </a:tc>
                <a:extLst>
                  <a:ext uri="{0D108BD9-81ED-4DB2-BD59-A6C34878D82A}">
                    <a16:rowId xmlns:a16="http://schemas.microsoft.com/office/drawing/2014/main" val="4086745375"/>
                  </a:ext>
                </a:extLst>
              </a:tr>
              <a:tr h="178647">
                <a:tc>
                  <a:txBody>
                    <a:bodyPr/>
                    <a:lstStyle/>
                    <a:p>
                      <a:pPr algn="ctr">
                        <a:buNone/>
                      </a:pPr>
                      <a:r>
                        <a:rPr lang="en-IN"/>
                        <a:t>0x2B4</a:t>
                      </a:r>
                    </a:p>
                  </a:txBody>
                  <a:tcPr anchor="ctr"/>
                </a:tc>
                <a:tc>
                  <a:txBody>
                    <a:bodyPr/>
                    <a:lstStyle/>
                    <a:p>
                      <a:pPr algn="ctr">
                        <a:buNone/>
                      </a:pPr>
                      <a:r>
                        <a:rPr lang="en-IN"/>
                        <a:t>fuse_fmc_key_manifest_svn</a:t>
                      </a:r>
                    </a:p>
                  </a:txBody>
                  <a:tcPr anchor="ctr"/>
                </a:tc>
                <a:tc>
                  <a:txBody>
                    <a:bodyPr/>
                    <a:lstStyle/>
                    <a:p>
                      <a:pPr algn="ctr">
                        <a:buNone/>
                      </a:pPr>
                      <a:r>
                        <a:rPr lang="en-IN"/>
                        <a:t>1</a:t>
                      </a:r>
                    </a:p>
                  </a:txBody>
                  <a:tcPr anchor="ctr"/>
                </a:tc>
                <a:tc>
                  <a:txBody>
                    <a:bodyPr/>
                    <a:lstStyle/>
                    <a:p>
                      <a:pPr algn="ctr">
                        <a:buNone/>
                      </a:pPr>
                      <a:r>
                        <a:rPr lang="en-IN"/>
                        <a:t>FMC SVN</a:t>
                      </a:r>
                    </a:p>
                  </a:txBody>
                  <a:tcPr anchor="ctr"/>
                </a:tc>
                <a:extLst>
                  <a:ext uri="{0D108BD9-81ED-4DB2-BD59-A6C34878D82A}">
                    <a16:rowId xmlns:a16="http://schemas.microsoft.com/office/drawing/2014/main" val="1600013001"/>
                  </a:ext>
                </a:extLst>
              </a:tr>
              <a:tr h="178647">
                <a:tc>
                  <a:txBody>
                    <a:bodyPr/>
                    <a:lstStyle/>
                    <a:p>
                      <a:pPr algn="ctr">
                        <a:buNone/>
                      </a:pPr>
                      <a:r>
                        <a:rPr lang="en-IN"/>
                        <a:t>0x2B8</a:t>
                      </a:r>
                    </a:p>
                  </a:txBody>
                  <a:tcPr anchor="ctr"/>
                </a:tc>
                <a:tc>
                  <a:txBody>
                    <a:bodyPr/>
                    <a:lstStyle/>
                    <a:p>
                      <a:pPr algn="ctr">
                        <a:buNone/>
                      </a:pPr>
                      <a:r>
                        <a:rPr lang="en-IN"/>
                        <a:t>fuse_runtime_svn</a:t>
                      </a:r>
                    </a:p>
                  </a:txBody>
                  <a:tcPr anchor="ctr"/>
                </a:tc>
                <a:tc>
                  <a:txBody>
                    <a:bodyPr/>
                    <a:lstStyle/>
                    <a:p>
                      <a:pPr algn="ctr">
                        <a:buNone/>
                      </a:pPr>
                      <a:r>
                        <a:rPr lang="en-IN"/>
                        <a:t>4</a:t>
                      </a:r>
                    </a:p>
                  </a:txBody>
                  <a:tcPr anchor="ctr"/>
                </a:tc>
                <a:tc>
                  <a:txBody>
                    <a:bodyPr/>
                    <a:lstStyle/>
                    <a:p>
                      <a:pPr algn="ctr">
                        <a:buNone/>
                      </a:pPr>
                      <a:r>
                        <a:rPr lang="en-IN"/>
                        <a:t>Runtime SVN</a:t>
                      </a:r>
                    </a:p>
                  </a:txBody>
                  <a:tcPr anchor="ctr"/>
                </a:tc>
                <a:extLst>
                  <a:ext uri="{0D108BD9-81ED-4DB2-BD59-A6C34878D82A}">
                    <a16:rowId xmlns:a16="http://schemas.microsoft.com/office/drawing/2014/main" val="2211963191"/>
                  </a:ext>
                </a:extLst>
              </a:tr>
              <a:tr h="370840">
                <a:tc>
                  <a:txBody>
                    <a:bodyPr/>
                    <a:lstStyle/>
                    <a:p>
                      <a:pPr algn="ctr">
                        <a:buNone/>
                      </a:pPr>
                      <a:r>
                        <a:rPr lang="en-IN"/>
                        <a:t>0x2C8</a:t>
                      </a:r>
                    </a:p>
                  </a:txBody>
                  <a:tcPr anchor="ctr"/>
                </a:tc>
                <a:tc>
                  <a:txBody>
                    <a:bodyPr/>
                    <a:lstStyle/>
                    <a:p>
                      <a:pPr algn="ctr">
                        <a:buNone/>
                      </a:pPr>
                      <a:r>
                        <a:rPr lang="en-IN"/>
                        <a:t>fuse_anti_rollback_disable</a:t>
                      </a:r>
                    </a:p>
                  </a:txBody>
                  <a:tcPr anchor="ctr"/>
                </a:tc>
                <a:tc>
                  <a:txBody>
                    <a:bodyPr/>
                    <a:lstStyle/>
                    <a:p>
                      <a:pPr algn="ctr">
                        <a:buNone/>
                      </a:pPr>
                      <a:r>
                        <a:rPr lang="en-IN"/>
                        <a:t>1</a:t>
                      </a:r>
                    </a:p>
                  </a:txBody>
                  <a:tcPr anchor="ctr"/>
                </a:tc>
                <a:tc>
                  <a:txBody>
                    <a:bodyPr/>
                    <a:lstStyle/>
                    <a:p>
                      <a:pPr algn="ctr">
                        <a:buNone/>
                      </a:pPr>
                      <a:r>
                        <a:rPr lang="en-IN"/>
                        <a:t>Anti Rollback Disable</a:t>
                      </a:r>
                    </a:p>
                  </a:txBody>
                  <a:tcPr anchor="ctr"/>
                </a:tc>
                <a:extLst>
                  <a:ext uri="{0D108BD9-81ED-4DB2-BD59-A6C34878D82A}">
                    <a16:rowId xmlns:a16="http://schemas.microsoft.com/office/drawing/2014/main" val="4106981858"/>
                  </a:ext>
                </a:extLst>
              </a:tr>
              <a:tr h="370840">
                <a:tc>
                  <a:txBody>
                    <a:bodyPr/>
                    <a:lstStyle/>
                    <a:p>
                      <a:pPr algn="ctr">
                        <a:buNone/>
                      </a:pPr>
                      <a:r>
                        <a:rPr lang="en-IN"/>
                        <a:t>0x2CC</a:t>
                      </a:r>
                    </a:p>
                  </a:txBody>
                  <a:tcPr anchor="ctr"/>
                </a:tc>
                <a:tc>
                  <a:txBody>
                    <a:bodyPr/>
                    <a:lstStyle/>
                    <a:p>
                      <a:pPr algn="ctr">
                        <a:buNone/>
                      </a:pPr>
                      <a:r>
                        <a:rPr lang="en-IN"/>
                        <a:t>fuse_idevid_cert_attr</a:t>
                      </a:r>
                    </a:p>
                  </a:txBody>
                  <a:tcPr anchor="ctr"/>
                </a:tc>
                <a:tc>
                  <a:txBody>
                    <a:bodyPr/>
                    <a:lstStyle/>
                    <a:p>
                      <a:pPr algn="ctr">
                        <a:buNone/>
                      </a:pPr>
                      <a:r>
                        <a:rPr lang="en-IN"/>
                        <a:t>24</a:t>
                      </a:r>
                    </a:p>
                  </a:txBody>
                  <a:tcPr anchor="ctr"/>
                </a:tc>
                <a:tc>
                  <a:txBody>
                    <a:bodyPr/>
                    <a:lstStyle/>
                    <a:p>
                      <a:pPr algn="ctr">
                        <a:buNone/>
                      </a:pPr>
                      <a:r>
                        <a:rPr lang="en-IN"/>
                        <a:t>IDevID Certificate Attributes</a:t>
                      </a:r>
                    </a:p>
                  </a:txBody>
                  <a:tcPr anchor="ctr"/>
                </a:tc>
                <a:extLst>
                  <a:ext uri="{0D108BD9-81ED-4DB2-BD59-A6C34878D82A}">
                    <a16:rowId xmlns:a16="http://schemas.microsoft.com/office/drawing/2014/main" val="1487706840"/>
                  </a:ext>
                </a:extLst>
              </a:tr>
              <a:tr h="370840">
                <a:tc>
                  <a:txBody>
                    <a:bodyPr/>
                    <a:lstStyle/>
                    <a:p>
                      <a:pPr algn="ctr">
                        <a:buNone/>
                      </a:pPr>
                      <a:r>
                        <a:rPr lang="en-IN"/>
                        <a:t>0x32C</a:t>
                      </a:r>
                    </a:p>
                  </a:txBody>
                  <a:tcPr anchor="ctr"/>
                </a:tc>
                <a:tc>
                  <a:txBody>
                    <a:bodyPr/>
                    <a:lstStyle/>
                    <a:p>
                      <a:pPr algn="ctr">
                        <a:buNone/>
                      </a:pPr>
                      <a:r>
                        <a:rPr lang="en-IN"/>
                        <a:t>fuse_idevid_manuf_hsm_id</a:t>
                      </a:r>
                    </a:p>
                  </a:txBody>
                  <a:tcPr anchor="ctr"/>
                </a:tc>
                <a:tc>
                  <a:txBody>
                    <a:bodyPr/>
                    <a:lstStyle/>
                    <a:p>
                      <a:pPr algn="ctr">
                        <a:buNone/>
                      </a:pPr>
                      <a:r>
                        <a:rPr lang="en-IN"/>
                        <a:t>4</a:t>
                      </a:r>
                    </a:p>
                  </a:txBody>
                  <a:tcPr anchor="ctr"/>
                </a:tc>
                <a:tc>
                  <a:txBody>
                    <a:bodyPr/>
                    <a:lstStyle/>
                    <a:p>
                      <a:pPr algn="ctr">
                        <a:buNone/>
                      </a:pPr>
                      <a:r>
                        <a:rPr lang="en-IN"/>
                        <a:t>Manufacturer HSM ID</a:t>
                      </a:r>
                    </a:p>
                  </a:txBody>
                  <a:tcPr anchor="ctr"/>
                </a:tc>
                <a:extLst>
                  <a:ext uri="{0D108BD9-81ED-4DB2-BD59-A6C34878D82A}">
                    <a16:rowId xmlns:a16="http://schemas.microsoft.com/office/drawing/2014/main" val="218062552"/>
                  </a:ext>
                </a:extLst>
              </a:tr>
            </a:tbl>
          </a:graphicData>
        </a:graphic>
      </p:graphicFrame>
    </p:spTree>
    <p:extLst>
      <p:ext uri="{BB962C8B-B14F-4D97-AF65-F5344CB8AC3E}">
        <p14:creationId xmlns:p14="http://schemas.microsoft.com/office/powerpoint/2010/main" val="37176806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00B6D-2D5B-B719-FC9E-1BB9061BB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3AD3EB-87DA-2213-E37E-3DA3E9BFDB3B}"/>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Fuse Registers(Contd..)</a:t>
            </a:r>
          </a:p>
        </p:txBody>
      </p:sp>
      <p:sp>
        <p:nvSpPr>
          <p:cNvPr id="18" name="TextBox 17">
            <a:extLst>
              <a:ext uri="{FF2B5EF4-FFF2-40B4-BE49-F238E27FC236}">
                <a16:creationId xmlns:a16="http://schemas.microsoft.com/office/drawing/2014/main" id="{067A27C7-2573-9D30-8694-6CB74F917601}"/>
              </a:ext>
            </a:extLst>
          </p:cNvPr>
          <p:cNvSpPr txBox="1"/>
          <p:nvPr/>
        </p:nvSpPr>
        <p:spPr>
          <a:xfrm>
            <a:off x="1173404" y="907255"/>
            <a:ext cx="6096000" cy="369332"/>
          </a:xfrm>
          <a:prstGeom prst="rect">
            <a:avLst/>
          </a:prstGeom>
          <a:noFill/>
        </p:spPr>
        <p:txBody>
          <a:bodyPr wrap="square">
            <a:spAutoFit/>
          </a:bodyPr>
          <a:lstStyle/>
          <a:p>
            <a:r>
              <a:rPr lang="en-IN"/>
              <a:t>Table 8. Fuse Registers </a:t>
            </a:r>
          </a:p>
        </p:txBody>
      </p:sp>
      <p:sp>
        <p:nvSpPr>
          <p:cNvPr id="104" name="Slide Number Placeholder 3">
            <a:extLst>
              <a:ext uri="{FF2B5EF4-FFF2-40B4-BE49-F238E27FC236}">
                <a16:creationId xmlns:a16="http://schemas.microsoft.com/office/drawing/2014/main" id="{499FD0CC-8D78-9AC9-525A-C5BC2382C6CF}"/>
              </a:ext>
            </a:extLst>
          </p:cNvPr>
          <p:cNvSpPr>
            <a:spLocks noGrp="1"/>
          </p:cNvSpPr>
          <p:nvPr>
            <p:ph type="sldNum" sz="quarter" idx="12"/>
          </p:nvPr>
        </p:nvSpPr>
        <p:spPr>
          <a:xfrm>
            <a:off x="8610600" y="6889760"/>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54</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CA5A2C8F-BAD1-2FC5-D4C6-92E3605B8DD0}"/>
              </a:ext>
            </a:extLst>
          </p:cNvPr>
          <p:cNvGraphicFramePr>
            <a:graphicFrameLocks noGrp="1"/>
          </p:cNvGraphicFramePr>
          <p:nvPr/>
        </p:nvGraphicFramePr>
        <p:xfrm>
          <a:off x="1054871" y="1276587"/>
          <a:ext cx="9106672" cy="3576320"/>
        </p:xfrm>
        <a:graphic>
          <a:graphicData uri="http://schemas.openxmlformats.org/drawingml/2006/table">
            <a:tbl>
              <a:tblPr firstRow="1" bandRow="1">
                <a:tableStyleId>{5C22544A-7EE6-4342-B048-85BDC9FD1C3A}</a:tableStyleId>
              </a:tblPr>
              <a:tblGrid>
                <a:gridCol w="1298862">
                  <a:extLst>
                    <a:ext uri="{9D8B030D-6E8A-4147-A177-3AD203B41FA5}">
                      <a16:colId xmlns:a16="http://schemas.microsoft.com/office/drawing/2014/main" val="1973430579"/>
                    </a:ext>
                  </a:extLst>
                </a:gridCol>
                <a:gridCol w="3606800">
                  <a:extLst>
                    <a:ext uri="{9D8B030D-6E8A-4147-A177-3AD203B41FA5}">
                      <a16:colId xmlns:a16="http://schemas.microsoft.com/office/drawing/2014/main" val="760745386"/>
                    </a:ext>
                  </a:extLst>
                </a:gridCol>
                <a:gridCol w="1032934">
                  <a:extLst>
                    <a:ext uri="{9D8B030D-6E8A-4147-A177-3AD203B41FA5}">
                      <a16:colId xmlns:a16="http://schemas.microsoft.com/office/drawing/2014/main" val="3612705776"/>
                    </a:ext>
                  </a:extLst>
                </a:gridCol>
                <a:gridCol w="3168076">
                  <a:extLst>
                    <a:ext uri="{9D8B030D-6E8A-4147-A177-3AD203B41FA5}">
                      <a16:colId xmlns:a16="http://schemas.microsoft.com/office/drawing/2014/main" val="3943392966"/>
                    </a:ext>
                  </a:extLst>
                </a:gridCol>
              </a:tblGrid>
              <a:tr h="0">
                <a:tc>
                  <a:txBody>
                    <a:bodyPr/>
                    <a:lstStyle/>
                    <a:p>
                      <a:pPr>
                        <a:buNone/>
                      </a:pPr>
                      <a:r>
                        <a:rPr lang="en-IN"/>
                        <a:t>Address</a:t>
                      </a:r>
                    </a:p>
                  </a:txBody>
                  <a:tcPr anchor="ctr"/>
                </a:tc>
                <a:tc>
                  <a:txBody>
                    <a:bodyPr/>
                    <a:lstStyle/>
                    <a:p>
                      <a:pPr>
                        <a:buNone/>
                      </a:pPr>
                      <a:r>
                        <a:rPr lang="en-IN"/>
                        <a:t>Register Name</a:t>
                      </a:r>
                    </a:p>
                  </a:txBody>
                  <a:tcPr anchor="ctr"/>
                </a:tc>
                <a:tc>
                  <a:txBody>
                    <a:bodyPr/>
                    <a:lstStyle/>
                    <a:p>
                      <a:pPr>
                        <a:buNone/>
                      </a:pPr>
                      <a:r>
                        <a:rPr lang="en-IN"/>
                        <a:t>Width</a:t>
                      </a:r>
                    </a:p>
                  </a:txBody>
                  <a:tcPr anchor="ctr"/>
                </a:tc>
                <a:tc>
                  <a:txBody>
                    <a:bodyPr/>
                    <a:lstStyle/>
                    <a:p>
                      <a:pPr>
                        <a:buNone/>
                      </a:pPr>
                      <a:r>
                        <a:rPr lang="en-IN"/>
                        <a:t>Description</a:t>
                      </a:r>
                    </a:p>
                  </a:txBody>
                  <a:tcPr anchor="ctr"/>
                </a:tc>
                <a:extLst>
                  <a:ext uri="{0D108BD9-81ED-4DB2-BD59-A6C34878D82A}">
                    <a16:rowId xmlns:a16="http://schemas.microsoft.com/office/drawing/2014/main" val="4223026766"/>
                  </a:ext>
                </a:extLst>
              </a:tr>
              <a:tr h="178647">
                <a:tc>
                  <a:txBody>
                    <a:bodyPr/>
                    <a:lstStyle/>
                    <a:p>
                      <a:pPr>
                        <a:buNone/>
                      </a:pPr>
                      <a:r>
                        <a:rPr lang="en-IN"/>
                        <a:t>0x340</a:t>
                      </a:r>
                    </a:p>
                  </a:txBody>
                  <a:tcPr anchor="ctr"/>
                </a:tc>
                <a:tc>
                  <a:txBody>
                    <a:bodyPr/>
                    <a:lstStyle/>
                    <a:p>
                      <a:pPr>
                        <a:buNone/>
                      </a:pPr>
                      <a:r>
                        <a:rPr lang="en-IN"/>
                        <a:t>fuse_lms_revocation</a:t>
                      </a:r>
                    </a:p>
                  </a:txBody>
                  <a:tcPr anchor="ctr"/>
                </a:tc>
                <a:tc>
                  <a:txBody>
                    <a:bodyPr/>
                    <a:lstStyle/>
                    <a:p>
                      <a:pPr>
                        <a:buNone/>
                      </a:pPr>
                      <a:r>
                        <a:rPr lang="en-IN"/>
                        <a:t>1</a:t>
                      </a:r>
                    </a:p>
                  </a:txBody>
                  <a:tcPr anchor="ctr"/>
                </a:tc>
                <a:tc>
                  <a:txBody>
                    <a:bodyPr/>
                    <a:lstStyle/>
                    <a:p>
                      <a:pPr>
                        <a:buNone/>
                      </a:pPr>
                      <a:r>
                        <a:rPr lang="en-IN"/>
                        <a:t>LMS Revocation</a:t>
                      </a:r>
                    </a:p>
                  </a:txBody>
                  <a:tcPr anchor="ctr"/>
                </a:tc>
                <a:extLst>
                  <a:ext uri="{0D108BD9-81ED-4DB2-BD59-A6C34878D82A}">
                    <a16:rowId xmlns:a16="http://schemas.microsoft.com/office/drawing/2014/main" val="1809496166"/>
                  </a:ext>
                </a:extLst>
              </a:tr>
              <a:tr h="178647">
                <a:tc>
                  <a:txBody>
                    <a:bodyPr/>
                    <a:lstStyle/>
                    <a:p>
                      <a:pPr>
                        <a:buNone/>
                      </a:pPr>
                      <a:r>
                        <a:rPr lang="en-IN"/>
                        <a:t>0x344</a:t>
                      </a:r>
                    </a:p>
                  </a:txBody>
                  <a:tcPr anchor="ctr"/>
                </a:tc>
                <a:tc>
                  <a:txBody>
                    <a:bodyPr/>
                    <a:lstStyle/>
                    <a:p>
                      <a:pPr>
                        <a:buNone/>
                      </a:pPr>
                      <a:r>
                        <a:rPr lang="en-IN" err="1"/>
                        <a:t>fuse_mldsa_revocation</a:t>
                      </a:r>
                      <a:endParaRPr lang="en-IN"/>
                    </a:p>
                  </a:txBody>
                  <a:tcPr anchor="ctr"/>
                </a:tc>
                <a:tc>
                  <a:txBody>
                    <a:bodyPr/>
                    <a:lstStyle/>
                    <a:p>
                      <a:pPr>
                        <a:buNone/>
                      </a:pPr>
                      <a:r>
                        <a:rPr lang="en-IN"/>
                        <a:t>1</a:t>
                      </a:r>
                    </a:p>
                  </a:txBody>
                  <a:tcPr anchor="ctr"/>
                </a:tc>
                <a:tc>
                  <a:txBody>
                    <a:bodyPr/>
                    <a:lstStyle/>
                    <a:p>
                      <a:pPr>
                        <a:buNone/>
                      </a:pPr>
                      <a:r>
                        <a:rPr lang="en-IN"/>
                        <a:t>MLDSA Revocation</a:t>
                      </a:r>
                    </a:p>
                  </a:txBody>
                  <a:tcPr anchor="ctr"/>
                </a:tc>
                <a:extLst>
                  <a:ext uri="{0D108BD9-81ED-4DB2-BD59-A6C34878D82A}">
                    <a16:rowId xmlns:a16="http://schemas.microsoft.com/office/drawing/2014/main" val="2098744810"/>
                  </a:ext>
                </a:extLst>
              </a:tr>
              <a:tr h="178647">
                <a:tc>
                  <a:txBody>
                    <a:bodyPr/>
                    <a:lstStyle/>
                    <a:p>
                      <a:pPr>
                        <a:buNone/>
                      </a:pPr>
                      <a:r>
                        <a:rPr lang="en-IN"/>
                        <a:t>0x348</a:t>
                      </a:r>
                    </a:p>
                  </a:txBody>
                  <a:tcPr anchor="ctr"/>
                </a:tc>
                <a:tc>
                  <a:txBody>
                    <a:bodyPr/>
                    <a:lstStyle/>
                    <a:p>
                      <a:pPr>
                        <a:buNone/>
                      </a:pPr>
                      <a:r>
                        <a:rPr lang="en-IN"/>
                        <a:t>fuse_soc_stepping_id</a:t>
                      </a:r>
                    </a:p>
                  </a:txBody>
                  <a:tcPr anchor="ctr"/>
                </a:tc>
                <a:tc>
                  <a:txBody>
                    <a:bodyPr/>
                    <a:lstStyle/>
                    <a:p>
                      <a:pPr>
                        <a:buNone/>
                      </a:pPr>
                      <a:r>
                        <a:rPr lang="en-IN"/>
                        <a:t>1</a:t>
                      </a:r>
                    </a:p>
                  </a:txBody>
                  <a:tcPr anchor="ctr"/>
                </a:tc>
                <a:tc>
                  <a:txBody>
                    <a:bodyPr/>
                    <a:lstStyle/>
                    <a:p>
                      <a:pPr>
                        <a:buNone/>
                      </a:pPr>
                      <a:r>
                        <a:rPr lang="en-IN"/>
                        <a:t>SoC Stepping ID</a:t>
                      </a:r>
                    </a:p>
                  </a:txBody>
                  <a:tcPr anchor="ctr"/>
                </a:tc>
                <a:extLst>
                  <a:ext uri="{0D108BD9-81ED-4DB2-BD59-A6C34878D82A}">
                    <a16:rowId xmlns:a16="http://schemas.microsoft.com/office/drawing/2014/main" val="2274635830"/>
                  </a:ext>
                </a:extLst>
              </a:tr>
              <a:tr h="178647">
                <a:tc>
                  <a:txBody>
                    <a:bodyPr/>
                    <a:lstStyle/>
                    <a:p>
                      <a:pPr>
                        <a:buNone/>
                      </a:pPr>
                      <a:r>
                        <a:rPr lang="en-IN"/>
                        <a:t>0x34C</a:t>
                      </a:r>
                    </a:p>
                  </a:txBody>
                  <a:tcPr anchor="ctr"/>
                </a:tc>
                <a:tc>
                  <a:txBody>
                    <a:bodyPr/>
                    <a:lstStyle/>
                    <a:p>
                      <a:pPr>
                        <a:buNone/>
                      </a:pPr>
                      <a:r>
                        <a:rPr lang="en-IN" err="1"/>
                        <a:t>fuse_manuf_dbg_unlock_token</a:t>
                      </a:r>
                      <a:endParaRPr lang="en-IN"/>
                    </a:p>
                  </a:txBody>
                  <a:tcPr anchor="ctr"/>
                </a:tc>
                <a:tc>
                  <a:txBody>
                    <a:bodyPr/>
                    <a:lstStyle/>
                    <a:p>
                      <a:pPr>
                        <a:buNone/>
                      </a:pPr>
                      <a:r>
                        <a:rPr lang="en-IN"/>
                        <a:t>16</a:t>
                      </a:r>
                    </a:p>
                  </a:txBody>
                  <a:tcPr anchor="ctr"/>
                </a:tc>
                <a:tc>
                  <a:txBody>
                    <a:bodyPr/>
                    <a:lstStyle/>
                    <a:p>
                      <a:pPr>
                        <a:buNone/>
                      </a:pPr>
                      <a:r>
                        <a:rPr lang="en-IN"/>
                        <a:t>Manufacturing Debug Unlock Token</a:t>
                      </a:r>
                    </a:p>
                  </a:txBody>
                  <a:tcPr anchor="ctr"/>
                </a:tc>
                <a:extLst>
                  <a:ext uri="{0D108BD9-81ED-4DB2-BD59-A6C34878D82A}">
                    <a16:rowId xmlns:a16="http://schemas.microsoft.com/office/drawing/2014/main" val="4086745375"/>
                  </a:ext>
                </a:extLst>
              </a:tr>
              <a:tr h="178647">
                <a:tc>
                  <a:txBody>
                    <a:bodyPr/>
                    <a:lstStyle/>
                    <a:p>
                      <a:pPr>
                        <a:buNone/>
                      </a:pPr>
                      <a:r>
                        <a:rPr lang="en-IN"/>
                        <a:t>0x38C</a:t>
                      </a:r>
                    </a:p>
                  </a:txBody>
                  <a:tcPr anchor="ctr"/>
                </a:tc>
                <a:tc>
                  <a:txBody>
                    <a:bodyPr/>
                    <a:lstStyle/>
                    <a:p>
                      <a:pPr>
                        <a:buNone/>
                      </a:pPr>
                      <a:r>
                        <a:rPr lang="en-IN"/>
                        <a:t>fuse_pqc_key_type</a:t>
                      </a:r>
                    </a:p>
                  </a:txBody>
                  <a:tcPr anchor="ctr"/>
                </a:tc>
                <a:tc>
                  <a:txBody>
                    <a:bodyPr/>
                    <a:lstStyle/>
                    <a:p>
                      <a:pPr>
                        <a:buNone/>
                      </a:pPr>
                      <a:r>
                        <a:rPr lang="en-IN"/>
                        <a:t>1</a:t>
                      </a:r>
                    </a:p>
                  </a:txBody>
                  <a:tcPr anchor="ctr"/>
                </a:tc>
                <a:tc>
                  <a:txBody>
                    <a:bodyPr/>
                    <a:lstStyle/>
                    <a:p>
                      <a:pPr>
                        <a:buNone/>
                      </a:pPr>
                      <a:r>
                        <a:rPr lang="en-IN"/>
                        <a:t>PQC Key Type</a:t>
                      </a:r>
                    </a:p>
                  </a:txBody>
                  <a:tcPr anchor="ctr"/>
                </a:tc>
                <a:extLst>
                  <a:ext uri="{0D108BD9-81ED-4DB2-BD59-A6C34878D82A}">
                    <a16:rowId xmlns:a16="http://schemas.microsoft.com/office/drawing/2014/main" val="1600013001"/>
                  </a:ext>
                </a:extLst>
              </a:tr>
              <a:tr h="178647">
                <a:tc>
                  <a:txBody>
                    <a:bodyPr/>
                    <a:lstStyle/>
                    <a:p>
                      <a:pPr>
                        <a:buNone/>
                      </a:pPr>
                      <a:r>
                        <a:rPr lang="en-IN"/>
                        <a:t>0x390</a:t>
                      </a:r>
                    </a:p>
                  </a:txBody>
                  <a:tcPr anchor="ctr"/>
                </a:tc>
                <a:tc>
                  <a:txBody>
                    <a:bodyPr/>
                    <a:lstStyle/>
                    <a:p>
                      <a:pPr>
                        <a:buNone/>
                      </a:pPr>
                      <a:r>
                        <a:rPr lang="en-IN"/>
                        <a:t>fuse_soc_manifest_svn</a:t>
                      </a:r>
                    </a:p>
                  </a:txBody>
                  <a:tcPr anchor="ctr"/>
                </a:tc>
                <a:tc>
                  <a:txBody>
                    <a:bodyPr/>
                    <a:lstStyle/>
                    <a:p>
                      <a:pPr>
                        <a:buNone/>
                      </a:pPr>
                      <a:r>
                        <a:rPr lang="en-IN"/>
                        <a:t>4</a:t>
                      </a:r>
                    </a:p>
                  </a:txBody>
                  <a:tcPr anchor="ctr"/>
                </a:tc>
                <a:tc>
                  <a:txBody>
                    <a:bodyPr/>
                    <a:lstStyle/>
                    <a:p>
                      <a:pPr>
                        <a:buNone/>
                      </a:pPr>
                      <a:r>
                        <a:rPr lang="en-IN"/>
                        <a:t>SoC Manifest SVN</a:t>
                      </a:r>
                    </a:p>
                  </a:txBody>
                  <a:tcPr anchor="ctr"/>
                </a:tc>
                <a:extLst>
                  <a:ext uri="{0D108BD9-81ED-4DB2-BD59-A6C34878D82A}">
                    <a16:rowId xmlns:a16="http://schemas.microsoft.com/office/drawing/2014/main" val="2211963191"/>
                  </a:ext>
                </a:extLst>
              </a:tr>
              <a:tr h="370840">
                <a:tc>
                  <a:txBody>
                    <a:bodyPr/>
                    <a:lstStyle/>
                    <a:p>
                      <a:pPr>
                        <a:buNone/>
                      </a:pPr>
                      <a:r>
                        <a:rPr lang="en-IN"/>
                        <a:t>0x3A0</a:t>
                      </a:r>
                    </a:p>
                  </a:txBody>
                  <a:tcPr anchor="ctr"/>
                </a:tc>
                <a:tc>
                  <a:txBody>
                    <a:bodyPr/>
                    <a:lstStyle/>
                    <a:p>
                      <a:pPr>
                        <a:buNone/>
                      </a:pPr>
                      <a:r>
                        <a:rPr lang="en-IN"/>
                        <a:t>fuse_soc_manifest_max_svn</a:t>
                      </a:r>
                    </a:p>
                  </a:txBody>
                  <a:tcPr anchor="ctr"/>
                </a:tc>
                <a:tc>
                  <a:txBody>
                    <a:bodyPr/>
                    <a:lstStyle/>
                    <a:p>
                      <a:pPr>
                        <a:buNone/>
                      </a:pPr>
                      <a:r>
                        <a:rPr lang="en-IN"/>
                        <a:t>1</a:t>
                      </a:r>
                    </a:p>
                  </a:txBody>
                  <a:tcPr anchor="ctr"/>
                </a:tc>
                <a:tc>
                  <a:txBody>
                    <a:bodyPr/>
                    <a:lstStyle/>
                    <a:p>
                      <a:pPr>
                        <a:buNone/>
                      </a:pPr>
                      <a:r>
                        <a:rPr lang="en-IN"/>
                        <a:t>SoC Manifest Max SVN</a:t>
                      </a:r>
                    </a:p>
                  </a:txBody>
                  <a:tcPr anchor="ctr"/>
                </a:tc>
                <a:extLst>
                  <a:ext uri="{0D108BD9-81ED-4DB2-BD59-A6C34878D82A}">
                    <a16:rowId xmlns:a16="http://schemas.microsoft.com/office/drawing/2014/main" val="4106981858"/>
                  </a:ext>
                </a:extLst>
              </a:tr>
              <a:tr h="370840">
                <a:tc>
                  <a:txBody>
                    <a:bodyPr/>
                    <a:lstStyle/>
                    <a:p>
                      <a:pPr>
                        <a:buNone/>
                      </a:pPr>
                      <a:r>
                        <a:rPr lang="en-IN"/>
                        <a:t>0x3C0</a:t>
                      </a:r>
                    </a:p>
                  </a:txBody>
                  <a:tcPr anchor="ctr"/>
                </a:tc>
                <a:tc>
                  <a:txBody>
                    <a:bodyPr/>
                    <a:lstStyle/>
                    <a:p>
                      <a:pPr>
                        <a:buNone/>
                      </a:pPr>
                      <a:r>
                        <a:rPr lang="en-IN"/>
                        <a:t>fuse_hek_seed</a:t>
                      </a:r>
                    </a:p>
                  </a:txBody>
                  <a:tcPr anchor="ctr"/>
                </a:tc>
                <a:tc>
                  <a:txBody>
                    <a:bodyPr/>
                    <a:lstStyle/>
                    <a:p>
                      <a:pPr>
                        <a:buNone/>
                      </a:pPr>
                      <a:r>
                        <a:rPr lang="en-IN"/>
                        <a:t>8</a:t>
                      </a:r>
                    </a:p>
                  </a:txBody>
                  <a:tcPr anchor="ctr"/>
                </a:tc>
                <a:tc>
                  <a:txBody>
                    <a:bodyPr/>
                    <a:lstStyle/>
                    <a:p>
                      <a:pPr>
                        <a:buNone/>
                      </a:pPr>
                      <a:r>
                        <a:rPr lang="en-IN"/>
                        <a:t>OCP LOCK HEK Seed</a:t>
                      </a:r>
                    </a:p>
                  </a:txBody>
                  <a:tcPr anchor="ctr"/>
                </a:tc>
                <a:extLst>
                  <a:ext uri="{0D108BD9-81ED-4DB2-BD59-A6C34878D82A}">
                    <a16:rowId xmlns:a16="http://schemas.microsoft.com/office/drawing/2014/main" val="1487706840"/>
                  </a:ext>
                </a:extLst>
              </a:tr>
            </a:tbl>
          </a:graphicData>
        </a:graphic>
      </p:graphicFrame>
    </p:spTree>
    <p:extLst>
      <p:ext uri="{BB962C8B-B14F-4D97-AF65-F5344CB8AC3E}">
        <p14:creationId xmlns:p14="http://schemas.microsoft.com/office/powerpoint/2010/main" val="10705297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B429D-3689-A14B-3FA1-995AB8ADF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6005F-B5DB-9E67-FC96-1AF90E0BC473}"/>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Functional Registers</a:t>
            </a:r>
          </a:p>
        </p:txBody>
      </p:sp>
      <p:sp>
        <p:nvSpPr>
          <p:cNvPr id="18" name="TextBox 17">
            <a:extLst>
              <a:ext uri="{FF2B5EF4-FFF2-40B4-BE49-F238E27FC236}">
                <a16:creationId xmlns:a16="http://schemas.microsoft.com/office/drawing/2014/main" id="{5FD44649-4360-8FC7-4393-B80931354E52}"/>
              </a:ext>
            </a:extLst>
          </p:cNvPr>
          <p:cNvSpPr txBox="1"/>
          <p:nvPr/>
        </p:nvSpPr>
        <p:spPr>
          <a:xfrm>
            <a:off x="953271" y="820224"/>
            <a:ext cx="6096000" cy="369332"/>
          </a:xfrm>
          <a:prstGeom prst="rect">
            <a:avLst/>
          </a:prstGeom>
          <a:noFill/>
        </p:spPr>
        <p:txBody>
          <a:bodyPr wrap="square">
            <a:spAutoFit/>
          </a:bodyPr>
          <a:lstStyle/>
          <a:p>
            <a:r>
              <a:rPr lang="en-IN"/>
              <a:t>Table 9. Functional Registers </a:t>
            </a:r>
          </a:p>
        </p:txBody>
      </p:sp>
      <p:sp>
        <p:nvSpPr>
          <p:cNvPr id="104" name="Slide Number Placeholder 3">
            <a:extLst>
              <a:ext uri="{FF2B5EF4-FFF2-40B4-BE49-F238E27FC236}">
                <a16:creationId xmlns:a16="http://schemas.microsoft.com/office/drawing/2014/main" id="{3E5CF7D2-DCE8-8458-D227-18660051BBC3}"/>
              </a:ext>
            </a:extLst>
          </p:cNvPr>
          <p:cNvSpPr>
            <a:spLocks noGrp="1"/>
          </p:cNvSpPr>
          <p:nvPr>
            <p:ph type="sldNum" sz="quarter" idx="12"/>
          </p:nvPr>
        </p:nvSpPr>
        <p:spPr>
          <a:xfrm>
            <a:off x="8610600" y="6889760"/>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55</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81820D29-78B1-DE18-2E84-AF0557168008}"/>
              </a:ext>
            </a:extLst>
          </p:cNvPr>
          <p:cNvGraphicFramePr>
            <a:graphicFrameLocks noGrp="1"/>
          </p:cNvGraphicFramePr>
          <p:nvPr/>
        </p:nvGraphicFramePr>
        <p:xfrm>
          <a:off x="800871" y="1189556"/>
          <a:ext cx="10154996" cy="4043680"/>
        </p:xfrm>
        <a:graphic>
          <a:graphicData uri="http://schemas.openxmlformats.org/drawingml/2006/table">
            <a:tbl>
              <a:tblPr firstRow="1" bandRow="1">
                <a:tableStyleId>{5C22544A-7EE6-4342-B048-85BDC9FD1C3A}</a:tableStyleId>
              </a:tblPr>
              <a:tblGrid>
                <a:gridCol w="3754196">
                  <a:extLst>
                    <a:ext uri="{9D8B030D-6E8A-4147-A177-3AD203B41FA5}">
                      <a16:colId xmlns:a16="http://schemas.microsoft.com/office/drawing/2014/main" val="1973430579"/>
                    </a:ext>
                  </a:extLst>
                </a:gridCol>
                <a:gridCol w="1151466">
                  <a:extLst>
                    <a:ext uri="{9D8B030D-6E8A-4147-A177-3AD203B41FA5}">
                      <a16:colId xmlns:a16="http://schemas.microsoft.com/office/drawing/2014/main" val="760745386"/>
                    </a:ext>
                  </a:extLst>
                </a:gridCol>
                <a:gridCol w="1032934">
                  <a:extLst>
                    <a:ext uri="{9D8B030D-6E8A-4147-A177-3AD203B41FA5}">
                      <a16:colId xmlns:a16="http://schemas.microsoft.com/office/drawing/2014/main" val="3612705776"/>
                    </a:ext>
                  </a:extLst>
                </a:gridCol>
                <a:gridCol w="4216400">
                  <a:extLst>
                    <a:ext uri="{9D8B030D-6E8A-4147-A177-3AD203B41FA5}">
                      <a16:colId xmlns:a16="http://schemas.microsoft.com/office/drawing/2014/main" val="3943392966"/>
                    </a:ext>
                  </a:extLst>
                </a:gridCol>
              </a:tblGrid>
              <a:tr h="0">
                <a:tc>
                  <a:txBody>
                    <a:bodyPr/>
                    <a:lstStyle/>
                    <a:p>
                      <a:pPr algn="ctr">
                        <a:buNone/>
                      </a:pPr>
                      <a:r>
                        <a:rPr lang="en-IN"/>
                        <a:t>Register Name</a:t>
                      </a:r>
                    </a:p>
                  </a:txBody>
                  <a:tcPr anchor="ctr"/>
                </a:tc>
                <a:tc>
                  <a:txBody>
                    <a:bodyPr/>
                    <a:lstStyle/>
                    <a:p>
                      <a:pPr algn="ctr">
                        <a:buNone/>
                      </a:pPr>
                      <a:r>
                        <a:rPr lang="en-IN"/>
                        <a:t>Width</a:t>
                      </a:r>
                    </a:p>
                  </a:txBody>
                  <a:tcPr anchor="ctr"/>
                </a:tc>
                <a:tc>
                  <a:txBody>
                    <a:bodyPr/>
                    <a:lstStyle/>
                    <a:p>
                      <a:pPr algn="ctr">
                        <a:buNone/>
                      </a:pPr>
                      <a:r>
                        <a:rPr lang="en-IN"/>
                        <a:t>Access</a:t>
                      </a:r>
                    </a:p>
                  </a:txBody>
                  <a:tcPr anchor="ctr"/>
                </a:tc>
                <a:tc>
                  <a:txBody>
                    <a:bodyPr/>
                    <a:lstStyle/>
                    <a:p>
                      <a:pPr algn="ctr">
                        <a:buNone/>
                      </a:pPr>
                      <a:r>
                        <a:rPr lang="en-IN"/>
                        <a:t>Description</a:t>
                      </a:r>
                    </a:p>
                  </a:txBody>
                  <a:tcPr anchor="ctr"/>
                </a:tc>
                <a:extLst>
                  <a:ext uri="{0D108BD9-81ED-4DB2-BD59-A6C34878D82A}">
                    <a16:rowId xmlns:a16="http://schemas.microsoft.com/office/drawing/2014/main" val="4223026766"/>
                  </a:ext>
                </a:extLst>
              </a:tr>
              <a:tr h="178647">
                <a:tc>
                  <a:txBody>
                    <a:bodyPr/>
                    <a:lstStyle/>
                    <a:p>
                      <a:pPr algn="ctr">
                        <a:buNone/>
                      </a:pPr>
                      <a:r>
                        <a:rPr lang="en-IN"/>
                        <a:t>CPTRA_MBOX_AXI_USER_LOCK</a:t>
                      </a:r>
                    </a:p>
                  </a:txBody>
                  <a:tcPr anchor="ctr"/>
                </a:tc>
                <a:tc>
                  <a:txBody>
                    <a:bodyPr/>
                    <a:lstStyle/>
                    <a:p>
                      <a:pPr algn="ctr">
                        <a:buNone/>
                      </a:pPr>
                      <a:r>
                        <a:rPr lang="en-IN"/>
                        <a:t>1</a:t>
                      </a:r>
                    </a:p>
                  </a:txBody>
                  <a:tcPr anchor="ctr"/>
                </a:tc>
                <a:tc>
                  <a:txBody>
                    <a:bodyPr/>
                    <a:lstStyle/>
                    <a:p>
                      <a:pPr algn="ctr">
                        <a:buNone/>
                      </a:pPr>
                      <a:r>
                        <a:rPr lang="en-IN"/>
                        <a:t>RW</a:t>
                      </a:r>
                    </a:p>
                  </a:txBody>
                  <a:tcPr anchor="ctr"/>
                </a:tc>
                <a:tc>
                  <a:txBody>
                    <a:bodyPr/>
                    <a:lstStyle/>
                    <a:p>
                      <a:pPr algn="ctr">
                        <a:buNone/>
                      </a:pPr>
                      <a:r>
                        <a:rPr lang="en-IN"/>
                        <a:t>Mailbox AXI USER lock control</a:t>
                      </a:r>
                    </a:p>
                  </a:txBody>
                  <a:tcPr anchor="ctr"/>
                </a:tc>
                <a:extLst>
                  <a:ext uri="{0D108BD9-81ED-4DB2-BD59-A6C34878D82A}">
                    <a16:rowId xmlns:a16="http://schemas.microsoft.com/office/drawing/2014/main" val="1809496166"/>
                  </a:ext>
                </a:extLst>
              </a:tr>
              <a:tr h="178647">
                <a:tc>
                  <a:txBody>
                    <a:bodyPr/>
                    <a:lstStyle/>
                    <a:p>
                      <a:pPr algn="ctr">
                        <a:buNone/>
                      </a:pPr>
                      <a:r>
                        <a:rPr lang="en-IN"/>
                        <a:t>CPTRA_TRNG_AXI_USER_LOCK</a:t>
                      </a:r>
                    </a:p>
                  </a:txBody>
                  <a:tcPr anchor="ctr"/>
                </a:tc>
                <a:tc>
                  <a:txBody>
                    <a:bodyPr/>
                    <a:lstStyle/>
                    <a:p>
                      <a:pPr algn="ctr">
                        <a:buNone/>
                      </a:pPr>
                      <a:r>
                        <a:rPr lang="en-IN"/>
                        <a:t>1</a:t>
                      </a:r>
                    </a:p>
                  </a:txBody>
                  <a:tcPr anchor="ctr"/>
                </a:tc>
                <a:tc>
                  <a:txBody>
                    <a:bodyPr/>
                    <a:lstStyle/>
                    <a:p>
                      <a:pPr algn="ctr">
                        <a:buNone/>
                      </a:pPr>
                      <a:r>
                        <a:rPr lang="en-IN"/>
                        <a:t>RW</a:t>
                      </a:r>
                    </a:p>
                  </a:txBody>
                  <a:tcPr anchor="ctr"/>
                </a:tc>
                <a:tc>
                  <a:txBody>
                    <a:bodyPr/>
                    <a:lstStyle/>
                    <a:p>
                      <a:pPr algn="ctr">
                        <a:buNone/>
                      </a:pPr>
                      <a:r>
                        <a:rPr lang="en-IN"/>
                        <a:t>TRNG AXI USER lock control</a:t>
                      </a:r>
                    </a:p>
                  </a:txBody>
                  <a:tcPr anchor="ctr"/>
                </a:tc>
                <a:extLst>
                  <a:ext uri="{0D108BD9-81ED-4DB2-BD59-A6C34878D82A}">
                    <a16:rowId xmlns:a16="http://schemas.microsoft.com/office/drawing/2014/main" val="2098744810"/>
                  </a:ext>
                </a:extLst>
              </a:tr>
              <a:tr h="178647">
                <a:tc>
                  <a:txBody>
                    <a:bodyPr/>
                    <a:lstStyle/>
                    <a:p>
                      <a:pPr algn="ctr">
                        <a:buNone/>
                      </a:pPr>
                      <a:r>
                        <a:rPr lang="en-IN"/>
                        <a:t>CPTRA_FUSE_WR_DONE</a:t>
                      </a:r>
                    </a:p>
                  </a:txBody>
                  <a:tcPr anchor="ctr"/>
                </a:tc>
                <a:tc>
                  <a:txBody>
                    <a:bodyPr/>
                    <a:lstStyle/>
                    <a:p>
                      <a:pPr algn="ctr">
                        <a:buNone/>
                      </a:pPr>
                      <a:r>
                        <a:rPr lang="en-IN"/>
                        <a:t>1</a:t>
                      </a:r>
                    </a:p>
                  </a:txBody>
                  <a:tcPr anchor="ctr"/>
                </a:tc>
                <a:tc>
                  <a:txBody>
                    <a:bodyPr/>
                    <a:lstStyle/>
                    <a:p>
                      <a:pPr algn="ctr">
                        <a:buNone/>
                      </a:pPr>
                      <a:r>
                        <a:rPr lang="en-IN"/>
                        <a:t>RW1S</a:t>
                      </a:r>
                    </a:p>
                  </a:txBody>
                  <a:tcPr anchor="ctr"/>
                </a:tc>
                <a:tc>
                  <a:txBody>
                    <a:bodyPr/>
                    <a:lstStyle/>
                    <a:p>
                      <a:pPr algn="ctr">
                        <a:buNone/>
                      </a:pPr>
                      <a:r>
                        <a:rPr lang="en-IN"/>
                        <a:t>Fuse write completion indication</a:t>
                      </a:r>
                    </a:p>
                  </a:txBody>
                  <a:tcPr anchor="ctr"/>
                </a:tc>
                <a:extLst>
                  <a:ext uri="{0D108BD9-81ED-4DB2-BD59-A6C34878D82A}">
                    <a16:rowId xmlns:a16="http://schemas.microsoft.com/office/drawing/2014/main" val="2274635830"/>
                  </a:ext>
                </a:extLst>
              </a:tr>
              <a:tr h="178647">
                <a:tc>
                  <a:txBody>
                    <a:bodyPr/>
                    <a:lstStyle/>
                    <a:p>
                      <a:pPr algn="ctr">
                        <a:buNone/>
                      </a:pPr>
                      <a:r>
                        <a:rPr lang="en-IN"/>
                        <a:t>CPTRA_BOOTFSM_GO</a:t>
                      </a:r>
                    </a:p>
                  </a:txBody>
                  <a:tcPr anchor="ctr"/>
                </a:tc>
                <a:tc>
                  <a:txBody>
                    <a:bodyPr/>
                    <a:lstStyle/>
                    <a:p>
                      <a:pPr algn="ctr">
                        <a:buNone/>
                      </a:pPr>
                      <a:r>
                        <a:rPr lang="en-IN"/>
                        <a:t>1</a:t>
                      </a:r>
                    </a:p>
                  </a:txBody>
                  <a:tcPr anchor="ctr"/>
                </a:tc>
                <a:tc>
                  <a:txBody>
                    <a:bodyPr/>
                    <a:lstStyle/>
                    <a:p>
                      <a:pPr algn="ctr">
                        <a:buNone/>
                      </a:pPr>
                      <a:r>
                        <a:rPr lang="en-IN"/>
                        <a:t>RW</a:t>
                      </a:r>
                    </a:p>
                  </a:txBody>
                  <a:tcPr anchor="ctr"/>
                </a:tc>
                <a:tc>
                  <a:txBody>
                    <a:bodyPr/>
                    <a:lstStyle/>
                    <a:p>
                      <a:pPr algn="ctr">
                        <a:buNone/>
                      </a:pPr>
                      <a:r>
                        <a:rPr lang="en-IN"/>
                        <a:t>Boot FSM execution control</a:t>
                      </a:r>
                    </a:p>
                  </a:txBody>
                  <a:tcPr anchor="ctr"/>
                </a:tc>
                <a:extLst>
                  <a:ext uri="{0D108BD9-81ED-4DB2-BD59-A6C34878D82A}">
                    <a16:rowId xmlns:a16="http://schemas.microsoft.com/office/drawing/2014/main" val="4086745375"/>
                  </a:ext>
                </a:extLst>
              </a:tr>
              <a:tr h="178647">
                <a:tc>
                  <a:txBody>
                    <a:bodyPr/>
                    <a:lstStyle/>
                    <a:p>
                      <a:pPr algn="ctr">
                        <a:buNone/>
                      </a:pPr>
                      <a:r>
                        <a:rPr lang="en-IN"/>
                        <a:t>CPTRA_CLK_GATING_EN</a:t>
                      </a:r>
                    </a:p>
                  </a:txBody>
                  <a:tcPr anchor="ctr"/>
                </a:tc>
                <a:tc>
                  <a:txBody>
                    <a:bodyPr/>
                    <a:lstStyle/>
                    <a:p>
                      <a:pPr algn="ctr">
                        <a:buNone/>
                      </a:pPr>
                      <a:r>
                        <a:rPr lang="en-IN"/>
                        <a:t>1</a:t>
                      </a:r>
                    </a:p>
                  </a:txBody>
                  <a:tcPr anchor="ctr"/>
                </a:tc>
                <a:tc>
                  <a:txBody>
                    <a:bodyPr/>
                    <a:lstStyle/>
                    <a:p>
                      <a:pPr algn="ctr">
                        <a:buNone/>
                      </a:pPr>
                      <a:r>
                        <a:rPr lang="en-IN"/>
                        <a:t>RW</a:t>
                      </a:r>
                    </a:p>
                  </a:txBody>
                  <a:tcPr anchor="ctr"/>
                </a:tc>
                <a:tc>
                  <a:txBody>
                    <a:bodyPr/>
                    <a:lstStyle/>
                    <a:p>
                      <a:pPr algn="ctr">
                        <a:buNone/>
                      </a:pPr>
                      <a:r>
                        <a:rPr lang="en-IN"/>
                        <a:t>Global clock gating enable register</a:t>
                      </a:r>
                    </a:p>
                  </a:txBody>
                  <a:tcPr anchor="ctr"/>
                </a:tc>
                <a:extLst>
                  <a:ext uri="{0D108BD9-81ED-4DB2-BD59-A6C34878D82A}">
                    <a16:rowId xmlns:a16="http://schemas.microsoft.com/office/drawing/2014/main" val="1600013001"/>
                  </a:ext>
                </a:extLst>
              </a:tr>
              <a:tr h="178647">
                <a:tc>
                  <a:txBody>
                    <a:bodyPr/>
                    <a:lstStyle/>
                    <a:p>
                      <a:pPr algn="ctr">
                        <a:buNone/>
                      </a:pPr>
                      <a:r>
                        <a:rPr lang="en-IN"/>
                        <a:t>CPTRA_WDT_TIMER1_EN</a:t>
                      </a:r>
                    </a:p>
                  </a:txBody>
                  <a:tcPr anchor="ctr"/>
                </a:tc>
                <a:tc>
                  <a:txBody>
                    <a:bodyPr/>
                    <a:lstStyle/>
                    <a:p>
                      <a:pPr algn="ctr">
                        <a:buNone/>
                      </a:pPr>
                      <a:r>
                        <a:rPr lang="en-IN"/>
                        <a:t>1</a:t>
                      </a:r>
                    </a:p>
                  </a:txBody>
                  <a:tcPr anchor="ctr"/>
                </a:tc>
                <a:tc>
                  <a:txBody>
                    <a:bodyPr/>
                    <a:lstStyle/>
                    <a:p>
                      <a:pPr algn="ctr">
                        <a:buNone/>
                      </a:pPr>
                      <a:r>
                        <a:rPr lang="en-IN"/>
                        <a:t>RW</a:t>
                      </a:r>
                    </a:p>
                  </a:txBody>
                  <a:tcPr anchor="ctr"/>
                </a:tc>
                <a:tc>
                  <a:txBody>
                    <a:bodyPr/>
                    <a:lstStyle/>
                    <a:p>
                      <a:pPr algn="ctr">
                        <a:buNone/>
                      </a:pPr>
                      <a:r>
                        <a:rPr lang="en-IN"/>
                        <a:t>Watchdog timer1 enable register</a:t>
                      </a:r>
                    </a:p>
                  </a:txBody>
                  <a:tcPr anchor="ctr"/>
                </a:tc>
                <a:extLst>
                  <a:ext uri="{0D108BD9-81ED-4DB2-BD59-A6C34878D82A}">
                    <a16:rowId xmlns:a16="http://schemas.microsoft.com/office/drawing/2014/main" val="2211963191"/>
                  </a:ext>
                </a:extLst>
              </a:tr>
              <a:tr h="370840">
                <a:tc>
                  <a:txBody>
                    <a:bodyPr/>
                    <a:lstStyle/>
                    <a:p>
                      <a:pPr algn="ctr">
                        <a:buNone/>
                      </a:pPr>
                      <a:r>
                        <a:rPr lang="en-IN"/>
                        <a:t>CPTRA_WDT_TIMER1_CTRL</a:t>
                      </a:r>
                    </a:p>
                  </a:txBody>
                  <a:tcPr anchor="ctr"/>
                </a:tc>
                <a:tc>
                  <a:txBody>
                    <a:bodyPr/>
                    <a:lstStyle/>
                    <a:p>
                      <a:pPr algn="ctr">
                        <a:buNone/>
                      </a:pPr>
                      <a:r>
                        <a:rPr lang="en-IN"/>
                        <a:t>1</a:t>
                      </a:r>
                    </a:p>
                  </a:txBody>
                  <a:tcPr anchor="ctr"/>
                </a:tc>
                <a:tc>
                  <a:txBody>
                    <a:bodyPr/>
                    <a:lstStyle/>
                    <a:p>
                      <a:pPr algn="ctr">
                        <a:buNone/>
                      </a:pPr>
                      <a:r>
                        <a:rPr lang="en-IN"/>
                        <a:t>RW</a:t>
                      </a:r>
                    </a:p>
                  </a:txBody>
                  <a:tcPr anchor="ctr"/>
                </a:tc>
                <a:tc>
                  <a:txBody>
                    <a:bodyPr/>
                    <a:lstStyle/>
                    <a:p>
                      <a:pPr algn="ctr">
                        <a:buNone/>
                      </a:pPr>
                      <a:r>
                        <a:rPr lang="en-IN"/>
                        <a:t>Watchdog timer1 restart control</a:t>
                      </a:r>
                    </a:p>
                  </a:txBody>
                  <a:tcPr anchor="ctr"/>
                </a:tc>
                <a:extLst>
                  <a:ext uri="{0D108BD9-81ED-4DB2-BD59-A6C34878D82A}">
                    <a16:rowId xmlns:a16="http://schemas.microsoft.com/office/drawing/2014/main" val="4106981858"/>
                  </a:ext>
                </a:extLst>
              </a:tr>
              <a:tr h="370840">
                <a:tc>
                  <a:txBody>
                    <a:bodyPr/>
                    <a:lstStyle/>
                    <a:p>
                      <a:pPr algn="ctr">
                        <a:buNone/>
                      </a:pPr>
                      <a:r>
                        <a:rPr lang="en-IN"/>
                        <a:t>CPTRA_WDT_TIMER2_EN</a:t>
                      </a:r>
                    </a:p>
                  </a:txBody>
                  <a:tcPr anchor="ctr"/>
                </a:tc>
                <a:tc>
                  <a:txBody>
                    <a:bodyPr/>
                    <a:lstStyle/>
                    <a:p>
                      <a:pPr algn="ctr">
                        <a:buNone/>
                      </a:pPr>
                      <a:r>
                        <a:rPr lang="en-IN"/>
                        <a:t>1</a:t>
                      </a:r>
                    </a:p>
                  </a:txBody>
                  <a:tcPr anchor="ctr"/>
                </a:tc>
                <a:tc>
                  <a:txBody>
                    <a:bodyPr/>
                    <a:lstStyle/>
                    <a:p>
                      <a:pPr algn="ctr">
                        <a:buNone/>
                      </a:pPr>
                      <a:r>
                        <a:rPr lang="en-IN"/>
                        <a:t>RW</a:t>
                      </a:r>
                    </a:p>
                  </a:txBody>
                  <a:tcPr anchor="ctr"/>
                </a:tc>
                <a:tc>
                  <a:txBody>
                    <a:bodyPr/>
                    <a:lstStyle/>
                    <a:p>
                      <a:pPr algn="ctr">
                        <a:buNone/>
                      </a:pPr>
                      <a:r>
                        <a:rPr lang="en-IN"/>
                        <a:t>Watchdog timer2 enable register</a:t>
                      </a:r>
                    </a:p>
                  </a:txBody>
                  <a:tcPr anchor="ctr"/>
                </a:tc>
                <a:extLst>
                  <a:ext uri="{0D108BD9-81ED-4DB2-BD59-A6C34878D82A}">
                    <a16:rowId xmlns:a16="http://schemas.microsoft.com/office/drawing/2014/main" val="205357459"/>
                  </a:ext>
                </a:extLst>
              </a:tr>
              <a:tr h="370840">
                <a:tc>
                  <a:txBody>
                    <a:bodyPr/>
                    <a:lstStyle/>
                    <a:p>
                      <a:pPr algn="ctr">
                        <a:buNone/>
                      </a:pPr>
                      <a:r>
                        <a:rPr lang="en-IN"/>
                        <a:t>CPTRA_WDT_TIMER2_CTRL</a:t>
                      </a:r>
                    </a:p>
                  </a:txBody>
                  <a:tcPr anchor="ctr"/>
                </a:tc>
                <a:tc>
                  <a:txBody>
                    <a:bodyPr/>
                    <a:lstStyle/>
                    <a:p>
                      <a:pPr algn="ctr">
                        <a:buNone/>
                      </a:pPr>
                      <a:r>
                        <a:rPr lang="en-IN"/>
                        <a:t>1</a:t>
                      </a:r>
                    </a:p>
                  </a:txBody>
                  <a:tcPr anchor="ctr"/>
                </a:tc>
                <a:tc>
                  <a:txBody>
                    <a:bodyPr/>
                    <a:lstStyle/>
                    <a:p>
                      <a:pPr algn="ctr">
                        <a:buNone/>
                      </a:pPr>
                      <a:r>
                        <a:rPr lang="en-IN"/>
                        <a:t>RW</a:t>
                      </a:r>
                    </a:p>
                  </a:txBody>
                  <a:tcPr anchor="ctr"/>
                </a:tc>
                <a:tc>
                  <a:txBody>
                    <a:bodyPr/>
                    <a:lstStyle/>
                    <a:p>
                      <a:pPr algn="ctr">
                        <a:buNone/>
                      </a:pPr>
                      <a:r>
                        <a:rPr lang="en-IN"/>
                        <a:t>Watchdog timer2 restart control</a:t>
                      </a:r>
                    </a:p>
                  </a:txBody>
                  <a:tcPr anchor="ctr"/>
                </a:tc>
                <a:extLst>
                  <a:ext uri="{0D108BD9-81ED-4DB2-BD59-A6C34878D82A}">
                    <a16:rowId xmlns:a16="http://schemas.microsoft.com/office/drawing/2014/main" val="1175040285"/>
                  </a:ext>
                </a:extLst>
              </a:tr>
              <a:tr h="370840">
                <a:tc>
                  <a:txBody>
                    <a:bodyPr/>
                    <a:lstStyle/>
                    <a:p>
                      <a:pPr algn="ctr">
                        <a:buNone/>
                      </a:pPr>
                      <a:r>
                        <a:rPr lang="en-IN"/>
                        <a:t>CPTRA_FUSE_AXI_USER_LOCK</a:t>
                      </a:r>
                    </a:p>
                  </a:txBody>
                  <a:tcPr anchor="ctr"/>
                </a:tc>
                <a:tc>
                  <a:txBody>
                    <a:bodyPr/>
                    <a:lstStyle/>
                    <a:p>
                      <a:pPr algn="ctr">
                        <a:buNone/>
                      </a:pPr>
                      <a:r>
                        <a:rPr lang="en-IN"/>
                        <a:t>1</a:t>
                      </a:r>
                    </a:p>
                  </a:txBody>
                  <a:tcPr anchor="ctr"/>
                </a:tc>
                <a:tc>
                  <a:txBody>
                    <a:bodyPr/>
                    <a:lstStyle/>
                    <a:p>
                      <a:pPr algn="ctr">
                        <a:buNone/>
                      </a:pPr>
                      <a:r>
                        <a:rPr lang="en-IN"/>
                        <a:t>RW</a:t>
                      </a:r>
                    </a:p>
                  </a:txBody>
                  <a:tcPr anchor="ctr"/>
                </a:tc>
                <a:tc>
                  <a:txBody>
                    <a:bodyPr/>
                    <a:lstStyle/>
                    <a:p>
                      <a:pPr algn="ctr">
                        <a:buNone/>
                      </a:pPr>
                      <a:r>
                        <a:rPr lang="en-IN"/>
                        <a:t>Fuse AXI USER lock control</a:t>
                      </a:r>
                    </a:p>
                  </a:txBody>
                  <a:tcPr anchor="ctr"/>
                </a:tc>
                <a:extLst>
                  <a:ext uri="{0D108BD9-81ED-4DB2-BD59-A6C34878D82A}">
                    <a16:rowId xmlns:a16="http://schemas.microsoft.com/office/drawing/2014/main" val="2353429418"/>
                  </a:ext>
                </a:extLst>
              </a:tr>
            </a:tbl>
          </a:graphicData>
        </a:graphic>
      </p:graphicFrame>
    </p:spTree>
    <p:extLst>
      <p:ext uri="{BB962C8B-B14F-4D97-AF65-F5344CB8AC3E}">
        <p14:creationId xmlns:p14="http://schemas.microsoft.com/office/powerpoint/2010/main" val="6973858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8BC0B-60A5-C896-0E7C-A8ABC4DF5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6C72B-61CC-3B55-3853-E0F5900BB5B6}"/>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Functional Registers(Contd..)</a:t>
            </a:r>
          </a:p>
        </p:txBody>
      </p:sp>
      <p:sp>
        <p:nvSpPr>
          <p:cNvPr id="18" name="TextBox 17">
            <a:extLst>
              <a:ext uri="{FF2B5EF4-FFF2-40B4-BE49-F238E27FC236}">
                <a16:creationId xmlns:a16="http://schemas.microsoft.com/office/drawing/2014/main" id="{3325228C-879D-1886-6E20-97A77867DE50}"/>
              </a:ext>
            </a:extLst>
          </p:cNvPr>
          <p:cNvSpPr txBox="1"/>
          <p:nvPr/>
        </p:nvSpPr>
        <p:spPr>
          <a:xfrm>
            <a:off x="961737" y="603317"/>
            <a:ext cx="6096000" cy="369332"/>
          </a:xfrm>
          <a:prstGeom prst="rect">
            <a:avLst/>
          </a:prstGeom>
          <a:noFill/>
        </p:spPr>
        <p:txBody>
          <a:bodyPr wrap="square">
            <a:spAutoFit/>
          </a:bodyPr>
          <a:lstStyle/>
          <a:p>
            <a:r>
              <a:rPr lang="en-IN"/>
              <a:t>Table 10. Functional Registers </a:t>
            </a:r>
          </a:p>
        </p:txBody>
      </p:sp>
      <p:sp>
        <p:nvSpPr>
          <p:cNvPr id="104" name="Slide Number Placeholder 3">
            <a:extLst>
              <a:ext uri="{FF2B5EF4-FFF2-40B4-BE49-F238E27FC236}">
                <a16:creationId xmlns:a16="http://schemas.microsoft.com/office/drawing/2014/main" id="{B19400F3-1122-8B6F-A756-DE266E5B24EF}"/>
              </a:ext>
            </a:extLst>
          </p:cNvPr>
          <p:cNvSpPr>
            <a:spLocks noGrp="1"/>
          </p:cNvSpPr>
          <p:nvPr>
            <p:ph type="sldNum" sz="quarter" idx="12"/>
          </p:nvPr>
        </p:nvSpPr>
        <p:spPr>
          <a:xfrm>
            <a:off x="8610600" y="6889760"/>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56</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9FF1587E-5B43-8ABF-33C7-63926F0F6208}"/>
              </a:ext>
            </a:extLst>
          </p:cNvPr>
          <p:cNvGraphicFramePr>
            <a:graphicFrameLocks noGrp="1"/>
          </p:cNvGraphicFramePr>
          <p:nvPr/>
        </p:nvGraphicFramePr>
        <p:xfrm>
          <a:off x="750071" y="1054089"/>
          <a:ext cx="10163462" cy="4043680"/>
        </p:xfrm>
        <a:graphic>
          <a:graphicData uri="http://schemas.openxmlformats.org/drawingml/2006/table">
            <a:tbl>
              <a:tblPr firstRow="1" bandRow="1">
                <a:tableStyleId>{5C22544A-7EE6-4342-B048-85BDC9FD1C3A}</a:tableStyleId>
              </a:tblPr>
              <a:tblGrid>
                <a:gridCol w="3754196">
                  <a:extLst>
                    <a:ext uri="{9D8B030D-6E8A-4147-A177-3AD203B41FA5}">
                      <a16:colId xmlns:a16="http://schemas.microsoft.com/office/drawing/2014/main" val="1973430579"/>
                    </a:ext>
                  </a:extLst>
                </a:gridCol>
                <a:gridCol w="1151466">
                  <a:extLst>
                    <a:ext uri="{9D8B030D-6E8A-4147-A177-3AD203B41FA5}">
                      <a16:colId xmlns:a16="http://schemas.microsoft.com/office/drawing/2014/main" val="760745386"/>
                    </a:ext>
                  </a:extLst>
                </a:gridCol>
                <a:gridCol w="1032934">
                  <a:extLst>
                    <a:ext uri="{9D8B030D-6E8A-4147-A177-3AD203B41FA5}">
                      <a16:colId xmlns:a16="http://schemas.microsoft.com/office/drawing/2014/main" val="3612705776"/>
                    </a:ext>
                  </a:extLst>
                </a:gridCol>
                <a:gridCol w="4224866">
                  <a:extLst>
                    <a:ext uri="{9D8B030D-6E8A-4147-A177-3AD203B41FA5}">
                      <a16:colId xmlns:a16="http://schemas.microsoft.com/office/drawing/2014/main" val="3943392966"/>
                    </a:ext>
                  </a:extLst>
                </a:gridCol>
              </a:tblGrid>
              <a:tr h="0">
                <a:tc>
                  <a:txBody>
                    <a:bodyPr/>
                    <a:lstStyle/>
                    <a:p>
                      <a:pPr algn="ctr">
                        <a:buNone/>
                      </a:pPr>
                      <a:r>
                        <a:rPr lang="en-IN"/>
                        <a:t>Register Name</a:t>
                      </a:r>
                    </a:p>
                  </a:txBody>
                  <a:tcPr anchor="ctr"/>
                </a:tc>
                <a:tc>
                  <a:txBody>
                    <a:bodyPr/>
                    <a:lstStyle/>
                    <a:p>
                      <a:pPr algn="ctr">
                        <a:buNone/>
                      </a:pPr>
                      <a:r>
                        <a:rPr lang="en-IN"/>
                        <a:t>Width</a:t>
                      </a:r>
                    </a:p>
                  </a:txBody>
                  <a:tcPr anchor="ctr"/>
                </a:tc>
                <a:tc>
                  <a:txBody>
                    <a:bodyPr/>
                    <a:lstStyle/>
                    <a:p>
                      <a:pPr algn="ctr">
                        <a:buNone/>
                      </a:pPr>
                      <a:r>
                        <a:rPr lang="en-IN"/>
                        <a:t>Access</a:t>
                      </a:r>
                    </a:p>
                  </a:txBody>
                  <a:tcPr anchor="ctr"/>
                </a:tc>
                <a:tc>
                  <a:txBody>
                    <a:bodyPr/>
                    <a:lstStyle/>
                    <a:p>
                      <a:pPr algn="ctr">
                        <a:buNone/>
                      </a:pPr>
                      <a:r>
                        <a:rPr lang="en-IN"/>
                        <a:t>Description</a:t>
                      </a:r>
                    </a:p>
                  </a:txBody>
                  <a:tcPr anchor="ctr"/>
                </a:tc>
                <a:extLst>
                  <a:ext uri="{0D108BD9-81ED-4DB2-BD59-A6C34878D82A}">
                    <a16:rowId xmlns:a16="http://schemas.microsoft.com/office/drawing/2014/main" val="4223026766"/>
                  </a:ext>
                </a:extLst>
              </a:tr>
              <a:tr h="178647">
                <a:tc>
                  <a:txBody>
                    <a:bodyPr/>
                    <a:lstStyle/>
                    <a:p>
                      <a:pPr algn="ctr">
                        <a:buNone/>
                      </a:pPr>
                      <a:r>
                        <a:rPr lang="en-IN"/>
                        <a:t>CPTRA_CAP_LOCK</a:t>
                      </a:r>
                    </a:p>
                  </a:txBody>
                  <a:tcPr anchor="ctr"/>
                </a:tc>
                <a:tc>
                  <a:txBody>
                    <a:bodyPr/>
                    <a:lstStyle/>
                    <a:p>
                      <a:pPr algn="ctr">
                        <a:buNone/>
                      </a:pPr>
                      <a:r>
                        <a:rPr lang="en-IN"/>
                        <a:t>1</a:t>
                      </a:r>
                    </a:p>
                  </a:txBody>
                  <a:tcPr anchor="ctr"/>
                </a:tc>
                <a:tc>
                  <a:txBody>
                    <a:bodyPr/>
                    <a:lstStyle/>
                    <a:p>
                      <a:pPr algn="ctr">
                        <a:buNone/>
                      </a:pPr>
                      <a:r>
                        <a:rPr lang="en-IN"/>
                        <a:t>RW</a:t>
                      </a:r>
                    </a:p>
                  </a:txBody>
                  <a:tcPr anchor="ctr"/>
                </a:tc>
                <a:tc>
                  <a:txBody>
                    <a:bodyPr/>
                    <a:lstStyle/>
                    <a:p>
                      <a:pPr algn="ctr">
                        <a:buNone/>
                      </a:pPr>
                      <a:r>
                        <a:rPr lang="en-IN"/>
                        <a:t>Capability lock register</a:t>
                      </a:r>
                    </a:p>
                  </a:txBody>
                  <a:tcPr anchor="ctr"/>
                </a:tc>
                <a:extLst>
                  <a:ext uri="{0D108BD9-81ED-4DB2-BD59-A6C34878D82A}">
                    <a16:rowId xmlns:a16="http://schemas.microsoft.com/office/drawing/2014/main" val="1809496166"/>
                  </a:ext>
                </a:extLst>
              </a:tr>
              <a:tr h="178647">
                <a:tc>
                  <a:txBody>
                    <a:bodyPr/>
                    <a:lstStyle/>
                    <a:p>
                      <a:pPr algn="ctr">
                        <a:buNone/>
                      </a:pPr>
                      <a:r>
                        <a:rPr lang="en-IN"/>
                        <a:t>CPTRA_OWNER_PK_HASH_LOCK</a:t>
                      </a:r>
                    </a:p>
                  </a:txBody>
                  <a:tcPr anchor="ctr"/>
                </a:tc>
                <a:tc>
                  <a:txBody>
                    <a:bodyPr/>
                    <a:lstStyle/>
                    <a:p>
                      <a:pPr algn="ctr">
                        <a:buNone/>
                      </a:pPr>
                      <a:r>
                        <a:rPr lang="en-IN"/>
                        <a:t>1</a:t>
                      </a:r>
                    </a:p>
                  </a:txBody>
                  <a:tcPr anchor="ctr"/>
                </a:tc>
                <a:tc>
                  <a:txBody>
                    <a:bodyPr/>
                    <a:lstStyle/>
                    <a:p>
                      <a:pPr algn="ctr">
                        <a:buNone/>
                      </a:pPr>
                      <a:r>
                        <a:rPr lang="en-IN"/>
                        <a:t>RW1-S</a:t>
                      </a:r>
                    </a:p>
                  </a:txBody>
                  <a:tcPr anchor="ctr"/>
                </a:tc>
                <a:tc>
                  <a:txBody>
                    <a:bodyPr/>
                    <a:lstStyle/>
                    <a:p>
                      <a:pPr algn="ctr">
                        <a:buNone/>
                      </a:pPr>
                      <a:r>
                        <a:rPr lang="en-IN"/>
                        <a:t>Owner public key hash lock register</a:t>
                      </a:r>
                    </a:p>
                  </a:txBody>
                  <a:tcPr anchor="ctr"/>
                </a:tc>
                <a:extLst>
                  <a:ext uri="{0D108BD9-81ED-4DB2-BD59-A6C34878D82A}">
                    <a16:rowId xmlns:a16="http://schemas.microsoft.com/office/drawing/2014/main" val="2098744810"/>
                  </a:ext>
                </a:extLst>
              </a:tr>
              <a:tr h="178647">
                <a:tc>
                  <a:txBody>
                    <a:bodyPr/>
                    <a:lstStyle/>
                    <a:p>
                      <a:pPr algn="ctr">
                        <a:buNone/>
                      </a:pPr>
                      <a:r>
                        <a:rPr lang="en-IN"/>
                        <a:t>CPTRA_RESET_REASON</a:t>
                      </a:r>
                    </a:p>
                  </a:txBody>
                  <a:tcPr anchor="ctr"/>
                </a:tc>
                <a:tc>
                  <a:txBody>
                    <a:bodyPr/>
                    <a:lstStyle/>
                    <a:p>
                      <a:pPr algn="ctr">
                        <a:buNone/>
                      </a:pPr>
                      <a:r>
                        <a:rPr lang="en-IN"/>
                        <a:t>2</a:t>
                      </a:r>
                    </a:p>
                  </a:txBody>
                  <a:tcPr anchor="ctr"/>
                </a:tc>
                <a:tc>
                  <a:txBody>
                    <a:bodyPr/>
                    <a:lstStyle/>
                    <a:p>
                      <a:pPr algn="ctr">
                        <a:buNone/>
                      </a:pPr>
                      <a:r>
                        <a:rPr lang="en-IN"/>
                        <a:t>RO</a:t>
                      </a:r>
                    </a:p>
                  </a:txBody>
                  <a:tcPr anchor="ctr"/>
                </a:tc>
                <a:tc>
                  <a:txBody>
                    <a:bodyPr/>
                    <a:lstStyle/>
                    <a:p>
                      <a:pPr algn="ctr">
                        <a:buNone/>
                      </a:pPr>
                      <a:r>
                        <a:rPr lang="en-IN"/>
                        <a:t>Reset cause indication register</a:t>
                      </a:r>
                    </a:p>
                  </a:txBody>
                  <a:tcPr anchor="ctr"/>
                </a:tc>
                <a:extLst>
                  <a:ext uri="{0D108BD9-81ED-4DB2-BD59-A6C34878D82A}">
                    <a16:rowId xmlns:a16="http://schemas.microsoft.com/office/drawing/2014/main" val="2274635830"/>
                  </a:ext>
                </a:extLst>
              </a:tr>
              <a:tr h="178647">
                <a:tc>
                  <a:txBody>
                    <a:bodyPr/>
                    <a:lstStyle/>
                    <a:p>
                      <a:pPr algn="ctr">
                        <a:buNone/>
                      </a:pPr>
                      <a:r>
                        <a:rPr lang="en-IN"/>
                        <a:t>CPTRA_TRNG_STATUS</a:t>
                      </a:r>
                    </a:p>
                  </a:txBody>
                  <a:tcPr anchor="ctr"/>
                </a:tc>
                <a:tc>
                  <a:txBody>
                    <a:bodyPr/>
                    <a:lstStyle/>
                    <a:p>
                      <a:pPr algn="ctr">
                        <a:buNone/>
                      </a:pPr>
                      <a:r>
                        <a:rPr lang="en-IN"/>
                        <a:t>2</a:t>
                      </a:r>
                    </a:p>
                  </a:txBody>
                  <a:tcPr anchor="ctr"/>
                </a:tc>
                <a:tc>
                  <a:txBody>
                    <a:bodyPr/>
                    <a:lstStyle/>
                    <a:p>
                      <a:pPr algn="ctr">
                        <a:buNone/>
                      </a:pPr>
                      <a:r>
                        <a:rPr lang="en-IN"/>
                        <a:t>RW</a:t>
                      </a:r>
                    </a:p>
                  </a:txBody>
                  <a:tcPr anchor="ctr"/>
                </a:tc>
                <a:tc>
                  <a:txBody>
                    <a:bodyPr/>
                    <a:lstStyle/>
                    <a:p>
                      <a:pPr algn="ctr">
                        <a:buNone/>
                      </a:pPr>
                      <a:r>
                        <a:rPr lang="en-IN"/>
                        <a:t>TRNG request and completion status</a:t>
                      </a:r>
                    </a:p>
                  </a:txBody>
                  <a:tcPr anchor="ctr"/>
                </a:tc>
                <a:extLst>
                  <a:ext uri="{0D108BD9-81ED-4DB2-BD59-A6C34878D82A}">
                    <a16:rowId xmlns:a16="http://schemas.microsoft.com/office/drawing/2014/main" val="4086745375"/>
                  </a:ext>
                </a:extLst>
              </a:tr>
              <a:tr h="178647">
                <a:tc>
                  <a:txBody>
                    <a:bodyPr/>
                    <a:lstStyle/>
                    <a:p>
                      <a:pPr algn="ctr">
                        <a:buNone/>
                      </a:pPr>
                      <a:r>
                        <a:rPr lang="en-IN"/>
                        <a:t>CPTRA_WDT_STATUS</a:t>
                      </a:r>
                    </a:p>
                  </a:txBody>
                  <a:tcPr anchor="ctr"/>
                </a:tc>
                <a:tc>
                  <a:txBody>
                    <a:bodyPr/>
                    <a:lstStyle/>
                    <a:p>
                      <a:pPr algn="ctr">
                        <a:buNone/>
                      </a:pPr>
                      <a:r>
                        <a:rPr lang="en-IN"/>
                        <a:t>2</a:t>
                      </a:r>
                    </a:p>
                  </a:txBody>
                  <a:tcPr anchor="ctr"/>
                </a:tc>
                <a:tc>
                  <a:txBody>
                    <a:bodyPr/>
                    <a:lstStyle/>
                    <a:p>
                      <a:pPr algn="ctr">
                        <a:buNone/>
                      </a:pPr>
                      <a:r>
                        <a:rPr lang="en-IN"/>
                        <a:t>RW</a:t>
                      </a:r>
                    </a:p>
                  </a:txBody>
                  <a:tcPr anchor="ctr"/>
                </a:tc>
                <a:tc>
                  <a:txBody>
                    <a:bodyPr/>
                    <a:lstStyle/>
                    <a:p>
                      <a:pPr algn="ctr">
                        <a:buNone/>
                      </a:pPr>
                      <a:r>
                        <a:rPr lang="en-IN"/>
                        <a:t>Watchdog timeout status register</a:t>
                      </a:r>
                    </a:p>
                  </a:txBody>
                  <a:tcPr anchor="ctr"/>
                </a:tc>
                <a:extLst>
                  <a:ext uri="{0D108BD9-81ED-4DB2-BD59-A6C34878D82A}">
                    <a16:rowId xmlns:a16="http://schemas.microsoft.com/office/drawing/2014/main" val="1600013001"/>
                  </a:ext>
                </a:extLst>
              </a:tr>
              <a:tr h="178647">
                <a:tc>
                  <a:txBody>
                    <a:bodyPr/>
                    <a:lstStyle/>
                    <a:p>
                      <a:pPr algn="ctr">
                        <a:buNone/>
                      </a:pPr>
                      <a:r>
                        <a:rPr lang="en-IN"/>
                        <a:t>CPTRA_HW_CONFIG</a:t>
                      </a:r>
                    </a:p>
                  </a:txBody>
                  <a:tcPr anchor="ctr"/>
                </a:tc>
                <a:tc>
                  <a:txBody>
                    <a:bodyPr/>
                    <a:lstStyle/>
                    <a:p>
                      <a:pPr algn="ctr">
                        <a:buNone/>
                      </a:pPr>
                      <a:r>
                        <a:rPr lang="en-IN"/>
                        <a:t>8</a:t>
                      </a:r>
                    </a:p>
                  </a:txBody>
                  <a:tcPr anchor="ctr"/>
                </a:tc>
                <a:tc>
                  <a:txBody>
                    <a:bodyPr/>
                    <a:lstStyle/>
                    <a:p>
                      <a:pPr algn="ctr">
                        <a:buNone/>
                      </a:pPr>
                      <a:r>
                        <a:rPr lang="en-IN"/>
                        <a:t>RO</a:t>
                      </a:r>
                    </a:p>
                  </a:txBody>
                  <a:tcPr anchor="ctr"/>
                </a:tc>
                <a:tc>
                  <a:txBody>
                    <a:bodyPr/>
                    <a:lstStyle/>
                    <a:p>
                      <a:pPr algn="ctr">
                        <a:buNone/>
                      </a:pPr>
                      <a:r>
                        <a:rPr lang="en-IN"/>
                        <a:t>Hardware capability configuration</a:t>
                      </a:r>
                    </a:p>
                  </a:txBody>
                  <a:tcPr anchor="ctr"/>
                </a:tc>
                <a:extLst>
                  <a:ext uri="{0D108BD9-81ED-4DB2-BD59-A6C34878D82A}">
                    <a16:rowId xmlns:a16="http://schemas.microsoft.com/office/drawing/2014/main" val="2211963191"/>
                  </a:ext>
                </a:extLst>
              </a:tr>
              <a:tr h="370840">
                <a:tc>
                  <a:txBody>
                    <a:bodyPr/>
                    <a:lstStyle/>
                    <a:p>
                      <a:pPr algn="ctr">
                        <a:buNone/>
                      </a:pPr>
                      <a:r>
                        <a:rPr lang="en-IN"/>
                        <a:t>CPTRA_HW_ERROR_FATAL</a:t>
                      </a:r>
                    </a:p>
                  </a:txBody>
                  <a:tcPr anchor="ctr"/>
                </a:tc>
                <a:tc>
                  <a:txBody>
                    <a:bodyPr/>
                    <a:lstStyle/>
                    <a:p>
                      <a:pPr algn="ctr">
                        <a:buNone/>
                      </a:pPr>
                      <a:r>
                        <a:rPr lang="en-IN"/>
                        <a:t>32</a:t>
                      </a:r>
                    </a:p>
                  </a:txBody>
                  <a:tcPr anchor="ctr"/>
                </a:tc>
                <a:tc>
                  <a:txBody>
                    <a:bodyPr/>
                    <a:lstStyle/>
                    <a:p>
                      <a:pPr algn="ctr">
                        <a:buNone/>
                      </a:pPr>
                      <a:r>
                        <a:rPr lang="en-IN"/>
                        <a:t>RW1C</a:t>
                      </a:r>
                    </a:p>
                  </a:txBody>
                  <a:tcPr anchor="ctr"/>
                </a:tc>
                <a:tc>
                  <a:txBody>
                    <a:bodyPr/>
                    <a:lstStyle/>
                    <a:p>
                      <a:pPr algn="ctr">
                        <a:buNone/>
                      </a:pPr>
                      <a:r>
                        <a:rPr lang="en-IN"/>
                        <a:t>Fatal hardware error status register</a:t>
                      </a:r>
                    </a:p>
                  </a:txBody>
                  <a:tcPr anchor="ctr"/>
                </a:tc>
                <a:extLst>
                  <a:ext uri="{0D108BD9-81ED-4DB2-BD59-A6C34878D82A}">
                    <a16:rowId xmlns:a16="http://schemas.microsoft.com/office/drawing/2014/main" val="4106981858"/>
                  </a:ext>
                </a:extLst>
              </a:tr>
              <a:tr h="370840">
                <a:tc>
                  <a:txBody>
                    <a:bodyPr/>
                    <a:lstStyle/>
                    <a:p>
                      <a:pPr algn="ctr">
                        <a:buNone/>
                      </a:pPr>
                      <a:r>
                        <a:rPr lang="en-IN"/>
                        <a:t>CPTRA_HW_ERROR_NON_FATAL</a:t>
                      </a:r>
                    </a:p>
                  </a:txBody>
                  <a:tcPr anchor="ctr"/>
                </a:tc>
                <a:tc>
                  <a:txBody>
                    <a:bodyPr/>
                    <a:lstStyle/>
                    <a:p>
                      <a:pPr algn="ctr">
                        <a:buNone/>
                      </a:pPr>
                      <a:r>
                        <a:rPr lang="en-IN"/>
                        <a:t>32</a:t>
                      </a:r>
                    </a:p>
                  </a:txBody>
                  <a:tcPr anchor="ctr"/>
                </a:tc>
                <a:tc>
                  <a:txBody>
                    <a:bodyPr/>
                    <a:lstStyle/>
                    <a:p>
                      <a:pPr algn="ctr">
                        <a:buNone/>
                      </a:pPr>
                      <a:r>
                        <a:rPr lang="en-IN"/>
                        <a:t>RW1C</a:t>
                      </a:r>
                    </a:p>
                  </a:txBody>
                  <a:tcPr anchor="ctr"/>
                </a:tc>
                <a:tc>
                  <a:txBody>
                    <a:bodyPr/>
                    <a:lstStyle/>
                    <a:p>
                      <a:pPr algn="ctr">
                        <a:buNone/>
                      </a:pPr>
                      <a:r>
                        <a:rPr lang="en-IN"/>
                        <a:t>Non-fatal hardware error status register</a:t>
                      </a:r>
                    </a:p>
                  </a:txBody>
                  <a:tcPr anchor="ctr"/>
                </a:tc>
                <a:extLst>
                  <a:ext uri="{0D108BD9-81ED-4DB2-BD59-A6C34878D82A}">
                    <a16:rowId xmlns:a16="http://schemas.microsoft.com/office/drawing/2014/main" val="205357459"/>
                  </a:ext>
                </a:extLst>
              </a:tr>
              <a:tr h="370840">
                <a:tc>
                  <a:txBody>
                    <a:bodyPr/>
                    <a:lstStyle/>
                    <a:p>
                      <a:pPr algn="ctr">
                        <a:buNone/>
                      </a:pPr>
                      <a:r>
                        <a:rPr lang="en-IN"/>
                        <a:t>CPTRA_FW_ERROR_FATAL</a:t>
                      </a:r>
                    </a:p>
                  </a:txBody>
                  <a:tcPr anchor="ctr"/>
                </a:tc>
                <a:tc>
                  <a:txBody>
                    <a:bodyPr/>
                    <a:lstStyle/>
                    <a:p>
                      <a:pPr algn="ctr">
                        <a:buNone/>
                      </a:pPr>
                      <a:r>
                        <a:rPr lang="en-IN"/>
                        <a:t>32</a:t>
                      </a:r>
                    </a:p>
                  </a:txBody>
                  <a:tcPr anchor="ctr"/>
                </a:tc>
                <a:tc>
                  <a:txBody>
                    <a:bodyPr/>
                    <a:lstStyle/>
                    <a:p>
                      <a:pPr algn="ctr">
                        <a:buNone/>
                      </a:pPr>
                      <a:r>
                        <a:rPr lang="en-IN"/>
                        <a:t>RW</a:t>
                      </a:r>
                    </a:p>
                  </a:txBody>
                  <a:tcPr anchor="ctr"/>
                </a:tc>
                <a:tc>
                  <a:txBody>
                    <a:bodyPr/>
                    <a:lstStyle/>
                    <a:p>
                      <a:pPr algn="ctr">
                        <a:buNone/>
                      </a:pPr>
                      <a:r>
                        <a:rPr lang="en-IN"/>
                        <a:t>Fatal firmware error register</a:t>
                      </a:r>
                    </a:p>
                  </a:txBody>
                  <a:tcPr anchor="ctr"/>
                </a:tc>
                <a:extLst>
                  <a:ext uri="{0D108BD9-81ED-4DB2-BD59-A6C34878D82A}">
                    <a16:rowId xmlns:a16="http://schemas.microsoft.com/office/drawing/2014/main" val="1175040285"/>
                  </a:ext>
                </a:extLst>
              </a:tr>
              <a:tr h="370840">
                <a:tc>
                  <a:txBody>
                    <a:bodyPr/>
                    <a:lstStyle/>
                    <a:p>
                      <a:pPr algn="ctr">
                        <a:buNone/>
                      </a:pPr>
                      <a:r>
                        <a:rPr lang="en-IN"/>
                        <a:t>CPTRA_FW_ERROR_NON_FATAL</a:t>
                      </a:r>
                    </a:p>
                  </a:txBody>
                  <a:tcPr anchor="ctr"/>
                </a:tc>
                <a:tc>
                  <a:txBody>
                    <a:bodyPr/>
                    <a:lstStyle/>
                    <a:p>
                      <a:pPr algn="ctr">
                        <a:buNone/>
                      </a:pPr>
                      <a:r>
                        <a:rPr lang="en-IN"/>
                        <a:t>32</a:t>
                      </a:r>
                    </a:p>
                  </a:txBody>
                  <a:tcPr anchor="ctr"/>
                </a:tc>
                <a:tc>
                  <a:txBody>
                    <a:bodyPr/>
                    <a:lstStyle/>
                    <a:p>
                      <a:pPr algn="ctr">
                        <a:buNone/>
                      </a:pPr>
                      <a:r>
                        <a:rPr lang="en-IN"/>
                        <a:t>RW</a:t>
                      </a:r>
                    </a:p>
                  </a:txBody>
                  <a:tcPr anchor="ctr"/>
                </a:tc>
                <a:tc>
                  <a:txBody>
                    <a:bodyPr/>
                    <a:lstStyle/>
                    <a:p>
                      <a:pPr algn="ctr">
                        <a:buNone/>
                      </a:pPr>
                      <a:r>
                        <a:rPr lang="en-IN"/>
                        <a:t>Non-fatal firmware error register</a:t>
                      </a:r>
                    </a:p>
                  </a:txBody>
                  <a:tcPr anchor="ctr"/>
                </a:tc>
                <a:extLst>
                  <a:ext uri="{0D108BD9-81ED-4DB2-BD59-A6C34878D82A}">
                    <a16:rowId xmlns:a16="http://schemas.microsoft.com/office/drawing/2014/main" val="2353429418"/>
                  </a:ext>
                </a:extLst>
              </a:tr>
            </a:tbl>
          </a:graphicData>
        </a:graphic>
      </p:graphicFrame>
    </p:spTree>
    <p:extLst>
      <p:ext uri="{BB962C8B-B14F-4D97-AF65-F5344CB8AC3E}">
        <p14:creationId xmlns:p14="http://schemas.microsoft.com/office/powerpoint/2010/main" val="15556525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4E698-FC5D-E41F-D817-3925A5CD2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724FC-C20B-D33C-53C0-5C248EACA814}"/>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Functional Registers(Contd..)</a:t>
            </a:r>
          </a:p>
        </p:txBody>
      </p:sp>
      <p:sp>
        <p:nvSpPr>
          <p:cNvPr id="18" name="TextBox 17">
            <a:extLst>
              <a:ext uri="{FF2B5EF4-FFF2-40B4-BE49-F238E27FC236}">
                <a16:creationId xmlns:a16="http://schemas.microsoft.com/office/drawing/2014/main" id="{4E027078-D5C5-FC31-F5EF-7A059482FA95}"/>
              </a:ext>
            </a:extLst>
          </p:cNvPr>
          <p:cNvSpPr txBox="1"/>
          <p:nvPr/>
        </p:nvSpPr>
        <p:spPr>
          <a:xfrm>
            <a:off x="1054871" y="603317"/>
            <a:ext cx="6096000" cy="369332"/>
          </a:xfrm>
          <a:prstGeom prst="rect">
            <a:avLst/>
          </a:prstGeom>
          <a:noFill/>
        </p:spPr>
        <p:txBody>
          <a:bodyPr wrap="square">
            <a:spAutoFit/>
          </a:bodyPr>
          <a:lstStyle/>
          <a:p>
            <a:r>
              <a:rPr lang="en-IN"/>
              <a:t>Table 11. Functional Registers </a:t>
            </a:r>
          </a:p>
        </p:txBody>
      </p:sp>
      <p:sp>
        <p:nvSpPr>
          <p:cNvPr id="104" name="Slide Number Placeholder 3">
            <a:extLst>
              <a:ext uri="{FF2B5EF4-FFF2-40B4-BE49-F238E27FC236}">
                <a16:creationId xmlns:a16="http://schemas.microsoft.com/office/drawing/2014/main" id="{83D9EDB3-379B-0094-850C-6999945D41C0}"/>
              </a:ext>
            </a:extLst>
          </p:cNvPr>
          <p:cNvSpPr>
            <a:spLocks noGrp="1"/>
          </p:cNvSpPr>
          <p:nvPr>
            <p:ph type="sldNum" sz="quarter" idx="12"/>
          </p:nvPr>
        </p:nvSpPr>
        <p:spPr>
          <a:xfrm>
            <a:off x="8610600" y="6889760"/>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57</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E61A4A77-733E-9CFB-2838-23C5E1C25F61}"/>
              </a:ext>
            </a:extLst>
          </p:cNvPr>
          <p:cNvGraphicFramePr>
            <a:graphicFrameLocks noGrp="1"/>
          </p:cNvGraphicFramePr>
          <p:nvPr/>
        </p:nvGraphicFramePr>
        <p:xfrm>
          <a:off x="665405" y="1113723"/>
          <a:ext cx="10823862" cy="4043680"/>
        </p:xfrm>
        <a:graphic>
          <a:graphicData uri="http://schemas.openxmlformats.org/drawingml/2006/table">
            <a:tbl>
              <a:tblPr firstRow="1" bandRow="1">
                <a:tableStyleId>{5C22544A-7EE6-4342-B048-85BDC9FD1C3A}</a:tableStyleId>
              </a:tblPr>
              <a:tblGrid>
                <a:gridCol w="4304529">
                  <a:extLst>
                    <a:ext uri="{9D8B030D-6E8A-4147-A177-3AD203B41FA5}">
                      <a16:colId xmlns:a16="http://schemas.microsoft.com/office/drawing/2014/main" val="1973430579"/>
                    </a:ext>
                  </a:extLst>
                </a:gridCol>
                <a:gridCol w="1109133">
                  <a:extLst>
                    <a:ext uri="{9D8B030D-6E8A-4147-A177-3AD203B41FA5}">
                      <a16:colId xmlns:a16="http://schemas.microsoft.com/office/drawing/2014/main" val="760745386"/>
                    </a:ext>
                  </a:extLst>
                </a:gridCol>
                <a:gridCol w="1159934">
                  <a:extLst>
                    <a:ext uri="{9D8B030D-6E8A-4147-A177-3AD203B41FA5}">
                      <a16:colId xmlns:a16="http://schemas.microsoft.com/office/drawing/2014/main" val="3612705776"/>
                    </a:ext>
                  </a:extLst>
                </a:gridCol>
                <a:gridCol w="4250266">
                  <a:extLst>
                    <a:ext uri="{9D8B030D-6E8A-4147-A177-3AD203B41FA5}">
                      <a16:colId xmlns:a16="http://schemas.microsoft.com/office/drawing/2014/main" val="3943392966"/>
                    </a:ext>
                  </a:extLst>
                </a:gridCol>
              </a:tblGrid>
              <a:tr h="0">
                <a:tc>
                  <a:txBody>
                    <a:bodyPr/>
                    <a:lstStyle/>
                    <a:p>
                      <a:pPr algn="ctr">
                        <a:buNone/>
                      </a:pPr>
                      <a:r>
                        <a:rPr lang="en-IN"/>
                        <a:t>Register Name</a:t>
                      </a:r>
                    </a:p>
                  </a:txBody>
                  <a:tcPr anchor="ctr"/>
                </a:tc>
                <a:tc>
                  <a:txBody>
                    <a:bodyPr/>
                    <a:lstStyle/>
                    <a:p>
                      <a:pPr algn="ctr">
                        <a:buNone/>
                      </a:pPr>
                      <a:r>
                        <a:rPr lang="en-IN"/>
                        <a:t>Width</a:t>
                      </a:r>
                    </a:p>
                  </a:txBody>
                  <a:tcPr anchor="ctr"/>
                </a:tc>
                <a:tc>
                  <a:txBody>
                    <a:bodyPr/>
                    <a:lstStyle/>
                    <a:p>
                      <a:pPr algn="ctr">
                        <a:buNone/>
                      </a:pPr>
                      <a:r>
                        <a:rPr lang="en-IN"/>
                        <a:t>Access</a:t>
                      </a:r>
                    </a:p>
                  </a:txBody>
                  <a:tcPr anchor="ctr"/>
                </a:tc>
                <a:tc>
                  <a:txBody>
                    <a:bodyPr/>
                    <a:lstStyle/>
                    <a:p>
                      <a:pPr algn="ctr">
                        <a:buNone/>
                      </a:pPr>
                      <a:r>
                        <a:rPr lang="en-IN"/>
                        <a:t>Description</a:t>
                      </a:r>
                    </a:p>
                  </a:txBody>
                  <a:tcPr anchor="ctr"/>
                </a:tc>
                <a:extLst>
                  <a:ext uri="{0D108BD9-81ED-4DB2-BD59-A6C34878D82A}">
                    <a16:rowId xmlns:a16="http://schemas.microsoft.com/office/drawing/2014/main" val="4223026766"/>
                  </a:ext>
                </a:extLst>
              </a:tr>
              <a:tr h="178647">
                <a:tc>
                  <a:txBody>
                    <a:bodyPr/>
                    <a:lstStyle/>
                    <a:p>
                      <a:pPr algn="ctr">
                        <a:buNone/>
                      </a:pPr>
                      <a:r>
                        <a:rPr lang="en-IN"/>
                        <a:t>CPTRA_HW_ERROR_ENC</a:t>
                      </a:r>
                    </a:p>
                  </a:txBody>
                  <a:tcPr anchor="ctr"/>
                </a:tc>
                <a:tc>
                  <a:txBody>
                    <a:bodyPr/>
                    <a:lstStyle/>
                    <a:p>
                      <a:pPr algn="ctr">
                        <a:buNone/>
                      </a:pPr>
                      <a:r>
                        <a:rPr lang="en-IN"/>
                        <a:t>32</a:t>
                      </a:r>
                    </a:p>
                  </a:txBody>
                  <a:tcPr anchor="ctr"/>
                </a:tc>
                <a:tc>
                  <a:txBody>
                    <a:bodyPr/>
                    <a:lstStyle/>
                    <a:p>
                      <a:pPr algn="ctr">
                        <a:buNone/>
                      </a:pPr>
                      <a:r>
                        <a:rPr lang="en-IN"/>
                        <a:t>RW</a:t>
                      </a:r>
                    </a:p>
                  </a:txBody>
                  <a:tcPr anchor="ctr"/>
                </a:tc>
                <a:tc>
                  <a:txBody>
                    <a:bodyPr/>
                    <a:lstStyle/>
                    <a:p>
                      <a:pPr algn="ctr">
                        <a:buNone/>
                      </a:pPr>
                      <a:r>
                        <a:rPr lang="en-IN"/>
                        <a:t>Encoded hardware error information</a:t>
                      </a:r>
                    </a:p>
                  </a:txBody>
                  <a:tcPr anchor="ctr"/>
                </a:tc>
                <a:extLst>
                  <a:ext uri="{0D108BD9-81ED-4DB2-BD59-A6C34878D82A}">
                    <a16:rowId xmlns:a16="http://schemas.microsoft.com/office/drawing/2014/main" val="1809496166"/>
                  </a:ext>
                </a:extLst>
              </a:tr>
              <a:tr h="178647">
                <a:tc>
                  <a:txBody>
                    <a:bodyPr/>
                    <a:lstStyle/>
                    <a:p>
                      <a:pPr algn="ctr">
                        <a:buNone/>
                      </a:pPr>
                      <a:r>
                        <a:rPr lang="en-IN"/>
                        <a:t>CPTRA_FW_ERROR_ENC</a:t>
                      </a:r>
                    </a:p>
                  </a:txBody>
                  <a:tcPr anchor="ctr"/>
                </a:tc>
                <a:tc>
                  <a:txBody>
                    <a:bodyPr/>
                    <a:lstStyle/>
                    <a:p>
                      <a:pPr algn="ctr">
                        <a:buNone/>
                      </a:pPr>
                      <a:r>
                        <a:rPr lang="en-IN"/>
                        <a:t>32</a:t>
                      </a:r>
                    </a:p>
                  </a:txBody>
                  <a:tcPr anchor="ctr"/>
                </a:tc>
                <a:tc>
                  <a:txBody>
                    <a:bodyPr/>
                    <a:lstStyle/>
                    <a:p>
                      <a:pPr algn="ctr">
                        <a:buNone/>
                      </a:pPr>
                      <a:r>
                        <a:rPr lang="en-IN"/>
                        <a:t>RW</a:t>
                      </a:r>
                    </a:p>
                  </a:txBody>
                  <a:tcPr anchor="ctr"/>
                </a:tc>
                <a:tc>
                  <a:txBody>
                    <a:bodyPr/>
                    <a:lstStyle/>
                    <a:p>
                      <a:pPr algn="ctr">
                        <a:buNone/>
                      </a:pPr>
                      <a:r>
                        <a:rPr lang="en-IN"/>
                        <a:t>Encoded firmware error information</a:t>
                      </a:r>
                    </a:p>
                  </a:txBody>
                  <a:tcPr anchor="ctr"/>
                </a:tc>
                <a:extLst>
                  <a:ext uri="{0D108BD9-81ED-4DB2-BD59-A6C34878D82A}">
                    <a16:rowId xmlns:a16="http://schemas.microsoft.com/office/drawing/2014/main" val="2098744810"/>
                  </a:ext>
                </a:extLst>
              </a:tr>
              <a:tr h="178647">
                <a:tc>
                  <a:txBody>
                    <a:bodyPr/>
                    <a:lstStyle/>
                    <a:p>
                      <a:pPr algn="ctr">
                        <a:buNone/>
                      </a:pPr>
                      <a:r>
                        <a:rPr lang="en-IN"/>
                        <a:t>CPTRA_FW_EXTENDED_ERROR_INFO</a:t>
                      </a:r>
                    </a:p>
                  </a:txBody>
                  <a:tcPr anchor="ctr"/>
                </a:tc>
                <a:tc>
                  <a:txBody>
                    <a:bodyPr/>
                    <a:lstStyle/>
                    <a:p>
                      <a:pPr algn="ctr">
                        <a:buNone/>
                      </a:pPr>
                      <a:r>
                        <a:rPr lang="en-IN"/>
                        <a:t>32</a:t>
                      </a:r>
                    </a:p>
                  </a:txBody>
                  <a:tcPr anchor="ctr"/>
                </a:tc>
                <a:tc>
                  <a:txBody>
                    <a:bodyPr/>
                    <a:lstStyle/>
                    <a:p>
                      <a:pPr algn="ctr">
                        <a:buNone/>
                      </a:pPr>
                      <a:r>
                        <a:rPr lang="en-IN"/>
                        <a:t>RW</a:t>
                      </a:r>
                    </a:p>
                  </a:txBody>
                  <a:tcPr anchor="ctr"/>
                </a:tc>
                <a:tc>
                  <a:txBody>
                    <a:bodyPr/>
                    <a:lstStyle/>
                    <a:p>
                      <a:pPr algn="ctr">
                        <a:buNone/>
                      </a:pPr>
                      <a:r>
                        <a:rPr lang="en-IN"/>
                        <a:t>Extended firmware error information</a:t>
                      </a:r>
                    </a:p>
                  </a:txBody>
                  <a:tcPr anchor="ctr"/>
                </a:tc>
                <a:extLst>
                  <a:ext uri="{0D108BD9-81ED-4DB2-BD59-A6C34878D82A}">
                    <a16:rowId xmlns:a16="http://schemas.microsoft.com/office/drawing/2014/main" val="2274635830"/>
                  </a:ext>
                </a:extLst>
              </a:tr>
              <a:tr h="178647">
                <a:tc>
                  <a:txBody>
                    <a:bodyPr/>
                    <a:lstStyle/>
                    <a:p>
                      <a:pPr algn="ctr">
                        <a:buNone/>
                      </a:pPr>
                      <a:r>
                        <a:rPr lang="en-IN"/>
                        <a:t>CPTRA_BOOT_STATUS</a:t>
                      </a:r>
                    </a:p>
                  </a:txBody>
                  <a:tcPr anchor="ctr"/>
                </a:tc>
                <a:tc>
                  <a:txBody>
                    <a:bodyPr/>
                    <a:lstStyle/>
                    <a:p>
                      <a:pPr algn="ctr">
                        <a:buNone/>
                      </a:pPr>
                      <a:r>
                        <a:rPr lang="en-IN"/>
                        <a:t>32</a:t>
                      </a:r>
                    </a:p>
                  </a:txBody>
                  <a:tcPr anchor="ctr"/>
                </a:tc>
                <a:tc>
                  <a:txBody>
                    <a:bodyPr/>
                    <a:lstStyle/>
                    <a:p>
                      <a:pPr algn="ctr">
                        <a:buNone/>
                      </a:pPr>
                      <a:r>
                        <a:rPr lang="en-IN"/>
                        <a:t>RW/RO</a:t>
                      </a:r>
                    </a:p>
                  </a:txBody>
                  <a:tcPr anchor="ctr"/>
                </a:tc>
                <a:tc>
                  <a:txBody>
                    <a:bodyPr/>
                    <a:lstStyle/>
                    <a:p>
                      <a:pPr algn="ctr">
                        <a:buNone/>
                      </a:pPr>
                      <a:r>
                        <a:rPr lang="en-IN"/>
                        <a:t>Boot status reporting register</a:t>
                      </a:r>
                    </a:p>
                  </a:txBody>
                  <a:tcPr anchor="ctr"/>
                </a:tc>
                <a:extLst>
                  <a:ext uri="{0D108BD9-81ED-4DB2-BD59-A6C34878D82A}">
                    <a16:rowId xmlns:a16="http://schemas.microsoft.com/office/drawing/2014/main" val="4086745375"/>
                  </a:ext>
                </a:extLst>
              </a:tr>
              <a:tr h="178647">
                <a:tc>
                  <a:txBody>
                    <a:bodyPr/>
                    <a:lstStyle/>
                    <a:p>
                      <a:pPr algn="ctr">
                        <a:buNone/>
                      </a:pPr>
                      <a:r>
                        <a:rPr lang="en-IN"/>
                        <a:t>CPTRA_FLOW_STATUS</a:t>
                      </a:r>
                    </a:p>
                  </a:txBody>
                  <a:tcPr anchor="ctr"/>
                </a:tc>
                <a:tc>
                  <a:txBody>
                    <a:bodyPr/>
                    <a:lstStyle/>
                    <a:p>
                      <a:pPr algn="ctr">
                        <a:buNone/>
                      </a:pPr>
                      <a:r>
                        <a:rPr lang="en-IN"/>
                        <a:t>32</a:t>
                      </a:r>
                    </a:p>
                  </a:txBody>
                  <a:tcPr anchor="ctr"/>
                </a:tc>
                <a:tc>
                  <a:txBody>
                    <a:bodyPr/>
                    <a:lstStyle/>
                    <a:p>
                      <a:pPr algn="ctr">
                        <a:buNone/>
                      </a:pPr>
                      <a:r>
                        <a:rPr lang="en-IN"/>
                        <a:t>RO</a:t>
                      </a:r>
                    </a:p>
                  </a:txBody>
                  <a:tcPr anchor="ctr"/>
                </a:tc>
                <a:tc>
                  <a:txBody>
                    <a:bodyPr/>
                    <a:lstStyle/>
                    <a:p>
                      <a:pPr algn="ctr">
                        <a:buNone/>
                      </a:pPr>
                      <a:r>
                        <a:rPr lang="en-IN"/>
                        <a:t>Firmware flow status register</a:t>
                      </a:r>
                    </a:p>
                  </a:txBody>
                  <a:tcPr anchor="ctr"/>
                </a:tc>
                <a:extLst>
                  <a:ext uri="{0D108BD9-81ED-4DB2-BD59-A6C34878D82A}">
                    <a16:rowId xmlns:a16="http://schemas.microsoft.com/office/drawing/2014/main" val="1600013001"/>
                  </a:ext>
                </a:extLst>
              </a:tr>
              <a:tr h="178647">
                <a:tc>
                  <a:txBody>
                    <a:bodyPr/>
                    <a:lstStyle/>
                    <a:p>
                      <a:pPr algn="ctr">
                        <a:buNone/>
                      </a:pPr>
                      <a:r>
                        <a:rPr lang="en-IN"/>
                        <a:t>CPTRA_SECURITY_STATE</a:t>
                      </a:r>
                    </a:p>
                  </a:txBody>
                  <a:tcPr anchor="ctr"/>
                </a:tc>
                <a:tc>
                  <a:txBody>
                    <a:bodyPr/>
                    <a:lstStyle/>
                    <a:p>
                      <a:pPr algn="ctr">
                        <a:buNone/>
                      </a:pPr>
                      <a:r>
                        <a:rPr lang="en-IN"/>
                        <a:t>32</a:t>
                      </a:r>
                    </a:p>
                  </a:txBody>
                  <a:tcPr anchor="ctr"/>
                </a:tc>
                <a:tc>
                  <a:txBody>
                    <a:bodyPr/>
                    <a:lstStyle/>
                    <a:p>
                      <a:pPr algn="ctr">
                        <a:buNone/>
                      </a:pPr>
                      <a:r>
                        <a:rPr lang="en-IN"/>
                        <a:t>RO</a:t>
                      </a:r>
                    </a:p>
                  </a:txBody>
                  <a:tcPr anchor="ctr"/>
                </a:tc>
                <a:tc>
                  <a:txBody>
                    <a:bodyPr/>
                    <a:lstStyle/>
                    <a:p>
                      <a:pPr algn="ctr">
                        <a:buNone/>
                      </a:pPr>
                      <a:r>
                        <a:rPr lang="en-IN"/>
                        <a:t>Current device security lifecycle state</a:t>
                      </a:r>
                    </a:p>
                  </a:txBody>
                  <a:tcPr anchor="ctr"/>
                </a:tc>
                <a:extLst>
                  <a:ext uri="{0D108BD9-81ED-4DB2-BD59-A6C34878D82A}">
                    <a16:rowId xmlns:a16="http://schemas.microsoft.com/office/drawing/2014/main" val="2211963191"/>
                  </a:ext>
                </a:extLst>
              </a:tr>
              <a:tr h="370840">
                <a:tc>
                  <a:txBody>
                    <a:bodyPr/>
                    <a:lstStyle/>
                    <a:p>
                      <a:pPr algn="ctr">
                        <a:buNone/>
                      </a:pPr>
                      <a:r>
                        <a:rPr lang="en-IN"/>
                        <a:t>CPTRA_MBOX_AXI_USER_LOCK[5]</a:t>
                      </a:r>
                    </a:p>
                  </a:txBody>
                  <a:tcPr anchor="ctr"/>
                </a:tc>
                <a:tc>
                  <a:txBody>
                    <a:bodyPr/>
                    <a:lstStyle/>
                    <a:p>
                      <a:pPr algn="ctr">
                        <a:buNone/>
                      </a:pPr>
                      <a:r>
                        <a:rPr lang="en-IN"/>
                        <a:t>5</a:t>
                      </a:r>
                    </a:p>
                  </a:txBody>
                  <a:tcPr anchor="ctr"/>
                </a:tc>
                <a:tc>
                  <a:txBody>
                    <a:bodyPr/>
                    <a:lstStyle/>
                    <a:p>
                      <a:pPr algn="ctr">
                        <a:buNone/>
                      </a:pPr>
                      <a:r>
                        <a:rPr lang="en-IN"/>
                        <a:t>RW</a:t>
                      </a:r>
                    </a:p>
                  </a:txBody>
                  <a:tcPr anchor="ctr"/>
                </a:tc>
                <a:tc>
                  <a:txBody>
                    <a:bodyPr/>
                    <a:lstStyle/>
                    <a:p>
                      <a:pPr algn="ctr">
                        <a:buNone/>
                      </a:pPr>
                      <a:r>
                        <a:rPr lang="en-IN"/>
                        <a:t>Mailbox AXI USER lock array</a:t>
                      </a:r>
                    </a:p>
                  </a:txBody>
                  <a:tcPr anchor="ctr"/>
                </a:tc>
                <a:extLst>
                  <a:ext uri="{0D108BD9-81ED-4DB2-BD59-A6C34878D82A}">
                    <a16:rowId xmlns:a16="http://schemas.microsoft.com/office/drawing/2014/main" val="4106981858"/>
                  </a:ext>
                </a:extLst>
              </a:tr>
              <a:tr h="370840">
                <a:tc>
                  <a:txBody>
                    <a:bodyPr/>
                    <a:lstStyle/>
                    <a:p>
                      <a:pPr algn="ctr">
                        <a:buNone/>
                      </a:pPr>
                      <a:r>
                        <a:rPr lang="en-IN"/>
                        <a:t>CPTRA_GENERIC_INPUT_WIRES[2]</a:t>
                      </a:r>
                    </a:p>
                  </a:txBody>
                  <a:tcPr anchor="ctr"/>
                </a:tc>
                <a:tc>
                  <a:txBody>
                    <a:bodyPr/>
                    <a:lstStyle/>
                    <a:p>
                      <a:pPr algn="ctr">
                        <a:buNone/>
                      </a:pPr>
                      <a:r>
                        <a:rPr lang="en-IN"/>
                        <a:t>64</a:t>
                      </a:r>
                    </a:p>
                  </a:txBody>
                  <a:tcPr anchor="ctr"/>
                </a:tc>
                <a:tc>
                  <a:txBody>
                    <a:bodyPr/>
                    <a:lstStyle/>
                    <a:p>
                      <a:pPr algn="ctr">
                        <a:buNone/>
                      </a:pPr>
                      <a:r>
                        <a:rPr lang="en-IN"/>
                        <a:t>RO</a:t>
                      </a:r>
                    </a:p>
                  </a:txBody>
                  <a:tcPr anchor="ctr"/>
                </a:tc>
                <a:tc>
                  <a:txBody>
                    <a:bodyPr/>
                    <a:lstStyle/>
                    <a:p>
                      <a:pPr algn="ctr">
                        <a:buNone/>
                      </a:pPr>
                      <a:r>
                        <a:rPr lang="en-IN"/>
                        <a:t>Generic input wire array</a:t>
                      </a:r>
                    </a:p>
                  </a:txBody>
                  <a:tcPr anchor="ctr"/>
                </a:tc>
                <a:extLst>
                  <a:ext uri="{0D108BD9-81ED-4DB2-BD59-A6C34878D82A}">
                    <a16:rowId xmlns:a16="http://schemas.microsoft.com/office/drawing/2014/main" val="205357459"/>
                  </a:ext>
                </a:extLst>
              </a:tr>
              <a:tr h="370840">
                <a:tc>
                  <a:txBody>
                    <a:bodyPr/>
                    <a:lstStyle/>
                    <a:p>
                      <a:pPr algn="ctr">
                        <a:buNone/>
                      </a:pPr>
                      <a:r>
                        <a:rPr lang="en-IN"/>
                        <a:t>CPTRA_GENERIC_OUTPUT_WIRES[2]</a:t>
                      </a:r>
                    </a:p>
                  </a:txBody>
                  <a:tcPr anchor="ctr"/>
                </a:tc>
                <a:tc>
                  <a:txBody>
                    <a:bodyPr/>
                    <a:lstStyle/>
                    <a:p>
                      <a:pPr algn="ctr">
                        <a:buNone/>
                      </a:pPr>
                      <a:r>
                        <a:rPr lang="en-IN"/>
                        <a:t>64</a:t>
                      </a:r>
                    </a:p>
                  </a:txBody>
                  <a:tcPr anchor="ctr"/>
                </a:tc>
                <a:tc>
                  <a:txBody>
                    <a:bodyPr/>
                    <a:lstStyle/>
                    <a:p>
                      <a:pPr algn="ctr">
                        <a:buNone/>
                      </a:pPr>
                      <a:r>
                        <a:rPr lang="en-IN"/>
                        <a:t>RW</a:t>
                      </a:r>
                    </a:p>
                  </a:txBody>
                  <a:tcPr anchor="ctr"/>
                </a:tc>
                <a:tc>
                  <a:txBody>
                    <a:bodyPr/>
                    <a:lstStyle/>
                    <a:p>
                      <a:pPr algn="ctr">
                        <a:buNone/>
                      </a:pPr>
                      <a:r>
                        <a:rPr lang="en-IN"/>
                        <a:t>Generic output wire array</a:t>
                      </a:r>
                    </a:p>
                  </a:txBody>
                  <a:tcPr anchor="ctr"/>
                </a:tc>
                <a:extLst>
                  <a:ext uri="{0D108BD9-81ED-4DB2-BD59-A6C34878D82A}">
                    <a16:rowId xmlns:a16="http://schemas.microsoft.com/office/drawing/2014/main" val="1175040285"/>
                  </a:ext>
                </a:extLst>
              </a:tr>
              <a:tr h="370840">
                <a:tc>
                  <a:txBody>
                    <a:bodyPr/>
                    <a:lstStyle/>
                    <a:p>
                      <a:pPr algn="ctr">
                        <a:buNone/>
                      </a:pPr>
                      <a:r>
                        <a:rPr lang="en-IN"/>
                        <a:t>CPTRA_FW_REV_ID[2]</a:t>
                      </a:r>
                    </a:p>
                  </a:txBody>
                  <a:tcPr anchor="ctr"/>
                </a:tc>
                <a:tc>
                  <a:txBody>
                    <a:bodyPr/>
                    <a:lstStyle/>
                    <a:p>
                      <a:pPr algn="ctr">
                        <a:buNone/>
                      </a:pPr>
                      <a:r>
                        <a:rPr lang="en-IN"/>
                        <a:t>64</a:t>
                      </a:r>
                    </a:p>
                  </a:txBody>
                  <a:tcPr anchor="ctr"/>
                </a:tc>
                <a:tc>
                  <a:txBody>
                    <a:bodyPr/>
                    <a:lstStyle/>
                    <a:p>
                      <a:pPr algn="ctr">
                        <a:buNone/>
                      </a:pPr>
                      <a:r>
                        <a:rPr lang="en-IN"/>
                        <a:t>RW</a:t>
                      </a:r>
                    </a:p>
                  </a:txBody>
                  <a:tcPr anchor="ctr"/>
                </a:tc>
                <a:tc>
                  <a:txBody>
                    <a:bodyPr/>
                    <a:lstStyle/>
                    <a:p>
                      <a:pPr algn="ctr">
                        <a:buNone/>
                      </a:pPr>
                      <a:r>
                        <a:rPr lang="en-IN"/>
                        <a:t>Firmware revision ID array</a:t>
                      </a:r>
                    </a:p>
                  </a:txBody>
                  <a:tcPr anchor="ctr"/>
                </a:tc>
                <a:extLst>
                  <a:ext uri="{0D108BD9-81ED-4DB2-BD59-A6C34878D82A}">
                    <a16:rowId xmlns:a16="http://schemas.microsoft.com/office/drawing/2014/main" val="2353429418"/>
                  </a:ext>
                </a:extLst>
              </a:tr>
            </a:tbl>
          </a:graphicData>
        </a:graphic>
      </p:graphicFrame>
    </p:spTree>
    <p:extLst>
      <p:ext uri="{BB962C8B-B14F-4D97-AF65-F5344CB8AC3E}">
        <p14:creationId xmlns:p14="http://schemas.microsoft.com/office/powerpoint/2010/main" val="10298975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5DE3-E683-2FD3-649A-6376C83044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520C2-4A12-E285-0D9F-AE8DF28A1EAB}"/>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Functional Registers(Contd..)</a:t>
            </a:r>
          </a:p>
        </p:txBody>
      </p:sp>
      <p:sp>
        <p:nvSpPr>
          <p:cNvPr id="18" name="TextBox 17">
            <a:extLst>
              <a:ext uri="{FF2B5EF4-FFF2-40B4-BE49-F238E27FC236}">
                <a16:creationId xmlns:a16="http://schemas.microsoft.com/office/drawing/2014/main" id="{1BAAD66E-1B7B-1136-48D5-85BE4A992538}"/>
              </a:ext>
            </a:extLst>
          </p:cNvPr>
          <p:cNvSpPr txBox="1"/>
          <p:nvPr/>
        </p:nvSpPr>
        <p:spPr>
          <a:xfrm>
            <a:off x="1054871" y="603317"/>
            <a:ext cx="6096000" cy="369332"/>
          </a:xfrm>
          <a:prstGeom prst="rect">
            <a:avLst/>
          </a:prstGeom>
          <a:noFill/>
        </p:spPr>
        <p:txBody>
          <a:bodyPr wrap="square">
            <a:spAutoFit/>
          </a:bodyPr>
          <a:lstStyle/>
          <a:p>
            <a:r>
              <a:rPr lang="en-IN"/>
              <a:t>Table 12. Functional Registers </a:t>
            </a:r>
          </a:p>
        </p:txBody>
      </p:sp>
      <p:sp>
        <p:nvSpPr>
          <p:cNvPr id="104" name="Slide Number Placeholder 3">
            <a:extLst>
              <a:ext uri="{FF2B5EF4-FFF2-40B4-BE49-F238E27FC236}">
                <a16:creationId xmlns:a16="http://schemas.microsoft.com/office/drawing/2014/main" id="{5C23C977-37EE-749B-986B-DF9F59BDBECA}"/>
              </a:ext>
            </a:extLst>
          </p:cNvPr>
          <p:cNvSpPr>
            <a:spLocks noGrp="1"/>
          </p:cNvSpPr>
          <p:nvPr>
            <p:ph type="sldNum" sz="quarter" idx="12"/>
          </p:nvPr>
        </p:nvSpPr>
        <p:spPr>
          <a:xfrm>
            <a:off x="8746067" y="5769677"/>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58</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C3A4EAC9-A12E-0675-9084-1C0A0A9BEE91}"/>
              </a:ext>
            </a:extLst>
          </p:cNvPr>
          <p:cNvGraphicFramePr>
            <a:graphicFrameLocks noGrp="1"/>
          </p:cNvGraphicFramePr>
          <p:nvPr/>
        </p:nvGraphicFramePr>
        <p:xfrm>
          <a:off x="665405" y="1113723"/>
          <a:ext cx="10823862" cy="3302000"/>
        </p:xfrm>
        <a:graphic>
          <a:graphicData uri="http://schemas.openxmlformats.org/drawingml/2006/table">
            <a:tbl>
              <a:tblPr firstRow="1" bandRow="1">
                <a:tableStyleId>{5C22544A-7EE6-4342-B048-85BDC9FD1C3A}</a:tableStyleId>
              </a:tblPr>
              <a:tblGrid>
                <a:gridCol w="4524662">
                  <a:extLst>
                    <a:ext uri="{9D8B030D-6E8A-4147-A177-3AD203B41FA5}">
                      <a16:colId xmlns:a16="http://schemas.microsoft.com/office/drawing/2014/main" val="1973430579"/>
                    </a:ext>
                  </a:extLst>
                </a:gridCol>
                <a:gridCol w="889000">
                  <a:extLst>
                    <a:ext uri="{9D8B030D-6E8A-4147-A177-3AD203B41FA5}">
                      <a16:colId xmlns:a16="http://schemas.microsoft.com/office/drawing/2014/main" val="760745386"/>
                    </a:ext>
                  </a:extLst>
                </a:gridCol>
                <a:gridCol w="1159934">
                  <a:extLst>
                    <a:ext uri="{9D8B030D-6E8A-4147-A177-3AD203B41FA5}">
                      <a16:colId xmlns:a16="http://schemas.microsoft.com/office/drawing/2014/main" val="3612705776"/>
                    </a:ext>
                  </a:extLst>
                </a:gridCol>
                <a:gridCol w="4250266">
                  <a:extLst>
                    <a:ext uri="{9D8B030D-6E8A-4147-A177-3AD203B41FA5}">
                      <a16:colId xmlns:a16="http://schemas.microsoft.com/office/drawing/2014/main" val="3943392966"/>
                    </a:ext>
                  </a:extLst>
                </a:gridCol>
              </a:tblGrid>
              <a:tr h="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Register Name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Access</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4223026766"/>
                  </a:ext>
                </a:extLst>
              </a:tr>
              <a:tr h="178647">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CPTRA_WDT_TIMER1_TIMEOUT_PERIOD[2]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64</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RW</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Watchdog timer1 timeout array</a:t>
                      </a:r>
                    </a:p>
                  </a:txBody>
                  <a:tcPr anchor="ctr"/>
                </a:tc>
                <a:extLst>
                  <a:ext uri="{0D108BD9-81ED-4DB2-BD59-A6C34878D82A}">
                    <a16:rowId xmlns:a16="http://schemas.microsoft.com/office/drawing/2014/main" val="1809496166"/>
                  </a:ext>
                </a:extLst>
              </a:tr>
              <a:tr h="178647">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CPTRA_WDT_TIMER2_TIMEOUT_PERIOD[2]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64</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RW</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Watchdog timer2 timeout array</a:t>
                      </a:r>
                    </a:p>
                  </a:txBody>
                  <a:tcPr anchor="ctr"/>
                </a:tc>
                <a:extLst>
                  <a:ext uri="{0D108BD9-81ED-4DB2-BD59-A6C34878D82A}">
                    <a16:rowId xmlns:a16="http://schemas.microsoft.com/office/drawing/2014/main" val="2098744810"/>
                  </a:ext>
                </a:extLst>
              </a:tr>
              <a:tr h="178647">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CPTRA_WDT_CFG[2]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64</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RW</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Watchdog configuration array</a:t>
                      </a:r>
                    </a:p>
                  </a:txBody>
                  <a:tcPr anchor="ctr"/>
                </a:tc>
                <a:extLst>
                  <a:ext uri="{0D108BD9-81ED-4DB2-BD59-A6C34878D82A}">
                    <a16:rowId xmlns:a16="http://schemas.microsoft.com/office/drawing/2014/main" val="2274635830"/>
                  </a:ext>
                </a:extLst>
              </a:tr>
              <a:tr h="178647">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CPTRA_RSVD_REG[2]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64</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RW</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Reserved register array</a:t>
                      </a:r>
                    </a:p>
                  </a:txBody>
                  <a:tcPr anchor="ctr"/>
                </a:tc>
                <a:extLst>
                  <a:ext uri="{0D108BD9-81ED-4DB2-BD59-A6C34878D82A}">
                    <a16:rowId xmlns:a16="http://schemas.microsoft.com/office/drawing/2014/main" val="4086745375"/>
                  </a:ext>
                </a:extLst>
              </a:tr>
              <a:tr h="178647">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CPTRA_MBOX_VALID_AXI_USER[5]</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160</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RW</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Mailbox AXI USER register array</a:t>
                      </a:r>
                    </a:p>
                  </a:txBody>
                  <a:tcPr anchor="ctr"/>
                </a:tc>
                <a:extLst>
                  <a:ext uri="{0D108BD9-81ED-4DB2-BD59-A6C34878D82A}">
                    <a16:rowId xmlns:a16="http://schemas.microsoft.com/office/drawing/2014/main" val="1600013001"/>
                  </a:ext>
                </a:extLst>
              </a:tr>
              <a:tr h="178647">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CPTRA_FW_EXTENDED_ERROR_INFO[8]</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256</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RW</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Firmware extended error information array</a:t>
                      </a:r>
                    </a:p>
                  </a:txBody>
                  <a:tcPr anchor="ctr"/>
                </a:tc>
                <a:extLst>
                  <a:ext uri="{0D108BD9-81ED-4DB2-BD59-A6C34878D82A}">
                    <a16:rowId xmlns:a16="http://schemas.microsoft.com/office/drawing/2014/main" val="2211963191"/>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CPTRA_TRNG_DATA[12]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384</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RW</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TRNG data register array</a:t>
                      </a:r>
                    </a:p>
                  </a:txBody>
                  <a:tcPr anchor="ctr"/>
                </a:tc>
                <a:extLst>
                  <a:ext uri="{0D108BD9-81ED-4DB2-BD59-A6C34878D82A}">
                    <a16:rowId xmlns:a16="http://schemas.microsoft.com/office/drawing/2014/main" val="4106981858"/>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CPTRA_OWNER_PK_HASH[12]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384</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RWL-S</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Owner public key hash array</a:t>
                      </a:r>
                    </a:p>
                  </a:txBody>
                  <a:tcPr anchor="ctr"/>
                </a:tc>
                <a:extLst>
                  <a:ext uri="{0D108BD9-81ED-4DB2-BD59-A6C34878D82A}">
                    <a16:rowId xmlns:a16="http://schemas.microsoft.com/office/drawing/2014/main" val="205357459"/>
                  </a:ext>
                </a:extLst>
              </a:tr>
            </a:tbl>
          </a:graphicData>
        </a:graphic>
      </p:graphicFrame>
    </p:spTree>
    <p:extLst>
      <p:ext uri="{BB962C8B-B14F-4D97-AF65-F5344CB8AC3E}">
        <p14:creationId xmlns:p14="http://schemas.microsoft.com/office/powerpoint/2010/main" val="24345903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9189E-C07F-EAAF-02EA-58312F6F7441}"/>
            </a:ext>
          </a:extLst>
        </p:cNvPr>
        <p:cNvGrpSpPr/>
        <p:nvPr/>
      </p:nvGrpSpPr>
      <p:grpSpPr>
        <a:xfrm>
          <a:off x="0" y="0"/>
          <a:ext cx="0" cy="0"/>
          <a:chOff x="0" y="0"/>
          <a:chExt cx="0" cy="0"/>
        </a:xfrm>
      </p:grpSpPr>
      <p:sp>
        <p:nvSpPr>
          <p:cNvPr id="24" name="Oval 23">
            <a:extLst>
              <a:ext uri="{FF2B5EF4-FFF2-40B4-BE49-F238E27FC236}">
                <a16:creationId xmlns:a16="http://schemas.microsoft.com/office/drawing/2014/main" id="{C8C3FFB3-1537-1990-4646-439B071E35A1}"/>
              </a:ext>
            </a:extLst>
          </p:cNvPr>
          <p:cNvSpPr/>
          <p:nvPr/>
        </p:nvSpPr>
        <p:spPr>
          <a:xfrm>
            <a:off x="4836513" y="1732800"/>
            <a:ext cx="199865" cy="92653"/>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Arrow Connector 25">
            <a:extLst>
              <a:ext uri="{FF2B5EF4-FFF2-40B4-BE49-F238E27FC236}">
                <a16:creationId xmlns:a16="http://schemas.microsoft.com/office/drawing/2014/main" id="{8D2397D3-5E7E-F250-012A-72EA1382204B}"/>
              </a:ext>
            </a:extLst>
          </p:cNvPr>
          <p:cNvCxnSpPr>
            <a:cxnSpLocks/>
          </p:cNvCxnSpPr>
          <p:nvPr/>
        </p:nvCxnSpPr>
        <p:spPr>
          <a:xfrm flipH="1">
            <a:off x="2972735" y="2020891"/>
            <a:ext cx="1990576" cy="0"/>
          </a:xfrm>
          <a:prstGeom prst="straightConnector1">
            <a:avLst/>
          </a:prstGeom>
          <a:ln w="28575">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grpSp>
        <p:nvGrpSpPr>
          <p:cNvPr id="63" name="Group 62">
            <a:extLst>
              <a:ext uri="{FF2B5EF4-FFF2-40B4-BE49-F238E27FC236}">
                <a16:creationId xmlns:a16="http://schemas.microsoft.com/office/drawing/2014/main" id="{68652B76-4274-BC91-8095-6498607A53DD}"/>
              </a:ext>
            </a:extLst>
          </p:cNvPr>
          <p:cNvGrpSpPr/>
          <p:nvPr/>
        </p:nvGrpSpPr>
        <p:grpSpPr>
          <a:xfrm>
            <a:off x="6207" y="397112"/>
            <a:ext cx="10640511" cy="6050605"/>
            <a:chOff x="933771" y="635008"/>
            <a:chExt cx="10640511" cy="6050605"/>
          </a:xfrm>
        </p:grpSpPr>
        <p:sp>
          <p:nvSpPr>
            <p:cNvPr id="57" name="Oval 56">
              <a:extLst>
                <a:ext uri="{FF2B5EF4-FFF2-40B4-BE49-F238E27FC236}">
                  <a16:creationId xmlns:a16="http://schemas.microsoft.com/office/drawing/2014/main" id="{33171968-D28B-70CC-F2EF-A1282283A6C7}"/>
                </a:ext>
              </a:extLst>
            </p:cNvPr>
            <p:cNvSpPr/>
            <p:nvPr/>
          </p:nvSpPr>
          <p:spPr>
            <a:xfrm>
              <a:off x="6897971" y="6003700"/>
              <a:ext cx="199865" cy="92653"/>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2" name="Group 61">
              <a:extLst>
                <a:ext uri="{FF2B5EF4-FFF2-40B4-BE49-F238E27FC236}">
                  <a16:creationId xmlns:a16="http://schemas.microsoft.com/office/drawing/2014/main" id="{9A977966-B4CA-3B7E-8BAB-0FC0AE2599DC}"/>
                </a:ext>
              </a:extLst>
            </p:cNvPr>
            <p:cNvGrpSpPr/>
            <p:nvPr/>
          </p:nvGrpSpPr>
          <p:grpSpPr>
            <a:xfrm>
              <a:off x="933771" y="635008"/>
              <a:ext cx="10640511" cy="6050605"/>
              <a:chOff x="559017" y="125343"/>
              <a:chExt cx="10640511" cy="6050605"/>
            </a:xfrm>
          </p:grpSpPr>
          <p:cxnSp>
            <p:nvCxnSpPr>
              <p:cNvPr id="5" name="Straight Connector 4">
                <a:extLst>
                  <a:ext uri="{FF2B5EF4-FFF2-40B4-BE49-F238E27FC236}">
                    <a16:creationId xmlns:a16="http://schemas.microsoft.com/office/drawing/2014/main" id="{55F270AC-BDE6-7001-6227-2EECED7909F9}"/>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E2CCE889-F22A-4C32-E088-015106E87640}"/>
                  </a:ext>
                </a:extLst>
              </p:cNvPr>
              <p:cNvCxnSpPr/>
              <p:nvPr/>
            </p:nvCxnSpPr>
            <p:spPr>
              <a:xfrm>
                <a:off x="2382327" y="477609"/>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E8A9DCB9-91BC-78C9-119B-C52ED58BEBF1}"/>
                  </a:ext>
                </a:extLst>
              </p:cNvPr>
              <p:cNvCxnSpPr/>
              <p:nvPr/>
            </p:nvCxnSpPr>
            <p:spPr>
              <a:xfrm>
                <a:off x="4038595" y="44885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27BCB5C1-79F4-0022-A69A-70F75405FCAA}"/>
                  </a:ext>
                </a:extLst>
              </p:cNvPr>
              <p:cNvCxnSpPr/>
              <p:nvPr/>
            </p:nvCxnSpPr>
            <p:spPr>
              <a:xfrm>
                <a:off x="5389323" y="44885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E395D4D4-5AA8-5443-6F6A-5CADAA30D86A}"/>
                  </a:ext>
                </a:extLst>
              </p:cNvPr>
              <p:cNvCxnSpPr/>
              <p:nvPr/>
            </p:nvCxnSpPr>
            <p:spPr>
              <a:xfrm>
                <a:off x="7044124" y="477608"/>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8BA8C8BF-EB76-1DB8-D8B7-AB248FCC7BF0}"/>
                  </a:ext>
                </a:extLst>
              </p:cNvPr>
              <p:cNvSpPr txBox="1"/>
              <p:nvPr/>
            </p:nvSpPr>
            <p:spPr>
              <a:xfrm>
                <a:off x="680801" y="125343"/>
                <a:ext cx="1304144" cy="338554"/>
              </a:xfrm>
              <a:prstGeom prst="rect">
                <a:avLst/>
              </a:prstGeom>
              <a:noFill/>
            </p:spPr>
            <p:txBody>
              <a:bodyPr wrap="square" rtlCol="0">
                <a:spAutoFit/>
              </a:bodyPr>
              <a:lstStyle/>
              <a:p>
                <a:r>
                  <a:rPr lang="en-GB" sz="1600" b="1" dirty="0"/>
                  <a:t>SoC</a:t>
                </a:r>
              </a:p>
            </p:txBody>
          </p:sp>
          <p:sp>
            <p:nvSpPr>
              <p:cNvPr id="11" name="TextBox 10">
                <a:extLst>
                  <a:ext uri="{FF2B5EF4-FFF2-40B4-BE49-F238E27FC236}">
                    <a16:creationId xmlns:a16="http://schemas.microsoft.com/office/drawing/2014/main" id="{5ABCDA6A-304D-10C9-2DCE-8A72A04889D7}"/>
                  </a:ext>
                </a:extLst>
              </p:cNvPr>
              <p:cNvSpPr txBox="1"/>
              <p:nvPr/>
            </p:nvSpPr>
            <p:spPr>
              <a:xfrm>
                <a:off x="1868599" y="132404"/>
                <a:ext cx="1753847" cy="338554"/>
              </a:xfrm>
              <a:prstGeom prst="rect">
                <a:avLst/>
              </a:prstGeom>
              <a:noFill/>
            </p:spPr>
            <p:txBody>
              <a:bodyPr wrap="square" rtlCol="0">
                <a:spAutoFit/>
              </a:bodyPr>
              <a:lstStyle/>
              <a:p>
                <a:r>
                  <a:rPr lang="en-GB" sz="1600" b="1" dirty="0"/>
                  <a:t>AXI Interface</a:t>
                </a:r>
              </a:p>
            </p:txBody>
          </p:sp>
          <p:sp>
            <p:nvSpPr>
              <p:cNvPr id="12" name="TextBox 11">
                <a:extLst>
                  <a:ext uri="{FF2B5EF4-FFF2-40B4-BE49-F238E27FC236}">
                    <a16:creationId xmlns:a16="http://schemas.microsoft.com/office/drawing/2014/main" id="{E517FB47-693A-C8B6-CE7A-8C26C9BF6A14}"/>
                  </a:ext>
                </a:extLst>
              </p:cNvPr>
              <p:cNvSpPr txBox="1"/>
              <p:nvPr/>
            </p:nvSpPr>
            <p:spPr>
              <a:xfrm>
                <a:off x="3525545" y="132988"/>
                <a:ext cx="1617252" cy="307777"/>
              </a:xfrm>
              <a:prstGeom prst="rect">
                <a:avLst/>
              </a:prstGeom>
              <a:noFill/>
            </p:spPr>
            <p:txBody>
              <a:bodyPr wrap="square" rtlCol="0">
                <a:spAutoFit/>
              </a:bodyPr>
              <a:lstStyle/>
              <a:p>
                <a:r>
                  <a:rPr lang="en-GB" sz="1400" b="1" dirty="0"/>
                  <a:t>SoC IFC Arbiter</a:t>
                </a:r>
              </a:p>
            </p:txBody>
          </p:sp>
          <p:sp>
            <p:nvSpPr>
              <p:cNvPr id="13" name="TextBox 12">
                <a:extLst>
                  <a:ext uri="{FF2B5EF4-FFF2-40B4-BE49-F238E27FC236}">
                    <a16:creationId xmlns:a16="http://schemas.microsoft.com/office/drawing/2014/main" id="{4E0B8060-9D8F-9BAA-B194-A0912CA58DF5}"/>
                  </a:ext>
                </a:extLst>
              </p:cNvPr>
              <p:cNvSpPr txBox="1"/>
              <p:nvPr/>
            </p:nvSpPr>
            <p:spPr>
              <a:xfrm>
                <a:off x="8161573" y="165940"/>
                <a:ext cx="1411403" cy="338554"/>
              </a:xfrm>
              <a:prstGeom prst="rect">
                <a:avLst/>
              </a:prstGeom>
              <a:noFill/>
            </p:spPr>
            <p:txBody>
              <a:bodyPr wrap="square" rtlCol="0">
                <a:spAutoFit/>
              </a:bodyPr>
              <a:lstStyle/>
              <a:p>
                <a:r>
                  <a:rPr lang="en-GB" sz="1600" b="1" dirty="0" err="1"/>
                  <a:t>VeeR</a:t>
                </a:r>
                <a:r>
                  <a:rPr lang="en-GB" sz="1600" b="1" dirty="0"/>
                  <a:t> EL2</a:t>
                </a:r>
              </a:p>
            </p:txBody>
          </p:sp>
          <p:sp>
            <p:nvSpPr>
              <p:cNvPr id="14" name="TextBox 13">
                <a:extLst>
                  <a:ext uri="{FF2B5EF4-FFF2-40B4-BE49-F238E27FC236}">
                    <a16:creationId xmlns:a16="http://schemas.microsoft.com/office/drawing/2014/main" id="{8CB72BEE-E34C-EC54-28DC-C577D505488D}"/>
                  </a:ext>
                </a:extLst>
              </p:cNvPr>
              <p:cNvSpPr txBox="1"/>
              <p:nvPr/>
            </p:nvSpPr>
            <p:spPr>
              <a:xfrm>
                <a:off x="9895384" y="149000"/>
                <a:ext cx="1304144" cy="338554"/>
              </a:xfrm>
              <a:prstGeom prst="rect">
                <a:avLst/>
              </a:prstGeom>
              <a:noFill/>
            </p:spPr>
            <p:txBody>
              <a:bodyPr wrap="square" rtlCol="0">
                <a:spAutoFit/>
              </a:bodyPr>
              <a:lstStyle/>
              <a:p>
                <a:r>
                  <a:rPr lang="en-GB" sz="1600" b="1" dirty="0"/>
                  <a:t>SHA 512</a:t>
                </a:r>
              </a:p>
            </p:txBody>
          </p:sp>
          <p:sp>
            <p:nvSpPr>
              <p:cNvPr id="15" name="TextBox 14">
                <a:extLst>
                  <a:ext uri="{FF2B5EF4-FFF2-40B4-BE49-F238E27FC236}">
                    <a16:creationId xmlns:a16="http://schemas.microsoft.com/office/drawing/2014/main" id="{DB3A36F1-9866-AE39-526C-E91B9E4FD6E9}"/>
                  </a:ext>
                </a:extLst>
              </p:cNvPr>
              <p:cNvSpPr txBox="1"/>
              <p:nvPr/>
            </p:nvSpPr>
            <p:spPr>
              <a:xfrm>
                <a:off x="6710084" y="133611"/>
                <a:ext cx="1304144" cy="338554"/>
              </a:xfrm>
              <a:prstGeom prst="rect">
                <a:avLst/>
              </a:prstGeom>
              <a:noFill/>
            </p:spPr>
            <p:txBody>
              <a:bodyPr wrap="square" rtlCol="0">
                <a:spAutoFit/>
              </a:bodyPr>
              <a:lstStyle/>
              <a:p>
                <a:r>
                  <a:rPr lang="en-GB" sz="1600" b="1" dirty="0"/>
                  <a:t>Mailbox</a:t>
                </a:r>
              </a:p>
            </p:txBody>
          </p:sp>
          <p:cxnSp>
            <p:nvCxnSpPr>
              <p:cNvPr id="16" name="Straight Connector 15">
                <a:extLst>
                  <a:ext uri="{FF2B5EF4-FFF2-40B4-BE49-F238E27FC236}">
                    <a16:creationId xmlns:a16="http://schemas.microsoft.com/office/drawing/2014/main" id="{2335B547-5B62-7689-4F29-2D7EE25A1635}"/>
                  </a:ext>
                </a:extLst>
              </p:cNvPr>
              <p:cNvCxnSpPr/>
              <p:nvPr/>
            </p:nvCxnSpPr>
            <p:spPr>
              <a:xfrm>
                <a:off x="10348210"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6D15D76E-2E94-0399-19A5-F04E6BFABEF5}"/>
                  </a:ext>
                </a:extLst>
              </p:cNvPr>
              <p:cNvCxnSpPr>
                <a:cxnSpLocks/>
              </p:cNvCxnSpPr>
              <p:nvPr/>
            </p:nvCxnSpPr>
            <p:spPr>
              <a:xfrm flipV="1">
                <a:off x="989351" y="845522"/>
                <a:ext cx="3040499" cy="21197"/>
              </a:xfrm>
              <a:prstGeom prst="straightConnector1">
                <a:avLst/>
              </a:prstGeom>
              <a:ln w="28575">
                <a:solidFill>
                  <a:schemeClr val="accent1"/>
                </a:solidFill>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23B35DE6-FE80-EDCB-9F9E-7AD8C7FDE7E3}"/>
                  </a:ext>
                </a:extLst>
              </p:cNvPr>
              <p:cNvSpPr txBox="1"/>
              <p:nvPr/>
            </p:nvSpPr>
            <p:spPr>
              <a:xfrm>
                <a:off x="1696015" y="523580"/>
                <a:ext cx="1966213" cy="369332"/>
              </a:xfrm>
              <a:prstGeom prst="rect">
                <a:avLst/>
              </a:prstGeom>
              <a:noFill/>
            </p:spPr>
            <p:txBody>
              <a:bodyPr wrap="square" rtlCol="0">
                <a:spAutoFit/>
              </a:bodyPr>
              <a:lstStyle/>
              <a:p>
                <a:r>
                  <a:rPr lang="en-GB" dirty="0" err="1">
                    <a:solidFill>
                      <a:schemeClr val="accent1"/>
                    </a:solidFill>
                  </a:rPr>
                  <a:t>cptra_pwrgood</a:t>
                </a:r>
                <a:endParaRPr lang="en-GB" dirty="0">
                  <a:solidFill>
                    <a:schemeClr val="accent1"/>
                  </a:solidFill>
                </a:endParaRPr>
              </a:p>
            </p:txBody>
          </p:sp>
          <p:sp>
            <p:nvSpPr>
              <p:cNvPr id="22" name="TextBox 21">
                <a:extLst>
                  <a:ext uri="{FF2B5EF4-FFF2-40B4-BE49-F238E27FC236}">
                    <a16:creationId xmlns:a16="http://schemas.microsoft.com/office/drawing/2014/main" id="{D6456357-96EA-3D42-4100-7C5EBECDF989}"/>
                  </a:ext>
                </a:extLst>
              </p:cNvPr>
              <p:cNvSpPr txBox="1"/>
              <p:nvPr/>
            </p:nvSpPr>
            <p:spPr>
              <a:xfrm>
                <a:off x="1136531" y="864278"/>
                <a:ext cx="2557067" cy="369332"/>
              </a:xfrm>
              <a:prstGeom prst="rect">
                <a:avLst/>
              </a:prstGeom>
              <a:noFill/>
            </p:spPr>
            <p:txBody>
              <a:bodyPr wrap="square" rtlCol="0">
                <a:spAutoFit/>
              </a:bodyPr>
              <a:lstStyle/>
              <a:p>
                <a:r>
                  <a:rPr lang="en-GB" dirty="0" err="1">
                    <a:solidFill>
                      <a:schemeClr val="accent1"/>
                    </a:solidFill>
                  </a:rPr>
                  <a:t>cptra_rst_b</a:t>
                </a:r>
                <a:r>
                  <a:rPr lang="en-GB" dirty="0">
                    <a:solidFill>
                      <a:schemeClr val="accent1"/>
                    </a:solidFill>
                  </a:rPr>
                  <a:t> (</a:t>
                </a:r>
                <a:r>
                  <a:rPr lang="en-GB" dirty="0" err="1">
                    <a:solidFill>
                      <a:schemeClr val="accent1"/>
                    </a:solidFill>
                  </a:rPr>
                  <a:t>deassert</a:t>
                </a:r>
                <a:r>
                  <a:rPr lang="en-GB" dirty="0">
                    <a:solidFill>
                      <a:schemeClr val="accent1"/>
                    </a:solidFill>
                  </a:rPr>
                  <a:t>)</a:t>
                </a:r>
              </a:p>
            </p:txBody>
          </p:sp>
          <p:cxnSp>
            <p:nvCxnSpPr>
              <p:cNvPr id="23" name="Straight Arrow Connector 22">
                <a:extLst>
                  <a:ext uri="{FF2B5EF4-FFF2-40B4-BE49-F238E27FC236}">
                    <a16:creationId xmlns:a16="http://schemas.microsoft.com/office/drawing/2014/main" id="{597E9F5F-3957-C7A0-3200-032626A18077}"/>
                  </a:ext>
                </a:extLst>
              </p:cNvPr>
              <p:cNvCxnSpPr>
                <a:cxnSpLocks/>
              </p:cNvCxnSpPr>
              <p:nvPr/>
            </p:nvCxnSpPr>
            <p:spPr>
              <a:xfrm flipV="1">
                <a:off x="975612" y="1169020"/>
                <a:ext cx="3054238" cy="49968"/>
              </a:xfrm>
              <a:prstGeom prst="straightConnector1">
                <a:avLst/>
              </a:prstGeom>
              <a:ln w="28575">
                <a:solidFill>
                  <a:schemeClr val="accent1"/>
                </a:solidFill>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A8191C96-73F6-9965-CA3B-40F906725A08}"/>
                  </a:ext>
                </a:extLst>
              </p:cNvPr>
              <p:cNvSpPr txBox="1"/>
              <p:nvPr/>
            </p:nvSpPr>
            <p:spPr>
              <a:xfrm>
                <a:off x="4878038" y="1221060"/>
                <a:ext cx="1467788" cy="369332"/>
              </a:xfrm>
              <a:prstGeom prst="rect">
                <a:avLst/>
              </a:prstGeom>
              <a:noFill/>
            </p:spPr>
            <p:txBody>
              <a:bodyPr wrap="square" rtlCol="0">
                <a:spAutoFit/>
              </a:bodyPr>
              <a:lstStyle/>
              <a:p>
                <a:r>
                  <a:rPr lang="en-GB" b="1">
                    <a:solidFill>
                      <a:schemeClr val="accent2">
                        <a:lumMod val="75000"/>
                      </a:schemeClr>
                    </a:solidFill>
                  </a:rPr>
                  <a:t>BOOT_IDLE</a:t>
                </a:r>
              </a:p>
            </p:txBody>
          </p:sp>
          <p:sp>
            <p:nvSpPr>
              <p:cNvPr id="31" name="TextBox 30">
                <a:extLst>
                  <a:ext uri="{FF2B5EF4-FFF2-40B4-BE49-F238E27FC236}">
                    <a16:creationId xmlns:a16="http://schemas.microsoft.com/office/drawing/2014/main" id="{5B799EE3-43CC-6E7D-8E5F-999DD6FEEC43}"/>
                  </a:ext>
                </a:extLst>
              </p:cNvPr>
              <p:cNvSpPr txBox="1"/>
              <p:nvPr/>
            </p:nvSpPr>
            <p:spPr>
              <a:xfrm>
                <a:off x="2828135" y="1411815"/>
                <a:ext cx="1896267" cy="369332"/>
              </a:xfrm>
              <a:prstGeom prst="rect">
                <a:avLst/>
              </a:prstGeom>
              <a:noFill/>
            </p:spPr>
            <p:txBody>
              <a:bodyPr wrap="square" rtlCol="0">
                <a:spAutoFit/>
              </a:bodyPr>
              <a:lstStyle/>
              <a:p>
                <a:r>
                  <a:rPr lang="en-GB" err="1">
                    <a:solidFill>
                      <a:schemeClr val="accent2">
                        <a:lumMod val="75000"/>
                      </a:schemeClr>
                    </a:solidFill>
                  </a:rPr>
                  <a:t>ready_for_fuses</a:t>
                </a:r>
                <a:endParaRPr lang="en-GB">
                  <a:solidFill>
                    <a:schemeClr val="accent2">
                      <a:lumMod val="75000"/>
                    </a:schemeClr>
                  </a:solidFill>
                </a:endParaRPr>
              </a:p>
            </p:txBody>
          </p:sp>
          <p:sp>
            <p:nvSpPr>
              <p:cNvPr id="32" name="TextBox 31">
                <a:extLst>
                  <a:ext uri="{FF2B5EF4-FFF2-40B4-BE49-F238E27FC236}">
                    <a16:creationId xmlns:a16="http://schemas.microsoft.com/office/drawing/2014/main" id="{8CF2C401-B999-0694-D3E7-419B2FB996A5}"/>
                  </a:ext>
                </a:extLst>
              </p:cNvPr>
              <p:cNvSpPr txBox="1"/>
              <p:nvPr/>
            </p:nvSpPr>
            <p:spPr>
              <a:xfrm>
                <a:off x="890992" y="1795100"/>
                <a:ext cx="2557067" cy="369332"/>
              </a:xfrm>
              <a:prstGeom prst="rect">
                <a:avLst/>
              </a:prstGeom>
              <a:noFill/>
            </p:spPr>
            <p:txBody>
              <a:bodyPr wrap="square" rtlCol="0">
                <a:spAutoFit/>
              </a:bodyPr>
              <a:lstStyle/>
              <a:p>
                <a:r>
                  <a:rPr lang="en-GB" err="1">
                    <a:solidFill>
                      <a:schemeClr val="accent2">
                        <a:lumMod val="75000"/>
                      </a:schemeClr>
                    </a:solidFill>
                  </a:rPr>
                  <a:t>fuse_req_interrupt</a:t>
                </a:r>
                <a:endParaRPr lang="en-GB">
                  <a:solidFill>
                    <a:schemeClr val="accent2">
                      <a:lumMod val="75000"/>
                    </a:schemeClr>
                  </a:solidFill>
                </a:endParaRPr>
              </a:p>
            </p:txBody>
          </p:sp>
          <p:cxnSp>
            <p:nvCxnSpPr>
              <p:cNvPr id="33" name="Straight Arrow Connector 32">
                <a:extLst>
                  <a:ext uri="{FF2B5EF4-FFF2-40B4-BE49-F238E27FC236}">
                    <a16:creationId xmlns:a16="http://schemas.microsoft.com/office/drawing/2014/main" id="{28DAC742-4545-3505-8707-6573F0D2FFB3}"/>
                  </a:ext>
                </a:extLst>
              </p:cNvPr>
              <p:cNvCxnSpPr>
                <a:cxnSpLocks/>
              </p:cNvCxnSpPr>
              <p:nvPr/>
            </p:nvCxnSpPr>
            <p:spPr>
              <a:xfrm flipH="1">
                <a:off x="975612" y="2155023"/>
                <a:ext cx="1830048" cy="0"/>
              </a:xfrm>
              <a:prstGeom prst="straightConnector1">
                <a:avLst/>
              </a:prstGeom>
              <a:ln w="28575">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4EAB3067-6602-EBD8-01DE-C567DB423458}"/>
                  </a:ext>
                </a:extLst>
              </p:cNvPr>
              <p:cNvCxnSpPr>
                <a:cxnSpLocks/>
              </p:cNvCxnSpPr>
              <p:nvPr/>
            </p:nvCxnSpPr>
            <p:spPr>
              <a:xfrm>
                <a:off x="989351" y="2552262"/>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38" name="TextBox 37">
                <a:extLst>
                  <a:ext uri="{FF2B5EF4-FFF2-40B4-BE49-F238E27FC236}">
                    <a16:creationId xmlns:a16="http://schemas.microsoft.com/office/drawing/2014/main" id="{EF52B550-F8FF-13AB-CA62-F8E2380F67C9}"/>
                  </a:ext>
                </a:extLst>
              </p:cNvPr>
              <p:cNvSpPr txBox="1"/>
              <p:nvPr/>
            </p:nvSpPr>
            <p:spPr>
              <a:xfrm>
                <a:off x="885990" y="2164432"/>
                <a:ext cx="2557067" cy="369332"/>
              </a:xfrm>
              <a:prstGeom prst="rect">
                <a:avLst/>
              </a:prstGeom>
              <a:noFill/>
            </p:spPr>
            <p:txBody>
              <a:bodyPr wrap="square" rtlCol="0">
                <a:spAutoFit/>
              </a:bodyPr>
              <a:lstStyle/>
              <a:p>
                <a:r>
                  <a:rPr lang="en-GB">
                    <a:solidFill>
                      <a:schemeClr val="accent3">
                        <a:lumMod val="75000"/>
                      </a:schemeClr>
                    </a:solidFill>
                  </a:rPr>
                  <a:t>AXI write: </a:t>
                </a:r>
                <a:r>
                  <a:rPr lang="en-GB" err="1">
                    <a:solidFill>
                      <a:schemeClr val="accent3">
                        <a:lumMod val="75000"/>
                      </a:schemeClr>
                    </a:solidFill>
                  </a:rPr>
                  <a:t>fuse_uds</a:t>
                </a:r>
                <a:endParaRPr lang="en-GB">
                  <a:solidFill>
                    <a:schemeClr val="accent3">
                      <a:lumMod val="75000"/>
                    </a:schemeClr>
                  </a:solidFill>
                </a:endParaRPr>
              </a:p>
            </p:txBody>
          </p:sp>
          <p:sp>
            <p:nvSpPr>
              <p:cNvPr id="39" name="TextBox 38">
                <a:extLst>
                  <a:ext uri="{FF2B5EF4-FFF2-40B4-BE49-F238E27FC236}">
                    <a16:creationId xmlns:a16="http://schemas.microsoft.com/office/drawing/2014/main" id="{9C9E4BEF-9182-0A25-FF13-9A5DC979585B}"/>
                  </a:ext>
                </a:extLst>
              </p:cNvPr>
              <p:cNvSpPr txBox="1"/>
              <p:nvPr/>
            </p:nvSpPr>
            <p:spPr>
              <a:xfrm>
                <a:off x="559017" y="2580169"/>
                <a:ext cx="3521429" cy="369332"/>
              </a:xfrm>
              <a:prstGeom prst="rect">
                <a:avLst/>
              </a:prstGeom>
              <a:noFill/>
            </p:spPr>
            <p:txBody>
              <a:bodyPr wrap="square" rtlCol="0">
                <a:spAutoFit/>
              </a:bodyPr>
              <a:lstStyle/>
              <a:p>
                <a:r>
                  <a:rPr lang="en-GB">
                    <a:solidFill>
                      <a:schemeClr val="accent3">
                        <a:lumMod val="75000"/>
                      </a:schemeClr>
                    </a:solidFill>
                  </a:rPr>
                  <a:t>AXI write: </a:t>
                </a:r>
                <a:r>
                  <a:rPr lang="en-GB" err="1">
                    <a:solidFill>
                      <a:schemeClr val="accent3">
                        <a:lumMod val="75000"/>
                      </a:schemeClr>
                    </a:solidFill>
                  </a:rPr>
                  <a:t>fuse_field_entropy</a:t>
                </a:r>
                <a:endParaRPr lang="en-GB">
                  <a:solidFill>
                    <a:schemeClr val="accent3">
                      <a:lumMod val="75000"/>
                    </a:schemeClr>
                  </a:solidFill>
                </a:endParaRPr>
              </a:p>
            </p:txBody>
          </p:sp>
          <p:cxnSp>
            <p:nvCxnSpPr>
              <p:cNvPr id="40" name="Straight Arrow Connector 39">
                <a:extLst>
                  <a:ext uri="{FF2B5EF4-FFF2-40B4-BE49-F238E27FC236}">
                    <a16:creationId xmlns:a16="http://schemas.microsoft.com/office/drawing/2014/main" id="{41C9E9A1-18BA-D0B8-B82A-CFC40D9C2233}"/>
                  </a:ext>
                </a:extLst>
              </p:cNvPr>
              <p:cNvCxnSpPr>
                <a:cxnSpLocks/>
              </p:cNvCxnSpPr>
              <p:nvPr/>
            </p:nvCxnSpPr>
            <p:spPr>
              <a:xfrm>
                <a:off x="1011826" y="2959495"/>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42763807-4AAC-5DE8-6B09-67AE4B5F78D4}"/>
                  </a:ext>
                </a:extLst>
              </p:cNvPr>
              <p:cNvCxnSpPr>
                <a:cxnSpLocks/>
              </p:cNvCxnSpPr>
              <p:nvPr/>
            </p:nvCxnSpPr>
            <p:spPr>
              <a:xfrm>
                <a:off x="975612" y="3429000"/>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2" name="TextBox 41">
                <a:extLst>
                  <a:ext uri="{FF2B5EF4-FFF2-40B4-BE49-F238E27FC236}">
                    <a16:creationId xmlns:a16="http://schemas.microsoft.com/office/drawing/2014/main" id="{E040A00C-9447-EAE4-5895-E0050D4C1583}"/>
                  </a:ext>
                </a:extLst>
              </p:cNvPr>
              <p:cNvSpPr txBox="1"/>
              <p:nvPr/>
            </p:nvSpPr>
            <p:spPr>
              <a:xfrm>
                <a:off x="622724" y="3029023"/>
                <a:ext cx="3242868" cy="369332"/>
              </a:xfrm>
              <a:prstGeom prst="rect">
                <a:avLst/>
              </a:prstGeom>
              <a:noFill/>
            </p:spPr>
            <p:txBody>
              <a:bodyPr wrap="square" rtlCol="0">
                <a:spAutoFit/>
              </a:bodyPr>
              <a:lstStyle/>
              <a:p>
                <a:r>
                  <a:rPr lang="en-GB">
                    <a:solidFill>
                      <a:schemeClr val="accent3">
                        <a:lumMod val="75000"/>
                      </a:schemeClr>
                    </a:solidFill>
                  </a:rPr>
                  <a:t>AXI write: </a:t>
                </a:r>
                <a:r>
                  <a:rPr lang="en-GB" err="1">
                    <a:solidFill>
                      <a:schemeClr val="accent3">
                        <a:lumMod val="75000"/>
                      </a:schemeClr>
                    </a:solidFill>
                  </a:rPr>
                  <a:t>fuse_done</a:t>
                </a:r>
                <a:r>
                  <a:rPr lang="en-GB">
                    <a:solidFill>
                      <a:schemeClr val="accent3">
                        <a:lumMod val="75000"/>
                      </a:schemeClr>
                    </a:solidFill>
                  </a:rPr>
                  <a:t> = 1</a:t>
                </a:r>
              </a:p>
            </p:txBody>
          </p:sp>
          <p:cxnSp>
            <p:nvCxnSpPr>
              <p:cNvPr id="43" name="Straight Arrow Connector 42">
                <a:extLst>
                  <a:ext uri="{FF2B5EF4-FFF2-40B4-BE49-F238E27FC236}">
                    <a16:creationId xmlns:a16="http://schemas.microsoft.com/office/drawing/2014/main" id="{2E3DECD8-34C8-464A-54C4-C7F97D8A96C5}"/>
                  </a:ext>
                </a:extLst>
              </p:cNvPr>
              <p:cNvCxnSpPr>
                <a:cxnSpLocks/>
              </p:cNvCxnSpPr>
              <p:nvPr/>
            </p:nvCxnSpPr>
            <p:spPr>
              <a:xfrm>
                <a:off x="2791921" y="3731302"/>
                <a:ext cx="2004315"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77301137-8609-F56E-E7E5-88CF89F493D4}"/>
                  </a:ext>
                </a:extLst>
              </p:cNvPr>
              <p:cNvSpPr txBox="1"/>
              <p:nvPr/>
            </p:nvSpPr>
            <p:spPr>
              <a:xfrm>
                <a:off x="3031775" y="3398352"/>
                <a:ext cx="2557067" cy="369332"/>
              </a:xfrm>
              <a:prstGeom prst="rect">
                <a:avLst/>
              </a:prstGeom>
              <a:noFill/>
            </p:spPr>
            <p:txBody>
              <a:bodyPr wrap="square" rtlCol="0">
                <a:spAutoFit/>
              </a:bodyPr>
              <a:lstStyle/>
              <a:p>
                <a:r>
                  <a:rPr lang="en-GB" err="1">
                    <a:solidFill>
                      <a:schemeClr val="accent3">
                        <a:lumMod val="75000"/>
                      </a:schemeClr>
                    </a:solidFill>
                  </a:rPr>
                  <a:t>fuse_done</a:t>
                </a:r>
                <a:endParaRPr lang="en-GB">
                  <a:solidFill>
                    <a:schemeClr val="accent3">
                      <a:lumMod val="75000"/>
                    </a:schemeClr>
                  </a:solidFill>
                </a:endParaRPr>
              </a:p>
            </p:txBody>
          </p:sp>
          <p:sp>
            <p:nvSpPr>
              <p:cNvPr id="46" name="TextBox 45">
                <a:extLst>
                  <a:ext uri="{FF2B5EF4-FFF2-40B4-BE49-F238E27FC236}">
                    <a16:creationId xmlns:a16="http://schemas.microsoft.com/office/drawing/2014/main" id="{00CC5C28-6F8F-47F4-9A03-AF2256A795ED}"/>
                  </a:ext>
                </a:extLst>
              </p:cNvPr>
              <p:cNvSpPr txBox="1"/>
              <p:nvPr/>
            </p:nvSpPr>
            <p:spPr>
              <a:xfrm>
                <a:off x="4499556" y="3653554"/>
                <a:ext cx="3217882" cy="369332"/>
              </a:xfrm>
              <a:prstGeom prst="rect">
                <a:avLst/>
              </a:prstGeom>
              <a:noFill/>
            </p:spPr>
            <p:txBody>
              <a:bodyPr wrap="square" rtlCol="0">
                <a:spAutoFit/>
              </a:bodyPr>
              <a:lstStyle/>
              <a:p>
                <a:r>
                  <a:rPr lang="en-GB" err="1">
                    <a:solidFill>
                      <a:schemeClr val="accent4">
                        <a:lumMod val="50000"/>
                      </a:schemeClr>
                    </a:solidFill>
                  </a:rPr>
                  <a:t>cptra_uc_rst_b_deassert</a:t>
                </a:r>
                <a:endParaRPr lang="en-GB">
                  <a:solidFill>
                    <a:schemeClr val="accent4">
                      <a:lumMod val="50000"/>
                    </a:schemeClr>
                  </a:solidFill>
                </a:endParaRPr>
              </a:p>
            </p:txBody>
          </p:sp>
          <p:cxnSp>
            <p:nvCxnSpPr>
              <p:cNvPr id="47" name="Straight Arrow Connector 46">
                <a:extLst>
                  <a:ext uri="{FF2B5EF4-FFF2-40B4-BE49-F238E27FC236}">
                    <a16:creationId xmlns:a16="http://schemas.microsoft.com/office/drawing/2014/main" id="{58049173-AFCC-44D3-822F-BDB1BBE05DDC}"/>
                  </a:ext>
                </a:extLst>
              </p:cNvPr>
              <p:cNvCxnSpPr>
                <a:cxnSpLocks/>
              </p:cNvCxnSpPr>
              <p:nvPr/>
            </p:nvCxnSpPr>
            <p:spPr>
              <a:xfrm>
                <a:off x="4769371" y="4018614"/>
                <a:ext cx="1858781"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E829BF2C-632D-D7FC-4F4F-2D4C2E3182DC}"/>
                  </a:ext>
                </a:extLst>
              </p:cNvPr>
              <p:cNvSpPr txBox="1"/>
              <p:nvPr/>
            </p:nvSpPr>
            <p:spPr>
              <a:xfrm>
                <a:off x="6763689" y="4093422"/>
                <a:ext cx="1907497" cy="369332"/>
              </a:xfrm>
              <a:prstGeom prst="rect">
                <a:avLst/>
              </a:prstGeom>
              <a:noFill/>
            </p:spPr>
            <p:txBody>
              <a:bodyPr wrap="square" rtlCol="0">
                <a:spAutoFit/>
              </a:bodyPr>
              <a:lstStyle/>
              <a:p>
                <a:r>
                  <a:rPr lang="en-GB" b="1">
                    <a:solidFill>
                      <a:schemeClr val="accent4">
                        <a:lumMod val="50000"/>
                      </a:schemeClr>
                    </a:solidFill>
                  </a:rPr>
                  <a:t>ROM executes</a:t>
                </a:r>
              </a:p>
            </p:txBody>
          </p:sp>
          <p:sp>
            <p:nvSpPr>
              <p:cNvPr id="50" name="Oval 49">
                <a:extLst>
                  <a:ext uri="{FF2B5EF4-FFF2-40B4-BE49-F238E27FC236}">
                    <a16:creationId xmlns:a16="http://schemas.microsoft.com/office/drawing/2014/main" id="{98693FF0-61B5-2C86-BF10-1FAC9594C5B4}"/>
                  </a:ext>
                </a:extLst>
              </p:cNvPr>
              <p:cNvSpPr/>
              <p:nvPr/>
            </p:nvSpPr>
            <p:spPr>
              <a:xfrm>
                <a:off x="6533217" y="4215433"/>
                <a:ext cx="199865" cy="92653"/>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1" name="Straight Arrow Connector 50">
                <a:extLst>
                  <a:ext uri="{FF2B5EF4-FFF2-40B4-BE49-F238E27FC236}">
                    <a16:creationId xmlns:a16="http://schemas.microsoft.com/office/drawing/2014/main" id="{AA6A634E-E325-5298-BA18-3F5BD59B5898}"/>
                  </a:ext>
                </a:extLst>
              </p:cNvPr>
              <p:cNvCxnSpPr>
                <a:cxnSpLocks/>
              </p:cNvCxnSpPr>
              <p:nvPr/>
            </p:nvCxnSpPr>
            <p:spPr>
              <a:xfrm>
                <a:off x="6623150" y="4760813"/>
                <a:ext cx="3725060"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53" name="TextBox 52">
                <a:extLst>
                  <a:ext uri="{FF2B5EF4-FFF2-40B4-BE49-F238E27FC236}">
                    <a16:creationId xmlns:a16="http://schemas.microsoft.com/office/drawing/2014/main" id="{CA9D85F3-280F-702D-F6C3-D6A15F377F1D}"/>
                  </a:ext>
                </a:extLst>
              </p:cNvPr>
              <p:cNvSpPr txBox="1"/>
              <p:nvPr/>
            </p:nvSpPr>
            <p:spPr>
              <a:xfrm>
                <a:off x="6910479" y="4391482"/>
                <a:ext cx="3244121" cy="369332"/>
              </a:xfrm>
              <a:prstGeom prst="rect">
                <a:avLst/>
              </a:prstGeom>
              <a:noFill/>
            </p:spPr>
            <p:txBody>
              <a:bodyPr wrap="square" rtlCol="0">
                <a:spAutoFit/>
              </a:bodyPr>
              <a:lstStyle/>
              <a:p>
                <a:r>
                  <a:rPr lang="en-GB">
                    <a:solidFill>
                      <a:schemeClr val="accent4">
                        <a:lumMod val="50000"/>
                      </a:schemeClr>
                    </a:solidFill>
                  </a:rPr>
                  <a:t>AHB read: </a:t>
                </a:r>
                <a:r>
                  <a:rPr lang="en-GB" err="1">
                    <a:solidFill>
                      <a:schemeClr val="accent4">
                        <a:lumMod val="50000"/>
                      </a:schemeClr>
                    </a:solidFill>
                  </a:rPr>
                  <a:t>mailbox_SRAM</a:t>
                </a:r>
                <a:endParaRPr lang="en-GB">
                  <a:solidFill>
                    <a:schemeClr val="accent4">
                      <a:lumMod val="50000"/>
                    </a:schemeClr>
                  </a:solidFill>
                </a:endParaRPr>
              </a:p>
            </p:txBody>
          </p:sp>
          <p:cxnSp>
            <p:nvCxnSpPr>
              <p:cNvPr id="54" name="Straight Arrow Connector 53">
                <a:extLst>
                  <a:ext uri="{FF2B5EF4-FFF2-40B4-BE49-F238E27FC236}">
                    <a16:creationId xmlns:a16="http://schemas.microsoft.com/office/drawing/2014/main" id="{C179BCCB-3863-ECD4-A636-250617A906E9}"/>
                  </a:ext>
                </a:extLst>
              </p:cNvPr>
              <p:cNvCxnSpPr>
                <a:cxnSpLocks/>
              </p:cNvCxnSpPr>
              <p:nvPr/>
            </p:nvCxnSpPr>
            <p:spPr>
              <a:xfrm flipH="1">
                <a:off x="6616281" y="5155555"/>
                <a:ext cx="3731929" cy="0"/>
              </a:xfrm>
              <a:prstGeom prst="straightConnector1">
                <a:avLst/>
              </a:prstGeom>
              <a:ln w="28575">
                <a:solidFill>
                  <a:schemeClr val="accent4">
                    <a:lumMod val="75000"/>
                  </a:schemeClr>
                </a:solidFill>
                <a:prstDash val="sysDash"/>
                <a:tailEnd type="triangle"/>
              </a:ln>
            </p:spPr>
            <p:style>
              <a:lnRef idx="2">
                <a:schemeClr val="dk1"/>
              </a:lnRef>
              <a:fillRef idx="0">
                <a:schemeClr val="dk1"/>
              </a:fillRef>
              <a:effectRef idx="1">
                <a:schemeClr val="dk1"/>
              </a:effectRef>
              <a:fontRef idx="minor">
                <a:schemeClr val="tx1"/>
              </a:fontRef>
            </p:style>
          </p:cxnSp>
          <p:sp>
            <p:nvSpPr>
              <p:cNvPr id="56" name="TextBox 55">
                <a:extLst>
                  <a:ext uri="{FF2B5EF4-FFF2-40B4-BE49-F238E27FC236}">
                    <a16:creationId xmlns:a16="http://schemas.microsoft.com/office/drawing/2014/main" id="{1F182D4D-04B0-35C4-BF7C-4F4552B363A9}"/>
                  </a:ext>
                </a:extLst>
              </p:cNvPr>
              <p:cNvSpPr txBox="1"/>
              <p:nvPr/>
            </p:nvSpPr>
            <p:spPr>
              <a:xfrm>
                <a:off x="6945437" y="4786223"/>
                <a:ext cx="3021774" cy="369332"/>
              </a:xfrm>
              <a:prstGeom prst="rect">
                <a:avLst/>
              </a:prstGeom>
              <a:noFill/>
            </p:spPr>
            <p:txBody>
              <a:bodyPr wrap="square" rtlCol="0">
                <a:spAutoFit/>
              </a:bodyPr>
              <a:lstStyle/>
              <a:p>
                <a:r>
                  <a:rPr lang="en-GB" err="1">
                    <a:solidFill>
                      <a:schemeClr val="accent4">
                        <a:lumMod val="50000"/>
                      </a:schemeClr>
                    </a:solidFill>
                  </a:rPr>
                  <a:t>fw_data</a:t>
                </a:r>
                <a:r>
                  <a:rPr lang="en-GB">
                    <a:solidFill>
                      <a:schemeClr val="accent4">
                        <a:lumMod val="50000"/>
                      </a:schemeClr>
                    </a:solidFill>
                  </a:rPr>
                  <a:t>[31:0]</a:t>
                </a:r>
              </a:p>
            </p:txBody>
          </p:sp>
          <p:cxnSp>
            <p:nvCxnSpPr>
              <p:cNvPr id="58" name="Straight Arrow Connector 57">
                <a:extLst>
                  <a:ext uri="{FF2B5EF4-FFF2-40B4-BE49-F238E27FC236}">
                    <a16:creationId xmlns:a16="http://schemas.microsoft.com/office/drawing/2014/main" id="{B00FE72A-702B-01DF-396A-C3896454C4CF}"/>
                  </a:ext>
                </a:extLst>
              </p:cNvPr>
              <p:cNvCxnSpPr>
                <a:cxnSpLocks/>
              </p:cNvCxnSpPr>
              <p:nvPr/>
            </p:nvCxnSpPr>
            <p:spPr>
              <a:xfrm>
                <a:off x="7352979" y="5572546"/>
                <a:ext cx="364459"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60" name="TextBox 59">
                <a:extLst>
                  <a:ext uri="{FF2B5EF4-FFF2-40B4-BE49-F238E27FC236}">
                    <a16:creationId xmlns:a16="http://schemas.microsoft.com/office/drawing/2014/main" id="{A2C4833F-1D86-4C30-ECBE-7597768E90E0}"/>
                  </a:ext>
                </a:extLst>
              </p:cNvPr>
              <p:cNvSpPr txBox="1"/>
              <p:nvPr/>
            </p:nvSpPr>
            <p:spPr>
              <a:xfrm>
                <a:off x="6682494" y="5249380"/>
                <a:ext cx="723261" cy="923330"/>
              </a:xfrm>
              <a:prstGeom prst="rect">
                <a:avLst/>
              </a:prstGeom>
              <a:noFill/>
            </p:spPr>
            <p:txBody>
              <a:bodyPr wrap="square" rtlCol="0">
                <a:spAutoFit/>
              </a:bodyPr>
              <a:lstStyle/>
              <a:p>
                <a:r>
                  <a:rPr lang="en-GB">
                    <a:solidFill>
                      <a:schemeClr val="accent4">
                        <a:lumMod val="50000"/>
                      </a:schemeClr>
                    </a:solidFill>
                  </a:rPr>
                  <a:t>FW loaded</a:t>
                </a:r>
              </a:p>
            </p:txBody>
          </p:sp>
          <p:sp>
            <p:nvSpPr>
              <p:cNvPr id="61" name="TextBox 60">
                <a:extLst>
                  <a:ext uri="{FF2B5EF4-FFF2-40B4-BE49-F238E27FC236}">
                    <a16:creationId xmlns:a16="http://schemas.microsoft.com/office/drawing/2014/main" id="{95E67671-A8CC-F10D-7F03-5AD4C7D9F7FF}"/>
                  </a:ext>
                </a:extLst>
              </p:cNvPr>
              <p:cNvSpPr txBox="1"/>
              <p:nvPr/>
            </p:nvSpPr>
            <p:spPr>
              <a:xfrm>
                <a:off x="7754292" y="5387880"/>
                <a:ext cx="918146" cy="369332"/>
              </a:xfrm>
              <a:prstGeom prst="rect">
                <a:avLst/>
              </a:prstGeom>
              <a:noFill/>
            </p:spPr>
            <p:txBody>
              <a:bodyPr wrap="square" rtlCol="0">
                <a:spAutoFit/>
              </a:bodyPr>
              <a:lstStyle/>
              <a:p>
                <a:r>
                  <a:rPr lang="en-GB">
                    <a:solidFill>
                      <a:schemeClr val="accent4">
                        <a:lumMod val="50000"/>
                      </a:schemeClr>
                    </a:solidFill>
                  </a:rPr>
                  <a:t>ICCM</a:t>
                </a:r>
              </a:p>
            </p:txBody>
          </p:sp>
        </p:grpSp>
      </p:grpSp>
      <p:sp>
        <p:nvSpPr>
          <p:cNvPr id="64" name="Title 1">
            <a:extLst>
              <a:ext uri="{FF2B5EF4-FFF2-40B4-BE49-F238E27FC236}">
                <a16:creationId xmlns:a16="http://schemas.microsoft.com/office/drawing/2014/main" id="{26854239-6DEE-8873-66FB-7BCE63704163}"/>
              </a:ext>
            </a:extLst>
          </p:cNvPr>
          <p:cNvSpPr>
            <a:spLocks noGrp="1"/>
          </p:cNvSpPr>
          <p:nvPr>
            <p:ph type="title"/>
          </p:nvPr>
        </p:nvSpPr>
        <p:spPr>
          <a:xfrm>
            <a:off x="0" y="0"/>
            <a:ext cx="12192000" cy="413880"/>
          </a:xfrm>
          <a:solidFill>
            <a:schemeClr val="accent6">
              <a:lumMod val="60000"/>
              <a:lumOff val="40000"/>
            </a:schemeClr>
          </a:solidFill>
        </p:spPr>
        <p:txBody>
          <a:bodyPr>
            <a:noAutofit/>
          </a:bodyPr>
          <a:lstStyle/>
          <a:p>
            <a:pPr algn="ctr"/>
            <a:r>
              <a:rPr lang="en-GB" sz="3200" dirty="0"/>
              <a:t>Phase 1-4: power on/boot fsm/fuse programming/firmware load</a:t>
            </a:r>
          </a:p>
        </p:txBody>
      </p:sp>
      <p:cxnSp>
        <p:nvCxnSpPr>
          <p:cNvPr id="3" name="Straight Connector 2">
            <a:extLst>
              <a:ext uri="{FF2B5EF4-FFF2-40B4-BE49-F238E27FC236}">
                <a16:creationId xmlns:a16="http://schemas.microsoft.com/office/drawing/2014/main" id="{8F36145B-2145-B206-C236-5FE560969864}"/>
              </a:ext>
            </a:extLst>
          </p:cNvPr>
          <p:cNvCxnSpPr/>
          <p:nvPr/>
        </p:nvCxnSpPr>
        <p:spPr>
          <a:xfrm>
            <a:off x="11333357" y="769791"/>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4" name="Straight Connector 3">
            <a:extLst>
              <a:ext uri="{FF2B5EF4-FFF2-40B4-BE49-F238E27FC236}">
                <a16:creationId xmlns:a16="http://schemas.microsoft.com/office/drawing/2014/main" id="{62B7E102-BA3A-AF63-CD28-3224F9B88F1C}"/>
              </a:ext>
            </a:extLst>
          </p:cNvPr>
          <p:cNvCxnSpPr/>
          <p:nvPr/>
        </p:nvCxnSpPr>
        <p:spPr>
          <a:xfrm>
            <a:off x="8118376" y="766440"/>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8733A112-F497-FD97-FC65-922C7A4B1534}"/>
              </a:ext>
            </a:extLst>
          </p:cNvPr>
          <p:cNvSpPr txBox="1"/>
          <p:nvPr/>
        </p:nvSpPr>
        <p:spPr>
          <a:xfrm>
            <a:off x="4405817" y="420769"/>
            <a:ext cx="1790170" cy="338554"/>
          </a:xfrm>
          <a:prstGeom prst="rect">
            <a:avLst/>
          </a:prstGeom>
          <a:noFill/>
        </p:spPr>
        <p:txBody>
          <a:bodyPr wrap="none" rtlCol="0">
            <a:spAutoFit/>
          </a:bodyPr>
          <a:lstStyle/>
          <a:p>
            <a:r>
              <a:rPr lang="en-IN" sz="1600" b="1" dirty="0"/>
              <a:t>Address Decoder</a:t>
            </a:r>
          </a:p>
        </p:txBody>
      </p:sp>
      <p:sp>
        <p:nvSpPr>
          <p:cNvPr id="19" name="TextBox 18">
            <a:extLst>
              <a:ext uri="{FF2B5EF4-FFF2-40B4-BE49-F238E27FC236}">
                <a16:creationId xmlns:a16="http://schemas.microsoft.com/office/drawing/2014/main" id="{A4288E1D-4DD7-EB18-328A-5BF7A14986EB}"/>
              </a:ext>
            </a:extLst>
          </p:cNvPr>
          <p:cNvSpPr txBox="1"/>
          <p:nvPr/>
        </p:nvSpPr>
        <p:spPr>
          <a:xfrm>
            <a:off x="10901322" y="455776"/>
            <a:ext cx="625492" cy="338554"/>
          </a:xfrm>
          <a:prstGeom prst="rect">
            <a:avLst/>
          </a:prstGeom>
          <a:noFill/>
        </p:spPr>
        <p:txBody>
          <a:bodyPr wrap="none" rtlCol="0">
            <a:spAutoFit/>
          </a:bodyPr>
          <a:lstStyle/>
          <a:p>
            <a:r>
              <a:rPr lang="en-IN" sz="1600" b="1" dirty="0"/>
              <a:t>DMA</a:t>
            </a:r>
          </a:p>
        </p:txBody>
      </p:sp>
    </p:spTree>
    <p:extLst>
      <p:ext uri="{BB962C8B-B14F-4D97-AF65-F5344CB8AC3E}">
        <p14:creationId xmlns:p14="http://schemas.microsoft.com/office/powerpoint/2010/main" val="16914178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2F3B7-7C92-0867-65CB-D70412CC54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81319C-A4E3-355C-08F0-CC2A989B2CF0}"/>
              </a:ext>
            </a:extLst>
          </p:cNvPr>
          <p:cNvSpPr>
            <a:spLocks noGrp="1"/>
          </p:cNvSpPr>
          <p:nvPr>
            <p:ph idx="1"/>
          </p:nvPr>
        </p:nvSpPr>
        <p:spPr>
          <a:xfrm>
            <a:off x="521898" y="1250531"/>
            <a:ext cx="10515600" cy="4351338"/>
          </a:xfrm>
        </p:spPr>
        <p:txBody>
          <a:bodyPr vert="horz" lIns="91440" tIns="45720" rIns="91440" bIns="45720" rtlCol="0" anchor="t">
            <a:normAutofit/>
          </a:bodyPr>
          <a:lstStyle/>
          <a:p>
            <a:r>
              <a:rPr lang="en-US" dirty="0">
                <a:latin typeface="Calibri" panose="020F0502020204030204" pitchFamily="34" charset="0"/>
                <a:ea typeface="Calibri" panose="020F0502020204030204" pitchFamily="34" charset="0"/>
                <a:cs typeface="Calibri" panose="020F0502020204030204" pitchFamily="34" charset="0"/>
              </a:rPr>
              <a:t>Register Interfaces In SoC Interface</a:t>
            </a:r>
          </a:p>
          <a:p>
            <a:r>
              <a:rPr lang="en-US" dirty="0">
                <a:latin typeface="Calibri" panose="020F0502020204030204" pitchFamily="34" charset="0"/>
                <a:ea typeface="Calibri" panose="020F0502020204030204" pitchFamily="34" charset="0"/>
                <a:cs typeface="Calibri" panose="020F0502020204030204" pitchFamily="34" charset="0"/>
              </a:rPr>
              <a:t>Sequence Flow In SoC Interface.</a:t>
            </a:r>
          </a:p>
          <a:p>
            <a:r>
              <a:rPr lang="en-US" dirty="0">
                <a:latin typeface="Calibri" panose="020F0502020204030204" pitchFamily="34" charset="0"/>
                <a:ea typeface="Calibri" panose="020F0502020204030204" pitchFamily="34" charset="0"/>
                <a:cs typeface="Calibri" panose="020F0502020204030204" pitchFamily="34" charset="0"/>
              </a:rPr>
              <a:t>Introduction</a:t>
            </a:r>
          </a:p>
          <a:p>
            <a:r>
              <a:rPr lang="en-US" dirty="0">
                <a:latin typeface="Calibri" panose="020F0502020204030204" pitchFamily="34" charset="0"/>
                <a:ea typeface="Calibri" panose="020F0502020204030204" pitchFamily="34" charset="0"/>
                <a:cs typeface="Calibri" panose="020F0502020204030204" pitchFamily="34" charset="0"/>
              </a:rPr>
              <a:t>Gray Code Encoding In AHB Lite Interface</a:t>
            </a:r>
          </a:p>
          <a:p>
            <a:r>
              <a:rPr lang="en-US" dirty="0">
                <a:latin typeface="Calibri" panose="020F0502020204030204" pitchFamily="34" charset="0"/>
                <a:ea typeface="Calibri" panose="020F0502020204030204" pitchFamily="34" charset="0"/>
                <a:cs typeface="Calibri" panose="020F0502020204030204" pitchFamily="34" charset="0"/>
              </a:rPr>
              <a:t>Bus Inversion Encoding and Decoding In AHB Lite Interface</a:t>
            </a:r>
          </a:p>
          <a:p>
            <a:r>
              <a:rPr lang="en-US" dirty="0">
                <a:latin typeface="Calibri" panose="020F0502020204030204" pitchFamily="34" charset="0"/>
                <a:ea typeface="Calibri" panose="020F0502020204030204" pitchFamily="34" charset="0"/>
                <a:cs typeface="Calibri" panose="020F0502020204030204" pitchFamily="34" charset="0"/>
              </a:rPr>
              <a:t>Gray Code Encoding In AXI4 to AHB bridge</a:t>
            </a:r>
          </a:p>
          <a:p>
            <a:r>
              <a:rPr lang="en-US" dirty="0">
                <a:latin typeface="Calibri" panose="020F0502020204030204" pitchFamily="34" charset="0"/>
                <a:ea typeface="Calibri" panose="020F0502020204030204" pitchFamily="34" charset="0"/>
                <a:cs typeface="Calibri" panose="020F0502020204030204" pitchFamily="34" charset="0"/>
              </a:rPr>
              <a:t>Bus Inversion Encoding and Decoding In AXI4 to AHB bridge</a:t>
            </a:r>
          </a:p>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2C7B8CF8-DA49-6DB7-4098-5E7464F8362D}"/>
              </a:ext>
            </a:extLst>
          </p:cNvPr>
          <p:cNvSpPr>
            <a:spLocks noGrp="1"/>
          </p:cNvSpPr>
          <p:nvPr>
            <p:ph type="title"/>
          </p:nvPr>
        </p:nvSpPr>
        <p:spPr>
          <a:xfrm>
            <a:off x="0" y="1"/>
            <a:ext cx="12192000" cy="634999"/>
          </a:xfrm>
          <a:solidFill>
            <a:schemeClr val="accent6"/>
          </a:solidFill>
        </p:spPr>
        <p:txBody>
          <a:bodyPr>
            <a:normAutofit/>
          </a:bodyPr>
          <a:lstStyle/>
          <a:p>
            <a:pPr algn="ctr"/>
            <a:r>
              <a:rPr lang="en-US" sz="3200">
                <a:latin typeface="Calibri" panose="020F0502020204030204" pitchFamily="34" charset="0"/>
                <a:ea typeface="Calibri" panose="020F0502020204030204" pitchFamily="34" charset="0"/>
                <a:cs typeface="Calibri" panose="020F0502020204030204" pitchFamily="34" charset="0"/>
              </a:rPr>
              <a:t>CONTENTS</a:t>
            </a:r>
          </a:p>
        </p:txBody>
      </p:sp>
      <p:sp>
        <p:nvSpPr>
          <p:cNvPr id="2" name="Slide Number Placeholder 1">
            <a:extLst>
              <a:ext uri="{FF2B5EF4-FFF2-40B4-BE49-F238E27FC236}">
                <a16:creationId xmlns:a16="http://schemas.microsoft.com/office/drawing/2014/main" id="{355AC921-D626-EEAB-BD01-1AAC8FDB8A3A}"/>
              </a:ext>
            </a:extLst>
          </p:cNvPr>
          <p:cNvSpPr>
            <a:spLocks noGrp="1"/>
          </p:cNvSpPr>
          <p:nvPr>
            <p:ph type="sldNum" sz="quarter" idx="12"/>
          </p:nvPr>
        </p:nvSpPr>
        <p:spPr/>
        <p:txBody>
          <a:bodyPr/>
          <a:lstStyle/>
          <a:p>
            <a:fld id="{330EA680-D336-4FF7-8B7A-9848BB0A1C32}" type="slidenum">
              <a:rPr lang="en-US" smtClean="0"/>
              <a:t>60</a:t>
            </a:fld>
            <a:endParaRPr lang="en-US"/>
          </a:p>
        </p:txBody>
      </p:sp>
    </p:spTree>
    <p:extLst>
      <p:ext uri="{BB962C8B-B14F-4D97-AF65-F5344CB8AC3E}">
        <p14:creationId xmlns:p14="http://schemas.microsoft.com/office/powerpoint/2010/main" val="42619509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6B528-1D99-AD66-3004-C68668904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025AE-A7AF-B9EA-3640-D4B671ECD09F}"/>
              </a:ext>
            </a:extLst>
          </p:cNvPr>
          <p:cNvSpPr>
            <a:spLocks noGrp="1"/>
          </p:cNvSpPr>
          <p:nvPr>
            <p:ph type="title"/>
          </p:nvPr>
        </p:nvSpPr>
        <p:spPr>
          <a:xfrm>
            <a:off x="0" y="0"/>
            <a:ext cx="12192000" cy="603317"/>
          </a:xfrm>
          <a:solidFill>
            <a:schemeClr val="accent6"/>
          </a:solidFill>
        </p:spPr>
        <p:txBody>
          <a:bodyPr>
            <a:no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VeeR EL2 → SoC Via AHB Lite  Slave Interface </a:t>
            </a:r>
            <a:endParaRPr lang="en-GB" sz="320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D2EE9522-405E-8355-1C7B-568C6EBFE99F}"/>
              </a:ext>
            </a:extLst>
          </p:cNvPr>
          <p:cNvSpPr txBox="1"/>
          <p:nvPr/>
        </p:nvSpPr>
        <p:spPr>
          <a:xfrm>
            <a:off x="919404" y="603317"/>
            <a:ext cx="6096000" cy="369332"/>
          </a:xfrm>
          <a:prstGeom prst="rect">
            <a:avLst/>
          </a:prstGeom>
          <a:noFill/>
        </p:spPr>
        <p:txBody>
          <a:bodyPr wrap="square">
            <a:spAutoFit/>
          </a:bodyPr>
          <a:lstStyle/>
          <a:p>
            <a:r>
              <a:rPr lang="en-IN" dirty="0"/>
              <a:t>Table 1. </a:t>
            </a:r>
            <a:r>
              <a:rPr lang="en-IN" dirty="0">
                <a:latin typeface="Calibri" panose="020F0502020204030204" pitchFamily="34" charset="0"/>
                <a:ea typeface="Calibri" panose="020F0502020204030204" pitchFamily="34" charset="0"/>
                <a:cs typeface="Calibri" panose="020F0502020204030204" pitchFamily="34" charset="0"/>
              </a:rPr>
              <a:t>AHB Lite Slave Interface</a:t>
            </a:r>
            <a:r>
              <a:rPr lang="en-IN" dirty="0"/>
              <a:t> Registers </a:t>
            </a:r>
          </a:p>
        </p:txBody>
      </p:sp>
      <p:sp>
        <p:nvSpPr>
          <p:cNvPr id="104" name="Slide Number Placeholder 3">
            <a:extLst>
              <a:ext uri="{FF2B5EF4-FFF2-40B4-BE49-F238E27FC236}">
                <a16:creationId xmlns:a16="http://schemas.microsoft.com/office/drawing/2014/main" id="{DCDDBA76-D76F-D9A8-4928-85D694507AD6}"/>
              </a:ext>
            </a:extLst>
          </p:cNvPr>
          <p:cNvSpPr>
            <a:spLocks noGrp="1"/>
          </p:cNvSpPr>
          <p:nvPr>
            <p:ph type="sldNum" sz="quarter" idx="12"/>
          </p:nvPr>
        </p:nvSpPr>
        <p:spPr>
          <a:xfrm>
            <a:off x="8610600" y="5769677"/>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61</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FA0D24B4-28BD-BA94-6F5F-3E4BDE97407C}"/>
              </a:ext>
            </a:extLst>
          </p:cNvPr>
          <p:cNvGraphicFramePr>
            <a:graphicFrameLocks noGrp="1"/>
          </p:cNvGraphicFramePr>
          <p:nvPr>
            <p:extLst>
              <p:ext uri="{D42A27DB-BD31-4B8C-83A1-F6EECF244321}">
                <p14:modId xmlns:p14="http://schemas.microsoft.com/office/powerpoint/2010/main" val="1483510590"/>
              </p:ext>
            </p:extLst>
          </p:nvPr>
        </p:nvGraphicFramePr>
        <p:xfrm>
          <a:off x="705515" y="1054089"/>
          <a:ext cx="10780969" cy="5654040"/>
        </p:xfrm>
        <a:graphic>
          <a:graphicData uri="http://schemas.openxmlformats.org/drawingml/2006/table">
            <a:tbl>
              <a:tblPr firstRow="1" bandRow="1">
                <a:tableStyleId>{5C22544A-7EE6-4342-B048-85BDC9FD1C3A}</a:tableStyleId>
              </a:tblPr>
              <a:tblGrid>
                <a:gridCol w="1416836">
                  <a:extLst>
                    <a:ext uri="{9D8B030D-6E8A-4147-A177-3AD203B41FA5}">
                      <a16:colId xmlns:a16="http://schemas.microsoft.com/office/drawing/2014/main" val="1589339960"/>
                    </a:ext>
                  </a:extLst>
                </a:gridCol>
                <a:gridCol w="1253067">
                  <a:extLst>
                    <a:ext uri="{9D8B030D-6E8A-4147-A177-3AD203B41FA5}">
                      <a16:colId xmlns:a16="http://schemas.microsoft.com/office/drawing/2014/main" val="1248582612"/>
                    </a:ext>
                  </a:extLst>
                </a:gridCol>
                <a:gridCol w="1066800">
                  <a:extLst>
                    <a:ext uri="{9D8B030D-6E8A-4147-A177-3AD203B41FA5}">
                      <a16:colId xmlns:a16="http://schemas.microsoft.com/office/drawing/2014/main" val="3123967829"/>
                    </a:ext>
                  </a:extLst>
                </a:gridCol>
                <a:gridCol w="1763849">
                  <a:extLst>
                    <a:ext uri="{9D8B030D-6E8A-4147-A177-3AD203B41FA5}">
                      <a16:colId xmlns:a16="http://schemas.microsoft.com/office/drawing/2014/main" val="3905508051"/>
                    </a:ext>
                  </a:extLst>
                </a:gridCol>
                <a:gridCol w="1380066">
                  <a:extLst>
                    <a:ext uri="{9D8B030D-6E8A-4147-A177-3AD203B41FA5}">
                      <a16:colId xmlns:a16="http://schemas.microsoft.com/office/drawing/2014/main" val="325584092"/>
                    </a:ext>
                  </a:extLst>
                </a:gridCol>
                <a:gridCol w="3900351">
                  <a:extLst>
                    <a:ext uri="{9D8B030D-6E8A-4147-A177-3AD203B41FA5}">
                      <a16:colId xmlns:a16="http://schemas.microsoft.com/office/drawing/2014/main" val="895576451"/>
                    </a:ext>
                  </a:extLst>
                </a:gridCol>
              </a:tblGrid>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Signal</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Source Block</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Destination Block</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3150817915"/>
                  </a:ext>
                </a:extLst>
              </a:tr>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hclk</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AHB Bus</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AHB interface clock</a:t>
                      </a:r>
                    </a:p>
                  </a:txBody>
                  <a:tcPr anchor="ctr"/>
                </a:tc>
                <a:extLst>
                  <a:ext uri="{0D108BD9-81ED-4DB2-BD59-A6C34878D82A}">
                    <a16:rowId xmlns:a16="http://schemas.microsoft.com/office/drawing/2014/main" val="279384615"/>
                  </a:ext>
                </a:extLst>
              </a:tr>
              <a:tr h="125306">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hreset_n</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600" dirty="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 Reset Controller</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Active-low reset</a:t>
                      </a:r>
                    </a:p>
                  </a:txBody>
                  <a:tcPr anchor="ctr"/>
                </a:tc>
                <a:extLst>
                  <a:ext uri="{0D108BD9-81ED-4DB2-BD59-A6C34878D82A}">
                    <a16:rowId xmlns:a16="http://schemas.microsoft.com/office/drawing/2014/main" val="242710183"/>
                  </a:ext>
                </a:extLst>
              </a:tr>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hsel_i</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VeeR EL2</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Selects the SOC_IFC slave</a:t>
                      </a:r>
                    </a:p>
                  </a:txBody>
                  <a:tcPr anchor="ctr"/>
                </a:tc>
                <a:extLst>
                  <a:ext uri="{0D108BD9-81ED-4DB2-BD59-A6C34878D82A}">
                    <a16:rowId xmlns:a16="http://schemas.microsoft.com/office/drawing/2014/main" val="1691501616"/>
                  </a:ext>
                </a:extLst>
              </a:tr>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hwrite_i</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VeeR EL2</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Indicates write (1) or read (0) transaction</a:t>
                      </a:r>
                    </a:p>
                  </a:txBody>
                  <a:tcPr anchor="ctr"/>
                </a:tc>
                <a:extLst>
                  <a:ext uri="{0D108BD9-81ED-4DB2-BD59-A6C34878D82A}">
                    <a16:rowId xmlns:a16="http://schemas.microsoft.com/office/drawing/2014/main" val="1540031437"/>
                  </a:ext>
                </a:extLst>
              </a:tr>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hready_i</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AHB Bus</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Indicates previous transfer has completed</a:t>
                      </a:r>
                    </a:p>
                  </a:txBody>
                  <a:tcPr anchor="ctr"/>
                </a:tc>
                <a:extLst>
                  <a:ext uri="{0D108BD9-81ED-4DB2-BD59-A6C34878D82A}">
                    <a16:rowId xmlns:a16="http://schemas.microsoft.com/office/drawing/2014/main" val="3984171790"/>
                  </a:ext>
                </a:extLst>
              </a:tr>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htrans_i</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buNone/>
                      </a:pPr>
                      <a:r>
                        <a:rPr lang="en-IN" sz="1600" dirty="0" err="1">
                          <a:latin typeface="Calibri" panose="020F0502020204030204" pitchFamily="34" charset="0"/>
                          <a:ea typeface="Calibri" panose="020F0502020204030204" pitchFamily="34" charset="0"/>
                          <a:cs typeface="Calibri" panose="020F0502020204030204" pitchFamily="34" charset="0"/>
                        </a:rPr>
                        <a:t>VeeR</a:t>
                      </a:r>
                      <a:r>
                        <a:rPr lang="en-IN" sz="1600" dirty="0">
                          <a:latin typeface="Calibri" panose="020F0502020204030204" pitchFamily="34" charset="0"/>
                          <a:ea typeface="Calibri" panose="020F0502020204030204" pitchFamily="34" charset="0"/>
                          <a:cs typeface="Calibri" panose="020F0502020204030204" pitchFamily="34" charset="0"/>
                        </a:rPr>
                        <a:t> EL2</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Specifies transfer type (IDLE, BUSY, NONSEQ, SEQ)</a:t>
                      </a:r>
                    </a:p>
                  </a:txBody>
                  <a:tcPr anchor="ctr"/>
                </a:tc>
                <a:extLst>
                  <a:ext uri="{0D108BD9-81ED-4DB2-BD59-A6C34878D82A}">
                    <a16:rowId xmlns:a16="http://schemas.microsoft.com/office/drawing/2014/main" val="3523504204"/>
                  </a:ext>
                </a:extLst>
              </a:tr>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hsize_i</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3</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VeeR EL2</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Indicates transfer size (byte, halfword, word, etc.)</a:t>
                      </a:r>
                    </a:p>
                  </a:txBody>
                  <a:tcPr anchor="ctr"/>
                </a:tc>
                <a:extLst>
                  <a:ext uri="{0D108BD9-81ED-4DB2-BD59-A6C34878D82A}">
                    <a16:rowId xmlns:a16="http://schemas.microsoft.com/office/drawing/2014/main" val="3236861187"/>
                  </a:ext>
                </a:extLst>
              </a:tr>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haddr_i</a:t>
                      </a:r>
                    </a:p>
                  </a:txBody>
                  <a:tcPr anchor="ctr"/>
                </a:tc>
                <a:tc>
                  <a:txBody>
                    <a:bodyPr/>
                    <a:lstStyle/>
                    <a:p>
                      <a:pPr algn="ctr">
                        <a:buNone/>
                      </a:pPr>
                      <a:r>
                        <a:rPr lang="en-IN" sz="1600" dirty="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18</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VeeR EL2</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Address of register being accessed</a:t>
                      </a:r>
                    </a:p>
                  </a:txBody>
                  <a:tcPr anchor="ctr"/>
                </a:tc>
                <a:extLst>
                  <a:ext uri="{0D108BD9-81ED-4DB2-BD59-A6C34878D82A}">
                    <a16:rowId xmlns:a16="http://schemas.microsoft.com/office/drawing/2014/main" val="3888563269"/>
                  </a:ext>
                </a:extLst>
              </a:tr>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hwdata_i</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VeeR EL2</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Write data bus</a:t>
                      </a:r>
                    </a:p>
                  </a:txBody>
                  <a:tcPr anchor="ctr"/>
                </a:tc>
                <a:extLst>
                  <a:ext uri="{0D108BD9-81ED-4DB2-BD59-A6C34878D82A}">
                    <a16:rowId xmlns:a16="http://schemas.microsoft.com/office/drawing/2014/main" val="961139957"/>
                  </a:ext>
                </a:extLst>
              </a:tr>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hreadyout_o</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VeeR EL2</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Indicates slave is ready for next transfer</a:t>
                      </a:r>
                    </a:p>
                  </a:txBody>
                  <a:tcPr anchor="ctr"/>
                </a:tc>
                <a:extLst>
                  <a:ext uri="{0D108BD9-81ED-4DB2-BD59-A6C34878D82A}">
                    <a16:rowId xmlns:a16="http://schemas.microsoft.com/office/drawing/2014/main" val="1177797334"/>
                  </a:ext>
                </a:extLst>
              </a:tr>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hresp_o</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VeeR EL2</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Transfer response status (OKAY/ERROR)</a:t>
                      </a:r>
                    </a:p>
                  </a:txBody>
                  <a:tcPr anchor="ctr"/>
                </a:tc>
                <a:extLst>
                  <a:ext uri="{0D108BD9-81ED-4DB2-BD59-A6C34878D82A}">
                    <a16:rowId xmlns:a16="http://schemas.microsoft.com/office/drawing/2014/main" val="3673743162"/>
                  </a:ext>
                </a:extLst>
              </a:tr>
              <a:tr h="370840">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hrdata_o</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sz="1600" dirty="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600">
                          <a:latin typeface="Calibri" panose="020F0502020204030204" pitchFamily="34" charset="0"/>
                          <a:ea typeface="Calibri" panose="020F0502020204030204" pitchFamily="34" charset="0"/>
                          <a:cs typeface="Calibri" panose="020F0502020204030204" pitchFamily="34" charset="0"/>
                        </a:rPr>
                        <a:t>VeeR EL2</a:t>
                      </a:r>
                    </a:p>
                  </a:txBody>
                  <a:tcPr anchor="ctr"/>
                </a:tc>
                <a:tc>
                  <a:txBody>
                    <a:bodyPr/>
                    <a:lstStyle/>
                    <a:p>
                      <a:pPr algn="ctr">
                        <a:buNone/>
                      </a:pPr>
                      <a:r>
                        <a:rPr lang="en-IN" sz="1600" dirty="0">
                          <a:latin typeface="Calibri" panose="020F0502020204030204" pitchFamily="34" charset="0"/>
                          <a:ea typeface="Calibri" panose="020F0502020204030204" pitchFamily="34" charset="0"/>
                          <a:cs typeface="Calibri" panose="020F0502020204030204" pitchFamily="34" charset="0"/>
                        </a:rPr>
                        <a:t>Read data returned to master</a:t>
                      </a:r>
                    </a:p>
                  </a:txBody>
                  <a:tcPr anchor="ctr"/>
                </a:tc>
                <a:extLst>
                  <a:ext uri="{0D108BD9-81ED-4DB2-BD59-A6C34878D82A}">
                    <a16:rowId xmlns:a16="http://schemas.microsoft.com/office/drawing/2014/main" val="2509061167"/>
                  </a:ext>
                </a:extLst>
              </a:tr>
            </a:tbl>
          </a:graphicData>
        </a:graphic>
      </p:graphicFrame>
    </p:spTree>
    <p:extLst>
      <p:ext uri="{BB962C8B-B14F-4D97-AF65-F5344CB8AC3E}">
        <p14:creationId xmlns:p14="http://schemas.microsoft.com/office/powerpoint/2010/main" val="25258555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1F5B4-8F14-C142-3E6A-3080B6A1A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CCC8B-555C-1FED-31FD-56AA92620AEB}"/>
              </a:ext>
            </a:extLst>
          </p:cNvPr>
          <p:cNvSpPr>
            <a:spLocks noGrp="1"/>
          </p:cNvSpPr>
          <p:nvPr>
            <p:ph type="title"/>
          </p:nvPr>
        </p:nvSpPr>
        <p:spPr>
          <a:xfrm>
            <a:off x="0" y="0"/>
            <a:ext cx="12192000" cy="603317"/>
          </a:xfrm>
          <a:solidFill>
            <a:schemeClr val="accent6"/>
          </a:solidFill>
        </p:spPr>
        <p:txBody>
          <a:bodyPr>
            <a:noAutofit/>
          </a:bodyPr>
          <a:lstStyle/>
          <a:p>
            <a:pPr algn="ctr"/>
            <a:r>
              <a:rPr lang="en-IN" sz="3200" dirty="0" err="1">
                <a:latin typeface="Calibri" panose="020F0502020204030204" pitchFamily="34" charset="0"/>
                <a:ea typeface="Calibri" panose="020F0502020204030204" pitchFamily="34" charset="0"/>
                <a:cs typeface="Calibri" panose="020F0502020204030204" pitchFamily="34" charset="0"/>
              </a:rPr>
              <a:t>VeeR</a:t>
            </a:r>
            <a:r>
              <a:rPr lang="en-IN" sz="3200" dirty="0">
                <a:latin typeface="Calibri" panose="020F0502020204030204" pitchFamily="34" charset="0"/>
                <a:ea typeface="Calibri" panose="020F0502020204030204" pitchFamily="34" charset="0"/>
                <a:cs typeface="Calibri" panose="020F0502020204030204" pitchFamily="34" charset="0"/>
              </a:rPr>
              <a:t> EL2 → SoC Arbiter Via AHB Slave Interface </a:t>
            </a:r>
            <a:endParaRPr lang="en-GB" sz="320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9D797E4E-2FFA-E00B-5A23-97674907A5EB}"/>
              </a:ext>
            </a:extLst>
          </p:cNvPr>
          <p:cNvSpPr txBox="1"/>
          <p:nvPr/>
        </p:nvSpPr>
        <p:spPr>
          <a:xfrm>
            <a:off x="919404" y="603317"/>
            <a:ext cx="6096000" cy="369332"/>
          </a:xfrm>
          <a:prstGeom prst="rect">
            <a:avLst/>
          </a:prstGeom>
          <a:noFill/>
        </p:spPr>
        <p:txBody>
          <a:bodyPr wrap="square">
            <a:spAutoFit/>
          </a:bodyPr>
          <a:lstStyle/>
          <a:p>
            <a:r>
              <a:rPr lang="en-IN" dirty="0"/>
              <a:t>Table 2. </a:t>
            </a:r>
            <a:r>
              <a:rPr lang="en-IN" dirty="0">
                <a:latin typeface="Calibri" panose="020F0502020204030204" pitchFamily="34" charset="0"/>
                <a:ea typeface="Calibri" panose="020F0502020204030204" pitchFamily="34" charset="0"/>
                <a:cs typeface="Calibri" panose="020F0502020204030204" pitchFamily="34" charset="0"/>
              </a:rPr>
              <a:t>AHB Slave Interface</a:t>
            </a:r>
            <a:r>
              <a:rPr lang="en-IN" dirty="0"/>
              <a:t> Registers </a:t>
            </a:r>
          </a:p>
        </p:txBody>
      </p:sp>
      <p:sp>
        <p:nvSpPr>
          <p:cNvPr id="104" name="Slide Number Placeholder 3">
            <a:extLst>
              <a:ext uri="{FF2B5EF4-FFF2-40B4-BE49-F238E27FC236}">
                <a16:creationId xmlns:a16="http://schemas.microsoft.com/office/drawing/2014/main" id="{E81175EB-9152-2AB5-C97B-CA435DBEC9C6}"/>
              </a:ext>
            </a:extLst>
          </p:cNvPr>
          <p:cNvSpPr>
            <a:spLocks noGrp="1"/>
          </p:cNvSpPr>
          <p:nvPr>
            <p:ph type="sldNum" sz="quarter" idx="12"/>
          </p:nvPr>
        </p:nvSpPr>
        <p:spPr>
          <a:xfrm>
            <a:off x="8610600" y="5769677"/>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62</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42EBFEF7-1A6F-B921-43DF-E293B26669A8}"/>
              </a:ext>
            </a:extLst>
          </p:cNvPr>
          <p:cNvGraphicFramePr>
            <a:graphicFrameLocks noGrp="1"/>
          </p:cNvGraphicFramePr>
          <p:nvPr>
            <p:extLst>
              <p:ext uri="{D42A27DB-BD31-4B8C-83A1-F6EECF244321}">
                <p14:modId xmlns:p14="http://schemas.microsoft.com/office/powerpoint/2010/main" val="2265710400"/>
              </p:ext>
            </p:extLst>
          </p:nvPr>
        </p:nvGraphicFramePr>
        <p:xfrm>
          <a:off x="705515" y="1054089"/>
          <a:ext cx="10780969" cy="3398520"/>
        </p:xfrm>
        <a:graphic>
          <a:graphicData uri="http://schemas.openxmlformats.org/drawingml/2006/table">
            <a:tbl>
              <a:tblPr firstRow="1" bandRow="1">
                <a:tableStyleId>{5C22544A-7EE6-4342-B048-85BDC9FD1C3A}</a:tableStyleId>
              </a:tblPr>
              <a:tblGrid>
                <a:gridCol w="1707485">
                  <a:extLst>
                    <a:ext uri="{9D8B030D-6E8A-4147-A177-3AD203B41FA5}">
                      <a16:colId xmlns:a16="http://schemas.microsoft.com/office/drawing/2014/main" val="1589339960"/>
                    </a:ext>
                  </a:extLst>
                </a:gridCol>
                <a:gridCol w="1168400">
                  <a:extLst>
                    <a:ext uri="{9D8B030D-6E8A-4147-A177-3AD203B41FA5}">
                      <a16:colId xmlns:a16="http://schemas.microsoft.com/office/drawing/2014/main" val="1248582612"/>
                    </a:ext>
                  </a:extLst>
                </a:gridCol>
                <a:gridCol w="860818">
                  <a:extLst>
                    <a:ext uri="{9D8B030D-6E8A-4147-A177-3AD203B41FA5}">
                      <a16:colId xmlns:a16="http://schemas.microsoft.com/office/drawing/2014/main" val="3123967829"/>
                    </a:ext>
                  </a:extLst>
                </a:gridCol>
                <a:gridCol w="1763849">
                  <a:extLst>
                    <a:ext uri="{9D8B030D-6E8A-4147-A177-3AD203B41FA5}">
                      <a16:colId xmlns:a16="http://schemas.microsoft.com/office/drawing/2014/main" val="3905508051"/>
                    </a:ext>
                  </a:extLst>
                </a:gridCol>
                <a:gridCol w="1473200">
                  <a:extLst>
                    <a:ext uri="{9D8B030D-6E8A-4147-A177-3AD203B41FA5}">
                      <a16:colId xmlns:a16="http://schemas.microsoft.com/office/drawing/2014/main" val="325584092"/>
                    </a:ext>
                  </a:extLst>
                </a:gridCol>
                <a:gridCol w="3807217">
                  <a:extLst>
                    <a:ext uri="{9D8B030D-6E8A-4147-A177-3AD203B41FA5}">
                      <a16:colId xmlns:a16="http://schemas.microsoft.com/office/drawing/2014/main" val="895576451"/>
                    </a:ext>
                  </a:extLst>
                </a:gridCol>
              </a:tblGrid>
              <a:tr h="370840">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Signal</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Source Block</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Destination Block</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3150817915"/>
                  </a:ext>
                </a:extLst>
              </a:tr>
              <a:tr h="370840">
                <a:tc>
                  <a:txBody>
                    <a:bodyPr/>
                    <a:lstStyle/>
                    <a:p>
                      <a:pPr algn="ctr">
                        <a:buNone/>
                      </a:pPr>
                      <a:r>
                        <a:rPr lang="en-IN" sz="1800" dirty="0" err="1">
                          <a:latin typeface="Calibri" panose="020F0502020204030204" pitchFamily="34" charset="0"/>
                          <a:ea typeface="Calibri" panose="020F0502020204030204" pitchFamily="34" charset="0"/>
                          <a:cs typeface="Calibri" panose="020F0502020204030204" pitchFamily="34" charset="0"/>
                        </a:rPr>
                        <a:t>uc_req_hold</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Requests SOC_IFC to stall the transaction</a:t>
                      </a:r>
                    </a:p>
                  </a:txBody>
                  <a:tcPr anchor="ctr"/>
                </a:tc>
                <a:extLst>
                  <a:ext uri="{0D108BD9-81ED-4DB2-BD59-A6C34878D82A}">
                    <a16:rowId xmlns:a16="http://schemas.microsoft.com/office/drawing/2014/main" val="279384615"/>
                  </a:ext>
                </a:extLst>
              </a:tr>
              <a:tr h="125306">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uc_req_error</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sz="1800" dirty="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Indicates an access or decode error</a:t>
                      </a:r>
                    </a:p>
                  </a:txBody>
                  <a:tcPr anchor="ctr"/>
                </a:tc>
                <a:extLst>
                  <a:ext uri="{0D108BD9-81ED-4DB2-BD59-A6C34878D82A}">
                    <a16:rowId xmlns:a16="http://schemas.microsoft.com/office/drawing/2014/main" val="242710183"/>
                  </a:ext>
                </a:extLst>
              </a:tr>
              <a:tr h="370840">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uc_req_dv</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sz="1800" dirty="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Valid register access request</a:t>
                      </a:r>
                    </a:p>
                  </a:txBody>
                  <a:tcPr anchor="ctr"/>
                </a:tc>
                <a:extLst>
                  <a:ext uri="{0D108BD9-81ED-4DB2-BD59-A6C34878D82A}">
                    <a16:rowId xmlns:a16="http://schemas.microsoft.com/office/drawing/2014/main" val="1691501616"/>
                  </a:ext>
                </a:extLst>
              </a:tr>
              <a:tr h="370840">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uc_req_write</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Indicates write (1) or read (0) operation</a:t>
                      </a:r>
                    </a:p>
                  </a:txBody>
                  <a:tcPr anchor="ctr"/>
                </a:tc>
                <a:extLst>
                  <a:ext uri="{0D108BD9-81ED-4DB2-BD59-A6C34878D82A}">
                    <a16:rowId xmlns:a16="http://schemas.microsoft.com/office/drawing/2014/main" val="1540031437"/>
                  </a:ext>
                </a:extLst>
              </a:tr>
              <a:tr h="370840">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uc_req_addr</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18</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Register address for the access</a:t>
                      </a:r>
                    </a:p>
                  </a:txBody>
                  <a:tcPr anchor="ctr"/>
                </a:tc>
                <a:extLst>
                  <a:ext uri="{0D108BD9-81ED-4DB2-BD59-A6C34878D82A}">
                    <a16:rowId xmlns:a16="http://schemas.microsoft.com/office/drawing/2014/main" val="3984171790"/>
                  </a:ext>
                </a:extLst>
              </a:tr>
              <a:tr h="370840">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uc_req_rdata</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sz="18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sz="1800" dirty="0">
                          <a:latin typeface="Calibri" panose="020F0502020204030204" pitchFamily="34" charset="0"/>
                          <a:ea typeface="Calibri" panose="020F0502020204030204" pitchFamily="34" charset="0"/>
                          <a:cs typeface="Calibri" panose="020F0502020204030204" pitchFamily="34" charset="0"/>
                        </a:rPr>
                        <a:t>Read data returned from arbiter</a:t>
                      </a:r>
                    </a:p>
                  </a:txBody>
                  <a:tcPr anchor="ctr"/>
                </a:tc>
                <a:extLst>
                  <a:ext uri="{0D108BD9-81ED-4DB2-BD59-A6C34878D82A}">
                    <a16:rowId xmlns:a16="http://schemas.microsoft.com/office/drawing/2014/main" val="3523504204"/>
                  </a:ext>
                </a:extLst>
              </a:tr>
            </a:tbl>
          </a:graphicData>
        </a:graphic>
      </p:graphicFrame>
    </p:spTree>
    <p:extLst>
      <p:ext uri="{BB962C8B-B14F-4D97-AF65-F5344CB8AC3E}">
        <p14:creationId xmlns:p14="http://schemas.microsoft.com/office/powerpoint/2010/main" val="4773700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DF37D-CF58-B94E-CF04-A7B593241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E095B-9C0F-42F0-A02D-2E47F7EB63EF}"/>
              </a:ext>
            </a:extLst>
          </p:cNvPr>
          <p:cNvSpPr>
            <a:spLocks noGrp="1"/>
          </p:cNvSpPr>
          <p:nvPr>
            <p:ph type="title"/>
          </p:nvPr>
        </p:nvSpPr>
        <p:spPr>
          <a:xfrm>
            <a:off x="0" y="0"/>
            <a:ext cx="12192000" cy="603317"/>
          </a:xfrm>
          <a:solidFill>
            <a:schemeClr val="accent6"/>
          </a:solidFill>
        </p:spPr>
        <p:txBody>
          <a:bodyPr>
            <a:no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SOC to SOC_IFC Arbiter Via AXI SUB IFC</a:t>
            </a:r>
            <a:endParaRPr lang="en-GB" sz="320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EA89BE89-2538-F43F-E9D8-9BA4C554E953}"/>
              </a:ext>
            </a:extLst>
          </p:cNvPr>
          <p:cNvSpPr txBox="1"/>
          <p:nvPr/>
        </p:nvSpPr>
        <p:spPr>
          <a:xfrm>
            <a:off x="919404" y="603317"/>
            <a:ext cx="6096000" cy="369332"/>
          </a:xfrm>
          <a:prstGeom prst="rect">
            <a:avLst/>
          </a:prstGeom>
          <a:noFill/>
        </p:spPr>
        <p:txBody>
          <a:bodyPr wrap="square">
            <a:spAutoFit/>
          </a:bodyPr>
          <a:lstStyle/>
          <a:p>
            <a:r>
              <a:rPr lang="en-IN" dirty="0"/>
              <a:t>Table 3. </a:t>
            </a:r>
            <a:r>
              <a:rPr lang="en-IN" dirty="0">
                <a:latin typeface="Calibri" panose="020F0502020204030204" pitchFamily="34" charset="0"/>
                <a:ea typeface="Calibri" panose="020F0502020204030204" pitchFamily="34" charset="0"/>
                <a:cs typeface="Calibri" panose="020F0502020204030204" pitchFamily="34" charset="0"/>
              </a:rPr>
              <a:t>AXI Subordinate Interface</a:t>
            </a:r>
            <a:r>
              <a:rPr lang="en-IN" dirty="0"/>
              <a:t> Registers </a:t>
            </a:r>
          </a:p>
        </p:txBody>
      </p:sp>
      <p:sp>
        <p:nvSpPr>
          <p:cNvPr id="104" name="Slide Number Placeholder 3">
            <a:extLst>
              <a:ext uri="{FF2B5EF4-FFF2-40B4-BE49-F238E27FC236}">
                <a16:creationId xmlns:a16="http://schemas.microsoft.com/office/drawing/2014/main" id="{83440D33-48D7-BDE4-7A37-F7271F626102}"/>
              </a:ext>
            </a:extLst>
          </p:cNvPr>
          <p:cNvSpPr>
            <a:spLocks noGrp="1"/>
          </p:cNvSpPr>
          <p:nvPr>
            <p:ph type="sldNum" sz="quarter" idx="12"/>
          </p:nvPr>
        </p:nvSpPr>
        <p:spPr>
          <a:xfrm>
            <a:off x="8610600" y="5769677"/>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63</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4E9F31D4-240F-7C69-47BA-ADDA01FC6504}"/>
              </a:ext>
            </a:extLst>
          </p:cNvPr>
          <p:cNvGraphicFramePr>
            <a:graphicFrameLocks noGrp="1"/>
          </p:cNvGraphicFramePr>
          <p:nvPr>
            <p:extLst>
              <p:ext uri="{D42A27DB-BD31-4B8C-83A1-F6EECF244321}">
                <p14:modId xmlns:p14="http://schemas.microsoft.com/office/powerpoint/2010/main" val="3236693265"/>
              </p:ext>
            </p:extLst>
          </p:nvPr>
        </p:nvGraphicFramePr>
        <p:xfrm>
          <a:off x="705515" y="1054089"/>
          <a:ext cx="10780969" cy="3601720"/>
        </p:xfrm>
        <a:graphic>
          <a:graphicData uri="http://schemas.openxmlformats.org/drawingml/2006/table">
            <a:tbl>
              <a:tblPr firstRow="1" bandRow="1">
                <a:tableStyleId>{5C22544A-7EE6-4342-B048-85BDC9FD1C3A}</a:tableStyleId>
              </a:tblPr>
              <a:tblGrid>
                <a:gridCol w="1707485">
                  <a:extLst>
                    <a:ext uri="{9D8B030D-6E8A-4147-A177-3AD203B41FA5}">
                      <a16:colId xmlns:a16="http://schemas.microsoft.com/office/drawing/2014/main" val="1589339960"/>
                    </a:ext>
                  </a:extLst>
                </a:gridCol>
                <a:gridCol w="1168400">
                  <a:extLst>
                    <a:ext uri="{9D8B030D-6E8A-4147-A177-3AD203B41FA5}">
                      <a16:colId xmlns:a16="http://schemas.microsoft.com/office/drawing/2014/main" val="1248582612"/>
                    </a:ext>
                  </a:extLst>
                </a:gridCol>
                <a:gridCol w="860818">
                  <a:extLst>
                    <a:ext uri="{9D8B030D-6E8A-4147-A177-3AD203B41FA5}">
                      <a16:colId xmlns:a16="http://schemas.microsoft.com/office/drawing/2014/main" val="3123967829"/>
                    </a:ext>
                  </a:extLst>
                </a:gridCol>
                <a:gridCol w="1763849">
                  <a:extLst>
                    <a:ext uri="{9D8B030D-6E8A-4147-A177-3AD203B41FA5}">
                      <a16:colId xmlns:a16="http://schemas.microsoft.com/office/drawing/2014/main" val="3905508051"/>
                    </a:ext>
                  </a:extLst>
                </a:gridCol>
                <a:gridCol w="1473200">
                  <a:extLst>
                    <a:ext uri="{9D8B030D-6E8A-4147-A177-3AD203B41FA5}">
                      <a16:colId xmlns:a16="http://schemas.microsoft.com/office/drawing/2014/main" val="325584092"/>
                    </a:ext>
                  </a:extLst>
                </a:gridCol>
                <a:gridCol w="3807217">
                  <a:extLst>
                    <a:ext uri="{9D8B030D-6E8A-4147-A177-3AD203B41FA5}">
                      <a16:colId xmlns:a16="http://schemas.microsoft.com/office/drawing/2014/main" val="895576451"/>
                    </a:ext>
                  </a:extLst>
                </a:gridCol>
              </a:tblGrid>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Source Block</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Destination Block</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3150817915"/>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AWVALID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Write address valid</a:t>
                      </a:r>
                    </a:p>
                  </a:txBody>
                  <a:tcPr anchor="ctr"/>
                </a:tc>
                <a:extLst>
                  <a:ext uri="{0D108BD9-81ED-4DB2-BD59-A6C34878D82A}">
                    <a16:rowId xmlns:a16="http://schemas.microsoft.com/office/drawing/2014/main" val="279384615"/>
                  </a:ext>
                </a:extLst>
              </a:tr>
              <a:tr h="125306">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WVALID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Write data valid</a:t>
                      </a:r>
                    </a:p>
                  </a:txBody>
                  <a:tcPr anchor="ctr"/>
                </a:tc>
                <a:extLst>
                  <a:ext uri="{0D108BD9-81ED-4DB2-BD59-A6C34878D82A}">
                    <a16:rowId xmlns:a16="http://schemas.microsoft.com/office/drawing/2014/main" val="242710183"/>
                  </a:ext>
                </a:extLst>
              </a:tr>
              <a:tr h="370840">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BREADY</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Write response accepted</a:t>
                      </a:r>
                    </a:p>
                  </a:txBody>
                  <a:tcPr anchor="ctr"/>
                </a:tc>
                <a:extLst>
                  <a:ext uri="{0D108BD9-81ED-4DB2-BD59-A6C34878D82A}">
                    <a16:rowId xmlns:a16="http://schemas.microsoft.com/office/drawing/2014/main" val="1691501616"/>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ARVALID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 address valid</a:t>
                      </a:r>
                    </a:p>
                  </a:txBody>
                  <a:tcPr anchor="ctr"/>
                </a:tc>
                <a:extLst>
                  <a:ext uri="{0D108BD9-81ED-4DB2-BD59-A6C34878D82A}">
                    <a16:rowId xmlns:a16="http://schemas.microsoft.com/office/drawing/2014/main" val="1540031437"/>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RREADY</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 data accepted</a:t>
                      </a:r>
                    </a:p>
                  </a:txBody>
                  <a:tcPr anchor="ctr"/>
                </a:tc>
                <a:extLst>
                  <a:ext uri="{0D108BD9-81ED-4DB2-BD59-A6C34878D82A}">
                    <a16:rowId xmlns:a16="http://schemas.microsoft.com/office/drawing/2014/main" val="3984171790"/>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AWREADY</a:t>
                      </a:r>
                    </a:p>
                  </a:txBody>
                  <a:tcPr anchor="ctr"/>
                </a:tc>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Write address accepted</a:t>
                      </a:r>
                    </a:p>
                  </a:txBody>
                  <a:tcPr anchor="ctr"/>
                </a:tc>
                <a:extLst>
                  <a:ext uri="{0D108BD9-81ED-4DB2-BD59-A6C34878D82A}">
                    <a16:rowId xmlns:a16="http://schemas.microsoft.com/office/drawing/2014/main" val="419884247"/>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WREADY</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Write data accepted</a:t>
                      </a:r>
                    </a:p>
                  </a:txBody>
                  <a:tcPr anchor="ctr"/>
                </a:tc>
                <a:extLst>
                  <a:ext uri="{0D108BD9-81ED-4DB2-BD59-A6C34878D82A}">
                    <a16:rowId xmlns:a16="http://schemas.microsoft.com/office/drawing/2014/main" val="2980450208"/>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BVALID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Write response valid</a:t>
                      </a:r>
                    </a:p>
                  </a:txBody>
                  <a:tcPr anchor="ctr"/>
                </a:tc>
                <a:extLst>
                  <a:ext uri="{0D108BD9-81ED-4DB2-BD59-A6C34878D82A}">
                    <a16:rowId xmlns:a16="http://schemas.microsoft.com/office/drawing/2014/main" val="3523504204"/>
                  </a:ext>
                </a:extLst>
              </a:tr>
            </a:tbl>
          </a:graphicData>
        </a:graphic>
      </p:graphicFrame>
    </p:spTree>
    <p:extLst>
      <p:ext uri="{BB962C8B-B14F-4D97-AF65-F5344CB8AC3E}">
        <p14:creationId xmlns:p14="http://schemas.microsoft.com/office/powerpoint/2010/main" val="33837013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554B6-C4F5-18E4-4AD7-8C63381C9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729C5-2A18-A368-4063-D0832212A928}"/>
              </a:ext>
            </a:extLst>
          </p:cNvPr>
          <p:cNvSpPr>
            <a:spLocks noGrp="1"/>
          </p:cNvSpPr>
          <p:nvPr>
            <p:ph type="title"/>
          </p:nvPr>
        </p:nvSpPr>
        <p:spPr>
          <a:xfrm>
            <a:off x="0" y="0"/>
            <a:ext cx="12192000" cy="603317"/>
          </a:xfrm>
          <a:solidFill>
            <a:schemeClr val="accent6"/>
          </a:solidFill>
        </p:spPr>
        <p:txBody>
          <a:bodyPr>
            <a:no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SOC to SOC_IFC Arbiter Via AXI SUB IFC(Contd..)</a:t>
            </a:r>
            <a:endParaRPr lang="en-GB" sz="320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907B6F7-4910-EF43-12E0-62AF35A0C880}"/>
              </a:ext>
            </a:extLst>
          </p:cNvPr>
          <p:cNvSpPr txBox="1"/>
          <p:nvPr/>
        </p:nvSpPr>
        <p:spPr>
          <a:xfrm>
            <a:off x="919404" y="603317"/>
            <a:ext cx="6096000" cy="369332"/>
          </a:xfrm>
          <a:prstGeom prst="rect">
            <a:avLst/>
          </a:prstGeom>
          <a:noFill/>
        </p:spPr>
        <p:txBody>
          <a:bodyPr wrap="square">
            <a:spAutoFit/>
          </a:bodyPr>
          <a:lstStyle/>
          <a:p>
            <a:r>
              <a:rPr lang="en-IN" dirty="0"/>
              <a:t>Table 4. </a:t>
            </a:r>
            <a:r>
              <a:rPr lang="en-IN" dirty="0">
                <a:latin typeface="Calibri" panose="020F0502020204030204" pitchFamily="34" charset="0"/>
                <a:ea typeface="Calibri" panose="020F0502020204030204" pitchFamily="34" charset="0"/>
                <a:cs typeface="Calibri" panose="020F0502020204030204" pitchFamily="34" charset="0"/>
              </a:rPr>
              <a:t>AXI Subordinate Interface</a:t>
            </a:r>
            <a:r>
              <a:rPr lang="en-IN" dirty="0"/>
              <a:t> Registers </a:t>
            </a:r>
          </a:p>
        </p:txBody>
      </p:sp>
      <p:sp>
        <p:nvSpPr>
          <p:cNvPr id="104" name="Slide Number Placeholder 3">
            <a:extLst>
              <a:ext uri="{FF2B5EF4-FFF2-40B4-BE49-F238E27FC236}">
                <a16:creationId xmlns:a16="http://schemas.microsoft.com/office/drawing/2014/main" id="{BF3676FE-991B-EAF6-70CF-0C4654724878}"/>
              </a:ext>
            </a:extLst>
          </p:cNvPr>
          <p:cNvSpPr>
            <a:spLocks noGrp="1"/>
          </p:cNvSpPr>
          <p:nvPr>
            <p:ph type="sldNum" sz="quarter" idx="12"/>
          </p:nvPr>
        </p:nvSpPr>
        <p:spPr>
          <a:xfrm>
            <a:off x="8610600" y="5769677"/>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64</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ABC46CC8-0E4E-9C6A-3AFC-BF1CFE5E1C43}"/>
              </a:ext>
            </a:extLst>
          </p:cNvPr>
          <p:cNvGraphicFramePr>
            <a:graphicFrameLocks noGrp="1"/>
          </p:cNvGraphicFramePr>
          <p:nvPr>
            <p:extLst>
              <p:ext uri="{D42A27DB-BD31-4B8C-83A1-F6EECF244321}">
                <p14:modId xmlns:p14="http://schemas.microsoft.com/office/powerpoint/2010/main" val="196232037"/>
              </p:ext>
            </p:extLst>
          </p:nvPr>
        </p:nvGraphicFramePr>
        <p:xfrm>
          <a:off x="705515" y="1054089"/>
          <a:ext cx="10780969" cy="3601720"/>
        </p:xfrm>
        <a:graphic>
          <a:graphicData uri="http://schemas.openxmlformats.org/drawingml/2006/table">
            <a:tbl>
              <a:tblPr firstRow="1" bandRow="1">
                <a:tableStyleId>{5C22544A-7EE6-4342-B048-85BDC9FD1C3A}</a:tableStyleId>
              </a:tblPr>
              <a:tblGrid>
                <a:gridCol w="1707485">
                  <a:extLst>
                    <a:ext uri="{9D8B030D-6E8A-4147-A177-3AD203B41FA5}">
                      <a16:colId xmlns:a16="http://schemas.microsoft.com/office/drawing/2014/main" val="1589339960"/>
                    </a:ext>
                  </a:extLst>
                </a:gridCol>
                <a:gridCol w="1168400">
                  <a:extLst>
                    <a:ext uri="{9D8B030D-6E8A-4147-A177-3AD203B41FA5}">
                      <a16:colId xmlns:a16="http://schemas.microsoft.com/office/drawing/2014/main" val="1248582612"/>
                    </a:ext>
                  </a:extLst>
                </a:gridCol>
                <a:gridCol w="1507067">
                  <a:extLst>
                    <a:ext uri="{9D8B030D-6E8A-4147-A177-3AD203B41FA5}">
                      <a16:colId xmlns:a16="http://schemas.microsoft.com/office/drawing/2014/main" val="3123967829"/>
                    </a:ext>
                  </a:extLst>
                </a:gridCol>
                <a:gridCol w="1117600">
                  <a:extLst>
                    <a:ext uri="{9D8B030D-6E8A-4147-A177-3AD203B41FA5}">
                      <a16:colId xmlns:a16="http://schemas.microsoft.com/office/drawing/2014/main" val="3905508051"/>
                    </a:ext>
                  </a:extLst>
                </a:gridCol>
                <a:gridCol w="1473200">
                  <a:extLst>
                    <a:ext uri="{9D8B030D-6E8A-4147-A177-3AD203B41FA5}">
                      <a16:colId xmlns:a16="http://schemas.microsoft.com/office/drawing/2014/main" val="325584092"/>
                    </a:ext>
                  </a:extLst>
                </a:gridCol>
                <a:gridCol w="3807217">
                  <a:extLst>
                    <a:ext uri="{9D8B030D-6E8A-4147-A177-3AD203B41FA5}">
                      <a16:colId xmlns:a16="http://schemas.microsoft.com/office/drawing/2014/main" val="895576451"/>
                    </a:ext>
                  </a:extLst>
                </a:gridCol>
              </a:tblGrid>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Source Block</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Destination Block</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3150817915"/>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BREADY</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Write response accepted</a:t>
                      </a:r>
                    </a:p>
                  </a:txBody>
                  <a:tcPr anchor="ctr"/>
                </a:tc>
                <a:extLst>
                  <a:ext uri="{0D108BD9-81ED-4DB2-BD59-A6C34878D82A}">
                    <a16:rowId xmlns:a16="http://schemas.microsoft.com/office/drawing/2014/main" val="279384615"/>
                  </a:ext>
                </a:extLst>
              </a:tr>
              <a:tr h="125306">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ARVALID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 address valid</a:t>
                      </a:r>
                    </a:p>
                  </a:txBody>
                  <a:tcPr anchor="ctr"/>
                </a:tc>
                <a:extLst>
                  <a:ext uri="{0D108BD9-81ED-4DB2-BD59-A6C34878D82A}">
                    <a16:rowId xmlns:a16="http://schemas.microsoft.com/office/drawing/2014/main" val="242710183"/>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RREADY</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 data accepted</a:t>
                      </a:r>
                    </a:p>
                  </a:txBody>
                  <a:tcPr anchor="ctr"/>
                </a:tc>
                <a:extLst>
                  <a:ext uri="{0D108BD9-81ED-4DB2-BD59-A6C34878D82A}">
                    <a16:rowId xmlns:a16="http://schemas.microsoft.com/office/drawing/2014/main" val="1691501616"/>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BVALID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Write response valid</a:t>
                      </a:r>
                    </a:p>
                  </a:txBody>
                  <a:tcPr anchor="ctr"/>
                </a:tc>
                <a:extLst>
                  <a:ext uri="{0D108BD9-81ED-4DB2-BD59-A6C34878D82A}">
                    <a16:rowId xmlns:a16="http://schemas.microsoft.com/office/drawing/2014/main" val="1540031437"/>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ARREADY</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 address accepted</a:t>
                      </a:r>
                    </a:p>
                  </a:txBody>
                  <a:tcPr anchor="ctr"/>
                </a:tc>
                <a:extLst>
                  <a:ext uri="{0D108BD9-81ED-4DB2-BD59-A6C34878D82A}">
                    <a16:rowId xmlns:a16="http://schemas.microsoft.com/office/drawing/2014/main" val="3984171790"/>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RVALID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 data valid</a:t>
                      </a:r>
                    </a:p>
                  </a:txBody>
                  <a:tcPr anchor="ctr"/>
                </a:tc>
                <a:extLst>
                  <a:ext uri="{0D108BD9-81ED-4DB2-BD59-A6C34878D82A}">
                    <a16:rowId xmlns:a16="http://schemas.microsoft.com/office/drawing/2014/main" val="419884247"/>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RRESP</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 response status</a:t>
                      </a:r>
                    </a:p>
                  </a:txBody>
                  <a:tcPr anchor="ctr"/>
                </a:tc>
                <a:extLst>
                  <a:ext uri="{0D108BD9-81ED-4DB2-BD59-A6C34878D82A}">
                    <a16:rowId xmlns:a16="http://schemas.microsoft.com/office/drawing/2014/main" val="2980450208"/>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ARADDR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18</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Register read address</a:t>
                      </a:r>
                    </a:p>
                  </a:txBody>
                  <a:tcPr anchor="ctr"/>
                </a:tc>
                <a:extLst>
                  <a:ext uri="{0D108BD9-81ED-4DB2-BD59-A6C34878D82A}">
                    <a16:rowId xmlns:a16="http://schemas.microsoft.com/office/drawing/2014/main" val="3523504204"/>
                  </a:ext>
                </a:extLst>
              </a:tr>
            </a:tbl>
          </a:graphicData>
        </a:graphic>
      </p:graphicFrame>
    </p:spTree>
    <p:extLst>
      <p:ext uri="{BB962C8B-B14F-4D97-AF65-F5344CB8AC3E}">
        <p14:creationId xmlns:p14="http://schemas.microsoft.com/office/powerpoint/2010/main" val="34416855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0C76D-ED05-AF5A-D5ED-4BCEC1F9F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FB667-8261-D2AC-D67C-200A381C293E}"/>
              </a:ext>
            </a:extLst>
          </p:cNvPr>
          <p:cNvSpPr>
            <a:spLocks noGrp="1"/>
          </p:cNvSpPr>
          <p:nvPr>
            <p:ph type="title"/>
          </p:nvPr>
        </p:nvSpPr>
        <p:spPr>
          <a:xfrm>
            <a:off x="0" y="0"/>
            <a:ext cx="12192000" cy="603317"/>
          </a:xfrm>
          <a:solidFill>
            <a:schemeClr val="accent6"/>
          </a:solidFill>
        </p:spPr>
        <p:txBody>
          <a:bodyPr>
            <a:noAutofit/>
          </a:bodyPr>
          <a:lstStyle/>
          <a:p>
            <a:pPr algn="ctr"/>
            <a:r>
              <a:rPr lang="en-IN" sz="2800" dirty="0">
                <a:latin typeface="Calibri" panose="020F0502020204030204" pitchFamily="34" charset="0"/>
                <a:ea typeface="Calibri" panose="020F0502020204030204" pitchFamily="34" charset="0"/>
                <a:cs typeface="Calibri" panose="020F0502020204030204" pitchFamily="34" charset="0"/>
              </a:rPr>
              <a:t>SOC IFC → SOC_IFC Arbiter (Internal Register Access Interface) Via AXI SUB IFC </a:t>
            </a:r>
            <a:endParaRPr lang="en-GB" sz="280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B194F85-414D-70A8-E66E-C1B111CE91F1}"/>
              </a:ext>
            </a:extLst>
          </p:cNvPr>
          <p:cNvSpPr txBox="1"/>
          <p:nvPr/>
        </p:nvSpPr>
        <p:spPr>
          <a:xfrm>
            <a:off x="919404" y="603317"/>
            <a:ext cx="6096000" cy="369332"/>
          </a:xfrm>
          <a:prstGeom prst="rect">
            <a:avLst/>
          </a:prstGeom>
          <a:noFill/>
        </p:spPr>
        <p:txBody>
          <a:bodyPr wrap="square">
            <a:spAutoFit/>
          </a:bodyPr>
          <a:lstStyle/>
          <a:p>
            <a:r>
              <a:rPr lang="en-IN" dirty="0"/>
              <a:t>Table 5. </a:t>
            </a:r>
            <a:r>
              <a:rPr lang="en-IN" dirty="0">
                <a:latin typeface="Calibri" panose="020F0502020204030204" pitchFamily="34" charset="0"/>
                <a:ea typeface="Calibri" panose="020F0502020204030204" pitchFamily="34" charset="0"/>
                <a:cs typeface="Calibri" panose="020F0502020204030204" pitchFamily="34" charset="0"/>
              </a:rPr>
              <a:t>AXI Subordinate Interface</a:t>
            </a:r>
            <a:r>
              <a:rPr lang="en-IN" dirty="0"/>
              <a:t> Registers </a:t>
            </a:r>
          </a:p>
        </p:txBody>
      </p:sp>
      <p:sp>
        <p:nvSpPr>
          <p:cNvPr id="104" name="Slide Number Placeholder 3">
            <a:extLst>
              <a:ext uri="{FF2B5EF4-FFF2-40B4-BE49-F238E27FC236}">
                <a16:creationId xmlns:a16="http://schemas.microsoft.com/office/drawing/2014/main" id="{B4FB538B-FD9D-FD87-50AF-1646C7218690}"/>
              </a:ext>
            </a:extLst>
          </p:cNvPr>
          <p:cNvSpPr>
            <a:spLocks noGrp="1"/>
          </p:cNvSpPr>
          <p:nvPr>
            <p:ph type="sldNum" sz="quarter" idx="12"/>
          </p:nvPr>
        </p:nvSpPr>
        <p:spPr>
          <a:xfrm>
            <a:off x="8610600" y="5769677"/>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65</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52E6FFC2-6B56-4A62-6A93-4CD5D8FD192A}"/>
              </a:ext>
            </a:extLst>
          </p:cNvPr>
          <p:cNvGraphicFramePr>
            <a:graphicFrameLocks noGrp="1"/>
          </p:cNvGraphicFramePr>
          <p:nvPr>
            <p:extLst>
              <p:ext uri="{D42A27DB-BD31-4B8C-83A1-F6EECF244321}">
                <p14:modId xmlns:p14="http://schemas.microsoft.com/office/powerpoint/2010/main" val="4234623683"/>
              </p:ext>
            </p:extLst>
          </p:nvPr>
        </p:nvGraphicFramePr>
        <p:xfrm>
          <a:off x="705515" y="1054089"/>
          <a:ext cx="10780969" cy="3601720"/>
        </p:xfrm>
        <a:graphic>
          <a:graphicData uri="http://schemas.openxmlformats.org/drawingml/2006/table">
            <a:tbl>
              <a:tblPr firstRow="1" bandRow="1">
                <a:tableStyleId>{5C22544A-7EE6-4342-B048-85BDC9FD1C3A}</a:tableStyleId>
              </a:tblPr>
              <a:tblGrid>
                <a:gridCol w="1707485">
                  <a:extLst>
                    <a:ext uri="{9D8B030D-6E8A-4147-A177-3AD203B41FA5}">
                      <a16:colId xmlns:a16="http://schemas.microsoft.com/office/drawing/2014/main" val="1589339960"/>
                    </a:ext>
                  </a:extLst>
                </a:gridCol>
                <a:gridCol w="1168400">
                  <a:extLst>
                    <a:ext uri="{9D8B030D-6E8A-4147-A177-3AD203B41FA5}">
                      <a16:colId xmlns:a16="http://schemas.microsoft.com/office/drawing/2014/main" val="1248582612"/>
                    </a:ext>
                  </a:extLst>
                </a:gridCol>
                <a:gridCol w="1041400">
                  <a:extLst>
                    <a:ext uri="{9D8B030D-6E8A-4147-A177-3AD203B41FA5}">
                      <a16:colId xmlns:a16="http://schemas.microsoft.com/office/drawing/2014/main" val="3123967829"/>
                    </a:ext>
                  </a:extLst>
                </a:gridCol>
                <a:gridCol w="1778000">
                  <a:extLst>
                    <a:ext uri="{9D8B030D-6E8A-4147-A177-3AD203B41FA5}">
                      <a16:colId xmlns:a16="http://schemas.microsoft.com/office/drawing/2014/main" val="3905508051"/>
                    </a:ext>
                  </a:extLst>
                </a:gridCol>
                <a:gridCol w="1820333">
                  <a:extLst>
                    <a:ext uri="{9D8B030D-6E8A-4147-A177-3AD203B41FA5}">
                      <a16:colId xmlns:a16="http://schemas.microsoft.com/office/drawing/2014/main" val="325584092"/>
                    </a:ext>
                  </a:extLst>
                </a:gridCol>
                <a:gridCol w="3265351">
                  <a:extLst>
                    <a:ext uri="{9D8B030D-6E8A-4147-A177-3AD203B41FA5}">
                      <a16:colId xmlns:a16="http://schemas.microsoft.com/office/drawing/2014/main" val="895576451"/>
                    </a:ext>
                  </a:extLst>
                </a:gridCol>
              </a:tblGrid>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Source Block</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Destination Block</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3150817915"/>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soc_req_hold</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Stall register access request</a:t>
                      </a:r>
                    </a:p>
                  </a:txBody>
                  <a:tcPr anchor="ctr"/>
                </a:tc>
                <a:extLst>
                  <a:ext uri="{0D108BD9-81ED-4DB2-BD59-A6C34878D82A}">
                    <a16:rowId xmlns:a16="http://schemas.microsoft.com/office/drawing/2014/main" val="279384615"/>
                  </a:ext>
                </a:extLst>
              </a:tr>
              <a:tr h="125306">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soc_req_error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Register access error indication</a:t>
                      </a:r>
                    </a:p>
                  </a:txBody>
                  <a:tcPr anchor="ctr"/>
                </a:tc>
                <a:extLst>
                  <a:ext uri="{0D108BD9-81ED-4DB2-BD59-A6C34878D82A}">
                    <a16:rowId xmlns:a16="http://schemas.microsoft.com/office/drawing/2014/main" val="242710183"/>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soc_req_dv</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Valid register access request</a:t>
                      </a:r>
                    </a:p>
                  </a:txBody>
                  <a:tcPr anchor="ctr"/>
                </a:tc>
                <a:extLst>
                  <a:ext uri="{0D108BD9-81ED-4DB2-BD59-A6C34878D82A}">
                    <a16:rowId xmlns:a16="http://schemas.microsoft.com/office/drawing/2014/main" val="1691501616"/>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soc_req_write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Read/Write indication</a:t>
                      </a:r>
                    </a:p>
                  </a:txBody>
                  <a:tcPr anchor="ctr"/>
                </a:tc>
                <a:extLst>
                  <a:ext uri="{0D108BD9-81ED-4DB2-BD59-A6C34878D82A}">
                    <a16:rowId xmlns:a16="http://schemas.microsoft.com/office/drawing/2014/main" val="1540031437"/>
                  </a:ext>
                </a:extLst>
              </a:tr>
              <a:tr h="370840">
                <a:tc>
                  <a:txBody>
                    <a:bodyPr/>
                    <a:lstStyle/>
                    <a:p>
                      <a:pPr algn="ctr">
                        <a:buNone/>
                      </a:pPr>
                      <a:r>
                        <a:rPr lang="en-IN" dirty="0" err="1">
                          <a:latin typeface="Calibri" panose="020F0502020204030204" pitchFamily="34" charset="0"/>
                          <a:ea typeface="Calibri" panose="020F0502020204030204" pitchFamily="34" charset="0"/>
                          <a:cs typeface="Calibri" panose="020F0502020204030204" pitchFamily="34" charset="0"/>
                        </a:rPr>
                        <a:t>soc_req_wstrb</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Byte write strobes</a:t>
                      </a:r>
                    </a:p>
                  </a:txBody>
                  <a:tcPr anchor="ctr"/>
                </a:tc>
                <a:extLst>
                  <a:ext uri="{0D108BD9-81ED-4DB2-BD59-A6C34878D82A}">
                    <a16:rowId xmlns:a16="http://schemas.microsoft.com/office/drawing/2014/main" val="3984171790"/>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soc_req_addr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18</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Register address</a:t>
                      </a:r>
                    </a:p>
                  </a:txBody>
                  <a:tcPr anchor="ctr"/>
                </a:tc>
                <a:extLst>
                  <a:ext uri="{0D108BD9-81ED-4DB2-BD59-A6C34878D82A}">
                    <a16:rowId xmlns:a16="http://schemas.microsoft.com/office/drawing/2014/main" val="419884247"/>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soc_req_rdata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 data returned from arbiter</a:t>
                      </a:r>
                    </a:p>
                  </a:txBody>
                  <a:tcPr anchor="ctr"/>
                </a:tc>
                <a:extLst>
                  <a:ext uri="{0D108BD9-81ED-4DB2-BD59-A6C34878D82A}">
                    <a16:rowId xmlns:a16="http://schemas.microsoft.com/office/drawing/2014/main" val="2980450208"/>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soc_req_wdata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32</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SOC_IFC_ARB</a:t>
                      </a:r>
                    </a:p>
                  </a:txBody>
                  <a:tcPr anchor="ctr"/>
                </a:tc>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Register write data</a:t>
                      </a:r>
                    </a:p>
                  </a:txBody>
                  <a:tcPr anchor="ctr"/>
                </a:tc>
                <a:extLst>
                  <a:ext uri="{0D108BD9-81ED-4DB2-BD59-A6C34878D82A}">
                    <a16:rowId xmlns:a16="http://schemas.microsoft.com/office/drawing/2014/main" val="3523504204"/>
                  </a:ext>
                </a:extLst>
              </a:tr>
            </a:tbl>
          </a:graphicData>
        </a:graphic>
      </p:graphicFrame>
    </p:spTree>
    <p:extLst>
      <p:ext uri="{BB962C8B-B14F-4D97-AF65-F5344CB8AC3E}">
        <p14:creationId xmlns:p14="http://schemas.microsoft.com/office/powerpoint/2010/main" val="29893696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F72CB-0FD0-F9B4-B3A9-120C3F31C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44981-D562-360B-BEEB-402E1D552F1D}"/>
              </a:ext>
            </a:extLst>
          </p:cNvPr>
          <p:cNvSpPr>
            <a:spLocks noGrp="1"/>
          </p:cNvSpPr>
          <p:nvPr>
            <p:ph type="title"/>
          </p:nvPr>
        </p:nvSpPr>
        <p:spPr>
          <a:xfrm>
            <a:off x="0" y="0"/>
            <a:ext cx="12192000" cy="603317"/>
          </a:xfrm>
          <a:solidFill>
            <a:schemeClr val="accent6"/>
          </a:solidFill>
        </p:spPr>
        <p:txBody>
          <a:bodyPr>
            <a:no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SOC_IFC → External Memory / SoC Via AXI Manager Interface</a:t>
            </a:r>
            <a:endParaRPr lang="en-GB" sz="3200" b="1"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852DE2AE-67F1-E731-35A7-260766EB950D}"/>
              </a:ext>
            </a:extLst>
          </p:cNvPr>
          <p:cNvSpPr txBox="1"/>
          <p:nvPr/>
        </p:nvSpPr>
        <p:spPr>
          <a:xfrm>
            <a:off x="919404" y="603317"/>
            <a:ext cx="6096000" cy="369332"/>
          </a:xfrm>
          <a:prstGeom prst="rect">
            <a:avLst/>
          </a:prstGeom>
          <a:noFill/>
        </p:spPr>
        <p:txBody>
          <a:bodyPr wrap="square">
            <a:spAutoFit/>
          </a:bodyPr>
          <a:lstStyle/>
          <a:p>
            <a:r>
              <a:rPr lang="en-IN" dirty="0"/>
              <a:t>Table 6. </a:t>
            </a:r>
            <a:r>
              <a:rPr lang="en-IN" dirty="0">
                <a:latin typeface="Calibri" panose="020F0502020204030204" pitchFamily="34" charset="0"/>
                <a:ea typeface="Calibri" panose="020F0502020204030204" pitchFamily="34" charset="0"/>
                <a:cs typeface="Calibri" panose="020F0502020204030204" pitchFamily="34" charset="0"/>
              </a:rPr>
              <a:t>AXI Manager Interface</a:t>
            </a:r>
            <a:r>
              <a:rPr lang="en-IN" dirty="0"/>
              <a:t> Registers </a:t>
            </a:r>
          </a:p>
        </p:txBody>
      </p:sp>
      <p:sp>
        <p:nvSpPr>
          <p:cNvPr id="104" name="Slide Number Placeholder 3">
            <a:extLst>
              <a:ext uri="{FF2B5EF4-FFF2-40B4-BE49-F238E27FC236}">
                <a16:creationId xmlns:a16="http://schemas.microsoft.com/office/drawing/2014/main" id="{F3491054-F1C2-EC0F-DFFA-A673AD9F9437}"/>
              </a:ext>
            </a:extLst>
          </p:cNvPr>
          <p:cNvSpPr>
            <a:spLocks noGrp="1"/>
          </p:cNvSpPr>
          <p:nvPr>
            <p:ph type="sldNum" sz="quarter" idx="12"/>
          </p:nvPr>
        </p:nvSpPr>
        <p:spPr>
          <a:xfrm>
            <a:off x="8610600" y="5769677"/>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66</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CD8CDEB7-D57B-017B-BD7F-57A7FF637E35}"/>
              </a:ext>
            </a:extLst>
          </p:cNvPr>
          <p:cNvGraphicFramePr>
            <a:graphicFrameLocks noGrp="1"/>
          </p:cNvGraphicFramePr>
          <p:nvPr>
            <p:extLst>
              <p:ext uri="{D42A27DB-BD31-4B8C-83A1-F6EECF244321}">
                <p14:modId xmlns:p14="http://schemas.microsoft.com/office/powerpoint/2010/main" val="526505692"/>
              </p:ext>
            </p:extLst>
          </p:nvPr>
        </p:nvGraphicFramePr>
        <p:xfrm>
          <a:off x="705515" y="1054089"/>
          <a:ext cx="10429618" cy="5582920"/>
        </p:xfrm>
        <a:graphic>
          <a:graphicData uri="http://schemas.openxmlformats.org/drawingml/2006/table">
            <a:tbl>
              <a:tblPr firstRow="1" bandRow="1">
                <a:tableStyleId>{5C22544A-7EE6-4342-B048-85BDC9FD1C3A}</a:tableStyleId>
              </a:tblPr>
              <a:tblGrid>
                <a:gridCol w="1065848">
                  <a:extLst>
                    <a:ext uri="{9D8B030D-6E8A-4147-A177-3AD203B41FA5}">
                      <a16:colId xmlns:a16="http://schemas.microsoft.com/office/drawing/2014/main" val="1589339960"/>
                    </a:ext>
                  </a:extLst>
                </a:gridCol>
                <a:gridCol w="1349829">
                  <a:extLst>
                    <a:ext uri="{9D8B030D-6E8A-4147-A177-3AD203B41FA5}">
                      <a16:colId xmlns:a16="http://schemas.microsoft.com/office/drawing/2014/main" val="1248582612"/>
                    </a:ext>
                  </a:extLst>
                </a:gridCol>
                <a:gridCol w="1438124">
                  <a:extLst>
                    <a:ext uri="{9D8B030D-6E8A-4147-A177-3AD203B41FA5}">
                      <a16:colId xmlns:a16="http://schemas.microsoft.com/office/drawing/2014/main" val="3123967829"/>
                    </a:ext>
                  </a:extLst>
                </a:gridCol>
                <a:gridCol w="1871133">
                  <a:extLst>
                    <a:ext uri="{9D8B030D-6E8A-4147-A177-3AD203B41FA5}">
                      <a16:colId xmlns:a16="http://schemas.microsoft.com/office/drawing/2014/main" val="3905508051"/>
                    </a:ext>
                  </a:extLst>
                </a:gridCol>
                <a:gridCol w="1981200">
                  <a:extLst>
                    <a:ext uri="{9D8B030D-6E8A-4147-A177-3AD203B41FA5}">
                      <a16:colId xmlns:a16="http://schemas.microsoft.com/office/drawing/2014/main" val="325584092"/>
                    </a:ext>
                  </a:extLst>
                </a:gridCol>
                <a:gridCol w="2723484">
                  <a:extLst>
                    <a:ext uri="{9D8B030D-6E8A-4147-A177-3AD203B41FA5}">
                      <a16:colId xmlns:a16="http://schemas.microsoft.com/office/drawing/2014/main" val="895576451"/>
                    </a:ext>
                  </a:extLst>
                </a:gridCol>
              </a:tblGrid>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Signal</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Source Block</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Destination Block</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3150817915"/>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AWREADY</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Write address accepted</a:t>
                      </a:r>
                    </a:p>
                  </a:txBody>
                  <a:tcPr anchor="ctr"/>
                </a:tc>
                <a:extLst>
                  <a:ext uri="{0D108BD9-81ED-4DB2-BD59-A6C34878D82A}">
                    <a16:rowId xmlns:a16="http://schemas.microsoft.com/office/drawing/2014/main" val="279384615"/>
                  </a:ext>
                </a:extLst>
              </a:tr>
              <a:tr h="125306">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WREADY</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Write data accepted</a:t>
                      </a:r>
                    </a:p>
                  </a:txBody>
                  <a:tcPr anchor="ctr"/>
                </a:tc>
                <a:extLst>
                  <a:ext uri="{0D108BD9-81ED-4DB2-BD59-A6C34878D82A}">
                    <a16:rowId xmlns:a16="http://schemas.microsoft.com/office/drawing/2014/main" val="242710183"/>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BVALID</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Write response valid</a:t>
                      </a:r>
                    </a:p>
                  </a:txBody>
                  <a:tcPr anchor="ctr"/>
                </a:tc>
                <a:extLst>
                  <a:ext uri="{0D108BD9-81ED-4DB2-BD59-A6C34878D82A}">
                    <a16:rowId xmlns:a16="http://schemas.microsoft.com/office/drawing/2014/main" val="1691501616"/>
                  </a:ext>
                </a:extLst>
              </a:tr>
              <a:tr h="370840">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AWVALID</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Write address valid</a:t>
                      </a:r>
                    </a:p>
                  </a:txBody>
                  <a:tcPr anchor="ctr"/>
                </a:tc>
                <a:extLst>
                  <a:ext uri="{0D108BD9-81ED-4DB2-BD59-A6C34878D82A}">
                    <a16:rowId xmlns:a16="http://schemas.microsoft.com/office/drawing/2014/main" val="1540031437"/>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WVALID</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Write data valid</a:t>
                      </a:r>
                    </a:p>
                  </a:txBody>
                  <a:tcPr anchor="ctr"/>
                </a:tc>
                <a:extLst>
                  <a:ext uri="{0D108BD9-81ED-4DB2-BD59-A6C34878D82A}">
                    <a16:rowId xmlns:a16="http://schemas.microsoft.com/office/drawing/2014/main" val="3984171790"/>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BREADY</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Write response accepted</a:t>
                      </a:r>
                    </a:p>
                  </a:txBody>
                  <a:tcPr anchor="ctr"/>
                </a:tc>
                <a:extLst>
                  <a:ext uri="{0D108BD9-81ED-4DB2-BD59-A6C34878D82A}">
                    <a16:rowId xmlns:a16="http://schemas.microsoft.com/office/drawing/2014/main" val="3987468526"/>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BRESP</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Write response status</a:t>
                      </a:r>
                    </a:p>
                  </a:txBody>
                  <a:tcPr anchor="ctr"/>
                </a:tc>
                <a:extLst>
                  <a:ext uri="{0D108BD9-81ED-4DB2-BD59-A6C34878D82A}">
                    <a16:rowId xmlns:a16="http://schemas.microsoft.com/office/drawing/2014/main" val="3505080075"/>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WSTRB</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AXI_DATA_WIDTH/8</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Byte write enables</a:t>
                      </a:r>
                    </a:p>
                  </a:txBody>
                  <a:tcPr anchor="ctr"/>
                </a:tc>
                <a:extLst>
                  <a:ext uri="{0D108BD9-81ED-4DB2-BD59-A6C34878D82A}">
                    <a16:rowId xmlns:a16="http://schemas.microsoft.com/office/drawing/2014/main" val="160150276"/>
                  </a:ext>
                </a:extLst>
              </a:tr>
              <a:tr h="370840">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AWADDR</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AXI_ADDR_WIDTH (18/32)</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Write address</a:t>
                      </a:r>
                    </a:p>
                  </a:txBody>
                  <a:tcPr anchor="ctr"/>
                </a:tc>
                <a:extLst>
                  <a:ext uri="{0D108BD9-81ED-4DB2-BD59-A6C34878D82A}">
                    <a16:rowId xmlns:a16="http://schemas.microsoft.com/office/drawing/2014/main" val="2500320878"/>
                  </a:ext>
                </a:extLst>
              </a:tr>
            </a:tbl>
          </a:graphicData>
        </a:graphic>
      </p:graphicFrame>
    </p:spTree>
    <p:extLst>
      <p:ext uri="{BB962C8B-B14F-4D97-AF65-F5344CB8AC3E}">
        <p14:creationId xmlns:p14="http://schemas.microsoft.com/office/powerpoint/2010/main" val="22092991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E2C57-B673-6317-01F7-FBDA0E344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D17E9-85C1-1E50-746C-96758A158C6A}"/>
              </a:ext>
            </a:extLst>
          </p:cNvPr>
          <p:cNvSpPr>
            <a:spLocks noGrp="1"/>
          </p:cNvSpPr>
          <p:nvPr>
            <p:ph type="title"/>
          </p:nvPr>
        </p:nvSpPr>
        <p:spPr>
          <a:xfrm>
            <a:off x="0" y="0"/>
            <a:ext cx="12192000" cy="603317"/>
          </a:xfrm>
          <a:solidFill>
            <a:schemeClr val="accent6"/>
          </a:solidFill>
        </p:spPr>
        <p:txBody>
          <a:bodyPr>
            <a:no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SOC_IFC → External Memory / SoC Via AXI Manager Interface</a:t>
            </a:r>
            <a:endParaRPr lang="en-GB" sz="3200" b="1"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38FCCD07-D9C3-2D64-CE57-F22B350DDDC8}"/>
              </a:ext>
            </a:extLst>
          </p:cNvPr>
          <p:cNvSpPr txBox="1"/>
          <p:nvPr/>
        </p:nvSpPr>
        <p:spPr>
          <a:xfrm>
            <a:off x="919404" y="603317"/>
            <a:ext cx="6096000" cy="369332"/>
          </a:xfrm>
          <a:prstGeom prst="rect">
            <a:avLst/>
          </a:prstGeom>
          <a:noFill/>
        </p:spPr>
        <p:txBody>
          <a:bodyPr wrap="square">
            <a:spAutoFit/>
          </a:bodyPr>
          <a:lstStyle/>
          <a:p>
            <a:r>
              <a:rPr lang="en-IN" dirty="0"/>
              <a:t>Table 7. </a:t>
            </a:r>
            <a:r>
              <a:rPr lang="en-IN" dirty="0">
                <a:latin typeface="Calibri" panose="020F0502020204030204" pitchFamily="34" charset="0"/>
                <a:ea typeface="Calibri" panose="020F0502020204030204" pitchFamily="34" charset="0"/>
                <a:cs typeface="Calibri" panose="020F0502020204030204" pitchFamily="34" charset="0"/>
              </a:rPr>
              <a:t>AXI Manager Interface</a:t>
            </a:r>
            <a:r>
              <a:rPr lang="en-IN" dirty="0"/>
              <a:t> Registers </a:t>
            </a:r>
          </a:p>
        </p:txBody>
      </p:sp>
      <p:sp>
        <p:nvSpPr>
          <p:cNvPr id="104" name="Slide Number Placeholder 3">
            <a:extLst>
              <a:ext uri="{FF2B5EF4-FFF2-40B4-BE49-F238E27FC236}">
                <a16:creationId xmlns:a16="http://schemas.microsoft.com/office/drawing/2014/main" id="{38ADAF8E-CE0C-ED24-D20C-837D5047209F}"/>
              </a:ext>
            </a:extLst>
          </p:cNvPr>
          <p:cNvSpPr>
            <a:spLocks noGrp="1"/>
          </p:cNvSpPr>
          <p:nvPr>
            <p:ph type="sldNum" sz="quarter" idx="12"/>
          </p:nvPr>
        </p:nvSpPr>
        <p:spPr>
          <a:xfrm>
            <a:off x="8610600" y="5769677"/>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67</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AFEC7919-0DB2-100E-2B83-62FE890B7164}"/>
              </a:ext>
            </a:extLst>
          </p:cNvPr>
          <p:cNvGraphicFramePr>
            <a:graphicFrameLocks noGrp="1"/>
          </p:cNvGraphicFramePr>
          <p:nvPr>
            <p:extLst>
              <p:ext uri="{D42A27DB-BD31-4B8C-83A1-F6EECF244321}">
                <p14:modId xmlns:p14="http://schemas.microsoft.com/office/powerpoint/2010/main" val="2524526798"/>
              </p:ext>
            </p:extLst>
          </p:nvPr>
        </p:nvGraphicFramePr>
        <p:xfrm>
          <a:off x="705515" y="1054089"/>
          <a:ext cx="10541632" cy="5582920"/>
        </p:xfrm>
        <a:graphic>
          <a:graphicData uri="http://schemas.openxmlformats.org/drawingml/2006/table">
            <a:tbl>
              <a:tblPr firstRow="1" bandRow="1">
                <a:tableStyleId>{5C22544A-7EE6-4342-B048-85BDC9FD1C3A}</a:tableStyleId>
              </a:tblPr>
              <a:tblGrid>
                <a:gridCol w="1177862">
                  <a:extLst>
                    <a:ext uri="{9D8B030D-6E8A-4147-A177-3AD203B41FA5}">
                      <a16:colId xmlns:a16="http://schemas.microsoft.com/office/drawing/2014/main" val="1589339960"/>
                    </a:ext>
                  </a:extLst>
                </a:gridCol>
                <a:gridCol w="1349829">
                  <a:extLst>
                    <a:ext uri="{9D8B030D-6E8A-4147-A177-3AD203B41FA5}">
                      <a16:colId xmlns:a16="http://schemas.microsoft.com/office/drawing/2014/main" val="1248582612"/>
                    </a:ext>
                  </a:extLst>
                </a:gridCol>
                <a:gridCol w="1438124">
                  <a:extLst>
                    <a:ext uri="{9D8B030D-6E8A-4147-A177-3AD203B41FA5}">
                      <a16:colId xmlns:a16="http://schemas.microsoft.com/office/drawing/2014/main" val="3123967829"/>
                    </a:ext>
                  </a:extLst>
                </a:gridCol>
                <a:gridCol w="1871133">
                  <a:extLst>
                    <a:ext uri="{9D8B030D-6E8A-4147-A177-3AD203B41FA5}">
                      <a16:colId xmlns:a16="http://schemas.microsoft.com/office/drawing/2014/main" val="3905508051"/>
                    </a:ext>
                  </a:extLst>
                </a:gridCol>
                <a:gridCol w="1981200">
                  <a:extLst>
                    <a:ext uri="{9D8B030D-6E8A-4147-A177-3AD203B41FA5}">
                      <a16:colId xmlns:a16="http://schemas.microsoft.com/office/drawing/2014/main" val="325584092"/>
                    </a:ext>
                  </a:extLst>
                </a:gridCol>
                <a:gridCol w="2723484">
                  <a:extLst>
                    <a:ext uri="{9D8B030D-6E8A-4147-A177-3AD203B41FA5}">
                      <a16:colId xmlns:a16="http://schemas.microsoft.com/office/drawing/2014/main" val="895576451"/>
                    </a:ext>
                  </a:extLst>
                </a:gridCol>
              </a:tblGrid>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Signal</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Source Block</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Destination Block</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3150817915"/>
                  </a:ext>
                </a:extLst>
              </a:tr>
              <a:tr h="370840">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AWDATA</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(18/32)</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Write Data</a:t>
                      </a:r>
                    </a:p>
                  </a:txBody>
                  <a:tcPr anchor="ctr"/>
                </a:tc>
                <a:extLst>
                  <a:ext uri="{0D108BD9-81ED-4DB2-BD59-A6C34878D82A}">
                    <a16:rowId xmlns:a16="http://schemas.microsoft.com/office/drawing/2014/main" val="507388886"/>
                  </a:ext>
                </a:extLst>
              </a:tr>
              <a:tr h="370840">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AWREADY</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Write address accepted</a:t>
                      </a:r>
                    </a:p>
                  </a:txBody>
                  <a:tcPr anchor="ctr"/>
                </a:tc>
                <a:extLst>
                  <a:ext uri="{0D108BD9-81ED-4DB2-BD59-A6C34878D82A}">
                    <a16:rowId xmlns:a16="http://schemas.microsoft.com/office/drawing/2014/main" val="279384615"/>
                  </a:ext>
                </a:extLst>
              </a:tr>
              <a:tr h="370840">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ARREADY</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Read address accepted</a:t>
                      </a:r>
                    </a:p>
                  </a:txBody>
                  <a:tcPr anchor="ctr"/>
                </a:tc>
                <a:extLst>
                  <a:ext uri="{0D108BD9-81ED-4DB2-BD59-A6C34878D82A}">
                    <a16:rowId xmlns:a16="http://schemas.microsoft.com/office/drawing/2014/main" val="1691501616"/>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RVALID</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Read data valid</a:t>
                      </a:r>
                    </a:p>
                  </a:txBody>
                  <a:tcPr anchor="ctr"/>
                </a:tc>
                <a:extLst>
                  <a:ext uri="{0D108BD9-81ED-4DB2-BD59-A6C34878D82A}">
                    <a16:rowId xmlns:a16="http://schemas.microsoft.com/office/drawing/2014/main" val="1540031437"/>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ARVALID</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Read address valid</a:t>
                      </a:r>
                    </a:p>
                  </a:txBody>
                  <a:tcPr anchor="ctr"/>
                </a:tc>
                <a:extLst>
                  <a:ext uri="{0D108BD9-81ED-4DB2-BD59-A6C34878D82A}">
                    <a16:rowId xmlns:a16="http://schemas.microsoft.com/office/drawing/2014/main" val="3984171790"/>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RREADY</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Read data accepted</a:t>
                      </a:r>
                    </a:p>
                  </a:txBody>
                  <a:tcPr anchor="ctr"/>
                </a:tc>
                <a:extLst>
                  <a:ext uri="{0D108BD9-81ED-4DB2-BD59-A6C34878D82A}">
                    <a16:rowId xmlns:a16="http://schemas.microsoft.com/office/drawing/2014/main" val="3987468526"/>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RRESP</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Read response status</a:t>
                      </a:r>
                    </a:p>
                  </a:txBody>
                  <a:tcPr anchor="ctr"/>
                </a:tc>
                <a:extLst>
                  <a:ext uri="{0D108BD9-81ED-4DB2-BD59-A6C34878D82A}">
                    <a16:rowId xmlns:a16="http://schemas.microsoft.com/office/drawing/2014/main" val="3505080075"/>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ARADDR</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AXI_ADDR_WIDTH (18/32)</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Read address</a:t>
                      </a:r>
                    </a:p>
                  </a:txBody>
                  <a:tcPr anchor="ctr"/>
                </a:tc>
                <a:extLst>
                  <a:ext uri="{0D108BD9-81ED-4DB2-BD59-A6C34878D82A}">
                    <a16:rowId xmlns:a16="http://schemas.microsoft.com/office/drawing/2014/main" val="160150276"/>
                  </a:ext>
                </a:extLst>
              </a:tr>
              <a:tr h="370840">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RDATA</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AXI_DATA_WIDTH (32/64)</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External Memory / SoC</a:t>
                      </a:r>
                    </a:p>
                  </a:txBody>
                  <a:tcPr anchor="ctr"/>
                </a:tc>
                <a:tc>
                  <a:txBody>
                    <a:bodyPr/>
                    <a:lstStyle/>
                    <a:p>
                      <a:pPr>
                        <a:buNone/>
                      </a:pPr>
                      <a:r>
                        <a:rPr lang="en-IN" sz="1600">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buNone/>
                      </a:pPr>
                      <a:r>
                        <a:rPr lang="en-IN" sz="1600" dirty="0">
                          <a:latin typeface="Calibri" panose="020F0502020204030204" pitchFamily="34" charset="0"/>
                          <a:ea typeface="Calibri" panose="020F0502020204030204" pitchFamily="34" charset="0"/>
                          <a:cs typeface="Calibri" panose="020F0502020204030204" pitchFamily="34" charset="0"/>
                        </a:rPr>
                        <a:t>Read data</a:t>
                      </a:r>
                    </a:p>
                  </a:txBody>
                  <a:tcPr anchor="ctr"/>
                </a:tc>
                <a:extLst>
                  <a:ext uri="{0D108BD9-81ED-4DB2-BD59-A6C34878D82A}">
                    <a16:rowId xmlns:a16="http://schemas.microsoft.com/office/drawing/2014/main" val="2500320878"/>
                  </a:ext>
                </a:extLst>
              </a:tr>
            </a:tbl>
          </a:graphicData>
        </a:graphic>
      </p:graphicFrame>
    </p:spTree>
    <p:extLst>
      <p:ext uri="{BB962C8B-B14F-4D97-AF65-F5344CB8AC3E}">
        <p14:creationId xmlns:p14="http://schemas.microsoft.com/office/powerpoint/2010/main" val="23851463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31FF-CD60-8B4F-7C54-17DEACFCE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F0A90-CC89-796E-D53F-7590D7FA94E4}"/>
              </a:ext>
            </a:extLst>
          </p:cNvPr>
          <p:cNvSpPr>
            <a:spLocks noGrp="1"/>
          </p:cNvSpPr>
          <p:nvPr>
            <p:ph type="title"/>
          </p:nvPr>
        </p:nvSpPr>
        <p:spPr>
          <a:xfrm>
            <a:off x="0" y="0"/>
            <a:ext cx="12192000" cy="603317"/>
          </a:xfrm>
          <a:solidFill>
            <a:schemeClr val="accent6"/>
          </a:solidFill>
        </p:spPr>
        <p:txBody>
          <a:bodyPr>
            <a:noAutofit/>
          </a:bodyPr>
          <a:lstStyle/>
          <a:p>
            <a:pPr algn="ctr"/>
            <a:r>
              <a:rPr lang="en-IN" sz="3200" dirty="0">
                <a:latin typeface="Calibri" panose="020F0502020204030204" pitchFamily="34" charset="0"/>
                <a:ea typeface="Calibri" panose="020F0502020204030204" pitchFamily="34" charset="0"/>
                <a:cs typeface="Calibri" panose="020F0502020204030204" pitchFamily="34" charset="0"/>
              </a:rPr>
              <a:t>SOC_IFC → External Memory / SoC Via AXI Manager Interface</a:t>
            </a:r>
            <a:endParaRPr lang="en-GB" sz="3200" b="1"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78A64414-D714-A477-3F08-44EF82751268}"/>
              </a:ext>
            </a:extLst>
          </p:cNvPr>
          <p:cNvSpPr txBox="1"/>
          <p:nvPr/>
        </p:nvSpPr>
        <p:spPr>
          <a:xfrm>
            <a:off x="919404" y="603317"/>
            <a:ext cx="6096000" cy="369332"/>
          </a:xfrm>
          <a:prstGeom prst="rect">
            <a:avLst/>
          </a:prstGeom>
          <a:noFill/>
        </p:spPr>
        <p:txBody>
          <a:bodyPr wrap="square">
            <a:spAutoFit/>
          </a:bodyPr>
          <a:lstStyle/>
          <a:p>
            <a:r>
              <a:rPr lang="en-IN" dirty="0"/>
              <a:t>Table 8. </a:t>
            </a:r>
            <a:r>
              <a:rPr lang="en-IN" dirty="0">
                <a:latin typeface="Calibri" panose="020F0502020204030204" pitchFamily="34" charset="0"/>
                <a:ea typeface="Calibri" panose="020F0502020204030204" pitchFamily="34" charset="0"/>
                <a:cs typeface="Calibri" panose="020F0502020204030204" pitchFamily="34" charset="0"/>
              </a:rPr>
              <a:t>AXI Manager Interface</a:t>
            </a:r>
            <a:r>
              <a:rPr lang="en-IN" dirty="0"/>
              <a:t> Registers </a:t>
            </a:r>
          </a:p>
        </p:txBody>
      </p:sp>
      <p:sp>
        <p:nvSpPr>
          <p:cNvPr id="104" name="Slide Number Placeholder 3">
            <a:extLst>
              <a:ext uri="{FF2B5EF4-FFF2-40B4-BE49-F238E27FC236}">
                <a16:creationId xmlns:a16="http://schemas.microsoft.com/office/drawing/2014/main" id="{FB70431F-D425-0D59-6ECC-2853629DC9DF}"/>
              </a:ext>
            </a:extLst>
          </p:cNvPr>
          <p:cNvSpPr>
            <a:spLocks noGrp="1"/>
          </p:cNvSpPr>
          <p:nvPr>
            <p:ph type="sldNum" sz="quarter" idx="12"/>
          </p:nvPr>
        </p:nvSpPr>
        <p:spPr>
          <a:xfrm>
            <a:off x="8610600" y="5769677"/>
            <a:ext cx="2743200" cy="365125"/>
          </a:xfrm>
        </p:spPr>
        <p:txBody>
          <a:bodyPr/>
          <a:lstStyle/>
          <a:p>
            <a:fld id="{330EA680-D336-4FF7-8B7A-9848BB0A1C32}" type="slidenum">
              <a:rPr lang="en-US" smtClean="0">
                <a:latin typeface="Calibri" panose="020F0502020204030204" pitchFamily="34" charset="0"/>
                <a:ea typeface="Calibri" panose="020F0502020204030204" pitchFamily="34" charset="0"/>
                <a:cs typeface="Calibri" panose="020F0502020204030204" pitchFamily="34" charset="0"/>
              </a:rPr>
              <a:t>68</a:t>
            </a:fld>
            <a:endParaRPr lang="en-US">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7DA3BF2D-BDF1-80A6-D191-B1B08025DC31}"/>
              </a:ext>
            </a:extLst>
          </p:cNvPr>
          <p:cNvGraphicFramePr>
            <a:graphicFrameLocks noGrp="1"/>
          </p:cNvGraphicFramePr>
          <p:nvPr>
            <p:extLst>
              <p:ext uri="{D42A27DB-BD31-4B8C-83A1-F6EECF244321}">
                <p14:modId xmlns:p14="http://schemas.microsoft.com/office/powerpoint/2010/main" val="903677408"/>
              </p:ext>
            </p:extLst>
          </p:nvPr>
        </p:nvGraphicFramePr>
        <p:xfrm>
          <a:off x="500743" y="1054089"/>
          <a:ext cx="11124244" cy="2865120"/>
        </p:xfrm>
        <a:graphic>
          <a:graphicData uri="http://schemas.openxmlformats.org/drawingml/2006/table">
            <a:tbl>
              <a:tblPr firstRow="1" bandRow="1">
                <a:tableStyleId>{5C22544A-7EE6-4342-B048-85BDC9FD1C3A}</a:tableStyleId>
              </a:tblPr>
              <a:tblGrid>
                <a:gridCol w="1760474">
                  <a:extLst>
                    <a:ext uri="{9D8B030D-6E8A-4147-A177-3AD203B41FA5}">
                      <a16:colId xmlns:a16="http://schemas.microsoft.com/office/drawing/2014/main" val="1589339960"/>
                    </a:ext>
                  </a:extLst>
                </a:gridCol>
                <a:gridCol w="1349829">
                  <a:extLst>
                    <a:ext uri="{9D8B030D-6E8A-4147-A177-3AD203B41FA5}">
                      <a16:colId xmlns:a16="http://schemas.microsoft.com/office/drawing/2014/main" val="1248582612"/>
                    </a:ext>
                  </a:extLst>
                </a:gridCol>
                <a:gridCol w="1438124">
                  <a:extLst>
                    <a:ext uri="{9D8B030D-6E8A-4147-A177-3AD203B41FA5}">
                      <a16:colId xmlns:a16="http://schemas.microsoft.com/office/drawing/2014/main" val="3123967829"/>
                    </a:ext>
                  </a:extLst>
                </a:gridCol>
                <a:gridCol w="1871133">
                  <a:extLst>
                    <a:ext uri="{9D8B030D-6E8A-4147-A177-3AD203B41FA5}">
                      <a16:colId xmlns:a16="http://schemas.microsoft.com/office/drawing/2014/main" val="3905508051"/>
                    </a:ext>
                  </a:extLst>
                </a:gridCol>
                <a:gridCol w="1981200">
                  <a:extLst>
                    <a:ext uri="{9D8B030D-6E8A-4147-A177-3AD203B41FA5}">
                      <a16:colId xmlns:a16="http://schemas.microsoft.com/office/drawing/2014/main" val="325584092"/>
                    </a:ext>
                  </a:extLst>
                </a:gridCol>
                <a:gridCol w="2723484">
                  <a:extLst>
                    <a:ext uri="{9D8B030D-6E8A-4147-A177-3AD203B41FA5}">
                      <a16:colId xmlns:a16="http://schemas.microsoft.com/office/drawing/2014/main" val="895576451"/>
                    </a:ext>
                  </a:extLst>
                </a:gridCol>
              </a:tblGrid>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Signal</a:t>
                      </a:r>
                    </a:p>
                  </a:txBody>
                  <a:tcPr anchor="ctr"/>
                </a:tc>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Direction</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Source Block</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Destination Block</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Description</a:t>
                      </a:r>
                    </a:p>
                  </a:txBody>
                  <a:tcPr anchor="ctr"/>
                </a:tc>
                <a:extLst>
                  <a:ext uri="{0D108BD9-81ED-4DB2-BD59-A6C34878D82A}">
                    <a16:rowId xmlns:a16="http://schemas.microsoft.com/office/drawing/2014/main" val="3150817915"/>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dma_rsp_error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Engine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Transfer error indication</a:t>
                      </a:r>
                    </a:p>
                  </a:txBody>
                  <a:tcPr anchor="ctr"/>
                </a:tc>
                <a:extLst>
                  <a:ext uri="{0D108BD9-81ED-4DB2-BD59-A6C34878D82A}">
                    <a16:rowId xmlns:a16="http://schemas.microsoft.com/office/drawing/2014/main" val="507388886"/>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dma_req_dv</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Engine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transfer request valid</a:t>
                      </a:r>
                    </a:p>
                  </a:txBody>
                  <a:tcPr anchor="ctr"/>
                </a:tc>
                <a:extLst>
                  <a:ext uri="{0D108BD9-81ED-4DB2-BD59-A6C34878D82A}">
                    <a16:rowId xmlns:a16="http://schemas.microsoft.com/office/drawing/2014/main" val="279384615"/>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dma_req_write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Engine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Read/Write request</a:t>
                      </a:r>
                    </a:p>
                  </a:txBody>
                  <a:tcPr anchor="ctr"/>
                </a:tc>
                <a:extLst>
                  <a:ext uri="{0D108BD9-81ED-4DB2-BD59-A6C34878D82A}">
                    <a16:rowId xmlns:a16="http://schemas.microsoft.com/office/drawing/2014/main" val="1691501616"/>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dma_req_addr</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Address 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Engine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Source/Destination memory address</a:t>
                      </a:r>
                    </a:p>
                  </a:txBody>
                  <a:tcPr anchor="ctr"/>
                </a:tc>
                <a:extLst>
                  <a:ext uri="{0D108BD9-81ED-4DB2-BD59-A6C34878D82A}">
                    <a16:rowId xmlns:a16="http://schemas.microsoft.com/office/drawing/2014/main" val="1540031437"/>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dma_rsp_rdata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Input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Data 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Engine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Read data return</a:t>
                      </a:r>
                    </a:p>
                  </a:txBody>
                  <a:tcPr anchor="ctr"/>
                </a:tc>
                <a:extLst>
                  <a:ext uri="{0D108BD9-81ED-4DB2-BD59-A6C34878D82A}">
                    <a16:rowId xmlns:a16="http://schemas.microsoft.com/office/drawing/2014/main" val="3984171790"/>
                  </a:ext>
                </a:extLst>
              </a:tr>
              <a:tr h="370840">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dma_req_wdata</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Output</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Data Width</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DMA Engine</a:t>
                      </a:r>
                    </a:p>
                  </a:txBody>
                  <a:tcPr anchor="ctr"/>
                </a:tc>
                <a:tc>
                  <a:txBody>
                    <a:bodyPr/>
                    <a:lstStyle/>
                    <a:p>
                      <a:pPr algn="ctr">
                        <a:buNone/>
                      </a:pPr>
                      <a:r>
                        <a:rPr lang="en-IN">
                          <a:latin typeface="Calibri" panose="020F0502020204030204" pitchFamily="34" charset="0"/>
                          <a:ea typeface="Calibri" panose="020F0502020204030204" pitchFamily="34" charset="0"/>
                          <a:cs typeface="Calibri" panose="020F0502020204030204" pitchFamily="34" charset="0"/>
                        </a:rPr>
                        <a:t>SOC_IFC</a:t>
                      </a:r>
                    </a:p>
                  </a:txBody>
                  <a:tcPr anchor="ctr"/>
                </a:tc>
                <a:tc>
                  <a:txBody>
                    <a:bodyPr/>
                    <a:lstStyle/>
                    <a:p>
                      <a:pPr algn="ctr">
                        <a:buNone/>
                      </a:pPr>
                      <a:r>
                        <a:rPr lang="en-IN" dirty="0">
                          <a:latin typeface="Calibri" panose="020F0502020204030204" pitchFamily="34" charset="0"/>
                          <a:ea typeface="Calibri" panose="020F0502020204030204" pitchFamily="34" charset="0"/>
                          <a:cs typeface="Calibri" panose="020F0502020204030204" pitchFamily="34" charset="0"/>
                        </a:rPr>
                        <a:t>Write data</a:t>
                      </a:r>
                    </a:p>
                  </a:txBody>
                  <a:tcPr anchor="ctr"/>
                </a:tc>
                <a:extLst>
                  <a:ext uri="{0D108BD9-81ED-4DB2-BD59-A6C34878D82A}">
                    <a16:rowId xmlns:a16="http://schemas.microsoft.com/office/drawing/2014/main" val="3987468526"/>
                  </a:ext>
                </a:extLst>
              </a:tr>
            </a:tbl>
          </a:graphicData>
        </a:graphic>
      </p:graphicFrame>
    </p:spTree>
    <p:extLst>
      <p:ext uri="{BB962C8B-B14F-4D97-AF65-F5344CB8AC3E}">
        <p14:creationId xmlns:p14="http://schemas.microsoft.com/office/powerpoint/2010/main" val="29957575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297C3-6839-B41A-3945-F48F3365F3C1}"/>
            </a:ext>
          </a:extLst>
        </p:cNvPr>
        <p:cNvGrpSpPr/>
        <p:nvPr/>
      </p:nvGrpSpPr>
      <p:grpSpPr>
        <a:xfrm>
          <a:off x="0" y="0"/>
          <a:ext cx="0" cy="0"/>
          <a:chOff x="0" y="0"/>
          <a:chExt cx="0" cy="0"/>
        </a:xfrm>
      </p:grpSpPr>
      <p:cxnSp>
        <p:nvCxnSpPr>
          <p:cNvPr id="26" name="Straight Arrow Connector 25">
            <a:extLst>
              <a:ext uri="{FF2B5EF4-FFF2-40B4-BE49-F238E27FC236}">
                <a16:creationId xmlns:a16="http://schemas.microsoft.com/office/drawing/2014/main" id="{F9DD04FC-D4A5-A27E-5CC4-BB6AF7D9E8C9}"/>
              </a:ext>
            </a:extLst>
          </p:cNvPr>
          <p:cNvCxnSpPr>
            <a:cxnSpLocks/>
          </p:cNvCxnSpPr>
          <p:nvPr/>
        </p:nvCxnSpPr>
        <p:spPr>
          <a:xfrm flipH="1">
            <a:off x="1071613" y="2070676"/>
            <a:ext cx="7520076" cy="0"/>
          </a:xfrm>
          <a:prstGeom prst="straightConnector1">
            <a:avLst/>
          </a:prstGeom>
          <a:ln w="28575">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grpSp>
        <p:nvGrpSpPr>
          <p:cNvPr id="62" name="Group 61">
            <a:extLst>
              <a:ext uri="{FF2B5EF4-FFF2-40B4-BE49-F238E27FC236}">
                <a16:creationId xmlns:a16="http://schemas.microsoft.com/office/drawing/2014/main" id="{96D636D0-7C48-0C55-6DCD-AFA74F1081F4}"/>
              </a:ext>
            </a:extLst>
          </p:cNvPr>
          <p:cNvGrpSpPr/>
          <p:nvPr/>
        </p:nvGrpSpPr>
        <p:grpSpPr>
          <a:xfrm>
            <a:off x="743081" y="647161"/>
            <a:ext cx="11314155" cy="6061141"/>
            <a:chOff x="680801" y="114807"/>
            <a:chExt cx="11314155" cy="6061141"/>
          </a:xfrm>
        </p:grpSpPr>
        <p:cxnSp>
          <p:nvCxnSpPr>
            <p:cNvPr id="5" name="Straight Connector 4">
              <a:extLst>
                <a:ext uri="{FF2B5EF4-FFF2-40B4-BE49-F238E27FC236}">
                  <a16:creationId xmlns:a16="http://schemas.microsoft.com/office/drawing/2014/main" id="{DFF478BA-60E4-8F9E-210C-61CDB370A34E}"/>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6834D08F-AE42-6950-A775-064D3160F9E1}"/>
                </a:ext>
              </a:extLst>
            </p:cNvPr>
            <p:cNvCxnSpPr/>
            <p:nvPr/>
          </p:nvCxnSpPr>
          <p:spPr>
            <a:xfrm>
              <a:off x="2805660" y="494674"/>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F1EDC274-3539-B0B2-9A55-EBBC320FD959}"/>
                </a:ext>
              </a:extLst>
            </p:cNvPr>
            <p:cNvCxnSpPr/>
            <p:nvPr/>
          </p:nvCxnSpPr>
          <p:spPr>
            <a:xfrm>
              <a:off x="4769371"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1C21F689-514C-894C-F582-93C3EE18C1C0}"/>
                </a:ext>
              </a:extLst>
            </p:cNvPr>
            <p:cNvCxnSpPr/>
            <p:nvPr/>
          </p:nvCxnSpPr>
          <p:spPr>
            <a:xfrm>
              <a:off x="662815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052DF0D3-E198-002A-136D-2A3AA2E7AF55}"/>
                </a:ext>
              </a:extLst>
            </p:cNvPr>
            <p:cNvCxnSpPr/>
            <p:nvPr/>
          </p:nvCxnSpPr>
          <p:spPr>
            <a:xfrm>
              <a:off x="853190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FF02D7B5-02E1-59AF-40DB-EF13E18360F3}"/>
                </a:ext>
              </a:extLst>
            </p:cNvPr>
            <p:cNvSpPr txBox="1"/>
            <p:nvPr/>
          </p:nvSpPr>
          <p:spPr>
            <a:xfrm>
              <a:off x="680801" y="125343"/>
              <a:ext cx="1304144" cy="369332"/>
            </a:xfrm>
            <a:prstGeom prst="rect">
              <a:avLst/>
            </a:prstGeom>
            <a:noFill/>
          </p:spPr>
          <p:txBody>
            <a:bodyPr wrap="square" rtlCol="0">
              <a:spAutoFit/>
            </a:bodyPr>
            <a:lstStyle/>
            <a:p>
              <a:r>
                <a:rPr lang="en-GB" b="1"/>
                <a:t>SoC</a:t>
              </a:r>
            </a:p>
          </p:txBody>
        </p:sp>
        <p:sp>
          <p:nvSpPr>
            <p:cNvPr id="11" name="TextBox 10">
              <a:extLst>
                <a:ext uri="{FF2B5EF4-FFF2-40B4-BE49-F238E27FC236}">
                  <a16:creationId xmlns:a16="http://schemas.microsoft.com/office/drawing/2014/main" id="{CE1D490D-6B3B-E71E-B4CF-E2DF7DCD1725}"/>
                </a:ext>
              </a:extLst>
            </p:cNvPr>
            <p:cNvSpPr txBox="1"/>
            <p:nvPr/>
          </p:nvSpPr>
          <p:spPr>
            <a:xfrm>
              <a:off x="2284748" y="132839"/>
              <a:ext cx="1753847" cy="369332"/>
            </a:xfrm>
            <a:prstGeom prst="rect">
              <a:avLst/>
            </a:prstGeom>
            <a:noFill/>
          </p:spPr>
          <p:txBody>
            <a:bodyPr wrap="square" rtlCol="0">
              <a:spAutoFit/>
            </a:bodyPr>
            <a:lstStyle/>
            <a:p>
              <a:r>
                <a:rPr lang="en-GB" b="1"/>
                <a:t>AXI Interface</a:t>
              </a:r>
            </a:p>
          </p:txBody>
        </p:sp>
        <p:sp>
          <p:nvSpPr>
            <p:cNvPr id="12" name="TextBox 11">
              <a:extLst>
                <a:ext uri="{FF2B5EF4-FFF2-40B4-BE49-F238E27FC236}">
                  <a16:creationId xmlns:a16="http://schemas.microsoft.com/office/drawing/2014/main" id="{062ACCE6-9213-8419-314E-E771EC626B14}"/>
                </a:ext>
              </a:extLst>
            </p:cNvPr>
            <p:cNvSpPr txBox="1"/>
            <p:nvPr/>
          </p:nvSpPr>
          <p:spPr>
            <a:xfrm>
              <a:off x="8027882" y="157486"/>
              <a:ext cx="1304144" cy="369332"/>
            </a:xfrm>
            <a:prstGeom prst="rect">
              <a:avLst/>
            </a:prstGeom>
            <a:noFill/>
          </p:spPr>
          <p:txBody>
            <a:bodyPr wrap="square" rtlCol="0">
              <a:spAutoFit/>
            </a:bodyPr>
            <a:lstStyle/>
            <a:p>
              <a:r>
                <a:rPr lang="en-GB" b="1" dirty="0"/>
                <a:t>Boot FSM</a:t>
              </a:r>
            </a:p>
          </p:txBody>
        </p:sp>
        <p:sp>
          <p:nvSpPr>
            <p:cNvPr id="13" name="TextBox 12">
              <a:extLst>
                <a:ext uri="{FF2B5EF4-FFF2-40B4-BE49-F238E27FC236}">
                  <a16:creationId xmlns:a16="http://schemas.microsoft.com/office/drawing/2014/main" id="{85C758E8-9FB8-1C2E-21DB-E89D8CCFDCFC}"/>
                </a:ext>
              </a:extLst>
            </p:cNvPr>
            <p:cNvSpPr txBox="1"/>
            <p:nvPr/>
          </p:nvSpPr>
          <p:spPr>
            <a:xfrm>
              <a:off x="4122912" y="125342"/>
              <a:ext cx="1952485" cy="369332"/>
            </a:xfrm>
            <a:prstGeom prst="rect">
              <a:avLst/>
            </a:prstGeom>
            <a:noFill/>
          </p:spPr>
          <p:txBody>
            <a:bodyPr wrap="square" rtlCol="0">
              <a:spAutoFit/>
            </a:bodyPr>
            <a:lstStyle/>
            <a:p>
              <a:r>
                <a:rPr lang="en-GB" b="1" dirty="0" err="1"/>
                <a:t>SoC_IFC</a:t>
              </a:r>
              <a:r>
                <a:rPr lang="en-GB" b="1" dirty="0"/>
                <a:t> Arbiter</a:t>
              </a:r>
            </a:p>
          </p:txBody>
        </p:sp>
        <p:sp>
          <p:nvSpPr>
            <p:cNvPr id="14" name="TextBox 13">
              <a:extLst>
                <a:ext uri="{FF2B5EF4-FFF2-40B4-BE49-F238E27FC236}">
                  <a16:creationId xmlns:a16="http://schemas.microsoft.com/office/drawing/2014/main" id="{275EC892-0A56-90FF-6AEC-46C1C8C0F7CD}"/>
                </a:ext>
              </a:extLst>
            </p:cNvPr>
            <p:cNvSpPr txBox="1"/>
            <p:nvPr/>
          </p:nvSpPr>
          <p:spPr>
            <a:xfrm>
              <a:off x="6075397" y="114807"/>
              <a:ext cx="2006805" cy="369332"/>
            </a:xfrm>
            <a:prstGeom prst="rect">
              <a:avLst/>
            </a:prstGeom>
            <a:noFill/>
          </p:spPr>
          <p:txBody>
            <a:bodyPr wrap="square" rtlCol="0">
              <a:spAutoFit/>
            </a:bodyPr>
            <a:lstStyle/>
            <a:p>
              <a:r>
                <a:rPr lang="en-GB" b="1" dirty="0"/>
                <a:t>Address Decoder</a:t>
              </a:r>
            </a:p>
          </p:txBody>
        </p:sp>
        <p:sp>
          <p:nvSpPr>
            <p:cNvPr id="15" name="TextBox 14">
              <a:extLst>
                <a:ext uri="{FF2B5EF4-FFF2-40B4-BE49-F238E27FC236}">
                  <a16:creationId xmlns:a16="http://schemas.microsoft.com/office/drawing/2014/main" id="{D9C70150-4336-918B-21F2-0F6051BA6E61}"/>
                </a:ext>
              </a:extLst>
            </p:cNvPr>
            <p:cNvSpPr txBox="1"/>
            <p:nvPr/>
          </p:nvSpPr>
          <p:spPr>
            <a:xfrm>
              <a:off x="9394788" y="148230"/>
              <a:ext cx="2600168" cy="369332"/>
            </a:xfrm>
            <a:prstGeom prst="rect">
              <a:avLst/>
            </a:prstGeom>
            <a:noFill/>
          </p:spPr>
          <p:txBody>
            <a:bodyPr wrap="square" rtlCol="0">
              <a:spAutoFit/>
            </a:bodyPr>
            <a:lstStyle/>
            <a:p>
              <a:r>
                <a:rPr lang="en-GB" b="1" dirty="0" err="1"/>
                <a:t>SoC_IFC</a:t>
              </a:r>
              <a:r>
                <a:rPr lang="en-GB" b="1" dirty="0"/>
                <a:t> Registers</a:t>
              </a:r>
            </a:p>
          </p:txBody>
        </p:sp>
        <p:cxnSp>
          <p:nvCxnSpPr>
            <p:cNvPr id="16" name="Straight Connector 15">
              <a:extLst>
                <a:ext uri="{FF2B5EF4-FFF2-40B4-BE49-F238E27FC236}">
                  <a16:creationId xmlns:a16="http://schemas.microsoft.com/office/drawing/2014/main" id="{C8A6EE3F-F929-F52B-3287-B863B8B80764}"/>
                </a:ext>
              </a:extLst>
            </p:cNvPr>
            <p:cNvCxnSpPr/>
            <p:nvPr/>
          </p:nvCxnSpPr>
          <p:spPr>
            <a:xfrm>
              <a:off x="10348210"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0D4B9385-FABE-B76A-208A-9607F2E8978B}"/>
                </a:ext>
              </a:extLst>
            </p:cNvPr>
            <p:cNvCxnSpPr>
              <a:cxnSpLocks/>
            </p:cNvCxnSpPr>
            <p:nvPr/>
          </p:nvCxnSpPr>
          <p:spPr>
            <a:xfrm>
              <a:off x="989351" y="866719"/>
              <a:ext cx="7542551" cy="37689"/>
            </a:xfrm>
            <a:prstGeom prst="straightConnector1">
              <a:avLst/>
            </a:prstGeom>
            <a:ln w="28575">
              <a:solidFill>
                <a:schemeClr val="accent5">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9661F177-00F1-273A-3B9E-4F6DAC98F145}"/>
                </a:ext>
              </a:extLst>
            </p:cNvPr>
            <p:cNvSpPr txBox="1"/>
            <p:nvPr/>
          </p:nvSpPr>
          <p:spPr>
            <a:xfrm>
              <a:off x="1135500" y="497387"/>
              <a:ext cx="1966213" cy="369332"/>
            </a:xfrm>
            <a:prstGeom prst="rect">
              <a:avLst/>
            </a:prstGeom>
            <a:noFill/>
          </p:spPr>
          <p:txBody>
            <a:bodyPr wrap="square" rtlCol="0">
              <a:spAutoFit/>
            </a:bodyPr>
            <a:lstStyle/>
            <a:p>
              <a:r>
                <a:rPr lang="en-GB" err="1">
                  <a:solidFill>
                    <a:schemeClr val="accent5">
                      <a:lumMod val="75000"/>
                    </a:schemeClr>
                  </a:solidFill>
                </a:rPr>
                <a:t>cptra_pwrgood</a:t>
              </a:r>
              <a:endParaRPr lang="en-GB">
                <a:solidFill>
                  <a:schemeClr val="accent5">
                    <a:lumMod val="75000"/>
                  </a:schemeClr>
                </a:solidFill>
              </a:endParaRPr>
            </a:p>
          </p:txBody>
        </p:sp>
        <p:sp>
          <p:nvSpPr>
            <p:cNvPr id="22" name="TextBox 21">
              <a:extLst>
                <a:ext uri="{FF2B5EF4-FFF2-40B4-BE49-F238E27FC236}">
                  <a16:creationId xmlns:a16="http://schemas.microsoft.com/office/drawing/2014/main" id="{94881A12-4D96-2D90-5C92-2D3E9E9401D5}"/>
                </a:ext>
              </a:extLst>
            </p:cNvPr>
            <p:cNvSpPr txBox="1"/>
            <p:nvPr/>
          </p:nvSpPr>
          <p:spPr>
            <a:xfrm>
              <a:off x="1044314" y="837377"/>
              <a:ext cx="2557067" cy="369332"/>
            </a:xfrm>
            <a:prstGeom prst="rect">
              <a:avLst/>
            </a:prstGeom>
            <a:noFill/>
          </p:spPr>
          <p:txBody>
            <a:bodyPr wrap="square" rtlCol="0">
              <a:spAutoFit/>
            </a:bodyPr>
            <a:lstStyle/>
            <a:p>
              <a:r>
                <a:rPr lang="en-GB" err="1">
                  <a:solidFill>
                    <a:schemeClr val="accent5">
                      <a:lumMod val="75000"/>
                    </a:schemeClr>
                  </a:solidFill>
                </a:rPr>
                <a:t>cptra_rst_b</a:t>
              </a:r>
              <a:r>
                <a:rPr lang="en-GB">
                  <a:solidFill>
                    <a:schemeClr val="accent5">
                      <a:lumMod val="75000"/>
                    </a:schemeClr>
                  </a:solidFill>
                </a:rPr>
                <a:t> (</a:t>
              </a:r>
              <a:r>
                <a:rPr lang="en-GB" err="1">
                  <a:solidFill>
                    <a:schemeClr val="accent5">
                      <a:lumMod val="75000"/>
                    </a:schemeClr>
                  </a:solidFill>
                </a:rPr>
                <a:t>deassert</a:t>
              </a:r>
              <a:r>
                <a:rPr lang="en-GB">
                  <a:solidFill>
                    <a:schemeClr val="accent5">
                      <a:lumMod val="75000"/>
                    </a:schemeClr>
                  </a:solidFill>
                </a:rPr>
                <a:t>)</a:t>
              </a:r>
            </a:p>
          </p:txBody>
        </p:sp>
        <p:cxnSp>
          <p:nvCxnSpPr>
            <p:cNvPr id="23" name="Straight Arrow Connector 22">
              <a:extLst>
                <a:ext uri="{FF2B5EF4-FFF2-40B4-BE49-F238E27FC236}">
                  <a16:creationId xmlns:a16="http://schemas.microsoft.com/office/drawing/2014/main" id="{B6B7D9D2-8A11-C8F6-7C44-CDE74D3F01CB}"/>
                </a:ext>
              </a:extLst>
            </p:cNvPr>
            <p:cNvCxnSpPr>
              <a:cxnSpLocks/>
            </p:cNvCxnSpPr>
            <p:nvPr/>
          </p:nvCxnSpPr>
          <p:spPr>
            <a:xfrm>
              <a:off x="975612" y="1218988"/>
              <a:ext cx="7556290" cy="71086"/>
            </a:xfrm>
            <a:prstGeom prst="straightConnector1">
              <a:avLst/>
            </a:prstGeom>
            <a:ln w="28575">
              <a:solidFill>
                <a:schemeClr val="accent5">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52932A4E-B021-EE2D-E573-DC9ACA4C109C}"/>
                </a:ext>
              </a:extLst>
            </p:cNvPr>
            <p:cNvSpPr txBox="1"/>
            <p:nvPr/>
          </p:nvSpPr>
          <p:spPr>
            <a:xfrm>
              <a:off x="4764369" y="2590163"/>
              <a:ext cx="1467788" cy="369332"/>
            </a:xfrm>
            <a:prstGeom prst="rect">
              <a:avLst/>
            </a:prstGeom>
            <a:noFill/>
          </p:spPr>
          <p:txBody>
            <a:bodyPr wrap="square" rtlCol="0">
              <a:spAutoFit/>
            </a:bodyPr>
            <a:lstStyle/>
            <a:p>
              <a:endParaRPr lang="en-GB" b="1" dirty="0">
                <a:solidFill>
                  <a:schemeClr val="accent2">
                    <a:lumMod val="75000"/>
                  </a:schemeClr>
                </a:solidFill>
              </a:endParaRPr>
            </a:p>
          </p:txBody>
        </p:sp>
        <p:sp>
          <p:nvSpPr>
            <p:cNvPr id="31" name="TextBox 30">
              <a:extLst>
                <a:ext uri="{FF2B5EF4-FFF2-40B4-BE49-F238E27FC236}">
                  <a16:creationId xmlns:a16="http://schemas.microsoft.com/office/drawing/2014/main" id="{9A799CFC-A695-F7C2-5B93-340C5DDDB7CD}"/>
                </a:ext>
              </a:extLst>
            </p:cNvPr>
            <p:cNvSpPr txBox="1"/>
            <p:nvPr/>
          </p:nvSpPr>
          <p:spPr>
            <a:xfrm>
              <a:off x="4836815" y="1242912"/>
              <a:ext cx="1896267" cy="369332"/>
            </a:xfrm>
            <a:prstGeom prst="rect">
              <a:avLst/>
            </a:prstGeom>
            <a:noFill/>
          </p:spPr>
          <p:txBody>
            <a:bodyPr wrap="square" rtlCol="0">
              <a:spAutoFit/>
            </a:bodyPr>
            <a:lstStyle/>
            <a:p>
              <a:r>
                <a:rPr lang="en-GB" dirty="0" err="1">
                  <a:solidFill>
                    <a:schemeClr val="accent2">
                      <a:lumMod val="75000"/>
                    </a:schemeClr>
                  </a:solidFill>
                </a:rPr>
                <a:t>ready_for_fuses</a:t>
              </a:r>
              <a:endParaRPr lang="en-GB" dirty="0">
                <a:solidFill>
                  <a:schemeClr val="accent2">
                    <a:lumMod val="75000"/>
                  </a:schemeClr>
                </a:solidFill>
              </a:endParaRPr>
            </a:p>
          </p:txBody>
        </p:sp>
        <p:sp>
          <p:nvSpPr>
            <p:cNvPr id="32" name="TextBox 31">
              <a:extLst>
                <a:ext uri="{FF2B5EF4-FFF2-40B4-BE49-F238E27FC236}">
                  <a16:creationId xmlns:a16="http://schemas.microsoft.com/office/drawing/2014/main" id="{7F5FC75D-F736-903F-248F-4D81F021FC5E}"/>
                </a:ext>
              </a:extLst>
            </p:cNvPr>
            <p:cNvSpPr txBox="1"/>
            <p:nvPr/>
          </p:nvSpPr>
          <p:spPr>
            <a:xfrm>
              <a:off x="2819723" y="1603394"/>
              <a:ext cx="2557067" cy="369332"/>
            </a:xfrm>
            <a:prstGeom prst="rect">
              <a:avLst/>
            </a:prstGeom>
            <a:noFill/>
          </p:spPr>
          <p:txBody>
            <a:bodyPr wrap="square" rtlCol="0">
              <a:spAutoFit/>
            </a:bodyPr>
            <a:lstStyle/>
            <a:p>
              <a:r>
                <a:rPr lang="en-GB" dirty="0" err="1">
                  <a:solidFill>
                    <a:schemeClr val="accent2">
                      <a:lumMod val="75000"/>
                    </a:schemeClr>
                  </a:solidFill>
                </a:rPr>
                <a:t>fuse_req_interrupt</a:t>
              </a:r>
              <a:endParaRPr lang="en-GB" dirty="0">
                <a:solidFill>
                  <a:schemeClr val="accent2">
                    <a:lumMod val="75000"/>
                  </a:schemeClr>
                </a:solidFill>
              </a:endParaRPr>
            </a:p>
          </p:txBody>
        </p:sp>
        <p:cxnSp>
          <p:nvCxnSpPr>
            <p:cNvPr id="33" name="Straight Arrow Connector 32">
              <a:extLst>
                <a:ext uri="{FF2B5EF4-FFF2-40B4-BE49-F238E27FC236}">
                  <a16:creationId xmlns:a16="http://schemas.microsoft.com/office/drawing/2014/main" id="{907A90C5-F161-8789-296D-381458009E0D}"/>
                </a:ext>
              </a:extLst>
            </p:cNvPr>
            <p:cNvCxnSpPr>
              <a:cxnSpLocks/>
            </p:cNvCxnSpPr>
            <p:nvPr/>
          </p:nvCxnSpPr>
          <p:spPr>
            <a:xfrm flipH="1" flipV="1">
              <a:off x="989351" y="1963111"/>
              <a:ext cx="7542551" cy="19243"/>
            </a:xfrm>
            <a:prstGeom prst="straightConnector1">
              <a:avLst/>
            </a:prstGeom>
            <a:ln w="28575">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197BACC6-77CB-60A3-D187-F6F5E314AA92}"/>
                </a:ext>
              </a:extLst>
            </p:cNvPr>
            <p:cNvCxnSpPr>
              <a:cxnSpLocks/>
            </p:cNvCxnSpPr>
            <p:nvPr/>
          </p:nvCxnSpPr>
          <p:spPr>
            <a:xfrm>
              <a:off x="1012278" y="2410106"/>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39" name="TextBox 38">
              <a:extLst>
                <a:ext uri="{FF2B5EF4-FFF2-40B4-BE49-F238E27FC236}">
                  <a16:creationId xmlns:a16="http://schemas.microsoft.com/office/drawing/2014/main" id="{48660AEE-C648-8FB0-E004-B2E2C14509E5}"/>
                </a:ext>
              </a:extLst>
            </p:cNvPr>
            <p:cNvSpPr txBox="1"/>
            <p:nvPr/>
          </p:nvSpPr>
          <p:spPr>
            <a:xfrm>
              <a:off x="1257430" y="2398006"/>
              <a:ext cx="3521429" cy="369332"/>
            </a:xfrm>
            <a:prstGeom prst="rect">
              <a:avLst/>
            </a:prstGeom>
            <a:noFill/>
          </p:spPr>
          <p:txBody>
            <a:bodyPr wrap="square" rtlCol="0">
              <a:spAutoFit/>
            </a:bodyPr>
            <a:lstStyle/>
            <a:p>
              <a:r>
                <a:rPr lang="en-GB" dirty="0">
                  <a:solidFill>
                    <a:schemeClr val="accent3">
                      <a:lumMod val="75000"/>
                    </a:schemeClr>
                  </a:solidFill>
                </a:rPr>
                <a:t>WDATA</a:t>
              </a:r>
            </a:p>
          </p:txBody>
        </p:sp>
        <p:cxnSp>
          <p:nvCxnSpPr>
            <p:cNvPr id="40" name="Straight Arrow Connector 39">
              <a:extLst>
                <a:ext uri="{FF2B5EF4-FFF2-40B4-BE49-F238E27FC236}">
                  <a16:creationId xmlns:a16="http://schemas.microsoft.com/office/drawing/2014/main" id="{85665A43-EEA3-A5BC-32A2-F31EC569032A}"/>
                </a:ext>
              </a:extLst>
            </p:cNvPr>
            <p:cNvCxnSpPr>
              <a:cxnSpLocks/>
            </p:cNvCxnSpPr>
            <p:nvPr/>
          </p:nvCxnSpPr>
          <p:spPr>
            <a:xfrm>
              <a:off x="975612" y="2697028"/>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C8D8F970-3ECA-44D9-AFA3-3CD30BF249FC}"/>
                </a:ext>
              </a:extLst>
            </p:cNvPr>
            <p:cNvCxnSpPr>
              <a:cxnSpLocks/>
            </p:cNvCxnSpPr>
            <p:nvPr/>
          </p:nvCxnSpPr>
          <p:spPr>
            <a:xfrm>
              <a:off x="999304" y="2987159"/>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2" name="TextBox 41">
              <a:extLst>
                <a:ext uri="{FF2B5EF4-FFF2-40B4-BE49-F238E27FC236}">
                  <a16:creationId xmlns:a16="http://schemas.microsoft.com/office/drawing/2014/main" id="{9354BEC3-80E4-722B-18F6-BA37DD210251}"/>
                </a:ext>
              </a:extLst>
            </p:cNvPr>
            <p:cNvSpPr txBox="1"/>
            <p:nvPr/>
          </p:nvSpPr>
          <p:spPr>
            <a:xfrm>
              <a:off x="1265106" y="2058242"/>
              <a:ext cx="3242868" cy="369332"/>
            </a:xfrm>
            <a:prstGeom prst="rect">
              <a:avLst/>
            </a:prstGeom>
            <a:noFill/>
          </p:spPr>
          <p:txBody>
            <a:bodyPr wrap="square" rtlCol="0">
              <a:spAutoFit/>
            </a:bodyPr>
            <a:lstStyle/>
            <a:p>
              <a:r>
                <a:rPr lang="en-GB" dirty="0">
                  <a:solidFill>
                    <a:schemeClr val="accent3">
                      <a:lumMod val="75000"/>
                    </a:schemeClr>
                  </a:solidFill>
                </a:rPr>
                <a:t>AWADDR</a:t>
              </a:r>
            </a:p>
          </p:txBody>
        </p:sp>
        <p:cxnSp>
          <p:nvCxnSpPr>
            <p:cNvPr id="43" name="Straight Arrow Connector 42">
              <a:extLst>
                <a:ext uri="{FF2B5EF4-FFF2-40B4-BE49-F238E27FC236}">
                  <a16:creationId xmlns:a16="http://schemas.microsoft.com/office/drawing/2014/main" id="{3AA8C62F-33F7-C331-34C8-4C04A3CCF238}"/>
                </a:ext>
              </a:extLst>
            </p:cNvPr>
            <p:cNvCxnSpPr>
              <a:cxnSpLocks/>
            </p:cNvCxnSpPr>
            <p:nvPr/>
          </p:nvCxnSpPr>
          <p:spPr>
            <a:xfrm>
              <a:off x="2830762" y="3516429"/>
              <a:ext cx="1948097"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BF2EA7E9-C05D-CDB0-EE7D-20A40D0982FA}"/>
                </a:ext>
              </a:extLst>
            </p:cNvPr>
            <p:cNvSpPr txBox="1"/>
            <p:nvPr/>
          </p:nvSpPr>
          <p:spPr>
            <a:xfrm>
              <a:off x="5057704" y="4034855"/>
              <a:ext cx="2557067" cy="369332"/>
            </a:xfrm>
            <a:prstGeom prst="rect">
              <a:avLst/>
            </a:prstGeom>
            <a:noFill/>
          </p:spPr>
          <p:txBody>
            <a:bodyPr wrap="square" rtlCol="0">
              <a:spAutoFit/>
            </a:bodyPr>
            <a:lstStyle/>
            <a:p>
              <a:r>
                <a:rPr lang="en-GB" dirty="0" err="1">
                  <a:solidFill>
                    <a:schemeClr val="accent3">
                      <a:lumMod val="75000"/>
                    </a:schemeClr>
                  </a:solidFill>
                </a:rPr>
                <a:t>reg_addr</a:t>
              </a:r>
              <a:endParaRPr lang="en-GB" dirty="0">
                <a:solidFill>
                  <a:schemeClr val="accent3">
                    <a:lumMod val="75000"/>
                  </a:schemeClr>
                </a:solidFill>
              </a:endParaRPr>
            </a:p>
          </p:txBody>
        </p:sp>
        <p:sp>
          <p:nvSpPr>
            <p:cNvPr id="46" name="TextBox 45">
              <a:extLst>
                <a:ext uri="{FF2B5EF4-FFF2-40B4-BE49-F238E27FC236}">
                  <a16:creationId xmlns:a16="http://schemas.microsoft.com/office/drawing/2014/main" id="{2BE5A9B8-98BC-2166-7945-2FBD46A302B5}"/>
                </a:ext>
              </a:extLst>
            </p:cNvPr>
            <p:cNvSpPr txBox="1"/>
            <p:nvPr/>
          </p:nvSpPr>
          <p:spPr>
            <a:xfrm>
              <a:off x="3169918" y="5647409"/>
              <a:ext cx="3217882" cy="369332"/>
            </a:xfrm>
            <a:prstGeom prst="rect">
              <a:avLst/>
            </a:prstGeom>
            <a:noFill/>
          </p:spPr>
          <p:txBody>
            <a:bodyPr wrap="square" rtlCol="0">
              <a:spAutoFit/>
            </a:bodyPr>
            <a:lstStyle/>
            <a:p>
              <a:r>
                <a:rPr lang="en-GB" dirty="0" err="1">
                  <a:solidFill>
                    <a:schemeClr val="accent4">
                      <a:lumMod val="50000"/>
                    </a:schemeClr>
                  </a:solidFill>
                </a:rPr>
                <a:t>cptra_uc_rst_b_deassert</a:t>
              </a:r>
              <a:endParaRPr lang="en-GB" dirty="0">
                <a:solidFill>
                  <a:schemeClr val="accent4">
                    <a:lumMod val="50000"/>
                  </a:schemeClr>
                </a:solidFill>
              </a:endParaRPr>
            </a:p>
          </p:txBody>
        </p:sp>
        <p:cxnSp>
          <p:nvCxnSpPr>
            <p:cNvPr id="47" name="Straight Arrow Connector 46">
              <a:extLst>
                <a:ext uri="{FF2B5EF4-FFF2-40B4-BE49-F238E27FC236}">
                  <a16:creationId xmlns:a16="http://schemas.microsoft.com/office/drawing/2014/main" id="{B84649C7-D5C7-A305-4DCD-B3ED828BA105}"/>
                </a:ext>
              </a:extLst>
            </p:cNvPr>
            <p:cNvCxnSpPr>
              <a:cxnSpLocks/>
            </p:cNvCxnSpPr>
            <p:nvPr/>
          </p:nvCxnSpPr>
          <p:spPr>
            <a:xfrm>
              <a:off x="4778859" y="4387383"/>
              <a:ext cx="1858781"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9E266036-56D8-610A-CCC6-C95368758451}"/>
                </a:ext>
              </a:extLst>
            </p:cNvPr>
            <p:cNvSpPr txBox="1"/>
            <p:nvPr/>
          </p:nvSpPr>
          <p:spPr>
            <a:xfrm>
              <a:off x="6763689" y="4093422"/>
              <a:ext cx="1907497" cy="369332"/>
            </a:xfrm>
            <a:prstGeom prst="rect">
              <a:avLst/>
            </a:prstGeom>
            <a:noFill/>
          </p:spPr>
          <p:txBody>
            <a:bodyPr wrap="square" rtlCol="0">
              <a:spAutoFit/>
            </a:bodyPr>
            <a:lstStyle/>
            <a:p>
              <a:endParaRPr lang="en-GB" b="1" dirty="0">
                <a:solidFill>
                  <a:schemeClr val="accent4">
                    <a:lumMod val="50000"/>
                  </a:schemeClr>
                </a:solidFill>
              </a:endParaRPr>
            </a:p>
          </p:txBody>
        </p:sp>
        <p:cxnSp>
          <p:nvCxnSpPr>
            <p:cNvPr id="51" name="Straight Arrow Connector 50">
              <a:extLst>
                <a:ext uri="{FF2B5EF4-FFF2-40B4-BE49-F238E27FC236}">
                  <a16:creationId xmlns:a16="http://schemas.microsoft.com/office/drawing/2014/main" id="{83E36C55-01A9-7ABA-5C67-46179F9BDFE8}"/>
                </a:ext>
              </a:extLst>
            </p:cNvPr>
            <p:cNvCxnSpPr>
              <a:cxnSpLocks/>
            </p:cNvCxnSpPr>
            <p:nvPr/>
          </p:nvCxnSpPr>
          <p:spPr>
            <a:xfrm>
              <a:off x="6616281" y="4870880"/>
              <a:ext cx="3725060" cy="0"/>
            </a:xfrm>
            <a:prstGeom prst="straightConnector1">
              <a:avLst/>
            </a:prstGeom>
            <a:ln w="28575">
              <a:solidFill>
                <a:schemeClr val="accent6"/>
              </a:solidFill>
              <a:tailEnd type="triangle"/>
            </a:ln>
          </p:spPr>
          <p:style>
            <a:lnRef idx="2">
              <a:schemeClr val="dk1"/>
            </a:lnRef>
            <a:fillRef idx="0">
              <a:schemeClr val="dk1"/>
            </a:fillRef>
            <a:effectRef idx="1">
              <a:schemeClr val="dk1"/>
            </a:effectRef>
            <a:fontRef idx="minor">
              <a:schemeClr val="tx1"/>
            </a:fontRef>
          </p:style>
        </p:cxnSp>
        <p:sp>
          <p:nvSpPr>
            <p:cNvPr id="53" name="TextBox 52">
              <a:extLst>
                <a:ext uri="{FF2B5EF4-FFF2-40B4-BE49-F238E27FC236}">
                  <a16:creationId xmlns:a16="http://schemas.microsoft.com/office/drawing/2014/main" id="{0205BB90-B619-DA10-3809-11B8048B5F27}"/>
                </a:ext>
              </a:extLst>
            </p:cNvPr>
            <p:cNvSpPr txBox="1"/>
            <p:nvPr/>
          </p:nvSpPr>
          <p:spPr>
            <a:xfrm>
              <a:off x="6897860" y="4172838"/>
              <a:ext cx="3244121" cy="369332"/>
            </a:xfrm>
            <a:prstGeom prst="rect">
              <a:avLst/>
            </a:prstGeom>
            <a:noFill/>
          </p:spPr>
          <p:txBody>
            <a:bodyPr wrap="square" rtlCol="0">
              <a:spAutoFit/>
            </a:bodyPr>
            <a:lstStyle/>
            <a:p>
              <a:r>
                <a:rPr lang="en-GB" dirty="0" err="1">
                  <a:solidFill>
                    <a:schemeClr val="accent6"/>
                  </a:solidFill>
                </a:rPr>
                <a:t>sel_soc_ifc</a:t>
              </a:r>
              <a:endParaRPr lang="en-GB" dirty="0">
                <a:solidFill>
                  <a:schemeClr val="accent6"/>
                </a:solidFill>
              </a:endParaRPr>
            </a:p>
          </p:txBody>
        </p:sp>
        <p:cxnSp>
          <p:nvCxnSpPr>
            <p:cNvPr id="54" name="Straight Arrow Connector 53">
              <a:extLst>
                <a:ext uri="{FF2B5EF4-FFF2-40B4-BE49-F238E27FC236}">
                  <a16:creationId xmlns:a16="http://schemas.microsoft.com/office/drawing/2014/main" id="{411796B5-55E7-BDCE-64BD-93BE53001FB7}"/>
                </a:ext>
              </a:extLst>
            </p:cNvPr>
            <p:cNvCxnSpPr>
              <a:cxnSpLocks/>
            </p:cNvCxnSpPr>
            <p:nvPr/>
          </p:nvCxnSpPr>
          <p:spPr>
            <a:xfrm>
              <a:off x="6628152" y="5225464"/>
              <a:ext cx="3748059" cy="0"/>
            </a:xfrm>
            <a:prstGeom prst="straightConnector1">
              <a:avLst/>
            </a:prstGeom>
            <a:ln w="28575">
              <a:solidFill>
                <a:schemeClr val="accent6"/>
              </a:solidFill>
              <a:prstDash val="sysDash"/>
              <a:tailEnd type="triangle"/>
            </a:ln>
          </p:spPr>
          <p:style>
            <a:lnRef idx="2">
              <a:schemeClr val="dk1"/>
            </a:lnRef>
            <a:fillRef idx="0">
              <a:schemeClr val="dk1"/>
            </a:fillRef>
            <a:effectRef idx="1">
              <a:schemeClr val="dk1"/>
            </a:effectRef>
            <a:fontRef idx="minor">
              <a:schemeClr val="tx1"/>
            </a:fontRef>
          </p:style>
        </p:cxnSp>
        <p:sp>
          <p:nvSpPr>
            <p:cNvPr id="56" name="TextBox 55">
              <a:extLst>
                <a:ext uri="{FF2B5EF4-FFF2-40B4-BE49-F238E27FC236}">
                  <a16:creationId xmlns:a16="http://schemas.microsoft.com/office/drawing/2014/main" id="{C4E874FF-9797-7884-856C-C54E7F15823B}"/>
                </a:ext>
              </a:extLst>
            </p:cNvPr>
            <p:cNvSpPr txBox="1"/>
            <p:nvPr/>
          </p:nvSpPr>
          <p:spPr>
            <a:xfrm>
              <a:off x="6945437" y="4786223"/>
              <a:ext cx="3021774" cy="369332"/>
            </a:xfrm>
            <a:prstGeom prst="rect">
              <a:avLst/>
            </a:prstGeom>
            <a:noFill/>
          </p:spPr>
          <p:txBody>
            <a:bodyPr wrap="square" rtlCol="0">
              <a:spAutoFit/>
            </a:bodyPr>
            <a:lstStyle/>
            <a:p>
              <a:endParaRPr lang="en-GB" dirty="0">
                <a:solidFill>
                  <a:schemeClr val="accent4">
                    <a:lumMod val="50000"/>
                  </a:schemeClr>
                </a:solidFill>
              </a:endParaRPr>
            </a:p>
          </p:txBody>
        </p:sp>
        <p:sp>
          <p:nvSpPr>
            <p:cNvPr id="60" name="TextBox 59">
              <a:extLst>
                <a:ext uri="{FF2B5EF4-FFF2-40B4-BE49-F238E27FC236}">
                  <a16:creationId xmlns:a16="http://schemas.microsoft.com/office/drawing/2014/main" id="{C472B455-2B32-55C8-A445-2A815F12EB05}"/>
                </a:ext>
              </a:extLst>
            </p:cNvPr>
            <p:cNvSpPr txBox="1"/>
            <p:nvPr/>
          </p:nvSpPr>
          <p:spPr>
            <a:xfrm>
              <a:off x="6682494" y="5249380"/>
              <a:ext cx="723261" cy="369332"/>
            </a:xfrm>
            <a:prstGeom prst="rect">
              <a:avLst/>
            </a:prstGeom>
            <a:noFill/>
          </p:spPr>
          <p:txBody>
            <a:bodyPr wrap="square" rtlCol="0">
              <a:spAutoFit/>
            </a:bodyPr>
            <a:lstStyle/>
            <a:p>
              <a:endParaRPr lang="en-GB" dirty="0">
                <a:solidFill>
                  <a:schemeClr val="accent4">
                    <a:lumMod val="50000"/>
                  </a:schemeClr>
                </a:solidFill>
              </a:endParaRPr>
            </a:p>
          </p:txBody>
        </p:sp>
        <p:sp>
          <p:nvSpPr>
            <p:cNvPr id="61" name="TextBox 60">
              <a:extLst>
                <a:ext uri="{FF2B5EF4-FFF2-40B4-BE49-F238E27FC236}">
                  <a16:creationId xmlns:a16="http://schemas.microsoft.com/office/drawing/2014/main" id="{059BEAC8-0A2E-6B5B-3DEF-45D3D85ADF8D}"/>
                </a:ext>
              </a:extLst>
            </p:cNvPr>
            <p:cNvSpPr txBox="1"/>
            <p:nvPr/>
          </p:nvSpPr>
          <p:spPr>
            <a:xfrm>
              <a:off x="8636533" y="4501548"/>
              <a:ext cx="2043033" cy="369332"/>
            </a:xfrm>
            <a:prstGeom prst="rect">
              <a:avLst/>
            </a:prstGeom>
            <a:noFill/>
          </p:spPr>
          <p:txBody>
            <a:bodyPr wrap="square" rtlCol="0">
              <a:spAutoFit/>
            </a:bodyPr>
            <a:lstStyle/>
            <a:p>
              <a:r>
                <a:rPr lang="en-GB" dirty="0" err="1">
                  <a:solidFill>
                    <a:schemeClr val="accent6"/>
                  </a:solidFill>
                </a:rPr>
                <a:t>reg_req_addr</a:t>
              </a:r>
              <a:endParaRPr lang="en-GB" dirty="0">
                <a:solidFill>
                  <a:schemeClr val="accent6"/>
                </a:solidFill>
              </a:endParaRPr>
            </a:p>
          </p:txBody>
        </p:sp>
      </p:grpSp>
      <p:sp>
        <p:nvSpPr>
          <p:cNvPr id="64" name="Title 1">
            <a:extLst>
              <a:ext uri="{FF2B5EF4-FFF2-40B4-BE49-F238E27FC236}">
                <a16:creationId xmlns:a16="http://schemas.microsoft.com/office/drawing/2014/main" id="{2770A4B6-2502-415D-0FDF-113554D14272}"/>
              </a:ext>
            </a:extLst>
          </p:cNvPr>
          <p:cNvSpPr>
            <a:spLocks noGrp="1"/>
          </p:cNvSpPr>
          <p:nvPr>
            <p:ph type="title"/>
          </p:nvPr>
        </p:nvSpPr>
        <p:spPr>
          <a:xfrm>
            <a:off x="0" y="-1"/>
            <a:ext cx="12192000" cy="688905"/>
          </a:xfrm>
          <a:solidFill>
            <a:schemeClr val="accent6"/>
          </a:solidFill>
        </p:spPr>
        <p:txBody>
          <a:bodyPr>
            <a:no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Phase 1-4: power on/boot fsm/fuse programming</a:t>
            </a:r>
          </a:p>
        </p:txBody>
      </p:sp>
      <p:sp>
        <p:nvSpPr>
          <p:cNvPr id="28" name="TextBox 27">
            <a:extLst>
              <a:ext uri="{FF2B5EF4-FFF2-40B4-BE49-F238E27FC236}">
                <a16:creationId xmlns:a16="http://schemas.microsoft.com/office/drawing/2014/main" id="{D3763156-B343-C90B-B856-971843C8E544}"/>
              </a:ext>
            </a:extLst>
          </p:cNvPr>
          <p:cNvSpPr txBox="1"/>
          <p:nvPr/>
        </p:nvSpPr>
        <p:spPr>
          <a:xfrm>
            <a:off x="1307189" y="3196348"/>
            <a:ext cx="1118383" cy="646331"/>
          </a:xfrm>
          <a:prstGeom prst="rect">
            <a:avLst/>
          </a:prstGeom>
          <a:noFill/>
        </p:spPr>
        <p:txBody>
          <a:bodyPr wrap="none" rtlCol="0">
            <a:spAutoFit/>
          </a:bodyPr>
          <a:lstStyle/>
          <a:p>
            <a:r>
              <a:rPr lang="en-GB" dirty="0">
                <a:solidFill>
                  <a:schemeClr val="accent3">
                    <a:lumMod val="75000"/>
                  </a:schemeClr>
                </a:solidFill>
              </a:rPr>
              <a:t>AWVALID</a:t>
            </a:r>
          </a:p>
          <a:p>
            <a:endParaRPr lang="en-IN" dirty="0"/>
          </a:p>
        </p:txBody>
      </p:sp>
      <p:sp>
        <p:nvSpPr>
          <p:cNvPr id="29" name="TextBox 28">
            <a:extLst>
              <a:ext uri="{FF2B5EF4-FFF2-40B4-BE49-F238E27FC236}">
                <a16:creationId xmlns:a16="http://schemas.microsoft.com/office/drawing/2014/main" id="{DF7784E2-A751-FA10-795D-8AEFFFF99235}"/>
              </a:ext>
            </a:extLst>
          </p:cNvPr>
          <p:cNvSpPr txBox="1"/>
          <p:nvPr/>
        </p:nvSpPr>
        <p:spPr>
          <a:xfrm>
            <a:off x="1370217" y="3538635"/>
            <a:ext cx="985526" cy="369332"/>
          </a:xfrm>
          <a:prstGeom prst="rect">
            <a:avLst/>
          </a:prstGeom>
          <a:noFill/>
        </p:spPr>
        <p:txBody>
          <a:bodyPr wrap="none" rtlCol="0">
            <a:spAutoFit/>
          </a:bodyPr>
          <a:lstStyle/>
          <a:p>
            <a:r>
              <a:rPr lang="en-GB" dirty="0">
                <a:solidFill>
                  <a:schemeClr val="accent3">
                    <a:lumMod val="75000"/>
                  </a:schemeClr>
                </a:solidFill>
              </a:rPr>
              <a:t>WVALID</a:t>
            </a:r>
          </a:p>
        </p:txBody>
      </p:sp>
      <p:cxnSp>
        <p:nvCxnSpPr>
          <p:cNvPr id="30" name="Straight Arrow Connector 29">
            <a:extLst>
              <a:ext uri="{FF2B5EF4-FFF2-40B4-BE49-F238E27FC236}">
                <a16:creationId xmlns:a16="http://schemas.microsoft.com/office/drawing/2014/main" id="{6634CC04-8230-016B-3BC5-D04E51D12B00}"/>
              </a:ext>
            </a:extLst>
          </p:cNvPr>
          <p:cNvCxnSpPr>
            <a:cxnSpLocks/>
          </p:cNvCxnSpPr>
          <p:nvPr/>
        </p:nvCxnSpPr>
        <p:spPr>
          <a:xfrm>
            <a:off x="1074558" y="3861584"/>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6FEA8B24-C750-95C4-E402-1ABF3548DCB7}"/>
              </a:ext>
            </a:extLst>
          </p:cNvPr>
          <p:cNvCxnSpPr>
            <a:cxnSpLocks/>
          </p:cNvCxnSpPr>
          <p:nvPr/>
        </p:nvCxnSpPr>
        <p:spPr>
          <a:xfrm>
            <a:off x="2867940" y="4407363"/>
            <a:ext cx="1948097"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F43083C3-B34D-A94B-70FD-C07A8EF3E9BD}"/>
              </a:ext>
            </a:extLst>
          </p:cNvPr>
          <p:cNvCxnSpPr>
            <a:cxnSpLocks/>
          </p:cNvCxnSpPr>
          <p:nvPr/>
        </p:nvCxnSpPr>
        <p:spPr>
          <a:xfrm>
            <a:off x="2874809" y="4810442"/>
            <a:ext cx="1948097"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BCB96B5E-4A6B-6B36-21C5-7A0CB1DBCF2E}"/>
              </a:ext>
            </a:extLst>
          </p:cNvPr>
          <p:cNvSpPr txBox="1"/>
          <p:nvPr/>
        </p:nvSpPr>
        <p:spPr>
          <a:xfrm>
            <a:off x="3114970" y="3682996"/>
            <a:ext cx="1316451" cy="369332"/>
          </a:xfrm>
          <a:prstGeom prst="rect">
            <a:avLst/>
          </a:prstGeom>
          <a:noFill/>
        </p:spPr>
        <p:txBody>
          <a:bodyPr wrap="none" rtlCol="0">
            <a:spAutoFit/>
          </a:bodyPr>
          <a:lstStyle/>
          <a:p>
            <a:r>
              <a:rPr lang="en-IN" dirty="0" err="1"/>
              <a:t>soc_req_dv</a:t>
            </a:r>
            <a:endParaRPr lang="en-IN" dirty="0"/>
          </a:p>
        </p:txBody>
      </p:sp>
      <p:sp>
        <p:nvSpPr>
          <p:cNvPr id="48" name="TextBox 47">
            <a:extLst>
              <a:ext uri="{FF2B5EF4-FFF2-40B4-BE49-F238E27FC236}">
                <a16:creationId xmlns:a16="http://schemas.microsoft.com/office/drawing/2014/main" id="{5F255797-FFF9-6399-D5FA-F2657382CF35}"/>
              </a:ext>
            </a:extLst>
          </p:cNvPr>
          <p:cNvSpPr txBox="1"/>
          <p:nvPr/>
        </p:nvSpPr>
        <p:spPr>
          <a:xfrm>
            <a:off x="3126966" y="4056417"/>
            <a:ext cx="1542474" cy="369332"/>
          </a:xfrm>
          <a:prstGeom prst="rect">
            <a:avLst/>
          </a:prstGeom>
          <a:noFill/>
        </p:spPr>
        <p:txBody>
          <a:bodyPr wrap="none" rtlCol="0">
            <a:spAutoFit/>
          </a:bodyPr>
          <a:lstStyle/>
          <a:p>
            <a:r>
              <a:rPr lang="en-IN" dirty="0" err="1"/>
              <a:t>soc_req_addr</a:t>
            </a:r>
            <a:endParaRPr lang="en-IN" dirty="0"/>
          </a:p>
        </p:txBody>
      </p:sp>
      <p:sp>
        <p:nvSpPr>
          <p:cNvPr id="55" name="TextBox 54">
            <a:extLst>
              <a:ext uri="{FF2B5EF4-FFF2-40B4-BE49-F238E27FC236}">
                <a16:creationId xmlns:a16="http://schemas.microsoft.com/office/drawing/2014/main" id="{6C9A9454-CF8B-5073-4705-25FD60F91E7A}"/>
              </a:ext>
            </a:extLst>
          </p:cNvPr>
          <p:cNvSpPr txBox="1"/>
          <p:nvPr/>
        </p:nvSpPr>
        <p:spPr>
          <a:xfrm>
            <a:off x="3083206" y="4399730"/>
            <a:ext cx="1695977" cy="369332"/>
          </a:xfrm>
          <a:prstGeom prst="rect">
            <a:avLst/>
          </a:prstGeom>
          <a:noFill/>
        </p:spPr>
        <p:txBody>
          <a:bodyPr wrap="none" rtlCol="0">
            <a:spAutoFit/>
          </a:bodyPr>
          <a:lstStyle/>
          <a:p>
            <a:r>
              <a:rPr lang="en-IN" dirty="0" err="1"/>
              <a:t>soc_req_wdata</a:t>
            </a:r>
            <a:endParaRPr lang="en-IN" dirty="0"/>
          </a:p>
        </p:txBody>
      </p:sp>
      <p:cxnSp>
        <p:nvCxnSpPr>
          <p:cNvPr id="65" name="Straight Arrow Connector 64">
            <a:extLst>
              <a:ext uri="{FF2B5EF4-FFF2-40B4-BE49-F238E27FC236}">
                <a16:creationId xmlns:a16="http://schemas.microsoft.com/office/drawing/2014/main" id="{B3BAC6C0-74A6-814A-7107-94079F8B0327}"/>
              </a:ext>
            </a:extLst>
          </p:cNvPr>
          <p:cNvCxnSpPr>
            <a:cxnSpLocks/>
          </p:cNvCxnSpPr>
          <p:nvPr/>
        </p:nvCxnSpPr>
        <p:spPr>
          <a:xfrm flipV="1">
            <a:off x="1058501" y="6103040"/>
            <a:ext cx="7523699" cy="10700"/>
          </a:xfrm>
          <a:prstGeom prst="straightConnector1">
            <a:avLst/>
          </a:prstGeom>
          <a:ln w="28575">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AB313C0E-C8DC-923E-3CB5-1AACBA729579}"/>
              </a:ext>
            </a:extLst>
          </p:cNvPr>
          <p:cNvSpPr txBox="1"/>
          <p:nvPr/>
        </p:nvSpPr>
        <p:spPr>
          <a:xfrm>
            <a:off x="8654143" y="5410542"/>
            <a:ext cx="1643142" cy="369332"/>
          </a:xfrm>
          <a:prstGeom prst="rect">
            <a:avLst/>
          </a:prstGeom>
          <a:noFill/>
        </p:spPr>
        <p:txBody>
          <a:bodyPr wrap="none" rtlCol="0">
            <a:spAutoFit/>
          </a:bodyPr>
          <a:lstStyle/>
          <a:p>
            <a:r>
              <a:rPr lang="en-IN" dirty="0" err="1">
                <a:solidFill>
                  <a:schemeClr val="accent6"/>
                </a:solidFill>
              </a:rPr>
              <a:t>reg_req_wdata</a:t>
            </a:r>
            <a:endParaRPr lang="en-IN" dirty="0">
              <a:solidFill>
                <a:schemeClr val="accent6"/>
              </a:solidFill>
            </a:endParaRPr>
          </a:p>
        </p:txBody>
      </p:sp>
      <p:cxnSp>
        <p:nvCxnSpPr>
          <p:cNvPr id="71" name="Straight Arrow Connector 70">
            <a:extLst>
              <a:ext uri="{FF2B5EF4-FFF2-40B4-BE49-F238E27FC236}">
                <a16:creationId xmlns:a16="http://schemas.microsoft.com/office/drawing/2014/main" id="{1D24C461-85C6-6810-0515-AEBAA3D81368}"/>
              </a:ext>
            </a:extLst>
          </p:cNvPr>
          <p:cNvCxnSpPr/>
          <p:nvPr/>
        </p:nvCxnSpPr>
        <p:spPr>
          <a:xfrm>
            <a:off x="6690432" y="5059776"/>
            <a:ext cx="1891769" cy="0"/>
          </a:xfrm>
          <a:prstGeom prst="straightConnector1">
            <a:avLst/>
          </a:prstGeom>
          <a:ln w="28575">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76" name="TextBox 75">
            <a:extLst>
              <a:ext uri="{FF2B5EF4-FFF2-40B4-BE49-F238E27FC236}">
                <a16:creationId xmlns:a16="http://schemas.microsoft.com/office/drawing/2014/main" id="{5F584498-0B3B-EB11-5655-7BDF77D8F23F}"/>
              </a:ext>
            </a:extLst>
          </p:cNvPr>
          <p:cNvSpPr txBox="1"/>
          <p:nvPr/>
        </p:nvSpPr>
        <p:spPr>
          <a:xfrm>
            <a:off x="4929404" y="5744408"/>
            <a:ext cx="1226618" cy="369332"/>
          </a:xfrm>
          <a:prstGeom prst="rect">
            <a:avLst/>
          </a:prstGeom>
          <a:noFill/>
        </p:spPr>
        <p:txBody>
          <a:bodyPr wrap="none" rtlCol="0">
            <a:spAutoFit/>
          </a:bodyPr>
          <a:lstStyle/>
          <a:p>
            <a:r>
              <a:rPr lang="en-IN" dirty="0" err="1">
                <a:solidFill>
                  <a:schemeClr val="accent2">
                    <a:lumMod val="75000"/>
                  </a:schemeClr>
                </a:solidFill>
              </a:rPr>
              <a:t>fuse_done</a:t>
            </a:r>
            <a:endParaRPr lang="en-IN" dirty="0">
              <a:solidFill>
                <a:schemeClr val="accent2">
                  <a:lumMod val="75000"/>
                </a:schemeClr>
              </a:solidFill>
            </a:endParaRPr>
          </a:p>
        </p:txBody>
      </p:sp>
      <p:cxnSp>
        <p:nvCxnSpPr>
          <p:cNvPr id="78" name="Straight Arrow Connector 77">
            <a:extLst>
              <a:ext uri="{FF2B5EF4-FFF2-40B4-BE49-F238E27FC236}">
                <a16:creationId xmlns:a16="http://schemas.microsoft.com/office/drawing/2014/main" id="{94017322-4C21-67B2-335A-0A7D2A492FF7}"/>
              </a:ext>
            </a:extLst>
          </p:cNvPr>
          <p:cNvCxnSpPr>
            <a:cxnSpLocks/>
          </p:cNvCxnSpPr>
          <p:nvPr/>
        </p:nvCxnSpPr>
        <p:spPr>
          <a:xfrm flipH="1">
            <a:off x="1037892" y="6502412"/>
            <a:ext cx="7563160" cy="41874"/>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23497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A9C53-41E3-FE94-AA76-AA682EAF3AA1}"/>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5E13EC81-5A4B-4077-34CB-2B228C2E5331}"/>
              </a:ext>
            </a:extLst>
          </p:cNvPr>
          <p:cNvGrpSpPr/>
          <p:nvPr/>
        </p:nvGrpSpPr>
        <p:grpSpPr>
          <a:xfrm>
            <a:off x="768810" y="621574"/>
            <a:ext cx="11423190" cy="6134858"/>
            <a:chOff x="571766" y="63977"/>
            <a:chExt cx="11423190" cy="6134858"/>
          </a:xfrm>
        </p:grpSpPr>
        <p:cxnSp>
          <p:nvCxnSpPr>
            <p:cNvPr id="5" name="Straight Connector 4">
              <a:extLst>
                <a:ext uri="{FF2B5EF4-FFF2-40B4-BE49-F238E27FC236}">
                  <a16:creationId xmlns:a16="http://schemas.microsoft.com/office/drawing/2014/main" id="{D626E042-CC2F-B8B9-B63B-A8370D4E1F22}"/>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6766975D-4490-1A52-6E3F-F84FADACBB71}"/>
                </a:ext>
              </a:extLst>
            </p:cNvPr>
            <p:cNvCxnSpPr/>
            <p:nvPr/>
          </p:nvCxnSpPr>
          <p:spPr>
            <a:xfrm>
              <a:off x="4098256" y="478047"/>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C5909276-0DC9-8BA5-EED8-2272976A0E1E}"/>
                </a:ext>
              </a:extLst>
            </p:cNvPr>
            <p:cNvCxnSpPr/>
            <p:nvPr/>
          </p:nvCxnSpPr>
          <p:spPr>
            <a:xfrm>
              <a:off x="7558423" y="51756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ACBBCA2D-04A7-5A6E-A3A0-F6B2EB66F1B0}"/>
                </a:ext>
              </a:extLst>
            </p:cNvPr>
            <p:cNvSpPr txBox="1"/>
            <p:nvPr/>
          </p:nvSpPr>
          <p:spPr>
            <a:xfrm>
              <a:off x="6817848" y="111850"/>
              <a:ext cx="2443223" cy="369332"/>
            </a:xfrm>
            <a:prstGeom prst="rect">
              <a:avLst/>
            </a:prstGeom>
            <a:noFill/>
          </p:spPr>
          <p:txBody>
            <a:bodyPr wrap="square" rtlCol="0">
              <a:spAutoFit/>
            </a:bodyPr>
            <a:lstStyle/>
            <a:p>
              <a:r>
                <a:rPr lang="en-GB" b="1" dirty="0" err="1"/>
                <a:t>AHB_Lite</a:t>
              </a:r>
              <a:r>
                <a:rPr lang="en-GB" b="1" dirty="0"/>
                <a:t> Interface</a:t>
              </a:r>
            </a:p>
          </p:txBody>
        </p:sp>
        <p:sp>
          <p:nvSpPr>
            <p:cNvPr id="11" name="TextBox 10">
              <a:extLst>
                <a:ext uri="{FF2B5EF4-FFF2-40B4-BE49-F238E27FC236}">
                  <a16:creationId xmlns:a16="http://schemas.microsoft.com/office/drawing/2014/main" id="{2618178A-A736-A08C-9368-0D0C5EBA25E1}"/>
                </a:ext>
              </a:extLst>
            </p:cNvPr>
            <p:cNvSpPr txBox="1"/>
            <p:nvPr/>
          </p:nvSpPr>
          <p:spPr>
            <a:xfrm>
              <a:off x="571766" y="108715"/>
              <a:ext cx="1753847" cy="369332"/>
            </a:xfrm>
            <a:prstGeom prst="rect">
              <a:avLst/>
            </a:prstGeom>
            <a:noFill/>
          </p:spPr>
          <p:txBody>
            <a:bodyPr wrap="square" rtlCol="0">
              <a:spAutoFit/>
            </a:bodyPr>
            <a:lstStyle/>
            <a:p>
              <a:r>
                <a:rPr lang="en-GB" b="1" dirty="0"/>
                <a:t>AXI Interface</a:t>
              </a:r>
            </a:p>
          </p:txBody>
        </p:sp>
        <p:sp>
          <p:nvSpPr>
            <p:cNvPr id="12" name="TextBox 11">
              <a:extLst>
                <a:ext uri="{FF2B5EF4-FFF2-40B4-BE49-F238E27FC236}">
                  <a16:creationId xmlns:a16="http://schemas.microsoft.com/office/drawing/2014/main" id="{A50EB76F-CFC9-C70F-8277-EA8043268BD8}"/>
                </a:ext>
              </a:extLst>
            </p:cNvPr>
            <p:cNvSpPr txBox="1"/>
            <p:nvPr/>
          </p:nvSpPr>
          <p:spPr>
            <a:xfrm>
              <a:off x="7160262" y="106797"/>
              <a:ext cx="1304144" cy="369332"/>
            </a:xfrm>
            <a:prstGeom prst="rect">
              <a:avLst/>
            </a:prstGeom>
            <a:noFill/>
          </p:spPr>
          <p:txBody>
            <a:bodyPr wrap="square" rtlCol="0">
              <a:spAutoFit/>
            </a:bodyPr>
            <a:lstStyle/>
            <a:p>
              <a:endParaRPr lang="en-GB" b="1" dirty="0"/>
            </a:p>
          </p:txBody>
        </p:sp>
        <p:sp>
          <p:nvSpPr>
            <p:cNvPr id="13" name="TextBox 12">
              <a:extLst>
                <a:ext uri="{FF2B5EF4-FFF2-40B4-BE49-F238E27FC236}">
                  <a16:creationId xmlns:a16="http://schemas.microsoft.com/office/drawing/2014/main" id="{2375C0B9-EC99-497E-6A3B-AACB367F023B}"/>
                </a:ext>
              </a:extLst>
            </p:cNvPr>
            <p:cNvSpPr txBox="1"/>
            <p:nvPr/>
          </p:nvSpPr>
          <p:spPr>
            <a:xfrm>
              <a:off x="3371413" y="124489"/>
              <a:ext cx="1952485" cy="369332"/>
            </a:xfrm>
            <a:prstGeom prst="rect">
              <a:avLst/>
            </a:prstGeom>
            <a:noFill/>
          </p:spPr>
          <p:txBody>
            <a:bodyPr wrap="square" rtlCol="0">
              <a:spAutoFit/>
            </a:bodyPr>
            <a:lstStyle/>
            <a:p>
              <a:r>
                <a:rPr lang="en-GB" b="1" dirty="0" err="1"/>
                <a:t>SoC_IFC</a:t>
              </a:r>
              <a:r>
                <a:rPr lang="en-GB" b="1" dirty="0"/>
                <a:t> Arbiter</a:t>
              </a:r>
            </a:p>
          </p:txBody>
        </p:sp>
        <p:sp>
          <p:nvSpPr>
            <p:cNvPr id="14" name="TextBox 13">
              <a:extLst>
                <a:ext uri="{FF2B5EF4-FFF2-40B4-BE49-F238E27FC236}">
                  <a16:creationId xmlns:a16="http://schemas.microsoft.com/office/drawing/2014/main" id="{87644B1C-5DB9-3389-294E-037A9F671A90}"/>
                </a:ext>
              </a:extLst>
            </p:cNvPr>
            <p:cNvSpPr txBox="1"/>
            <p:nvPr/>
          </p:nvSpPr>
          <p:spPr>
            <a:xfrm>
              <a:off x="5679090" y="63977"/>
              <a:ext cx="2006805" cy="369332"/>
            </a:xfrm>
            <a:prstGeom prst="rect">
              <a:avLst/>
            </a:prstGeom>
            <a:noFill/>
          </p:spPr>
          <p:txBody>
            <a:bodyPr wrap="square" rtlCol="0">
              <a:spAutoFit/>
            </a:bodyPr>
            <a:lstStyle/>
            <a:p>
              <a:endParaRPr lang="en-GB" b="1" dirty="0"/>
            </a:p>
          </p:txBody>
        </p:sp>
        <p:sp>
          <p:nvSpPr>
            <p:cNvPr id="15" name="TextBox 14">
              <a:extLst>
                <a:ext uri="{FF2B5EF4-FFF2-40B4-BE49-F238E27FC236}">
                  <a16:creationId xmlns:a16="http://schemas.microsoft.com/office/drawing/2014/main" id="{B88DA573-9FB7-9509-6D2E-02C90FB21166}"/>
                </a:ext>
              </a:extLst>
            </p:cNvPr>
            <p:cNvSpPr txBox="1"/>
            <p:nvPr/>
          </p:nvSpPr>
          <p:spPr>
            <a:xfrm>
              <a:off x="9394788" y="148230"/>
              <a:ext cx="2600168" cy="369332"/>
            </a:xfrm>
            <a:prstGeom prst="rect">
              <a:avLst/>
            </a:prstGeom>
            <a:noFill/>
          </p:spPr>
          <p:txBody>
            <a:bodyPr wrap="square" rtlCol="0">
              <a:spAutoFit/>
            </a:bodyPr>
            <a:lstStyle/>
            <a:p>
              <a:endParaRPr lang="en-GB" b="1" dirty="0"/>
            </a:p>
          </p:txBody>
        </p:sp>
        <p:sp>
          <p:nvSpPr>
            <p:cNvPr id="20" name="TextBox 19">
              <a:extLst>
                <a:ext uri="{FF2B5EF4-FFF2-40B4-BE49-F238E27FC236}">
                  <a16:creationId xmlns:a16="http://schemas.microsoft.com/office/drawing/2014/main" id="{B6447CC6-B000-E346-8C8E-17088CEC9710}"/>
                </a:ext>
              </a:extLst>
            </p:cNvPr>
            <p:cNvSpPr txBox="1"/>
            <p:nvPr/>
          </p:nvSpPr>
          <p:spPr>
            <a:xfrm>
              <a:off x="825708" y="506033"/>
              <a:ext cx="1966213"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22" name="TextBox 21">
              <a:extLst>
                <a:ext uri="{FF2B5EF4-FFF2-40B4-BE49-F238E27FC236}">
                  <a16:creationId xmlns:a16="http://schemas.microsoft.com/office/drawing/2014/main" id="{0F9D4758-4D9C-1779-1DCF-B9542A29134C}"/>
                </a:ext>
              </a:extLst>
            </p:cNvPr>
            <p:cNvSpPr txBox="1"/>
            <p:nvPr/>
          </p:nvSpPr>
          <p:spPr>
            <a:xfrm>
              <a:off x="1044314" y="837377"/>
              <a:ext cx="2557067"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25" name="TextBox 24">
              <a:extLst>
                <a:ext uri="{FF2B5EF4-FFF2-40B4-BE49-F238E27FC236}">
                  <a16:creationId xmlns:a16="http://schemas.microsoft.com/office/drawing/2014/main" id="{46BD9499-076A-5122-011B-030D8F0FE387}"/>
                </a:ext>
              </a:extLst>
            </p:cNvPr>
            <p:cNvSpPr txBox="1"/>
            <p:nvPr/>
          </p:nvSpPr>
          <p:spPr>
            <a:xfrm>
              <a:off x="5236198" y="2616690"/>
              <a:ext cx="1467788" cy="369332"/>
            </a:xfrm>
            <a:prstGeom prst="rect">
              <a:avLst/>
            </a:prstGeom>
            <a:noFill/>
          </p:spPr>
          <p:txBody>
            <a:bodyPr wrap="square" rtlCol="0">
              <a:spAutoFit/>
            </a:bodyPr>
            <a:lstStyle/>
            <a:p>
              <a:r>
                <a:rPr lang="en-GB" b="1" dirty="0" err="1">
                  <a:solidFill>
                    <a:schemeClr val="accent2">
                      <a:lumMod val="75000"/>
                    </a:schemeClr>
                  </a:solidFill>
                </a:rPr>
                <a:t>uc_req_dv</a:t>
              </a:r>
              <a:endParaRPr lang="en-GB" b="1" dirty="0">
                <a:solidFill>
                  <a:schemeClr val="accent2">
                    <a:lumMod val="75000"/>
                  </a:schemeClr>
                </a:solidFill>
              </a:endParaRPr>
            </a:p>
          </p:txBody>
        </p:sp>
        <p:sp>
          <p:nvSpPr>
            <p:cNvPr id="31" name="TextBox 30">
              <a:extLst>
                <a:ext uri="{FF2B5EF4-FFF2-40B4-BE49-F238E27FC236}">
                  <a16:creationId xmlns:a16="http://schemas.microsoft.com/office/drawing/2014/main" id="{7C728F74-048E-FC6B-F58E-C3F5AD27CF6C}"/>
                </a:ext>
              </a:extLst>
            </p:cNvPr>
            <p:cNvSpPr txBox="1"/>
            <p:nvPr/>
          </p:nvSpPr>
          <p:spPr>
            <a:xfrm>
              <a:off x="9394788" y="136701"/>
              <a:ext cx="1896267" cy="369332"/>
            </a:xfrm>
            <a:prstGeom prst="rect">
              <a:avLst/>
            </a:prstGeom>
            <a:noFill/>
          </p:spPr>
          <p:txBody>
            <a:bodyPr wrap="square" rtlCol="0">
              <a:spAutoFit/>
            </a:bodyPr>
            <a:lstStyle/>
            <a:p>
              <a:r>
                <a:rPr lang="en-GB" b="1" dirty="0"/>
                <a:t>Adress Decoder</a:t>
              </a:r>
            </a:p>
          </p:txBody>
        </p:sp>
        <p:sp>
          <p:nvSpPr>
            <p:cNvPr id="32" name="TextBox 31">
              <a:extLst>
                <a:ext uri="{FF2B5EF4-FFF2-40B4-BE49-F238E27FC236}">
                  <a16:creationId xmlns:a16="http://schemas.microsoft.com/office/drawing/2014/main" id="{30945B14-E36C-3803-7C13-A16E70E28AE7}"/>
                </a:ext>
              </a:extLst>
            </p:cNvPr>
            <p:cNvSpPr txBox="1"/>
            <p:nvPr/>
          </p:nvSpPr>
          <p:spPr>
            <a:xfrm>
              <a:off x="2819723" y="1603394"/>
              <a:ext cx="2557067" cy="369332"/>
            </a:xfrm>
            <a:prstGeom prst="rect">
              <a:avLst/>
            </a:prstGeom>
            <a:noFill/>
          </p:spPr>
          <p:txBody>
            <a:bodyPr wrap="square" rtlCol="0">
              <a:spAutoFit/>
            </a:bodyPr>
            <a:lstStyle/>
            <a:p>
              <a:endParaRPr lang="en-GB" dirty="0">
                <a:solidFill>
                  <a:schemeClr val="accent2">
                    <a:lumMod val="75000"/>
                  </a:schemeClr>
                </a:solidFill>
              </a:endParaRPr>
            </a:p>
          </p:txBody>
        </p:sp>
        <p:cxnSp>
          <p:nvCxnSpPr>
            <p:cNvPr id="43" name="Straight Arrow Connector 42">
              <a:extLst>
                <a:ext uri="{FF2B5EF4-FFF2-40B4-BE49-F238E27FC236}">
                  <a16:creationId xmlns:a16="http://schemas.microsoft.com/office/drawing/2014/main" id="{FC9725F2-452A-4035-BE11-D62185852337}"/>
                </a:ext>
              </a:extLst>
            </p:cNvPr>
            <p:cNvCxnSpPr>
              <a:cxnSpLocks/>
            </p:cNvCxnSpPr>
            <p:nvPr/>
          </p:nvCxnSpPr>
          <p:spPr>
            <a:xfrm>
              <a:off x="989351" y="1500905"/>
              <a:ext cx="3108905"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C32D8FFA-0ED6-DC37-5AE9-B50B9B3D7AE6}"/>
                </a:ext>
              </a:extLst>
            </p:cNvPr>
            <p:cNvSpPr txBox="1"/>
            <p:nvPr/>
          </p:nvSpPr>
          <p:spPr>
            <a:xfrm>
              <a:off x="6127221" y="4744342"/>
              <a:ext cx="2557067" cy="369332"/>
            </a:xfrm>
            <a:prstGeom prst="rect">
              <a:avLst/>
            </a:prstGeom>
            <a:noFill/>
          </p:spPr>
          <p:txBody>
            <a:bodyPr wrap="square" rtlCol="0">
              <a:spAutoFit/>
            </a:bodyPr>
            <a:lstStyle/>
            <a:p>
              <a:r>
                <a:rPr lang="en-GB" dirty="0">
                  <a:solidFill>
                    <a:sysClr val="windowText" lastClr="000000"/>
                  </a:solidFill>
                </a:rPr>
                <a:t>reg_addr</a:t>
              </a:r>
            </a:p>
          </p:txBody>
        </p:sp>
        <p:cxnSp>
          <p:nvCxnSpPr>
            <p:cNvPr id="47" name="Straight Arrow Connector 46">
              <a:extLst>
                <a:ext uri="{FF2B5EF4-FFF2-40B4-BE49-F238E27FC236}">
                  <a16:creationId xmlns:a16="http://schemas.microsoft.com/office/drawing/2014/main" id="{896E519D-4114-B623-DE91-11138E757CCC}"/>
                </a:ext>
              </a:extLst>
            </p:cNvPr>
            <p:cNvCxnSpPr>
              <a:cxnSpLocks/>
            </p:cNvCxnSpPr>
            <p:nvPr/>
          </p:nvCxnSpPr>
          <p:spPr>
            <a:xfrm>
              <a:off x="4098256" y="5098136"/>
              <a:ext cx="6313433"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1932DD2A-B222-A023-7748-A02F825C883E}"/>
                </a:ext>
              </a:extLst>
            </p:cNvPr>
            <p:cNvSpPr txBox="1"/>
            <p:nvPr/>
          </p:nvSpPr>
          <p:spPr>
            <a:xfrm>
              <a:off x="6763689" y="4093422"/>
              <a:ext cx="1907497" cy="369332"/>
            </a:xfrm>
            <a:prstGeom prst="rect">
              <a:avLst/>
            </a:prstGeom>
            <a:noFill/>
          </p:spPr>
          <p:txBody>
            <a:bodyPr wrap="square" rtlCol="0">
              <a:spAutoFit/>
            </a:bodyPr>
            <a:lstStyle/>
            <a:p>
              <a:endParaRPr lang="en-GB" b="1" dirty="0">
                <a:solidFill>
                  <a:schemeClr val="accent4">
                    <a:lumMod val="50000"/>
                  </a:schemeClr>
                </a:solidFill>
              </a:endParaRPr>
            </a:p>
          </p:txBody>
        </p:sp>
        <p:cxnSp>
          <p:nvCxnSpPr>
            <p:cNvPr id="51" name="Straight Arrow Connector 50">
              <a:extLst>
                <a:ext uri="{FF2B5EF4-FFF2-40B4-BE49-F238E27FC236}">
                  <a16:creationId xmlns:a16="http://schemas.microsoft.com/office/drawing/2014/main" id="{6E066E82-036A-77F3-19D7-7AA6F08332F6}"/>
                </a:ext>
              </a:extLst>
            </p:cNvPr>
            <p:cNvCxnSpPr>
              <a:cxnSpLocks/>
            </p:cNvCxnSpPr>
            <p:nvPr/>
          </p:nvCxnSpPr>
          <p:spPr>
            <a:xfrm flipH="1">
              <a:off x="4102034" y="2949920"/>
              <a:ext cx="3458226" cy="0"/>
            </a:xfrm>
            <a:prstGeom prst="straightConnector1">
              <a:avLst/>
            </a:prstGeom>
            <a:ln w="28575">
              <a:solidFill>
                <a:schemeClr val="accent6"/>
              </a:solidFill>
              <a:tailEnd type="triangle"/>
            </a:ln>
          </p:spPr>
          <p:style>
            <a:lnRef idx="2">
              <a:schemeClr val="dk1"/>
            </a:lnRef>
            <a:fillRef idx="0">
              <a:schemeClr val="dk1"/>
            </a:fillRef>
            <a:effectRef idx="1">
              <a:schemeClr val="dk1"/>
            </a:effectRef>
            <a:fontRef idx="minor">
              <a:schemeClr val="tx1"/>
            </a:fontRef>
          </p:style>
        </p:cxnSp>
        <p:sp>
          <p:nvSpPr>
            <p:cNvPr id="53" name="TextBox 52">
              <a:extLst>
                <a:ext uri="{FF2B5EF4-FFF2-40B4-BE49-F238E27FC236}">
                  <a16:creationId xmlns:a16="http://schemas.microsoft.com/office/drawing/2014/main" id="{0CEB3E9A-0EEA-E919-BBDC-35931289F872}"/>
                </a:ext>
              </a:extLst>
            </p:cNvPr>
            <p:cNvSpPr txBox="1"/>
            <p:nvPr/>
          </p:nvSpPr>
          <p:spPr>
            <a:xfrm>
              <a:off x="6897860" y="4172838"/>
              <a:ext cx="3244121" cy="369332"/>
            </a:xfrm>
            <a:prstGeom prst="rect">
              <a:avLst/>
            </a:prstGeom>
            <a:noFill/>
          </p:spPr>
          <p:txBody>
            <a:bodyPr wrap="square" rtlCol="0">
              <a:spAutoFit/>
            </a:bodyPr>
            <a:lstStyle/>
            <a:p>
              <a:endParaRPr lang="en-GB" dirty="0">
                <a:solidFill>
                  <a:schemeClr val="accent6"/>
                </a:solidFill>
              </a:endParaRPr>
            </a:p>
          </p:txBody>
        </p:sp>
        <p:sp>
          <p:nvSpPr>
            <p:cNvPr id="56" name="TextBox 55">
              <a:extLst>
                <a:ext uri="{FF2B5EF4-FFF2-40B4-BE49-F238E27FC236}">
                  <a16:creationId xmlns:a16="http://schemas.microsoft.com/office/drawing/2014/main" id="{9374D6E0-9BD4-B4BE-8C6B-FF4E46D521B8}"/>
                </a:ext>
              </a:extLst>
            </p:cNvPr>
            <p:cNvSpPr txBox="1"/>
            <p:nvPr/>
          </p:nvSpPr>
          <p:spPr>
            <a:xfrm>
              <a:off x="5222195" y="3129034"/>
              <a:ext cx="3021774" cy="369332"/>
            </a:xfrm>
            <a:prstGeom prst="rect">
              <a:avLst/>
            </a:prstGeom>
            <a:noFill/>
          </p:spPr>
          <p:txBody>
            <a:bodyPr wrap="square" rtlCol="0">
              <a:spAutoFit/>
            </a:bodyPr>
            <a:lstStyle/>
            <a:p>
              <a:r>
                <a:rPr lang="en-GB" b="1" dirty="0" err="1">
                  <a:solidFill>
                    <a:schemeClr val="accent2">
                      <a:lumMod val="75000"/>
                    </a:schemeClr>
                  </a:solidFill>
                </a:rPr>
                <a:t>uc_req_addr</a:t>
              </a:r>
              <a:endParaRPr lang="en-GB" b="1" dirty="0">
                <a:solidFill>
                  <a:schemeClr val="accent2">
                    <a:lumMod val="75000"/>
                  </a:schemeClr>
                </a:solidFill>
              </a:endParaRPr>
            </a:p>
          </p:txBody>
        </p:sp>
        <p:sp>
          <p:nvSpPr>
            <p:cNvPr id="60" name="TextBox 59">
              <a:extLst>
                <a:ext uri="{FF2B5EF4-FFF2-40B4-BE49-F238E27FC236}">
                  <a16:creationId xmlns:a16="http://schemas.microsoft.com/office/drawing/2014/main" id="{CEF6878F-FAA6-CF26-784B-1A5425928EC6}"/>
                </a:ext>
              </a:extLst>
            </p:cNvPr>
            <p:cNvSpPr txBox="1"/>
            <p:nvPr/>
          </p:nvSpPr>
          <p:spPr>
            <a:xfrm>
              <a:off x="6682494" y="5249380"/>
              <a:ext cx="723261" cy="369332"/>
            </a:xfrm>
            <a:prstGeom prst="rect">
              <a:avLst/>
            </a:prstGeom>
            <a:noFill/>
          </p:spPr>
          <p:txBody>
            <a:bodyPr wrap="square" rtlCol="0">
              <a:spAutoFit/>
            </a:bodyPr>
            <a:lstStyle/>
            <a:p>
              <a:endParaRPr lang="en-GB" dirty="0">
                <a:solidFill>
                  <a:schemeClr val="accent4">
                    <a:lumMod val="50000"/>
                  </a:schemeClr>
                </a:solidFill>
              </a:endParaRPr>
            </a:p>
          </p:txBody>
        </p:sp>
        <p:sp>
          <p:nvSpPr>
            <p:cNvPr id="61" name="TextBox 60">
              <a:extLst>
                <a:ext uri="{FF2B5EF4-FFF2-40B4-BE49-F238E27FC236}">
                  <a16:creationId xmlns:a16="http://schemas.microsoft.com/office/drawing/2014/main" id="{E2B0D068-9381-F847-3292-7143896F23CE}"/>
                </a:ext>
              </a:extLst>
            </p:cNvPr>
            <p:cNvSpPr txBox="1"/>
            <p:nvPr/>
          </p:nvSpPr>
          <p:spPr>
            <a:xfrm>
              <a:off x="8636533" y="4501548"/>
              <a:ext cx="2043033" cy="369332"/>
            </a:xfrm>
            <a:prstGeom prst="rect">
              <a:avLst/>
            </a:prstGeom>
            <a:noFill/>
          </p:spPr>
          <p:txBody>
            <a:bodyPr wrap="square" rtlCol="0">
              <a:spAutoFit/>
            </a:bodyPr>
            <a:lstStyle/>
            <a:p>
              <a:endParaRPr lang="en-GB" dirty="0">
                <a:solidFill>
                  <a:schemeClr val="accent6"/>
                </a:solidFill>
              </a:endParaRPr>
            </a:p>
          </p:txBody>
        </p:sp>
      </p:grpSp>
      <p:sp>
        <p:nvSpPr>
          <p:cNvPr id="64" name="Title 1">
            <a:extLst>
              <a:ext uri="{FF2B5EF4-FFF2-40B4-BE49-F238E27FC236}">
                <a16:creationId xmlns:a16="http://schemas.microsoft.com/office/drawing/2014/main" id="{2EB586A6-922D-BB5D-CF9C-AF20CDA21112}"/>
              </a:ext>
            </a:extLst>
          </p:cNvPr>
          <p:cNvSpPr>
            <a:spLocks noGrp="1"/>
          </p:cNvSpPr>
          <p:nvPr>
            <p:ph type="title"/>
          </p:nvPr>
        </p:nvSpPr>
        <p:spPr>
          <a:xfrm>
            <a:off x="0" y="0"/>
            <a:ext cx="12192000" cy="628014"/>
          </a:xfrm>
          <a:solidFill>
            <a:schemeClr val="accent6"/>
          </a:solidFill>
        </p:spPr>
        <p:txBody>
          <a:bodyPr>
            <a:no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Phase 5:Arbitration</a:t>
            </a:r>
          </a:p>
        </p:txBody>
      </p:sp>
      <p:cxnSp>
        <p:nvCxnSpPr>
          <p:cNvPr id="36" name="Straight Arrow Connector 35">
            <a:extLst>
              <a:ext uri="{FF2B5EF4-FFF2-40B4-BE49-F238E27FC236}">
                <a16:creationId xmlns:a16="http://schemas.microsoft.com/office/drawing/2014/main" id="{9767DE82-7271-6AAF-4648-887208DD8B92}"/>
              </a:ext>
            </a:extLst>
          </p:cNvPr>
          <p:cNvCxnSpPr>
            <a:cxnSpLocks/>
            <a:endCxn id="32" idx="2"/>
          </p:cNvCxnSpPr>
          <p:nvPr/>
        </p:nvCxnSpPr>
        <p:spPr>
          <a:xfrm flipV="1">
            <a:off x="1186395" y="2530323"/>
            <a:ext cx="3108906" cy="21398"/>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111013F2-EEBF-5137-69F4-487145148F7D}"/>
              </a:ext>
            </a:extLst>
          </p:cNvPr>
          <p:cNvCxnSpPr>
            <a:cxnSpLocks/>
          </p:cNvCxnSpPr>
          <p:nvPr/>
        </p:nvCxnSpPr>
        <p:spPr>
          <a:xfrm flipV="1">
            <a:off x="1184558" y="2893420"/>
            <a:ext cx="3108905" cy="29009"/>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4FF7CA99-416F-BFEC-3F85-478F0F6380A3}"/>
              </a:ext>
            </a:extLst>
          </p:cNvPr>
          <p:cNvSpPr txBox="1"/>
          <p:nvPr/>
        </p:nvSpPr>
        <p:spPr>
          <a:xfrm>
            <a:off x="1540168" y="1676396"/>
            <a:ext cx="1316451" cy="369332"/>
          </a:xfrm>
          <a:prstGeom prst="rect">
            <a:avLst/>
          </a:prstGeom>
          <a:noFill/>
        </p:spPr>
        <p:txBody>
          <a:bodyPr wrap="none" rtlCol="0">
            <a:spAutoFit/>
          </a:bodyPr>
          <a:lstStyle/>
          <a:p>
            <a:r>
              <a:rPr lang="en-IN" dirty="0" err="1"/>
              <a:t>soc_req_dv</a:t>
            </a:r>
            <a:endParaRPr lang="en-IN" dirty="0"/>
          </a:p>
        </p:txBody>
      </p:sp>
      <p:sp>
        <p:nvSpPr>
          <p:cNvPr id="48" name="TextBox 47">
            <a:extLst>
              <a:ext uri="{FF2B5EF4-FFF2-40B4-BE49-F238E27FC236}">
                <a16:creationId xmlns:a16="http://schemas.microsoft.com/office/drawing/2014/main" id="{0ED6BB28-159B-7B01-F6F7-683E13FE6CC7}"/>
              </a:ext>
            </a:extLst>
          </p:cNvPr>
          <p:cNvSpPr txBox="1"/>
          <p:nvPr/>
        </p:nvSpPr>
        <p:spPr>
          <a:xfrm>
            <a:off x="1346062" y="2041569"/>
            <a:ext cx="1542474" cy="369332"/>
          </a:xfrm>
          <a:prstGeom prst="rect">
            <a:avLst/>
          </a:prstGeom>
          <a:noFill/>
        </p:spPr>
        <p:txBody>
          <a:bodyPr wrap="none" rtlCol="0">
            <a:spAutoFit/>
          </a:bodyPr>
          <a:lstStyle/>
          <a:p>
            <a:r>
              <a:rPr lang="en-IN" dirty="0" err="1"/>
              <a:t>soc_req_addr</a:t>
            </a:r>
            <a:endParaRPr lang="en-IN" dirty="0"/>
          </a:p>
        </p:txBody>
      </p:sp>
      <p:sp>
        <p:nvSpPr>
          <p:cNvPr id="55" name="TextBox 54">
            <a:extLst>
              <a:ext uri="{FF2B5EF4-FFF2-40B4-BE49-F238E27FC236}">
                <a16:creationId xmlns:a16="http://schemas.microsoft.com/office/drawing/2014/main" id="{AE6E42F2-5C9A-1EA6-3AAC-E3F67ED03885}"/>
              </a:ext>
            </a:extLst>
          </p:cNvPr>
          <p:cNvSpPr txBox="1"/>
          <p:nvPr/>
        </p:nvSpPr>
        <p:spPr>
          <a:xfrm>
            <a:off x="1508404" y="2534788"/>
            <a:ext cx="2437525" cy="369332"/>
          </a:xfrm>
          <a:prstGeom prst="rect">
            <a:avLst/>
          </a:prstGeom>
          <a:noFill/>
        </p:spPr>
        <p:txBody>
          <a:bodyPr wrap="square" rtlCol="0">
            <a:spAutoFit/>
          </a:bodyPr>
          <a:lstStyle/>
          <a:p>
            <a:r>
              <a:rPr lang="en-IN" dirty="0" err="1"/>
              <a:t>soc_req_wdata</a:t>
            </a:r>
            <a:endParaRPr lang="en-IN" dirty="0"/>
          </a:p>
        </p:txBody>
      </p:sp>
      <p:cxnSp>
        <p:nvCxnSpPr>
          <p:cNvPr id="52" name="Straight Arrow Connector 51">
            <a:extLst>
              <a:ext uri="{FF2B5EF4-FFF2-40B4-BE49-F238E27FC236}">
                <a16:creationId xmlns:a16="http://schemas.microsoft.com/office/drawing/2014/main" id="{B21DF5DF-EC26-8332-A212-1D0B9014F593}"/>
              </a:ext>
            </a:extLst>
          </p:cNvPr>
          <p:cNvCxnSpPr>
            <a:cxnSpLocks/>
          </p:cNvCxnSpPr>
          <p:nvPr/>
        </p:nvCxnSpPr>
        <p:spPr>
          <a:xfrm flipH="1">
            <a:off x="4297241" y="4020643"/>
            <a:ext cx="3458226" cy="0"/>
          </a:xfrm>
          <a:prstGeom prst="straightConnector1">
            <a:avLst/>
          </a:prstGeom>
          <a:ln w="28575">
            <a:solidFill>
              <a:schemeClr val="accent6"/>
            </a:solidFill>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a:extLst>
              <a:ext uri="{FF2B5EF4-FFF2-40B4-BE49-F238E27FC236}">
                <a16:creationId xmlns:a16="http://schemas.microsoft.com/office/drawing/2014/main" id="{39B82623-D786-6852-5551-883CFE9BCB4A}"/>
              </a:ext>
            </a:extLst>
          </p:cNvPr>
          <p:cNvCxnSpPr>
            <a:cxnSpLocks/>
          </p:cNvCxnSpPr>
          <p:nvPr/>
        </p:nvCxnSpPr>
        <p:spPr>
          <a:xfrm flipH="1">
            <a:off x="4288774" y="4464251"/>
            <a:ext cx="3466693" cy="0"/>
          </a:xfrm>
          <a:prstGeom prst="straightConnector1">
            <a:avLst/>
          </a:prstGeom>
          <a:ln w="28575">
            <a:solidFill>
              <a:schemeClr val="accent6"/>
            </a:solidFill>
            <a:tailEnd type="triangle"/>
          </a:ln>
        </p:spPr>
        <p:style>
          <a:lnRef idx="2">
            <a:schemeClr val="dk1"/>
          </a:lnRef>
          <a:fillRef idx="0">
            <a:schemeClr val="dk1"/>
          </a:fillRef>
          <a:effectRef idx="1">
            <a:schemeClr val="dk1"/>
          </a:effectRef>
          <a:fontRef idx="minor">
            <a:schemeClr val="tx1"/>
          </a:fontRef>
        </p:style>
      </p:cxnSp>
      <p:sp>
        <p:nvSpPr>
          <p:cNvPr id="59" name="TextBox 58">
            <a:extLst>
              <a:ext uri="{FF2B5EF4-FFF2-40B4-BE49-F238E27FC236}">
                <a16:creationId xmlns:a16="http://schemas.microsoft.com/office/drawing/2014/main" id="{A7311CF6-47A5-ABC5-36DA-33102934C72B}"/>
              </a:ext>
            </a:extLst>
          </p:cNvPr>
          <p:cNvSpPr txBox="1"/>
          <p:nvPr/>
        </p:nvSpPr>
        <p:spPr>
          <a:xfrm>
            <a:off x="5429293" y="4182042"/>
            <a:ext cx="1644809" cy="369332"/>
          </a:xfrm>
          <a:prstGeom prst="rect">
            <a:avLst/>
          </a:prstGeom>
          <a:noFill/>
        </p:spPr>
        <p:txBody>
          <a:bodyPr wrap="none" rtlCol="0">
            <a:spAutoFit/>
          </a:bodyPr>
          <a:lstStyle/>
          <a:p>
            <a:r>
              <a:rPr lang="en-GB" b="1" dirty="0" err="1">
                <a:solidFill>
                  <a:schemeClr val="accent2">
                    <a:lumMod val="75000"/>
                  </a:schemeClr>
                </a:solidFill>
              </a:rPr>
              <a:t>uc_req_wdata</a:t>
            </a:r>
            <a:endParaRPr lang="en-GB" b="1" dirty="0">
              <a:solidFill>
                <a:schemeClr val="accent2">
                  <a:lumMod val="75000"/>
                </a:schemeClr>
              </a:solidFill>
            </a:endParaRPr>
          </a:p>
        </p:txBody>
      </p:sp>
      <p:cxnSp>
        <p:nvCxnSpPr>
          <p:cNvPr id="72" name="Straight Connector 71">
            <a:extLst>
              <a:ext uri="{FF2B5EF4-FFF2-40B4-BE49-F238E27FC236}">
                <a16:creationId xmlns:a16="http://schemas.microsoft.com/office/drawing/2014/main" id="{6A49D7F4-AC8F-110F-9217-53B37998F3C4}"/>
              </a:ext>
            </a:extLst>
          </p:cNvPr>
          <p:cNvCxnSpPr/>
          <p:nvPr/>
        </p:nvCxnSpPr>
        <p:spPr>
          <a:xfrm>
            <a:off x="10608733" y="105533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978775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D50D9-9C25-4265-8CE5-6B2FEB2888F9}"/>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0172C31B-5805-9359-1720-4D1EBBC1D8F1}"/>
              </a:ext>
            </a:extLst>
          </p:cNvPr>
          <p:cNvGrpSpPr/>
          <p:nvPr/>
        </p:nvGrpSpPr>
        <p:grpSpPr>
          <a:xfrm>
            <a:off x="638347" y="652414"/>
            <a:ext cx="11873048" cy="6087008"/>
            <a:chOff x="825708" y="114641"/>
            <a:chExt cx="11873048" cy="6087008"/>
          </a:xfrm>
        </p:grpSpPr>
        <p:cxnSp>
          <p:nvCxnSpPr>
            <p:cNvPr id="5" name="Straight Connector 4">
              <a:extLst>
                <a:ext uri="{FF2B5EF4-FFF2-40B4-BE49-F238E27FC236}">
                  <a16:creationId xmlns:a16="http://schemas.microsoft.com/office/drawing/2014/main" id="{38D2A2CA-F945-09B1-6A8B-16C78FFDC758}"/>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725645D6-AD31-83B5-65FF-591FBFEBCB6C}"/>
                </a:ext>
              </a:extLst>
            </p:cNvPr>
            <p:cNvCxnSpPr/>
            <p:nvPr/>
          </p:nvCxnSpPr>
          <p:spPr>
            <a:xfrm>
              <a:off x="3285456" y="52037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FAB4D844-681F-347F-A2BD-1D69358358B2}"/>
                </a:ext>
              </a:extLst>
            </p:cNvPr>
            <p:cNvCxnSpPr/>
            <p:nvPr/>
          </p:nvCxnSpPr>
          <p:spPr>
            <a:xfrm>
              <a:off x="5504426" y="433309"/>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BB67AC1F-7CF1-228F-8C62-B07E0ACE0AA5}"/>
                </a:ext>
              </a:extLst>
            </p:cNvPr>
            <p:cNvSpPr txBox="1"/>
            <p:nvPr/>
          </p:nvSpPr>
          <p:spPr>
            <a:xfrm>
              <a:off x="10255533" y="136701"/>
              <a:ext cx="2443223" cy="369332"/>
            </a:xfrm>
            <a:prstGeom prst="rect">
              <a:avLst/>
            </a:prstGeom>
            <a:noFill/>
          </p:spPr>
          <p:txBody>
            <a:bodyPr wrap="square" rtlCol="0">
              <a:spAutoFit/>
            </a:bodyPr>
            <a:lstStyle/>
            <a:p>
              <a:r>
                <a:rPr lang="en-GB" b="1" dirty="0"/>
                <a:t>Mailbox</a:t>
              </a:r>
            </a:p>
          </p:txBody>
        </p:sp>
        <p:sp>
          <p:nvSpPr>
            <p:cNvPr id="11" name="TextBox 10">
              <a:extLst>
                <a:ext uri="{FF2B5EF4-FFF2-40B4-BE49-F238E27FC236}">
                  <a16:creationId xmlns:a16="http://schemas.microsoft.com/office/drawing/2014/main" id="{E39DD23A-80FF-5F50-903D-A1A261041BAD}"/>
                </a:ext>
              </a:extLst>
            </p:cNvPr>
            <p:cNvSpPr txBox="1"/>
            <p:nvPr/>
          </p:nvSpPr>
          <p:spPr>
            <a:xfrm>
              <a:off x="2577716" y="142254"/>
              <a:ext cx="1753847" cy="369332"/>
            </a:xfrm>
            <a:prstGeom prst="rect">
              <a:avLst/>
            </a:prstGeom>
            <a:noFill/>
          </p:spPr>
          <p:txBody>
            <a:bodyPr wrap="square" rtlCol="0">
              <a:spAutoFit/>
            </a:bodyPr>
            <a:lstStyle/>
            <a:p>
              <a:r>
                <a:rPr lang="en-GB" b="1" dirty="0"/>
                <a:t>AXI Interface</a:t>
              </a:r>
            </a:p>
          </p:txBody>
        </p:sp>
        <p:sp>
          <p:nvSpPr>
            <p:cNvPr id="12" name="TextBox 11">
              <a:extLst>
                <a:ext uri="{FF2B5EF4-FFF2-40B4-BE49-F238E27FC236}">
                  <a16:creationId xmlns:a16="http://schemas.microsoft.com/office/drawing/2014/main" id="{A78AD815-1AA9-57BB-EFED-11CB6D04E859}"/>
                </a:ext>
              </a:extLst>
            </p:cNvPr>
            <p:cNvSpPr txBox="1"/>
            <p:nvPr/>
          </p:nvSpPr>
          <p:spPr>
            <a:xfrm>
              <a:off x="8216932" y="4729311"/>
              <a:ext cx="2963139" cy="646331"/>
            </a:xfrm>
            <a:prstGeom prst="rect">
              <a:avLst/>
            </a:prstGeom>
            <a:noFill/>
          </p:spPr>
          <p:txBody>
            <a:bodyPr wrap="square" rtlCol="0">
              <a:spAutoFit/>
            </a:bodyPr>
            <a:lstStyle/>
            <a:p>
              <a:r>
                <a:rPr lang="en-GB" b="1" dirty="0" err="1">
                  <a:solidFill>
                    <a:schemeClr val="accent2"/>
                  </a:solidFill>
                </a:rPr>
                <a:t>mbox_cmd</a:t>
              </a:r>
              <a:r>
                <a:rPr lang="en-GB" b="1" dirty="0">
                  <a:solidFill>
                    <a:schemeClr val="accent2"/>
                  </a:solidFill>
                </a:rPr>
                <a:t>, </a:t>
              </a:r>
              <a:r>
                <a:rPr lang="en-GB" b="1" dirty="0" err="1">
                  <a:solidFill>
                    <a:schemeClr val="accent2"/>
                  </a:solidFill>
                </a:rPr>
                <a:t>mbox_dlen</a:t>
              </a:r>
              <a:endParaRPr lang="en-GB" b="1" dirty="0">
                <a:solidFill>
                  <a:schemeClr val="accent2"/>
                </a:solidFill>
              </a:endParaRPr>
            </a:p>
            <a:p>
              <a:endParaRPr lang="en-GB" dirty="0">
                <a:solidFill>
                  <a:schemeClr val="accent2"/>
                </a:solidFill>
              </a:endParaRPr>
            </a:p>
          </p:txBody>
        </p:sp>
        <p:sp>
          <p:nvSpPr>
            <p:cNvPr id="13" name="TextBox 12">
              <a:extLst>
                <a:ext uri="{FF2B5EF4-FFF2-40B4-BE49-F238E27FC236}">
                  <a16:creationId xmlns:a16="http://schemas.microsoft.com/office/drawing/2014/main" id="{C5E2FA39-03F5-378C-F21A-1730449517EA}"/>
                </a:ext>
              </a:extLst>
            </p:cNvPr>
            <p:cNvSpPr txBox="1"/>
            <p:nvPr/>
          </p:nvSpPr>
          <p:spPr>
            <a:xfrm>
              <a:off x="4654199" y="126752"/>
              <a:ext cx="1952485" cy="369332"/>
            </a:xfrm>
            <a:prstGeom prst="rect">
              <a:avLst/>
            </a:prstGeom>
            <a:noFill/>
          </p:spPr>
          <p:txBody>
            <a:bodyPr wrap="square" rtlCol="0">
              <a:spAutoFit/>
            </a:bodyPr>
            <a:lstStyle/>
            <a:p>
              <a:r>
                <a:rPr lang="en-GB" b="1" dirty="0" err="1"/>
                <a:t>SoC_IFC</a:t>
              </a:r>
              <a:r>
                <a:rPr lang="en-GB" b="1" dirty="0"/>
                <a:t> Arbiter</a:t>
              </a:r>
            </a:p>
          </p:txBody>
        </p:sp>
        <p:sp>
          <p:nvSpPr>
            <p:cNvPr id="14" name="TextBox 13">
              <a:extLst>
                <a:ext uri="{FF2B5EF4-FFF2-40B4-BE49-F238E27FC236}">
                  <a16:creationId xmlns:a16="http://schemas.microsoft.com/office/drawing/2014/main" id="{C0287F3C-B8EA-B24C-D310-6D53C0A1C9BE}"/>
                </a:ext>
              </a:extLst>
            </p:cNvPr>
            <p:cNvSpPr txBox="1"/>
            <p:nvPr/>
          </p:nvSpPr>
          <p:spPr>
            <a:xfrm>
              <a:off x="7361811" y="1131086"/>
              <a:ext cx="525633" cy="369332"/>
            </a:xfrm>
            <a:prstGeom prst="rect">
              <a:avLst/>
            </a:prstGeom>
            <a:noFill/>
          </p:spPr>
          <p:txBody>
            <a:bodyPr wrap="square" rtlCol="0">
              <a:spAutoFit/>
            </a:bodyPr>
            <a:lstStyle/>
            <a:p>
              <a:endParaRPr lang="en-GB" b="1" dirty="0"/>
            </a:p>
          </p:txBody>
        </p:sp>
        <p:sp>
          <p:nvSpPr>
            <p:cNvPr id="15" name="TextBox 14">
              <a:extLst>
                <a:ext uri="{FF2B5EF4-FFF2-40B4-BE49-F238E27FC236}">
                  <a16:creationId xmlns:a16="http://schemas.microsoft.com/office/drawing/2014/main" id="{6BCD087B-D70C-808E-FD8A-8D036D509CE2}"/>
                </a:ext>
              </a:extLst>
            </p:cNvPr>
            <p:cNvSpPr txBox="1"/>
            <p:nvPr/>
          </p:nvSpPr>
          <p:spPr>
            <a:xfrm>
              <a:off x="9394788" y="148230"/>
              <a:ext cx="2600168" cy="369332"/>
            </a:xfrm>
            <a:prstGeom prst="rect">
              <a:avLst/>
            </a:prstGeom>
            <a:noFill/>
          </p:spPr>
          <p:txBody>
            <a:bodyPr wrap="square" rtlCol="0">
              <a:spAutoFit/>
            </a:bodyPr>
            <a:lstStyle/>
            <a:p>
              <a:endParaRPr lang="en-GB" b="1" dirty="0"/>
            </a:p>
          </p:txBody>
        </p:sp>
        <p:sp>
          <p:nvSpPr>
            <p:cNvPr id="20" name="TextBox 19">
              <a:extLst>
                <a:ext uri="{FF2B5EF4-FFF2-40B4-BE49-F238E27FC236}">
                  <a16:creationId xmlns:a16="http://schemas.microsoft.com/office/drawing/2014/main" id="{C7C894DF-02E1-FB23-B243-B8E4B71FDB87}"/>
                </a:ext>
              </a:extLst>
            </p:cNvPr>
            <p:cNvSpPr txBox="1"/>
            <p:nvPr/>
          </p:nvSpPr>
          <p:spPr>
            <a:xfrm>
              <a:off x="825708" y="506033"/>
              <a:ext cx="1966213"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22" name="TextBox 21">
              <a:extLst>
                <a:ext uri="{FF2B5EF4-FFF2-40B4-BE49-F238E27FC236}">
                  <a16:creationId xmlns:a16="http://schemas.microsoft.com/office/drawing/2014/main" id="{A90F5F12-2760-A7E5-52F9-BE090B2BB8CE}"/>
                </a:ext>
              </a:extLst>
            </p:cNvPr>
            <p:cNvSpPr txBox="1"/>
            <p:nvPr/>
          </p:nvSpPr>
          <p:spPr>
            <a:xfrm>
              <a:off x="1044314" y="837377"/>
              <a:ext cx="2557067"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31" name="TextBox 30">
              <a:extLst>
                <a:ext uri="{FF2B5EF4-FFF2-40B4-BE49-F238E27FC236}">
                  <a16:creationId xmlns:a16="http://schemas.microsoft.com/office/drawing/2014/main" id="{C0FCEDEB-2E22-4CA8-9624-43BE08050771}"/>
                </a:ext>
              </a:extLst>
            </p:cNvPr>
            <p:cNvSpPr txBox="1"/>
            <p:nvPr/>
          </p:nvSpPr>
          <p:spPr>
            <a:xfrm>
              <a:off x="7119667" y="114641"/>
              <a:ext cx="1896267" cy="369332"/>
            </a:xfrm>
            <a:prstGeom prst="rect">
              <a:avLst/>
            </a:prstGeom>
            <a:noFill/>
          </p:spPr>
          <p:txBody>
            <a:bodyPr wrap="square" rtlCol="0">
              <a:spAutoFit/>
            </a:bodyPr>
            <a:lstStyle/>
            <a:p>
              <a:r>
                <a:rPr lang="en-GB" b="1" dirty="0"/>
                <a:t>Adress Decoder</a:t>
              </a:r>
            </a:p>
          </p:txBody>
        </p:sp>
        <p:sp>
          <p:nvSpPr>
            <p:cNvPr id="32" name="TextBox 31">
              <a:extLst>
                <a:ext uri="{FF2B5EF4-FFF2-40B4-BE49-F238E27FC236}">
                  <a16:creationId xmlns:a16="http://schemas.microsoft.com/office/drawing/2014/main" id="{58FCB445-FFA1-63F1-5333-51072EC1A598}"/>
                </a:ext>
              </a:extLst>
            </p:cNvPr>
            <p:cNvSpPr txBox="1"/>
            <p:nvPr/>
          </p:nvSpPr>
          <p:spPr>
            <a:xfrm>
              <a:off x="2819723" y="1603394"/>
              <a:ext cx="2557067" cy="369332"/>
            </a:xfrm>
            <a:prstGeom prst="rect">
              <a:avLst/>
            </a:prstGeom>
            <a:noFill/>
          </p:spPr>
          <p:txBody>
            <a:bodyPr wrap="square" rtlCol="0">
              <a:spAutoFit/>
            </a:bodyPr>
            <a:lstStyle/>
            <a:p>
              <a:endParaRPr lang="en-GB" dirty="0">
                <a:solidFill>
                  <a:schemeClr val="accent2">
                    <a:lumMod val="75000"/>
                  </a:schemeClr>
                </a:solidFill>
              </a:endParaRPr>
            </a:p>
          </p:txBody>
        </p:sp>
        <p:cxnSp>
          <p:nvCxnSpPr>
            <p:cNvPr id="43" name="Straight Arrow Connector 42">
              <a:extLst>
                <a:ext uri="{FF2B5EF4-FFF2-40B4-BE49-F238E27FC236}">
                  <a16:creationId xmlns:a16="http://schemas.microsoft.com/office/drawing/2014/main" id="{CD86D05E-A763-FA10-F80C-27E8B29C5ED4}"/>
                </a:ext>
              </a:extLst>
            </p:cNvPr>
            <p:cNvCxnSpPr>
              <a:cxnSpLocks/>
            </p:cNvCxnSpPr>
            <p:nvPr/>
          </p:nvCxnSpPr>
          <p:spPr>
            <a:xfrm>
              <a:off x="989351" y="1500905"/>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D593036E-EA30-BED4-48A5-020BDFC7F788}"/>
                </a:ext>
              </a:extLst>
            </p:cNvPr>
            <p:cNvSpPr txBox="1"/>
            <p:nvPr/>
          </p:nvSpPr>
          <p:spPr>
            <a:xfrm>
              <a:off x="6158540" y="3358198"/>
              <a:ext cx="2557067" cy="369332"/>
            </a:xfrm>
            <a:prstGeom prst="rect">
              <a:avLst/>
            </a:prstGeom>
            <a:noFill/>
          </p:spPr>
          <p:txBody>
            <a:bodyPr wrap="square" rtlCol="0">
              <a:spAutoFit/>
            </a:bodyPr>
            <a:lstStyle/>
            <a:p>
              <a:r>
                <a:rPr lang="en-GB" b="1" dirty="0">
                  <a:solidFill>
                    <a:srgbClr val="0070C0"/>
                  </a:solidFill>
                </a:rPr>
                <a:t>reg_addr</a:t>
              </a:r>
            </a:p>
          </p:txBody>
        </p:sp>
        <p:cxnSp>
          <p:nvCxnSpPr>
            <p:cNvPr id="47" name="Straight Arrow Connector 46">
              <a:extLst>
                <a:ext uri="{FF2B5EF4-FFF2-40B4-BE49-F238E27FC236}">
                  <a16:creationId xmlns:a16="http://schemas.microsoft.com/office/drawing/2014/main" id="{4AFB80C8-8481-3421-0AFD-4046035D158B}"/>
                </a:ext>
              </a:extLst>
            </p:cNvPr>
            <p:cNvCxnSpPr>
              <a:cxnSpLocks/>
            </p:cNvCxnSpPr>
            <p:nvPr/>
          </p:nvCxnSpPr>
          <p:spPr>
            <a:xfrm>
              <a:off x="5514469" y="3692669"/>
              <a:ext cx="2491121"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384F65F5-E743-AF99-DE5F-AB9E0157EFDC}"/>
                </a:ext>
              </a:extLst>
            </p:cNvPr>
            <p:cNvSpPr txBox="1"/>
            <p:nvPr/>
          </p:nvSpPr>
          <p:spPr>
            <a:xfrm>
              <a:off x="6763689" y="4093422"/>
              <a:ext cx="1907497" cy="369332"/>
            </a:xfrm>
            <a:prstGeom prst="rect">
              <a:avLst/>
            </a:prstGeom>
            <a:noFill/>
          </p:spPr>
          <p:txBody>
            <a:bodyPr wrap="square" rtlCol="0">
              <a:spAutoFit/>
            </a:bodyPr>
            <a:lstStyle/>
            <a:p>
              <a:endParaRPr lang="en-GB" b="1" dirty="0">
                <a:solidFill>
                  <a:schemeClr val="accent4">
                    <a:lumMod val="50000"/>
                  </a:schemeClr>
                </a:solidFill>
              </a:endParaRPr>
            </a:p>
          </p:txBody>
        </p:sp>
        <p:sp>
          <p:nvSpPr>
            <p:cNvPr id="53" name="TextBox 52">
              <a:extLst>
                <a:ext uri="{FF2B5EF4-FFF2-40B4-BE49-F238E27FC236}">
                  <a16:creationId xmlns:a16="http://schemas.microsoft.com/office/drawing/2014/main" id="{9CAE5CA0-F829-320B-C86C-ABB667E83586}"/>
                </a:ext>
              </a:extLst>
            </p:cNvPr>
            <p:cNvSpPr txBox="1"/>
            <p:nvPr/>
          </p:nvSpPr>
          <p:spPr>
            <a:xfrm>
              <a:off x="8605426" y="3964470"/>
              <a:ext cx="3244121" cy="369332"/>
            </a:xfrm>
            <a:prstGeom prst="rect">
              <a:avLst/>
            </a:prstGeom>
            <a:noFill/>
          </p:spPr>
          <p:txBody>
            <a:bodyPr wrap="square" rtlCol="0">
              <a:spAutoFit/>
            </a:bodyPr>
            <a:lstStyle/>
            <a:p>
              <a:r>
                <a:rPr lang="en-GB" b="1" dirty="0" err="1">
                  <a:solidFill>
                    <a:schemeClr val="accent2"/>
                  </a:solidFill>
                </a:rPr>
                <a:t>sel_mbox</a:t>
              </a:r>
              <a:endParaRPr lang="en-GB" b="1" dirty="0">
                <a:solidFill>
                  <a:schemeClr val="accent2"/>
                </a:solidFill>
              </a:endParaRPr>
            </a:p>
          </p:txBody>
        </p:sp>
        <p:sp>
          <p:nvSpPr>
            <p:cNvPr id="60" name="TextBox 59">
              <a:extLst>
                <a:ext uri="{FF2B5EF4-FFF2-40B4-BE49-F238E27FC236}">
                  <a16:creationId xmlns:a16="http://schemas.microsoft.com/office/drawing/2014/main" id="{A567711C-F8CA-3E8E-1FC9-6A5229DD62B1}"/>
                </a:ext>
              </a:extLst>
            </p:cNvPr>
            <p:cNvSpPr txBox="1"/>
            <p:nvPr/>
          </p:nvSpPr>
          <p:spPr>
            <a:xfrm>
              <a:off x="6682494" y="5249380"/>
              <a:ext cx="723261" cy="369332"/>
            </a:xfrm>
            <a:prstGeom prst="rect">
              <a:avLst/>
            </a:prstGeom>
            <a:noFill/>
          </p:spPr>
          <p:txBody>
            <a:bodyPr wrap="square" rtlCol="0">
              <a:spAutoFit/>
            </a:bodyPr>
            <a:lstStyle/>
            <a:p>
              <a:endParaRPr lang="en-GB" dirty="0">
                <a:solidFill>
                  <a:schemeClr val="accent4">
                    <a:lumMod val="50000"/>
                  </a:schemeClr>
                </a:solidFill>
              </a:endParaRPr>
            </a:p>
          </p:txBody>
        </p:sp>
        <p:sp>
          <p:nvSpPr>
            <p:cNvPr id="61" name="TextBox 60">
              <a:extLst>
                <a:ext uri="{FF2B5EF4-FFF2-40B4-BE49-F238E27FC236}">
                  <a16:creationId xmlns:a16="http://schemas.microsoft.com/office/drawing/2014/main" id="{A8679EB6-FB92-5CCC-7F08-3D22956F127D}"/>
                </a:ext>
              </a:extLst>
            </p:cNvPr>
            <p:cNvSpPr txBox="1"/>
            <p:nvPr/>
          </p:nvSpPr>
          <p:spPr>
            <a:xfrm>
              <a:off x="8636533" y="4501548"/>
              <a:ext cx="2043033" cy="369332"/>
            </a:xfrm>
            <a:prstGeom prst="rect">
              <a:avLst/>
            </a:prstGeom>
            <a:noFill/>
          </p:spPr>
          <p:txBody>
            <a:bodyPr wrap="square" rtlCol="0">
              <a:spAutoFit/>
            </a:bodyPr>
            <a:lstStyle/>
            <a:p>
              <a:endParaRPr lang="en-GB" dirty="0">
                <a:solidFill>
                  <a:schemeClr val="accent6"/>
                </a:solidFill>
              </a:endParaRPr>
            </a:p>
          </p:txBody>
        </p:sp>
      </p:grpSp>
      <p:sp>
        <p:nvSpPr>
          <p:cNvPr id="64" name="Title 1">
            <a:extLst>
              <a:ext uri="{FF2B5EF4-FFF2-40B4-BE49-F238E27FC236}">
                <a16:creationId xmlns:a16="http://schemas.microsoft.com/office/drawing/2014/main" id="{B8DF11C4-AAE6-C464-FB00-9B39CCB5BE0A}"/>
              </a:ext>
            </a:extLst>
          </p:cNvPr>
          <p:cNvSpPr>
            <a:spLocks noGrp="1"/>
          </p:cNvSpPr>
          <p:nvPr>
            <p:ph type="title"/>
          </p:nvPr>
        </p:nvSpPr>
        <p:spPr>
          <a:xfrm>
            <a:off x="0" y="-1"/>
            <a:ext cx="12192000" cy="641233"/>
          </a:xfrm>
          <a:solidFill>
            <a:schemeClr val="accent6"/>
          </a:solidFill>
        </p:spPr>
        <p:txBody>
          <a:bodyPr>
            <a:no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Phase 6:Mailbox Command</a:t>
            </a:r>
          </a:p>
        </p:txBody>
      </p:sp>
      <p:cxnSp>
        <p:nvCxnSpPr>
          <p:cNvPr id="36" name="Straight Arrow Connector 35">
            <a:extLst>
              <a:ext uri="{FF2B5EF4-FFF2-40B4-BE49-F238E27FC236}">
                <a16:creationId xmlns:a16="http://schemas.microsoft.com/office/drawing/2014/main" id="{98B0B064-B110-60E1-3DA7-095937D6E29E}"/>
              </a:ext>
            </a:extLst>
          </p:cNvPr>
          <p:cNvCxnSpPr>
            <a:cxnSpLocks/>
          </p:cNvCxnSpPr>
          <p:nvPr/>
        </p:nvCxnSpPr>
        <p:spPr>
          <a:xfrm flipV="1">
            <a:off x="3098095" y="3079871"/>
            <a:ext cx="2226497" cy="10699"/>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CA3A603A-1558-DA32-06B1-8A47081ACA1E}"/>
              </a:ext>
            </a:extLst>
          </p:cNvPr>
          <p:cNvCxnSpPr>
            <a:cxnSpLocks/>
          </p:cNvCxnSpPr>
          <p:nvPr/>
        </p:nvCxnSpPr>
        <p:spPr>
          <a:xfrm flipV="1">
            <a:off x="3098095" y="3670641"/>
            <a:ext cx="2226497" cy="14505"/>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F2432061-BA42-7DE7-DF77-3328970B4E38}"/>
              </a:ext>
            </a:extLst>
          </p:cNvPr>
          <p:cNvSpPr txBox="1"/>
          <p:nvPr/>
        </p:nvSpPr>
        <p:spPr>
          <a:xfrm>
            <a:off x="1540168" y="1676396"/>
            <a:ext cx="1112420" cy="369332"/>
          </a:xfrm>
          <a:prstGeom prst="rect">
            <a:avLst/>
          </a:prstGeom>
          <a:noFill/>
        </p:spPr>
        <p:txBody>
          <a:bodyPr wrap="none" rtlCol="0">
            <a:spAutoFit/>
          </a:bodyPr>
          <a:lstStyle/>
          <a:p>
            <a:r>
              <a:rPr lang="en-IN" dirty="0"/>
              <a:t>AWADDR</a:t>
            </a:r>
          </a:p>
        </p:txBody>
      </p:sp>
      <p:sp>
        <p:nvSpPr>
          <p:cNvPr id="48" name="TextBox 47">
            <a:extLst>
              <a:ext uri="{FF2B5EF4-FFF2-40B4-BE49-F238E27FC236}">
                <a16:creationId xmlns:a16="http://schemas.microsoft.com/office/drawing/2014/main" id="{B568CAEC-8780-D158-9F69-50114FDEE570}"/>
              </a:ext>
            </a:extLst>
          </p:cNvPr>
          <p:cNvSpPr txBox="1"/>
          <p:nvPr/>
        </p:nvSpPr>
        <p:spPr>
          <a:xfrm>
            <a:off x="3474674" y="2737755"/>
            <a:ext cx="1542474" cy="369332"/>
          </a:xfrm>
          <a:prstGeom prst="rect">
            <a:avLst/>
          </a:prstGeom>
          <a:noFill/>
        </p:spPr>
        <p:txBody>
          <a:bodyPr wrap="none" rtlCol="0">
            <a:spAutoFit/>
          </a:bodyPr>
          <a:lstStyle/>
          <a:p>
            <a:r>
              <a:rPr lang="en-IN" dirty="0" err="1"/>
              <a:t>soc_req_addr</a:t>
            </a:r>
            <a:endParaRPr lang="en-IN" dirty="0"/>
          </a:p>
        </p:txBody>
      </p:sp>
      <p:sp>
        <p:nvSpPr>
          <p:cNvPr id="55" name="TextBox 54">
            <a:extLst>
              <a:ext uri="{FF2B5EF4-FFF2-40B4-BE49-F238E27FC236}">
                <a16:creationId xmlns:a16="http://schemas.microsoft.com/office/drawing/2014/main" id="{0977544E-C465-1186-967E-35282FCD3DC2}"/>
              </a:ext>
            </a:extLst>
          </p:cNvPr>
          <p:cNvSpPr txBox="1"/>
          <p:nvPr/>
        </p:nvSpPr>
        <p:spPr>
          <a:xfrm>
            <a:off x="3414020" y="3297576"/>
            <a:ext cx="2437525" cy="369332"/>
          </a:xfrm>
          <a:prstGeom prst="rect">
            <a:avLst/>
          </a:prstGeom>
          <a:noFill/>
        </p:spPr>
        <p:txBody>
          <a:bodyPr wrap="square" rtlCol="0">
            <a:spAutoFit/>
          </a:bodyPr>
          <a:lstStyle/>
          <a:p>
            <a:r>
              <a:rPr lang="en-IN" dirty="0" err="1"/>
              <a:t>soc_req_wdata</a:t>
            </a:r>
            <a:endParaRPr lang="en-IN" dirty="0"/>
          </a:p>
        </p:txBody>
      </p:sp>
      <p:cxnSp>
        <p:nvCxnSpPr>
          <p:cNvPr id="72" name="Straight Connector 71">
            <a:extLst>
              <a:ext uri="{FF2B5EF4-FFF2-40B4-BE49-F238E27FC236}">
                <a16:creationId xmlns:a16="http://schemas.microsoft.com/office/drawing/2014/main" id="{A21ED15A-5571-8C03-5F58-50F62A3DBCBD}"/>
              </a:ext>
            </a:extLst>
          </p:cNvPr>
          <p:cNvCxnSpPr/>
          <p:nvPr/>
        </p:nvCxnSpPr>
        <p:spPr>
          <a:xfrm>
            <a:off x="10608733" y="105533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 name="Straight Connector 1">
            <a:extLst>
              <a:ext uri="{FF2B5EF4-FFF2-40B4-BE49-F238E27FC236}">
                <a16:creationId xmlns:a16="http://schemas.microsoft.com/office/drawing/2014/main" id="{C28A7B96-11CB-E836-FB91-5F8351C34851}"/>
              </a:ext>
            </a:extLst>
          </p:cNvPr>
          <p:cNvCxnSpPr/>
          <p:nvPr/>
        </p:nvCxnSpPr>
        <p:spPr>
          <a:xfrm>
            <a:off x="7818229" y="97574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E9E56C04-2AB9-BFFE-E92D-957309CC55D9}"/>
              </a:ext>
            </a:extLst>
          </p:cNvPr>
          <p:cNvSpPr txBox="1"/>
          <p:nvPr/>
        </p:nvSpPr>
        <p:spPr>
          <a:xfrm>
            <a:off x="542277" y="718640"/>
            <a:ext cx="619080" cy="369332"/>
          </a:xfrm>
          <a:prstGeom prst="rect">
            <a:avLst/>
          </a:prstGeom>
          <a:noFill/>
        </p:spPr>
        <p:txBody>
          <a:bodyPr wrap="none" rtlCol="0">
            <a:spAutoFit/>
          </a:bodyPr>
          <a:lstStyle/>
          <a:p>
            <a:r>
              <a:rPr lang="en-IN" b="1" dirty="0"/>
              <a:t>SoC</a:t>
            </a:r>
          </a:p>
        </p:txBody>
      </p:sp>
      <p:cxnSp>
        <p:nvCxnSpPr>
          <p:cNvPr id="16" name="Straight Arrow Connector 15">
            <a:extLst>
              <a:ext uri="{FF2B5EF4-FFF2-40B4-BE49-F238E27FC236}">
                <a16:creationId xmlns:a16="http://schemas.microsoft.com/office/drawing/2014/main" id="{B67B7270-4114-3EF9-E060-64402A23AF7B}"/>
              </a:ext>
            </a:extLst>
          </p:cNvPr>
          <p:cNvCxnSpPr>
            <a:cxnSpLocks/>
          </p:cNvCxnSpPr>
          <p:nvPr/>
        </p:nvCxnSpPr>
        <p:spPr>
          <a:xfrm>
            <a:off x="810454" y="2496275"/>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D3BFE640-B97A-4B73-4A49-09C8F8327311}"/>
              </a:ext>
            </a:extLst>
          </p:cNvPr>
          <p:cNvSpPr txBox="1"/>
          <p:nvPr/>
        </p:nvSpPr>
        <p:spPr>
          <a:xfrm>
            <a:off x="1542893" y="2193878"/>
            <a:ext cx="905889" cy="369332"/>
          </a:xfrm>
          <a:prstGeom prst="rect">
            <a:avLst/>
          </a:prstGeom>
          <a:noFill/>
        </p:spPr>
        <p:txBody>
          <a:bodyPr wrap="none" rtlCol="0">
            <a:spAutoFit/>
          </a:bodyPr>
          <a:lstStyle/>
          <a:p>
            <a:r>
              <a:rPr lang="en-IN" dirty="0"/>
              <a:t>WDATA</a:t>
            </a:r>
          </a:p>
        </p:txBody>
      </p:sp>
      <p:cxnSp>
        <p:nvCxnSpPr>
          <p:cNvPr id="23" name="Straight Arrow Connector 22">
            <a:extLst>
              <a:ext uri="{FF2B5EF4-FFF2-40B4-BE49-F238E27FC236}">
                <a16:creationId xmlns:a16="http://schemas.microsoft.com/office/drawing/2014/main" id="{48D8CEFF-154F-A787-DD81-E1310E67973F}"/>
              </a:ext>
            </a:extLst>
          </p:cNvPr>
          <p:cNvCxnSpPr/>
          <p:nvPr/>
        </p:nvCxnSpPr>
        <p:spPr>
          <a:xfrm>
            <a:off x="7818229" y="4815861"/>
            <a:ext cx="279050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04948B9-06E8-4B7F-ABEC-6B65061ADCD5}"/>
              </a:ext>
            </a:extLst>
          </p:cNvPr>
          <p:cNvCxnSpPr/>
          <p:nvPr/>
        </p:nvCxnSpPr>
        <p:spPr>
          <a:xfrm>
            <a:off x="7818229" y="5223987"/>
            <a:ext cx="279050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04A92685-B7C6-A2AA-12FC-C95BA3DDB9AC}"/>
              </a:ext>
            </a:extLst>
          </p:cNvPr>
          <p:cNvCxnSpPr/>
          <p:nvPr/>
        </p:nvCxnSpPr>
        <p:spPr>
          <a:xfrm>
            <a:off x="7818229" y="5645594"/>
            <a:ext cx="279050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C676F86C-D370-C109-E7E9-E9D054062F72}"/>
              </a:ext>
            </a:extLst>
          </p:cNvPr>
          <p:cNvCxnSpPr/>
          <p:nvPr/>
        </p:nvCxnSpPr>
        <p:spPr>
          <a:xfrm>
            <a:off x="7818229" y="6068928"/>
            <a:ext cx="279050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99A6787-5256-80B8-2972-F13968868D12}"/>
              </a:ext>
            </a:extLst>
          </p:cNvPr>
          <p:cNvCxnSpPr/>
          <p:nvPr/>
        </p:nvCxnSpPr>
        <p:spPr>
          <a:xfrm>
            <a:off x="7812175" y="6432995"/>
            <a:ext cx="279050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44998863-63BB-B53E-22B0-A858332EE2C8}"/>
              </a:ext>
            </a:extLst>
          </p:cNvPr>
          <p:cNvSpPr txBox="1"/>
          <p:nvPr/>
        </p:nvSpPr>
        <p:spPr>
          <a:xfrm>
            <a:off x="8448651" y="4907842"/>
            <a:ext cx="1324914" cy="369332"/>
          </a:xfrm>
          <a:prstGeom prst="rect">
            <a:avLst/>
          </a:prstGeom>
          <a:noFill/>
        </p:spPr>
        <p:txBody>
          <a:bodyPr wrap="none" rtlCol="0">
            <a:spAutoFit/>
          </a:bodyPr>
          <a:lstStyle/>
          <a:p>
            <a:r>
              <a:rPr lang="en-GB" b="1" dirty="0" err="1">
                <a:solidFill>
                  <a:schemeClr val="accent2"/>
                </a:solidFill>
              </a:rPr>
              <a:t>mbox_lock</a:t>
            </a:r>
            <a:endParaRPr lang="en-GB" b="1" dirty="0">
              <a:solidFill>
                <a:schemeClr val="accent2"/>
              </a:solidFill>
            </a:endParaRPr>
          </a:p>
        </p:txBody>
      </p:sp>
      <p:sp>
        <p:nvSpPr>
          <p:cNvPr id="33" name="TextBox 32">
            <a:extLst>
              <a:ext uri="{FF2B5EF4-FFF2-40B4-BE49-F238E27FC236}">
                <a16:creationId xmlns:a16="http://schemas.microsoft.com/office/drawing/2014/main" id="{1C0B0495-2239-84FC-CDCE-15009575795B}"/>
              </a:ext>
            </a:extLst>
          </p:cNvPr>
          <p:cNvSpPr txBox="1"/>
          <p:nvPr/>
        </p:nvSpPr>
        <p:spPr>
          <a:xfrm>
            <a:off x="8425493" y="5711250"/>
            <a:ext cx="1536318" cy="369332"/>
          </a:xfrm>
          <a:prstGeom prst="rect">
            <a:avLst/>
          </a:prstGeom>
          <a:noFill/>
        </p:spPr>
        <p:txBody>
          <a:bodyPr wrap="none" rtlCol="0">
            <a:spAutoFit/>
          </a:bodyPr>
          <a:lstStyle/>
          <a:p>
            <a:r>
              <a:rPr lang="en-GB" b="1" dirty="0" err="1">
                <a:solidFill>
                  <a:schemeClr val="accent2"/>
                </a:solidFill>
              </a:rPr>
              <a:t>mbox_datain</a:t>
            </a:r>
            <a:endParaRPr lang="en-GB" b="1" dirty="0">
              <a:solidFill>
                <a:schemeClr val="accent2"/>
              </a:solidFill>
            </a:endParaRPr>
          </a:p>
        </p:txBody>
      </p:sp>
      <p:sp>
        <p:nvSpPr>
          <p:cNvPr id="34" name="TextBox 33">
            <a:extLst>
              <a:ext uri="{FF2B5EF4-FFF2-40B4-BE49-F238E27FC236}">
                <a16:creationId xmlns:a16="http://schemas.microsoft.com/office/drawing/2014/main" id="{32BF9489-6806-5066-5AA2-E4F3E485D5F4}"/>
              </a:ext>
            </a:extLst>
          </p:cNvPr>
          <p:cNvSpPr txBox="1"/>
          <p:nvPr/>
        </p:nvSpPr>
        <p:spPr>
          <a:xfrm>
            <a:off x="8312628" y="6057275"/>
            <a:ext cx="1705532" cy="369332"/>
          </a:xfrm>
          <a:prstGeom prst="rect">
            <a:avLst/>
          </a:prstGeom>
          <a:noFill/>
        </p:spPr>
        <p:txBody>
          <a:bodyPr wrap="none" rtlCol="0">
            <a:spAutoFit/>
          </a:bodyPr>
          <a:lstStyle/>
          <a:p>
            <a:r>
              <a:rPr lang="en-GB" b="1" dirty="0" err="1">
                <a:solidFill>
                  <a:schemeClr val="accent2"/>
                </a:solidFill>
              </a:rPr>
              <a:t>mbox_execute</a:t>
            </a:r>
            <a:endParaRPr lang="en-GB" b="1" dirty="0">
              <a:solidFill>
                <a:schemeClr val="accent2"/>
              </a:solidFill>
            </a:endParaRPr>
          </a:p>
        </p:txBody>
      </p:sp>
    </p:spTree>
    <p:extLst>
      <p:ext uri="{BB962C8B-B14F-4D97-AF65-F5344CB8AC3E}">
        <p14:creationId xmlns:p14="http://schemas.microsoft.com/office/powerpoint/2010/main" val="38939767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014D4-2E96-171C-6E36-8AC32EAA7586}"/>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07491023-537E-5C49-C49F-9DBA076B70E9}"/>
              </a:ext>
            </a:extLst>
          </p:cNvPr>
          <p:cNvGrpSpPr/>
          <p:nvPr/>
        </p:nvGrpSpPr>
        <p:grpSpPr>
          <a:xfrm>
            <a:off x="638347" y="632002"/>
            <a:ext cx="10356829" cy="6107420"/>
            <a:chOff x="825708" y="94229"/>
            <a:chExt cx="10356829" cy="6107420"/>
          </a:xfrm>
        </p:grpSpPr>
        <p:cxnSp>
          <p:nvCxnSpPr>
            <p:cNvPr id="5" name="Straight Connector 4">
              <a:extLst>
                <a:ext uri="{FF2B5EF4-FFF2-40B4-BE49-F238E27FC236}">
                  <a16:creationId xmlns:a16="http://schemas.microsoft.com/office/drawing/2014/main" id="{CD4CDFF8-58EA-1FBC-B7EE-EB77A07D91E5}"/>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5173ED44-889A-2AEC-B0EB-A21B9821A62E}"/>
                </a:ext>
              </a:extLst>
            </p:cNvPr>
            <p:cNvCxnSpPr/>
            <p:nvPr/>
          </p:nvCxnSpPr>
          <p:spPr>
            <a:xfrm>
              <a:off x="3285456" y="52037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1CDC05AE-5AAE-8F26-2ADE-7CF9A371019E}"/>
                </a:ext>
              </a:extLst>
            </p:cNvPr>
            <p:cNvCxnSpPr/>
            <p:nvPr/>
          </p:nvCxnSpPr>
          <p:spPr>
            <a:xfrm>
              <a:off x="5504426" y="433309"/>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7039332D-7FD0-A542-B6E7-63ED8154BBB7}"/>
                </a:ext>
              </a:extLst>
            </p:cNvPr>
            <p:cNvSpPr txBox="1"/>
            <p:nvPr/>
          </p:nvSpPr>
          <p:spPr>
            <a:xfrm>
              <a:off x="8739314" y="94229"/>
              <a:ext cx="2443223" cy="369332"/>
            </a:xfrm>
            <a:prstGeom prst="rect">
              <a:avLst/>
            </a:prstGeom>
            <a:noFill/>
          </p:spPr>
          <p:txBody>
            <a:bodyPr wrap="square" rtlCol="0">
              <a:spAutoFit/>
            </a:bodyPr>
            <a:lstStyle/>
            <a:p>
              <a:r>
                <a:rPr lang="en-GB" b="1" dirty="0"/>
                <a:t>Mailbox</a:t>
              </a:r>
            </a:p>
          </p:txBody>
        </p:sp>
        <p:sp>
          <p:nvSpPr>
            <p:cNvPr id="11" name="TextBox 10">
              <a:extLst>
                <a:ext uri="{FF2B5EF4-FFF2-40B4-BE49-F238E27FC236}">
                  <a16:creationId xmlns:a16="http://schemas.microsoft.com/office/drawing/2014/main" id="{2A2F3720-CB86-230D-998D-B5B7BA98780D}"/>
                </a:ext>
              </a:extLst>
            </p:cNvPr>
            <p:cNvSpPr txBox="1"/>
            <p:nvPr/>
          </p:nvSpPr>
          <p:spPr>
            <a:xfrm>
              <a:off x="2577716" y="142254"/>
              <a:ext cx="1753847" cy="369332"/>
            </a:xfrm>
            <a:prstGeom prst="rect">
              <a:avLst/>
            </a:prstGeom>
            <a:noFill/>
          </p:spPr>
          <p:txBody>
            <a:bodyPr wrap="square" rtlCol="0">
              <a:spAutoFit/>
            </a:bodyPr>
            <a:lstStyle/>
            <a:p>
              <a:r>
                <a:rPr lang="en-GB" b="1" dirty="0"/>
                <a:t>AHB Lite IFC</a:t>
              </a:r>
            </a:p>
          </p:txBody>
        </p:sp>
        <p:sp>
          <p:nvSpPr>
            <p:cNvPr id="13" name="TextBox 12">
              <a:extLst>
                <a:ext uri="{FF2B5EF4-FFF2-40B4-BE49-F238E27FC236}">
                  <a16:creationId xmlns:a16="http://schemas.microsoft.com/office/drawing/2014/main" id="{89435B94-6013-492C-8B68-2EB0B3F69050}"/>
                </a:ext>
              </a:extLst>
            </p:cNvPr>
            <p:cNvSpPr txBox="1"/>
            <p:nvPr/>
          </p:nvSpPr>
          <p:spPr>
            <a:xfrm>
              <a:off x="4654199" y="126752"/>
              <a:ext cx="1952485" cy="369332"/>
            </a:xfrm>
            <a:prstGeom prst="rect">
              <a:avLst/>
            </a:prstGeom>
            <a:noFill/>
          </p:spPr>
          <p:txBody>
            <a:bodyPr wrap="square" rtlCol="0">
              <a:spAutoFit/>
            </a:bodyPr>
            <a:lstStyle/>
            <a:p>
              <a:r>
                <a:rPr lang="en-GB" b="1" dirty="0" err="1"/>
                <a:t>SoC_IFC</a:t>
              </a:r>
              <a:r>
                <a:rPr lang="en-GB" b="1" dirty="0"/>
                <a:t> Arbiter</a:t>
              </a:r>
            </a:p>
          </p:txBody>
        </p:sp>
        <p:sp>
          <p:nvSpPr>
            <p:cNvPr id="14" name="TextBox 13">
              <a:extLst>
                <a:ext uri="{FF2B5EF4-FFF2-40B4-BE49-F238E27FC236}">
                  <a16:creationId xmlns:a16="http://schemas.microsoft.com/office/drawing/2014/main" id="{C400CF33-E8FC-FC2B-3DE8-0B1B7C1CB679}"/>
                </a:ext>
              </a:extLst>
            </p:cNvPr>
            <p:cNvSpPr txBox="1"/>
            <p:nvPr/>
          </p:nvSpPr>
          <p:spPr>
            <a:xfrm>
              <a:off x="7361811" y="1131086"/>
              <a:ext cx="525633" cy="369332"/>
            </a:xfrm>
            <a:prstGeom prst="rect">
              <a:avLst/>
            </a:prstGeom>
            <a:noFill/>
          </p:spPr>
          <p:txBody>
            <a:bodyPr wrap="square" rtlCol="0">
              <a:spAutoFit/>
            </a:bodyPr>
            <a:lstStyle/>
            <a:p>
              <a:endParaRPr lang="en-GB" b="1" dirty="0"/>
            </a:p>
          </p:txBody>
        </p:sp>
        <p:sp>
          <p:nvSpPr>
            <p:cNvPr id="15" name="TextBox 14">
              <a:extLst>
                <a:ext uri="{FF2B5EF4-FFF2-40B4-BE49-F238E27FC236}">
                  <a16:creationId xmlns:a16="http://schemas.microsoft.com/office/drawing/2014/main" id="{0267A69E-0450-479F-25EB-0595E38A9DA2}"/>
                </a:ext>
              </a:extLst>
            </p:cNvPr>
            <p:cNvSpPr txBox="1"/>
            <p:nvPr/>
          </p:nvSpPr>
          <p:spPr>
            <a:xfrm>
              <a:off x="7695095" y="1995214"/>
              <a:ext cx="2600168" cy="369332"/>
            </a:xfrm>
            <a:prstGeom prst="rect">
              <a:avLst/>
            </a:prstGeom>
            <a:noFill/>
          </p:spPr>
          <p:txBody>
            <a:bodyPr wrap="square" rtlCol="0">
              <a:spAutoFit/>
            </a:bodyPr>
            <a:lstStyle/>
            <a:p>
              <a:endParaRPr lang="en-GB" b="1" dirty="0"/>
            </a:p>
          </p:txBody>
        </p:sp>
        <p:sp>
          <p:nvSpPr>
            <p:cNvPr id="20" name="TextBox 19">
              <a:extLst>
                <a:ext uri="{FF2B5EF4-FFF2-40B4-BE49-F238E27FC236}">
                  <a16:creationId xmlns:a16="http://schemas.microsoft.com/office/drawing/2014/main" id="{CBAC2FA2-9CFB-0FB7-0BEC-A3CD116D324C}"/>
                </a:ext>
              </a:extLst>
            </p:cNvPr>
            <p:cNvSpPr txBox="1"/>
            <p:nvPr/>
          </p:nvSpPr>
          <p:spPr>
            <a:xfrm>
              <a:off x="825708" y="506033"/>
              <a:ext cx="1966213"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22" name="TextBox 21">
              <a:extLst>
                <a:ext uri="{FF2B5EF4-FFF2-40B4-BE49-F238E27FC236}">
                  <a16:creationId xmlns:a16="http://schemas.microsoft.com/office/drawing/2014/main" id="{772630B3-A92D-F955-EE9B-9620294C9B3E}"/>
                </a:ext>
              </a:extLst>
            </p:cNvPr>
            <p:cNvSpPr txBox="1"/>
            <p:nvPr/>
          </p:nvSpPr>
          <p:spPr>
            <a:xfrm>
              <a:off x="1044314" y="837377"/>
              <a:ext cx="2557067"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31" name="TextBox 30">
              <a:extLst>
                <a:ext uri="{FF2B5EF4-FFF2-40B4-BE49-F238E27FC236}">
                  <a16:creationId xmlns:a16="http://schemas.microsoft.com/office/drawing/2014/main" id="{0A99C966-460A-F9DF-BF22-F675A6044C6E}"/>
                </a:ext>
              </a:extLst>
            </p:cNvPr>
            <p:cNvSpPr txBox="1"/>
            <p:nvPr/>
          </p:nvSpPr>
          <p:spPr>
            <a:xfrm>
              <a:off x="6613462" y="134264"/>
              <a:ext cx="1896267" cy="369332"/>
            </a:xfrm>
            <a:prstGeom prst="rect">
              <a:avLst/>
            </a:prstGeom>
            <a:noFill/>
          </p:spPr>
          <p:txBody>
            <a:bodyPr wrap="square" rtlCol="0">
              <a:spAutoFit/>
            </a:bodyPr>
            <a:lstStyle/>
            <a:p>
              <a:r>
                <a:rPr lang="en-GB" b="1" dirty="0"/>
                <a:t>Adress Decoder</a:t>
              </a:r>
            </a:p>
          </p:txBody>
        </p:sp>
        <p:sp>
          <p:nvSpPr>
            <p:cNvPr id="32" name="TextBox 31">
              <a:extLst>
                <a:ext uri="{FF2B5EF4-FFF2-40B4-BE49-F238E27FC236}">
                  <a16:creationId xmlns:a16="http://schemas.microsoft.com/office/drawing/2014/main" id="{4691D8FC-35E5-FEC4-A618-18F8F26705C6}"/>
                </a:ext>
              </a:extLst>
            </p:cNvPr>
            <p:cNvSpPr txBox="1"/>
            <p:nvPr/>
          </p:nvSpPr>
          <p:spPr>
            <a:xfrm>
              <a:off x="2819723" y="1603394"/>
              <a:ext cx="2557067" cy="369332"/>
            </a:xfrm>
            <a:prstGeom prst="rect">
              <a:avLst/>
            </a:prstGeom>
            <a:noFill/>
          </p:spPr>
          <p:txBody>
            <a:bodyPr wrap="square" rtlCol="0">
              <a:spAutoFit/>
            </a:bodyPr>
            <a:lstStyle/>
            <a:p>
              <a:endParaRPr lang="en-GB" dirty="0">
                <a:solidFill>
                  <a:schemeClr val="accent2">
                    <a:lumMod val="75000"/>
                  </a:schemeClr>
                </a:solidFill>
              </a:endParaRPr>
            </a:p>
          </p:txBody>
        </p:sp>
        <p:cxnSp>
          <p:nvCxnSpPr>
            <p:cNvPr id="43" name="Straight Arrow Connector 42">
              <a:extLst>
                <a:ext uri="{FF2B5EF4-FFF2-40B4-BE49-F238E27FC236}">
                  <a16:creationId xmlns:a16="http://schemas.microsoft.com/office/drawing/2014/main" id="{4C72EA8C-7E79-7FCF-4FF1-F83578092873}"/>
                </a:ext>
              </a:extLst>
            </p:cNvPr>
            <p:cNvCxnSpPr>
              <a:cxnSpLocks/>
            </p:cNvCxnSpPr>
            <p:nvPr/>
          </p:nvCxnSpPr>
          <p:spPr>
            <a:xfrm>
              <a:off x="989351" y="1500905"/>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9D85F638-C70A-B396-3A84-18B4F6CD697C}"/>
                </a:ext>
              </a:extLst>
            </p:cNvPr>
            <p:cNvSpPr txBox="1"/>
            <p:nvPr/>
          </p:nvSpPr>
          <p:spPr>
            <a:xfrm>
              <a:off x="6158540" y="3358198"/>
              <a:ext cx="2557067" cy="369332"/>
            </a:xfrm>
            <a:prstGeom prst="rect">
              <a:avLst/>
            </a:prstGeom>
            <a:noFill/>
          </p:spPr>
          <p:txBody>
            <a:bodyPr wrap="square" rtlCol="0">
              <a:spAutoFit/>
            </a:bodyPr>
            <a:lstStyle/>
            <a:p>
              <a:r>
                <a:rPr lang="en-GB" b="1" dirty="0">
                  <a:solidFill>
                    <a:srgbClr val="0070C0"/>
                  </a:solidFill>
                </a:rPr>
                <a:t>reg_addr</a:t>
              </a:r>
            </a:p>
          </p:txBody>
        </p:sp>
        <p:cxnSp>
          <p:nvCxnSpPr>
            <p:cNvPr id="47" name="Straight Arrow Connector 46">
              <a:extLst>
                <a:ext uri="{FF2B5EF4-FFF2-40B4-BE49-F238E27FC236}">
                  <a16:creationId xmlns:a16="http://schemas.microsoft.com/office/drawing/2014/main" id="{99DAE8EC-CF3F-1971-44D7-0DD75063A480}"/>
                </a:ext>
              </a:extLst>
            </p:cNvPr>
            <p:cNvCxnSpPr>
              <a:cxnSpLocks/>
            </p:cNvCxnSpPr>
            <p:nvPr/>
          </p:nvCxnSpPr>
          <p:spPr>
            <a:xfrm>
              <a:off x="5514469" y="3692669"/>
              <a:ext cx="2067787"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18E6FCA4-2E88-22FA-272C-C88755CAB770}"/>
                </a:ext>
              </a:extLst>
            </p:cNvPr>
            <p:cNvSpPr txBox="1"/>
            <p:nvPr/>
          </p:nvSpPr>
          <p:spPr>
            <a:xfrm>
              <a:off x="6763689" y="4093422"/>
              <a:ext cx="1907497" cy="369332"/>
            </a:xfrm>
            <a:prstGeom prst="rect">
              <a:avLst/>
            </a:prstGeom>
            <a:noFill/>
          </p:spPr>
          <p:txBody>
            <a:bodyPr wrap="square" rtlCol="0">
              <a:spAutoFit/>
            </a:bodyPr>
            <a:lstStyle/>
            <a:p>
              <a:endParaRPr lang="en-GB" b="1" dirty="0">
                <a:solidFill>
                  <a:schemeClr val="accent4">
                    <a:lumMod val="50000"/>
                  </a:schemeClr>
                </a:solidFill>
              </a:endParaRPr>
            </a:p>
          </p:txBody>
        </p:sp>
        <p:sp>
          <p:nvSpPr>
            <p:cNvPr id="53" name="TextBox 52">
              <a:extLst>
                <a:ext uri="{FF2B5EF4-FFF2-40B4-BE49-F238E27FC236}">
                  <a16:creationId xmlns:a16="http://schemas.microsoft.com/office/drawing/2014/main" id="{C7A49251-7F2D-89F5-7EB0-80C6ECBAFB16}"/>
                </a:ext>
              </a:extLst>
            </p:cNvPr>
            <p:cNvSpPr txBox="1"/>
            <p:nvPr/>
          </p:nvSpPr>
          <p:spPr>
            <a:xfrm>
              <a:off x="7853233" y="4161155"/>
              <a:ext cx="3244121" cy="369332"/>
            </a:xfrm>
            <a:prstGeom prst="rect">
              <a:avLst/>
            </a:prstGeom>
            <a:noFill/>
          </p:spPr>
          <p:txBody>
            <a:bodyPr wrap="square" rtlCol="0">
              <a:spAutoFit/>
            </a:bodyPr>
            <a:lstStyle/>
            <a:p>
              <a:r>
                <a:rPr lang="en-GB" b="1" dirty="0" err="1">
                  <a:solidFill>
                    <a:schemeClr val="accent2"/>
                  </a:solidFill>
                </a:rPr>
                <a:t>sel_mbox</a:t>
              </a:r>
              <a:endParaRPr lang="en-GB" b="1" dirty="0">
                <a:solidFill>
                  <a:schemeClr val="accent2"/>
                </a:solidFill>
              </a:endParaRPr>
            </a:p>
          </p:txBody>
        </p:sp>
        <p:sp>
          <p:nvSpPr>
            <p:cNvPr id="60" name="TextBox 59">
              <a:extLst>
                <a:ext uri="{FF2B5EF4-FFF2-40B4-BE49-F238E27FC236}">
                  <a16:creationId xmlns:a16="http://schemas.microsoft.com/office/drawing/2014/main" id="{EF8D40D2-7628-CD7A-34B3-A5E2747D7CC2}"/>
                </a:ext>
              </a:extLst>
            </p:cNvPr>
            <p:cNvSpPr txBox="1"/>
            <p:nvPr/>
          </p:nvSpPr>
          <p:spPr>
            <a:xfrm>
              <a:off x="6682494" y="5249380"/>
              <a:ext cx="723261" cy="369332"/>
            </a:xfrm>
            <a:prstGeom prst="rect">
              <a:avLst/>
            </a:prstGeom>
            <a:noFill/>
          </p:spPr>
          <p:txBody>
            <a:bodyPr wrap="square" rtlCol="0">
              <a:spAutoFit/>
            </a:bodyPr>
            <a:lstStyle/>
            <a:p>
              <a:endParaRPr lang="en-GB" dirty="0">
                <a:solidFill>
                  <a:schemeClr val="accent4">
                    <a:lumMod val="50000"/>
                  </a:schemeClr>
                </a:solidFill>
              </a:endParaRPr>
            </a:p>
          </p:txBody>
        </p:sp>
        <p:sp>
          <p:nvSpPr>
            <p:cNvPr id="61" name="TextBox 60">
              <a:extLst>
                <a:ext uri="{FF2B5EF4-FFF2-40B4-BE49-F238E27FC236}">
                  <a16:creationId xmlns:a16="http://schemas.microsoft.com/office/drawing/2014/main" id="{4866690C-214A-B8D4-AD0F-13011A52414A}"/>
                </a:ext>
              </a:extLst>
            </p:cNvPr>
            <p:cNvSpPr txBox="1"/>
            <p:nvPr/>
          </p:nvSpPr>
          <p:spPr>
            <a:xfrm>
              <a:off x="8636533" y="4501548"/>
              <a:ext cx="2043033" cy="369332"/>
            </a:xfrm>
            <a:prstGeom prst="rect">
              <a:avLst/>
            </a:prstGeom>
            <a:noFill/>
          </p:spPr>
          <p:txBody>
            <a:bodyPr wrap="square" rtlCol="0">
              <a:spAutoFit/>
            </a:bodyPr>
            <a:lstStyle/>
            <a:p>
              <a:endParaRPr lang="en-GB" dirty="0">
                <a:solidFill>
                  <a:schemeClr val="accent6"/>
                </a:solidFill>
              </a:endParaRPr>
            </a:p>
          </p:txBody>
        </p:sp>
      </p:grpSp>
      <p:sp>
        <p:nvSpPr>
          <p:cNvPr id="64" name="Title 1">
            <a:extLst>
              <a:ext uri="{FF2B5EF4-FFF2-40B4-BE49-F238E27FC236}">
                <a16:creationId xmlns:a16="http://schemas.microsoft.com/office/drawing/2014/main" id="{A295EDDF-8FA8-4880-9E4F-7923B8E22960}"/>
              </a:ext>
            </a:extLst>
          </p:cNvPr>
          <p:cNvSpPr>
            <a:spLocks noGrp="1"/>
          </p:cNvSpPr>
          <p:nvPr>
            <p:ph type="title"/>
          </p:nvPr>
        </p:nvSpPr>
        <p:spPr>
          <a:xfrm>
            <a:off x="0" y="-1"/>
            <a:ext cx="12192000" cy="588121"/>
          </a:xfrm>
          <a:solidFill>
            <a:schemeClr val="accent6"/>
          </a:solidFill>
        </p:spPr>
        <p:txBody>
          <a:bodyPr>
            <a:no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Phase 7:ROM Read Mailbox</a:t>
            </a:r>
          </a:p>
        </p:txBody>
      </p:sp>
      <p:cxnSp>
        <p:nvCxnSpPr>
          <p:cNvPr id="36" name="Straight Arrow Connector 35">
            <a:extLst>
              <a:ext uri="{FF2B5EF4-FFF2-40B4-BE49-F238E27FC236}">
                <a16:creationId xmlns:a16="http://schemas.microsoft.com/office/drawing/2014/main" id="{68720839-8447-3B25-35D4-AEA2066EEA50}"/>
              </a:ext>
            </a:extLst>
          </p:cNvPr>
          <p:cNvCxnSpPr>
            <a:cxnSpLocks/>
          </p:cNvCxnSpPr>
          <p:nvPr/>
        </p:nvCxnSpPr>
        <p:spPr>
          <a:xfrm flipV="1">
            <a:off x="3090568" y="3484630"/>
            <a:ext cx="2226497" cy="10699"/>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06C34AA6-5C78-3759-12B5-5B34AC806423}"/>
              </a:ext>
            </a:extLst>
          </p:cNvPr>
          <p:cNvSpPr txBox="1"/>
          <p:nvPr/>
        </p:nvSpPr>
        <p:spPr>
          <a:xfrm>
            <a:off x="1540168" y="1676396"/>
            <a:ext cx="721672" cy="369332"/>
          </a:xfrm>
          <a:prstGeom prst="rect">
            <a:avLst/>
          </a:prstGeom>
          <a:noFill/>
        </p:spPr>
        <p:txBody>
          <a:bodyPr wrap="none" rtlCol="0">
            <a:spAutoFit/>
          </a:bodyPr>
          <a:lstStyle/>
          <a:p>
            <a:r>
              <a:rPr lang="en-IN" dirty="0"/>
              <a:t>HSEL</a:t>
            </a:r>
          </a:p>
        </p:txBody>
      </p:sp>
      <p:sp>
        <p:nvSpPr>
          <p:cNvPr id="48" name="TextBox 47">
            <a:extLst>
              <a:ext uri="{FF2B5EF4-FFF2-40B4-BE49-F238E27FC236}">
                <a16:creationId xmlns:a16="http://schemas.microsoft.com/office/drawing/2014/main" id="{0D5C31C5-FEC1-443D-C1B0-BB40AD740656}"/>
              </a:ext>
            </a:extLst>
          </p:cNvPr>
          <p:cNvSpPr txBox="1"/>
          <p:nvPr/>
        </p:nvSpPr>
        <p:spPr>
          <a:xfrm>
            <a:off x="3459681" y="3188704"/>
            <a:ext cx="1431867" cy="369332"/>
          </a:xfrm>
          <a:prstGeom prst="rect">
            <a:avLst/>
          </a:prstGeom>
          <a:noFill/>
        </p:spPr>
        <p:txBody>
          <a:bodyPr wrap="none" rtlCol="0">
            <a:spAutoFit/>
          </a:bodyPr>
          <a:lstStyle/>
          <a:p>
            <a:r>
              <a:rPr lang="en-IN" dirty="0" err="1"/>
              <a:t>uc_req_addr</a:t>
            </a:r>
            <a:endParaRPr lang="en-IN" dirty="0"/>
          </a:p>
        </p:txBody>
      </p:sp>
      <p:cxnSp>
        <p:nvCxnSpPr>
          <p:cNvPr id="72" name="Straight Connector 71">
            <a:extLst>
              <a:ext uri="{FF2B5EF4-FFF2-40B4-BE49-F238E27FC236}">
                <a16:creationId xmlns:a16="http://schemas.microsoft.com/office/drawing/2014/main" id="{D0AB43F3-119E-8C7A-B549-8347A9ABC3D4}"/>
              </a:ext>
            </a:extLst>
          </p:cNvPr>
          <p:cNvCxnSpPr/>
          <p:nvPr/>
        </p:nvCxnSpPr>
        <p:spPr>
          <a:xfrm>
            <a:off x="9287933" y="1004884"/>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 name="Straight Connector 1">
            <a:extLst>
              <a:ext uri="{FF2B5EF4-FFF2-40B4-BE49-F238E27FC236}">
                <a16:creationId xmlns:a16="http://schemas.microsoft.com/office/drawing/2014/main" id="{27FE6B53-0612-C8D7-FDAC-0AF46EE37D2D}"/>
              </a:ext>
            </a:extLst>
          </p:cNvPr>
          <p:cNvCxnSpPr/>
          <p:nvPr/>
        </p:nvCxnSpPr>
        <p:spPr>
          <a:xfrm>
            <a:off x="7394895" y="102174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E2CD58A2-641C-6A3C-307B-9B6D02221916}"/>
              </a:ext>
            </a:extLst>
          </p:cNvPr>
          <p:cNvSpPr txBox="1"/>
          <p:nvPr/>
        </p:nvSpPr>
        <p:spPr>
          <a:xfrm>
            <a:off x="542277" y="718640"/>
            <a:ext cx="1140440" cy="369332"/>
          </a:xfrm>
          <a:prstGeom prst="rect">
            <a:avLst/>
          </a:prstGeom>
          <a:noFill/>
        </p:spPr>
        <p:txBody>
          <a:bodyPr wrap="none" rtlCol="0">
            <a:spAutoFit/>
          </a:bodyPr>
          <a:lstStyle/>
          <a:p>
            <a:r>
              <a:rPr lang="en-IN" b="1" dirty="0" err="1"/>
              <a:t>VeeR</a:t>
            </a:r>
            <a:r>
              <a:rPr lang="en-IN" b="1" dirty="0"/>
              <a:t> EL2</a:t>
            </a:r>
          </a:p>
        </p:txBody>
      </p:sp>
      <p:cxnSp>
        <p:nvCxnSpPr>
          <p:cNvPr id="16" name="Straight Arrow Connector 15">
            <a:extLst>
              <a:ext uri="{FF2B5EF4-FFF2-40B4-BE49-F238E27FC236}">
                <a16:creationId xmlns:a16="http://schemas.microsoft.com/office/drawing/2014/main" id="{B78A221C-25E3-5F46-94E8-114FCBD0D303}"/>
              </a:ext>
            </a:extLst>
          </p:cNvPr>
          <p:cNvCxnSpPr>
            <a:cxnSpLocks/>
          </p:cNvCxnSpPr>
          <p:nvPr/>
        </p:nvCxnSpPr>
        <p:spPr>
          <a:xfrm>
            <a:off x="810454" y="2496275"/>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4805158D-958E-D99C-F6F6-5360280407B4}"/>
              </a:ext>
            </a:extLst>
          </p:cNvPr>
          <p:cNvSpPr txBox="1"/>
          <p:nvPr/>
        </p:nvSpPr>
        <p:spPr>
          <a:xfrm>
            <a:off x="1542893" y="2193878"/>
            <a:ext cx="1026948" cy="369332"/>
          </a:xfrm>
          <a:prstGeom prst="rect">
            <a:avLst/>
          </a:prstGeom>
          <a:noFill/>
        </p:spPr>
        <p:txBody>
          <a:bodyPr wrap="none" rtlCol="0">
            <a:spAutoFit/>
          </a:bodyPr>
          <a:lstStyle/>
          <a:p>
            <a:r>
              <a:rPr lang="en-IN" dirty="0"/>
              <a:t>HTRANS</a:t>
            </a:r>
          </a:p>
        </p:txBody>
      </p:sp>
      <p:cxnSp>
        <p:nvCxnSpPr>
          <p:cNvPr id="23" name="Straight Arrow Connector 22">
            <a:extLst>
              <a:ext uri="{FF2B5EF4-FFF2-40B4-BE49-F238E27FC236}">
                <a16:creationId xmlns:a16="http://schemas.microsoft.com/office/drawing/2014/main" id="{1A62125B-ECE1-4CC8-300E-8C9944A85666}"/>
              </a:ext>
            </a:extLst>
          </p:cNvPr>
          <p:cNvCxnSpPr>
            <a:cxnSpLocks/>
          </p:cNvCxnSpPr>
          <p:nvPr/>
        </p:nvCxnSpPr>
        <p:spPr>
          <a:xfrm>
            <a:off x="7394895" y="5107054"/>
            <a:ext cx="1893038"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EA668EF-4EC6-FE91-E968-70B39668DA03}"/>
              </a:ext>
            </a:extLst>
          </p:cNvPr>
          <p:cNvCxnSpPr>
            <a:cxnSpLocks/>
          </p:cNvCxnSpPr>
          <p:nvPr/>
        </p:nvCxnSpPr>
        <p:spPr>
          <a:xfrm flipH="1">
            <a:off x="766312" y="5858933"/>
            <a:ext cx="8521620" cy="34748"/>
          </a:xfrm>
          <a:prstGeom prst="straightConnector1">
            <a:avLst/>
          </a:prstGeom>
          <a:ln w="28575">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650413C-7CE8-C341-E602-AC816BF3E2EF}"/>
              </a:ext>
            </a:extLst>
          </p:cNvPr>
          <p:cNvCxnSpPr>
            <a:cxnSpLocks/>
          </p:cNvCxnSpPr>
          <p:nvPr/>
        </p:nvCxnSpPr>
        <p:spPr>
          <a:xfrm>
            <a:off x="791948" y="1573907"/>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2239F4E6-9897-78ED-E246-42961F8E35AA}"/>
              </a:ext>
            </a:extLst>
          </p:cNvPr>
          <p:cNvSpPr txBox="1"/>
          <p:nvPr/>
        </p:nvSpPr>
        <p:spPr>
          <a:xfrm>
            <a:off x="1570380" y="1258415"/>
            <a:ext cx="941283" cy="369332"/>
          </a:xfrm>
          <a:prstGeom prst="rect">
            <a:avLst/>
          </a:prstGeom>
          <a:noFill/>
        </p:spPr>
        <p:txBody>
          <a:bodyPr wrap="none" rtlCol="0">
            <a:spAutoFit/>
          </a:bodyPr>
          <a:lstStyle/>
          <a:p>
            <a:r>
              <a:rPr lang="en-IN" dirty="0"/>
              <a:t>HADDR</a:t>
            </a:r>
          </a:p>
        </p:txBody>
      </p:sp>
      <p:sp>
        <p:nvSpPr>
          <p:cNvPr id="39" name="TextBox 38">
            <a:extLst>
              <a:ext uri="{FF2B5EF4-FFF2-40B4-BE49-F238E27FC236}">
                <a16:creationId xmlns:a16="http://schemas.microsoft.com/office/drawing/2014/main" id="{F3BCCEAA-DE99-5412-2911-ECE15E0FA845}"/>
              </a:ext>
            </a:extLst>
          </p:cNvPr>
          <p:cNvSpPr txBox="1"/>
          <p:nvPr/>
        </p:nvSpPr>
        <p:spPr>
          <a:xfrm>
            <a:off x="5727995" y="5524349"/>
            <a:ext cx="1037785" cy="369332"/>
          </a:xfrm>
          <a:prstGeom prst="rect">
            <a:avLst/>
          </a:prstGeom>
          <a:noFill/>
        </p:spPr>
        <p:txBody>
          <a:bodyPr wrap="none" rtlCol="0">
            <a:spAutoFit/>
          </a:bodyPr>
          <a:lstStyle/>
          <a:p>
            <a:r>
              <a:rPr lang="en-IN" b="1" dirty="0">
                <a:solidFill>
                  <a:schemeClr val="accent5">
                    <a:lumMod val="75000"/>
                  </a:schemeClr>
                </a:solidFill>
              </a:rPr>
              <a:t>HRDATA</a:t>
            </a:r>
          </a:p>
        </p:txBody>
      </p:sp>
    </p:spTree>
    <p:extLst>
      <p:ext uri="{BB962C8B-B14F-4D97-AF65-F5344CB8AC3E}">
        <p14:creationId xmlns:p14="http://schemas.microsoft.com/office/powerpoint/2010/main" val="37503034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AA7FA-F650-DDAA-7564-B0605576DDA3}"/>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E0E1CAD1-CF9E-AB63-7E8C-7C0A99FA148B}"/>
              </a:ext>
            </a:extLst>
          </p:cNvPr>
          <p:cNvGrpSpPr/>
          <p:nvPr/>
        </p:nvGrpSpPr>
        <p:grpSpPr>
          <a:xfrm>
            <a:off x="596736" y="600937"/>
            <a:ext cx="10998528" cy="6102082"/>
            <a:chOff x="825708" y="99567"/>
            <a:chExt cx="10998528" cy="6102082"/>
          </a:xfrm>
        </p:grpSpPr>
        <p:cxnSp>
          <p:nvCxnSpPr>
            <p:cNvPr id="5" name="Straight Connector 4">
              <a:extLst>
                <a:ext uri="{FF2B5EF4-FFF2-40B4-BE49-F238E27FC236}">
                  <a16:creationId xmlns:a16="http://schemas.microsoft.com/office/drawing/2014/main" id="{0ACCEE03-57A5-AD0D-2A57-5D02ECF0D562}"/>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8CAAA535-B5D6-C6B2-968E-FF98001643B7}"/>
                </a:ext>
              </a:extLst>
            </p:cNvPr>
            <p:cNvCxnSpPr/>
            <p:nvPr/>
          </p:nvCxnSpPr>
          <p:spPr>
            <a:xfrm>
              <a:off x="3285456" y="52037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055777FE-4E0A-1BDB-337A-93085BCA8965}"/>
                </a:ext>
              </a:extLst>
            </p:cNvPr>
            <p:cNvCxnSpPr/>
            <p:nvPr/>
          </p:nvCxnSpPr>
          <p:spPr>
            <a:xfrm>
              <a:off x="5504426" y="433309"/>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261B38C3-7106-567D-72F8-2FA1E42469F3}"/>
                </a:ext>
              </a:extLst>
            </p:cNvPr>
            <p:cNvSpPr txBox="1"/>
            <p:nvPr/>
          </p:nvSpPr>
          <p:spPr>
            <a:xfrm>
              <a:off x="9381013" y="99567"/>
              <a:ext cx="2443223" cy="369332"/>
            </a:xfrm>
            <a:prstGeom prst="rect">
              <a:avLst/>
            </a:prstGeom>
            <a:noFill/>
          </p:spPr>
          <p:txBody>
            <a:bodyPr wrap="square" rtlCol="0">
              <a:spAutoFit/>
            </a:bodyPr>
            <a:lstStyle/>
            <a:p>
              <a:r>
                <a:rPr lang="en-GB" b="1" dirty="0"/>
                <a:t>SHA512_ACC</a:t>
              </a:r>
            </a:p>
          </p:txBody>
        </p:sp>
        <p:sp>
          <p:nvSpPr>
            <p:cNvPr id="11" name="TextBox 10">
              <a:extLst>
                <a:ext uri="{FF2B5EF4-FFF2-40B4-BE49-F238E27FC236}">
                  <a16:creationId xmlns:a16="http://schemas.microsoft.com/office/drawing/2014/main" id="{551F3701-0382-937F-58A0-7E562CDECF04}"/>
                </a:ext>
              </a:extLst>
            </p:cNvPr>
            <p:cNvSpPr txBox="1"/>
            <p:nvPr/>
          </p:nvSpPr>
          <p:spPr>
            <a:xfrm>
              <a:off x="2577716" y="142254"/>
              <a:ext cx="1753847" cy="369332"/>
            </a:xfrm>
            <a:prstGeom prst="rect">
              <a:avLst/>
            </a:prstGeom>
            <a:noFill/>
          </p:spPr>
          <p:txBody>
            <a:bodyPr wrap="square" rtlCol="0">
              <a:spAutoFit/>
            </a:bodyPr>
            <a:lstStyle/>
            <a:p>
              <a:r>
                <a:rPr lang="en-GB" b="1" dirty="0"/>
                <a:t>AHB Lite IFC</a:t>
              </a:r>
            </a:p>
          </p:txBody>
        </p:sp>
        <p:sp>
          <p:nvSpPr>
            <p:cNvPr id="13" name="TextBox 12">
              <a:extLst>
                <a:ext uri="{FF2B5EF4-FFF2-40B4-BE49-F238E27FC236}">
                  <a16:creationId xmlns:a16="http://schemas.microsoft.com/office/drawing/2014/main" id="{8B0903F2-7C2C-332B-179B-AAEDCDAC769A}"/>
                </a:ext>
              </a:extLst>
            </p:cNvPr>
            <p:cNvSpPr txBox="1"/>
            <p:nvPr/>
          </p:nvSpPr>
          <p:spPr>
            <a:xfrm>
              <a:off x="4654199" y="126752"/>
              <a:ext cx="1952485" cy="369332"/>
            </a:xfrm>
            <a:prstGeom prst="rect">
              <a:avLst/>
            </a:prstGeom>
            <a:noFill/>
          </p:spPr>
          <p:txBody>
            <a:bodyPr wrap="square" rtlCol="0">
              <a:spAutoFit/>
            </a:bodyPr>
            <a:lstStyle/>
            <a:p>
              <a:r>
                <a:rPr lang="en-GB" b="1" dirty="0" err="1"/>
                <a:t>SoC_IFC</a:t>
              </a:r>
              <a:r>
                <a:rPr lang="en-GB" b="1" dirty="0"/>
                <a:t> Arbiter</a:t>
              </a:r>
            </a:p>
          </p:txBody>
        </p:sp>
        <p:sp>
          <p:nvSpPr>
            <p:cNvPr id="14" name="TextBox 13">
              <a:extLst>
                <a:ext uri="{FF2B5EF4-FFF2-40B4-BE49-F238E27FC236}">
                  <a16:creationId xmlns:a16="http://schemas.microsoft.com/office/drawing/2014/main" id="{00E7DC70-F8EA-6E38-231A-D2BB4877AD1D}"/>
                </a:ext>
              </a:extLst>
            </p:cNvPr>
            <p:cNvSpPr txBox="1"/>
            <p:nvPr/>
          </p:nvSpPr>
          <p:spPr>
            <a:xfrm>
              <a:off x="7361811" y="1131086"/>
              <a:ext cx="525633" cy="369332"/>
            </a:xfrm>
            <a:prstGeom prst="rect">
              <a:avLst/>
            </a:prstGeom>
            <a:noFill/>
          </p:spPr>
          <p:txBody>
            <a:bodyPr wrap="square" rtlCol="0">
              <a:spAutoFit/>
            </a:bodyPr>
            <a:lstStyle/>
            <a:p>
              <a:endParaRPr lang="en-GB" b="1" dirty="0"/>
            </a:p>
          </p:txBody>
        </p:sp>
        <p:sp>
          <p:nvSpPr>
            <p:cNvPr id="15" name="TextBox 14">
              <a:extLst>
                <a:ext uri="{FF2B5EF4-FFF2-40B4-BE49-F238E27FC236}">
                  <a16:creationId xmlns:a16="http://schemas.microsoft.com/office/drawing/2014/main" id="{B12B718B-200B-3950-26A9-B4AD3ACC14AF}"/>
                </a:ext>
              </a:extLst>
            </p:cNvPr>
            <p:cNvSpPr txBox="1"/>
            <p:nvPr/>
          </p:nvSpPr>
          <p:spPr>
            <a:xfrm>
              <a:off x="3988548" y="5223704"/>
              <a:ext cx="2600168" cy="369332"/>
            </a:xfrm>
            <a:prstGeom prst="rect">
              <a:avLst/>
            </a:prstGeom>
            <a:noFill/>
          </p:spPr>
          <p:txBody>
            <a:bodyPr wrap="square" rtlCol="0">
              <a:spAutoFit/>
            </a:bodyPr>
            <a:lstStyle/>
            <a:p>
              <a:r>
                <a:rPr lang="en-GB" b="1" dirty="0" err="1">
                  <a:solidFill>
                    <a:schemeClr val="accent3">
                      <a:lumMod val="75000"/>
                    </a:schemeClr>
                  </a:solidFill>
                </a:rPr>
                <a:t>digest_valid</a:t>
              </a:r>
              <a:endParaRPr lang="en-GB" b="1" dirty="0">
                <a:solidFill>
                  <a:schemeClr val="accent3">
                    <a:lumMod val="75000"/>
                  </a:schemeClr>
                </a:solidFill>
              </a:endParaRPr>
            </a:p>
          </p:txBody>
        </p:sp>
        <p:sp>
          <p:nvSpPr>
            <p:cNvPr id="20" name="TextBox 19">
              <a:extLst>
                <a:ext uri="{FF2B5EF4-FFF2-40B4-BE49-F238E27FC236}">
                  <a16:creationId xmlns:a16="http://schemas.microsoft.com/office/drawing/2014/main" id="{3BA29CC7-ABBD-D7C6-B481-A33505EEC10B}"/>
                </a:ext>
              </a:extLst>
            </p:cNvPr>
            <p:cNvSpPr txBox="1"/>
            <p:nvPr/>
          </p:nvSpPr>
          <p:spPr>
            <a:xfrm>
              <a:off x="825708" y="506033"/>
              <a:ext cx="1966213"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22" name="TextBox 21">
              <a:extLst>
                <a:ext uri="{FF2B5EF4-FFF2-40B4-BE49-F238E27FC236}">
                  <a16:creationId xmlns:a16="http://schemas.microsoft.com/office/drawing/2014/main" id="{25DC661A-99A4-46C4-E325-3AECBD973E98}"/>
                </a:ext>
              </a:extLst>
            </p:cNvPr>
            <p:cNvSpPr txBox="1"/>
            <p:nvPr/>
          </p:nvSpPr>
          <p:spPr>
            <a:xfrm>
              <a:off x="1044314" y="837377"/>
              <a:ext cx="2557067"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31" name="TextBox 30">
              <a:extLst>
                <a:ext uri="{FF2B5EF4-FFF2-40B4-BE49-F238E27FC236}">
                  <a16:creationId xmlns:a16="http://schemas.microsoft.com/office/drawing/2014/main" id="{8C31210D-D498-DAB0-5582-54D72C08C5ED}"/>
                </a:ext>
              </a:extLst>
            </p:cNvPr>
            <p:cNvSpPr txBox="1"/>
            <p:nvPr/>
          </p:nvSpPr>
          <p:spPr>
            <a:xfrm>
              <a:off x="6831413" y="126349"/>
              <a:ext cx="1896267" cy="369332"/>
            </a:xfrm>
            <a:prstGeom prst="rect">
              <a:avLst/>
            </a:prstGeom>
            <a:noFill/>
          </p:spPr>
          <p:txBody>
            <a:bodyPr wrap="square" rtlCol="0">
              <a:spAutoFit/>
            </a:bodyPr>
            <a:lstStyle/>
            <a:p>
              <a:r>
                <a:rPr lang="en-GB" b="1" dirty="0"/>
                <a:t>Adress Decoder</a:t>
              </a:r>
            </a:p>
          </p:txBody>
        </p:sp>
        <p:sp>
          <p:nvSpPr>
            <p:cNvPr id="32" name="TextBox 31">
              <a:extLst>
                <a:ext uri="{FF2B5EF4-FFF2-40B4-BE49-F238E27FC236}">
                  <a16:creationId xmlns:a16="http://schemas.microsoft.com/office/drawing/2014/main" id="{E5167022-440B-5721-B838-D93034DF883C}"/>
                </a:ext>
              </a:extLst>
            </p:cNvPr>
            <p:cNvSpPr txBox="1"/>
            <p:nvPr/>
          </p:nvSpPr>
          <p:spPr>
            <a:xfrm>
              <a:off x="2819723" y="1603394"/>
              <a:ext cx="2557067" cy="369332"/>
            </a:xfrm>
            <a:prstGeom prst="rect">
              <a:avLst/>
            </a:prstGeom>
            <a:noFill/>
          </p:spPr>
          <p:txBody>
            <a:bodyPr wrap="square" rtlCol="0">
              <a:spAutoFit/>
            </a:bodyPr>
            <a:lstStyle/>
            <a:p>
              <a:endParaRPr lang="en-GB" dirty="0">
                <a:solidFill>
                  <a:schemeClr val="accent2">
                    <a:lumMod val="75000"/>
                  </a:schemeClr>
                </a:solidFill>
              </a:endParaRPr>
            </a:p>
          </p:txBody>
        </p:sp>
        <p:cxnSp>
          <p:nvCxnSpPr>
            <p:cNvPr id="43" name="Straight Arrow Connector 42">
              <a:extLst>
                <a:ext uri="{FF2B5EF4-FFF2-40B4-BE49-F238E27FC236}">
                  <a16:creationId xmlns:a16="http://schemas.microsoft.com/office/drawing/2014/main" id="{A66C1B97-1B84-47B6-810C-D0E03737F692}"/>
                </a:ext>
              </a:extLst>
            </p:cNvPr>
            <p:cNvCxnSpPr>
              <a:cxnSpLocks/>
            </p:cNvCxnSpPr>
            <p:nvPr/>
          </p:nvCxnSpPr>
          <p:spPr>
            <a:xfrm>
              <a:off x="989351" y="1500905"/>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C0A946B7-5B98-34F0-6EDD-865190607745}"/>
                </a:ext>
              </a:extLst>
            </p:cNvPr>
            <p:cNvSpPr txBox="1"/>
            <p:nvPr/>
          </p:nvSpPr>
          <p:spPr>
            <a:xfrm>
              <a:off x="6158540" y="3358198"/>
              <a:ext cx="2557067" cy="369332"/>
            </a:xfrm>
            <a:prstGeom prst="rect">
              <a:avLst/>
            </a:prstGeom>
            <a:noFill/>
          </p:spPr>
          <p:txBody>
            <a:bodyPr wrap="square" rtlCol="0">
              <a:spAutoFit/>
            </a:bodyPr>
            <a:lstStyle/>
            <a:p>
              <a:r>
                <a:rPr lang="en-GB" b="1" dirty="0">
                  <a:solidFill>
                    <a:srgbClr val="0070C0"/>
                  </a:solidFill>
                </a:rPr>
                <a:t>reg_addr</a:t>
              </a:r>
            </a:p>
          </p:txBody>
        </p:sp>
        <p:cxnSp>
          <p:nvCxnSpPr>
            <p:cNvPr id="47" name="Straight Arrow Connector 46">
              <a:extLst>
                <a:ext uri="{FF2B5EF4-FFF2-40B4-BE49-F238E27FC236}">
                  <a16:creationId xmlns:a16="http://schemas.microsoft.com/office/drawing/2014/main" id="{838B10B7-5D81-F7D7-CDD4-A685808844BC}"/>
                </a:ext>
              </a:extLst>
            </p:cNvPr>
            <p:cNvCxnSpPr>
              <a:cxnSpLocks/>
            </p:cNvCxnSpPr>
            <p:nvPr/>
          </p:nvCxnSpPr>
          <p:spPr>
            <a:xfrm>
              <a:off x="5514469" y="3692669"/>
              <a:ext cx="2047126" cy="34861"/>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A91E7027-362C-7C7F-6010-B0E3CED4BDF0}"/>
                </a:ext>
              </a:extLst>
            </p:cNvPr>
            <p:cNvSpPr txBox="1"/>
            <p:nvPr/>
          </p:nvSpPr>
          <p:spPr>
            <a:xfrm>
              <a:off x="6763689" y="4093422"/>
              <a:ext cx="1907497" cy="369332"/>
            </a:xfrm>
            <a:prstGeom prst="rect">
              <a:avLst/>
            </a:prstGeom>
            <a:noFill/>
          </p:spPr>
          <p:txBody>
            <a:bodyPr wrap="square" rtlCol="0">
              <a:spAutoFit/>
            </a:bodyPr>
            <a:lstStyle/>
            <a:p>
              <a:endParaRPr lang="en-GB" b="1" dirty="0">
                <a:solidFill>
                  <a:schemeClr val="accent4">
                    <a:lumMod val="50000"/>
                  </a:schemeClr>
                </a:solidFill>
              </a:endParaRPr>
            </a:p>
          </p:txBody>
        </p:sp>
        <p:sp>
          <p:nvSpPr>
            <p:cNvPr id="53" name="TextBox 52">
              <a:extLst>
                <a:ext uri="{FF2B5EF4-FFF2-40B4-BE49-F238E27FC236}">
                  <a16:creationId xmlns:a16="http://schemas.microsoft.com/office/drawing/2014/main" id="{A3287B58-1C85-DD6D-0BD2-F135D2F481F7}"/>
                </a:ext>
              </a:extLst>
            </p:cNvPr>
            <p:cNvSpPr txBox="1"/>
            <p:nvPr/>
          </p:nvSpPr>
          <p:spPr>
            <a:xfrm>
              <a:off x="8179165" y="4013746"/>
              <a:ext cx="3244121" cy="369332"/>
            </a:xfrm>
            <a:prstGeom prst="rect">
              <a:avLst/>
            </a:prstGeom>
            <a:noFill/>
          </p:spPr>
          <p:txBody>
            <a:bodyPr wrap="square" rtlCol="0">
              <a:spAutoFit/>
            </a:bodyPr>
            <a:lstStyle/>
            <a:p>
              <a:r>
                <a:rPr lang="en-GB" b="1" dirty="0">
                  <a:solidFill>
                    <a:schemeClr val="accent2">
                      <a:lumMod val="75000"/>
                    </a:schemeClr>
                  </a:solidFill>
                </a:rPr>
                <a:t>sel_sha512</a:t>
              </a:r>
            </a:p>
          </p:txBody>
        </p:sp>
        <p:sp>
          <p:nvSpPr>
            <p:cNvPr id="60" name="TextBox 59">
              <a:extLst>
                <a:ext uri="{FF2B5EF4-FFF2-40B4-BE49-F238E27FC236}">
                  <a16:creationId xmlns:a16="http://schemas.microsoft.com/office/drawing/2014/main" id="{E055C2B8-DC7E-E8A7-F0D0-D919CD1C5D2C}"/>
                </a:ext>
              </a:extLst>
            </p:cNvPr>
            <p:cNvSpPr txBox="1"/>
            <p:nvPr/>
          </p:nvSpPr>
          <p:spPr>
            <a:xfrm>
              <a:off x="6682494" y="5249380"/>
              <a:ext cx="723261" cy="369332"/>
            </a:xfrm>
            <a:prstGeom prst="rect">
              <a:avLst/>
            </a:prstGeom>
            <a:noFill/>
          </p:spPr>
          <p:txBody>
            <a:bodyPr wrap="square" rtlCol="0">
              <a:spAutoFit/>
            </a:bodyPr>
            <a:lstStyle/>
            <a:p>
              <a:endParaRPr lang="en-GB" dirty="0">
                <a:solidFill>
                  <a:schemeClr val="accent4">
                    <a:lumMod val="50000"/>
                  </a:schemeClr>
                </a:solidFill>
              </a:endParaRPr>
            </a:p>
          </p:txBody>
        </p:sp>
        <p:sp>
          <p:nvSpPr>
            <p:cNvPr id="61" name="TextBox 60">
              <a:extLst>
                <a:ext uri="{FF2B5EF4-FFF2-40B4-BE49-F238E27FC236}">
                  <a16:creationId xmlns:a16="http://schemas.microsoft.com/office/drawing/2014/main" id="{241AE953-F84E-66E0-7F80-6B2C86F41898}"/>
                </a:ext>
              </a:extLst>
            </p:cNvPr>
            <p:cNvSpPr txBox="1"/>
            <p:nvPr/>
          </p:nvSpPr>
          <p:spPr>
            <a:xfrm>
              <a:off x="8636533" y="4501548"/>
              <a:ext cx="2043033" cy="369332"/>
            </a:xfrm>
            <a:prstGeom prst="rect">
              <a:avLst/>
            </a:prstGeom>
            <a:noFill/>
          </p:spPr>
          <p:txBody>
            <a:bodyPr wrap="square" rtlCol="0">
              <a:spAutoFit/>
            </a:bodyPr>
            <a:lstStyle/>
            <a:p>
              <a:endParaRPr lang="en-GB" dirty="0">
                <a:solidFill>
                  <a:schemeClr val="accent6"/>
                </a:solidFill>
              </a:endParaRPr>
            </a:p>
          </p:txBody>
        </p:sp>
      </p:grpSp>
      <p:sp>
        <p:nvSpPr>
          <p:cNvPr id="64" name="Title 1">
            <a:extLst>
              <a:ext uri="{FF2B5EF4-FFF2-40B4-BE49-F238E27FC236}">
                <a16:creationId xmlns:a16="http://schemas.microsoft.com/office/drawing/2014/main" id="{82E5C693-4EEA-7231-9277-D58F96DF6B92}"/>
              </a:ext>
            </a:extLst>
          </p:cNvPr>
          <p:cNvSpPr>
            <a:spLocks noGrp="1"/>
          </p:cNvSpPr>
          <p:nvPr>
            <p:ph type="title"/>
          </p:nvPr>
        </p:nvSpPr>
        <p:spPr>
          <a:xfrm>
            <a:off x="0" y="0"/>
            <a:ext cx="12192000" cy="591316"/>
          </a:xfrm>
          <a:solidFill>
            <a:schemeClr val="accent6"/>
          </a:solidFill>
        </p:spPr>
        <p:txBody>
          <a:bodyPr>
            <a:no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Phase 8: SHA 512 Access</a:t>
            </a:r>
          </a:p>
        </p:txBody>
      </p:sp>
      <p:cxnSp>
        <p:nvCxnSpPr>
          <p:cNvPr id="36" name="Straight Arrow Connector 35">
            <a:extLst>
              <a:ext uri="{FF2B5EF4-FFF2-40B4-BE49-F238E27FC236}">
                <a16:creationId xmlns:a16="http://schemas.microsoft.com/office/drawing/2014/main" id="{71446F70-F76B-917B-2828-2704A385A0E4}"/>
              </a:ext>
            </a:extLst>
          </p:cNvPr>
          <p:cNvCxnSpPr>
            <a:cxnSpLocks/>
          </p:cNvCxnSpPr>
          <p:nvPr/>
        </p:nvCxnSpPr>
        <p:spPr>
          <a:xfrm flipV="1">
            <a:off x="3098095" y="3079871"/>
            <a:ext cx="2226497" cy="10699"/>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7FA61600-5124-D1F2-C932-401EC7393C41}"/>
              </a:ext>
            </a:extLst>
          </p:cNvPr>
          <p:cNvSpPr txBox="1"/>
          <p:nvPr/>
        </p:nvSpPr>
        <p:spPr>
          <a:xfrm>
            <a:off x="1540168" y="1676396"/>
            <a:ext cx="721672" cy="369332"/>
          </a:xfrm>
          <a:prstGeom prst="rect">
            <a:avLst/>
          </a:prstGeom>
          <a:noFill/>
        </p:spPr>
        <p:txBody>
          <a:bodyPr wrap="none" rtlCol="0">
            <a:spAutoFit/>
          </a:bodyPr>
          <a:lstStyle/>
          <a:p>
            <a:r>
              <a:rPr lang="en-IN" dirty="0"/>
              <a:t>HSEL</a:t>
            </a:r>
          </a:p>
        </p:txBody>
      </p:sp>
      <p:sp>
        <p:nvSpPr>
          <p:cNvPr id="48" name="TextBox 47">
            <a:extLst>
              <a:ext uri="{FF2B5EF4-FFF2-40B4-BE49-F238E27FC236}">
                <a16:creationId xmlns:a16="http://schemas.microsoft.com/office/drawing/2014/main" id="{3DF3D8BB-A378-0784-6200-B24F73DD5A7A}"/>
              </a:ext>
            </a:extLst>
          </p:cNvPr>
          <p:cNvSpPr txBox="1"/>
          <p:nvPr/>
        </p:nvSpPr>
        <p:spPr>
          <a:xfrm>
            <a:off x="3474674" y="2737755"/>
            <a:ext cx="1431867" cy="369332"/>
          </a:xfrm>
          <a:prstGeom prst="rect">
            <a:avLst/>
          </a:prstGeom>
          <a:noFill/>
        </p:spPr>
        <p:txBody>
          <a:bodyPr wrap="none" rtlCol="0">
            <a:spAutoFit/>
          </a:bodyPr>
          <a:lstStyle/>
          <a:p>
            <a:r>
              <a:rPr lang="en-IN" dirty="0" err="1"/>
              <a:t>uc_req_addr</a:t>
            </a:r>
            <a:endParaRPr lang="en-IN" dirty="0"/>
          </a:p>
        </p:txBody>
      </p:sp>
      <p:cxnSp>
        <p:nvCxnSpPr>
          <p:cNvPr id="72" name="Straight Connector 71">
            <a:extLst>
              <a:ext uri="{FF2B5EF4-FFF2-40B4-BE49-F238E27FC236}">
                <a16:creationId xmlns:a16="http://schemas.microsoft.com/office/drawing/2014/main" id="{9CCCF7F4-3FC5-2B08-057F-1F8E0E1C2F5D}"/>
              </a:ext>
            </a:extLst>
          </p:cNvPr>
          <p:cNvCxnSpPr/>
          <p:nvPr/>
        </p:nvCxnSpPr>
        <p:spPr>
          <a:xfrm>
            <a:off x="9815898" y="97108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 name="Straight Connector 1">
            <a:extLst>
              <a:ext uri="{FF2B5EF4-FFF2-40B4-BE49-F238E27FC236}">
                <a16:creationId xmlns:a16="http://schemas.microsoft.com/office/drawing/2014/main" id="{42ED6AE0-D8E9-5CFE-749C-A4F1ACA8D4C6}"/>
              </a:ext>
            </a:extLst>
          </p:cNvPr>
          <p:cNvCxnSpPr/>
          <p:nvPr/>
        </p:nvCxnSpPr>
        <p:spPr>
          <a:xfrm>
            <a:off x="7394895" y="102174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03E4BB08-CBCC-CB5C-994D-441A788D859A}"/>
              </a:ext>
            </a:extLst>
          </p:cNvPr>
          <p:cNvSpPr txBox="1"/>
          <p:nvPr/>
        </p:nvSpPr>
        <p:spPr>
          <a:xfrm>
            <a:off x="542277" y="718640"/>
            <a:ext cx="1140440" cy="369332"/>
          </a:xfrm>
          <a:prstGeom prst="rect">
            <a:avLst/>
          </a:prstGeom>
          <a:noFill/>
        </p:spPr>
        <p:txBody>
          <a:bodyPr wrap="none" rtlCol="0">
            <a:spAutoFit/>
          </a:bodyPr>
          <a:lstStyle/>
          <a:p>
            <a:r>
              <a:rPr lang="en-IN" b="1" dirty="0" err="1"/>
              <a:t>VeeR</a:t>
            </a:r>
            <a:r>
              <a:rPr lang="en-IN" b="1" dirty="0"/>
              <a:t> EL2</a:t>
            </a:r>
          </a:p>
        </p:txBody>
      </p:sp>
      <p:cxnSp>
        <p:nvCxnSpPr>
          <p:cNvPr id="16" name="Straight Arrow Connector 15">
            <a:extLst>
              <a:ext uri="{FF2B5EF4-FFF2-40B4-BE49-F238E27FC236}">
                <a16:creationId xmlns:a16="http://schemas.microsoft.com/office/drawing/2014/main" id="{B4AEC786-5E25-7FA1-4517-07AB0CFC3675}"/>
              </a:ext>
            </a:extLst>
          </p:cNvPr>
          <p:cNvCxnSpPr>
            <a:cxnSpLocks/>
          </p:cNvCxnSpPr>
          <p:nvPr/>
        </p:nvCxnSpPr>
        <p:spPr>
          <a:xfrm>
            <a:off x="810454" y="2496275"/>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486555D8-D371-38F3-C640-373B55C6C969}"/>
              </a:ext>
            </a:extLst>
          </p:cNvPr>
          <p:cNvSpPr txBox="1"/>
          <p:nvPr/>
        </p:nvSpPr>
        <p:spPr>
          <a:xfrm>
            <a:off x="1542893" y="2193878"/>
            <a:ext cx="1026948" cy="369332"/>
          </a:xfrm>
          <a:prstGeom prst="rect">
            <a:avLst/>
          </a:prstGeom>
          <a:noFill/>
        </p:spPr>
        <p:txBody>
          <a:bodyPr wrap="none" rtlCol="0">
            <a:spAutoFit/>
          </a:bodyPr>
          <a:lstStyle/>
          <a:p>
            <a:r>
              <a:rPr lang="en-IN" dirty="0"/>
              <a:t>HTRANS</a:t>
            </a:r>
          </a:p>
        </p:txBody>
      </p:sp>
      <p:cxnSp>
        <p:nvCxnSpPr>
          <p:cNvPr id="23" name="Straight Arrow Connector 22">
            <a:extLst>
              <a:ext uri="{FF2B5EF4-FFF2-40B4-BE49-F238E27FC236}">
                <a16:creationId xmlns:a16="http://schemas.microsoft.com/office/drawing/2014/main" id="{B9016C01-08B6-5B5E-3BAB-CCF3A9A8D6F7}"/>
              </a:ext>
            </a:extLst>
          </p:cNvPr>
          <p:cNvCxnSpPr>
            <a:cxnSpLocks/>
          </p:cNvCxnSpPr>
          <p:nvPr/>
        </p:nvCxnSpPr>
        <p:spPr>
          <a:xfrm>
            <a:off x="7374234" y="4897703"/>
            <a:ext cx="244166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B0529D6-A1B9-4057-BC63-62864C19D252}"/>
              </a:ext>
            </a:extLst>
          </p:cNvPr>
          <p:cNvCxnSpPr>
            <a:cxnSpLocks/>
          </p:cNvCxnSpPr>
          <p:nvPr/>
        </p:nvCxnSpPr>
        <p:spPr>
          <a:xfrm flipH="1">
            <a:off x="812617" y="6097277"/>
            <a:ext cx="9023950" cy="19934"/>
          </a:xfrm>
          <a:prstGeom prst="straightConnector1">
            <a:avLst/>
          </a:prstGeom>
          <a:ln w="28575">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1E997AE-BFAE-96C7-C65B-864E912E6AD8}"/>
              </a:ext>
            </a:extLst>
          </p:cNvPr>
          <p:cNvCxnSpPr>
            <a:cxnSpLocks/>
          </p:cNvCxnSpPr>
          <p:nvPr/>
        </p:nvCxnSpPr>
        <p:spPr>
          <a:xfrm>
            <a:off x="791948" y="1573907"/>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713738D0-3F93-6720-B232-3EA1B77F8B98}"/>
              </a:ext>
            </a:extLst>
          </p:cNvPr>
          <p:cNvSpPr txBox="1"/>
          <p:nvPr/>
        </p:nvSpPr>
        <p:spPr>
          <a:xfrm>
            <a:off x="1570380" y="1258415"/>
            <a:ext cx="941283" cy="369332"/>
          </a:xfrm>
          <a:prstGeom prst="rect">
            <a:avLst/>
          </a:prstGeom>
          <a:noFill/>
        </p:spPr>
        <p:txBody>
          <a:bodyPr wrap="none" rtlCol="0">
            <a:spAutoFit/>
          </a:bodyPr>
          <a:lstStyle/>
          <a:p>
            <a:r>
              <a:rPr lang="en-IN" dirty="0"/>
              <a:t>HADDR</a:t>
            </a:r>
          </a:p>
        </p:txBody>
      </p:sp>
      <p:cxnSp>
        <p:nvCxnSpPr>
          <p:cNvPr id="39" name="Straight Arrow Connector 38">
            <a:extLst>
              <a:ext uri="{FF2B5EF4-FFF2-40B4-BE49-F238E27FC236}">
                <a16:creationId xmlns:a16="http://schemas.microsoft.com/office/drawing/2014/main" id="{64C44F98-FD46-5015-3E90-593EADD6EC60}"/>
              </a:ext>
            </a:extLst>
          </p:cNvPr>
          <p:cNvCxnSpPr>
            <a:cxnSpLocks/>
          </p:cNvCxnSpPr>
          <p:nvPr/>
        </p:nvCxnSpPr>
        <p:spPr>
          <a:xfrm flipV="1">
            <a:off x="3071130" y="3683633"/>
            <a:ext cx="2226497" cy="10699"/>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0" name="TextBox 39">
            <a:extLst>
              <a:ext uri="{FF2B5EF4-FFF2-40B4-BE49-F238E27FC236}">
                <a16:creationId xmlns:a16="http://schemas.microsoft.com/office/drawing/2014/main" id="{EEC67F43-FE18-23AD-A338-40D3ABA5B931}"/>
              </a:ext>
            </a:extLst>
          </p:cNvPr>
          <p:cNvSpPr txBox="1"/>
          <p:nvPr/>
        </p:nvSpPr>
        <p:spPr>
          <a:xfrm>
            <a:off x="3465442" y="3359199"/>
            <a:ext cx="1585370" cy="369332"/>
          </a:xfrm>
          <a:prstGeom prst="rect">
            <a:avLst/>
          </a:prstGeom>
          <a:noFill/>
        </p:spPr>
        <p:txBody>
          <a:bodyPr wrap="none" rtlCol="0">
            <a:spAutoFit/>
          </a:bodyPr>
          <a:lstStyle/>
          <a:p>
            <a:r>
              <a:rPr lang="en-IN" dirty="0" err="1"/>
              <a:t>uc_req_wdata</a:t>
            </a:r>
            <a:endParaRPr lang="en-IN" dirty="0"/>
          </a:p>
        </p:txBody>
      </p:sp>
      <p:cxnSp>
        <p:nvCxnSpPr>
          <p:cNvPr id="41" name="Straight Arrow Connector 40">
            <a:extLst>
              <a:ext uri="{FF2B5EF4-FFF2-40B4-BE49-F238E27FC236}">
                <a16:creationId xmlns:a16="http://schemas.microsoft.com/office/drawing/2014/main" id="{4087B629-075E-89AE-1C1E-2E46F7953D6F}"/>
              </a:ext>
            </a:extLst>
          </p:cNvPr>
          <p:cNvCxnSpPr>
            <a:cxnSpLocks/>
          </p:cNvCxnSpPr>
          <p:nvPr/>
        </p:nvCxnSpPr>
        <p:spPr>
          <a:xfrm>
            <a:off x="7374234" y="5367753"/>
            <a:ext cx="244166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253057B5-FCEB-DC5B-04C2-168BB8F049C9}"/>
              </a:ext>
            </a:extLst>
          </p:cNvPr>
          <p:cNvCxnSpPr>
            <a:cxnSpLocks/>
          </p:cNvCxnSpPr>
          <p:nvPr/>
        </p:nvCxnSpPr>
        <p:spPr>
          <a:xfrm>
            <a:off x="7374234" y="5765280"/>
            <a:ext cx="244166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3E989D78-FB8E-0C5A-7BD3-F63B68AAD137}"/>
              </a:ext>
            </a:extLst>
          </p:cNvPr>
          <p:cNvSpPr txBox="1"/>
          <p:nvPr/>
        </p:nvSpPr>
        <p:spPr>
          <a:xfrm>
            <a:off x="8011533" y="5060295"/>
            <a:ext cx="1319592" cy="369332"/>
          </a:xfrm>
          <a:prstGeom prst="rect">
            <a:avLst/>
          </a:prstGeom>
          <a:noFill/>
        </p:spPr>
        <p:txBody>
          <a:bodyPr wrap="none" rtlCol="0">
            <a:spAutoFit/>
          </a:bodyPr>
          <a:lstStyle/>
          <a:p>
            <a:r>
              <a:rPr lang="en-IN" b="1" dirty="0" err="1">
                <a:solidFill>
                  <a:schemeClr val="accent2">
                    <a:lumMod val="75000"/>
                  </a:schemeClr>
                </a:solidFill>
              </a:rPr>
              <a:t>block_msg</a:t>
            </a:r>
            <a:endParaRPr lang="en-IN" b="1" dirty="0">
              <a:solidFill>
                <a:schemeClr val="accent2">
                  <a:lumMod val="75000"/>
                </a:schemeClr>
              </a:solidFill>
            </a:endParaRPr>
          </a:p>
        </p:txBody>
      </p:sp>
      <p:sp>
        <p:nvSpPr>
          <p:cNvPr id="50" name="TextBox 49">
            <a:extLst>
              <a:ext uri="{FF2B5EF4-FFF2-40B4-BE49-F238E27FC236}">
                <a16:creationId xmlns:a16="http://schemas.microsoft.com/office/drawing/2014/main" id="{480BDCC5-3EE2-CE03-5F4B-16716C4C6B03}"/>
              </a:ext>
            </a:extLst>
          </p:cNvPr>
          <p:cNvSpPr txBox="1"/>
          <p:nvPr/>
        </p:nvSpPr>
        <p:spPr>
          <a:xfrm>
            <a:off x="8084166" y="5442607"/>
            <a:ext cx="1096775" cy="369332"/>
          </a:xfrm>
          <a:prstGeom prst="rect">
            <a:avLst/>
          </a:prstGeom>
          <a:noFill/>
        </p:spPr>
        <p:txBody>
          <a:bodyPr wrap="none" rtlCol="0">
            <a:spAutoFit/>
          </a:bodyPr>
          <a:lstStyle/>
          <a:p>
            <a:r>
              <a:rPr lang="en-IN" b="1" dirty="0" err="1">
                <a:solidFill>
                  <a:schemeClr val="accent2">
                    <a:lumMod val="75000"/>
                  </a:schemeClr>
                </a:solidFill>
              </a:rPr>
              <a:t>init_cmd</a:t>
            </a:r>
            <a:endParaRPr lang="en-IN" b="1" dirty="0">
              <a:solidFill>
                <a:schemeClr val="accent2">
                  <a:lumMod val="75000"/>
                </a:schemeClr>
              </a:solidFill>
            </a:endParaRPr>
          </a:p>
        </p:txBody>
      </p:sp>
      <p:sp>
        <p:nvSpPr>
          <p:cNvPr id="51" name="TextBox 50">
            <a:extLst>
              <a:ext uri="{FF2B5EF4-FFF2-40B4-BE49-F238E27FC236}">
                <a16:creationId xmlns:a16="http://schemas.microsoft.com/office/drawing/2014/main" id="{2E9DCAC3-C5D4-B760-0657-1343A6A8D571}"/>
              </a:ext>
            </a:extLst>
          </p:cNvPr>
          <p:cNvSpPr txBox="1"/>
          <p:nvPr/>
        </p:nvSpPr>
        <p:spPr>
          <a:xfrm>
            <a:off x="3680224" y="6174889"/>
            <a:ext cx="1590564" cy="369332"/>
          </a:xfrm>
          <a:prstGeom prst="rect">
            <a:avLst/>
          </a:prstGeom>
          <a:noFill/>
        </p:spPr>
        <p:txBody>
          <a:bodyPr wrap="none" rtlCol="0">
            <a:spAutoFit/>
          </a:bodyPr>
          <a:lstStyle/>
          <a:p>
            <a:r>
              <a:rPr lang="en-IN" b="1" dirty="0">
                <a:solidFill>
                  <a:schemeClr val="accent3">
                    <a:lumMod val="75000"/>
                  </a:schemeClr>
                </a:solidFill>
              </a:rPr>
              <a:t>digest [511:0]</a:t>
            </a:r>
          </a:p>
        </p:txBody>
      </p:sp>
      <p:cxnSp>
        <p:nvCxnSpPr>
          <p:cNvPr id="52" name="Straight Arrow Connector 51">
            <a:extLst>
              <a:ext uri="{FF2B5EF4-FFF2-40B4-BE49-F238E27FC236}">
                <a16:creationId xmlns:a16="http://schemas.microsoft.com/office/drawing/2014/main" id="{03B8BD19-F0A7-BCB2-1A39-C9EDD6868D77}"/>
              </a:ext>
            </a:extLst>
          </p:cNvPr>
          <p:cNvCxnSpPr>
            <a:cxnSpLocks/>
          </p:cNvCxnSpPr>
          <p:nvPr/>
        </p:nvCxnSpPr>
        <p:spPr>
          <a:xfrm flipH="1">
            <a:off x="773522" y="6516324"/>
            <a:ext cx="9023950" cy="19934"/>
          </a:xfrm>
          <a:prstGeom prst="straightConnector1">
            <a:avLst/>
          </a:prstGeom>
          <a:ln w="28575">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41215619-7660-C29E-92F2-B4CDA3BAF516}"/>
              </a:ext>
            </a:extLst>
          </p:cNvPr>
          <p:cNvSpPr txBox="1"/>
          <p:nvPr/>
        </p:nvSpPr>
        <p:spPr>
          <a:xfrm>
            <a:off x="1098065" y="6221055"/>
            <a:ext cx="1678894" cy="646331"/>
          </a:xfrm>
          <a:prstGeom prst="rect">
            <a:avLst/>
          </a:prstGeom>
          <a:noFill/>
        </p:spPr>
        <p:txBody>
          <a:bodyPr wrap="square" rtlCol="0">
            <a:spAutoFit/>
          </a:bodyPr>
          <a:lstStyle/>
          <a:p>
            <a:r>
              <a:rPr lang="en-IN" b="1" dirty="0"/>
              <a:t>ROM Stores digest Value</a:t>
            </a:r>
          </a:p>
        </p:txBody>
      </p:sp>
    </p:spTree>
    <p:extLst>
      <p:ext uri="{BB962C8B-B14F-4D97-AF65-F5344CB8AC3E}">
        <p14:creationId xmlns:p14="http://schemas.microsoft.com/office/powerpoint/2010/main" val="4756611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1A0BE-2269-A9F7-6B81-167E1BB23305}"/>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54A276B2-8718-4333-6B40-5F6301ABC125}"/>
              </a:ext>
            </a:extLst>
          </p:cNvPr>
          <p:cNvGrpSpPr/>
          <p:nvPr/>
        </p:nvGrpSpPr>
        <p:grpSpPr>
          <a:xfrm>
            <a:off x="596736" y="600937"/>
            <a:ext cx="10998528" cy="6102082"/>
            <a:chOff x="825708" y="99567"/>
            <a:chExt cx="10998528" cy="6102082"/>
          </a:xfrm>
        </p:grpSpPr>
        <p:cxnSp>
          <p:nvCxnSpPr>
            <p:cNvPr id="5" name="Straight Connector 4">
              <a:extLst>
                <a:ext uri="{FF2B5EF4-FFF2-40B4-BE49-F238E27FC236}">
                  <a16:creationId xmlns:a16="http://schemas.microsoft.com/office/drawing/2014/main" id="{6333A70D-81E7-6516-F67F-0077C05C0794}"/>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F7C1D680-8C7A-403A-8258-E83F61467ABF}"/>
                </a:ext>
              </a:extLst>
            </p:cNvPr>
            <p:cNvCxnSpPr/>
            <p:nvPr/>
          </p:nvCxnSpPr>
          <p:spPr>
            <a:xfrm>
              <a:off x="3285456" y="52037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744C56EA-E595-2974-39D0-DCAA3A44DDFA}"/>
                </a:ext>
              </a:extLst>
            </p:cNvPr>
            <p:cNvCxnSpPr/>
            <p:nvPr/>
          </p:nvCxnSpPr>
          <p:spPr>
            <a:xfrm>
              <a:off x="5504426" y="433309"/>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AA7ABD41-E5CA-A3CE-2125-064E26773230}"/>
                </a:ext>
              </a:extLst>
            </p:cNvPr>
            <p:cNvSpPr txBox="1"/>
            <p:nvPr/>
          </p:nvSpPr>
          <p:spPr>
            <a:xfrm>
              <a:off x="9381013" y="99567"/>
              <a:ext cx="2443223" cy="369332"/>
            </a:xfrm>
            <a:prstGeom prst="rect">
              <a:avLst/>
            </a:prstGeom>
            <a:noFill/>
          </p:spPr>
          <p:txBody>
            <a:bodyPr wrap="square" rtlCol="0">
              <a:spAutoFit/>
            </a:bodyPr>
            <a:lstStyle/>
            <a:p>
              <a:r>
                <a:rPr lang="en-GB" b="1" dirty="0"/>
                <a:t>Mailbox</a:t>
              </a:r>
            </a:p>
          </p:txBody>
        </p:sp>
        <p:sp>
          <p:nvSpPr>
            <p:cNvPr id="11" name="TextBox 10">
              <a:extLst>
                <a:ext uri="{FF2B5EF4-FFF2-40B4-BE49-F238E27FC236}">
                  <a16:creationId xmlns:a16="http://schemas.microsoft.com/office/drawing/2014/main" id="{33A88C51-B3D7-8983-2F89-3B297C144F6B}"/>
                </a:ext>
              </a:extLst>
            </p:cNvPr>
            <p:cNvSpPr txBox="1"/>
            <p:nvPr/>
          </p:nvSpPr>
          <p:spPr>
            <a:xfrm>
              <a:off x="2577716" y="142254"/>
              <a:ext cx="1753847" cy="369332"/>
            </a:xfrm>
            <a:prstGeom prst="rect">
              <a:avLst/>
            </a:prstGeom>
            <a:noFill/>
          </p:spPr>
          <p:txBody>
            <a:bodyPr wrap="square" rtlCol="0">
              <a:spAutoFit/>
            </a:bodyPr>
            <a:lstStyle/>
            <a:p>
              <a:r>
                <a:rPr lang="en-GB" b="1" dirty="0"/>
                <a:t>AHB Lite IFC</a:t>
              </a:r>
            </a:p>
          </p:txBody>
        </p:sp>
        <p:sp>
          <p:nvSpPr>
            <p:cNvPr id="13" name="TextBox 12">
              <a:extLst>
                <a:ext uri="{FF2B5EF4-FFF2-40B4-BE49-F238E27FC236}">
                  <a16:creationId xmlns:a16="http://schemas.microsoft.com/office/drawing/2014/main" id="{12C7733A-FFA3-7A66-D1F8-12CAB0EEEFC0}"/>
                </a:ext>
              </a:extLst>
            </p:cNvPr>
            <p:cNvSpPr txBox="1"/>
            <p:nvPr/>
          </p:nvSpPr>
          <p:spPr>
            <a:xfrm>
              <a:off x="4654199" y="126752"/>
              <a:ext cx="1952485" cy="369332"/>
            </a:xfrm>
            <a:prstGeom prst="rect">
              <a:avLst/>
            </a:prstGeom>
            <a:noFill/>
          </p:spPr>
          <p:txBody>
            <a:bodyPr wrap="square" rtlCol="0">
              <a:spAutoFit/>
            </a:bodyPr>
            <a:lstStyle/>
            <a:p>
              <a:r>
                <a:rPr lang="en-GB" b="1" dirty="0" err="1"/>
                <a:t>SoC_IFC</a:t>
              </a:r>
              <a:r>
                <a:rPr lang="en-GB" b="1" dirty="0"/>
                <a:t> Arbiter</a:t>
              </a:r>
            </a:p>
          </p:txBody>
        </p:sp>
        <p:sp>
          <p:nvSpPr>
            <p:cNvPr id="14" name="TextBox 13">
              <a:extLst>
                <a:ext uri="{FF2B5EF4-FFF2-40B4-BE49-F238E27FC236}">
                  <a16:creationId xmlns:a16="http://schemas.microsoft.com/office/drawing/2014/main" id="{5A9FE4EE-AA24-D091-60A5-2817A8E1B173}"/>
                </a:ext>
              </a:extLst>
            </p:cNvPr>
            <p:cNvSpPr txBox="1"/>
            <p:nvPr/>
          </p:nvSpPr>
          <p:spPr>
            <a:xfrm>
              <a:off x="7361811" y="1131086"/>
              <a:ext cx="525633" cy="369332"/>
            </a:xfrm>
            <a:prstGeom prst="rect">
              <a:avLst/>
            </a:prstGeom>
            <a:noFill/>
          </p:spPr>
          <p:txBody>
            <a:bodyPr wrap="square" rtlCol="0">
              <a:spAutoFit/>
            </a:bodyPr>
            <a:lstStyle/>
            <a:p>
              <a:endParaRPr lang="en-GB" b="1" dirty="0"/>
            </a:p>
          </p:txBody>
        </p:sp>
        <p:sp>
          <p:nvSpPr>
            <p:cNvPr id="15" name="TextBox 14">
              <a:extLst>
                <a:ext uri="{FF2B5EF4-FFF2-40B4-BE49-F238E27FC236}">
                  <a16:creationId xmlns:a16="http://schemas.microsoft.com/office/drawing/2014/main" id="{70A37DBA-018E-32F4-E86D-E8075255C44F}"/>
                </a:ext>
              </a:extLst>
            </p:cNvPr>
            <p:cNvSpPr txBox="1"/>
            <p:nvPr/>
          </p:nvSpPr>
          <p:spPr>
            <a:xfrm>
              <a:off x="4095408" y="5227074"/>
              <a:ext cx="2600168" cy="338554"/>
            </a:xfrm>
            <a:prstGeom prst="rect">
              <a:avLst/>
            </a:prstGeom>
            <a:noFill/>
          </p:spPr>
          <p:txBody>
            <a:bodyPr wrap="square" rtlCol="0">
              <a:spAutoFit/>
            </a:bodyPr>
            <a:lstStyle/>
            <a:p>
              <a:endParaRPr lang="en-GB" sz="1600" b="1" dirty="0">
                <a:solidFill>
                  <a:schemeClr val="accent3">
                    <a:lumMod val="75000"/>
                  </a:schemeClr>
                </a:solidFill>
              </a:endParaRPr>
            </a:p>
          </p:txBody>
        </p:sp>
        <p:sp>
          <p:nvSpPr>
            <p:cNvPr id="20" name="TextBox 19">
              <a:extLst>
                <a:ext uri="{FF2B5EF4-FFF2-40B4-BE49-F238E27FC236}">
                  <a16:creationId xmlns:a16="http://schemas.microsoft.com/office/drawing/2014/main" id="{1AF79D6D-FBA3-836D-3183-FA2D8DCF3363}"/>
                </a:ext>
              </a:extLst>
            </p:cNvPr>
            <p:cNvSpPr txBox="1"/>
            <p:nvPr/>
          </p:nvSpPr>
          <p:spPr>
            <a:xfrm>
              <a:off x="825708" y="506033"/>
              <a:ext cx="1966213"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22" name="TextBox 21">
              <a:extLst>
                <a:ext uri="{FF2B5EF4-FFF2-40B4-BE49-F238E27FC236}">
                  <a16:creationId xmlns:a16="http://schemas.microsoft.com/office/drawing/2014/main" id="{030273AC-1BE8-7A7B-8205-55C2B9C39814}"/>
                </a:ext>
              </a:extLst>
            </p:cNvPr>
            <p:cNvSpPr txBox="1"/>
            <p:nvPr/>
          </p:nvSpPr>
          <p:spPr>
            <a:xfrm>
              <a:off x="1044314" y="837377"/>
              <a:ext cx="2557067"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31" name="TextBox 30">
              <a:extLst>
                <a:ext uri="{FF2B5EF4-FFF2-40B4-BE49-F238E27FC236}">
                  <a16:creationId xmlns:a16="http://schemas.microsoft.com/office/drawing/2014/main" id="{6805DF6D-B038-716C-107C-DD2E1EA5FDC3}"/>
                </a:ext>
              </a:extLst>
            </p:cNvPr>
            <p:cNvSpPr txBox="1"/>
            <p:nvPr/>
          </p:nvSpPr>
          <p:spPr>
            <a:xfrm>
              <a:off x="6831413" y="126349"/>
              <a:ext cx="1896267" cy="369332"/>
            </a:xfrm>
            <a:prstGeom prst="rect">
              <a:avLst/>
            </a:prstGeom>
            <a:noFill/>
          </p:spPr>
          <p:txBody>
            <a:bodyPr wrap="square" rtlCol="0">
              <a:spAutoFit/>
            </a:bodyPr>
            <a:lstStyle/>
            <a:p>
              <a:r>
                <a:rPr lang="en-GB" b="1" dirty="0"/>
                <a:t>Adress Decoder</a:t>
              </a:r>
            </a:p>
          </p:txBody>
        </p:sp>
        <p:sp>
          <p:nvSpPr>
            <p:cNvPr id="32" name="TextBox 31">
              <a:extLst>
                <a:ext uri="{FF2B5EF4-FFF2-40B4-BE49-F238E27FC236}">
                  <a16:creationId xmlns:a16="http://schemas.microsoft.com/office/drawing/2014/main" id="{C68662A5-9BA9-B69B-06A8-8DF7785048A7}"/>
                </a:ext>
              </a:extLst>
            </p:cNvPr>
            <p:cNvSpPr txBox="1"/>
            <p:nvPr/>
          </p:nvSpPr>
          <p:spPr>
            <a:xfrm>
              <a:off x="2819723" y="1603394"/>
              <a:ext cx="2557067" cy="369332"/>
            </a:xfrm>
            <a:prstGeom prst="rect">
              <a:avLst/>
            </a:prstGeom>
            <a:noFill/>
          </p:spPr>
          <p:txBody>
            <a:bodyPr wrap="square" rtlCol="0">
              <a:spAutoFit/>
            </a:bodyPr>
            <a:lstStyle/>
            <a:p>
              <a:endParaRPr lang="en-GB" dirty="0">
                <a:solidFill>
                  <a:schemeClr val="accent2">
                    <a:lumMod val="75000"/>
                  </a:schemeClr>
                </a:solidFill>
              </a:endParaRPr>
            </a:p>
          </p:txBody>
        </p:sp>
        <p:cxnSp>
          <p:nvCxnSpPr>
            <p:cNvPr id="43" name="Straight Arrow Connector 42">
              <a:extLst>
                <a:ext uri="{FF2B5EF4-FFF2-40B4-BE49-F238E27FC236}">
                  <a16:creationId xmlns:a16="http://schemas.microsoft.com/office/drawing/2014/main" id="{4D943B8D-BAFC-7FEA-E10C-1C19B0328473}"/>
                </a:ext>
              </a:extLst>
            </p:cNvPr>
            <p:cNvCxnSpPr>
              <a:cxnSpLocks/>
            </p:cNvCxnSpPr>
            <p:nvPr/>
          </p:nvCxnSpPr>
          <p:spPr>
            <a:xfrm>
              <a:off x="989351" y="1500905"/>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88142ADF-7585-FDC2-854B-1A2F6CA21F31}"/>
                </a:ext>
              </a:extLst>
            </p:cNvPr>
            <p:cNvSpPr txBox="1"/>
            <p:nvPr/>
          </p:nvSpPr>
          <p:spPr>
            <a:xfrm>
              <a:off x="6158540" y="3358198"/>
              <a:ext cx="2557067" cy="369332"/>
            </a:xfrm>
            <a:prstGeom prst="rect">
              <a:avLst/>
            </a:prstGeom>
            <a:noFill/>
          </p:spPr>
          <p:txBody>
            <a:bodyPr wrap="square" rtlCol="0">
              <a:spAutoFit/>
            </a:bodyPr>
            <a:lstStyle/>
            <a:p>
              <a:r>
                <a:rPr lang="en-GB" b="1" dirty="0">
                  <a:solidFill>
                    <a:srgbClr val="0070C0"/>
                  </a:solidFill>
                </a:rPr>
                <a:t>reg_addr</a:t>
              </a:r>
            </a:p>
          </p:txBody>
        </p:sp>
        <p:cxnSp>
          <p:nvCxnSpPr>
            <p:cNvPr id="47" name="Straight Arrow Connector 46">
              <a:extLst>
                <a:ext uri="{FF2B5EF4-FFF2-40B4-BE49-F238E27FC236}">
                  <a16:creationId xmlns:a16="http://schemas.microsoft.com/office/drawing/2014/main" id="{276BBB65-8988-6F9B-235B-4D7CB6AC5F62}"/>
                </a:ext>
              </a:extLst>
            </p:cNvPr>
            <p:cNvCxnSpPr>
              <a:cxnSpLocks/>
            </p:cNvCxnSpPr>
            <p:nvPr/>
          </p:nvCxnSpPr>
          <p:spPr>
            <a:xfrm>
              <a:off x="5514469" y="3692669"/>
              <a:ext cx="2047126" cy="34861"/>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2D409F52-634B-45B5-5770-30A12BE03597}"/>
                </a:ext>
              </a:extLst>
            </p:cNvPr>
            <p:cNvSpPr txBox="1"/>
            <p:nvPr/>
          </p:nvSpPr>
          <p:spPr>
            <a:xfrm>
              <a:off x="6763689" y="4093422"/>
              <a:ext cx="1907497" cy="369332"/>
            </a:xfrm>
            <a:prstGeom prst="rect">
              <a:avLst/>
            </a:prstGeom>
            <a:noFill/>
          </p:spPr>
          <p:txBody>
            <a:bodyPr wrap="square" rtlCol="0">
              <a:spAutoFit/>
            </a:bodyPr>
            <a:lstStyle/>
            <a:p>
              <a:endParaRPr lang="en-GB" b="1" dirty="0">
                <a:solidFill>
                  <a:schemeClr val="accent4">
                    <a:lumMod val="50000"/>
                  </a:schemeClr>
                </a:solidFill>
              </a:endParaRPr>
            </a:p>
          </p:txBody>
        </p:sp>
        <p:sp>
          <p:nvSpPr>
            <p:cNvPr id="53" name="TextBox 52">
              <a:extLst>
                <a:ext uri="{FF2B5EF4-FFF2-40B4-BE49-F238E27FC236}">
                  <a16:creationId xmlns:a16="http://schemas.microsoft.com/office/drawing/2014/main" id="{3389C680-64AC-0155-0136-78E8192509C4}"/>
                </a:ext>
              </a:extLst>
            </p:cNvPr>
            <p:cNvSpPr txBox="1"/>
            <p:nvPr/>
          </p:nvSpPr>
          <p:spPr>
            <a:xfrm>
              <a:off x="8179165" y="4013746"/>
              <a:ext cx="3244121" cy="369332"/>
            </a:xfrm>
            <a:prstGeom prst="rect">
              <a:avLst/>
            </a:prstGeom>
            <a:noFill/>
          </p:spPr>
          <p:txBody>
            <a:bodyPr wrap="square" rtlCol="0">
              <a:spAutoFit/>
            </a:bodyPr>
            <a:lstStyle/>
            <a:p>
              <a:r>
                <a:rPr lang="en-GB" b="1" dirty="0" err="1">
                  <a:solidFill>
                    <a:schemeClr val="accent2">
                      <a:lumMod val="75000"/>
                    </a:schemeClr>
                  </a:solidFill>
                </a:rPr>
                <a:t>sel_mbox</a:t>
              </a:r>
              <a:endParaRPr lang="en-GB" b="1" dirty="0">
                <a:solidFill>
                  <a:schemeClr val="accent2">
                    <a:lumMod val="75000"/>
                  </a:schemeClr>
                </a:solidFill>
              </a:endParaRPr>
            </a:p>
          </p:txBody>
        </p:sp>
        <p:sp>
          <p:nvSpPr>
            <p:cNvPr id="60" name="TextBox 59">
              <a:extLst>
                <a:ext uri="{FF2B5EF4-FFF2-40B4-BE49-F238E27FC236}">
                  <a16:creationId xmlns:a16="http://schemas.microsoft.com/office/drawing/2014/main" id="{1AB02D06-7853-EDBF-8E03-E62D7E0BDA5B}"/>
                </a:ext>
              </a:extLst>
            </p:cNvPr>
            <p:cNvSpPr txBox="1"/>
            <p:nvPr/>
          </p:nvSpPr>
          <p:spPr>
            <a:xfrm>
              <a:off x="6682494" y="5249380"/>
              <a:ext cx="723261" cy="369332"/>
            </a:xfrm>
            <a:prstGeom prst="rect">
              <a:avLst/>
            </a:prstGeom>
            <a:noFill/>
          </p:spPr>
          <p:txBody>
            <a:bodyPr wrap="square" rtlCol="0">
              <a:spAutoFit/>
            </a:bodyPr>
            <a:lstStyle/>
            <a:p>
              <a:endParaRPr lang="en-GB" dirty="0">
                <a:solidFill>
                  <a:schemeClr val="accent4">
                    <a:lumMod val="50000"/>
                  </a:schemeClr>
                </a:solidFill>
              </a:endParaRPr>
            </a:p>
          </p:txBody>
        </p:sp>
        <p:sp>
          <p:nvSpPr>
            <p:cNvPr id="61" name="TextBox 60">
              <a:extLst>
                <a:ext uri="{FF2B5EF4-FFF2-40B4-BE49-F238E27FC236}">
                  <a16:creationId xmlns:a16="http://schemas.microsoft.com/office/drawing/2014/main" id="{F0B37734-6B75-55DF-AACC-D5676A4FF7CF}"/>
                </a:ext>
              </a:extLst>
            </p:cNvPr>
            <p:cNvSpPr txBox="1"/>
            <p:nvPr/>
          </p:nvSpPr>
          <p:spPr>
            <a:xfrm>
              <a:off x="8636533" y="4501548"/>
              <a:ext cx="2043033" cy="369332"/>
            </a:xfrm>
            <a:prstGeom prst="rect">
              <a:avLst/>
            </a:prstGeom>
            <a:noFill/>
          </p:spPr>
          <p:txBody>
            <a:bodyPr wrap="square" rtlCol="0">
              <a:spAutoFit/>
            </a:bodyPr>
            <a:lstStyle/>
            <a:p>
              <a:endParaRPr lang="en-GB" dirty="0">
                <a:solidFill>
                  <a:schemeClr val="accent6"/>
                </a:solidFill>
              </a:endParaRPr>
            </a:p>
          </p:txBody>
        </p:sp>
      </p:grpSp>
      <p:sp>
        <p:nvSpPr>
          <p:cNvPr id="64" name="Title 1">
            <a:extLst>
              <a:ext uri="{FF2B5EF4-FFF2-40B4-BE49-F238E27FC236}">
                <a16:creationId xmlns:a16="http://schemas.microsoft.com/office/drawing/2014/main" id="{FC80D5ED-B59A-EF64-AB7F-555790695EF9}"/>
              </a:ext>
            </a:extLst>
          </p:cNvPr>
          <p:cNvSpPr>
            <a:spLocks noGrp="1"/>
          </p:cNvSpPr>
          <p:nvPr>
            <p:ph type="title"/>
          </p:nvPr>
        </p:nvSpPr>
        <p:spPr>
          <a:xfrm>
            <a:off x="0" y="-1"/>
            <a:ext cx="12192000" cy="594975"/>
          </a:xfrm>
          <a:solidFill>
            <a:schemeClr val="accent6"/>
          </a:solidFill>
        </p:spPr>
        <p:txBody>
          <a:bodyPr>
            <a:no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Phase 9: </a:t>
            </a:r>
            <a:r>
              <a:rPr lang="en-IN" sz="3200" dirty="0">
                <a:latin typeface="Calibri" panose="020F0502020204030204" pitchFamily="34" charset="0"/>
                <a:ea typeface="Calibri" panose="020F0502020204030204" pitchFamily="34" charset="0"/>
                <a:cs typeface="Calibri" panose="020F0502020204030204" pitchFamily="34" charset="0"/>
              </a:rPr>
              <a:t>ROM Writes Digest to Mailbox</a:t>
            </a:r>
            <a:endParaRPr lang="en-GB" sz="3200" dirty="0">
              <a:latin typeface="Calibri" panose="020F0502020204030204" pitchFamily="34" charset="0"/>
              <a:ea typeface="Calibri" panose="020F0502020204030204" pitchFamily="34" charset="0"/>
              <a:cs typeface="Calibri" panose="020F0502020204030204" pitchFamily="34" charset="0"/>
            </a:endParaRPr>
          </a:p>
        </p:txBody>
      </p:sp>
      <p:cxnSp>
        <p:nvCxnSpPr>
          <p:cNvPr id="36" name="Straight Arrow Connector 35">
            <a:extLst>
              <a:ext uri="{FF2B5EF4-FFF2-40B4-BE49-F238E27FC236}">
                <a16:creationId xmlns:a16="http://schemas.microsoft.com/office/drawing/2014/main" id="{270637A5-A17E-7AE1-FD12-E0F53A240FE5}"/>
              </a:ext>
            </a:extLst>
          </p:cNvPr>
          <p:cNvCxnSpPr>
            <a:cxnSpLocks/>
          </p:cNvCxnSpPr>
          <p:nvPr/>
        </p:nvCxnSpPr>
        <p:spPr>
          <a:xfrm flipV="1">
            <a:off x="3098095" y="3079871"/>
            <a:ext cx="2226497" cy="10699"/>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99AA4952-718A-26C0-0D11-2ACECD0498D2}"/>
              </a:ext>
            </a:extLst>
          </p:cNvPr>
          <p:cNvSpPr txBox="1"/>
          <p:nvPr/>
        </p:nvSpPr>
        <p:spPr>
          <a:xfrm>
            <a:off x="1540168" y="1676396"/>
            <a:ext cx="1069395" cy="369332"/>
          </a:xfrm>
          <a:prstGeom prst="rect">
            <a:avLst/>
          </a:prstGeom>
          <a:noFill/>
        </p:spPr>
        <p:txBody>
          <a:bodyPr wrap="none" rtlCol="0">
            <a:spAutoFit/>
          </a:bodyPr>
          <a:lstStyle/>
          <a:p>
            <a:r>
              <a:rPr lang="en-IN" dirty="0"/>
              <a:t>HWDATA</a:t>
            </a:r>
          </a:p>
        </p:txBody>
      </p:sp>
      <p:sp>
        <p:nvSpPr>
          <p:cNvPr id="48" name="TextBox 47">
            <a:extLst>
              <a:ext uri="{FF2B5EF4-FFF2-40B4-BE49-F238E27FC236}">
                <a16:creationId xmlns:a16="http://schemas.microsoft.com/office/drawing/2014/main" id="{10E18AB5-9A10-9BE1-8514-6E8FFB6FF20B}"/>
              </a:ext>
            </a:extLst>
          </p:cNvPr>
          <p:cNvSpPr txBox="1"/>
          <p:nvPr/>
        </p:nvSpPr>
        <p:spPr>
          <a:xfrm>
            <a:off x="3474674" y="2737755"/>
            <a:ext cx="1431867" cy="369332"/>
          </a:xfrm>
          <a:prstGeom prst="rect">
            <a:avLst/>
          </a:prstGeom>
          <a:noFill/>
        </p:spPr>
        <p:txBody>
          <a:bodyPr wrap="none" rtlCol="0">
            <a:spAutoFit/>
          </a:bodyPr>
          <a:lstStyle/>
          <a:p>
            <a:r>
              <a:rPr lang="en-IN" dirty="0" err="1"/>
              <a:t>uc_req_addr</a:t>
            </a:r>
            <a:endParaRPr lang="en-IN" dirty="0"/>
          </a:p>
        </p:txBody>
      </p:sp>
      <p:cxnSp>
        <p:nvCxnSpPr>
          <p:cNvPr id="72" name="Straight Connector 71">
            <a:extLst>
              <a:ext uri="{FF2B5EF4-FFF2-40B4-BE49-F238E27FC236}">
                <a16:creationId xmlns:a16="http://schemas.microsoft.com/office/drawing/2014/main" id="{84529ABF-BC10-8921-1033-26006C127A5D}"/>
              </a:ext>
            </a:extLst>
          </p:cNvPr>
          <p:cNvCxnSpPr/>
          <p:nvPr/>
        </p:nvCxnSpPr>
        <p:spPr>
          <a:xfrm>
            <a:off x="9815898" y="97108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 name="Straight Connector 1">
            <a:extLst>
              <a:ext uri="{FF2B5EF4-FFF2-40B4-BE49-F238E27FC236}">
                <a16:creationId xmlns:a16="http://schemas.microsoft.com/office/drawing/2014/main" id="{7E64179F-459A-75E4-3BE5-8213DAA2F6FC}"/>
              </a:ext>
            </a:extLst>
          </p:cNvPr>
          <p:cNvCxnSpPr/>
          <p:nvPr/>
        </p:nvCxnSpPr>
        <p:spPr>
          <a:xfrm>
            <a:off x="7394895" y="102174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F10BE18B-B3D6-04EC-6908-0FE8CF3BE292}"/>
              </a:ext>
            </a:extLst>
          </p:cNvPr>
          <p:cNvSpPr txBox="1"/>
          <p:nvPr/>
        </p:nvSpPr>
        <p:spPr>
          <a:xfrm>
            <a:off x="542277" y="718640"/>
            <a:ext cx="1140440" cy="369332"/>
          </a:xfrm>
          <a:prstGeom prst="rect">
            <a:avLst/>
          </a:prstGeom>
          <a:noFill/>
        </p:spPr>
        <p:txBody>
          <a:bodyPr wrap="none" rtlCol="0">
            <a:spAutoFit/>
          </a:bodyPr>
          <a:lstStyle/>
          <a:p>
            <a:r>
              <a:rPr lang="en-IN" b="1" dirty="0" err="1"/>
              <a:t>VeeR</a:t>
            </a:r>
            <a:r>
              <a:rPr lang="en-IN" b="1" dirty="0"/>
              <a:t> EL2</a:t>
            </a:r>
          </a:p>
        </p:txBody>
      </p:sp>
      <p:cxnSp>
        <p:nvCxnSpPr>
          <p:cNvPr id="16" name="Straight Arrow Connector 15">
            <a:extLst>
              <a:ext uri="{FF2B5EF4-FFF2-40B4-BE49-F238E27FC236}">
                <a16:creationId xmlns:a16="http://schemas.microsoft.com/office/drawing/2014/main" id="{1FAB07C4-741A-2624-69D7-0345D5801F3D}"/>
              </a:ext>
            </a:extLst>
          </p:cNvPr>
          <p:cNvCxnSpPr>
            <a:cxnSpLocks/>
          </p:cNvCxnSpPr>
          <p:nvPr/>
        </p:nvCxnSpPr>
        <p:spPr>
          <a:xfrm>
            <a:off x="810454" y="2496275"/>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5D07F259-0B25-08B0-0A54-2C7681668555}"/>
              </a:ext>
            </a:extLst>
          </p:cNvPr>
          <p:cNvSpPr txBox="1"/>
          <p:nvPr/>
        </p:nvSpPr>
        <p:spPr>
          <a:xfrm>
            <a:off x="1542893" y="2193878"/>
            <a:ext cx="990977" cy="369332"/>
          </a:xfrm>
          <a:prstGeom prst="rect">
            <a:avLst/>
          </a:prstGeom>
          <a:noFill/>
        </p:spPr>
        <p:txBody>
          <a:bodyPr wrap="none" rtlCol="0">
            <a:spAutoFit/>
          </a:bodyPr>
          <a:lstStyle/>
          <a:p>
            <a:r>
              <a:rPr lang="en-IN" dirty="0"/>
              <a:t>HWRITE</a:t>
            </a:r>
          </a:p>
        </p:txBody>
      </p:sp>
      <p:cxnSp>
        <p:nvCxnSpPr>
          <p:cNvPr id="23" name="Straight Arrow Connector 22">
            <a:extLst>
              <a:ext uri="{FF2B5EF4-FFF2-40B4-BE49-F238E27FC236}">
                <a16:creationId xmlns:a16="http://schemas.microsoft.com/office/drawing/2014/main" id="{299AC19A-E01A-5CA4-BB09-D8908A5C231C}"/>
              </a:ext>
            </a:extLst>
          </p:cNvPr>
          <p:cNvCxnSpPr>
            <a:cxnSpLocks/>
          </p:cNvCxnSpPr>
          <p:nvPr/>
        </p:nvCxnSpPr>
        <p:spPr>
          <a:xfrm>
            <a:off x="7374234" y="4897703"/>
            <a:ext cx="244166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7B45BCA8-AC6B-24A7-C3E4-02E6D8002411}"/>
              </a:ext>
            </a:extLst>
          </p:cNvPr>
          <p:cNvCxnSpPr>
            <a:cxnSpLocks/>
          </p:cNvCxnSpPr>
          <p:nvPr/>
        </p:nvCxnSpPr>
        <p:spPr>
          <a:xfrm>
            <a:off x="791948" y="1573907"/>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B20D3C56-FFD8-D656-7687-8963414B4367}"/>
              </a:ext>
            </a:extLst>
          </p:cNvPr>
          <p:cNvSpPr txBox="1"/>
          <p:nvPr/>
        </p:nvSpPr>
        <p:spPr>
          <a:xfrm>
            <a:off x="1570380" y="1258415"/>
            <a:ext cx="941283" cy="369332"/>
          </a:xfrm>
          <a:prstGeom prst="rect">
            <a:avLst/>
          </a:prstGeom>
          <a:noFill/>
        </p:spPr>
        <p:txBody>
          <a:bodyPr wrap="none" rtlCol="0">
            <a:spAutoFit/>
          </a:bodyPr>
          <a:lstStyle/>
          <a:p>
            <a:r>
              <a:rPr lang="en-IN" dirty="0"/>
              <a:t>HADDR</a:t>
            </a:r>
          </a:p>
        </p:txBody>
      </p:sp>
      <p:cxnSp>
        <p:nvCxnSpPr>
          <p:cNvPr id="39" name="Straight Arrow Connector 38">
            <a:extLst>
              <a:ext uri="{FF2B5EF4-FFF2-40B4-BE49-F238E27FC236}">
                <a16:creationId xmlns:a16="http://schemas.microsoft.com/office/drawing/2014/main" id="{E0DD9675-8949-A635-43ED-1B0021A43B13}"/>
              </a:ext>
            </a:extLst>
          </p:cNvPr>
          <p:cNvCxnSpPr>
            <a:cxnSpLocks/>
          </p:cNvCxnSpPr>
          <p:nvPr/>
        </p:nvCxnSpPr>
        <p:spPr>
          <a:xfrm flipV="1">
            <a:off x="3071130" y="3683633"/>
            <a:ext cx="2226497" cy="10699"/>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0" name="TextBox 39">
            <a:extLst>
              <a:ext uri="{FF2B5EF4-FFF2-40B4-BE49-F238E27FC236}">
                <a16:creationId xmlns:a16="http://schemas.microsoft.com/office/drawing/2014/main" id="{1D8A9366-2F93-6784-0A14-8AB5F01235BF}"/>
              </a:ext>
            </a:extLst>
          </p:cNvPr>
          <p:cNvSpPr txBox="1"/>
          <p:nvPr/>
        </p:nvSpPr>
        <p:spPr>
          <a:xfrm>
            <a:off x="3465442" y="3359199"/>
            <a:ext cx="1585370" cy="369332"/>
          </a:xfrm>
          <a:prstGeom prst="rect">
            <a:avLst/>
          </a:prstGeom>
          <a:noFill/>
        </p:spPr>
        <p:txBody>
          <a:bodyPr wrap="none" rtlCol="0">
            <a:spAutoFit/>
          </a:bodyPr>
          <a:lstStyle/>
          <a:p>
            <a:r>
              <a:rPr lang="en-IN" dirty="0" err="1"/>
              <a:t>uc_req_wdata</a:t>
            </a:r>
            <a:endParaRPr lang="en-IN" dirty="0"/>
          </a:p>
        </p:txBody>
      </p:sp>
      <p:cxnSp>
        <p:nvCxnSpPr>
          <p:cNvPr id="41" name="Straight Arrow Connector 40">
            <a:extLst>
              <a:ext uri="{FF2B5EF4-FFF2-40B4-BE49-F238E27FC236}">
                <a16:creationId xmlns:a16="http://schemas.microsoft.com/office/drawing/2014/main" id="{CE20A409-3545-17E2-8DB8-B3F4C6B8F54F}"/>
              </a:ext>
            </a:extLst>
          </p:cNvPr>
          <p:cNvCxnSpPr>
            <a:cxnSpLocks/>
          </p:cNvCxnSpPr>
          <p:nvPr/>
        </p:nvCxnSpPr>
        <p:spPr>
          <a:xfrm>
            <a:off x="7374234" y="5367753"/>
            <a:ext cx="244166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1126CD87-CFA1-BBFD-0B1A-737901172952}"/>
              </a:ext>
            </a:extLst>
          </p:cNvPr>
          <p:cNvSpPr txBox="1"/>
          <p:nvPr/>
        </p:nvSpPr>
        <p:spPr>
          <a:xfrm>
            <a:off x="7923659" y="5026617"/>
            <a:ext cx="1690206" cy="369332"/>
          </a:xfrm>
          <a:prstGeom prst="rect">
            <a:avLst/>
          </a:prstGeom>
          <a:noFill/>
        </p:spPr>
        <p:txBody>
          <a:bodyPr wrap="none" rtlCol="0">
            <a:spAutoFit/>
          </a:bodyPr>
          <a:lstStyle/>
          <a:p>
            <a:r>
              <a:rPr lang="en-IN" b="1" dirty="0" err="1">
                <a:solidFill>
                  <a:schemeClr val="accent2">
                    <a:lumMod val="75000"/>
                  </a:schemeClr>
                </a:solidFill>
              </a:rPr>
              <a:t>mbox_dataout</a:t>
            </a:r>
            <a:endParaRPr lang="en-IN" b="1" dirty="0">
              <a:solidFill>
                <a:schemeClr val="accent2">
                  <a:lumMod val="75000"/>
                </a:schemeClr>
              </a:solidFill>
            </a:endParaRPr>
          </a:p>
        </p:txBody>
      </p:sp>
    </p:spTree>
    <p:extLst>
      <p:ext uri="{BB962C8B-B14F-4D97-AF65-F5344CB8AC3E}">
        <p14:creationId xmlns:p14="http://schemas.microsoft.com/office/powerpoint/2010/main" val="19473952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76B61-548F-5A66-D7DE-1131E97FC9C9}"/>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3B483B05-DFEC-340E-2BC3-BD893C03715C}"/>
              </a:ext>
            </a:extLst>
          </p:cNvPr>
          <p:cNvGrpSpPr/>
          <p:nvPr/>
        </p:nvGrpSpPr>
        <p:grpSpPr>
          <a:xfrm>
            <a:off x="596736" y="600937"/>
            <a:ext cx="10998528" cy="6102082"/>
            <a:chOff x="825708" y="99567"/>
            <a:chExt cx="10998528" cy="6102082"/>
          </a:xfrm>
        </p:grpSpPr>
        <p:cxnSp>
          <p:nvCxnSpPr>
            <p:cNvPr id="5" name="Straight Connector 4">
              <a:extLst>
                <a:ext uri="{FF2B5EF4-FFF2-40B4-BE49-F238E27FC236}">
                  <a16:creationId xmlns:a16="http://schemas.microsoft.com/office/drawing/2014/main" id="{4BE7BD8C-825E-6C7D-F8D8-E0AE8AD97BFD}"/>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3E55B0DA-8D96-F024-455B-F9A977B25EE2}"/>
                </a:ext>
              </a:extLst>
            </p:cNvPr>
            <p:cNvCxnSpPr/>
            <p:nvPr/>
          </p:nvCxnSpPr>
          <p:spPr>
            <a:xfrm>
              <a:off x="3285456" y="52037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042B047D-60F7-5C13-BBA1-8713E23937A4}"/>
                </a:ext>
              </a:extLst>
            </p:cNvPr>
            <p:cNvCxnSpPr/>
            <p:nvPr/>
          </p:nvCxnSpPr>
          <p:spPr>
            <a:xfrm>
              <a:off x="5504426" y="433309"/>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A5E275B6-AF94-1AA1-8728-9C500707A168}"/>
                </a:ext>
              </a:extLst>
            </p:cNvPr>
            <p:cNvSpPr txBox="1"/>
            <p:nvPr/>
          </p:nvSpPr>
          <p:spPr>
            <a:xfrm>
              <a:off x="9381013" y="99567"/>
              <a:ext cx="2443223" cy="369332"/>
            </a:xfrm>
            <a:prstGeom prst="rect">
              <a:avLst/>
            </a:prstGeom>
            <a:noFill/>
          </p:spPr>
          <p:txBody>
            <a:bodyPr wrap="square" rtlCol="0">
              <a:spAutoFit/>
            </a:bodyPr>
            <a:lstStyle/>
            <a:p>
              <a:r>
                <a:rPr lang="en-GB" b="1" dirty="0"/>
                <a:t>Mailbox</a:t>
              </a:r>
            </a:p>
          </p:txBody>
        </p:sp>
        <p:sp>
          <p:nvSpPr>
            <p:cNvPr id="11" name="TextBox 10">
              <a:extLst>
                <a:ext uri="{FF2B5EF4-FFF2-40B4-BE49-F238E27FC236}">
                  <a16:creationId xmlns:a16="http://schemas.microsoft.com/office/drawing/2014/main" id="{B3D0A4AA-0414-7C92-0035-10B3B1D6DB3E}"/>
                </a:ext>
              </a:extLst>
            </p:cNvPr>
            <p:cNvSpPr txBox="1"/>
            <p:nvPr/>
          </p:nvSpPr>
          <p:spPr>
            <a:xfrm>
              <a:off x="2577716" y="142254"/>
              <a:ext cx="1753847" cy="369332"/>
            </a:xfrm>
            <a:prstGeom prst="rect">
              <a:avLst/>
            </a:prstGeom>
            <a:noFill/>
          </p:spPr>
          <p:txBody>
            <a:bodyPr wrap="square" rtlCol="0">
              <a:spAutoFit/>
            </a:bodyPr>
            <a:lstStyle/>
            <a:p>
              <a:r>
                <a:rPr lang="en-GB" b="1" dirty="0"/>
                <a:t>AHB Lite IFC</a:t>
              </a:r>
            </a:p>
          </p:txBody>
        </p:sp>
        <p:sp>
          <p:nvSpPr>
            <p:cNvPr id="13" name="TextBox 12">
              <a:extLst>
                <a:ext uri="{FF2B5EF4-FFF2-40B4-BE49-F238E27FC236}">
                  <a16:creationId xmlns:a16="http://schemas.microsoft.com/office/drawing/2014/main" id="{12A9F7F1-C4A7-DD77-7E33-0085021909FE}"/>
                </a:ext>
              </a:extLst>
            </p:cNvPr>
            <p:cNvSpPr txBox="1"/>
            <p:nvPr/>
          </p:nvSpPr>
          <p:spPr>
            <a:xfrm>
              <a:off x="4654199" y="126752"/>
              <a:ext cx="1952485" cy="369332"/>
            </a:xfrm>
            <a:prstGeom prst="rect">
              <a:avLst/>
            </a:prstGeom>
            <a:noFill/>
          </p:spPr>
          <p:txBody>
            <a:bodyPr wrap="square" rtlCol="0">
              <a:spAutoFit/>
            </a:bodyPr>
            <a:lstStyle/>
            <a:p>
              <a:r>
                <a:rPr lang="en-GB" b="1" dirty="0" err="1"/>
                <a:t>SoC_IFC</a:t>
              </a:r>
              <a:r>
                <a:rPr lang="en-GB" b="1" dirty="0"/>
                <a:t> Arbiter</a:t>
              </a:r>
            </a:p>
          </p:txBody>
        </p:sp>
        <p:sp>
          <p:nvSpPr>
            <p:cNvPr id="14" name="TextBox 13">
              <a:extLst>
                <a:ext uri="{FF2B5EF4-FFF2-40B4-BE49-F238E27FC236}">
                  <a16:creationId xmlns:a16="http://schemas.microsoft.com/office/drawing/2014/main" id="{EC7894D7-C8CE-E912-DBDB-3F1E6E7873E1}"/>
                </a:ext>
              </a:extLst>
            </p:cNvPr>
            <p:cNvSpPr txBox="1"/>
            <p:nvPr/>
          </p:nvSpPr>
          <p:spPr>
            <a:xfrm>
              <a:off x="7361811" y="1131086"/>
              <a:ext cx="525633" cy="369332"/>
            </a:xfrm>
            <a:prstGeom prst="rect">
              <a:avLst/>
            </a:prstGeom>
            <a:noFill/>
          </p:spPr>
          <p:txBody>
            <a:bodyPr wrap="square" rtlCol="0">
              <a:spAutoFit/>
            </a:bodyPr>
            <a:lstStyle/>
            <a:p>
              <a:endParaRPr lang="en-GB" b="1" dirty="0"/>
            </a:p>
          </p:txBody>
        </p:sp>
        <p:sp>
          <p:nvSpPr>
            <p:cNvPr id="15" name="TextBox 14">
              <a:extLst>
                <a:ext uri="{FF2B5EF4-FFF2-40B4-BE49-F238E27FC236}">
                  <a16:creationId xmlns:a16="http://schemas.microsoft.com/office/drawing/2014/main" id="{3ADBF405-99B5-ECF6-F401-F3611112FC99}"/>
                </a:ext>
              </a:extLst>
            </p:cNvPr>
            <p:cNvSpPr txBox="1"/>
            <p:nvPr/>
          </p:nvSpPr>
          <p:spPr>
            <a:xfrm>
              <a:off x="4095408" y="5227074"/>
              <a:ext cx="2600168" cy="338554"/>
            </a:xfrm>
            <a:prstGeom prst="rect">
              <a:avLst/>
            </a:prstGeom>
            <a:noFill/>
          </p:spPr>
          <p:txBody>
            <a:bodyPr wrap="square" rtlCol="0">
              <a:spAutoFit/>
            </a:bodyPr>
            <a:lstStyle/>
            <a:p>
              <a:endParaRPr lang="en-GB" sz="1600" b="1" dirty="0">
                <a:solidFill>
                  <a:schemeClr val="accent3">
                    <a:lumMod val="75000"/>
                  </a:schemeClr>
                </a:solidFill>
              </a:endParaRPr>
            </a:p>
          </p:txBody>
        </p:sp>
        <p:sp>
          <p:nvSpPr>
            <p:cNvPr id="20" name="TextBox 19">
              <a:extLst>
                <a:ext uri="{FF2B5EF4-FFF2-40B4-BE49-F238E27FC236}">
                  <a16:creationId xmlns:a16="http://schemas.microsoft.com/office/drawing/2014/main" id="{F0E3E416-E96D-DC0B-5B79-3F71C39DC5B9}"/>
                </a:ext>
              </a:extLst>
            </p:cNvPr>
            <p:cNvSpPr txBox="1"/>
            <p:nvPr/>
          </p:nvSpPr>
          <p:spPr>
            <a:xfrm>
              <a:off x="825708" y="506033"/>
              <a:ext cx="1966213"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22" name="TextBox 21">
              <a:extLst>
                <a:ext uri="{FF2B5EF4-FFF2-40B4-BE49-F238E27FC236}">
                  <a16:creationId xmlns:a16="http://schemas.microsoft.com/office/drawing/2014/main" id="{3CFE1987-4BE2-4F34-A7B3-55B030A4CF62}"/>
                </a:ext>
              </a:extLst>
            </p:cNvPr>
            <p:cNvSpPr txBox="1"/>
            <p:nvPr/>
          </p:nvSpPr>
          <p:spPr>
            <a:xfrm>
              <a:off x="1044314" y="837377"/>
              <a:ext cx="2557067"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31" name="TextBox 30">
              <a:extLst>
                <a:ext uri="{FF2B5EF4-FFF2-40B4-BE49-F238E27FC236}">
                  <a16:creationId xmlns:a16="http://schemas.microsoft.com/office/drawing/2014/main" id="{8743898D-FCAE-92C4-EAB2-95BCE9DDBB46}"/>
                </a:ext>
              </a:extLst>
            </p:cNvPr>
            <p:cNvSpPr txBox="1"/>
            <p:nvPr/>
          </p:nvSpPr>
          <p:spPr>
            <a:xfrm>
              <a:off x="6831413" y="126349"/>
              <a:ext cx="1896267" cy="369332"/>
            </a:xfrm>
            <a:prstGeom prst="rect">
              <a:avLst/>
            </a:prstGeom>
            <a:noFill/>
          </p:spPr>
          <p:txBody>
            <a:bodyPr wrap="square" rtlCol="0">
              <a:spAutoFit/>
            </a:bodyPr>
            <a:lstStyle/>
            <a:p>
              <a:r>
                <a:rPr lang="en-GB" b="1" dirty="0"/>
                <a:t>Adress Decoder</a:t>
              </a:r>
            </a:p>
          </p:txBody>
        </p:sp>
        <p:sp>
          <p:nvSpPr>
            <p:cNvPr id="32" name="TextBox 31">
              <a:extLst>
                <a:ext uri="{FF2B5EF4-FFF2-40B4-BE49-F238E27FC236}">
                  <a16:creationId xmlns:a16="http://schemas.microsoft.com/office/drawing/2014/main" id="{960EB66A-FDD3-EB4F-D371-7404199AF129}"/>
                </a:ext>
              </a:extLst>
            </p:cNvPr>
            <p:cNvSpPr txBox="1"/>
            <p:nvPr/>
          </p:nvSpPr>
          <p:spPr>
            <a:xfrm>
              <a:off x="2819723" y="1603394"/>
              <a:ext cx="2557067" cy="369332"/>
            </a:xfrm>
            <a:prstGeom prst="rect">
              <a:avLst/>
            </a:prstGeom>
            <a:noFill/>
          </p:spPr>
          <p:txBody>
            <a:bodyPr wrap="square" rtlCol="0">
              <a:spAutoFit/>
            </a:bodyPr>
            <a:lstStyle/>
            <a:p>
              <a:endParaRPr lang="en-GB" dirty="0">
                <a:solidFill>
                  <a:schemeClr val="accent2">
                    <a:lumMod val="75000"/>
                  </a:schemeClr>
                </a:solidFill>
              </a:endParaRPr>
            </a:p>
          </p:txBody>
        </p:sp>
        <p:cxnSp>
          <p:nvCxnSpPr>
            <p:cNvPr id="43" name="Straight Arrow Connector 42">
              <a:extLst>
                <a:ext uri="{FF2B5EF4-FFF2-40B4-BE49-F238E27FC236}">
                  <a16:creationId xmlns:a16="http://schemas.microsoft.com/office/drawing/2014/main" id="{00FE1173-4955-C96C-44A8-28725E3E460D}"/>
                </a:ext>
              </a:extLst>
            </p:cNvPr>
            <p:cNvCxnSpPr>
              <a:cxnSpLocks/>
            </p:cNvCxnSpPr>
            <p:nvPr/>
          </p:nvCxnSpPr>
          <p:spPr>
            <a:xfrm>
              <a:off x="989351" y="1500905"/>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E2012C86-4E92-04C1-FF39-E4BC5FF2E66C}"/>
                </a:ext>
              </a:extLst>
            </p:cNvPr>
            <p:cNvSpPr txBox="1"/>
            <p:nvPr/>
          </p:nvSpPr>
          <p:spPr>
            <a:xfrm>
              <a:off x="6158540" y="3358198"/>
              <a:ext cx="2557067" cy="369332"/>
            </a:xfrm>
            <a:prstGeom prst="rect">
              <a:avLst/>
            </a:prstGeom>
            <a:noFill/>
          </p:spPr>
          <p:txBody>
            <a:bodyPr wrap="square" rtlCol="0">
              <a:spAutoFit/>
            </a:bodyPr>
            <a:lstStyle/>
            <a:p>
              <a:r>
                <a:rPr lang="en-GB" b="1" dirty="0">
                  <a:solidFill>
                    <a:srgbClr val="0070C0"/>
                  </a:solidFill>
                </a:rPr>
                <a:t>reg_addr</a:t>
              </a:r>
            </a:p>
          </p:txBody>
        </p:sp>
        <p:cxnSp>
          <p:nvCxnSpPr>
            <p:cNvPr id="47" name="Straight Arrow Connector 46">
              <a:extLst>
                <a:ext uri="{FF2B5EF4-FFF2-40B4-BE49-F238E27FC236}">
                  <a16:creationId xmlns:a16="http://schemas.microsoft.com/office/drawing/2014/main" id="{0EED03D1-B713-843D-1F2B-CB83398349BE}"/>
                </a:ext>
              </a:extLst>
            </p:cNvPr>
            <p:cNvCxnSpPr>
              <a:cxnSpLocks/>
            </p:cNvCxnSpPr>
            <p:nvPr/>
          </p:nvCxnSpPr>
          <p:spPr>
            <a:xfrm>
              <a:off x="5514469" y="3692669"/>
              <a:ext cx="2047126" cy="34861"/>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50FC8835-9946-7071-5677-2A9DDAB8C37C}"/>
                </a:ext>
              </a:extLst>
            </p:cNvPr>
            <p:cNvSpPr txBox="1"/>
            <p:nvPr/>
          </p:nvSpPr>
          <p:spPr>
            <a:xfrm>
              <a:off x="6763689" y="4093422"/>
              <a:ext cx="1907497" cy="369332"/>
            </a:xfrm>
            <a:prstGeom prst="rect">
              <a:avLst/>
            </a:prstGeom>
            <a:noFill/>
          </p:spPr>
          <p:txBody>
            <a:bodyPr wrap="square" rtlCol="0">
              <a:spAutoFit/>
            </a:bodyPr>
            <a:lstStyle/>
            <a:p>
              <a:endParaRPr lang="en-GB" b="1" dirty="0">
                <a:solidFill>
                  <a:schemeClr val="accent4">
                    <a:lumMod val="50000"/>
                  </a:schemeClr>
                </a:solidFill>
              </a:endParaRPr>
            </a:p>
          </p:txBody>
        </p:sp>
        <p:sp>
          <p:nvSpPr>
            <p:cNvPr id="53" name="TextBox 52">
              <a:extLst>
                <a:ext uri="{FF2B5EF4-FFF2-40B4-BE49-F238E27FC236}">
                  <a16:creationId xmlns:a16="http://schemas.microsoft.com/office/drawing/2014/main" id="{20CDE3FE-8259-4021-86D4-8E9B30209059}"/>
                </a:ext>
              </a:extLst>
            </p:cNvPr>
            <p:cNvSpPr txBox="1"/>
            <p:nvPr/>
          </p:nvSpPr>
          <p:spPr>
            <a:xfrm>
              <a:off x="8179165" y="4013746"/>
              <a:ext cx="3244121" cy="369332"/>
            </a:xfrm>
            <a:prstGeom prst="rect">
              <a:avLst/>
            </a:prstGeom>
            <a:noFill/>
          </p:spPr>
          <p:txBody>
            <a:bodyPr wrap="square" rtlCol="0">
              <a:spAutoFit/>
            </a:bodyPr>
            <a:lstStyle/>
            <a:p>
              <a:r>
                <a:rPr lang="en-GB" b="1" dirty="0" err="1">
                  <a:solidFill>
                    <a:schemeClr val="accent2">
                      <a:lumMod val="75000"/>
                    </a:schemeClr>
                  </a:solidFill>
                </a:rPr>
                <a:t>sel_mbox</a:t>
              </a:r>
              <a:endParaRPr lang="en-GB" b="1" dirty="0">
                <a:solidFill>
                  <a:schemeClr val="accent2">
                    <a:lumMod val="75000"/>
                  </a:schemeClr>
                </a:solidFill>
              </a:endParaRPr>
            </a:p>
          </p:txBody>
        </p:sp>
        <p:sp>
          <p:nvSpPr>
            <p:cNvPr id="60" name="TextBox 59">
              <a:extLst>
                <a:ext uri="{FF2B5EF4-FFF2-40B4-BE49-F238E27FC236}">
                  <a16:creationId xmlns:a16="http://schemas.microsoft.com/office/drawing/2014/main" id="{250184BE-4AA9-0FAC-FDD7-4E75A2A2FC66}"/>
                </a:ext>
              </a:extLst>
            </p:cNvPr>
            <p:cNvSpPr txBox="1"/>
            <p:nvPr/>
          </p:nvSpPr>
          <p:spPr>
            <a:xfrm>
              <a:off x="6682494" y="5249380"/>
              <a:ext cx="723261" cy="369332"/>
            </a:xfrm>
            <a:prstGeom prst="rect">
              <a:avLst/>
            </a:prstGeom>
            <a:noFill/>
          </p:spPr>
          <p:txBody>
            <a:bodyPr wrap="square" rtlCol="0">
              <a:spAutoFit/>
            </a:bodyPr>
            <a:lstStyle/>
            <a:p>
              <a:endParaRPr lang="en-GB" dirty="0">
                <a:solidFill>
                  <a:schemeClr val="accent4">
                    <a:lumMod val="50000"/>
                  </a:schemeClr>
                </a:solidFill>
              </a:endParaRPr>
            </a:p>
          </p:txBody>
        </p:sp>
        <p:sp>
          <p:nvSpPr>
            <p:cNvPr id="61" name="TextBox 60">
              <a:extLst>
                <a:ext uri="{FF2B5EF4-FFF2-40B4-BE49-F238E27FC236}">
                  <a16:creationId xmlns:a16="http://schemas.microsoft.com/office/drawing/2014/main" id="{02340432-91FC-4100-1139-5D47453A09B1}"/>
                </a:ext>
              </a:extLst>
            </p:cNvPr>
            <p:cNvSpPr txBox="1"/>
            <p:nvPr/>
          </p:nvSpPr>
          <p:spPr>
            <a:xfrm>
              <a:off x="8636533" y="4501548"/>
              <a:ext cx="2043033" cy="369332"/>
            </a:xfrm>
            <a:prstGeom prst="rect">
              <a:avLst/>
            </a:prstGeom>
            <a:noFill/>
          </p:spPr>
          <p:txBody>
            <a:bodyPr wrap="square" rtlCol="0">
              <a:spAutoFit/>
            </a:bodyPr>
            <a:lstStyle/>
            <a:p>
              <a:endParaRPr lang="en-GB" dirty="0">
                <a:solidFill>
                  <a:schemeClr val="accent6"/>
                </a:solidFill>
              </a:endParaRPr>
            </a:p>
          </p:txBody>
        </p:sp>
      </p:grpSp>
      <p:sp>
        <p:nvSpPr>
          <p:cNvPr id="64" name="Title 1">
            <a:extLst>
              <a:ext uri="{FF2B5EF4-FFF2-40B4-BE49-F238E27FC236}">
                <a16:creationId xmlns:a16="http://schemas.microsoft.com/office/drawing/2014/main" id="{C100099A-F338-FA8C-23C9-BF9716D57892}"/>
              </a:ext>
            </a:extLst>
          </p:cNvPr>
          <p:cNvSpPr>
            <a:spLocks noGrp="1"/>
          </p:cNvSpPr>
          <p:nvPr>
            <p:ph type="title"/>
          </p:nvPr>
        </p:nvSpPr>
        <p:spPr>
          <a:xfrm>
            <a:off x="0" y="-1"/>
            <a:ext cx="12192000" cy="568683"/>
          </a:xfrm>
          <a:solidFill>
            <a:schemeClr val="accent6"/>
          </a:solidFill>
        </p:spPr>
        <p:txBody>
          <a:bodyPr>
            <a:no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Phase 10: </a:t>
            </a:r>
            <a:r>
              <a:rPr lang="en-IN" sz="3200" dirty="0">
                <a:latin typeface="Calibri" panose="020F0502020204030204" pitchFamily="34" charset="0"/>
                <a:ea typeface="Calibri" panose="020F0502020204030204" pitchFamily="34" charset="0"/>
                <a:cs typeface="Calibri" panose="020F0502020204030204" pitchFamily="34" charset="0"/>
              </a:rPr>
              <a:t>ROM Indicates Response Ready</a:t>
            </a:r>
            <a:endParaRPr lang="en-GB" sz="3200" dirty="0">
              <a:latin typeface="Calibri" panose="020F0502020204030204" pitchFamily="34" charset="0"/>
              <a:ea typeface="Calibri" panose="020F0502020204030204" pitchFamily="34" charset="0"/>
              <a:cs typeface="Calibri" panose="020F0502020204030204" pitchFamily="34" charset="0"/>
            </a:endParaRPr>
          </a:p>
        </p:txBody>
      </p:sp>
      <p:cxnSp>
        <p:nvCxnSpPr>
          <p:cNvPr id="36" name="Straight Arrow Connector 35">
            <a:extLst>
              <a:ext uri="{FF2B5EF4-FFF2-40B4-BE49-F238E27FC236}">
                <a16:creationId xmlns:a16="http://schemas.microsoft.com/office/drawing/2014/main" id="{067AAD60-E4D9-84D6-A051-EFFB3C25EAA2}"/>
              </a:ext>
            </a:extLst>
          </p:cNvPr>
          <p:cNvCxnSpPr>
            <a:cxnSpLocks/>
          </p:cNvCxnSpPr>
          <p:nvPr/>
        </p:nvCxnSpPr>
        <p:spPr>
          <a:xfrm flipV="1">
            <a:off x="3098095" y="3079871"/>
            <a:ext cx="2226497" cy="10699"/>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4E1C6069-CC9E-4EB5-E52F-D2ECAD8EEA6A}"/>
              </a:ext>
            </a:extLst>
          </p:cNvPr>
          <p:cNvSpPr txBox="1"/>
          <p:nvPr/>
        </p:nvSpPr>
        <p:spPr>
          <a:xfrm>
            <a:off x="1540168" y="1676396"/>
            <a:ext cx="1069395" cy="369332"/>
          </a:xfrm>
          <a:prstGeom prst="rect">
            <a:avLst/>
          </a:prstGeom>
          <a:noFill/>
        </p:spPr>
        <p:txBody>
          <a:bodyPr wrap="none" rtlCol="0">
            <a:spAutoFit/>
          </a:bodyPr>
          <a:lstStyle/>
          <a:p>
            <a:r>
              <a:rPr lang="en-IN" dirty="0"/>
              <a:t>HWDATA</a:t>
            </a:r>
          </a:p>
        </p:txBody>
      </p:sp>
      <p:sp>
        <p:nvSpPr>
          <p:cNvPr id="48" name="TextBox 47">
            <a:extLst>
              <a:ext uri="{FF2B5EF4-FFF2-40B4-BE49-F238E27FC236}">
                <a16:creationId xmlns:a16="http://schemas.microsoft.com/office/drawing/2014/main" id="{ECE43A5B-B711-16CB-62BD-E282F2F1C7AF}"/>
              </a:ext>
            </a:extLst>
          </p:cNvPr>
          <p:cNvSpPr txBox="1"/>
          <p:nvPr/>
        </p:nvSpPr>
        <p:spPr>
          <a:xfrm>
            <a:off x="3474674" y="2737755"/>
            <a:ext cx="1431867" cy="369332"/>
          </a:xfrm>
          <a:prstGeom prst="rect">
            <a:avLst/>
          </a:prstGeom>
          <a:noFill/>
        </p:spPr>
        <p:txBody>
          <a:bodyPr wrap="none" rtlCol="0">
            <a:spAutoFit/>
          </a:bodyPr>
          <a:lstStyle/>
          <a:p>
            <a:r>
              <a:rPr lang="en-IN" dirty="0" err="1"/>
              <a:t>uc_req_addr</a:t>
            </a:r>
            <a:endParaRPr lang="en-IN" dirty="0"/>
          </a:p>
        </p:txBody>
      </p:sp>
      <p:cxnSp>
        <p:nvCxnSpPr>
          <p:cNvPr id="72" name="Straight Connector 71">
            <a:extLst>
              <a:ext uri="{FF2B5EF4-FFF2-40B4-BE49-F238E27FC236}">
                <a16:creationId xmlns:a16="http://schemas.microsoft.com/office/drawing/2014/main" id="{1C6E47A0-F79C-7E5D-1182-EAADA2753545}"/>
              </a:ext>
            </a:extLst>
          </p:cNvPr>
          <p:cNvCxnSpPr/>
          <p:nvPr/>
        </p:nvCxnSpPr>
        <p:spPr>
          <a:xfrm>
            <a:off x="9815898" y="97108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 name="Straight Connector 1">
            <a:extLst>
              <a:ext uri="{FF2B5EF4-FFF2-40B4-BE49-F238E27FC236}">
                <a16:creationId xmlns:a16="http://schemas.microsoft.com/office/drawing/2014/main" id="{15A9D4C9-EC27-5FE9-5E20-57B4DDE1B51F}"/>
              </a:ext>
            </a:extLst>
          </p:cNvPr>
          <p:cNvCxnSpPr/>
          <p:nvPr/>
        </p:nvCxnSpPr>
        <p:spPr>
          <a:xfrm>
            <a:off x="7394895" y="102174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4D8D62A2-2CFA-429D-AF0D-99866D66842D}"/>
              </a:ext>
            </a:extLst>
          </p:cNvPr>
          <p:cNvSpPr txBox="1"/>
          <p:nvPr/>
        </p:nvSpPr>
        <p:spPr>
          <a:xfrm>
            <a:off x="542277" y="718640"/>
            <a:ext cx="1140440" cy="369332"/>
          </a:xfrm>
          <a:prstGeom prst="rect">
            <a:avLst/>
          </a:prstGeom>
          <a:noFill/>
        </p:spPr>
        <p:txBody>
          <a:bodyPr wrap="none" rtlCol="0">
            <a:spAutoFit/>
          </a:bodyPr>
          <a:lstStyle/>
          <a:p>
            <a:r>
              <a:rPr lang="en-IN" b="1" dirty="0" err="1"/>
              <a:t>VeeR</a:t>
            </a:r>
            <a:r>
              <a:rPr lang="en-IN" b="1" dirty="0"/>
              <a:t> EL2</a:t>
            </a:r>
          </a:p>
        </p:txBody>
      </p:sp>
      <p:cxnSp>
        <p:nvCxnSpPr>
          <p:cNvPr id="23" name="Straight Arrow Connector 22">
            <a:extLst>
              <a:ext uri="{FF2B5EF4-FFF2-40B4-BE49-F238E27FC236}">
                <a16:creationId xmlns:a16="http://schemas.microsoft.com/office/drawing/2014/main" id="{BC71B1C3-40CC-F9CA-AE82-5F1A36F5CADE}"/>
              </a:ext>
            </a:extLst>
          </p:cNvPr>
          <p:cNvCxnSpPr>
            <a:cxnSpLocks/>
          </p:cNvCxnSpPr>
          <p:nvPr/>
        </p:nvCxnSpPr>
        <p:spPr>
          <a:xfrm>
            <a:off x="7374234" y="4897703"/>
            <a:ext cx="244166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5292055-EF8E-4E2E-027E-46A19B045184}"/>
              </a:ext>
            </a:extLst>
          </p:cNvPr>
          <p:cNvCxnSpPr>
            <a:cxnSpLocks/>
          </p:cNvCxnSpPr>
          <p:nvPr/>
        </p:nvCxnSpPr>
        <p:spPr>
          <a:xfrm>
            <a:off x="791948" y="1573907"/>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42BBDDD3-7749-E8B8-AA29-89831D6BC67F}"/>
              </a:ext>
            </a:extLst>
          </p:cNvPr>
          <p:cNvSpPr txBox="1"/>
          <p:nvPr/>
        </p:nvSpPr>
        <p:spPr>
          <a:xfrm>
            <a:off x="1570380" y="1258415"/>
            <a:ext cx="941283" cy="369332"/>
          </a:xfrm>
          <a:prstGeom prst="rect">
            <a:avLst/>
          </a:prstGeom>
          <a:noFill/>
        </p:spPr>
        <p:txBody>
          <a:bodyPr wrap="none" rtlCol="0">
            <a:spAutoFit/>
          </a:bodyPr>
          <a:lstStyle/>
          <a:p>
            <a:r>
              <a:rPr lang="en-IN" dirty="0"/>
              <a:t>HADDR</a:t>
            </a:r>
          </a:p>
        </p:txBody>
      </p:sp>
      <p:cxnSp>
        <p:nvCxnSpPr>
          <p:cNvPr id="39" name="Straight Arrow Connector 38">
            <a:extLst>
              <a:ext uri="{FF2B5EF4-FFF2-40B4-BE49-F238E27FC236}">
                <a16:creationId xmlns:a16="http://schemas.microsoft.com/office/drawing/2014/main" id="{F24CB488-7C46-F434-70BC-55051A671E6D}"/>
              </a:ext>
            </a:extLst>
          </p:cNvPr>
          <p:cNvCxnSpPr>
            <a:cxnSpLocks/>
          </p:cNvCxnSpPr>
          <p:nvPr/>
        </p:nvCxnSpPr>
        <p:spPr>
          <a:xfrm flipV="1">
            <a:off x="3071130" y="3683633"/>
            <a:ext cx="2226497" cy="10699"/>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0" name="TextBox 39">
            <a:extLst>
              <a:ext uri="{FF2B5EF4-FFF2-40B4-BE49-F238E27FC236}">
                <a16:creationId xmlns:a16="http://schemas.microsoft.com/office/drawing/2014/main" id="{1D5831A8-EFEE-49C7-5815-B0CD93F5F3EB}"/>
              </a:ext>
            </a:extLst>
          </p:cNvPr>
          <p:cNvSpPr txBox="1"/>
          <p:nvPr/>
        </p:nvSpPr>
        <p:spPr>
          <a:xfrm>
            <a:off x="3465442" y="3359199"/>
            <a:ext cx="1585370" cy="369332"/>
          </a:xfrm>
          <a:prstGeom prst="rect">
            <a:avLst/>
          </a:prstGeom>
          <a:noFill/>
        </p:spPr>
        <p:txBody>
          <a:bodyPr wrap="none" rtlCol="0">
            <a:spAutoFit/>
          </a:bodyPr>
          <a:lstStyle/>
          <a:p>
            <a:r>
              <a:rPr lang="en-IN" dirty="0" err="1"/>
              <a:t>uc_req_wdata</a:t>
            </a:r>
            <a:endParaRPr lang="en-IN" dirty="0"/>
          </a:p>
        </p:txBody>
      </p:sp>
      <p:cxnSp>
        <p:nvCxnSpPr>
          <p:cNvPr id="41" name="Straight Arrow Connector 40">
            <a:extLst>
              <a:ext uri="{FF2B5EF4-FFF2-40B4-BE49-F238E27FC236}">
                <a16:creationId xmlns:a16="http://schemas.microsoft.com/office/drawing/2014/main" id="{7ACB2E8A-F7B2-A8E6-8929-CFFB7F8CE457}"/>
              </a:ext>
            </a:extLst>
          </p:cNvPr>
          <p:cNvCxnSpPr>
            <a:cxnSpLocks/>
          </p:cNvCxnSpPr>
          <p:nvPr/>
        </p:nvCxnSpPr>
        <p:spPr>
          <a:xfrm>
            <a:off x="7374234" y="5367753"/>
            <a:ext cx="244166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4556E92B-9A82-3540-AB93-DD60BA8AF153}"/>
              </a:ext>
            </a:extLst>
          </p:cNvPr>
          <p:cNvSpPr txBox="1"/>
          <p:nvPr/>
        </p:nvSpPr>
        <p:spPr>
          <a:xfrm>
            <a:off x="7940556" y="4841951"/>
            <a:ext cx="1531188" cy="584775"/>
          </a:xfrm>
          <a:prstGeom prst="rect">
            <a:avLst/>
          </a:prstGeom>
          <a:noFill/>
        </p:spPr>
        <p:txBody>
          <a:bodyPr wrap="none" rtlCol="0">
            <a:spAutoFit/>
          </a:bodyPr>
          <a:lstStyle/>
          <a:p>
            <a:r>
              <a:rPr lang="en-IN" b="1" dirty="0" err="1">
                <a:solidFill>
                  <a:schemeClr val="accent2">
                    <a:lumMod val="75000"/>
                  </a:schemeClr>
                </a:solidFill>
              </a:rPr>
              <a:t>mbox_status</a:t>
            </a:r>
            <a:endParaRPr lang="en-IN" b="1" dirty="0">
              <a:solidFill>
                <a:schemeClr val="accent2">
                  <a:lumMod val="75000"/>
                </a:schemeClr>
              </a:solidFill>
            </a:endParaRPr>
          </a:p>
          <a:p>
            <a:r>
              <a:rPr lang="en-IN" sz="1400" b="1" dirty="0">
                <a:solidFill>
                  <a:schemeClr val="accent2">
                    <a:lumMod val="75000"/>
                  </a:schemeClr>
                </a:solidFill>
              </a:rPr>
              <a:t>DATA_READY </a:t>
            </a:r>
          </a:p>
        </p:txBody>
      </p:sp>
      <p:cxnSp>
        <p:nvCxnSpPr>
          <p:cNvPr id="12" name="Straight Arrow Connector 11">
            <a:extLst>
              <a:ext uri="{FF2B5EF4-FFF2-40B4-BE49-F238E27FC236}">
                <a16:creationId xmlns:a16="http://schemas.microsoft.com/office/drawing/2014/main" id="{CD748225-6905-1581-D42D-7F959770DC57}"/>
              </a:ext>
            </a:extLst>
          </p:cNvPr>
          <p:cNvCxnSpPr/>
          <p:nvPr/>
        </p:nvCxnSpPr>
        <p:spPr>
          <a:xfrm flipH="1">
            <a:off x="760379" y="6066998"/>
            <a:ext cx="9055519"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02D528A-8E9A-CDBD-EFC4-5B20BD66DCEF}"/>
              </a:ext>
            </a:extLst>
          </p:cNvPr>
          <p:cNvSpPr txBox="1"/>
          <p:nvPr/>
        </p:nvSpPr>
        <p:spPr>
          <a:xfrm>
            <a:off x="4533534" y="5728443"/>
            <a:ext cx="2409890" cy="369332"/>
          </a:xfrm>
          <a:prstGeom prst="rect">
            <a:avLst/>
          </a:prstGeom>
          <a:noFill/>
        </p:spPr>
        <p:txBody>
          <a:bodyPr wrap="none" rtlCol="0">
            <a:spAutoFit/>
          </a:bodyPr>
          <a:lstStyle/>
          <a:p>
            <a:r>
              <a:rPr lang="en-IN" b="1" dirty="0" err="1">
                <a:solidFill>
                  <a:srgbClr val="002060"/>
                </a:solidFill>
              </a:rPr>
              <a:t>mbox_data_avail_intr</a:t>
            </a:r>
            <a:endParaRPr lang="en-IN" b="1" dirty="0">
              <a:solidFill>
                <a:srgbClr val="002060"/>
              </a:solidFill>
            </a:endParaRPr>
          </a:p>
        </p:txBody>
      </p:sp>
    </p:spTree>
    <p:extLst>
      <p:ext uri="{BB962C8B-B14F-4D97-AF65-F5344CB8AC3E}">
        <p14:creationId xmlns:p14="http://schemas.microsoft.com/office/powerpoint/2010/main" val="37171954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762BB-4320-C67D-AE0E-7412F006EF60}"/>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BF641A72-7FEB-AFA6-CEA6-F2BFA2A6B806}"/>
              </a:ext>
            </a:extLst>
          </p:cNvPr>
          <p:cNvGrpSpPr/>
          <p:nvPr/>
        </p:nvGrpSpPr>
        <p:grpSpPr>
          <a:xfrm>
            <a:off x="596736" y="600937"/>
            <a:ext cx="10998528" cy="6102082"/>
            <a:chOff x="825708" y="99567"/>
            <a:chExt cx="10998528" cy="6102082"/>
          </a:xfrm>
        </p:grpSpPr>
        <p:cxnSp>
          <p:nvCxnSpPr>
            <p:cNvPr id="5" name="Straight Connector 4">
              <a:extLst>
                <a:ext uri="{FF2B5EF4-FFF2-40B4-BE49-F238E27FC236}">
                  <a16:creationId xmlns:a16="http://schemas.microsoft.com/office/drawing/2014/main" id="{EF44243D-79DC-187C-689F-6093FC13737C}"/>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36BB47B2-B287-EAF3-3EA5-6C4E972CB286}"/>
                </a:ext>
              </a:extLst>
            </p:cNvPr>
            <p:cNvCxnSpPr/>
            <p:nvPr/>
          </p:nvCxnSpPr>
          <p:spPr>
            <a:xfrm>
              <a:off x="3285456" y="52037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9259DF3C-A835-F877-E70B-7B079F9BD75F}"/>
                </a:ext>
              </a:extLst>
            </p:cNvPr>
            <p:cNvCxnSpPr/>
            <p:nvPr/>
          </p:nvCxnSpPr>
          <p:spPr>
            <a:xfrm>
              <a:off x="5504426" y="433309"/>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4D7C56FE-86BE-8949-E232-7C0D96874874}"/>
                </a:ext>
              </a:extLst>
            </p:cNvPr>
            <p:cNvSpPr txBox="1"/>
            <p:nvPr/>
          </p:nvSpPr>
          <p:spPr>
            <a:xfrm>
              <a:off x="9381013" y="99567"/>
              <a:ext cx="2443223" cy="369332"/>
            </a:xfrm>
            <a:prstGeom prst="rect">
              <a:avLst/>
            </a:prstGeom>
            <a:noFill/>
          </p:spPr>
          <p:txBody>
            <a:bodyPr wrap="square" rtlCol="0">
              <a:spAutoFit/>
            </a:bodyPr>
            <a:lstStyle/>
            <a:p>
              <a:r>
                <a:rPr lang="en-GB" b="1" dirty="0"/>
                <a:t>Mailbox</a:t>
              </a:r>
            </a:p>
          </p:txBody>
        </p:sp>
        <p:sp>
          <p:nvSpPr>
            <p:cNvPr id="11" name="TextBox 10">
              <a:extLst>
                <a:ext uri="{FF2B5EF4-FFF2-40B4-BE49-F238E27FC236}">
                  <a16:creationId xmlns:a16="http://schemas.microsoft.com/office/drawing/2014/main" id="{23320FFE-C530-3022-A956-D50AD06C3937}"/>
                </a:ext>
              </a:extLst>
            </p:cNvPr>
            <p:cNvSpPr txBox="1"/>
            <p:nvPr/>
          </p:nvSpPr>
          <p:spPr>
            <a:xfrm>
              <a:off x="2577716" y="142254"/>
              <a:ext cx="1753847" cy="369332"/>
            </a:xfrm>
            <a:prstGeom prst="rect">
              <a:avLst/>
            </a:prstGeom>
            <a:noFill/>
          </p:spPr>
          <p:txBody>
            <a:bodyPr wrap="square" rtlCol="0">
              <a:spAutoFit/>
            </a:bodyPr>
            <a:lstStyle/>
            <a:p>
              <a:r>
                <a:rPr lang="en-GB" b="1" dirty="0"/>
                <a:t>AXI Interface</a:t>
              </a:r>
            </a:p>
          </p:txBody>
        </p:sp>
        <p:sp>
          <p:nvSpPr>
            <p:cNvPr id="13" name="TextBox 12">
              <a:extLst>
                <a:ext uri="{FF2B5EF4-FFF2-40B4-BE49-F238E27FC236}">
                  <a16:creationId xmlns:a16="http://schemas.microsoft.com/office/drawing/2014/main" id="{DEF7C940-05F2-6F26-97C3-FE9AC104F70B}"/>
                </a:ext>
              </a:extLst>
            </p:cNvPr>
            <p:cNvSpPr txBox="1"/>
            <p:nvPr/>
          </p:nvSpPr>
          <p:spPr>
            <a:xfrm>
              <a:off x="4654199" y="126752"/>
              <a:ext cx="1952485" cy="369332"/>
            </a:xfrm>
            <a:prstGeom prst="rect">
              <a:avLst/>
            </a:prstGeom>
            <a:noFill/>
          </p:spPr>
          <p:txBody>
            <a:bodyPr wrap="square" rtlCol="0">
              <a:spAutoFit/>
            </a:bodyPr>
            <a:lstStyle/>
            <a:p>
              <a:r>
                <a:rPr lang="en-GB" b="1" dirty="0" err="1"/>
                <a:t>SoC_IFC</a:t>
              </a:r>
              <a:r>
                <a:rPr lang="en-GB" b="1" dirty="0"/>
                <a:t> Arbiter</a:t>
              </a:r>
            </a:p>
          </p:txBody>
        </p:sp>
        <p:sp>
          <p:nvSpPr>
            <p:cNvPr id="14" name="TextBox 13">
              <a:extLst>
                <a:ext uri="{FF2B5EF4-FFF2-40B4-BE49-F238E27FC236}">
                  <a16:creationId xmlns:a16="http://schemas.microsoft.com/office/drawing/2014/main" id="{BF7254FC-9849-7A08-7A50-091FAC15D2BC}"/>
                </a:ext>
              </a:extLst>
            </p:cNvPr>
            <p:cNvSpPr txBox="1"/>
            <p:nvPr/>
          </p:nvSpPr>
          <p:spPr>
            <a:xfrm>
              <a:off x="7361811" y="1131086"/>
              <a:ext cx="525633" cy="369332"/>
            </a:xfrm>
            <a:prstGeom prst="rect">
              <a:avLst/>
            </a:prstGeom>
            <a:noFill/>
          </p:spPr>
          <p:txBody>
            <a:bodyPr wrap="square" rtlCol="0">
              <a:spAutoFit/>
            </a:bodyPr>
            <a:lstStyle/>
            <a:p>
              <a:endParaRPr lang="en-GB" b="1" dirty="0"/>
            </a:p>
          </p:txBody>
        </p:sp>
        <p:sp>
          <p:nvSpPr>
            <p:cNvPr id="15" name="TextBox 14">
              <a:extLst>
                <a:ext uri="{FF2B5EF4-FFF2-40B4-BE49-F238E27FC236}">
                  <a16:creationId xmlns:a16="http://schemas.microsoft.com/office/drawing/2014/main" id="{3D302213-27ED-6111-114F-ED84A6BDCD37}"/>
                </a:ext>
              </a:extLst>
            </p:cNvPr>
            <p:cNvSpPr txBox="1"/>
            <p:nvPr/>
          </p:nvSpPr>
          <p:spPr>
            <a:xfrm>
              <a:off x="4095408" y="5227074"/>
              <a:ext cx="2600168" cy="338554"/>
            </a:xfrm>
            <a:prstGeom prst="rect">
              <a:avLst/>
            </a:prstGeom>
            <a:noFill/>
          </p:spPr>
          <p:txBody>
            <a:bodyPr wrap="square" rtlCol="0">
              <a:spAutoFit/>
            </a:bodyPr>
            <a:lstStyle/>
            <a:p>
              <a:endParaRPr lang="en-GB" sz="1600" b="1" dirty="0">
                <a:solidFill>
                  <a:schemeClr val="accent3">
                    <a:lumMod val="75000"/>
                  </a:schemeClr>
                </a:solidFill>
              </a:endParaRPr>
            </a:p>
          </p:txBody>
        </p:sp>
        <p:sp>
          <p:nvSpPr>
            <p:cNvPr id="20" name="TextBox 19">
              <a:extLst>
                <a:ext uri="{FF2B5EF4-FFF2-40B4-BE49-F238E27FC236}">
                  <a16:creationId xmlns:a16="http://schemas.microsoft.com/office/drawing/2014/main" id="{401B4A70-4248-250E-2387-1F799BD75418}"/>
                </a:ext>
              </a:extLst>
            </p:cNvPr>
            <p:cNvSpPr txBox="1"/>
            <p:nvPr/>
          </p:nvSpPr>
          <p:spPr>
            <a:xfrm>
              <a:off x="825708" y="506033"/>
              <a:ext cx="1966213"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22" name="TextBox 21">
              <a:extLst>
                <a:ext uri="{FF2B5EF4-FFF2-40B4-BE49-F238E27FC236}">
                  <a16:creationId xmlns:a16="http://schemas.microsoft.com/office/drawing/2014/main" id="{4235E8F3-1E64-5E1D-3697-5E04D4196B0E}"/>
                </a:ext>
              </a:extLst>
            </p:cNvPr>
            <p:cNvSpPr txBox="1"/>
            <p:nvPr/>
          </p:nvSpPr>
          <p:spPr>
            <a:xfrm>
              <a:off x="1044314" y="837377"/>
              <a:ext cx="2557067"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31" name="TextBox 30">
              <a:extLst>
                <a:ext uri="{FF2B5EF4-FFF2-40B4-BE49-F238E27FC236}">
                  <a16:creationId xmlns:a16="http://schemas.microsoft.com/office/drawing/2014/main" id="{789350D6-27BC-2736-2E91-3FDD96A1AFE9}"/>
                </a:ext>
              </a:extLst>
            </p:cNvPr>
            <p:cNvSpPr txBox="1"/>
            <p:nvPr/>
          </p:nvSpPr>
          <p:spPr>
            <a:xfrm>
              <a:off x="6831413" y="126349"/>
              <a:ext cx="1896267" cy="369332"/>
            </a:xfrm>
            <a:prstGeom prst="rect">
              <a:avLst/>
            </a:prstGeom>
            <a:noFill/>
          </p:spPr>
          <p:txBody>
            <a:bodyPr wrap="square" rtlCol="0">
              <a:spAutoFit/>
            </a:bodyPr>
            <a:lstStyle/>
            <a:p>
              <a:r>
                <a:rPr lang="en-GB" b="1" dirty="0"/>
                <a:t>Adress Decoder</a:t>
              </a:r>
            </a:p>
          </p:txBody>
        </p:sp>
        <p:sp>
          <p:nvSpPr>
            <p:cNvPr id="32" name="TextBox 31">
              <a:extLst>
                <a:ext uri="{FF2B5EF4-FFF2-40B4-BE49-F238E27FC236}">
                  <a16:creationId xmlns:a16="http://schemas.microsoft.com/office/drawing/2014/main" id="{2B7560EC-B166-7C45-BA6D-A217C6C77261}"/>
                </a:ext>
              </a:extLst>
            </p:cNvPr>
            <p:cNvSpPr txBox="1"/>
            <p:nvPr/>
          </p:nvSpPr>
          <p:spPr>
            <a:xfrm>
              <a:off x="2819723" y="1603394"/>
              <a:ext cx="2557067" cy="369332"/>
            </a:xfrm>
            <a:prstGeom prst="rect">
              <a:avLst/>
            </a:prstGeom>
            <a:noFill/>
          </p:spPr>
          <p:txBody>
            <a:bodyPr wrap="square" rtlCol="0">
              <a:spAutoFit/>
            </a:bodyPr>
            <a:lstStyle/>
            <a:p>
              <a:endParaRPr lang="en-GB" dirty="0">
                <a:solidFill>
                  <a:schemeClr val="accent2">
                    <a:lumMod val="75000"/>
                  </a:schemeClr>
                </a:solidFill>
              </a:endParaRPr>
            </a:p>
          </p:txBody>
        </p:sp>
        <p:cxnSp>
          <p:nvCxnSpPr>
            <p:cNvPr id="43" name="Straight Arrow Connector 42">
              <a:extLst>
                <a:ext uri="{FF2B5EF4-FFF2-40B4-BE49-F238E27FC236}">
                  <a16:creationId xmlns:a16="http://schemas.microsoft.com/office/drawing/2014/main" id="{B6ECBD5E-E43C-C2D7-B539-89FBF5BDA415}"/>
                </a:ext>
              </a:extLst>
            </p:cNvPr>
            <p:cNvCxnSpPr>
              <a:cxnSpLocks/>
            </p:cNvCxnSpPr>
            <p:nvPr/>
          </p:nvCxnSpPr>
          <p:spPr>
            <a:xfrm>
              <a:off x="989351" y="1500905"/>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73538573-BBBC-DE52-444B-8CC7E5E2A5A8}"/>
                </a:ext>
              </a:extLst>
            </p:cNvPr>
            <p:cNvSpPr txBox="1"/>
            <p:nvPr/>
          </p:nvSpPr>
          <p:spPr>
            <a:xfrm>
              <a:off x="5967451" y="2816985"/>
              <a:ext cx="2557067" cy="369332"/>
            </a:xfrm>
            <a:prstGeom prst="rect">
              <a:avLst/>
            </a:prstGeom>
            <a:noFill/>
          </p:spPr>
          <p:txBody>
            <a:bodyPr wrap="square" rtlCol="0">
              <a:spAutoFit/>
            </a:bodyPr>
            <a:lstStyle/>
            <a:p>
              <a:r>
                <a:rPr lang="en-GB" b="1" dirty="0">
                  <a:solidFill>
                    <a:srgbClr val="0070C0"/>
                  </a:solidFill>
                </a:rPr>
                <a:t>reg_addr</a:t>
              </a:r>
            </a:p>
          </p:txBody>
        </p:sp>
        <p:cxnSp>
          <p:nvCxnSpPr>
            <p:cNvPr id="47" name="Straight Arrow Connector 46">
              <a:extLst>
                <a:ext uri="{FF2B5EF4-FFF2-40B4-BE49-F238E27FC236}">
                  <a16:creationId xmlns:a16="http://schemas.microsoft.com/office/drawing/2014/main" id="{4C5A310B-670F-2654-EB7E-264E44C45324}"/>
                </a:ext>
              </a:extLst>
            </p:cNvPr>
            <p:cNvCxnSpPr>
              <a:cxnSpLocks/>
            </p:cNvCxnSpPr>
            <p:nvPr/>
          </p:nvCxnSpPr>
          <p:spPr>
            <a:xfrm>
              <a:off x="5517110" y="3136630"/>
              <a:ext cx="2106757" cy="32257"/>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F000F55D-2A4D-51FB-3B76-4A1D08A42BB7}"/>
                </a:ext>
              </a:extLst>
            </p:cNvPr>
            <p:cNvSpPr txBox="1"/>
            <p:nvPr/>
          </p:nvSpPr>
          <p:spPr>
            <a:xfrm>
              <a:off x="6763689" y="4093422"/>
              <a:ext cx="1907497" cy="369332"/>
            </a:xfrm>
            <a:prstGeom prst="rect">
              <a:avLst/>
            </a:prstGeom>
            <a:noFill/>
          </p:spPr>
          <p:txBody>
            <a:bodyPr wrap="square" rtlCol="0">
              <a:spAutoFit/>
            </a:bodyPr>
            <a:lstStyle/>
            <a:p>
              <a:endParaRPr lang="en-GB" b="1" dirty="0">
                <a:solidFill>
                  <a:schemeClr val="accent4">
                    <a:lumMod val="50000"/>
                  </a:schemeClr>
                </a:solidFill>
              </a:endParaRPr>
            </a:p>
          </p:txBody>
        </p:sp>
        <p:sp>
          <p:nvSpPr>
            <p:cNvPr id="53" name="TextBox 52">
              <a:extLst>
                <a:ext uri="{FF2B5EF4-FFF2-40B4-BE49-F238E27FC236}">
                  <a16:creationId xmlns:a16="http://schemas.microsoft.com/office/drawing/2014/main" id="{FB85144C-F2E0-99EE-8E8D-9C73BF58636E}"/>
                </a:ext>
              </a:extLst>
            </p:cNvPr>
            <p:cNvSpPr txBox="1"/>
            <p:nvPr/>
          </p:nvSpPr>
          <p:spPr>
            <a:xfrm>
              <a:off x="8072110" y="3235146"/>
              <a:ext cx="3244121" cy="369332"/>
            </a:xfrm>
            <a:prstGeom prst="rect">
              <a:avLst/>
            </a:prstGeom>
            <a:noFill/>
          </p:spPr>
          <p:txBody>
            <a:bodyPr wrap="square" rtlCol="0">
              <a:spAutoFit/>
            </a:bodyPr>
            <a:lstStyle/>
            <a:p>
              <a:r>
                <a:rPr lang="en-GB" b="1" dirty="0" err="1">
                  <a:solidFill>
                    <a:schemeClr val="accent2">
                      <a:lumMod val="75000"/>
                    </a:schemeClr>
                  </a:solidFill>
                </a:rPr>
                <a:t>sel_mbox</a:t>
              </a:r>
              <a:endParaRPr lang="en-GB" b="1" dirty="0">
                <a:solidFill>
                  <a:schemeClr val="accent2">
                    <a:lumMod val="75000"/>
                  </a:schemeClr>
                </a:solidFill>
              </a:endParaRPr>
            </a:p>
          </p:txBody>
        </p:sp>
        <p:sp>
          <p:nvSpPr>
            <p:cNvPr id="60" name="TextBox 59">
              <a:extLst>
                <a:ext uri="{FF2B5EF4-FFF2-40B4-BE49-F238E27FC236}">
                  <a16:creationId xmlns:a16="http://schemas.microsoft.com/office/drawing/2014/main" id="{4A2369FD-431F-8B55-4AF8-FEEE49B6EBB5}"/>
                </a:ext>
              </a:extLst>
            </p:cNvPr>
            <p:cNvSpPr txBox="1"/>
            <p:nvPr/>
          </p:nvSpPr>
          <p:spPr>
            <a:xfrm>
              <a:off x="6682494" y="5249380"/>
              <a:ext cx="723261" cy="369332"/>
            </a:xfrm>
            <a:prstGeom prst="rect">
              <a:avLst/>
            </a:prstGeom>
            <a:noFill/>
          </p:spPr>
          <p:txBody>
            <a:bodyPr wrap="square" rtlCol="0">
              <a:spAutoFit/>
            </a:bodyPr>
            <a:lstStyle/>
            <a:p>
              <a:endParaRPr lang="en-GB" dirty="0">
                <a:solidFill>
                  <a:schemeClr val="accent4">
                    <a:lumMod val="50000"/>
                  </a:schemeClr>
                </a:solidFill>
              </a:endParaRPr>
            </a:p>
          </p:txBody>
        </p:sp>
        <p:sp>
          <p:nvSpPr>
            <p:cNvPr id="61" name="TextBox 60">
              <a:extLst>
                <a:ext uri="{FF2B5EF4-FFF2-40B4-BE49-F238E27FC236}">
                  <a16:creationId xmlns:a16="http://schemas.microsoft.com/office/drawing/2014/main" id="{5F4D89CF-BC7A-E909-9DD8-80AAA9A1E406}"/>
                </a:ext>
              </a:extLst>
            </p:cNvPr>
            <p:cNvSpPr txBox="1"/>
            <p:nvPr/>
          </p:nvSpPr>
          <p:spPr>
            <a:xfrm>
              <a:off x="8636533" y="4501548"/>
              <a:ext cx="2043033" cy="369332"/>
            </a:xfrm>
            <a:prstGeom prst="rect">
              <a:avLst/>
            </a:prstGeom>
            <a:noFill/>
          </p:spPr>
          <p:txBody>
            <a:bodyPr wrap="square" rtlCol="0">
              <a:spAutoFit/>
            </a:bodyPr>
            <a:lstStyle/>
            <a:p>
              <a:endParaRPr lang="en-GB" dirty="0">
                <a:solidFill>
                  <a:schemeClr val="accent6"/>
                </a:solidFill>
              </a:endParaRPr>
            </a:p>
          </p:txBody>
        </p:sp>
      </p:grpSp>
      <p:sp>
        <p:nvSpPr>
          <p:cNvPr id="64" name="Title 1">
            <a:extLst>
              <a:ext uri="{FF2B5EF4-FFF2-40B4-BE49-F238E27FC236}">
                <a16:creationId xmlns:a16="http://schemas.microsoft.com/office/drawing/2014/main" id="{F0C58504-3E26-DDCF-7AD0-5B66BD39D253}"/>
              </a:ext>
            </a:extLst>
          </p:cNvPr>
          <p:cNvSpPr>
            <a:spLocks noGrp="1"/>
          </p:cNvSpPr>
          <p:nvPr>
            <p:ph type="title"/>
          </p:nvPr>
        </p:nvSpPr>
        <p:spPr>
          <a:xfrm>
            <a:off x="0" y="-1"/>
            <a:ext cx="12192000" cy="574397"/>
          </a:xfrm>
          <a:solidFill>
            <a:schemeClr val="accent6"/>
          </a:solidFill>
        </p:spPr>
        <p:txBody>
          <a:bodyPr>
            <a:no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Phase 11: </a:t>
            </a:r>
            <a:r>
              <a:rPr lang="en-IN" sz="3200" dirty="0">
                <a:latin typeface="Calibri" panose="020F0502020204030204" pitchFamily="34" charset="0"/>
                <a:ea typeface="Calibri" panose="020F0502020204030204" pitchFamily="34" charset="0"/>
                <a:cs typeface="Calibri" panose="020F0502020204030204" pitchFamily="34" charset="0"/>
              </a:rPr>
              <a:t>SoC Reads Mailbox Response</a:t>
            </a:r>
            <a:endParaRPr lang="en-GB" sz="3200" dirty="0">
              <a:latin typeface="Calibri" panose="020F0502020204030204" pitchFamily="34" charset="0"/>
              <a:ea typeface="Calibri" panose="020F0502020204030204" pitchFamily="34" charset="0"/>
              <a:cs typeface="Calibri" panose="020F0502020204030204" pitchFamily="34" charset="0"/>
            </a:endParaRPr>
          </a:p>
        </p:txBody>
      </p:sp>
      <p:cxnSp>
        <p:nvCxnSpPr>
          <p:cNvPr id="36" name="Straight Arrow Connector 35">
            <a:extLst>
              <a:ext uri="{FF2B5EF4-FFF2-40B4-BE49-F238E27FC236}">
                <a16:creationId xmlns:a16="http://schemas.microsoft.com/office/drawing/2014/main" id="{AA8DDF06-FE5F-7EA2-2DB7-936754C22882}"/>
              </a:ext>
            </a:extLst>
          </p:cNvPr>
          <p:cNvCxnSpPr>
            <a:cxnSpLocks/>
          </p:cNvCxnSpPr>
          <p:nvPr/>
        </p:nvCxnSpPr>
        <p:spPr>
          <a:xfrm flipV="1">
            <a:off x="3098095" y="3079871"/>
            <a:ext cx="2226497" cy="10699"/>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F83C7656-8E41-6D07-AD23-DBD67492E55D}"/>
              </a:ext>
            </a:extLst>
          </p:cNvPr>
          <p:cNvSpPr txBox="1"/>
          <p:nvPr/>
        </p:nvSpPr>
        <p:spPr>
          <a:xfrm>
            <a:off x="1540168" y="1676396"/>
            <a:ext cx="1055802" cy="369332"/>
          </a:xfrm>
          <a:prstGeom prst="rect">
            <a:avLst/>
          </a:prstGeom>
          <a:noFill/>
        </p:spPr>
        <p:txBody>
          <a:bodyPr wrap="none" rtlCol="0">
            <a:spAutoFit/>
          </a:bodyPr>
          <a:lstStyle/>
          <a:p>
            <a:r>
              <a:rPr lang="en-IN" dirty="0"/>
              <a:t>ARVALID</a:t>
            </a:r>
          </a:p>
        </p:txBody>
      </p:sp>
      <p:sp>
        <p:nvSpPr>
          <p:cNvPr id="48" name="TextBox 47">
            <a:extLst>
              <a:ext uri="{FF2B5EF4-FFF2-40B4-BE49-F238E27FC236}">
                <a16:creationId xmlns:a16="http://schemas.microsoft.com/office/drawing/2014/main" id="{5A15ED0A-004E-6193-21F7-69540D3D48F3}"/>
              </a:ext>
            </a:extLst>
          </p:cNvPr>
          <p:cNvSpPr txBox="1"/>
          <p:nvPr/>
        </p:nvSpPr>
        <p:spPr>
          <a:xfrm>
            <a:off x="3474674" y="2737755"/>
            <a:ext cx="1542474" cy="369332"/>
          </a:xfrm>
          <a:prstGeom prst="rect">
            <a:avLst/>
          </a:prstGeom>
          <a:noFill/>
        </p:spPr>
        <p:txBody>
          <a:bodyPr wrap="none" rtlCol="0">
            <a:spAutoFit/>
          </a:bodyPr>
          <a:lstStyle/>
          <a:p>
            <a:r>
              <a:rPr lang="en-IN" dirty="0" err="1"/>
              <a:t>soc_req_addr</a:t>
            </a:r>
            <a:endParaRPr lang="en-IN" dirty="0"/>
          </a:p>
        </p:txBody>
      </p:sp>
      <p:cxnSp>
        <p:nvCxnSpPr>
          <p:cNvPr id="72" name="Straight Connector 71">
            <a:extLst>
              <a:ext uri="{FF2B5EF4-FFF2-40B4-BE49-F238E27FC236}">
                <a16:creationId xmlns:a16="http://schemas.microsoft.com/office/drawing/2014/main" id="{011D0EC1-EEF8-FF19-57C7-3AC6DDAEC244}"/>
              </a:ext>
            </a:extLst>
          </p:cNvPr>
          <p:cNvCxnSpPr/>
          <p:nvPr/>
        </p:nvCxnSpPr>
        <p:spPr>
          <a:xfrm>
            <a:off x="9815898" y="97108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 name="Straight Connector 1">
            <a:extLst>
              <a:ext uri="{FF2B5EF4-FFF2-40B4-BE49-F238E27FC236}">
                <a16:creationId xmlns:a16="http://schemas.microsoft.com/office/drawing/2014/main" id="{27DB1BFE-FDBB-F89C-F2E1-6EE28C3B636B}"/>
              </a:ext>
            </a:extLst>
          </p:cNvPr>
          <p:cNvCxnSpPr/>
          <p:nvPr/>
        </p:nvCxnSpPr>
        <p:spPr>
          <a:xfrm>
            <a:off x="7394895" y="102174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28829F40-0AAB-3C5C-D4EE-E409216D1129}"/>
              </a:ext>
            </a:extLst>
          </p:cNvPr>
          <p:cNvSpPr txBox="1"/>
          <p:nvPr/>
        </p:nvSpPr>
        <p:spPr>
          <a:xfrm>
            <a:off x="542277" y="718640"/>
            <a:ext cx="619080" cy="369332"/>
          </a:xfrm>
          <a:prstGeom prst="rect">
            <a:avLst/>
          </a:prstGeom>
          <a:noFill/>
        </p:spPr>
        <p:txBody>
          <a:bodyPr wrap="none" rtlCol="0">
            <a:spAutoFit/>
          </a:bodyPr>
          <a:lstStyle/>
          <a:p>
            <a:r>
              <a:rPr lang="en-IN" b="1" dirty="0"/>
              <a:t>SoC</a:t>
            </a:r>
          </a:p>
        </p:txBody>
      </p:sp>
      <p:cxnSp>
        <p:nvCxnSpPr>
          <p:cNvPr id="23" name="Straight Arrow Connector 22">
            <a:extLst>
              <a:ext uri="{FF2B5EF4-FFF2-40B4-BE49-F238E27FC236}">
                <a16:creationId xmlns:a16="http://schemas.microsoft.com/office/drawing/2014/main" id="{FC7EA11E-A389-D223-E629-F1447742E509}"/>
              </a:ext>
            </a:extLst>
          </p:cNvPr>
          <p:cNvCxnSpPr>
            <a:cxnSpLocks/>
          </p:cNvCxnSpPr>
          <p:nvPr/>
        </p:nvCxnSpPr>
        <p:spPr>
          <a:xfrm>
            <a:off x="7394895" y="4118284"/>
            <a:ext cx="244166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E2279DC0-8F5F-F1AF-A8FA-7249C89FCA3A}"/>
              </a:ext>
            </a:extLst>
          </p:cNvPr>
          <p:cNvCxnSpPr>
            <a:cxnSpLocks/>
          </p:cNvCxnSpPr>
          <p:nvPr/>
        </p:nvCxnSpPr>
        <p:spPr>
          <a:xfrm>
            <a:off x="791948" y="1573907"/>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B7EC6D1F-F2C2-0717-20EC-01C89A43FB80}"/>
              </a:ext>
            </a:extLst>
          </p:cNvPr>
          <p:cNvSpPr txBox="1"/>
          <p:nvPr/>
        </p:nvSpPr>
        <p:spPr>
          <a:xfrm>
            <a:off x="1570380" y="1258415"/>
            <a:ext cx="1052596" cy="369332"/>
          </a:xfrm>
          <a:prstGeom prst="rect">
            <a:avLst/>
          </a:prstGeom>
          <a:noFill/>
        </p:spPr>
        <p:txBody>
          <a:bodyPr wrap="none" rtlCol="0">
            <a:spAutoFit/>
          </a:bodyPr>
          <a:lstStyle/>
          <a:p>
            <a:r>
              <a:rPr lang="en-IN" dirty="0"/>
              <a:t>ARADDR</a:t>
            </a:r>
          </a:p>
        </p:txBody>
      </p:sp>
      <p:cxnSp>
        <p:nvCxnSpPr>
          <p:cNvPr id="41" name="Straight Arrow Connector 40">
            <a:extLst>
              <a:ext uri="{FF2B5EF4-FFF2-40B4-BE49-F238E27FC236}">
                <a16:creationId xmlns:a16="http://schemas.microsoft.com/office/drawing/2014/main" id="{8250386C-B834-5125-05B3-3A149DBEBAFD}"/>
              </a:ext>
            </a:extLst>
          </p:cNvPr>
          <p:cNvCxnSpPr>
            <a:cxnSpLocks/>
          </p:cNvCxnSpPr>
          <p:nvPr/>
        </p:nvCxnSpPr>
        <p:spPr>
          <a:xfrm>
            <a:off x="7374234" y="4594792"/>
            <a:ext cx="244166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E12F0A55-E2FB-ACF6-0C67-7E1A8FA8D34C}"/>
              </a:ext>
            </a:extLst>
          </p:cNvPr>
          <p:cNvSpPr txBox="1"/>
          <p:nvPr/>
        </p:nvSpPr>
        <p:spPr>
          <a:xfrm>
            <a:off x="7814084" y="4202988"/>
            <a:ext cx="1796004" cy="369332"/>
          </a:xfrm>
          <a:prstGeom prst="rect">
            <a:avLst/>
          </a:prstGeom>
          <a:noFill/>
        </p:spPr>
        <p:txBody>
          <a:bodyPr wrap="none" rtlCol="0">
            <a:spAutoFit/>
          </a:bodyPr>
          <a:lstStyle/>
          <a:p>
            <a:r>
              <a:rPr lang="en-IN" b="1" dirty="0" err="1">
                <a:solidFill>
                  <a:schemeClr val="accent2">
                    <a:lumMod val="75000"/>
                  </a:schemeClr>
                </a:solidFill>
              </a:rPr>
              <a:t>mbox_data_out</a:t>
            </a:r>
            <a:endParaRPr lang="en-IN" b="1" dirty="0">
              <a:solidFill>
                <a:schemeClr val="accent2">
                  <a:lumMod val="75000"/>
                </a:schemeClr>
              </a:solidFill>
            </a:endParaRPr>
          </a:p>
        </p:txBody>
      </p:sp>
      <p:cxnSp>
        <p:nvCxnSpPr>
          <p:cNvPr id="12" name="Straight Arrow Connector 11">
            <a:extLst>
              <a:ext uri="{FF2B5EF4-FFF2-40B4-BE49-F238E27FC236}">
                <a16:creationId xmlns:a16="http://schemas.microsoft.com/office/drawing/2014/main" id="{2D43880A-C106-BE12-09FF-316096A53E4D}"/>
              </a:ext>
            </a:extLst>
          </p:cNvPr>
          <p:cNvCxnSpPr>
            <a:cxnSpLocks/>
          </p:cNvCxnSpPr>
          <p:nvPr/>
        </p:nvCxnSpPr>
        <p:spPr>
          <a:xfrm flipH="1" flipV="1">
            <a:off x="760379" y="6066998"/>
            <a:ext cx="6613855" cy="30777"/>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F3883814-F56D-4798-C548-88D0B3F01CB5}"/>
              </a:ext>
            </a:extLst>
          </p:cNvPr>
          <p:cNvSpPr txBox="1"/>
          <p:nvPr/>
        </p:nvSpPr>
        <p:spPr>
          <a:xfrm>
            <a:off x="3916664" y="5744961"/>
            <a:ext cx="1486340" cy="369332"/>
          </a:xfrm>
          <a:prstGeom prst="rect">
            <a:avLst/>
          </a:prstGeom>
          <a:noFill/>
        </p:spPr>
        <p:txBody>
          <a:bodyPr wrap="square" rtlCol="0">
            <a:spAutoFit/>
          </a:bodyPr>
          <a:lstStyle/>
          <a:p>
            <a:r>
              <a:rPr lang="en-IN" b="1" dirty="0">
                <a:solidFill>
                  <a:srgbClr val="002060"/>
                </a:solidFill>
              </a:rPr>
              <a:t>RDATA</a:t>
            </a:r>
          </a:p>
        </p:txBody>
      </p:sp>
      <p:cxnSp>
        <p:nvCxnSpPr>
          <p:cNvPr id="21" name="Straight Arrow Connector 20">
            <a:extLst>
              <a:ext uri="{FF2B5EF4-FFF2-40B4-BE49-F238E27FC236}">
                <a16:creationId xmlns:a16="http://schemas.microsoft.com/office/drawing/2014/main" id="{B3E48864-F4C3-22AB-BD05-61068DD8AB7A}"/>
              </a:ext>
            </a:extLst>
          </p:cNvPr>
          <p:cNvCxnSpPr/>
          <p:nvPr/>
        </p:nvCxnSpPr>
        <p:spPr>
          <a:xfrm flipH="1">
            <a:off x="3056484" y="5477933"/>
            <a:ext cx="4338411"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D712DEA-F4D5-AF64-8EA1-BC0E09DAB168}"/>
              </a:ext>
            </a:extLst>
          </p:cNvPr>
          <p:cNvSpPr txBox="1"/>
          <p:nvPr/>
        </p:nvSpPr>
        <p:spPr>
          <a:xfrm>
            <a:off x="3605317" y="5070629"/>
            <a:ext cx="1670137" cy="369332"/>
          </a:xfrm>
          <a:prstGeom prst="rect">
            <a:avLst/>
          </a:prstGeom>
          <a:noFill/>
        </p:spPr>
        <p:txBody>
          <a:bodyPr wrap="none" rtlCol="0">
            <a:spAutoFit/>
          </a:bodyPr>
          <a:lstStyle/>
          <a:p>
            <a:r>
              <a:rPr lang="en-IN" b="1" dirty="0" err="1">
                <a:solidFill>
                  <a:srgbClr val="002060"/>
                </a:solidFill>
              </a:rPr>
              <a:t>soc_req_rdata</a:t>
            </a:r>
            <a:endParaRPr lang="en-IN" b="1" dirty="0">
              <a:solidFill>
                <a:srgbClr val="002060"/>
              </a:solidFill>
            </a:endParaRPr>
          </a:p>
        </p:txBody>
      </p:sp>
    </p:spTree>
    <p:extLst>
      <p:ext uri="{BB962C8B-B14F-4D97-AF65-F5344CB8AC3E}">
        <p14:creationId xmlns:p14="http://schemas.microsoft.com/office/powerpoint/2010/main" val="37141518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E35B8-7CA3-D0F2-1342-ACA03B8F176B}"/>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F9B77F13-92B7-AB51-E85D-1DFCD1BAF7C3}"/>
              </a:ext>
            </a:extLst>
          </p:cNvPr>
          <p:cNvGrpSpPr/>
          <p:nvPr/>
        </p:nvGrpSpPr>
        <p:grpSpPr>
          <a:xfrm>
            <a:off x="596736" y="600937"/>
            <a:ext cx="10998528" cy="6102082"/>
            <a:chOff x="825708" y="99567"/>
            <a:chExt cx="10998528" cy="6102082"/>
          </a:xfrm>
        </p:grpSpPr>
        <p:cxnSp>
          <p:nvCxnSpPr>
            <p:cNvPr id="5" name="Straight Connector 4">
              <a:extLst>
                <a:ext uri="{FF2B5EF4-FFF2-40B4-BE49-F238E27FC236}">
                  <a16:creationId xmlns:a16="http://schemas.microsoft.com/office/drawing/2014/main" id="{64664FB6-F78B-1599-F113-94E6F1DA18FA}"/>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4406885F-4543-933F-C633-1B15F05865FF}"/>
                </a:ext>
              </a:extLst>
            </p:cNvPr>
            <p:cNvCxnSpPr/>
            <p:nvPr/>
          </p:nvCxnSpPr>
          <p:spPr>
            <a:xfrm>
              <a:off x="3285456" y="52037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CE49B0AD-B101-B2D6-AB5D-83416E331DE8}"/>
                </a:ext>
              </a:extLst>
            </p:cNvPr>
            <p:cNvCxnSpPr/>
            <p:nvPr/>
          </p:nvCxnSpPr>
          <p:spPr>
            <a:xfrm>
              <a:off x="5504426" y="433309"/>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7DD00DD1-B8F5-94B2-6F91-F759FA3A9F54}"/>
                </a:ext>
              </a:extLst>
            </p:cNvPr>
            <p:cNvSpPr txBox="1"/>
            <p:nvPr/>
          </p:nvSpPr>
          <p:spPr>
            <a:xfrm>
              <a:off x="9381013" y="99567"/>
              <a:ext cx="2443223" cy="369332"/>
            </a:xfrm>
            <a:prstGeom prst="rect">
              <a:avLst/>
            </a:prstGeom>
            <a:noFill/>
          </p:spPr>
          <p:txBody>
            <a:bodyPr wrap="square" rtlCol="0">
              <a:spAutoFit/>
            </a:bodyPr>
            <a:lstStyle/>
            <a:p>
              <a:r>
                <a:rPr lang="en-GB" b="1" dirty="0"/>
                <a:t>Mailbox</a:t>
              </a:r>
            </a:p>
          </p:txBody>
        </p:sp>
        <p:sp>
          <p:nvSpPr>
            <p:cNvPr id="11" name="TextBox 10">
              <a:extLst>
                <a:ext uri="{FF2B5EF4-FFF2-40B4-BE49-F238E27FC236}">
                  <a16:creationId xmlns:a16="http://schemas.microsoft.com/office/drawing/2014/main" id="{D1D7426F-FD13-F9DC-DB2D-1571B2662CC0}"/>
                </a:ext>
              </a:extLst>
            </p:cNvPr>
            <p:cNvSpPr txBox="1"/>
            <p:nvPr/>
          </p:nvSpPr>
          <p:spPr>
            <a:xfrm>
              <a:off x="2577716" y="142254"/>
              <a:ext cx="1753847" cy="369332"/>
            </a:xfrm>
            <a:prstGeom prst="rect">
              <a:avLst/>
            </a:prstGeom>
            <a:noFill/>
          </p:spPr>
          <p:txBody>
            <a:bodyPr wrap="square" rtlCol="0">
              <a:spAutoFit/>
            </a:bodyPr>
            <a:lstStyle/>
            <a:p>
              <a:r>
                <a:rPr lang="en-GB" b="1" dirty="0"/>
                <a:t>AXI Interface</a:t>
              </a:r>
            </a:p>
          </p:txBody>
        </p:sp>
        <p:sp>
          <p:nvSpPr>
            <p:cNvPr id="13" name="TextBox 12">
              <a:extLst>
                <a:ext uri="{FF2B5EF4-FFF2-40B4-BE49-F238E27FC236}">
                  <a16:creationId xmlns:a16="http://schemas.microsoft.com/office/drawing/2014/main" id="{F9A6B863-C595-EFAD-5AA9-EBA8856FC1AD}"/>
                </a:ext>
              </a:extLst>
            </p:cNvPr>
            <p:cNvSpPr txBox="1"/>
            <p:nvPr/>
          </p:nvSpPr>
          <p:spPr>
            <a:xfrm>
              <a:off x="4654199" y="126752"/>
              <a:ext cx="1952485" cy="369332"/>
            </a:xfrm>
            <a:prstGeom prst="rect">
              <a:avLst/>
            </a:prstGeom>
            <a:noFill/>
          </p:spPr>
          <p:txBody>
            <a:bodyPr wrap="square" rtlCol="0">
              <a:spAutoFit/>
            </a:bodyPr>
            <a:lstStyle/>
            <a:p>
              <a:r>
                <a:rPr lang="en-GB" b="1" dirty="0" err="1"/>
                <a:t>SoC_IFC</a:t>
              </a:r>
              <a:r>
                <a:rPr lang="en-GB" b="1" dirty="0"/>
                <a:t> Arbiter</a:t>
              </a:r>
            </a:p>
          </p:txBody>
        </p:sp>
        <p:sp>
          <p:nvSpPr>
            <p:cNvPr id="14" name="TextBox 13">
              <a:extLst>
                <a:ext uri="{FF2B5EF4-FFF2-40B4-BE49-F238E27FC236}">
                  <a16:creationId xmlns:a16="http://schemas.microsoft.com/office/drawing/2014/main" id="{1A66E122-C6A3-224B-B512-7943907880C5}"/>
                </a:ext>
              </a:extLst>
            </p:cNvPr>
            <p:cNvSpPr txBox="1"/>
            <p:nvPr/>
          </p:nvSpPr>
          <p:spPr>
            <a:xfrm>
              <a:off x="7361811" y="1131086"/>
              <a:ext cx="525633" cy="369332"/>
            </a:xfrm>
            <a:prstGeom prst="rect">
              <a:avLst/>
            </a:prstGeom>
            <a:noFill/>
          </p:spPr>
          <p:txBody>
            <a:bodyPr wrap="square" rtlCol="0">
              <a:spAutoFit/>
            </a:bodyPr>
            <a:lstStyle/>
            <a:p>
              <a:endParaRPr lang="en-GB" b="1" dirty="0"/>
            </a:p>
          </p:txBody>
        </p:sp>
        <p:sp>
          <p:nvSpPr>
            <p:cNvPr id="15" name="TextBox 14">
              <a:extLst>
                <a:ext uri="{FF2B5EF4-FFF2-40B4-BE49-F238E27FC236}">
                  <a16:creationId xmlns:a16="http://schemas.microsoft.com/office/drawing/2014/main" id="{00AF12EC-EACF-BAE1-40F8-EDAA9F14059F}"/>
                </a:ext>
              </a:extLst>
            </p:cNvPr>
            <p:cNvSpPr txBox="1"/>
            <p:nvPr/>
          </p:nvSpPr>
          <p:spPr>
            <a:xfrm>
              <a:off x="4095408" y="5227074"/>
              <a:ext cx="2600168" cy="338554"/>
            </a:xfrm>
            <a:prstGeom prst="rect">
              <a:avLst/>
            </a:prstGeom>
            <a:noFill/>
          </p:spPr>
          <p:txBody>
            <a:bodyPr wrap="square" rtlCol="0">
              <a:spAutoFit/>
            </a:bodyPr>
            <a:lstStyle/>
            <a:p>
              <a:endParaRPr lang="en-GB" sz="1600" b="1" dirty="0">
                <a:solidFill>
                  <a:schemeClr val="accent3">
                    <a:lumMod val="75000"/>
                  </a:schemeClr>
                </a:solidFill>
              </a:endParaRPr>
            </a:p>
          </p:txBody>
        </p:sp>
        <p:sp>
          <p:nvSpPr>
            <p:cNvPr id="20" name="TextBox 19">
              <a:extLst>
                <a:ext uri="{FF2B5EF4-FFF2-40B4-BE49-F238E27FC236}">
                  <a16:creationId xmlns:a16="http://schemas.microsoft.com/office/drawing/2014/main" id="{E8B4A0E5-BAFA-67DD-9FFB-0C124FFAE9F5}"/>
                </a:ext>
              </a:extLst>
            </p:cNvPr>
            <p:cNvSpPr txBox="1"/>
            <p:nvPr/>
          </p:nvSpPr>
          <p:spPr>
            <a:xfrm>
              <a:off x="825708" y="506033"/>
              <a:ext cx="1966213"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22" name="TextBox 21">
              <a:extLst>
                <a:ext uri="{FF2B5EF4-FFF2-40B4-BE49-F238E27FC236}">
                  <a16:creationId xmlns:a16="http://schemas.microsoft.com/office/drawing/2014/main" id="{219D2A9D-A492-D65C-0D2D-30EFAF7D57B1}"/>
                </a:ext>
              </a:extLst>
            </p:cNvPr>
            <p:cNvSpPr txBox="1"/>
            <p:nvPr/>
          </p:nvSpPr>
          <p:spPr>
            <a:xfrm>
              <a:off x="1044314" y="837377"/>
              <a:ext cx="2557067" cy="369332"/>
            </a:xfrm>
            <a:prstGeom prst="rect">
              <a:avLst/>
            </a:prstGeom>
            <a:noFill/>
          </p:spPr>
          <p:txBody>
            <a:bodyPr wrap="square" rtlCol="0">
              <a:spAutoFit/>
            </a:bodyPr>
            <a:lstStyle/>
            <a:p>
              <a:endParaRPr lang="en-GB" dirty="0">
                <a:solidFill>
                  <a:schemeClr val="accent5">
                    <a:lumMod val="75000"/>
                  </a:schemeClr>
                </a:solidFill>
              </a:endParaRPr>
            </a:p>
          </p:txBody>
        </p:sp>
        <p:sp>
          <p:nvSpPr>
            <p:cNvPr id="31" name="TextBox 30">
              <a:extLst>
                <a:ext uri="{FF2B5EF4-FFF2-40B4-BE49-F238E27FC236}">
                  <a16:creationId xmlns:a16="http://schemas.microsoft.com/office/drawing/2014/main" id="{6BCD733E-6C3F-E52E-A59B-35BCADC991BC}"/>
                </a:ext>
              </a:extLst>
            </p:cNvPr>
            <p:cNvSpPr txBox="1"/>
            <p:nvPr/>
          </p:nvSpPr>
          <p:spPr>
            <a:xfrm>
              <a:off x="6831413" y="126349"/>
              <a:ext cx="1896267" cy="369332"/>
            </a:xfrm>
            <a:prstGeom prst="rect">
              <a:avLst/>
            </a:prstGeom>
            <a:noFill/>
          </p:spPr>
          <p:txBody>
            <a:bodyPr wrap="square" rtlCol="0">
              <a:spAutoFit/>
            </a:bodyPr>
            <a:lstStyle/>
            <a:p>
              <a:r>
                <a:rPr lang="en-GB" b="1" dirty="0"/>
                <a:t>Adress Decoder</a:t>
              </a:r>
            </a:p>
          </p:txBody>
        </p:sp>
        <p:sp>
          <p:nvSpPr>
            <p:cNvPr id="32" name="TextBox 31">
              <a:extLst>
                <a:ext uri="{FF2B5EF4-FFF2-40B4-BE49-F238E27FC236}">
                  <a16:creationId xmlns:a16="http://schemas.microsoft.com/office/drawing/2014/main" id="{2134370E-1EB6-1368-F2D0-A68B7D99BDE6}"/>
                </a:ext>
              </a:extLst>
            </p:cNvPr>
            <p:cNvSpPr txBox="1"/>
            <p:nvPr/>
          </p:nvSpPr>
          <p:spPr>
            <a:xfrm>
              <a:off x="2819723" y="1603394"/>
              <a:ext cx="2557067" cy="369332"/>
            </a:xfrm>
            <a:prstGeom prst="rect">
              <a:avLst/>
            </a:prstGeom>
            <a:noFill/>
          </p:spPr>
          <p:txBody>
            <a:bodyPr wrap="square" rtlCol="0">
              <a:spAutoFit/>
            </a:bodyPr>
            <a:lstStyle/>
            <a:p>
              <a:endParaRPr lang="en-GB" dirty="0">
                <a:solidFill>
                  <a:schemeClr val="accent2">
                    <a:lumMod val="75000"/>
                  </a:schemeClr>
                </a:solidFill>
              </a:endParaRPr>
            </a:p>
          </p:txBody>
        </p:sp>
        <p:cxnSp>
          <p:nvCxnSpPr>
            <p:cNvPr id="43" name="Straight Arrow Connector 42">
              <a:extLst>
                <a:ext uri="{FF2B5EF4-FFF2-40B4-BE49-F238E27FC236}">
                  <a16:creationId xmlns:a16="http://schemas.microsoft.com/office/drawing/2014/main" id="{584C24DD-4508-A4FF-2368-FE0114590711}"/>
                </a:ext>
              </a:extLst>
            </p:cNvPr>
            <p:cNvCxnSpPr>
              <a:cxnSpLocks/>
            </p:cNvCxnSpPr>
            <p:nvPr/>
          </p:nvCxnSpPr>
          <p:spPr>
            <a:xfrm>
              <a:off x="989351" y="1500905"/>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A9FF97FA-6B58-2D92-CECA-56D0285B1BCE}"/>
                </a:ext>
              </a:extLst>
            </p:cNvPr>
            <p:cNvSpPr txBox="1"/>
            <p:nvPr/>
          </p:nvSpPr>
          <p:spPr>
            <a:xfrm>
              <a:off x="5877341" y="3178281"/>
              <a:ext cx="2557067" cy="369332"/>
            </a:xfrm>
            <a:prstGeom prst="rect">
              <a:avLst/>
            </a:prstGeom>
            <a:noFill/>
          </p:spPr>
          <p:txBody>
            <a:bodyPr wrap="square" rtlCol="0">
              <a:spAutoFit/>
            </a:bodyPr>
            <a:lstStyle/>
            <a:p>
              <a:r>
                <a:rPr lang="en-GB" b="1" dirty="0">
                  <a:solidFill>
                    <a:srgbClr val="0070C0"/>
                  </a:solidFill>
                </a:rPr>
                <a:t>reg_addr</a:t>
              </a:r>
            </a:p>
          </p:txBody>
        </p:sp>
        <p:cxnSp>
          <p:nvCxnSpPr>
            <p:cNvPr id="47" name="Straight Arrow Connector 46">
              <a:extLst>
                <a:ext uri="{FF2B5EF4-FFF2-40B4-BE49-F238E27FC236}">
                  <a16:creationId xmlns:a16="http://schemas.microsoft.com/office/drawing/2014/main" id="{27CC7552-2E48-6F38-1943-E3514FC8AC84}"/>
                </a:ext>
              </a:extLst>
            </p:cNvPr>
            <p:cNvCxnSpPr>
              <a:cxnSpLocks/>
            </p:cNvCxnSpPr>
            <p:nvPr/>
          </p:nvCxnSpPr>
          <p:spPr>
            <a:xfrm>
              <a:off x="5526599" y="3553831"/>
              <a:ext cx="2076607"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6B46637D-F373-7A70-322F-1CDC55EBE1E5}"/>
                </a:ext>
              </a:extLst>
            </p:cNvPr>
            <p:cNvSpPr txBox="1"/>
            <p:nvPr/>
          </p:nvSpPr>
          <p:spPr>
            <a:xfrm>
              <a:off x="6763689" y="4093422"/>
              <a:ext cx="1907497" cy="369332"/>
            </a:xfrm>
            <a:prstGeom prst="rect">
              <a:avLst/>
            </a:prstGeom>
            <a:noFill/>
          </p:spPr>
          <p:txBody>
            <a:bodyPr wrap="square" rtlCol="0">
              <a:spAutoFit/>
            </a:bodyPr>
            <a:lstStyle/>
            <a:p>
              <a:endParaRPr lang="en-GB" b="1" dirty="0">
                <a:solidFill>
                  <a:schemeClr val="accent4">
                    <a:lumMod val="50000"/>
                  </a:schemeClr>
                </a:solidFill>
              </a:endParaRPr>
            </a:p>
          </p:txBody>
        </p:sp>
        <p:sp>
          <p:nvSpPr>
            <p:cNvPr id="53" name="TextBox 52">
              <a:extLst>
                <a:ext uri="{FF2B5EF4-FFF2-40B4-BE49-F238E27FC236}">
                  <a16:creationId xmlns:a16="http://schemas.microsoft.com/office/drawing/2014/main" id="{421C908B-E8A9-3D35-A703-462A032291BA}"/>
                </a:ext>
              </a:extLst>
            </p:cNvPr>
            <p:cNvSpPr txBox="1"/>
            <p:nvPr/>
          </p:nvSpPr>
          <p:spPr>
            <a:xfrm>
              <a:off x="8031311" y="3889359"/>
              <a:ext cx="3244121" cy="369332"/>
            </a:xfrm>
            <a:prstGeom prst="rect">
              <a:avLst/>
            </a:prstGeom>
            <a:noFill/>
          </p:spPr>
          <p:txBody>
            <a:bodyPr wrap="square" rtlCol="0">
              <a:spAutoFit/>
            </a:bodyPr>
            <a:lstStyle/>
            <a:p>
              <a:r>
                <a:rPr lang="en-GB" b="1" dirty="0" err="1">
                  <a:solidFill>
                    <a:schemeClr val="accent2">
                      <a:lumMod val="75000"/>
                    </a:schemeClr>
                  </a:solidFill>
                </a:rPr>
                <a:t>sel_mbox</a:t>
              </a:r>
              <a:endParaRPr lang="en-GB" b="1" dirty="0">
                <a:solidFill>
                  <a:schemeClr val="accent2">
                    <a:lumMod val="75000"/>
                  </a:schemeClr>
                </a:solidFill>
              </a:endParaRPr>
            </a:p>
          </p:txBody>
        </p:sp>
        <p:sp>
          <p:nvSpPr>
            <p:cNvPr id="60" name="TextBox 59">
              <a:extLst>
                <a:ext uri="{FF2B5EF4-FFF2-40B4-BE49-F238E27FC236}">
                  <a16:creationId xmlns:a16="http://schemas.microsoft.com/office/drawing/2014/main" id="{87ABE96E-9381-1316-AF5D-B399C1EF40CA}"/>
                </a:ext>
              </a:extLst>
            </p:cNvPr>
            <p:cNvSpPr txBox="1"/>
            <p:nvPr/>
          </p:nvSpPr>
          <p:spPr>
            <a:xfrm>
              <a:off x="6682494" y="5249380"/>
              <a:ext cx="723261" cy="369332"/>
            </a:xfrm>
            <a:prstGeom prst="rect">
              <a:avLst/>
            </a:prstGeom>
            <a:noFill/>
          </p:spPr>
          <p:txBody>
            <a:bodyPr wrap="square" rtlCol="0">
              <a:spAutoFit/>
            </a:bodyPr>
            <a:lstStyle/>
            <a:p>
              <a:endParaRPr lang="en-GB" dirty="0">
                <a:solidFill>
                  <a:schemeClr val="accent4">
                    <a:lumMod val="50000"/>
                  </a:schemeClr>
                </a:solidFill>
              </a:endParaRPr>
            </a:p>
          </p:txBody>
        </p:sp>
        <p:sp>
          <p:nvSpPr>
            <p:cNvPr id="61" name="TextBox 60">
              <a:extLst>
                <a:ext uri="{FF2B5EF4-FFF2-40B4-BE49-F238E27FC236}">
                  <a16:creationId xmlns:a16="http://schemas.microsoft.com/office/drawing/2014/main" id="{532002DC-BB20-2766-A2EB-B1FE0DA05FE5}"/>
                </a:ext>
              </a:extLst>
            </p:cNvPr>
            <p:cNvSpPr txBox="1"/>
            <p:nvPr/>
          </p:nvSpPr>
          <p:spPr>
            <a:xfrm>
              <a:off x="8636533" y="4501548"/>
              <a:ext cx="2043033" cy="369332"/>
            </a:xfrm>
            <a:prstGeom prst="rect">
              <a:avLst/>
            </a:prstGeom>
            <a:noFill/>
          </p:spPr>
          <p:txBody>
            <a:bodyPr wrap="square" rtlCol="0">
              <a:spAutoFit/>
            </a:bodyPr>
            <a:lstStyle/>
            <a:p>
              <a:endParaRPr lang="en-GB" dirty="0">
                <a:solidFill>
                  <a:schemeClr val="accent6"/>
                </a:solidFill>
              </a:endParaRPr>
            </a:p>
          </p:txBody>
        </p:sp>
      </p:grpSp>
      <p:sp>
        <p:nvSpPr>
          <p:cNvPr id="64" name="Title 1">
            <a:extLst>
              <a:ext uri="{FF2B5EF4-FFF2-40B4-BE49-F238E27FC236}">
                <a16:creationId xmlns:a16="http://schemas.microsoft.com/office/drawing/2014/main" id="{BC5A317C-463B-A62D-BFE0-CD813AD888B2}"/>
              </a:ext>
            </a:extLst>
          </p:cNvPr>
          <p:cNvSpPr>
            <a:spLocks noGrp="1"/>
          </p:cNvSpPr>
          <p:nvPr>
            <p:ph type="title"/>
          </p:nvPr>
        </p:nvSpPr>
        <p:spPr>
          <a:xfrm>
            <a:off x="0" y="-1"/>
            <a:ext cx="12192000" cy="621501"/>
          </a:xfrm>
          <a:solidFill>
            <a:schemeClr val="accent6"/>
          </a:solidFill>
        </p:spPr>
        <p:txBody>
          <a:bodyPr>
            <a:no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Phase 12: </a:t>
            </a:r>
            <a:r>
              <a:rPr lang="en-IN" sz="3200" dirty="0">
                <a:latin typeface="Calibri" panose="020F0502020204030204" pitchFamily="34" charset="0"/>
                <a:ea typeface="Calibri" panose="020F0502020204030204" pitchFamily="34" charset="0"/>
                <a:cs typeface="Calibri" panose="020F0502020204030204" pitchFamily="34" charset="0"/>
              </a:rPr>
              <a:t>Mailbox Unlock</a:t>
            </a:r>
            <a:endParaRPr lang="en-GB" sz="3200" dirty="0">
              <a:latin typeface="Calibri" panose="020F0502020204030204" pitchFamily="34" charset="0"/>
              <a:ea typeface="Calibri" panose="020F0502020204030204" pitchFamily="34" charset="0"/>
              <a:cs typeface="Calibri" panose="020F0502020204030204" pitchFamily="34" charset="0"/>
            </a:endParaRPr>
          </a:p>
        </p:txBody>
      </p:sp>
      <p:cxnSp>
        <p:nvCxnSpPr>
          <p:cNvPr id="36" name="Straight Arrow Connector 35">
            <a:extLst>
              <a:ext uri="{FF2B5EF4-FFF2-40B4-BE49-F238E27FC236}">
                <a16:creationId xmlns:a16="http://schemas.microsoft.com/office/drawing/2014/main" id="{602B36FB-4994-620A-799D-679E2C7AE7B1}"/>
              </a:ext>
            </a:extLst>
          </p:cNvPr>
          <p:cNvCxnSpPr>
            <a:cxnSpLocks/>
          </p:cNvCxnSpPr>
          <p:nvPr/>
        </p:nvCxnSpPr>
        <p:spPr>
          <a:xfrm flipV="1">
            <a:off x="3071130" y="3086435"/>
            <a:ext cx="2226497" cy="10699"/>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AAC4F1EB-176F-DE8E-0740-1DFA956731F2}"/>
              </a:ext>
            </a:extLst>
          </p:cNvPr>
          <p:cNvSpPr txBox="1"/>
          <p:nvPr/>
        </p:nvSpPr>
        <p:spPr>
          <a:xfrm>
            <a:off x="1540168" y="1676396"/>
            <a:ext cx="1152751" cy="369332"/>
          </a:xfrm>
          <a:prstGeom prst="rect">
            <a:avLst/>
          </a:prstGeom>
          <a:noFill/>
        </p:spPr>
        <p:txBody>
          <a:bodyPr wrap="none" rtlCol="0">
            <a:spAutoFit/>
          </a:bodyPr>
          <a:lstStyle/>
          <a:p>
            <a:r>
              <a:rPr lang="en-IN" dirty="0"/>
              <a:t>WDATA=1</a:t>
            </a:r>
          </a:p>
        </p:txBody>
      </p:sp>
      <p:sp>
        <p:nvSpPr>
          <p:cNvPr id="48" name="TextBox 47">
            <a:extLst>
              <a:ext uri="{FF2B5EF4-FFF2-40B4-BE49-F238E27FC236}">
                <a16:creationId xmlns:a16="http://schemas.microsoft.com/office/drawing/2014/main" id="{5CD8D560-1414-EE0E-6A90-14D5F8C5432A}"/>
              </a:ext>
            </a:extLst>
          </p:cNvPr>
          <p:cNvSpPr txBox="1"/>
          <p:nvPr/>
        </p:nvSpPr>
        <p:spPr>
          <a:xfrm>
            <a:off x="3440106" y="2761432"/>
            <a:ext cx="1542474" cy="369332"/>
          </a:xfrm>
          <a:prstGeom prst="rect">
            <a:avLst/>
          </a:prstGeom>
          <a:noFill/>
        </p:spPr>
        <p:txBody>
          <a:bodyPr wrap="none" rtlCol="0">
            <a:spAutoFit/>
          </a:bodyPr>
          <a:lstStyle/>
          <a:p>
            <a:r>
              <a:rPr lang="en-IN" dirty="0" err="1"/>
              <a:t>soc_req_addr</a:t>
            </a:r>
            <a:endParaRPr lang="en-IN" dirty="0"/>
          </a:p>
        </p:txBody>
      </p:sp>
      <p:cxnSp>
        <p:nvCxnSpPr>
          <p:cNvPr id="72" name="Straight Connector 71">
            <a:extLst>
              <a:ext uri="{FF2B5EF4-FFF2-40B4-BE49-F238E27FC236}">
                <a16:creationId xmlns:a16="http://schemas.microsoft.com/office/drawing/2014/main" id="{16C2F624-0850-18F5-DD9D-9C124F58DFCD}"/>
              </a:ext>
            </a:extLst>
          </p:cNvPr>
          <p:cNvCxnSpPr/>
          <p:nvPr/>
        </p:nvCxnSpPr>
        <p:spPr>
          <a:xfrm>
            <a:off x="9815898" y="97108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 name="Straight Connector 1">
            <a:extLst>
              <a:ext uri="{FF2B5EF4-FFF2-40B4-BE49-F238E27FC236}">
                <a16:creationId xmlns:a16="http://schemas.microsoft.com/office/drawing/2014/main" id="{6B12F29D-2A7F-97E9-859A-EF23FEF6DE90}"/>
              </a:ext>
            </a:extLst>
          </p:cNvPr>
          <p:cNvCxnSpPr/>
          <p:nvPr/>
        </p:nvCxnSpPr>
        <p:spPr>
          <a:xfrm>
            <a:off x="7394895" y="1021746"/>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AE03FB31-1444-A35C-0A4F-117AD9C6F22C}"/>
              </a:ext>
            </a:extLst>
          </p:cNvPr>
          <p:cNvSpPr txBox="1"/>
          <p:nvPr/>
        </p:nvSpPr>
        <p:spPr>
          <a:xfrm>
            <a:off x="542277" y="718640"/>
            <a:ext cx="619080" cy="369332"/>
          </a:xfrm>
          <a:prstGeom prst="rect">
            <a:avLst/>
          </a:prstGeom>
          <a:noFill/>
        </p:spPr>
        <p:txBody>
          <a:bodyPr wrap="none" rtlCol="0">
            <a:spAutoFit/>
          </a:bodyPr>
          <a:lstStyle/>
          <a:p>
            <a:r>
              <a:rPr lang="en-IN" b="1" dirty="0"/>
              <a:t>SoC</a:t>
            </a:r>
          </a:p>
        </p:txBody>
      </p:sp>
      <p:cxnSp>
        <p:nvCxnSpPr>
          <p:cNvPr id="23" name="Straight Arrow Connector 22">
            <a:extLst>
              <a:ext uri="{FF2B5EF4-FFF2-40B4-BE49-F238E27FC236}">
                <a16:creationId xmlns:a16="http://schemas.microsoft.com/office/drawing/2014/main" id="{96D6F241-1971-77D0-3C58-EBC3D03FDEEA}"/>
              </a:ext>
            </a:extLst>
          </p:cNvPr>
          <p:cNvCxnSpPr>
            <a:cxnSpLocks/>
          </p:cNvCxnSpPr>
          <p:nvPr/>
        </p:nvCxnSpPr>
        <p:spPr>
          <a:xfrm>
            <a:off x="7394895" y="4774475"/>
            <a:ext cx="244166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0C39BD5C-5CE9-B3E4-CD9F-54CB1056E796}"/>
              </a:ext>
            </a:extLst>
          </p:cNvPr>
          <p:cNvCxnSpPr>
            <a:cxnSpLocks/>
          </p:cNvCxnSpPr>
          <p:nvPr/>
        </p:nvCxnSpPr>
        <p:spPr>
          <a:xfrm>
            <a:off x="791948" y="1573907"/>
            <a:ext cx="2296105" cy="705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491EEA54-6B8E-295C-7241-5798EFEC4A77}"/>
              </a:ext>
            </a:extLst>
          </p:cNvPr>
          <p:cNvSpPr txBox="1"/>
          <p:nvPr/>
        </p:nvSpPr>
        <p:spPr>
          <a:xfrm>
            <a:off x="1570380" y="1258415"/>
            <a:ext cx="1112420" cy="369332"/>
          </a:xfrm>
          <a:prstGeom prst="rect">
            <a:avLst/>
          </a:prstGeom>
          <a:noFill/>
        </p:spPr>
        <p:txBody>
          <a:bodyPr wrap="none" rtlCol="0">
            <a:spAutoFit/>
          </a:bodyPr>
          <a:lstStyle/>
          <a:p>
            <a:r>
              <a:rPr lang="en-IN" dirty="0"/>
              <a:t>AWADDR</a:t>
            </a:r>
          </a:p>
        </p:txBody>
      </p:sp>
      <p:cxnSp>
        <p:nvCxnSpPr>
          <p:cNvPr id="41" name="Straight Arrow Connector 40">
            <a:extLst>
              <a:ext uri="{FF2B5EF4-FFF2-40B4-BE49-F238E27FC236}">
                <a16:creationId xmlns:a16="http://schemas.microsoft.com/office/drawing/2014/main" id="{4AFE8953-C1DB-CC4A-D982-7212881B1D3C}"/>
              </a:ext>
            </a:extLst>
          </p:cNvPr>
          <p:cNvCxnSpPr>
            <a:cxnSpLocks/>
          </p:cNvCxnSpPr>
          <p:nvPr/>
        </p:nvCxnSpPr>
        <p:spPr>
          <a:xfrm>
            <a:off x="7375470" y="5361175"/>
            <a:ext cx="2441664" cy="0"/>
          </a:xfrm>
          <a:prstGeom prst="straightConnector1">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78AA8797-D5B7-E44B-82A8-40708B8C1435}"/>
              </a:ext>
            </a:extLst>
          </p:cNvPr>
          <p:cNvSpPr txBox="1"/>
          <p:nvPr/>
        </p:nvSpPr>
        <p:spPr>
          <a:xfrm>
            <a:off x="7826792" y="5002918"/>
            <a:ext cx="1592615" cy="369332"/>
          </a:xfrm>
          <a:prstGeom prst="rect">
            <a:avLst/>
          </a:prstGeom>
          <a:noFill/>
        </p:spPr>
        <p:txBody>
          <a:bodyPr wrap="none" rtlCol="0">
            <a:spAutoFit/>
          </a:bodyPr>
          <a:lstStyle/>
          <a:p>
            <a:r>
              <a:rPr lang="en-IN" b="1" dirty="0" err="1">
                <a:solidFill>
                  <a:schemeClr val="accent2">
                    <a:lumMod val="75000"/>
                  </a:schemeClr>
                </a:solidFill>
              </a:rPr>
              <a:t>mbox_unlock</a:t>
            </a:r>
            <a:endParaRPr lang="en-IN" b="1" dirty="0">
              <a:solidFill>
                <a:schemeClr val="accent2">
                  <a:lumMod val="75000"/>
                </a:schemeClr>
              </a:solidFill>
            </a:endParaRPr>
          </a:p>
        </p:txBody>
      </p:sp>
      <p:cxnSp>
        <p:nvCxnSpPr>
          <p:cNvPr id="4" name="Straight Arrow Connector 3">
            <a:extLst>
              <a:ext uri="{FF2B5EF4-FFF2-40B4-BE49-F238E27FC236}">
                <a16:creationId xmlns:a16="http://schemas.microsoft.com/office/drawing/2014/main" id="{A274CA8F-9517-FFEC-1518-BC6E4BCD9C6C}"/>
              </a:ext>
            </a:extLst>
          </p:cNvPr>
          <p:cNvCxnSpPr>
            <a:cxnSpLocks/>
          </p:cNvCxnSpPr>
          <p:nvPr/>
        </p:nvCxnSpPr>
        <p:spPr>
          <a:xfrm>
            <a:off x="760379" y="3561016"/>
            <a:ext cx="4490776" cy="31722"/>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7843940A-39EA-3C49-422A-137341B1D16A}"/>
              </a:ext>
            </a:extLst>
          </p:cNvPr>
          <p:cNvSpPr txBox="1"/>
          <p:nvPr/>
        </p:nvSpPr>
        <p:spPr>
          <a:xfrm>
            <a:off x="1286075" y="3205104"/>
            <a:ext cx="1695977" cy="646331"/>
          </a:xfrm>
          <a:prstGeom prst="rect">
            <a:avLst/>
          </a:prstGeom>
          <a:noFill/>
        </p:spPr>
        <p:txBody>
          <a:bodyPr wrap="none" rtlCol="0">
            <a:spAutoFit/>
          </a:bodyPr>
          <a:lstStyle/>
          <a:p>
            <a:r>
              <a:rPr lang="en-IN" dirty="0" err="1"/>
              <a:t>soc_req_wdata</a:t>
            </a:r>
            <a:endParaRPr lang="en-IN" dirty="0"/>
          </a:p>
          <a:p>
            <a:endParaRPr lang="en-IN" dirty="0"/>
          </a:p>
        </p:txBody>
      </p:sp>
    </p:spTree>
    <p:extLst>
      <p:ext uri="{BB962C8B-B14F-4D97-AF65-F5344CB8AC3E}">
        <p14:creationId xmlns:p14="http://schemas.microsoft.com/office/powerpoint/2010/main" val="4352838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9BD89-2BC4-5CEF-83C1-F9BC8BA167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4DEBD7-663B-30D5-3BAE-0F6066045DFD}"/>
              </a:ext>
            </a:extLst>
          </p:cNvPr>
          <p:cNvSpPr>
            <a:spLocks noGrp="1"/>
          </p:cNvSpPr>
          <p:nvPr>
            <p:ph idx="1"/>
          </p:nvPr>
        </p:nvSpPr>
        <p:spPr>
          <a:xfrm>
            <a:off x="521898" y="1250531"/>
            <a:ext cx="10515600" cy="4351338"/>
          </a:xfrm>
        </p:spPr>
        <p:txBody>
          <a:bodyPr vert="horz" lIns="91440" tIns="45720" rIns="91440" bIns="45720" rtlCol="0" anchor="t">
            <a:normAutofit/>
          </a:bodyPr>
          <a:lstStyle/>
          <a:p>
            <a:r>
              <a:rPr lang="en-IN" sz="2400" b="1">
                <a:latin typeface="Calibri" panose="020F0502020204030204" pitchFamily="34" charset="0"/>
                <a:ea typeface="Calibri" panose="020F0502020204030204" pitchFamily="34" charset="0"/>
                <a:cs typeface="Calibri" panose="020F0502020204030204" pitchFamily="34" charset="0"/>
              </a:rPr>
              <a:t>Gray Code:</a:t>
            </a:r>
            <a:r>
              <a:rPr lang="en-IN" sz="2400">
                <a:latin typeface="Calibri" panose="020F0502020204030204" pitchFamily="34" charset="0"/>
                <a:ea typeface="Calibri" panose="020F0502020204030204" pitchFamily="34" charset="0"/>
                <a:cs typeface="Calibri" panose="020F0502020204030204" pitchFamily="34" charset="0"/>
              </a:rPr>
              <a:t>  We can Apply on </a:t>
            </a:r>
            <a:r>
              <a:rPr lang="en-IN" sz="2400" b="1">
                <a:solidFill>
                  <a:schemeClr val="accent3"/>
                </a:solidFill>
                <a:latin typeface="Calibri" panose="020F0502020204030204" pitchFamily="34" charset="0"/>
                <a:ea typeface="Calibri" panose="020F0502020204030204" pitchFamily="34" charset="0"/>
                <a:cs typeface="Calibri" panose="020F0502020204030204" pitchFamily="34" charset="0"/>
              </a:rPr>
              <a:t>FSM state encoding or asynchronous pointer/address crossing</a:t>
            </a:r>
            <a:r>
              <a:rPr lang="en-IN" sz="2400">
                <a:latin typeface="Calibri" panose="020F0502020204030204" pitchFamily="34" charset="0"/>
                <a:ea typeface="Calibri" panose="020F0502020204030204" pitchFamily="34" charset="0"/>
                <a:cs typeface="Calibri" panose="020F0502020204030204" pitchFamily="34" charset="0"/>
              </a:rPr>
              <a:t> in the AXI4-to-AHB-Lite bridge to reduce switching and avoid metastability.</a:t>
            </a:r>
          </a:p>
          <a:p>
            <a:r>
              <a:rPr lang="en-IN" sz="2400" b="1">
                <a:latin typeface="Calibri" panose="020F0502020204030204" pitchFamily="34" charset="0"/>
                <a:ea typeface="Calibri" panose="020F0502020204030204" pitchFamily="34" charset="0"/>
                <a:cs typeface="Calibri" panose="020F0502020204030204" pitchFamily="34" charset="0"/>
              </a:rPr>
              <a:t>Bus Inversion:</a:t>
            </a:r>
            <a:r>
              <a:rPr lang="en-IN" sz="2400">
                <a:latin typeface="Calibri" panose="020F0502020204030204" pitchFamily="34" charset="0"/>
                <a:ea typeface="Calibri" panose="020F0502020204030204" pitchFamily="34" charset="0"/>
                <a:cs typeface="Calibri" panose="020F0502020204030204" pitchFamily="34" charset="0"/>
              </a:rPr>
              <a:t> Apply on AHB address/data buses </a:t>
            </a:r>
            <a:r>
              <a:rPr lang="en-IN" sz="2400" b="1">
                <a:solidFill>
                  <a:schemeClr val="accent3"/>
                </a:solidFill>
                <a:latin typeface="Calibri" panose="020F0502020204030204" pitchFamily="34" charset="0"/>
                <a:ea typeface="Calibri" panose="020F0502020204030204" pitchFamily="34" charset="0"/>
                <a:cs typeface="Calibri" panose="020F0502020204030204" pitchFamily="34" charset="0"/>
              </a:rPr>
              <a:t>(HADDR, HWDATA)</a:t>
            </a:r>
            <a:r>
              <a:rPr lang="en-IN" sz="2400">
                <a:solidFill>
                  <a:schemeClr val="accent3"/>
                </a:solidFill>
                <a:latin typeface="Calibri" panose="020F0502020204030204" pitchFamily="34" charset="0"/>
                <a:ea typeface="Calibri" panose="020F0502020204030204" pitchFamily="34" charset="0"/>
                <a:cs typeface="Calibri" panose="020F0502020204030204" pitchFamily="34" charset="0"/>
              </a:rPr>
              <a:t> </a:t>
            </a:r>
            <a:r>
              <a:rPr lang="en-IN" sz="2400">
                <a:latin typeface="Calibri" panose="020F0502020204030204" pitchFamily="34" charset="0"/>
                <a:ea typeface="Calibri" panose="020F0502020204030204" pitchFamily="34" charset="0"/>
                <a:cs typeface="Calibri" panose="020F0502020204030204" pitchFamily="34" charset="0"/>
              </a:rPr>
              <a:t>before transmission to reduce bit transitions and dynamic power.</a:t>
            </a:r>
          </a:p>
          <a:p>
            <a:r>
              <a:rPr lang="en-IN" sz="2400" b="1">
                <a:latin typeface="Calibri" panose="020F0502020204030204" pitchFamily="34" charset="0"/>
                <a:ea typeface="Calibri" panose="020F0502020204030204" pitchFamily="34" charset="0"/>
                <a:cs typeface="Calibri" panose="020F0502020204030204" pitchFamily="34" charset="0"/>
              </a:rPr>
              <a:t>Transition Inversion (T0 Coding):</a:t>
            </a:r>
            <a:r>
              <a:rPr lang="en-IN" sz="2400">
                <a:latin typeface="Calibri" panose="020F0502020204030204" pitchFamily="34" charset="0"/>
                <a:ea typeface="Calibri" panose="020F0502020204030204" pitchFamily="34" charset="0"/>
                <a:cs typeface="Calibri" panose="020F0502020204030204" pitchFamily="34" charset="0"/>
              </a:rPr>
              <a:t> Apply on </a:t>
            </a:r>
            <a:r>
              <a:rPr lang="en-IN" sz="2400" b="1">
                <a:solidFill>
                  <a:schemeClr val="accent3"/>
                </a:solidFill>
                <a:latin typeface="Calibri" panose="020F0502020204030204" pitchFamily="34" charset="0"/>
                <a:ea typeface="Calibri" panose="020F0502020204030204" pitchFamily="34" charset="0"/>
                <a:cs typeface="Calibri" panose="020F0502020204030204" pitchFamily="34" charset="0"/>
              </a:rPr>
              <a:t>sequential address transfers </a:t>
            </a:r>
            <a:r>
              <a:rPr lang="en-IN" sz="2400">
                <a:latin typeface="Calibri" panose="020F0502020204030204" pitchFamily="34" charset="0"/>
                <a:ea typeface="Calibri" panose="020F0502020204030204" pitchFamily="34" charset="0"/>
                <a:cs typeface="Calibri" panose="020F0502020204030204" pitchFamily="34" charset="0"/>
              </a:rPr>
              <a:t>in the AHB interface to minimize transitions when addresses increase consecutively (burst transfers). But in this case address is incremented by 4 so T0 encoding is not possible.</a:t>
            </a:r>
            <a:endParaRPr lang="en-US" sz="240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6DED997D-B828-3830-8B11-6742AECDFE33}"/>
              </a:ext>
            </a:extLst>
          </p:cNvPr>
          <p:cNvSpPr>
            <a:spLocks noGrp="1"/>
          </p:cNvSpPr>
          <p:nvPr>
            <p:ph type="title"/>
          </p:nvPr>
        </p:nvSpPr>
        <p:spPr>
          <a:xfrm>
            <a:off x="0" y="1"/>
            <a:ext cx="12192000" cy="677332"/>
          </a:xfrm>
          <a:solidFill>
            <a:schemeClr val="accent6"/>
          </a:solidFill>
        </p:spPr>
        <p:txBody>
          <a:bodyPr>
            <a:normAutofit/>
          </a:bodyPr>
          <a:lstStyle/>
          <a:p>
            <a:pPr algn="ctr"/>
            <a:r>
              <a:rPr lang="en-US" sz="3200">
                <a:latin typeface="Calibri" panose="020F0502020204030204" pitchFamily="34" charset="0"/>
                <a:ea typeface="Calibri" panose="020F0502020204030204" pitchFamily="34" charset="0"/>
                <a:cs typeface="Calibri" panose="020F0502020204030204" pitchFamily="34" charset="0"/>
              </a:rPr>
              <a:t>Introduction</a:t>
            </a:r>
          </a:p>
        </p:txBody>
      </p:sp>
      <p:sp>
        <p:nvSpPr>
          <p:cNvPr id="2" name="Slide Number Placeholder 1">
            <a:extLst>
              <a:ext uri="{FF2B5EF4-FFF2-40B4-BE49-F238E27FC236}">
                <a16:creationId xmlns:a16="http://schemas.microsoft.com/office/drawing/2014/main" id="{29727D55-A26F-3070-2734-27566590A1BB}"/>
              </a:ext>
            </a:extLst>
          </p:cNvPr>
          <p:cNvSpPr>
            <a:spLocks noGrp="1"/>
          </p:cNvSpPr>
          <p:nvPr>
            <p:ph type="sldNum" sz="quarter" idx="12"/>
          </p:nvPr>
        </p:nvSpPr>
        <p:spPr/>
        <p:txBody>
          <a:bodyPr/>
          <a:lstStyle/>
          <a:p>
            <a:fld id="{330EA680-D336-4FF7-8B7A-9848BB0A1C32}" type="slidenum">
              <a:rPr lang="en-US" smtClean="0"/>
              <a:t>78</a:t>
            </a:fld>
            <a:endParaRPr lang="en-US"/>
          </a:p>
        </p:txBody>
      </p:sp>
    </p:spTree>
    <p:extLst>
      <p:ext uri="{BB962C8B-B14F-4D97-AF65-F5344CB8AC3E}">
        <p14:creationId xmlns:p14="http://schemas.microsoft.com/office/powerpoint/2010/main" val="37246764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8669C-4729-A854-71F8-5380151790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C09CEF-F303-059E-239F-171983BDC2ED}"/>
              </a:ext>
            </a:extLst>
          </p:cNvPr>
          <p:cNvSpPr>
            <a:spLocks noGrp="1"/>
          </p:cNvSpPr>
          <p:nvPr>
            <p:ph idx="1"/>
          </p:nvPr>
        </p:nvSpPr>
        <p:spPr>
          <a:xfrm>
            <a:off x="521898" y="1250531"/>
            <a:ext cx="10515600" cy="4351338"/>
          </a:xfrm>
        </p:spPr>
        <p:txBody>
          <a:bodyPr vert="horz" lIns="91440" tIns="45720" rIns="91440" bIns="45720" rtlCol="0" anchor="t">
            <a:normAutofit/>
          </a:bodyPr>
          <a:lstStyle/>
          <a:p>
            <a:pPr algn="just"/>
            <a:r>
              <a:rPr lang="en-IN" sz="2400">
                <a:latin typeface="Calibri" panose="020F0502020204030204" pitchFamily="34" charset="0"/>
                <a:ea typeface="Calibri" panose="020F0502020204030204" pitchFamily="34" charset="0"/>
                <a:cs typeface="Calibri" panose="020F0502020204030204" pitchFamily="34" charset="0"/>
              </a:rPr>
              <a:t>We can use </a:t>
            </a:r>
            <a:r>
              <a:rPr lang="en-IN" sz="2400" b="1">
                <a:latin typeface="Calibri" panose="020F0502020204030204" pitchFamily="34" charset="0"/>
                <a:ea typeface="Calibri" panose="020F0502020204030204" pitchFamily="34" charset="0"/>
                <a:cs typeface="Calibri" panose="020F0502020204030204" pitchFamily="34" charset="0"/>
              </a:rPr>
              <a:t>Gray code in the AHB-Lite control FSM</a:t>
            </a:r>
            <a:r>
              <a:rPr lang="en-IN" sz="2400">
                <a:latin typeface="Calibri" panose="020F0502020204030204" pitchFamily="34" charset="0"/>
                <a:ea typeface="Calibri" panose="020F0502020204030204" pitchFamily="34" charset="0"/>
                <a:cs typeface="Calibri" panose="020F0502020204030204" pitchFamily="34" charset="0"/>
              </a:rPr>
              <a:t> by encoding the transaction states (IDLE, DECODE, ACCESS, RESPONSE) such that only one bit changes between consecutive states.</a:t>
            </a:r>
          </a:p>
          <a:p>
            <a:pPr algn="just"/>
            <a:r>
              <a:rPr lang="en-IN" sz="2400">
                <a:latin typeface="Calibri" panose="020F0502020204030204" pitchFamily="34" charset="0"/>
                <a:ea typeface="Calibri" panose="020F0502020204030204" pitchFamily="34" charset="0"/>
                <a:cs typeface="Calibri" panose="020F0502020204030204" pitchFamily="34" charset="0"/>
              </a:rPr>
              <a:t> This reduces switching activity and dynamic power consumption in the control path and minimize glitches during state changes, improving reliability.</a:t>
            </a:r>
          </a:p>
          <a:p>
            <a:pPr marL="0" indent="0" algn="just">
              <a:buNone/>
            </a:pPr>
            <a:endParaRPr lang="en-IN" sz="240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75FAFBC3-EA92-6615-360B-10C6F07E7894}"/>
              </a:ext>
            </a:extLst>
          </p:cNvPr>
          <p:cNvSpPr>
            <a:spLocks noGrp="1"/>
          </p:cNvSpPr>
          <p:nvPr>
            <p:ph type="title"/>
          </p:nvPr>
        </p:nvSpPr>
        <p:spPr>
          <a:xfrm>
            <a:off x="0" y="1"/>
            <a:ext cx="12192000" cy="618066"/>
          </a:xfrm>
          <a:solidFill>
            <a:schemeClr val="accent6"/>
          </a:solidFill>
        </p:spPr>
        <p:txBody>
          <a:bodyPr>
            <a:normAutofit/>
          </a:bodyPr>
          <a:lstStyle/>
          <a:p>
            <a:r>
              <a:rPr lang="en-IN" sz="2800">
                <a:latin typeface="Calibri" panose="020F0502020204030204" pitchFamily="34" charset="0"/>
                <a:ea typeface="Calibri" panose="020F0502020204030204" pitchFamily="34" charset="0"/>
                <a:cs typeface="Calibri" panose="020F0502020204030204" pitchFamily="34" charset="0"/>
              </a:rPr>
              <a:t>                           Gray Code Encoding in AHB-Lite Interface</a:t>
            </a:r>
          </a:p>
        </p:txBody>
      </p:sp>
      <p:sp>
        <p:nvSpPr>
          <p:cNvPr id="4" name="Slide Number Placeholder 3">
            <a:extLst>
              <a:ext uri="{FF2B5EF4-FFF2-40B4-BE49-F238E27FC236}">
                <a16:creationId xmlns:a16="http://schemas.microsoft.com/office/drawing/2014/main" id="{1AB8AAAE-B4DE-E773-61FC-FB462F3F41B4}"/>
              </a:ext>
            </a:extLst>
          </p:cNvPr>
          <p:cNvSpPr>
            <a:spLocks noGrp="1"/>
          </p:cNvSpPr>
          <p:nvPr>
            <p:ph type="sldNum" sz="quarter" idx="12"/>
          </p:nvPr>
        </p:nvSpPr>
        <p:spPr>
          <a:xfrm>
            <a:off x="8611447" y="6356350"/>
            <a:ext cx="2743200" cy="365125"/>
          </a:xfrm>
        </p:spPr>
        <p:txBody>
          <a:bodyPr/>
          <a:lstStyle/>
          <a:p>
            <a:fld id="{330EA680-D336-4FF7-8B7A-9848BB0A1C32}" type="slidenum">
              <a:rPr lang="en-US" smtClean="0"/>
              <a:t>79</a:t>
            </a:fld>
            <a:endParaRPr lang="en-US"/>
          </a:p>
        </p:txBody>
      </p:sp>
      <p:sp>
        <p:nvSpPr>
          <p:cNvPr id="2" name="Rectangle 1">
            <a:extLst>
              <a:ext uri="{FF2B5EF4-FFF2-40B4-BE49-F238E27FC236}">
                <a16:creationId xmlns:a16="http://schemas.microsoft.com/office/drawing/2014/main" id="{03A3BAF3-D69A-3F7C-A5A4-B02F7169B4BB}"/>
              </a:ext>
            </a:extLst>
          </p:cNvPr>
          <p:cNvSpPr/>
          <p:nvPr/>
        </p:nvSpPr>
        <p:spPr>
          <a:xfrm>
            <a:off x="712238" y="3627603"/>
            <a:ext cx="10835590" cy="17833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a:p>
            <a:pPr algn="ctr"/>
            <a:endParaRPr lang="en-IN"/>
          </a:p>
        </p:txBody>
      </p:sp>
      <p:sp>
        <p:nvSpPr>
          <p:cNvPr id="6" name="Rectangle: Rounded Corners 5">
            <a:extLst>
              <a:ext uri="{FF2B5EF4-FFF2-40B4-BE49-F238E27FC236}">
                <a16:creationId xmlns:a16="http://schemas.microsoft.com/office/drawing/2014/main" id="{F5E99F2A-B83C-8A12-28F2-277BF55E1B34}"/>
              </a:ext>
            </a:extLst>
          </p:cNvPr>
          <p:cNvSpPr/>
          <p:nvPr/>
        </p:nvSpPr>
        <p:spPr>
          <a:xfrm>
            <a:off x="1340313" y="4099812"/>
            <a:ext cx="2059709" cy="774700"/>
          </a:xfrm>
          <a:prstGeom prst="roundRect">
            <a:avLst/>
          </a:prstGeom>
          <a:solidFill>
            <a:schemeClr val="bg2">
              <a:lumMod val="9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r>
              <a:rPr lang="en-IN"/>
              <a:t>AHB Initiator</a:t>
            </a:r>
          </a:p>
        </p:txBody>
      </p:sp>
      <p:sp>
        <p:nvSpPr>
          <p:cNvPr id="7" name="Rectangle: Rounded Corners 6">
            <a:extLst>
              <a:ext uri="{FF2B5EF4-FFF2-40B4-BE49-F238E27FC236}">
                <a16:creationId xmlns:a16="http://schemas.microsoft.com/office/drawing/2014/main" id="{CF47E520-16ED-9B14-9ADD-B97C4DC238AA}"/>
              </a:ext>
            </a:extLst>
          </p:cNvPr>
          <p:cNvSpPr/>
          <p:nvPr/>
        </p:nvSpPr>
        <p:spPr>
          <a:xfrm>
            <a:off x="3737150" y="4099812"/>
            <a:ext cx="2059709" cy="774700"/>
          </a:xfrm>
          <a:prstGeom prst="roundRect">
            <a:avLst/>
          </a:prstGeom>
          <a:solidFill>
            <a:schemeClr val="tx2">
              <a:lumMod val="10000"/>
              <a:lumOff val="90000"/>
            </a:schemeClr>
          </a:solidFill>
        </p:spPr>
        <p:style>
          <a:lnRef idx="2">
            <a:schemeClr val="accent3"/>
          </a:lnRef>
          <a:fillRef idx="1">
            <a:schemeClr val="lt1"/>
          </a:fillRef>
          <a:effectRef idx="0">
            <a:schemeClr val="accent3"/>
          </a:effectRef>
          <a:fontRef idx="minor">
            <a:schemeClr val="dk1"/>
          </a:fontRef>
        </p:style>
        <p:txBody>
          <a:bodyPr rtlCol="0" anchor="ctr"/>
          <a:lstStyle/>
          <a:p>
            <a:pPr algn="ctr"/>
            <a:r>
              <a:rPr lang="en-IN"/>
              <a:t>Address Decoder </a:t>
            </a:r>
          </a:p>
          <a:p>
            <a:pPr algn="ctr"/>
            <a:r>
              <a:rPr lang="en-IN"/>
              <a:t>(Existing Code)</a:t>
            </a:r>
          </a:p>
        </p:txBody>
      </p:sp>
      <p:sp>
        <p:nvSpPr>
          <p:cNvPr id="8" name="Rectangle: Rounded Corners 7">
            <a:extLst>
              <a:ext uri="{FF2B5EF4-FFF2-40B4-BE49-F238E27FC236}">
                <a16:creationId xmlns:a16="http://schemas.microsoft.com/office/drawing/2014/main" id="{D0CD54AB-23ED-8D60-E63E-09FBD4DB0DB9}"/>
              </a:ext>
            </a:extLst>
          </p:cNvPr>
          <p:cNvSpPr/>
          <p:nvPr/>
        </p:nvSpPr>
        <p:spPr>
          <a:xfrm>
            <a:off x="6133987" y="4099812"/>
            <a:ext cx="2059709" cy="774700"/>
          </a:xfrm>
          <a:prstGeom prst="roundRect">
            <a:avLst/>
          </a:prstGeom>
          <a:solidFill>
            <a:schemeClr val="accent6">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en-IN"/>
              <a:t>Control FSM</a:t>
            </a:r>
          </a:p>
          <a:p>
            <a:pPr algn="ctr"/>
            <a:r>
              <a:rPr lang="en-IN"/>
              <a:t>(Gray Code)</a:t>
            </a:r>
          </a:p>
        </p:txBody>
      </p:sp>
      <p:cxnSp>
        <p:nvCxnSpPr>
          <p:cNvPr id="18" name="Connector: Elbow 17">
            <a:extLst>
              <a:ext uri="{FF2B5EF4-FFF2-40B4-BE49-F238E27FC236}">
                <a16:creationId xmlns:a16="http://schemas.microsoft.com/office/drawing/2014/main" id="{40E2E9C9-737F-F030-6F78-048C23FAE93F}"/>
              </a:ext>
            </a:extLst>
          </p:cNvPr>
          <p:cNvCxnSpPr>
            <a:cxnSpLocks/>
            <a:stCxn id="8" idx="3"/>
          </p:cNvCxnSpPr>
          <p:nvPr/>
        </p:nvCxnSpPr>
        <p:spPr>
          <a:xfrm flipV="1">
            <a:off x="8193696" y="4015242"/>
            <a:ext cx="1597889" cy="47192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7600EC3-C850-BEB9-E389-313139BB3C2E}"/>
              </a:ext>
            </a:extLst>
          </p:cNvPr>
          <p:cNvCxnSpPr>
            <a:cxnSpLocks/>
          </p:cNvCxnSpPr>
          <p:nvPr/>
        </p:nvCxnSpPr>
        <p:spPr>
          <a:xfrm>
            <a:off x="8272201" y="4487160"/>
            <a:ext cx="15193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Connector: Elbow 25">
            <a:extLst>
              <a:ext uri="{FF2B5EF4-FFF2-40B4-BE49-F238E27FC236}">
                <a16:creationId xmlns:a16="http://schemas.microsoft.com/office/drawing/2014/main" id="{4701C935-3D82-303F-5EEC-AF137AC96A9C}"/>
              </a:ext>
            </a:extLst>
          </p:cNvPr>
          <p:cNvCxnSpPr>
            <a:cxnSpLocks/>
          </p:cNvCxnSpPr>
          <p:nvPr/>
        </p:nvCxnSpPr>
        <p:spPr>
          <a:xfrm>
            <a:off x="8162744" y="4489949"/>
            <a:ext cx="1659793" cy="56592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909E9D68-6E81-FB81-244F-312B6A047759}"/>
              </a:ext>
            </a:extLst>
          </p:cNvPr>
          <p:cNvSpPr txBox="1"/>
          <p:nvPr/>
        </p:nvSpPr>
        <p:spPr>
          <a:xfrm>
            <a:off x="8988160" y="3759547"/>
            <a:ext cx="803425" cy="307777"/>
          </a:xfrm>
          <a:prstGeom prst="rect">
            <a:avLst/>
          </a:prstGeom>
          <a:noFill/>
        </p:spPr>
        <p:txBody>
          <a:bodyPr wrap="none" rtlCol="0">
            <a:spAutoFit/>
          </a:bodyPr>
          <a:lstStyle/>
          <a:p>
            <a:r>
              <a:rPr lang="en-IN" sz="1400"/>
              <a:t>HSEL[0]</a:t>
            </a:r>
          </a:p>
        </p:txBody>
      </p:sp>
      <p:sp>
        <p:nvSpPr>
          <p:cNvPr id="37" name="TextBox 36">
            <a:extLst>
              <a:ext uri="{FF2B5EF4-FFF2-40B4-BE49-F238E27FC236}">
                <a16:creationId xmlns:a16="http://schemas.microsoft.com/office/drawing/2014/main" id="{93FFAA14-C83F-B030-9797-01FE6443DB88}"/>
              </a:ext>
            </a:extLst>
          </p:cNvPr>
          <p:cNvSpPr txBox="1"/>
          <p:nvPr/>
        </p:nvSpPr>
        <p:spPr>
          <a:xfrm>
            <a:off x="8985189" y="4196214"/>
            <a:ext cx="925586" cy="307777"/>
          </a:xfrm>
          <a:prstGeom prst="rect">
            <a:avLst/>
          </a:prstGeom>
          <a:noFill/>
        </p:spPr>
        <p:txBody>
          <a:bodyPr wrap="square">
            <a:spAutoFit/>
          </a:bodyPr>
          <a:lstStyle/>
          <a:p>
            <a:r>
              <a:rPr lang="en-IN" sz="1400"/>
              <a:t>HSEL[1]</a:t>
            </a:r>
          </a:p>
        </p:txBody>
      </p:sp>
      <p:sp>
        <p:nvSpPr>
          <p:cNvPr id="38" name="TextBox 37">
            <a:extLst>
              <a:ext uri="{FF2B5EF4-FFF2-40B4-BE49-F238E27FC236}">
                <a16:creationId xmlns:a16="http://schemas.microsoft.com/office/drawing/2014/main" id="{F6A0EAC3-16F9-4B6D-9ABB-9FC0C9FD3F52}"/>
              </a:ext>
            </a:extLst>
          </p:cNvPr>
          <p:cNvSpPr txBox="1"/>
          <p:nvPr/>
        </p:nvSpPr>
        <p:spPr>
          <a:xfrm>
            <a:off x="8957702" y="4761770"/>
            <a:ext cx="833883" cy="307777"/>
          </a:xfrm>
          <a:prstGeom prst="rect">
            <a:avLst/>
          </a:prstGeom>
          <a:noFill/>
        </p:spPr>
        <p:txBody>
          <a:bodyPr wrap="none" rtlCol="0">
            <a:spAutoFit/>
          </a:bodyPr>
          <a:lstStyle/>
          <a:p>
            <a:r>
              <a:rPr lang="en-IN" sz="1400"/>
              <a:t>HSEL[N]</a:t>
            </a:r>
          </a:p>
        </p:txBody>
      </p:sp>
      <p:sp>
        <p:nvSpPr>
          <p:cNvPr id="39" name="Rectangle 38">
            <a:extLst>
              <a:ext uri="{FF2B5EF4-FFF2-40B4-BE49-F238E27FC236}">
                <a16:creationId xmlns:a16="http://schemas.microsoft.com/office/drawing/2014/main" id="{1E26DF18-BCFD-A534-DEBD-614BEE9D9C2C}"/>
              </a:ext>
            </a:extLst>
          </p:cNvPr>
          <p:cNvSpPr/>
          <p:nvPr/>
        </p:nvSpPr>
        <p:spPr>
          <a:xfrm>
            <a:off x="9791585" y="3848032"/>
            <a:ext cx="1563062" cy="30777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a:t>Responder 0</a:t>
            </a:r>
          </a:p>
        </p:txBody>
      </p:sp>
      <p:sp>
        <p:nvSpPr>
          <p:cNvPr id="40" name="Rectangle 39">
            <a:extLst>
              <a:ext uri="{FF2B5EF4-FFF2-40B4-BE49-F238E27FC236}">
                <a16:creationId xmlns:a16="http://schemas.microsoft.com/office/drawing/2014/main" id="{E02B2C43-C0DF-E7B1-EA07-28AE4B0A5D85}"/>
              </a:ext>
            </a:extLst>
          </p:cNvPr>
          <p:cNvSpPr/>
          <p:nvPr/>
        </p:nvSpPr>
        <p:spPr>
          <a:xfrm>
            <a:off x="9791585" y="4333272"/>
            <a:ext cx="1563062" cy="30777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a:t>Responder 1</a:t>
            </a:r>
          </a:p>
        </p:txBody>
      </p:sp>
      <p:sp>
        <p:nvSpPr>
          <p:cNvPr id="41" name="Rectangle 40">
            <a:extLst>
              <a:ext uri="{FF2B5EF4-FFF2-40B4-BE49-F238E27FC236}">
                <a16:creationId xmlns:a16="http://schemas.microsoft.com/office/drawing/2014/main" id="{8DE81232-CA26-0D61-F9FA-D3D44CE783DA}"/>
              </a:ext>
            </a:extLst>
          </p:cNvPr>
          <p:cNvSpPr/>
          <p:nvPr/>
        </p:nvSpPr>
        <p:spPr>
          <a:xfrm>
            <a:off x="9781650" y="4898323"/>
            <a:ext cx="1563062" cy="3077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a:t>Responder N</a:t>
            </a:r>
          </a:p>
        </p:txBody>
      </p:sp>
      <p:sp>
        <p:nvSpPr>
          <p:cNvPr id="42" name="TextBox 41">
            <a:extLst>
              <a:ext uri="{FF2B5EF4-FFF2-40B4-BE49-F238E27FC236}">
                <a16:creationId xmlns:a16="http://schemas.microsoft.com/office/drawing/2014/main" id="{3F2F0B05-59F4-35CD-376E-51E5A92F58E4}"/>
              </a:ext>
            </a:extLst>
          </p:cNvPr>
          <p:cNvSpPr txBox="1"/>
          <p:nvPr/>
        </p:nvSpPr>
        <p:spPr>
          <a:xfrm>
            <a:off x="3959258" y="5704746"/>
            <a:ext cx="3892989" cy="369332"/>
          </a:xfrm>
          <a:prstGeom prst="rect">
            <a:avLst/>
          </a:prstGeom>
          <a:noFill/>
        </p:spPr>
        <p:txBody>
          <a:bodyPr wrap="none" rtlCol="0">
            <a:spAutoFit/>
          </a:bodyPr>
          <a:lstStyle/>
          <a:p>
            <a:r>
              <a:rPr lang="en-IN"/>
              <a:t>Fig 1. Gray Code in AHB-Lite Interface</a:t>
            </a:r>
          </a:p>
        </p:txBody>
      </p:sp>
      <p:cxnSp>
        <p:nvCxnSpPr>
          <p:cNvPr id="44" name="Straight Arrow Connector 43">
            <a:extLst>
              <a:ext uri="{FF2B5EF4-FFF2-40B4-BE49-F238E27FC236}">
                <a16:creationId xmlns:a16="http://schemas.microsoft.com/office/drawing/2014/main" id="{55EDEB74-D349-CDBD-B73A-CECBA6896F3F}"/>
              </a:ext>
            </a:extLst>
          </p:cNvPr>
          <p:cNvCxnSpPr>
            <a:cxnSpLocks/>
          </p:cNvCxnSpPr>
          <p:nvPr/>
        </p:nvCxnSpPr>
        <p:spPr>
          <a:xfrm>
            <a:off x="3402103" y="4513720"/>
            <a:ext cx="323503" cy="5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5F6BF3EE-3AA9-E3CC-0DD6-6CB02092A633}"/>
              </a:ext>
            </a:extLst>
          </p:cNvPr>
          <p:cNvCxnSpPr>
            <a:endCxn id="8" idx="1"/>
          </p:cNvCxnSpPr>
          <p:nvPr/>
        </p:nvCxnSpPr>
        <p:spPr>
          <a:xfrm>
            <a:off x="5796859" y="4487160"/>
            <a:ext cx="337128" cy="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87291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99A7A-B77A-C493-42F2-3ED1A4E8E5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046181-60A3-D6F4-FB21-1B7979EEAF5C}"/>
              </a:ext>
            </a:extLst>
          </p:cNvPr>
          <p:cNvSpPr>
            <a:spLocks noGrp="1"/>
          </p:cNvSpPr>
          <p:nvPr>
            <p:ph idx="1"/>
          </p:nvPr>
        </p:nvSpPr>
        <p:spPr>
          <a:xfrm>
            <a:off x="73891" y="0"/>
            <a:ext cx="11679404" cy="6356350"/>
          </a:xfrm>
        </p:spPr>
        <p:txBody>
          <a:bodyPr vert="horz" lIns="91440" tIns="45720" rIns="91440" bIns="45720" rtlCol="0" anchor="t">
            <a:noAutofit/>
          </a:bodyPr>
          <a:lstStyle/>
          <a:p>
            <a:pPr marL="0" indent="0">
              <a:buNone/>
            </a:pPr>
            <a:endParaRPr lang="en-IN"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400" b="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sz="2400" b="1" dirty="0">
                <a:latin typeface="Calibri" panose="020F0502020204030204" pitchFamily="34" charset="0"/>
                <a:ea typeface="Calibri" panose="020F0502020204030204" pitchFamily="34" charset="0"/>
                <a:cs typeface="Calibri" panose="020F0502020204030204" pitchFamily="34" charset="0"/>
              </a:rPr>
              <a:t>Step 1:</a:t>
            </a:r>
            <a:r>
              <a:rPr lang="en-IN" sz="2400" dirty="0">
                <a:latin typeface="Calibri" panose="020F0502020204030204" pitchFamily="34" charset="0"/>
                <a:ea typeface="Calibri" panose="020F0502020204030204" pitchFamily="34" charset="0"/>
                <a:cs typeface="Calibri" panose="020F0502020204030204" pitchFamily="34" charset="0"/>
              </a:rPr>
              <a:t> AHB transaction starts when HTRANS = NONSEQ and a valid address arrives.</a:t>
            </a:r>
          </a:p>
          <a:p>
            <a:pPr marL="0" indent="0">
              <a:buNone/>
            </a:pPr>
            <a:r>
              <a:rPr lang="en-IN" sz="2400" b="1" dirty="0">
                <a:latin typeface="Calibri" panose="020F0502020204030204" pitchFamily="34" charset="0"/>
                <a:ea typeface="Calibri" panose="020F0502020204030204" pitchFamily="34" charset="0"/>
                <a:cs typeface="Calibri" panose="020F0502020204030204" pitchFamily="34" charset="0"/>
              </a:rPr>
              <a:t>Step 2:</a:t>
            </a:r>
            <a:r>
              <a:rPr lang="en-IN" sz="2400" dirty="0">
                <a:latin typeface="Calibri" panose="020F0502020204030204" pitchFamily="34" charset="0"/>
                <a:ea typeface="Calibri" panose="020F0502020204030204" pitchFamily="34" charset="0"/>
                <a:cs typeface="Calibri" panose="020F0502020204030204" pitchFamily="34" charset="0"/>
              </a:rPr>
              <a:t> The controller enters a Gray-coded FSM state:</a:t>
            </a:r>
          </a:p>
          <a:p>
            <a:pPr marL="0" indent="0" algn="ctr">
              <a:buNone/>
            </a:pPr>
            <a:r>
              <a:rPr lang="en-IN" sz="2400" dirty="0">
                <a:latin typeface="Calibri" panose="020F0502020204030204" pitchFamily="34" charset="0"/>
                <a:ea typeface="Calibri" panose="020F0502020204030204" pitchFamily="34" charset="0"/>
                <a:cs typeface="Calibri" panose="020F0502020204030204" pitchFamily="34" charset="0"/>
              </a:rPr>
              <a:t>IDLE = 00</a:t>
            </a:r>
          </a:p>
          <a:p>
            <a:pPr marL="0" indent="0" algn="ctr">
              <a:buNone/>
            </a:pPr>
            <a:r>
              <a:rPr lang="en-IN" sz="2400" dirty="0">
                <a:latin typeface="Calibri" panose="020F0502020204030204" pitchFamily="34" charset="0"/>
                <a:ea typeface="Calibri" panose="020F0502020204030204" pitchFamily="34" charset="0"/>
                <a:cs typeface="Calibri" panose="020F0502020204030204" pitchFamily="34" charset="0"/>
              </a:rPr>
              <a:t>BUSY = 01</a:t>
            </a:r>
          </a:p>
          <a:p>
            <a:pPr marL="0" indent="0" algn="ctr">
              <a:buNone/>
            </a:pPr>
            <a:r>
              <a:rPr lang="en-IN" sz="2400" dirty="0">
                <a:latin typeface="Calibri" panose="020F0502020204030204" pitchFamily="34" charset="0"/>
                <a:ea typeface="Calibri" panose="020F0502020204030204" pitchFamily="34" charset="0"/>
                <a:cs typeface="Calibri" panose="020F0502020204030204" pitchFamily="34" charset="0"/>
              </a:rPr>
              <a:t>NON SEQ  = 1</a:t>
            </a:r>
          </a:p>
          <a:p>
            <a:pPr marL="0" indent="0" algn="ctr">
              <a:buNone/>
            </a:pPr>
            <a:r>
              <a:rPr lang="en-IN" sz="2400" dirty="0">
                <a:latin typeface="Calibri" panose="020F0502020204030204" pitchFamily="34" charset="0"/>
                <a:ea typeface="Calibri" panose="020F0502020204030204" pitchFamily="34" charset="0"/>
                <a:cs typeface="Calibri" panose="020F0502020204030204" pitchFamily="34" charset="0"/>
              </a:rPr>
              <a:t>SEQ = 10</a:t>
            </a:r>
          </a:p>
          <a:p>
            <a:pPr marL="0" indent="0">
              <a:buNone/>
            </a:pPr>
            <a:r>
              <a:rPr lang="en-IN" sz="2400" b="1" dirty="0">
                <a:latin typeface="Calibri" panose="020F0502020204030204" pitchFamily="34" charset="0"/>
                <a:ea typeface="Calibri" panose="020F0502020204030204" pitchFamily="34" charset="0"/>
                <a:cs typeface="Calibri" panose="020F0502020204030204" pitchFamily="34" charset="0"/>
              </a:rPr>
              <a:t>Step 3:</a:t>
            </a:r>
            <a:r>
              <a:rPr lang="en-IN" sz="2400" dirty="0">
                <a:latin typeface="Calibri" panose="020F0502020204030204" pitchFamily="34" charset="0"/>
                <a:ea typeface="Calibri" panose="020F0502020204030204" pitchFamily="34" charset="0"/>
                <a:cs typeface="Calibri" panose="020F0502020204030204" pitchFamily="34" charset="0"/>
              </a:rPr>
              <a:t> During transaction processing, the FSM changes as: 00 → 01 → 11 → 10 → 00</a:t>
            </a:r>
          </a:p>
          <a:p>
            <a:pPr marL="0" indent="0">
              <a:buNone/>
            </a:pPr>
            <a:r>
              <a:rPr lang="en-IN" sz="2400" dirty="0">
                <a:latin typeface="Calibri" panose="020F0502020204030204" pitchFamily="34" charset="0"/>
                <a:ea typeface="Calibri" panose="020F0502020204030204" pitchFamily="34" charset="0"/>
                <a:cs typeface="Calibri" panose="020F0502020204030204" pitchFamily="34" charset="0"/>
              </a:rPr>
              <a:t>Only </a:t>
            </a:r>
            <a:r>
              <a:rPr lang="en-IN" sz="2400" b="1" dirty="0">
                <a:latin typeface="Calibri" panose="020F0502020204030204" pitchFamily="34" charset="0"/>
                <a:ea typeface="Calibri" panose="020F0502020204030204" pitchFamily="34" charset="0"/>
                <a:cs typeface="Calibri" panose="020F0502020204030204" pitchFamily="34" charset="0"/>
              </a:rPr>
              <a:t>one bit changes</a:t>
            </a:r>
            <a:r>
              <a:rPr lang="en-IN" sz="2400" dirty="0">
                <a:latin typeface="Calibri" panose="020F0502020204030204" pitchFamily="34" charset="0"/>
                <a:ea typeface="Calibri" panose="020F0502020204030204" pitchFamily="34" charset="0"/>
                <a:cs typeface="Calibri" panose="020F0502020204030204" pitchFamily="34" charset="0"/>
              </a:rPr>
              <a:t> in each transition.</a:t>
            </a:r>
          </a:p>
          <a:p>
            <a:pPr marL="0" indent="0">
              <a:buNone/>
            </a:pPr>
            <a:r>
              <a:rPr lang="en-IN" sz="2400" b="1" dirty="0">
                <a:latin typeface="Calibri" panose="020F0502020204030204" pitchFamily="34" charset="0"/>
                <a:ea typeface="Calibri" panose="020F0502020204030204" pitchFamily="34" charset="0"/>
                <a:cs typeface="Calibri" panose="020F0502020204030204" pitchFamily="34" charset="0"/>
              </a:rPr>
              <a:t>Step 4:</a:t>
            </a:r>
            <a:r>
              <a:rPr lang="en-IN" sz="2400" dirty="0">
                <a:latin typeface="Calibri" panose="020F0502020204030204" pitchFamily="34" charset="0"/>
                <a:ea typeface="Calibri" panose="020F0502020204030204" pitchFamily="34" charset="0"/>
                <a:cs typeface="Calibri" panose="020F0502020204030204" pitchFamily="34" charset="0"/>
              </a:rPr>
              <a:t> The FSM generates control signals such as HSEL, HREADY, and HRESP based on the current state.</a:t>
            </a:r>
          </a:p>
          <a:p>
            <a:pPr marL="0" indent="0">
              <a:buNone/>
            </a:pPr>
            <a:r>
              <a:rPr lang="en-IN" sz="2400" b="1" dirty="0">
                <a:latin typeface="Calibri" panose="020F0502020204030204" pitchFamily="34" charset="0"/>
                <a:ea typeface="Calibri" panose="020F0502020204030204" pitchFamily="34" charset="0"/>
                <a:cs typeface="Calibri" panose="020F0502020204030204" pitchFamily="34" charset="0"/>
              </a:rPr>
              <a:t>Step 5:</a:t>
            </a:r>
            <a:r>
              <a:rPr lang="en-IN" sz="2400" dirty="0">
                <a:latin typeface="Calibri" panose="020F0502020204030204" pitchFamily="34" charset="0"/>
                <a:ea typeface="Calibri" panose="020F0502020204030204" pitchFamily="34" charset="0"/>
                <a:cs typeface="Calibri" panose="020F0502020204030204" pitchFamily="34" charset="0"/>
              </a:rPr>
              <a:t> Because only one bit toggles per state change, switching activity, glitches, and power consumption in the control logic are reduced.</a:t>
            </a:r>
          </a:p>
          <a:p>
            <a:pPr marL="0" indent="0" algn="just">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522A1C06-E633-6786-649E-CCE1680C9EE7}"/>
              </a:ext>
            </a:extLst>
          </p:cNvPr>
          <p:cNvSpPr>
            <a:spLocks noGrp="1"/>
          </p:cNvSpPr>
          <p:nvPr>
            <p:ph type="title"/>
          </p:nvPr>
        </p:nvSpPr>
        <p:spPr>
          <a:xfrm>
            <a:off x="0" y="1"/>
            <a:ext cx="12192000" cy="668866"/>
          </a:xfrm>
          <a:solidFill>
            <a:schemeClr val="accent6"/>
          </a:solidFill>
        </p:spPr>
        <p:txBody>
          <a:bodyPr>
            <a:normAutofit/>
          </a:bodyPr>
          <a:lstStyle/>
          <a:p>
            <a:r>
              <a:rPr lang="en-IN" sz="2800" dirty="0">
                <a:latin typeface="Calibri" panose="020F0502020204030204" pitchFamily="34" charset="0"/>
                <a:ea typeface="Calibri" panose="020F0502020204030204" pitchFamily="34" charset="0"/>
                <a:cs typeface="Calibri" panose="020F0502020204030204" pitchFamily="34" charset="0"/>
              </a:rPr>
              <a:t>                           Gray Code Encoding Steps in AHB-Lite Interface</a:t>
            </a:r>
          </a:p>
        </p:txBody>
      </p:sp>
      <p:sp>
        <p:nvSpPr>
          <p:cNvPr id="4" name="Slide Number Placeholder 3">
            <a:extLst>
              <a:ext uri="{FF2B5EF4-FFF2-40B4-BE49-F238E27FC236}">
                <a16:creationId xmlns:a16="http://schemas.microsoft.com/office/drawing/2014/main" id="{808A9C50-F44C-F94F-822A-6A8D96D4A08E}"/>
              </a:ext>
            </a:extLst>
          </p:cNvPr>
          <p:cNvSpPr>
            <a:spLocks noGrp="1"/>
          </p:cNvSpPr>
          <p:nvPr>
            <p:ph type="sldNum" sz="quarter" idx="12"/>
          </p:nvPr>
        </p:nvSpPr>
        <p:spPr/>
        <p:txBody>
          <a:bodyPr/>
          <a:lstStyle/>
          <a:p>
            <a:fld id="{330EA680-D336-4FF7-8B7A-9848BB0A1C32}" type="slidenum">
              <a:rPr lang="en-US" smtClean="0"/>
              <a:t>80</a:t>
            </a:fld>
            <a:endParaRPr lang="en-US"/>
          </a:p>
        </p:txBody>
      </p:sp>
      <p:pic>
        <p:nvPicPr>
          <p:cNvPr id="6" name="Picture 5">
            <a:extLst>
              <a:ext uri="{FF2B5EF4-FFF2-40B4-BE49-F238E27FC236}">
                <a16:creationId xmlns:a16="http://schemas.microsoft.com/office/drawing/2014/main" id="{99D3F187-B961-A58E-B6DB-58727288335D}"/>
              </a:ext>
            </a:extLst>
          </p:cNvPr>
          <p:cNvPicPr>
            <a:picLocks noChangeAspect="1"/>
          </p:cNvPicPr>
          <p:nvPr/>
        </p:nvPicPr>
        <p:blipFill>
          <a:blip r:embed="rId2"/>
          <a:stretch>
            <a:fillRect/>
          </a:stretch>
        </p:blipFill>
        <p:spPr>
          <a:xfrm>
            <a:off x="7333141" y="2401456"/>
            <a:ext cx="4784968" cy="1193800"/>
          </a:xfrm>
          <a:prstGeom prst="rect">
            <a:avLst/>
          </a:prstGeom>
        </p:spPr>
      </p:pic>
    </p:spTree>
    <p:extLst>
      <p:ext uri="{BB962C8B-B14F-4D97-AF65-F5344CB8AC3E}">
        <p14:creationId xmlns:p14="http://schemas.microsoft.com/office/powerpoint/2010/main" val="16155084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D2CA7-C6A1-91C1-84D8-4803C6DEB2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DAD44F-FA3A-E6AE-88E9-649FB68DF47A}"/>
              </a:ext>
            </a:extLst>
          </p:cNvPr>
          <p:cNvSpPr>
            <a:spLocks noGrp="1"/>
          </p:cNvSpPr>
          <p:nvPr>
            <p:ph idx="1"/>
          </p:nvPr>
        </p:nvSpPr>
        <p:spPr>
          <a:xfrm>
            <a:off x="521898" y="1250531"/>
            <a:ext cx="10515600" cy="4351338"/>
          </a:xfrm>
        </p:spPr>
        <p:txBody>
          <a:bodyPr vert="horz" lIns="91440" tIns="45720" rIns="91440" bIns="45720" rtlCol="0" anchor="t">
            <a:normAutofit/>
          </a:bodyPr>
          <a:lstStyle/>
          <a:p>
            <a:pPr algn="just"/>
            <a:r>
              <a:rPr lang="en-IN" sz="2400">
                <a:latin typeface="Calibri" panose="020F0502020204030204" pitchFamily="34" charset="0"/>
                <a:ea typeface="Calibri" panose="020F0502020204030204" pitchFamily="34" charset="0"/>
                <a:cs typeface="Calibri" panose="020F0502020204030204" pitchFamily="34" charset="0"/>
              </a:rPr>
              <a:t>Bus inversion is used in an AHB-Lite interface mainly to reduce dynamic power consumption caused by frequent switching of wide buses like:</a:t>
            </a:r>
          </a:p>
          <a:p>
            <a:pPr marL="0" indent="0" algn="just">
              <a:buNone/>
            </a:pPr>
            <a:r>
              <a:rPr lang="en-IN" sz="2400">
                <a:latin typeface="Calibri" panose="020F0502020204030204" pitchFamily="34" charset="0"/>
                <a:ea typeface="Calibri" panose="020F0502020204030204" pitchFamily="34" charset="0"/>
                <a:cs typeface="Calibri" panose="020F0502020204030204" pitchFamily="34" charset="0"/>
              </a:rPr>
              <a:t>                                                                                             </a:t>
            </a:r>
            <a:r>
              <a:rPr lang="en-IN" sz="2400" err="1">
                <a:latin typeface="Calibri" panose="020F0502020204030204" pitchFamily="34" charset="0"/>
                <a:ea typeface="Calibri" panose="020F0502020204030204" pitchFamily="34" charset="0"/>
                <a:cs typeface="Calibri" panose="020F0502020204030204" pitchFamily="34" charset="0"/>
              </a:rPr>
              <a:t>hwdata</a:t>
            </a:r>
            <a:r>
              <a:rPr lang="en-IN" sz="2400">
                <a:latin typeface="Calibri" panose="020F0502020204030204" pitchFamily="34" charset="0"/>
                <a:ea typeface="Calibri" panose="020F0502020204030204" pitchFamily="34" charset="0"/>
                <a:cs typeface="Calibri" panose="020F0502020204030204" pitchFamily="34" charset="0"/>
              </a:rPr>
              <a:t> </a:t>
            </a:r>
          </a:p>
          <a:p>
            <a:pPr marL="0" indent="0" algn="just">
              <a:buNone/>
            </a:pPr>
            <a:r>
              <a:rPr lang="en-IN" sz="2400">
                <a:latin typeface="Calibri" panose="020F0502020204030204" pitchFamily="34" charset="0"/>
                <a:ea typeface="Calibri" panose="020F0502020204030204" pitchFamily="34" charset="0"/>
                <a:cs typeface="Calibri" panose="020F0502020204030204" pitchFamily="34" charset="0"/>
              </a:rPr>
              <a:t>                                                                                             </a:t>
            </a:r>
            <a:r>
              <a:rPr lang="en-IN" sz="2400" err="1">
                <a:latin typeface="Calibri" panose="020F0502020204030204" pitchFamily="34" charset="0"/>
                <a:ea typeface="Calibri" panose="020F0502020204030204" pitchFamily="34" charset="0"/>
                <a:cs typeface="Calibri" panose="020F0502020204030204" pitchFamily="34" charset="0"/>
              </a:rPr>
              <a:t>hrdata</a:t>
            </a:r>
            <a:r>
              <a:rPr lang="en-IN" sz="2400">
                <a:latin typeface="Calibri" panose="020F0502020204030204" pitchFamily="34" charset="0"/>
                <a:ea typeface="Calibri" panose="020F0502020204030204" pitchFamily="34" charset="0"/>
                <a:cs typeface="Calibri" panose="020F0502020204030204" pitchFamily="34" charset="0"/>
              </a:rPr>
              <a:t> </a:t>
            </a:r>
          </a:p>
          <a:p>
            <a:pPr algn="just"/>
            <a:r>
              <a:rPr lang="en-IN" sz="2400">
                <a:latin typeface="Calibri" panose="020F0502020204030204" pitchFamily="34" charset="0"/>
                <a:ea typeface="Calibri" panose="020F0502020204030204" pitchFamily="34" charset="0"/>
                <a:cs typeface="Calibri" panose="020F0502020204030204" pitchFamily="34" charset="0"/>
              </a:rPr>
              <a:t>AHB-Lite data buses are usually 32-bit or 64-bit wide. During every transfer many bits toggle between 0 and 1.</a:t>
            </a:r>
          </a:p>
          <a:p>
            <a:pPr algn="just"/>
            <a:r>
              <a:rPr lang="en-IN" sz="2400">
                <a:latin typeface="Calibri" panose="020F0502020204030204" pitchFamily="34" charset="0"/>
                <a:ea typeface="Calibri" panose="020F0502020204030204" pitchFamily="34" charset="0"/>
                <a:cs typeface="Calibri" panose="020F0502020204030204" pitchFamily="34" charset="0"/>
              </a:rPr>
              <a:t>Bus inversion reduces the switching activity α.</a:t>
            </a:r>
          </a:p>
          <a:p>
            <a:pPr marL="0" lvl="0" indent="0" algn="just" eaLnBrk="0" fontAlgn="base" hangingPunct="0">
              <a:lnSpc>
                <a:spcPct val="100000"/>
              </a:lnSpc>
              <a:spcBef>
                <a:spcPct val="0"/>
              </a:spcBef>
              <a:spcAft>
                <a:spcPct val="0"/>
              </a:spcAft>
              <a:buNone/>
            </a:pPr>
            <a:endParaRPr lang="en-US" altLang="en-US" sz="240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B209C0B1-7A0A-8F9A-5E2B-70D59D9DDF25}"/>
              </a:ext>
            </a:extLst>
          </p:cNvPr>
          <p:cNvSpPr>
            <a:spLocks noGrp="1"/>
          </p:cNvSpPr>
          <p:nvPr>
            <p:ph type="title"/>
          </p:nvPr>
        </p:nvSpPr>
        <p:spPr>
          <a:xfrm>
            <a:off x="0" y="1"/>
            <a:ext cx="12192000" cy="626532"/>
          </a:xfrm>
          <a:solidFill>
            <a:schemeClr val="accent6"/>
          </a:solidFill>
        </p:spPr>
        <p:txBody>
          <a:bodyPr>
            <a:normAutofit fontScale="90000"/>
          </a:bodyPr>
          <a:lstStyle/>
          <a:p>
            <a:pPr algn="ctr"/>
            <a:br>
              <a:rPr lang="en-US" sz="3200">
                <a:latin typeface="Calibri" panose="020F0502020204030204" pitchFamily="34" charset="0"/>
                <a:ea typeface="Calibri" panose="020F0502020204030204" pitchFamily="34" charset="0"/>
                <a:cs typeface="Calibri" panose="020F0502020204030204" pitchFamily="34" charset="0"/>
              </a:rPr>
            </a:br>
            <a:r>
              <a:rPr lang="en-US" sz="3200">
                <a:latin typeface="Calibri" panose="020F0502020204030204" pitchFamily="34" charset="0"/>
                <a:ea typeface="Calibri" panose="020F0502020204030204" pitchFamily="34" charset="0"/>
                <a:cs typeface="Calibri" panose="020F0502020204030204" pitchFamily="34" charset="0"/>
              </a:rPr>
              <a:t>Bus Inversion Encoding </a:t>
            </a:r>
            <a:br>
              <a:rPr lang="en-US" sz="3200">
                <a:latin typeface="Calibri" panose="020F0502020204030204" pitchFamily="34" charset="0"/>
                <a:ea typeface="Calibri" panose="020F0502020204030204" pitchFamily="34" charset="0"/>
                <a:cs typeface="Calibri" panose="020F0502020204030204" pitchFamily="34" charset="0"/>
              </a:rPr>
            </a:br>
            <a:endParaRPr lang="en-US" sz="320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71E2E3C-8845-D70E-9C73-7EFFDBE8224B}"/>
              </a:ext>
            </a:extLst>
          </p:cNvPr>
          <p:cNvSpPr>
            <a:spLocks noGrp="1"/>
          </p:cNvSpPr>
          <p:nvPr>
            <p:ph type="sldNum" sz="quarter" idx="12"/>
          </p:nvPr>
        </p:nvSpPr>
        <p:spPr/>
        <p:txBody>
          <a:bodyPr/>
          <a:lstStyle/>
          <a:p>
            <a:fld id="{330EA680-D336-4FF7-8B7A-9848BB0A1C32}" type="slidenum">
              <a:rPr lang="en-US" smtClean="0"/>
              <a:t>81</a:t>
            </a:fld>
            <a:endParaRPr lang="en-US"/>
          </a:p>
        </p:txBody>
      </p:sp>
    </p:spTree>
    <p:extLst>
      <p:ext uri="{BB962C8B-B14F-4D97-AF65-F5344CB8AC3E}">
        <p14:creationId xmlns:p14="http://schemas.microsoft.com/office/powerpoint/2010/main" val="26766885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83A0E2D-7FF6-448C-D6B2-7AFD5391960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ECDCE47-7A63-3B4F-2E54-C5884A35F57E}"/>
              </a:ext>
            </a:extLst>
          </p:cNvPr>
          <p:cNvSpPr>
            <a:spLocks noGrp="1"/>
          </p:cNvSpPr>
          <p:nvPr>
            <p:ph type="title"/>
          </p:nvPr>
        </p:nvSpPr>
        <p:spPr>
          <a:xfrm>
            <a:off x="0" y="1"/>
            <a:ext cx="12192000" cy="871180"/>
          </a:xfrm>
          <a:solidFill>
            <a:schemeClr val="accent6"/>
          </a:solidFill>
        </p:spPr>
        <p:txBody>
          <a:bodyPr>
            <a:normAutofit/>
          </a:bodyPr>
          <a:lstStyle/>
          <a:p>
            <a:pPr algn="ctr"/>
            <a:r>
              <a:rPr lang="en-US" sz="2800">
                <a:latin typeface="Calibri" panose="020F0502020204030204" pitchFamily="34" charset="0"/>
                <a:ea typeface="Calibri" panose="020F0502020204030204" pitchFamily="34" charset="0"/>
                <a:cs typeface="Calibri" panose="020F0502020204030204" pitchFamily="34" charset="0"/>
              </a:rPr>
              <a:t>Steps in Bus Inversion Encoding</a:t>
            </a:r>
          </a:p>
        </p:txBody>
      </p:sp>
      <p:sp>
        <p:nvSpPr>
          <p:cNvPr id="4" name="Slide Number Placeholder 3">
            <a:extLst>
              <a:ext uri="{FF2B5EF4-FFF2-40B4-BE49-F238E27FC236}">
                <a16:creationId xmlns:a16="http://schemas.microsoft.com/office/drawing/2014/main" id="{92711FDD-0EA8-39A2-5794-C4FA94F74597}"/>
              </a:ext>
            </a:extLst>
          </p:cNvPr>
          <p:cNvSpPr>
            <a:spLocks noGrp="1"/>
          </p:cNvSpPr>
          <p:nvPr>
            <p:ph type="sldNum" sz="quarter" idx="12"/>
          </p:nvPr>
        </p:nvSpPr>
        <p:spPr/>
        <p:txBody>
          <a:bodyPr/>
          <a:lstStyle/>
          <a:p>
            <a:fld id="{330EA680-D336-4FF7-8B7A-9848BB0A1C32}" type="slidenum">
              <a:rPr lang="en-US" smtClean="0">
                <a:solidFill>
                  <a:schemeClr val="tx1"/>
                </a:solidFill>
              </a:rPr>
              <a:t>82</a:t>
            </a:fld>
            <a:endParaRPr lang="en-US">
              <a:solidFill>
                <a:schemeClr val="tx1"/>
              </a:solidFill>
            </a:endParaRPr>
          </a:p>
        </p:txBody>
      </p:sp>
      <p:sp>
        <p:nvSpPr>
          <p:cNvPr id="7" name="Rectangle 6">
            <a:extLst>
              <a:ext uri="{FF2B5EF4-FFF2-40B4-BE49-F238E27FC236}">
                <a16:creationId xmlns:a16="http://schemas.microsoft.com/office/drawing/2014/main" id="{5B2085C9-417D-AFC2-07BB-923FA4857CEB}"/>
              </a:ext>
            </a:extLst>
          </p:cNvPr>
          <p:cNvSpPr/>
          <p:nvPr/>
        </p:nvSpPr>
        <p:spPr>
          <a:xfrm>
            <a:off x="4202546" y="969817"/>
            <a:ext cx="3362036" cy="32327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Start</a:t>
            </a:r>
          </a:p>
        </p:txBody>
      </p:sp>
      <p:sp>
        <p:nvSpPr>
          <p:cNvPr id="8" name="Rectangle 7">
            <a:extLst>
              <a:ext uri="{FF2B5EF4-FFF2-40B4-BE49-F238E27FC236}">
                <a16:creationId xmlns:a16="http://schemas.microsoft.com/office/drawing/2014/main" id="{55E3B0D6-9DDC-6B07-3209-B347CA198AF3}"/>
              </a:ext>
            </a:extLst>
          </p:cNvPr>
          <p:cNvSpPr/>
          <p:nvPr/>
        </p:nvSpPr>
        <p:spPr>
          <a:xfrm>
            <a:off x="4202546" y="1441972"/>
            <a:ext cx="3362036" cy="323273"/>
          </a:xfrm>
          <a:prstGeom prst="rect">
            <a:avLst/>
          </a:prstGeom>
          <a:solidFill>
            <a:schemeClr val="accent3">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Current Data </a:t>
            </a:r>
          </a:p>
        </p:txBody>
      </p:sp>
      <p:sp>
        <p:nvSpPr>
          <p:cNvPr id="9" name="Rectangle 8">
            <a:extLst>
              <a:ext uri="{FF2B5EF4-FFF2-40B4-BE49-F238E27FC236}">
                <a16:creationId xmlns:a16="http://schemas.microsoft.com/office/drawing/2014/main" id="{5AE86BA5-31CB-CAA4-64A8-3F965BD0267D}"/>
              </a:ext>
            </a:extLst>
          </p:cNvPr>
          <p:cNvSpPr/>
          <p:nvPr/>
        </p:nvSpPr>
        <p:spPr>
          <a:xfrm>
            <a:off x="4202546" y="2004292"/>
            <a:ext cx="3362036" cy="325083"/>
          </a:xfrm>
          <a:prstGeom prst="rect">
            <a:avLst/>
          </a:prstGeom>
          <a:solidFill>
            <a:schemeClr val="accent5">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Compare with Previous data</a:t>
            </a:r>
          </a:p>
        </p:txBody>
      </p:sp>
      <p:sp>
        <p:nvSpPr>
          <p:cNvPr id="10" name="Rectangle 9">
            <a:extLst>
              <a:ext uri="{FF2B5EF4-FFF2-40B4-BE49-F238E27FC236}">
                <a16:creationId xmlns:a16="http://schemas.microsoft.com/office/drawing/2014/main" id="{212C275F-AE1D-3E56-FB17-876982A57E8E}"/>
              </a:ext>
            </a:extLst>
          </p:cNvPr>
          <p:cNvSpPr/>
          <p:nvPr/>
        </p:nvSpPr>
        <p:spPr>
          <a:xfrm>
            <a:off x="4202546" y="2581453"/>
            <a:ext cx="3362035" cy="323273"/>
          </a:xfrm>
          <a:prstGeom prst="rect">
            <a:avLst/>
          </a:prstGeom>
          <a:solidFill>
            <a:schemeClr val="accent2">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Count Transition Bits</a:t>
            </a:r>
          </a:p>
        </p:txBody>
      </p:sp>
      <p:sp>
        <p:nvSpPr>
          <p:cNvPr id="15" name="Rectangle 14">
            <a:extLst>
              <a:ext uri="{FF2B5EF4-FFF2-40B4-BE49-F238E27FC236}">
                <a16:creationId xmlns:a16="http://schemas.microsoft.com/office/drawing/2014/main" id="{2C8FF12E-2B76-871F-34CB-E673197F6587}"/>
              </a:ext>
            </a:extLst>
          </p:cNvPr>
          <p:cNvSpPr/>
          <p:nvPr/>
        </p:nvSpPr>
        <p:spPr>
          <a:xfrm>
            <a:off x="360219" y="3558858"/>
            <a:ext cx="2706254" cy="323273"/>
          </a:xfrm>
          <a:prstGeom prst="rect">
            <a:avLst/>
          </a:prstGeom>
          <a:solidFill>
            <a:schemeClr val="bg2">
              <a:lumMod val="9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Invert Data and INV=1</a:t>
            </a:r>
          </a:p>
        </p:txBody>
      </p:sp>
      <p:sp>
        <p:nvSpPr>
          <p:cNvPr id="16" name="Diamond 15">
            <a:extLst>
              <a:ext uri="{FF2B5EF4-FFF2-40B4-BE49-F238E27FC236}">
                <a16:creationId xmlns:a16="http://schemas.microsoft.com/office/drawing/2014/main" id="{54820F14-7564-E4C6-CDC2-5FC6933DE365}"/>
              </a:ext>
            </a:extLst>
          </p:cNvPr>
          <p:cNvSpPr/>
          <p:nvPr/>
        </p:nvSpPr>
        <p:spPr>
          <a:xfrm>
            <a:off x="4331854" y="3131895"/>
            <a:ext cx="3103418" cy="1177200"/>
          </a:xfrm>
          <a:prstGeom prst="diamond">
            <a:avLst/>
          </a:prstGeom>
          <a:solidFill>
            <a:srgbClr val="FFCCFF"/>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Transitions &gt; width/2</a:t>
            </a:r>
          </a:p>
        </p:txBody>
      </p:sp>
      <p:sp>
        <p:nvSpPr>
          <p:cNvPr id="17" name="Rectangle 16">
            <a:extLst>
              <a:ext uri="{FF2B5EF4-FFF2-40B4-BE49-F238E27FC236}">
                <a16:creationId xmlns:a16="http://schemas.microsoft.com/office/drawing/2014/main" id="{5C6CCC3B-C894-E957-3BB0-7A6CF2130FC2}"/>
              </a:ext>
            </a:extLst>
          </p:cNvPr>
          <p:cNvSpPr/>
          <p:nvPr/>
        </p:nvSpPr>
        <p:spPr>
          <a:xfrm>
            <a:off x="8506691" y="3558858"/>
            <a:ext cx="2743199" cy="323273"/>
          </a:xfrm>
          <a:prstGeom prst="rect">
            <a:avLst/>
          </a:prstGeom>
          <a:solidFill>
            <a:schemeClr val="bg2">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Send Original data INV=0</a:t>
            </a:r>
          </a:p>
        </p:txBody>
      </p:sp>
      <p:sp>
        <p:nvSpPr>
          <p:cNvPr id="18" name="Rectangle 17">
            <a:extLst>
              <a:ext uri="{FF2B5EF4-FFF2-40B4-BE49-F238E27FC236}">
                <a16:creationId xmlns:a16="http://schemas.microsoft.com/office/drawing/2014/main" id="{B70BDF4D-EF06-B4B0-93FE-05567479FABF}"/>
              </a:ext>
            </a:extLst>
          </p:cNvPr>
          <p:cNvSpPr/>
          <p:nvPr/>
        </p:nvSpPr>
        <p:spPr>
          <a:xfrm>
            <a:off x="4294909" y="4847221"/>
            <a:ext cx="3228108" cy="323273"/>
          </a:xfrm>
          <a:prstGeom prst="rect">
            <a:avLst/>
          </a:prstGeom>
          <a:solidFill>
            <a:srgbClr val="81960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Transmit data + INV Bit </a:t>
            </a:r>
          </a:p>
        </p:txBody>
      </p:sp>
      <p:sp>
        <p:nvSpPr>
          <p:cNvPr id="19" name="Rectangle 18">
            <a:extLst>
              <a:ext uri="{FF2B5EF4-FFF2-40B4-BE49-F238E27FC236}">
                <a16:creationId xmlns:a16="http://schemas.microsoft.com/office/drawing/2014/main" id="{83E33B0A-0927-B6DB-EEA1-4979197EC2CF}"/>
              </a:ext>
            </a:extLst>
          </p:cNvPr>
          <p:cNvSpPr/>
          <p:nvPr/>
        </p:nvSpPr>
        <p:spPr>
          <a:xfrm>
            <a:off x="4294909" y="5376942"/>
            <a:ext cx="3177308" cy="323273"/>
          </a:xfrm>
          <a:prstGeom prst="rect">
            <a:avLst/>
          </a:prstGeom>
          <a:solidFill>
            <a:schemeClr val="tx2">
              <a:lumMod val="25000"/>
              <a:lumOff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Receiver Checks Invert Bit</a:t>
            </a:r>
          </a:p>
        </p:txBody>
      </p:sp>
      <p:sp>
        <p:nvSpPr>
          <p:cNvPr id="20" name="Rectangle 19">
            <a:extLst>
              <a:ext uri="{FF2B5EF4-FFF2-40B4-BE49-F238E27FC236}">
                <a16:creationId xmlns:a16="http://schemas.microsoft.com/office/drawing/2014/main" id="{832D22CE-B147-2D15-2D4D-7E16C9E25020}"/>
              </a:ext>
            </a:extLst>
          </p:cNvPr>
          <p:cNvSpPr/>
          <p:nvPr/>
        </p:nvSpPr>
        <p:spPr>
          <a:xfrm>
            <a:off x="4294909" y="5881037"/>
            <a:ext cx="3177308" cy="323273"/>
          </a:xfrm>
          <a:prstGeom prst="rect">
            <a:avLst/>
          </a:prstGeom>
          <a:solidFill>
            <a:srgbClr val="FBFBBB"/>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Recover Original Data</a:t>
            </a:r>
          </a:p>
        </p:txBody>
      </p:sp>
      <p:sp>
        <p:nvSpPr>
          <p:cNvPr id="21" name="Rectangle 20">
            <a:extLst>
              <a:ext uri="{FF2B5EF4-FFF2-40B4-BE49-F238E27FC236}">
                <a16:creationId xmlns:a16="http://schemas.microsoft.com/office/drawing/2014/main" id="{AC2BE92E-3B54-221F-9D39-8BD48137989E}"/>
              </a:ext>
            </a:extLst>
          </p:cNvPr>
          <p:cNvSpPr/>
          <p:nvPr/>
        </p:nvSpPr>
        <p:spPr>
          <a:xfrm>
            <a:off x="4294909" y="6383061"/>
            <a:ext cx="3177308" cy="323273"/>
          </a:xfrm>
          <a:prstGeom prst="rect">
            <a:avLst/>
          </a:prstGeom>
          <a:solidFill>
            <a:schemeClr val="accent1">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End</a:t>
            </a:r>
          </a:p>
        </p:txBody>
      </p:sp>
      <p:cxnSp>
        <p:nvCxnSpPr>
          <p:cNvPr id="23" name="Straight Arrow Connector 22">
            <a:extLst>
              <a:ext uri="{FF2B5EF4-FFF2-40B4-BE49-F238E27FC236}">
                <a16:creationId xmlns:a16="http://schemas.microsoft.com/office/drawing/2014/main" id="{423CBD4D-762E-FD3B-7126-48140E50294F}"/>
              </a:ext>
            </a:extLst>
          </p:cNvPr>
          <p:cNvCxnSpPr>
            <a:stCxn id="7" idx="2"/>
            <a:endCxn id="8" idx="0"/>
          </p:cNvCxnSpPr>
          <p:nvPr/>
        </p:nvCxnSpPr>
        <p:spPr>
          <a:xfrm>
            <a:off x="5883564" y="1293090"/>
            <a:ext cx="0" cy="14888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B6857C50-AB1C-F5E0-1E7E-3C7C150FBC35}"/>
              </a:ext>
            </a:extLst>
          </p:cNvPr>
          <p:cNvCxnSpPr>
            <a:stCxn id="8" idx="2"/>
            <a:endCxn id="9" idx="0"/>
          </p:cNvCxnSpPr>
          <p:nvPr/>
        </p:nvCxnSpPr>
        <p:spPr>
          <a:xfrm>
            <a:off x="5883564" y="1765245"/>
            <a:ext cx="0" cy="2390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AE21C09-1F29-E60E-0879-B9270924BBD3}"/>
              </a:ext>
            </a:extLst>
          </p:cNvPr>
          <p:cNvCxnSpPr>
            <a:stCxn id="9" idx="2"/>
            <a:endCxn id="10" idx="0"/>
          </p:cNvCxnSpPr>
          <p:nvPr/>
        </p:nvCxnSpPr>
        <p:spPr>
          <a:xfrm>
            <a:off x="5883564" y="2329375"/>
            <a:ext cx="0" cy="25207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5980F1FD-DB63-02DC-D576-666130E16E80}"/>
              </a:ext>
            </a:extLst>
          </p:cNvPr>
          <p:cNvCxnSpPr>
            <a:stCxn id="10" idx="2"/>
            <a:endCxn id="16" idx="0"/>
          </p:cNvCxnSpPr>
          <p:nvPr/>
        </p:nvCxnSpPr>
        <p:spPr>
          <a:xfrm flipH="1">
            <a:off x="5883563" y="2904726"/>
            <a:ext cx="1" cy="227169"/>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72A95E81-B829-BDB1-45A4-C8D558F01E64}"/>
              </a:ext>
            </a:extLst>
          </p:cNvPr>
          <p:cNvCxnSpPr>
            <a:cxnSpLocks/>
            <a:stCxn id="16" idx="3"/>
            <a:endCxn id="17" idx="1"/>
          </p:cNvCxnSpPr>
          <p:nvPr/>
        </p:nvCxnSpPr>
        <p:spPr>
          <a:xfrm>
            <a:off x="7435272" y="3720495"/>
            <a:ext cx="10714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E2A0DFD1-BB66-F18D-8B57-DBE2BACEF0D4}"/>
              </a:ext>
            </a:extLst>
          </p:cNvPr>
          <p:cNvCxnSpPr>
            <a:stCxn id="16" idx="1"/>
            <a:endCxn id="15" idx="3"/>
          </p:cNvCxnSpPr>
          <p:nvPr/>
        </p:nvCxnSpPr>
        <p:spPr>
          <a:xfrm flipH="1">
            <a:off x="3066473" y="3720495"/>
            <a:ext cx="12653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9D25682A-5C09-5234-83F9-50A77EC9DDE6}"/>
              </a:ext>
            </a:extLst>
          </p:cNvPr>
          <p:cNvCxnSpPr>
            <a:cxnSpLocks/>
          </p:cNvCxnSpPr>
          <p:nvPr/>
        </p:nvCxnSpPr>
        <p:spPr>
          <a:xfrm rot="5400000">
            <a:off x="7415700" y="2392767"/>
            <a:ext cx="965090" cy="3969328"/>
          </a:xfrm>
          <a:prstGeom prst="bentConnector3">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4F352799-E829-8674-D88F-89364520A881}"/>
              </a:ext>
            </a:extLst>
          </p:cNvPr>
          <p:cNvCxnSpPr>
            <a:cxnSpLocks/>
          </p:cNvCxnSpPr>
          <p:nvPr/>
        </p:nvCxnSpPr>
        <p:spPr>
          <a:xfrm rot="16200000" flipH="1">
            <a:off x="3328610" y="2293971"/>
            <a:ext cx="965090" cy="4195617"/>
          </a:xfrm>
          <a:prstGeom prst="bentConnector3">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6E9031B-2230-B527-7B20-4FABE89B0F3E}"/>
              </a:ext>
            </a:extLst>
          </p:cNvPr>
          <p:cNvCxnSpPr>
            <a:cxnSpLocks/>
          </p:cNvCxnSpPr>
          <p:nvPr/>
        </p:nvCxnSpPr>
        <p:spPr>
          <a:xfrm>
            <a:off x="5918199" y="5700215"/>
            <a:ext cx="0" cy="18796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293AC5AA-8EC5-9D23-B662-9E344EE2A707}"/>
              </a:ext>
            </a:extLst>
          </p:cNvPr>
          <p:cNvCxnSpPr>
            <a:cxnSpLocks/>
            <a:stCxn id="20" idx="2"/>
            <a:endCxn id="21" idx="0"/>
          </p:cNvCxnSpPr>
          <p:nvPr/>
        </p:nvCxnSpPr>
        <p:spPr>
          <a:xfrm>
            <a:off x="5883563" y="6204310"/>
            <a:ext cx="0" cy="178751"/>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B3F6A1C2-B0CC-97BC-D365-2FBAF85489A5}"/>
              </a:ext>
            </a:extLst>
          </p:cNvPr>
          <p:cNvCxnSpPr>
            <a:cxnSpLocks/>
          </p:cNvCxnSpPr>
          <p:nvPr/>
        </p:nvCxnSpPr>
        <p:spPr>
          <a:xfrm>
            <a:off x="5911271" y="5170494"/>
            <a:ext cx="0" cy="18796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2AD207D9-30D8-28E1-8EF9-15FA7F4CEDF2}"/>
              </a:ext>
            </a:extLst>
          </p:cNvPr>
          <p:cNvSpPr txBox="1"/>
          <p:nvPr/>
        </p:nvSpPr>
        <p:spPr>
          <a:xfrm>
            <a:off x="3498824" y="3406617"/>
            <a:ext cx="527645" cy="369332"/>
          </a:xfrm>
          <a:prstGeom prst="rect">
            <a:avLst/>
          </a:prstGeom>
          <a:noFill/>
        </p:spPr>
        <p:txBody>
          <a:bodyPr wrap="none" rtlCol="0">
            <a:spAutoFit/>
          </a:bodyPr>
          <a:lstStyle/>
          <a:p>
            <a:r>
              <a:rPr lang="en-IN"/>
              <a:t>Yes</a:t>
            </a:r>
          </a:p>
        </p:txBody>
      </p:sp>
      <p:sp>
        <p:nvSpPr>
          <p:cNvPr id="65" name="TextBox 64">
            <a:extLst>
              <a:ext uri="{FF2B5EF4-FFF2-40B4-BE49-F238E27FC236}">
                <a16:creationId xmlns:a16="http://schemas.microsoft.com/office/drawing/2014/main" id="{93EC4CCE-5F1C-CB16-5C05-3C17D187E52F}"/>
              </a:ext>
            </a:extLst>
          </p:cNvPr>
          <p:cNvSpPr txBox="1"/>
          <p:nvPr/>
        </p:nvSpPr>
        <p:spPr>
          <a:xfrm>
            <a:off x="7805881" y="3399702"/>
            <a:ext cx="474810" cy="369332"/>
          </a:xfrm>
          <a:prstGeom prst="rect">
            <a:avLst/>
          </a:prstGeom>
          <a:noFill/>
        </p:spPr>
        <p:txBody>
          <a:bodyPr wrap="none" rtlCol="0">
            <a:spAutoFit/>
          </a:bodyPr>
          <a:lstStyle/>
          <a:p>
            <a:r>
              <a:rPr lang="en-IN"/>
              <a:t>No</a:t>
            </a:r>
          </a:p>
        </p:txBody>
      </p:sp>
      <p:sp>
        <p:nvSpPr>
          <p:cNvPr id="67" name="TextBox 66">
            <a:extLst>
              <a:ext uri="{FF2B5EF4-FFF2-40B4-BE49-F238E27FC236}">
                <a16:creationId xmlns:a16="http://schemas.microsoft.com/office/drawing/2014/main" id="{B58BA99D-F9D5-D508-C404-5260C329969E}"/>
              </a:ext>
            </a:extLst>
          </p:cNvPr>
          <p:cNvSpPr txBox="1"/>
          <p:nvPr/>
        </p:nvSpPr>
        <p:spPr>
          <a:xfrm>
            <a:off x="7805881" y="6433682"/>
            <a:ext cx="2600264" cy="369332"/>
          </a:xfrm>
          <a:prstGeom prst="rect">
            <a:avLst/>
          </a:prstGeom>
          <a:noFill/>
        </p:spPr>
        <p:txBody>
          <a:bodyPr wrap="none" rtlCol="0">
            <a:spAutoFit/>
          </a:bodyPr>
          <a:lstStyle/>
          <a:p>
            <a:r>
              <a:rPr lang="en-IN" dirty="0"/>
              <a:t>Fig 2. Bus Inversion Flow</a:t>
            </a:r>
          </a:p>
        </p:txBody>
      </p:sp>
    </p:spTree>
    <p:extLst>
      <p:ext uri="{BB962C8B-B14F-4D97-AF65-F5344CB8AC3E}">
        <p14:creationId xmlns:p14="http://schemas.microsoft.com/office/powerpoint/2010/main" val="39813117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859C7-1C5E-C117-D1F1-A328DA802C0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56328BC-54C4-7042-2EAF-D05DC610A6C0}"/>
              </a:ext>
            </a:extLst>
          </p:cNvPr>
          <p:cNvSpPr>
            <a:spLocks noGrp="1"/>
          </p:cNvSpPr>
          <p:nvPr>
            <p:ph type="title"/>
          </p:nvPr>
        </p:nvSpPr>
        <p:spPr>
          <a:xfrm>
            <a:off x="0" y="1"/>
            <a:ext cx="12192000" cy="552677"/>
          </a:xfrm>
          <a:solidFill>
            <a:schemeClr val="accent6"/>
          </a:solidFill>
        </p:spPr>
        <p:txBody>
          <a:bodyPr>
            <a:normAutofit/>
          </a:bodyPr>
          <a:lstStyle/>
          <a:p>
            <a:pPr algn="ctr"/>
            <a:r>
              <a:rPr lang="en-US" sz="3200">
                <a:latin typeface="Calibri" panose="020F0502020204030204" pitchFamily="34" charset="0"/>
                <a:ea typeface="Calibri" panose="020F0502020204030204" pitchFamily="34" charset="0"/>
                <a:cs typeface="Calibri" panose="020F0502020204030204" pitchFamily="34" charset="0"/>
              </a:rPr>
              <a:t> Bus Inversion Encoding &amp; Decoding in AHB Lite Interface</a:t>
            </a:r>
          </a:p>
        </p:txBody>
      </p:sp>
      <p:sp>
        <p:nvSpPr>
          <p:cNvPr id="4" name="Slide Number Placeholder 3">
            <a:extLst>
              <a:ext uri="{FF2B5EF4-FFF2-40B4-BE49-F238E27FC236}">
                <a16:creationId xmlns:a16="http://schemas.microsoft.com/office/drawing/2014/main" id="{DFF86FD3-FFC2-7718-D5EF-5537D1F011AB}"/>
              </a:ext>
            </a:extLst>
          </p:cNvPr>
          <p:cNvSpPr>
            <a:spLocks noGrp="1"/>
          </p:cNvSpPr>
          <p:nvPr>
            <p:ph type="sldNum" sz="quarter" idx="12"/>
          </p:nvPr>
        </p:nvSpPr>
        <p:spPr>
          <a:xfrm>
            <a:off x="8610600" y="5850296"/>
            <a:ext cx="2971800" cy="871179"/>
          </a:xfrm>
        </p:spPr>
        <p:txBody>
          <a:bodyPr/>
          <a:lstStyle/>
          <a:p>
            <a:fld id="{330EA680-D336-4FF7-8B7A-9848BB0A1C32}" type="slidenum">
              <a:rPr lang="en-US" smtClean="0">
                <a:solidFill>
                  <a:schemeClr val="tx1"/>
                </a:solidFill>
              </a:rPr>
              <a:t>83</a:t>
            </a:fld>
            <a:endParaRPr lang="en-US">
              <a:solidFill>
                <a:schemeClr val="tx1"/>
              </a:solidFill>
            </a:endParaRPr>
          </a:p>
        </p:txBody>
      </p:sp>
      <p:sp>
        <p:nvSpPr>
          <p:cNvPr id="7" name="Rectangle 6">
            <a:extLst>
              <a:ext uri="{FF2B5EF4-FFF2-40B4-BE49-F238E27FC236}">
                <a16:creationId xmlns:a16="http://schemas.microsoft.com/office/drawing/2014/main" id="{2790B224-0FC4-E2CD-473D-BD056FA8FE43}"/>
              </a:ext>
            </a:extLst>
          </p:cNvPr>
          <p:cNvSpPr/>
          <p:nvPr/>
        </p:nvSpPr>
        <p:spPr>
          <a:xfrm>
            <a:off x="4202546" y="969817"/>
            <a:ext cx="3362036" cy="32327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Start</a:t>
            </a:r>
          </a:p>
        </p:txBody>
      </p:sp>
      <p:sp>
        <p:nvSpPr>
          <p:cNvPr id="8" name="Rectangle 7">
            <a:extLst>
              <a:ext uri="{FF2B5EF4-FFF2-40B4-BE49-F238E27FC236}">
                <a16:creationId xmlns:a16="http://schemas.microsoft.com/office/drawing/2014/main" id="{A690247A-637B-30A8-7347-31761D57F239}"/>
              </a:ext>
            </a:extLst>
          </p:cNvPr>
          <p:cNvSpPr/>
          <p:nvPr/>
        </p:nvSpPr>
        <p:spPr>
          <a:xfrm>
            <a:off x="4202546" y="1441972"/>
            <a:ext cx="3362036" cy="323273"/>
          </a:xfrm>
          <a:prstGeom prst="rect">
            <a:avLst/>
          </a:prstGeom>
          <a:solidFill>
            <a:schemeClr val="accent3">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Select Current AHB Lite Data </a:t>
            </a:r>
          </a:p>
        </p:txBody>
      </p:sp>
      <p:sp>
        <p:nvSpPr>
          <p:cNvPr id="9" name="Rectangle 8">
            <a:extLst>
              <a:ext uri="{FF2B5EF4-FFF2-40B4-BE49-F238E27FC236}">
                <a16:creationId xmlns:a16="http://schemas.microsoft.com/office/drawing/2014/main" id="{2E8E4089-164B-2BA2-42FE-A37B2F7C86E9}"/>
              </a:ext>
            </a:extLst>
          </p:cNvPr>
          <p:cNvSpPr/>
          <p:nvPr/>
        </p:nvSpPr>
        <p:spPr>
          <a:xfrm>
            <a:off x="4202546" y="2004292"/>
            <a:ext cx="3362036" cy="325083"/>
          </a:xfrm>
          <a:prstGeom prst="rect">
            <a:avLst/>
          </a:prstGeom>
          <a:solidFill>
            <a:schemeClr val="accent5">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Compare with Previous data</a:t>
            </a:r>
          </a:p>
        </p:txBody>
      </p:sp>
      <p:sp>
        <p:nvSpPr>
          <p:cNvPr id="10" name="Rectangle 9">
            <a:extLst>
              <a:ext uri="{FF2B5EF4-FFF2-40B4-BE49-F238E27FC236}">
                <a16:creationId xmlns:a16="http://schemas.microsoft.com/office/drawing/2014/main" id="{FA7FC022-C728-8945-8962-773913851A4D}"/>
              </a:ext>
            </a:extLst>
          </p:cNvPr>
          <p:cNvSpPr/>
          <p:nvPr/>
        </p:nvSpPr>
        <p:spPr>
          <a:xfrm>
            <a:off x="4202546" y="2581453"/>
            <a:ext cx="3362035" cy="323273"/>
          </a:xfrm>
          <a:prstGeom prst="rect">
            <a:avLst/>
          </a:prstGeom>
          <a:solidFill>
            <a:schemeClr val="accent2">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Count Transition Bits</a:t>
            </a:r>
          </a:p>
        </p:txBody>
      </p:sp>
      <p:sp>
        <p:nvSpPr>
          <p:cNvPr id="15" name="Rectangle 14">
            <a:extLst>
              <a:ext uri="{FF2B5EF4-FFF2-40B4-BE49-F238E27FC236}">
                <a16:creationId xmlns:a16="http://schemas.microsoft.com/office/drawing/2014/main" id="{E9765F89-B33E-E9D7-9F01-2DB01207E5AC}"/>
              </a:ext>
            </a:extLst>
          </p:cNvPr>
          <p:cNvSpPr/>
          <p:nvPr/>
        </p:nvSpPr>
        <p:spPr>
          <a:xfrm>
            <a:off x="755625" y="3288146"/>
            <a:ext cx="2310848" cy="593986"/>
          </a:xfrm>
          <a:prstGeom prst="rect">
            <a:avLst/>
          </a:prstGeom>
          <a:solidFill>
            <a:schemeClr val="bg2">
              <a:lumMod val="9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Invert Data and INV=1</a:t>
            </a:r>
          </a:p>
        </p:txBody>
      </p:sp>
      <p:sp>
        <p:nvSpPr>
          <p:cNvPr id="16" name="Diamond 15">
            <a:extLst>
              <a:ext uri="{FF2B5EF4-FFF2-40B4-BE49-F238E27FC236}">
                <a16:creationId xmlns:a16="http://schemas.microsoft.com/office/drawing/2014/main" id="{7E3B8B95-EBF6-981F-A729-01FFD58FB64B}"/>
              </a:ext>
            </a:extLst>
          </p:cNvPr>
          <p:cNvSpPr/>
          <p:nvPr/>
        </p:nvSpPr>
        <p:spPr>
          <a:xfrm>
            <a:off x="4331854" y="3131895"/>
            <a:ext cx="3103418" cy="1177200"/>
          </a:xfrm>
          <a:prstGeom prst="diamond">
            <a:avLst/>
          </a:prstGeom>
          <a:solidFill>
            <a:srgbClr val="FFCCFF"/>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Transitions &gt; width/2</a:t>
            </a:r>
          </a:p>
        </p:txBody>
      </p:sp>
      <p:sp>
        <p:nvSpPr>
          <p:cNvPr id="17" name="Rectangle 16">
            <a:extLst>
              <a:ext uri="{FF2B5EF4-FFF2-40B4-BE49-F238E27FC236}">
                <a16:creationId xmlns:a16="http://schemas.microsoft.com/office/drawing/2014/main" id="{7220B7E8-415D-BE2F-4C02-9015B2BEFF73}"/>
              </a:ext>
            </a:extLst>
          </p:cNvPr>
          <p:cNvSpPr/>
          <p:nvPr/>
        </p:nvSpPr>
        <p:spPr>
          <a:xfrm>
            <a:off x="8506691" y="3288146"/>
            <a:ext cx="2456873" cy="593985"/>
          </a:xfrm>
          <a:prstGeom prst="rect">
            <a:avLst/>
          </a:prstGeom>
          <a:solidFill>
            <a:schemeClr val="bg2">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Send Original data INV=0</a:t>
            </a:r>
          </a:p>
        </p:txBody>
      </p:sp>
      <p:sp>
        <p:nvSpPr>
          <p:cNvPr id="18" name="Rectangle 17">
            <a:extLst>
              <a:ext uri="{FF2B5EF4-FFF2-40B4-BE49-F238E27FC236}">
                <a16:creationId xmlns:a16="http://schemas.microsoft.com/office/drawing/2014/main" id="{B65B23B0-C7D3-AE71-016B-8B6BFF1BA533}"/>
              </a:ext>
            </a:extLst>
          </p:cNvPr>
          <p:cNvSpPr/>
          <p:nvPr/>
        </p:nvSpPr>
        <p:spPr>
          <a:xfrm>
            <a:off x="4294909" y="4847221"/>
            <a:ext cx="3228108" cy="323273"/>
          </a:xfrm>
          <a:prstGeom prst="rect">
            <a:avLst/>
          </a:prstGeom>
          <a:solidFill>
            <a:srgbClr val="81960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Transmit data + INV Bit </a:t>
            </a:r>
          </a:p>
        </p:txBody>
      </p:sp>
      <p:sp>
        <p:nvSpPr>
          <p:cNvPr id="19" name="Rectangle 18">
            <a:extLst>
              <a:ext uri="{FF2B5EF4-FFF2-40B4-BE49-F238E27FC236}">
                <a16:creationId xmlns:a16="http://schemas.microsoft.com/office/drawing/2014/main" id="{3FDC9C5B-6FA7-D430-3992-8944C5203833}"/>
              </a:ext>
            </a:extLst>
          </p:cNvPr>
          <p:cNvSpPr/>
          <p:nvPr/>
        </p:nvSpPr>
        <p:spPr>
          <a:xfrm>
            <a:off x="4294909" y="5376942"/>
            <a:ext cx="3177308" cy="323273"/>
          </a:xfrm>
          <a:prstGeom prst="rect">
            <a:avLst/>
          </a:prstGeom>
          <a:solidFill>
            <a:schemeClr val="tx2">
              <a:lumMod val="25000"/>
              <a:lumOff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Receiver Checks Invert Bit</a:t>
            </a:r>
          </a:p>
        </p:txBody>
      </p:sp>
      <p:sp>
        <p:nvSpPr>
          <p:cNvPr id="20" name="Rectangle 19">
            <a:extLst>
              <a:ext uri="{FF2B5EF4-FFF2-40B4-BE49-F238E27FC236}">
                <a16:creationId xmlns:a16="http://schemas.microsoft.com/office/drawing/2014/main" id="{5CDF664A-FF1C-9160-11AB-5471BD2C4393}"/>
              </a:ext>
            </a:extLst>
          </p:cNvPr>
          <p:cNvSpPr/>
          <p:nvPr/>
        </p:nvSpPr>
        <p:spPr>
          <a:xfrm>
            <a:off x="4294909" y="5881037"/>
            <a:ext cx="3177308" cy="323273"/>
          </a:xfrm>
          <a:prstGeom prst="rect">
            <a:avLst/>
          </a:prstGeom>
          <a:solidFill>
            <a:srgbClr val="FBFBBB"/>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Recover Original Data</a:t>
            </a:r>
          </a:p>
        </p:txBody>
      </p:sp>
      <p:sp>
        <p:nvSpPr>
          <p:cNvPr id="21" name="Rectangle 20">
            <a:extLst>
              <a:ext uri="{FF2B5EF4-FFF2-40B4-BE49-F238E27FC236}">
                <a16:creationId xmlns:a16="http://schemas.microsoft.com/office/drawing/2014/main" id="{0CABD626-BF01-7BF5-5CD7-0EC892883777}"/>
              </a:ext>
            </a:extLst>
          </p:cNvPr>
          <p:cNvSpPr/>
          <p:nvPr/>
        </p:nvSpPr>
        <p:spPr>
          <a:xfrm>
            <a:off x="4294909" y="6383061"/>
            <a:ext cx="3177308" cy="323273"/>
          </a:xfrm>
          <a:prstGeom prst="rect">
            <a:avLst/>
          </a:prstGeom>
          <a:solidFill>
            <a:schemeClr val="accent1">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End</a:t>
            </a:r>
          </a:p>
        </p:txBody>
      </p:sp>
      <p:cxnSp>
        <p:nvCxnSpPr>
          <p:cNvPr id="23" name="Straight Arrow Connector 22">
            <a:extLst>
              <a:ext uri="{FF2B5EF4-FFF2-40B4-BE49-F238E27FC236}">
                <a16:creationId xmlns:a16="http://schemas.microsoft.com/office/drawing/2014/main" id="{E83B5706-21D6-E052-4288-0F3ED39C825D}"/>
              </a:ext>
            </a:extLst>
          </p:cNvPr>
          <p:cNvCxnSpPr>
            <a:stCxn id="7" idx="2"/>
            <a:endCxn id="8" idx="0"/>
          </p:cNvCxnSpPr>
          <p:nvPr/>
        </p:nvCxnSpPr>
        <p:spPr>
          <a:xfrm>
            <a:off x="5883564" y="1293090"/>
            <a:ext cx="0" cy="14888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984EEBD7-27AF-AD63-2E33-799ABB610AD9}"/>
              </a:ext>
            </a:extLst>
          </p:cNvPr>
          <p:cNvCxnSpPr>
            <a:stCxn id="8" idx="2"/>
            <a:endCxn id="9" idx="0"/>
          </p:cNvCxnSpPr>
          <p:nvPr/>
        </p:nvCxnSpPr>
        <p:spPr>
          <a:xfrm>
            <a:off x="5883564" y="1765245"/>
            <a:ext cx="0" cy="2390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43FBE39D-7816-EABA-D114-AEDF54A0EB2F}"/>
              </a:ext>
            </a:extLst>
          </p:cNvPr>
          <p:cNvCxnSpPr>
            <a:stCxn id="9" idx="2"/>
            <a:endCxn id="10" idx="0"/>
          </p:cNvCxnSpPr>
          <p:nvPr/>
        </p:nvCxnSpPr>
        <p:spPr>
          <a:xfrm>
            <a:off x="5883564" y="2329375"/>
            <a:ext cx="0" cy="25207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48888D3-59EA-C4A4-0F21-D21B876BFF7E}"/>
              </a:ext>
            </a:extLst>
          </p:cNvPr>
          <p:cNvCxnSpPr>
            <a:cxnSpLocks/>
            <a:stCxn id="10" idx="2"/>
            <a:endCxn id="16" idx="0"/>
          </p:cNvCxnSpPr>
          <p:nvPr/>
        </p:nvCxnSpPr>
        <p:spPr>
          <a:xfrm flipH="1">
            <a:off x="5883563" y="2904726"/>
            <a:ext cx="1" cy="227169"/>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1CC066B5-0009-A6FE-D648-B0333288307A}"/>
              </a:ext>
            </a:extLst>
          </p:cNvPr>
          <p:cNvCxnSpPr>
            <a:cxnSpLocks/>
          </p:cNvCxnSpPr>
          <p:nvPr/>
        </p:nvCxnSpPr>
        <p:spPr>
          <a:xfrm flipV="1">
            <a:off x="7435272" y="3706918"/>
            <a:ext cx="1071419" cy="2573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6E426FB6-D6D1-B315-C421-6543245DA4BF}"/>
              </a:ext>
            </a:extLst>
          </p:cNvPr>
          <p:cNvCxnSpPr>
            <a:cxnSpLocks/>
            <a:stCxn id="16" idx="1"/>
          </p:cNvCxnSpPr>
          <p:nvPr/>
        </p:nvCxnSpPr>
        <p:spPr>
          <a:xfrm flipH="1">
            <a:off x="3066473" y="3720495"/>
            <a:ext cx="1265381" cy="747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FFC32675-5262-E621-54CF-DE234A653952}"/>
              </a:ext>
            </a:extLst>
          </p:cNvPr>
          <p:cNvCxnSpPr>
            <a:cxnSpLocks/>
          </p:cNvCxnSpPr>
          <p:nvPr/>
        </p:nvCxnSpPr>
        <p:spPr>
          <a:xfrm rot="5400000">
            <a:off x="7415700" y="2392767"/>
            <a:ext cx="965090" cy="3969328"/>
          </a:xfrm>
          <a:prstGeom prst="bentConnector3">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264DA9D1-76C1-07DE-08D8-F8EBDECE180F}"/>
              </a:ext>
            </a:extLst>
          </p:cNvPr>
          <p:cNvCxnSpPr>
            <a:cxnSpLocks/>
          </p:cNvCxnSpPr>
          <p:nvPr/>
        </p:nvCxnSpPr>
        <p:spPr>
          <a:xfrm rot="16200000" flipH="1">
            <a:off x="3328610" y="2293971"/>
            <a:ext cx="965090" cy="4195617"/>
          </a:xfrm>
          <a:prstGeom prst="bentConnector3">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BFE4910E-BE9E-BF77-91BA-CC54CC8BA126}"/>
              </a:ext>
            </a:extLst>
          </p:cNvPr>
          <p:cNvCxnSpPr>
            <a:cxnSpLocks/>
          </p:cNvCxnSpPr>
          <p:nvPr/>
        </p:nvCxnSpPr>
        <p:spPr>
          <a:xfrm>
            <a:off x="5918199" y="5700215"/>
            <a:ext cx="0" cy="18796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69848425-0A60-CD67-85FA-70A874EB0D7F}"/>
              </a:ext>
            </a:extLst>
          </p:cNvPr>
          <p:cNvCxnSpPr>
            <a:cxnSpLocks/>
            <a:stCxn id="20" idx="2"/>
            <a:endCxn id="21" idx="0"/>
          </p:cNvCxnSpPr>
          <p:nvPr/>
        </p:nvCxnSpPr>
        <p:spPr>
          <a:xfrm>
            <a:off x="5883563" y="6204310"/>
            <a:ext cx="0" cy="178751"/>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A9A29D03-B5E2-A4DE-D52B-E6FEA7F551EB}"/>
              </a:ext>
            </a:extLst>
          </p:cNvPr>
          <p:cNvCxnSpPr>
            <a:cxnSpLocks/>
          </p:cNvCxnSpPr>
          <p:nvPr/>
        </p:nvCxnSpPr>
        <p:spPr>
          <a:xfrm>
            <a:off x="5911271" y="5170494"/>
            <a:ext cx="0" cy="18796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A4C73C86-3D10-FC0E-DF3C-F777852AE911}"/>
              </a:ext>
            </a:extLst>
          </p:cNvPr>
          <p:cNvSpPr txBox="1"/>
          <p:nvPr/>
        </p:nvSpPr>
        <p:spPr>
          <a:xfrm>
            <a:off x="3498824" y="3406617"/>
            <a:ext cx="527645" cy="369332"/>
          </a:xfrm>
          <a:prstGeom prst="rect">
            <a:avLst/>
          </a:prstGeom>
          <a:noFill/>
        </p:spPr>
        <p:txBody>
          <a:bodyPr wrap="none" rtlCol="0">
            <a:spAutoFit/>
          </a:bodyPr>
          <a:lstStyle/>
          <a:p>
            <a:r>
              <a:rPr lang="en-IN"/>
              <a:t>Yes</a:t>
            </a:r>
          </a:p>
        </p:txBody>
      </p:sp>
      <p:sp>
        <p:nvSpPr>
          <p:cNvPr id="65" name="TextBox 64">
            <a:extLst>
              <a:ext uri="{FF2B5EF4-FFF2-40B4-BE49-F238E27FC236}">
                <a16:creationId xmlns:a16="http://schemas.microsoft.com/office/drawing/2014/main" id="{E16AD2CE-9CE3-F216-92E5-6674353DEEE9}"/>
              </a:ext>
            </a:extLst>
          </p:cNvPr>
          <p:cNvSpPr txBox="1"/>
          <p:nvPr/>
        </p:nvSpPr>
        <p:spPr>
          <a:xfrm>
            <a:off x="7805881" y="3399702"/>
            <a:ext cx="474810" cy="369332"/>
          </a:xfrm>
          <a:prstGeom prst="rect">
            <a:avLst/>
          </a:prstGeom>
          <a:noFill/>
        </p:spPr>
        <p:txBody>
          <a:bodyPr wrap="none" rtlCol="0">
            <a:spAutoFit/>
          </a:bodyPr>
          <a:lstStyle/>
          <a:p>
            <a:r>
              <a:rPr lang="en-IN"/>
              <a:t>No</a:t>
            </a:r>
          </a:p>
        </p:txBody>
      </p:sp>
      <p:sp>
        <p:nvSpPr>
          <p:cNvPr id="67" name="TextBox 66">
            <a:extLst>
              <a:ext uri="{FF2B5EF4-FFF2-40B4-BE49-F238E27FC236}">
                <a16:creationId xmlns:a16="http://schemas.microsoft.com/office/drawing/2014/main" id="{7DCE2D34-F42A-44A4-B723-EC4C68D11006}"/>
              </a:ext>
            </a:extLst>
          </p:cNvPr>
          <p:cNvSpPr txBox="1"/>
          <p:nvPr/>
        </p:nvSpPr>
        <p:spPr>
          <a:xfrm>
            <a:off x="7472217" y="6433682"/>
            <a:ext cx="4663264" cy="369332"/>
          </a:xfrm>
          <a:prstGeom prst="rect">
            <a:avLst/>
          </a:prstGeom>
          <a:noFill/>
        </p:spPr>
        <p:txBody>
          <a:bodyPr wrap="none" rtlCol="0">
            <a:spAutoFit/>
          </a:bodyPr>
          <a:lstStyle/>
          <a:p>
            <a:r>
              <a:rPr lang="en-IN" dirty="0"/>
              <a:t>Fig 3. Bus Inversion Flow in AHB Lite Interface</a:t>
            </a:r>
          </a:p>
        </p:txBody>
      </p:sp>
    </p:spTree>
    <p:extLst>
      <p:ext uri="{BB962C8B-B14F-4D97-AF65-F5344CB8AC3E}">
        <p14:creationId xmlns:p14="http://schemas.microsoft.com/office/powerpoint/2010/main" val="14367783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88E55-BF97-F41E-C024-7F215761828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0F07BB0-5FDA-4A61-27AD-ADF394911EA7}"/>
              </a:ext>
            </a:extLst>
          </p:cNvPr>
          <p:cNvSpPr>
            <a:spLocks noGrp="1"/>
          </p:cNvSpPr>
          <p:nvPr>
            <p:ph type="title"/>
          </p:nvPr>
        </p:nvSpPr>
        <p:spPr>
          <a:xfrm>
            <a:off x="0" y="1"/>
            <a:ext cx="12192000" cy="634999"/>
          </a:xfrm>
          <a:solidFill>
            <a:schemeClr val="accent6"/>
          </a:solidFill>
        </p:spPr>
        <p:txBody>
          <a:bodyPr>
            <a:normAutofit/>
          </a:bodyPr>
          <a:lstStyle/>
          <a:p>
            <a:pPr algn="ctr"/>
            <a:r>
              <a:rPr lang="en-US" sz="2800">
                <a:latin typeface="Calibri" panose="020F0502020204030204" pitchFamily="34" charset="0"/>
                <a:ea typeface="Calibri" panose="020F0502020204030204" pitchFamily="34" charset="0"/>
                <a:cs typeface="Calibri" panose="020F0502020204030204" pitchFamily="34" charset="0"/>
              </a:rPr>
              <a:t> Example Of Bus Inversion Encoding in AHB Lite Interface</a:t>
            </a:r>
          </a:p>
        </p:txBody>
      </p:sp>
      <p:sp>
        <p:nvSpPr>
          <p:cNvPr id="4" name="Slide Number Placeholder 3">
            <a:extLst>
              <a:ext uri="{FF2B5EF4-FFF2-40B4-BE49-F238E27FC236}">
                <a16:creationId xmlns:a16="http://schemas.microsoft.com/office/drawing/2014/main" id="{D3E142DF-B837-7227-9207-881501EC04B4}"/>
              </a:ext>
            </a:extLst>
          </p:cNvPr>
          <p:cNvSpPr>
            <a:spLocks noGrp="1"/>
          </p:cNvSpPr>
          <p:nvPr>
            <p:ph type="sldNum" sz="quarter" idx="12"/>
          </p:nvPr>
        </p:nvSpPr>
        <p:spPr/>
        <p:txBody>
          <a:bodyPr/>
          <a:lstStyle/>
          <a:p>
            <a:fld id="{330EA680-D336-4FF7-8B7A-9848BB0A1C32}" type="slidenum">
              <a:rPr lang="en-US" smtClean="0"/>
              <a:t>84</a:t>
            </a:fld>
            <a:endParaRPr lang="en-US"/>
          </a:p>
        </p:txBody>
      </p:sp>
      <p:sp>
        <p:nvSpPr>
          <p:cNvPr id="6" name="Rectangle 2">
            <a:extLst>
              <a:ext uri="{FF2B5EF4-FFF2-40B4-BE49-F238E27FC236}">
                <a16:creationId xmlns:a16="http://schemas.microsoft.com/office/drawing/2014/main" id="{73EF0DAD-A53F-9136-C87F-227C39BF798C}"/>
              </a:ext>
            </a:extLst>
          </p:cNvPr>
          <p:cNvSpPr>
            <a:spLocks noGrp="1" noChangeArrowheads="1"/>
          </p:cNvSpPr>
          <p:nvPr>
            <p:ph idx="1"/>
          </p:nvPr>
        </p:nvSpPr>
        <p:spPr bwMode="auto">
          <a:xfrm>
            <a:off x="766618" y="1841549"/>
            <a:ext cx="1048327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None/>
            </a:pPr>
            <a:r>
              <a:rPr lang="en-US" altLang="en-US" sz="2400">
                <a:latin typeface="Calibri" panose="020F0502020204030204" pitchFamily="34" charset="0"/>
                <a:ea typeface="Calibri" panose="020F0502020204030204" pitchFamily="34" charset="0"/>
                <a:cs typeface="Calibri" panose="020F0502020204030204" pitchFamily="34" charset="0"/>
              </a:rPr>
              <a:t>1. Previous </a:t>
            </a:r>
            <a:r>
              <a:rPr lang="en-US" altLang="en-US" sz="2400" err="1">
                <a:latin typeface="Calibri" panose="020F0502020204030204" pitchFamily="34" charset="0"/>
                <a:ea typeface="Calibri" panose="020F0502020204030204" pitchFamily="34" charset="0"/>
                <a:cs typeface="Calibri" panose="020F0502020204030204" pitchFamily="34" charset="0"/>
              </a:rPr>
              <a:t>hwdata</a:t>
            </a:r>
            <a:r>
              <a:rPr lang="en-US" altLang="en-US" sz="2400">
                <a:latin typeface="Calibri" panose="020F0502020204030204" pitchFamily="34" charset="0"/>
                <a:ea typeface="Calibri" panose="020F0502020204030204" pitchFamily="34" charset="0"/>
                <a:cs typeface="Calibri" panose="020F0502020204030204" pitchFamily="34" charset="0"/>
              </a:rPr>
              <a:t>:  32'hAAAAAAAA</a:t>
            </a:r>
          </a:p>
          <a:p>
            <a:pPr marL="0" lvl="0" indent="0" algn="just" eaLnBrk="0" fontAlgn="base" hangingPunct="0">
              <a:lnSpc>
                <a:spcPct val="100000"/>
              </a:lnSpc>
              <a:spcBef>
                <a:spcPct val="0"/>
              </a:spcBef>
              <a:spcAft>
                <a:spcPct val="0"/>
              </a:spcAft>
              <a:buNone/>
            </a:pPr>
            <a:r>
              <a:rPr lang="en-US" altLang="en-US" sz="2400">
                <a:latin typeface="Calibri" panose="020F0502020204030204" pitchFamily="34" charset="0"/>
                <a:ea typeface="Calibri" panose="020F0502020204030204" pitchFamily="34" charset="0"/>
                <a:cs typeface="Calibri" panose="020F0502020204030204" pitchFamily="34" charset="0"/>
              </a:rPr>
              <a:t>2. Current </a:t>
            </a:r>
            <a:r>
              <a:rPr lang="en-US" altLang="en-US" sz="2400" err="1">
                <a:latin typeface="Calibri" panose="020F0502020204030204" pitchFamily="34" charset="0"/>
                <a:ea typeface="Calibri" panose="020F0502020204030204" pitchFamily="34" charset="0"/>
                <a:cs typeface="Calibri" panose="020F0502020204030204" pitchFamily="34" charset="0"/>
              </a:rPr>
              <a:t>hwdata</a:t>
            </a:r>
            <a:r>
              <a:rPr lang="en-US" altLang="en-US" sz="2400">
                <a:latin typeface="Calibri" panose="020F0502020204030204" pitchFamily="34" charset="0"/>
                <a:ea typeface="Calibri" panose="020F0502020204030204" pitchFamily="34" charset="0"/>
                <a:cs typeface="Calibri" panose="020F0502020204030204" pitchFamily="34" charset="0"/>
              </a:rPr>
              <a:t>  :  32'h55555555</a:t>
            </a:r>
          </a:p>
          <a:p>
            <a:pPr marL="0" lvl="0" indent="0" algn="just" eaLnBrk="0" fontAlgn="base" hangingPunct="0">
              <a:lnSpc>
                <a:spcPct val="100000"/>
              </a:lnSpc>
              <a:spcBef>
                <a:spcPct val="0"/>
              </a:spcBef>
              <a:spcAft>
                <a:spcPct val="0"/>
              </a:spcAft>
              <a:buNone/>
            </a:pPr>
            <a:r>
              <a:rPr lang="en-US" altLang="en-US" sz="2400">
                <a:latin typeface="Calibri" panose="020F0502020204030204" pitchFamily="34" charset="0"/>
                <a:ea typeface="Calibri" panose="020F0502020204030204" pitchFamily="34" charset="0"/>
                <a:cs typeface="Calibri" panose="020F0502020204030204" pitchFamily="34" charset="0"/>
              </a:rPr>
              <a:t>3. Compare transitions between previous and current data</a:t>
            </a:r>
          </a:p>
          <a:p>
            <a:pPr marL="0" lvl="0" indent="0" algn="just" eaLnBrk="0" fontAlgn="base" hangingPunct="0">
              <a:lnSpc>
                <a:spcPct val="100000"/>
              </a:lnSpc>
              <a:spcBef>
                <a:spcPct val="0"/>
              </a:spcBef>
              <a:spcAft>
                <a:spcPct val="0"/>
              </a:spcAft>
              <a:buNone/>
            </a:pPr>
            <a:r>
              <a:rPr lang="en-US" altLang="en-US" sz="2400">
                <a:latin typeface="Calibri" panose="020F0502020204030204" pitchFamily="34" charset="0"/>
                <a:ea typeface="Calibri" panose="020F0502020204030204" pitchFamily="34" charset="0"/>
                <a:cs typeface="Calibri" panose="020F0502020204030204" pitchFamily="34" charset="0"/>
              </a:rPr>
              <a:t>4. Total transitions: 32 transitions</a:t>
            </a:r>
          </a:p>
          <a:p>
            <a:pPr marL="0" lvl="0" indent="0" algn="just" eaLnBrk="0" fontAlgn="base" hangingPunct="0">
              <a:lnSpc>
                <a:spcPct val="100000"/>
              </a:lnSpc>
              <a:spcBef>
                <a:spcPct val="0"/>
              </a:spcBef>
              <a:spcAft>
                <a:spcPct val="0"/>
              </a:spcAft>
              <a:buNone/>
            </a:pPr>
            <a:r>
              <a:rPr lang="en-US" altLang="en-US" sz="2400">
                <a:latin typeface="Calibri" panose="020F0502020204030204" pitchFamily="34" charset="0"/>
                <a:ea typeface="Calibri" panose="020F0502020204030204" pitchFamily="34" charset="0"/>
                <a:cs typeface="Calibri" panose="020F0502020204030204" pitchFamily="34" charset="0"/>
              </a:rPr>
              <a:t>5. Check condition</a:t>
            </a:r>
            <a:r>
              <a:rPr lang="en-US" altLang="en-US" sz="240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lang="en-US" altLang="en-US" sz="2400">
                <a:latin typeface="Calibri" panose="020F0502020204030204" pitchFamily="34" charset="0"/>
                <a:ea typeface="Calibri" panose="020F0502020204030204" pitchFamily="34" charset="0"/>
                <a:cs typeface="Calibri" panose="020F0502020204030204" pitchFamily="34" charset="0"/>
              </a:rPr>
              <a:t>32 &gt; 16) ? invert current </a:t>
            </a:r>
            <a:r>
              <a:rPr lang="en-US" altLang="en-US" sz="2400" err="1">
                <a:latin typeface="Calibri" panose="020F0502020204030204" pitchFamily="34" charset="0"/>
                <a:ea typeface="Calibri" panose="020F0502020204030204" pitchFamily="34" charset="0"/>
                <a:cs typeface="Calibri" panose="020F0502020204030204" pitchFamily="34" charset="0"/>
              </a:rPr>
              <a:t>hwdata</a:t>
            </a:r>
            <a:r>
              <a:rPr lang="en-US" altLang="en-US" sz="2400">
                <a:latin typeface="Calibri" panose="020F0502020204030204" pitchFamily="34" charset="0"/>
                <a:ea typeface="Calibri" panose="020F0502020204030204" pitchFamily="34" charset="0"/>
                <a:cs typeface="Calibri" panose="020F0502020204030204" pitchFamily="34" charset="0"/>
              </a:rPr>
              <a:t>: Original Data</a:t>
            </a:r>
          </a:p>
          <a:p>
            <a:pPr marL="0" lvl="0" indent="0" algn="just" eaLnBrk="0" fontAlgn="base" hangingPunct="0">
              <a:lnSpc>
                <a:spcPct val="100000"/>
              </a:lnSpc>
              <a:spcBef>
                <a:spcPct val="0"/>
              </a:spcBef>
              <a:spcAft>
                <a:spcPct val="0"/>
              </a:spcAft>
              <a:buNone/>
            </a:pPr>
            <a:r>
              <a:rPr lang="en-US" altLang="en-US" sz="2400">
                <a:latin typeface="Calibri" panose="020F0502020204030204" pitchFamily="34" charset="0"/>
                <a:ea typeface="Calibri" panose="020F0502020204030204" pitchFamily="34" charset="0"/>
                <a:cs typeface="Calibri" panose="020F0502020204030204" pitchFamily="34" charset="0"/>
              </a:rPr>
              <a:t>7. Transmit: </a:t>
            </a:r>
            <a:r>
              <a:rPr lang="en-US" altLang="en-US" sz="2400" err="1">
                <a:latin typeface="Calibri" panose="020F0502020204030204" pitchFamily="34" charset="0"/>
                <a:ea typeface="Calibri" panose="020F0502020204030204" pitchFamily="34" charset="0"/>
                <a:cs typeface="Calibri" panose="020F0502020204030204" pitchFamily="34" charset="0"/>
              </a:rPr>
              <a:t>hwdata</a:t>
            </a:r>
            <a:r>
              <a:rPr lang="en-US" altLang="en-US" sz="2400">
                <a:latin typeface="Calibri" panose="020F0502020204030204" pitchFamily="34" charset="0"/>
                <a:ea typeface="Calibri" panose="020F0502020204030204" pitchFamily="34" charset="0"/>
                <a:cs typeface="Calibri" panose="020F0502020204030204" pitchFamily="34" charset="0"/>
              </a:rPr>
              <a:t> = 32'hAAAAAAAA and INV = 1</a:t>
            </a:r>
          </a:p>
          <a:p>
            <a:pPr marL="0" lvl="0" indent="0" algn="just" eaLnBrk="0" fontAlgn="base" hangingPunct="0">
              <a:lnSpc>
                <a:spcPct val="100000"/>
              </a:lnSpc>
              <a:spcBef>
                <a:spcPct val="0"/>
              </a:spcBef>
              <a:spcAft>
                <a:spcPct val="0"/>
              </a:spcAft>
              <a:buNone/>
            </a:pPr>
            <a:r>
              <a:rPr lang="en-US" altLang="en-US" sz="2400">
                <a:latin typeface="Calibri" panose="020F0502020204030204" pitchFamily="34" charset="0"/>
                <a:ea typeface="Calibri" panose="020F0502020204030204" pitchFamily="34" charset="0"/>
                <a:cs typeface="Calibri" panose="020F0502020204030204" pitchFamily="34" charset="0"/>
              </a:rPr>
              <a:t>8. Receiver checks INV=1 and recovers 32'h55555555</a:t>
            </a:r>
            <a:endParaRPr kumimoji="0" lang="en-US" altLang="en-US" sz="2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708134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F68D1-214D-5FA2-40FD-117F58E627EC}"/>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EB4A21E-F32C-B7A2-19B9-1853823B0BE2}"/>
              </a:ext>
            </a:extLst>
          </p:cNvPr>
          <p:cNvPicPr>
            <a:picLocks noGrp="1" noChangeAspect="1"/>
          </p:cNvPicPr>
          <p:nvPr>
            <p:ph idx="1"/>
          </p:nvPr>
        </p:nvPicPr>
        <p:blipFill>
          <a:blip r:embed="rId2"/>
          <a:stretch>
            <a:fillRect/>
          </a:stretch>
        </p:blipFill>
        <p:spPr>
          <a:xfrm>
            <a:off x="3158837" y="1216928"/>
            <a:ext cx="5260109" cy="4627418"/>
          </a:xfrm>
          <a:prstGeom prst="rect">
            <a:avLst/>
          </a:prstGeom>
        </p:spPr>
      </p:pic>
      <p:sp>
        <p:nvSpPr>
          <p:cNvPr id="5" name="Title 1">
            <a:extLst>
              <a:ext uri="{FF2B5EF4-FFF2-40B4-BE49-F238E27FC236}">
                <a16:creationId xmlns:a16="http://schemas.microsoft.com/office/drawing/2014/main" id="{C55DC2C9-7CEE-5C72-1BBE-08073E71827B}"/>
              </a:ext>
            </a:extLst>
          </p:cNvPr>
          <p:cNvSpPr>
            <a:spLocks noGrp="1"/>
          </p:cNvSpPr>
          <p:nvPr>
            <p:ph type="title"/>
          </p:nvPr>
        </p:nvSpPr>
        <p:spPr>
          <a:xfrm>
            <a:off x="0" y="1"/>
            <a:ext cx="12191999" cy="643465"/>
          </a:xfrm>
          <a:solidFill>
            <a:schemeClr val="accent6"/>
          </a:solidFill>
        </p:spPr>
        <p:txBody>
          <a:bodyPr>
            <a:normAutofit fontScale="90000"/>
          </a:bodyPr>
          <a:lstStyle/>
          <a:p>
            <a:pPr algn="ctr"/>
            <a:br>
              <a:rPr lang="en-US" sz="3200">
                <a:latin typeface="Calibri" panose="020F0502020204030204" pitchFamily="34" charset="0"/>
                <a:ea typeface="Calibri" panose="020F0502020204030204" pitchFamily="34" charset="0"/>
                <a:cs typeface="Calibri" panose="020F0502020204030204" pitchFamily="34" charset="0"/>
              </a:rPr>
            </a:br>
            <a:r>
              <a:rPr lang="en-US" sz="3200">
                <a:latin typeface="Calibri" panose="020F0502020204030204" pitchFamily="34" charset="0"/>
                <a:ea typeface="Calibri" panose="020F0502020204030204" pitchFamily="34" charset="0"/>
                <a:cs typeface="Calibri" panose="020F0502020204030204" pitchFamily="34" charset="0"/>
              </a:rPr>
              <a:t>Bus Inversion Encoding Logic In AHB Lite Interface </a:t>
            </a:r>
            <a:br>
              <a:rPr lang="en-US" sz="3200">
                <a:latin typeface="Calibri" panose="020F0502020204030204" pitchFamily="34" charset="0"/>
                <a:ea typeface="Calibri" panose="020F0502020204030204" pitchFamily="34" charset="0"/>
                <a:cs typeface="Calibri" panose="020F0502020204030204" pitchFamily="34" charset="0"/>
              </a:rPr>
            </a:br>
            <a:endParaRPr lang="en-US" sz="320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6B09A5F-3D47-C343-4BDE-1E372F0835B3}"/>
              </a:ext>
            </a:extLst>
          </p:cNvPr>
          <p:cNvSpPr>
            <a:spLocks noGrp="1"/>
          </p:cNvSpPr>
          <p:nvPr>
            <p:ph type="sldNum" sz="quarter" idx="12"/>
          </p:nvPr>
        </p:nvSpPr>
        <p:spPr/>
        <p:txBody>
          <a:bodyPr/>
          <a:lstStyle/>
          <a:p>
            <a:fld id="{330EA680-D336-4FF7-8B7A-9848BB0A1C32}" type="slidenum">
              <a:rPr lang="en-US" smtClean="0"/>
              <a:t>85</a:t>
            </a:fld>
            <a:endParaRPr lang="en-US"/>
          </a:p>
        </p:txBody>
      </p:sp>
    </p:spTree>
    <p:extLst>
      <p:ext uri="{BB962C8B-B14F-4D97-AF65-F5344CB8AC3E}">
        <p14:creationId xmlns:p14="http://schemas.microsoft.com/office/powerpoint/2010/main" val="32041733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C2D7F-5853-D4B1-8A4F-1BECCF2CBDB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E9E87BF-E1A1-7DAE-8325-6051D0966FF7}"/>
              </a:ext>
            </a:extLst>
          </p:cNvPr>
          <p:cNvSpPr>
            <a:spLocks noGrp="1"/>
          </p:cNvSpPr>
          <p:nvPr>
            <p:ph type="title"/>
          </p:nvPr>
        </p:nvSpPr>
        <p:spPr>
          <a:xfrm>
            <a:off x="0" y="1"/>
            <a:ext cx="12192000" cy="584199"/>
          </a:xfrm>
          <a:solidFill>
            <a:schemeClr val="accent6"/>
          </a:solidFill>
        </p:spPr>
        <p:txBody>
          <a:bodyPr>
            <a:normAutofit fontScale="90000"/>
          </a:bodyPr>
          <a:lstStyle/>
          <a:p>
            <a:pPr algn="ctr"/>
            <a:br>
              <a:rPr lang="en-US" sz="3200">
                <a:latin typeface="Calibri" panose="020F0502020204030204" pitchFamily="34" charset="0"/>
                <a:ea typeface="Calibri" panose="020F0502020204030204" pitchFamily="34" charset="0"/>
                <a:cs typeface="Calibri" panose="020F0502020204030204" pitchFamily="34" charset="0"/>
              </a:rPr>
            </a:br>
            <a:r>
              <a:rPr lang="en-US" sz="3200">
                <a:latin typeface="Calibri" panose="020F0502020204030204" pitchFamily="34" charset="0"/>
                <a:ea typeface="Calibri" panose="020F0502020204030204" pitchFamily="34" charset="0"/>
                <a:cs typeface="Calibri" panose="020F0502020204030204" pitchFamily="34" charset="0"/>
              </a:rPr>
              <a:t>Bus Inversion Decoding Logic In AHB Lite Interface </a:t>
            </a:r>
            <a:br>
              <a:rPr lang="en-US" sz="3200">
                <a:latin typeface="Calibri" panose="020F0502020204030204" pitchFamily="34" charset="0"/>
                <a:ea typeface="Calibri" panose="020F0502020204030204" pitchFamily="34" charset="0"/>
                <a:cs typeface="Calibri" panose="020F0502020204030204" pitchFamily="34" charset="0"/>
              </a:rPr>
            </a:br>
            <a:endParaRPr lang="en-US" sz="320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6B8C3E3-0400-2355-9866-0C8E7F1F2478}"/>
              </a:ext>
            </a:extLst>
          </p:cNvPr>
          <p:cNvSpPr>
            <a:spLocks noGrp="1"/>
          </p:cNvSpPr>
          <p:nvPr>
            <p:ph type="sldNum" sz="quarter" idx="12"/>
          </p:nvPr>
        </p:nvSpPr>
        <p:spPr/>
        <p:txBody>
          <a:bodyPr/>
          <a:lstStyle/>
          <a:p>
            <a:fld id="{330EA680-D336-4FF7-8B7A-9848BB0A1C32}" type="slidenum">
              <a:rPr lang="en-US" smtClean="0"/>
              <a:t>86</a:t>
            </a:fld>
            <a:endParaRPr lang="en-US"/>
          </a:p>
        </p:txBody>
      </p:sp>
      <p:pic>
        <p:nvPicPr>
          <p:cNvPr id="10" name="Picture 9">
            <a:extLst>
              <a:ext uri="{FF2B5EF4-FFF2-40B4-BE49-F238E27FC236}">
                <a16:creationId xmlns:a16="http://schemas.microsoft.com/office/drawing/2014/main" id="{76012A28-569B-27A3-0248-6C11E87D3B43}"/>
              </a:ext>
            </a:extLst>
          </p:cNvPr>
          <p:cNvPicPr>
            <a:picLocks noChangeAspect="1"/>
          </p:cNvPicPr>
          <p:nvPr/>
        </p:nvPicPr>
        <p:blipFill>
          <a:blip r:embed="rId2"/>
          <a:stretch>
            <a:fillRect/>
          </a:stretch>
        </p:blipFill>
        <p:spPr>
          <a:xfrm>
            <a:off x="2068945" y="1607127"/>
            <a:ext cx="5936663" cy="4322618"/>
          </a:xfrm>
          <a:prstGeom prst="rect">
            <a:avLst/>
          </a:prstGeom>
        </p:spPr>
      </p:pic>
    </p:spTree>
    <p:extLst>
      <p:ext uri="{BB962C8B-B14F-4D97-AF65-F5344CB8AC3E}">
        <p14:creationId xmlns:p14="http://schemas.microsoft.com/office/powerpoint/2010/main" val="38241102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0FCC73-853D-48B8-906F-C668F2FEC21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339468F-F43D-FC9C-4428-9B7B6CEC29F2}"/>
              </a:ext>
            </a:extLst>
          </p:cNvPr>
          <p:cNvSpPr>
            <a:spLocks noGrp="1"/>
          </p:cNvSpPr>
          <p:nvPr>
            <p:ph type="title"/>
          </p:nvPr>
        </p:nvSpPr>
        <p:spPr>
          <a:xfrm>
            <a:off x="0" y="1"/>
            <a:ext cx="12192000" cy="871180"/>
          </a:xfrm>
          <a:solidFill>
            <a:schemeClr val="accent6"/>
          </a:solidFill>
        </p:spPr>
        <p:txBody>
          <a:bodyPr>
            <a:normAutofit/>
          </a:bodyPr>
          <a:lstStyle/>
          <a:p>
            <a:r>
              <a:rPr lang="en-IN" sz="2800">
                <a:latin typeface="Calibri" panose="020F0502020204030204" pitchFamily="34" charset="0"/>
                <a:ea typeface="Calibri" panose="020F0502020204030204" pitchFamily="34" charset="0"/>
                <a:cs typeface="Calibri" panose="020F0502020204030204" pitchFamily="34" charset="0"/>
              </a:rPr>
              <a:t>                                              Transition Inversion Introduction</a:t>
            </a:r>
          </a:p>
        </p:txBody>
      </p:sp>
      <p:sp>
        <p:nvSpPr>
          <p:cNvPr id="4" name="Slide Number Placeholder 3">
            <a:extLst>
              <a:ext uri="{FF2B5EF4-FFF2-40B4-BE49-F238E27FC236}">
                <a16:creationId xmlns:a16="http://schemas.microsoft.com/office/drawing/2014/main" id="{A1F4A712-6752-9E52-6C6A-A82BA11D3244}"/>
              </a:ext>
            </a:extLst>
          </p:cNvPr>
          <p:cNvSpPr>
            <a:spLocks noGrp="1"/>
          </p:cNvSpPr>
          <p:nvPr>
            <p:ph type="sldNum" sz="quarter" idx="12"/>
          </p:nvPr>
        </p:nvSpPr>
        <p:spPr/>
        <p:txBody>
          <a:bodyPr/>
          <a:lstStyle/>
          <a:p>
            <a:fld id="{330EA680-D336-4FF7-8B7A-9848BB0A1C32}" type="slidenum">
              <a:rPr lang="en-US" smtClean="0"/>
              <a:t>87</a:t>
            </a:fld>
            <a:endParaRPr lang="en-US"/>
          </a:p>
        </p:txBody>
      </p:sp>
      <p:sp>
        <p:nvSpPr>
          <p:cNvPr id="6" name="Rectangle 2">
            <a:extLst>
              <a:ext uri="{FF2B5EF4-FFF2-40B4-BE49-F238E27FC236}">
                <a16:creationId xmlns:a16="http://schemas.microsoft.com/office/drawing/2014/main" id="{2888A4B0-BD0B-C55A-F097-609D7814C14F}"/>
              </a:ext>
            </a:extLst>
          </p:cNvPr>
          <p:cNvSpPr>
            <a:spLocks noGrp="1" noChangeArrowheads="1"/>
          </p:cNvSpPr>
          <p:nvPr>
            <p:ph idx="1"/>
          </p:nvPr>
        </p:nvSpPr>
        <p:spPr bwMode="auto">
          <a:xfrm>
            <a:off x="510310" y="1210635"/>
            <a:ext cx="10843490" cy="60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400">
                <a:latin typeface="Calibri" panose="020F0502020204030204" pitchFamily="34" charset="0"/>
                <a:ea typeface="Calibri" panose="020F0502020204030204" pitchFamily="34" charset="0"/>
                <a:cs typeface="Calibri" panose="020F0502020204030204" pitchFamily="34" charset="0"/>
              </a:rPr>
              <a:t>Transition inversion is a low-power technique used to reduce switching activity on high-speed buses.</a:t>
            </a:r>
          </a:p>
          <a:p>
            <a:pPr marL="0" indent="0" algn="just">
              <a:buNone/>
            </a:pPr>
            <a:r>
              <a:rPr lang="en-IN" sz="2400">
                <a:latin typeface="Calibri" panose="020F0502020204030204" pitchFamily="34" charset="0"/>
                <a:ea typeface="Calibri" panose="020F0502020204030204" pitchFamily="34" charset="0"/>
                <a:cs typeface="Calibri" panose="020F0502020204030204" pitchFamily="34" charset="0"/>
              </a:rPr>
              <a:t>WHY?</a:t>
            </a:r>
          </a:p>
          <a:p>
            <a:pPr algn="just"/>
            <a:r>
              <a:rPr lang="en-IN" sz="2400">
                <a:latin typeface="Calibri" panose="020F0502020204030204" pitchFamily="34" charset="0"/>
                <a:ea typeface="Calibri" panose="020F0502020204030204" pitchFamily="34" charset="0"/>
                <a:cs typeface="Calibri" panose="020F0502020204030204" pitchFamily="34" charset="0"/>
              </a:rPr>
              <a:t>If too many bits change between consecutive data, invert the current data before transmission.</a:t>
            </a:r>
          </a:p>
          <a:p>
            <a:pPr algn="just"/>
            <a:r>
              <a:rPr lang="en-IN" sz="2400">
                <a:latin typeface="Calibri" panose="020F0502020204030204" pitchFamily="34" charset="0"/>
                <a:ea typeface="Calibri" panose="020F0502020204030204" pitchFamily="34" charset="0"/>
                <a:cs typeface="Calibri" panose="020F0502020204030204" pitchFamily="34" charset="0"/>
              </a:rPr>
              <a:t>Transition inversion reduces  switching activity (α)</a:t>
            </a:r>
          </a:p>
          <a:p>
            <a:pPr algn="just"/>
            <a:r>
              <a:rPr lang="en-US" sz="2400">
                <a:latin typeface="Calibri" panose="020F0502020204030204" pitchFamily="34" charset="0"/>
                <a:ea typeface="Calibri" panose="020F0502020204030204" pitchFamily="34" charset="0"/>
                <a:cs typeface="Calibri" panose="020F0502020204030204" pitchFamily="34" charset="0"/>
              </a:rPr>
              <a:t>We can Calculate the transition pattern using XOR:  T=P⊕C</a:t>
            </a:r>
          </a:p>
          <a:p>
            <a:pPr marL="0" indent="0">
              <a:buNone/>
            </a:pPr>
            <a:r>
              <a:rPr lang="en-US" sz="2400">
                <a:latin typeface="Calibri" panose="020F0502020204030204" pitchFamily="34" charset="0"/>
                <a:ea typeface="Calibri" panose="020F0502020204030204" pitchFamily="34" charset="0"/>
                <a:cs typeface="Calibri" panose="020F0502020204030204" pitchFamily="34" charset="0"/>
              </a:rPr>
              <a:t>                                       Where:</a:t>
            </a:r>
          </a:p>
          <a:p>
            <a:pPr marL="285750" indent="-285750" algn="ctr"/>
            <a:r>
              <a:rPr lang="en-US" sz="2400">
                <a:latin typeface="Calibri" panose="020F0502020204030204" pitchFamily="34" charset="0"/>
                <a:ea typeface="Calibri" panose="020F0502020204030204" pitchFamily="34" charset="0"/>
                <a:cs typeface="Calibri" panose="020F0502020204030204" pitchFamily="34" charset="0"/>
              </a:rPr>
              <a:t>P = Previous bus value</a:t>
            </a:r>
          </a:p>
          <a:p>
            <a:pPr marL="285750" indent="-285750" algn="ctr"/>
            <a:r>
              <a:rPr lang="en-US" sz="2400">
                <a:latin typeface="Calibri" panose="020F0502020204030204" pitchFamily="34" charset="0"/>
                <a:ea typeface="Calibri" panose="020F0502020204030204" pitchFamily="34" charset="0"/>
                <a:cs typeface="Calibri" panose="020F0502020204030204" pitchFamily="34" charset="0"/>
              </a:rPr>
              <a:t>C = Current bus value</a:t>
            </a:r>
          </a:p>
          <a:p>
            <a:pPr marL="285750" indent="-285750" algn="ctr"/>
            <a:r>
              <a:rPr lang="en-US" sz="2400">
                <a:latin typeface="Calibri" panose="020F0502020204030204" pitchFamily="34" charset="0"/>
                <a:ea typeface="Calibri" panose="020F0502020204030204" pitchFamily="34" charset="0"/>
                <a:cs typeface="Calibri" panose="020F0502020204030204" pitchFamily="34" charset="0"/>
              </a:rPr>
              <a:t>T = Transition pattern</a:t>
            </a:r>
            <a:endParaRPr lang="en-IN" sz="240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400">
              <a:latin typeface="Calibri" panose="020F0502020204030204" pitchFamily="34" charset="0"/>
              <a:ea typeface="Calibri" panose="020F0502020204030204" pitchFamily="34" charset="0"/>
              <a:cs typeface="Calibri" panose="020F0502020204030204" pitchFamily="34" charset="0"/>
            </a:endParaRPr>
          </a:p>
          <a:p>
            <a:endParaRPr lang="en-IN" sz="240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269452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F14CF5-8A6A-7B84-94A3-E201DDF529E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A6026AE-BCA6-CFC7-566A-F4BAA9AB9322}"/>
              </a:ext>
            </a:extLst>
          </p:cNvPr>
          <p:cNvSpPr>
            <a:spLocks noGrp="1"/>
          </p:cNvSpPr>
          <p:nvPr>
            <p:ph type="title"/>
          </p:nvPr>
        </p:nvSpPr>
        <p:spPr>
          <a:xfrm>
            <a:off x="0" y="1"/>
            <a:ext cx="12192000" cy="871180"/>
          </a:xfrm>
          <a:solidFill>
            <a:schemeClr val="accent6"/>
          </a:solidFill>
        </p:spPr>
        <p:txBody>
          <a:bodyPr>
            <a:normAutofit/>
          </a:bodyPr>
          <a:lstStyle/>
          <a:p>
            <a:pPr algn="ctr"/>
            <a:r>
              <a:rPr lang="en-US" sz="3200">
                <a:latin typeface="Calibri" panose="020F0502020204030204" pitchFamily="34" charset="0"/>
                <a:ea typeface="Calibri" panose="020F0502020204030204" pitchFamily="34" charset="0"/>
                <a:cs typeface="Calibri" panose="020F0502020204030204" pitchFamily="34" charset="0"/>
              </a:rPr>
              <a:t>Transition Inversion Encoding &amp; Decoding in AHB Lite Interface</a:t>
            </a:r>
          </a:p>
        </p:txBody>
      </p:sp>
      <p:sp>
        <p:nvSpPr>
          <p:cNvPr id="4" name="Slide Number Placeholder 3">
            <a:extLst>
              <a:ext uri="{FF2B5EF4-FFF2-40B4-BE49-F238E27FC236}">
                <a16:creationId xmlns:a16="http://schemas.microsoft.com/office/drawing/2014/main" id="{2835B192-B052-619A-D976-8BD9423D54C9}"/>
              </a:ext>
            </a:extLst>
          </p:cNvPr>
          <p:cNvSpPr>
            <a:spLocks noGrp="1"/>
          </p:cNvSpPr>
          <p:nvPr>
            <p:ph type="sldNum" sz="quarter" idx="12"/>
          </p:nvPr>
        </p:nvSpPr>
        <p:spPr>
          <a:xfrm>
            <a:off x="8610600" y="5850296"/>
            <a:ext cx="2971800" cy="871179"/>
          </a:xfrm>
        </p:spPr>
        <p:txBody>
          <a:bodyPr/>
          <a:lstStyle/>
          <a:p>
            <a:fld id="{330EA680-D336-4FF7-8B7A-9848BB0A1C32}" type="slidenum">
              <a:rPr lang="en-US" smtClean="0">
                <a:solidFill>
                  <a:schemeClr val="tx1"/>
                </a:solidFill>
              </a:rPr>
              <a:t>88</a:t>
            </a:fld>
            <a:endParaRPr lang="en-US">
              <a:solidFill>
                <a:schemeClr val="tx1"/>
              </a:solidFill>
            </a:endParaRPr>
          </a:p>
        </p:txBody>
      </p:sp>
      <p:sp>
        <p:nvSpPr>
          <p:cNvPr id="7" name="Rectangle 6">
            <a:extLst>
              <a:ext uri="{FF2B5EF4-FFF2-40B4-BE49-F238E27FC236}">
                <a16:creationId xmlns:a16="http://schemas.microsoft.com/office/drawing/2014/main" id="{6BC573DC-A5E0-2A47-CE6E-98601E4E2A24}"/>
              </a:ext>
            </a:extLst>
          </p:cNvPr>
          <p:cNvSpPr/>
          <p:nvPr/>
        </p:nvSpPr>
        <p:spPr>
          <a:xfrm>
            <a:off x="4202546" y="969817"/>
            <a:ext cx="3362036" cy="32327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Start</a:t>
            </a:r>
          </a:p>
        </p:txBody>
      </p:sp>
      <p:sp>
        <p:nvSpPr>
          <p:cNvPr id="8" name="Rectangle 7">
            <a:extLst>
              <a:ext uri="{FF2B5EF4-FFF2-40B4-BE49-F238E27FC236}">
                <a16:creationId xmlns:a16="http://schemas.microsoft.com/office/drawing/2014/main" id="{94ED7603-8AAC-9FC7-250D-613B9E1D4F33}"/>
              </a:ext>
            </a:extLst>
          </p:cNvPr>
          <p:cNvSpPr/>
          <p:nvPr/>
        </p:nvSpPr>
        <p:spPr>
          <a:xfrm>
            <a:off x="4202546" y="1441972"/>
            <a:ext cx="3362036" cy="323273"/>
          </a:xfrm>
          <a:prstGeom prst="rect">
            <a:avLst/>
          </a:prstGeom>
          <a:solidFill>
            <a:schemeClr val="accent3">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Select Current AHB Lite Data </a:t>
            </a:r>
          </a:p>
        </p:txBody>
      </p:sp>
      <p:sp>
        <p:nvSpPr>
          <p:cNvPr id="9" name="Rectangle 8">
            <a:extLst>
              <a:ext uri="{FF2B5EF4-FFF2-40B4-BE49-F238E27FC236}">
                <a16:creationId xmlns:a16="http://schemas.microsoft.com/office/drawing/2014/main" id="{0FCDD78B-D51F-4E91-23CB-74ADFE8AFA59}"/>
              </a:ext>
            </a:extLst>
          </p:cNvPr>
          <p:cNvSpPr/>
          <p:nvPr/>
        </p:nvSpPr>
        <p:spPr>
          <a:xfrm>
            <a:off x="4202546" y="2004292"/>
            <a:ext cx="3362036" cy="325083"/>
          </a:xfrm>
          <a:prstGeom prst="rect">
            <a:avLst/>
          </a:prstGeom>
          <a:solidFill>
            <a:schemeClr val="accent5">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Compare with Previous data</a:t>
            </a:r>
          </a:p>
        </p:txBody>
      </p:sp>
      <p:sp>
        <p:nvSpPr>
          <p:cNvPr id="10" name="Rectangle 9">
            <a:extLst>
              <a:ext uri="{FF2B5EF4-FFF2-40B4-BE49-F238E27FC236}">
                <a16:creationId xmlns:a16="http://schemas.microsoft.com/office/drawing/2014/main" id="{F47476C2-57DA-1BDB-E31C-828E7D652FA4}"/>
              </a:ext>
            </a:extLst>
          </p:cNvPr>
          <p:cNvSpPr/>
          <p:nvPr/>
        </p:nvSpPr>
        <p:spPr>
          <a:xfrm>
            <a:off x="4202546" y="2581453"/>
            <a:ext cx="3362035" cy="323273"/>
          </a:xfrm>
          <a:prstGeom prst="rect">
            <a:avLst/>
          </a:prstGeom>
          <a:solidFill>
            <a:schemeClr val="accent2">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XOR Operation between them</a:t>
            </a:r>
          </a:p>
        </p:txBody>
      </p:sp>
      <p:sp>
        <p:nvSpPr>
          <p:cNvPr id="15" name="Rectangle 14">
            <a:extLst>
              <a:ext uri="{FF2B5EF4-FFF2-40B4-BE49-F238E27FC236}">
                <a16:creationId xmlns:a16="http://schemas.microsoft.com/office/drawing/2014/main" id="{028032A0-8A83-588B-472B-7C2614498BE0}"/>
              </a:ext>
            </a:extLst>
          </p:cNvPr>
          <p:cNvSpPr/>
          <p:nvPr/>
        </p:nvSpPr>
        <p:spPr>
          <a:xfrm>
            <a:off x="360219" y="3558858"/>
            <a:ext cx="2706254" cy="323273"/>
          </a:xfrm>
          <a:prstGeom prst="rect">
            <a:avLst/>
          </a:prstGeom>
          <a:solidFill>
            <a:schemeClr val="bg2">
              <a:lumMod val="9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Invert Data and INV=1</a:t>
            </a:r>
          </a:p>
        </p:txBody>
      </p:sp>
      <p:sp>
        <p:nvSpPr>
          <p:cNvPr id="16" name="Diamond 15">
            <a:extLst>
              <a:ext uri="{FF2B5EF4-FFF2-40B4-BE49-F238E27FC236}">
                <a16:creationId xmlns:a16="http://schemas.microsoft.com/office/drawing/2014/main" id="{F857CAE3-D77E-1707-1A20-EA64D575EE3E}"/>
              </a:ext>
            </a:extLst>
          </p:cNvPr>
          <p:cNvSpPr/>
          <p:nvPr/>
        </p:nvSpPr>
        <p:spPr>
          <a:xfrm>
            <a:off x="4331854" y="3131895"/>
            <a:ext cx="3103418" cy="1177200"/>
          </a:xfrm>
          <a:prstGeom prst="diamond">
            <a:avLst/>
          </a:prstGeom>
          <a:solidFill>
            <a:srgbClr val="FFCCFF"/>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Transitions &gt; width/2</a:t>
            </a:r>
          </a:p>
        </p:txBody>
      </p:sp>
      <p:sp>
        <p:nvSpPr>
          <p:cNvPr id="17" name="Rectangle 16">
            <a:extLst>
              <a:ext uri="{FF2B5EF4-FFF2-40B4-BE49-F238E27FC236}">
                <a16:creationId xmlns:a16="http://schemas.microsoft.com/office/drawing/2014/main" id="{C14016C0-01DD-79BC-B89F-715E057B0EDA}"/>
              </a:ext>
            </a:extLst>
          </p:cNvPr>
          <p:cNvSpPr/>
          <p:nvPr/>
        </p:nvSpPr>
        <p:spPr>
          <a:xfrm>
            <a:off x="8506691" y="3558858"/>
            <a:ext cx="2743199" cy="323273"/>
          </a:xfrm>
          <a:prstGeom prst="rect">
            <a:avLst/>
          </a:prstGeom>
          <a:solidFill>
            <a:schemeClr val="bg2">
              <a:lumMod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Send Original data INV=0</a:t>
            </a:r>
          </a:p>
        </p:txBody>
      </p:sp>
      <p:sp>
        <p:nvSpPr>
          <p:cNvPr id="18" name="Rectangle 17">
            <a:extLst>
              <a:ext uri="{FF2B5EF4-FFF2-40B4-BE49-F238E27FC236}">
                <a16:creationId xmlns:a16="http://schemas.microsoft.com/office/drawing/2014/main" id="{A4A4B5FE-D90C-0F01-A34C-0906E83D983C}"/>
              </a:ext>
            </a:extLst>
          </p:cNvPr>
          <p:cNvSpPr/>
          <p:nvPr/>
        </p:nvSpPr>
        <p:spPr>
          <a:xfrm>
            <a:off x="4294909" y="4847221"/>
            <a:ext cx="3228108" cy="323273"/>
          </a:xfrm>
          <a:prstGeom prst="rect">
            <a:avLst/>
          </a:prstGeom>
          <a:solidFill>
            <a:srgbClr val="81960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Transmit data + INV Bit </a:t>
            </a:r>
          </a:p>
        </p:txBody>
      </p:sp>
      <p:sp>
        <p:nvSpPr>
          <p:cNvPr id="19" name="Rectangle 18">
            <a:extLst>
              <a:ext uri="{FF2B5EF4-FFF2-40B4-BE49-F238E27FC236}">
                <a16:creationId xmlns:a16="http://schemas.microsoft.com/office/drawing/2014/main" id="{DB58C829-85BF-9E7A-FDA9-9D9B67AB8BA0}"/>
              </a:ext>
            </a:extLst>
          </p:cNvPr>
          <p:cNvSpPr/>
          <p:nvPr/>
        </p:nvSpPr>
        <p:spPr>
          <a:xfrm>
            <a:off x="4294909" y="5376942"/>
            <a:ext cx="3177308" cy="323273"/>
          </a:xfrm>
          <a:prstGeom prst="rect">
            <a:avLst/>
          </a:prstGeom>
          <a:solidFill>
            <a:schemeClr val="tx2">
              <a:lumMod val="25000"/>
              <a:lumOff val="7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Receiver Checks Invert Bit</a:t>
            </a:r>
          </a:p>
        </p:txBody>
      </p:sp>
      <p:sp>
        <p:nvSpPr>
          <p:cNvPr id="20" name="Rectangle 19">
            <a:extLst>
              <a:ext uri="{FF2B5EF4-FFF2-40B4-BE49-F238E27FC236}">
                <a16:creationId xmlns:a16="http://schemas.microsoft.com/office/drawing/2014/main" id="{6CEC2CBD-BA58-11DB-1B11-258E64BBB7FD}"/>
              </a:ext>
            </a:extLst>
          </p:cNvPr>
          <p:cNvSpPr/>
          <p:nvPr/>
        </p:nvSpPr>
        <p:spPr>
          <a:xfrm>
            <a:off x="4294909" y="5881037"/>
            <a:ext cx="3177308" cy="323273"/>
          </a:xfrm>
          <a:prstGeom prst="rect">
            <a:avLst/>
          </a:prstGeom>
          <a:solidFill>
            <a:srgbClr val="FBFBBB"/>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Recover Original Data</a:t>
            </a:r>
          </a:p>
        </p:txBody>
      </p:sp>
      <p:sp>
        <p:nvSpPr>
          <p:cNvPr id="21" name="Rectangle 20">
            <a:extLst>
              <a:ext uri="{FF2B5EF4-FFF2-40B4-BE49-F238E27FC236}">
                <a16:creationId xmlns:a16="http://schemas.microsoft.com/office/drawing/2014/main" id="{5495A440-EB4B-D22F-EEF7-9BBC30299B02}"/>
              </a:ext>
            </a:extLst>
          </p:cNvPr>
          <p:cNvSpPr/>
          <p:nvPr/>
        </p:nvSpPr>
        <p:spPr>
          <a:xfrm>
            <a:off x="4294909" y="6383061"/>
            <a:ext cx="3177308" cy="323273"/>
          </a:xfrm>
          <a:prstGeom prst="rect">
            <a:avLst/>
          </a:prstGeom>
          <a:solidFill>
            <a:schemeClr val="accent1">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End</a:t>
            </a:r>
          </a:p>
        </p:txBody>
      </p:sp>
      <p:cxnSp>
        <p:nvCxnSpPr>
          <p:cNvPr id="23" name="Straight Arrow Connector 22">
            <a:extLst>
              <a:ext uri="{FF2B5EF4-FFF2-40B4-BE49-F238E27FC236}">
                <a16:creationId xmlns:a16="http://schemas.microsoft.com/office/drawing/2014/main" id="{CDCB0232-1ADC-3590-07DF-87B78DFD6CF0}"/>
              </a:ext>
            </a:extLst>
          </p:cNvPr>
          <p:cNvCxnSpPr>
            <a:stCxn id="7" idx="2"/>
            <a:endCxn id="8" idx="0"/>
          </p:cNvCxnSpPr>
          <p:nvPr/>
        </p:nvCxnSpPr>
        <p:spPr>
          <a:xfrm>
            <a:off x="5883564" y="1293090"/>
            <a:ext cx="0" cy="14888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3D34D9C-4B9A-2B16-53DB-6F36AE22BF13}"/>
              </a:ext>
            </a:extLst>
          </p:cNvPr>
          <p:cNvCxnSpPr>
            <a:stCxn id="8" idx="2"/>
            <a:endCxn id="9" idx="0"/>
          </p:cNvCxnSpPr>
          <p:nvPr/>
        </p:nvCxnSpPr>
        <p:spPr>
          <a:xfrm>
            <a:off x="5883564" y="1765245"/>
            <a:ext cx="0" cy="23904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1A0B4E3-3CA2-37AF-CC0F-7B443070B293}"/>
              </a:ext>
            </a:extLst>
          </p:cNvPr>
          <p:cNvCxnSpPr>
            <a:stCxn id="9" idx="2"/>
            <a:endCxn id="10" idx="0"/>
          </p:cNvCxnSpPr>
          <p:nvPr/>
        </p:nvCxnSpPr>
        <p:spPr>
          <a:xfrm>
            <a:off x="5883564" y="2329375"/>
            <a:ext cx="0" cy="25207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86E23E8-6263-2095-733E-FEBEFC469EC1}"/>
              </a:ext>
            </a:extLst>
          </p:cNvPr>
          <p:cNvCxnSpPr>
            <a:stCxn id="10" idx="2"/>
            <a:endCxn id="16" idx="0"/>
          </p:cNvCxnSpPr>
          <p:nvPr/>
        </p:nvCxnSpPr>
        <p:spPr>
          <a:xfrm flipH="1">
            <a:off x="5883563" y="2904726"/>
            <a:ext cx="1" cy="227169"/>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C61F9171-E09D-6678-E8A4-A3D50E85A4E0}"/>
              </a:ext>
            </a:extLst>
          </p:cNvPr>
          <p:cNvCxnSpPr>
            <a:cxnSpLocks/>
            <a:stCxn id="16" idx="3"/>
            <a:endCxn id="17" idx="1"/>
          </p:cNvCxnSpPr>
          <p:nvPr/>
        </p:nvCxnSpPr>
        <p:spPr>
          <a:xfrm>
            <a:off x="7435272" y="3720495"/>
            <a:ext cx="107141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4DDD3A48-328F-3710-C56D-F7E7D059A9A8}"/>
              </a:ext>
            </a:extLst>
          </p:cNvPr>
          <p:cNvCxnSpPr>
            <a:stCxn id="16" idx="1"/>
            <a:endCxn id="15" idx="3"/>
          </p:cNvCxnSpPr>
          <p:nvPr/>
        </p:nvCxnSpPr>
        <p:spPr>
          <a:xfrm flipH="1">
            <a:off x="3066473" y="3720495"/>
            <a:ext cx="1265381"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F690AA9E-DE22-DD90-E30E-4E58F2C1C54A}"/>
              </a:ext>
            </a:extLst>
          </p:cNvPr>
          <p:cNvCxnSpPr>
            <a:cxnSpLocks/>
          </p:cNvCxnSpPr>
          <p:nvPr/>
        </p:nvCxnSpPr>
        <p:spPr>
          <a:xfrm rot="5400000">
            <a:off x="7415700" y="2392767"/>
            <a:ext cx="965090" cy="3969328"/>
          </a:xfrm>
          <a:prstGeom prst="bentConnector3">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5AA96F7A-B8DF-2E8C-3D90-4338549DC66E}"/>
              </a:ext>
            </a:extLst>
          </p:cNvPr>
          <p:cNvCxnSpPr>
            <a:cxnSpLocks/>
          </p:cNvCxnSpPr>
          <p:nvPr/>
        </p:nvCxnSpPr>
        <p:spPr>
          <a:xfrm rot="16200000" flipH="1">
            <a:off x="3328610" y="2293971"/>
            <a:ext cx="965090" cy="4195617"/>
          </a:xfrm>
          <a:prstGeom prst="bentConnector3">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E213C68-8B21-B09B-BC5D-203FB95D52F4}"/>
              </a:ext>
            </a:extLst>
          </p:cNvPr>
          <p:cNvCxnSpPr>
            <a:cxnSpLocks/>
          </p:cNvCxnSpPr>
          <p:nvPr/>
        </p:nvCxnSpPr>
        <p:spPr>
          <a:xfrm>
            <a:off x="5918199" y="5700215"/>
            <a:ext cx="0" cy="18796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29F21860-4CB8-4E1A-4A03-BB8138ED827A}"/>
              </a:ext>
            </a:extLst>
          </p:cNvPr>
          <p:cNvCxnSpPr>
            <a:cxnSpLocks/>
            <a:stCxn id="20" idx="2"/>
            <a:endCxn id="21" idx="0"/>
          </p:cNvCxnSpPr>
          <p:nvPr/>
        </p:nvCxnSpPr>
        <p:spPr>
          <a:xfrm>
            <a:off x="5883563" y="6204310"/>
            <a:ext cx="0" cy="178751"/>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247BB695-1FAF-AABF-4ECF-375E961D95F1}"/>
              </a:ext>
            </a:extLst>
          </p:cNvPr>
          <p:cNvCxnSpPr>
            <a:cxnSpLocks/>
          </p:cNvCxnSpPr>
          <p:nvPr/>
        </p:nvCxnSpPr>
        <p:spPr>
          <a:xfrm>
            <a:off x="5911271" y="5170494"/>
            <a:ext cx="0" cy="18796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0111F3E7-663B-3B90-CF07-A141FEF017D4}"/>
              </a:ext>
            </a:extLst>
          </p:cNvPr>
          <p:cNvSpPr txBox="1"/>
          <p:nvPr/>
        </p:nvSpPr>
        <p:spPr>
          <a:xfrm>
            <a:off x="3498824" y="3406617"/>
            <a:ext cx="527645" cy="369332"/>
          </a:xfrm>
          <a:prstGeom prst="rect">
            <a:avLst/>
          </a:prstGeom>
          <a:noFill/>
        </p:spPr>
        <p:txBody>
          <a:bodyPr wrap="none" rtlCol="0">
            <a:spAutoFit/>
          </a:bodyPr>
          <a:lstStyle/>
          <a:p>
            <a:r>
              <a:rPr lang="en-IN"/>
              <a:t>Yes</a:t>
            </a:r>
          </a:p>
        </p:txBody>
      </p:sp>
      <p:sp>
        <p:nvSpPr>
          <p:cNvPr id="65" name="TextBox 64">
            <a:extLst>
              <a:ext uri="{FF2B5EF4-FFF2-40B4-BE49-F238E27FC236}">
                <a16:creationId xmlns:a16="http://schemas.microsoft.com/office/drawing/2014/main" id="{1A5CE46E-D81D-5630-9C86-95C7BD563543}"/>
              </a:ext>
            </a:extLst>
          </p:cNvPr>
          <p:cNvSpPr txBox="1"/>
          <p:nvPr/>
        </p:nvSpPr>
        <p:spPr>
          <a:xfrm>
            <a:off x="7805881" y="3399702"/>
            <a:ext cx="474810" cy="369332"/>
          </a:xfrm>
          <a:prstGeom prst="rect">
            <a:avLst/>
          </a:prstGeom>
          <a:noFill/>
        </p:spPr>
        <p:txBody>
          <a:bodyPr wrap="none" rtlCol="0">
            <a:spAutoFit/>
          </a:bodyPr>
          <a:lstStyle/>
          <a:p>
            <a:r>
              <a:rPr lang="en-IN"/>
              <a:t>No</a:t>
            </a:r>
          </a:p>
        </p:txBody>
      </p:sp>
      <p:sp>
        <p:nvSpPr>
          <p:cNvPr id="67" name="TextBox 66">
            <a:extLst>
              <a:ext uri="{FF2B5EF4-FFF2-40B4-BE49-F238E27FC236}">
                <a16:creationId xmlns:a16="http://schemas.microsoft.com/office/drawing/2014/main" id="{6E0CBCD5-D021-22AF-B046-FF1500B3101B}"/>
              </a:ext>
            </a:extLst>
          </p:cNvPr>
          <p:cNvSpPr txBox="1"/>
          <p:nvPr/>
        </p:nvSpPr>
        <p:spPr>
          <a:xfrm>
            <a:off x="7472217" y="6433682"/>
            <a:ext cx="4701223" cy="338554"/>
          </a:xfrm>
          <a:prstGeom prst="rect">
            <a:avLst/>
          </a:prstGeom>
          <a:noFill/>
        </p:spPr>
        <p:txBody>
          <a:bodyPr wrap="none" rtlCol="0">
            <a:spAutoFit/>
          </a:bodyPr>
          <a:lstStyle/>
          <a:p>
            <a:r>
              <a:rPr lang="en-IN" sz="1600"/>
              <a:t>Fig 3. Transition Inversion Flow in AHB Lite Interface</a:t>
            </a:r>
          </a:p>
        </p:txBody>
      </p:sp>
    </p:spTree>
    <p:extLst>
      <p:ext uri="{BB962C8B-B14F-4D97-AF65-F5344CB8AC3E}">
        <p14:creationId xmlns:p14="http://schemas.microsoft.com/office/powerpoint/2010/main" val="16998695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32C1F49-F9E8-C3BE-5AE1-63CBD02732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983D81-3796-E46D-7DC4-F5E9FE39BC08}"/>
              </a:ext>
            </a:extLst>
          </p:cNvPr>
          <p:cNvSpPr>
            <a:spLocks noGrp="1"/>
          </p:cNvSpPr>
          <p:nvPr>
            <p:ph idx="1"/>
          </p:nvPr>
        </p:nvSpPr>
        <p:spPr>
          <a:xfrm>
            <a:off x="549608" y="1247024"/>
            <a:ext cx="4474974" cy="5474451"/>
          </a:xfrm>
        </p:spPr>
        <p:txBody>
          <a:bodyPr vert="horz" lIns="91440" tIns="45720" rIns="91440" bIns="45720" rtlCol="0" anchor="t">
            <a:noAutofit/>
          </a:bodyPr>
          <a:lstStyle/>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module </a:t>
            </a:r>
            <a:r>
              <a:rPr lang="en-IN" sz="1600" err="1">
                <a:latin typeface="Calibri" panose="020F0502020204030204" pitchFamily="34" charset="0"/>
                <a:ea typeface="Calibri" panose="020F0502020204030204" pitchFamily="34" charset="0"/>
                <a:cs typeface="Calibri" panose="020F0502020204030204" pitchFamily="34" charset="0"/>
              </a:rPr>
              <a:t>ahb_transition_inversion_encoder</a:t>
            </a:r>
            <a:r>
              <a:rPr lang="en-IN" sz="1600">
                <a:latin typeface="Calibri" panose="020F0502020204030204" pitchFamily="34" charset="0"/>
                <a:ea typeface="Calibri" panose="020F0502020204030204" pitchFamily="34" charset="0"/>
                <a:cs typeface="Calibri" panose="020F0502020204030204" pitchFamily="34" charset="0"/>
              </a:rPr>
              <a:t> #(</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parameter DATA_WIDTH = 32</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input logic </a:t>
            </a:r>
            <a:r>
              <a:rPr lang="en-IN" sz="1600" err="1">
                <a:latin typeface="Calibri" panose="020F0502020204030204" pitchFamily="34" charset="0"/>
                <a:ea typeface="Calibri" panose="020F0502020204030204" pitchFamily="34" charset="0"/>
                <a:cs typeface="Calibri" panose="020F0502020204030204" pitchFamily="34" charset="0"/>
              </a:rPr>
              <a:t>hclk</a:t>
            </a:r>
            <a:r>
              <a:rPr lang="en-IN" sz="1600">
                <a:latin typeface="Calibri" panose="020F0502020204030204" pitchFamily="34" charset="0"/>
                <a:ea typeface="Calibri" panose="020F0502020204030204" pitchFamily="34" charset="0"/>
                <a:cs typeface="Calibri" panose="020F0502020204030204" pitchFamily="34" charset="0"/>
              </a:rPr>
              <a:t>,</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input logic </a:t>
            </a:r>
            <a:r>
              <a:rPr lang="en-IN" sz="1600" err="1">
                <a:latin typeface="Calibri" panose="020F0502020204030204" pitchFamily="34" charset="0"/>
                <a:ea typeface="Calibri" panose="020F0502020204030204" pitchFamily="34" charset="0"/>
                <a:cs typeface="Calibri" panose="020F0502020204030204" pitchFamily="34" charset="0"/>
              </a:rPr>
              <a:t>hreset_n</a:t>
            </a:r>
            <a:r>
              <a:rPr lang="en-IN" sz="1600">
                <a:latin typeface="Calibri" panose="020F0502020204030204" pitchFamily="34" charset="0"/>
                <a:ea typeface="Calibri" panose="020F0502020204030204" pitchFamily="34" charset="0"/>
                <a:cs typeface="Calibri" panose="020F0502020204030204" pitchFamily="34" charset="0"/>
              </a:rPr>
              <a:t>,</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input logic [DATA_WIDTH-1:0] </a:t>
            </a:r>
            <a:r>
              <a:rPr lang="en-IN" sz="1600" err="1">
                <a:latin typeface="Calibri" panose="020F0502020204030204" pitchFamily="34" charset="0"/>
                <a:ea typeface="Calibri" panose="020F0502020204030204" pitchFamily="34" charset="0"/>
                <a:cs typeface="Calibri" panose="020F0502020204030204" pitchFamily="34" charset="0"/>
              </a:rPr>
              <a:t>data_in</a:t>
            </a:r>
            <a:r>
              <a:rPr lang="en-IN" sz="1600">
                <a:latin typeface="Calibri" panose="020F0502020204030204" pitchFamily="34" charset="0"/>
                <a:ea typeface="Calibri" panose="020F0502020204030204" pitchFamily="34" charset="0"/>
                <a:cs typeface="Calibri" panose="020F0502020204030204" pitchFamily="34" charset="0"/>
              </a:rPr>
              <a:t>,</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output logic [DATA_WIDTH-1:0] </a:t>
            </a:r>
            <a:r>
              <a:rPr lang="en-IN" sz="1600" err="1">
                <a:latin typeface="Calibri" panose="020F0502020204030204" pitchFamily="34" charset="0"/>
                <a:ea typeface="Calibri" panose="020F0502020204030204" pitchFamily="34" charset="0"/>
                <a:cs typeface="Calibri" panose="020F0502020204030204" pitchFamily="34" charset="0"/>
              </a:rPr>
              <a:t>data_out</a:t>
            </a:r>
            <a:r>
              <a:rPr lang="en-IN" sz="1600">
                <a:latin typeface="Calibri" panose="020F0502020204030204" pitchFamily="34" charset="0"/>
                <a:ea typeface="Calibri" panose="020F0502020204030204" pitchFamily="34" charset="0"/>
                <a:cs typeface="Calibri" panose="020F0502020204030204" pitchFamily="34" charset="0"/>
              </a:rPr>
              <a:t>,</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output logic </a:t>
            </a:r>
            <a:r>
              <a:rPr lang="en-IN" sz="1600" err="1">
                <a:latin typeface="Calibri" panose="020F0502020204030204" pitchFamily="34" charset="0"/>
                <a:ea typeface="Calibri" panose="020F0502020204030204" pitchFamily="34" charset="0"/>
                <a:cs typeface="Calibri" panose="020F0502020204030204" pitchFamily="34" charset="0"/>
              </a:rPr>
              <a:t>inv</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logic [DATA_WIDTH-1:0] </a:t>
            </a:r>
            <a:r>
              <a:rPr lang="en-IN" sz="1600" err="1">
                <a:latin typeface="Calibri" panose="020F0502020204030204" pitchFamily="34" charset="0"/>
                <a:ea typeface="Calibri" panose="020F0502020204030204" pitchFamily="34" charset="0"/>
                <a:cs typeface="Calibri" panose="020F0502020204030204" pitchFamily="34" charset="0"/>
              </a:rPr>
              <a:t>prev_data</a:t>
            </a:r>
            <a:r>
              <a:rPr lang="en-IN" sz="1600">
                <a:latin typeface="Calibri" panose="020F0502020204030204" pitchFamily="34" charset="0"/>
                <a:ea typeface="Calibri" panose="020F0502020204030204" pitchFamily="34" charset="0"/>
                <a:cs typeface="Calibri" panose="020F0502020204030204" pitchFamily="34" charset="0"/>
              </a:rPr>
              <a:t>;</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integer </a:t>
            </a:r>
            <a:r>
              <a:rPr lang="en-IN" sz="1600" err="1">
                <a:latin typeface="Calibri" panose="020F0502020204030204" pitchFamily="34" charset="0"/>
                <a:ea typeface="Calibri" panose="020F0502020204030204" pitchFamily="34" charset="0"/>
                <a:cs typeface="Calibri" panose="020F0502020204030204" pitchFamily="34" charset="0"/>
              </a:rPr>
              <a:t>transition_count</a:t>
            </a:r>
            <a:r>
              <a:rPr lang="en-IN" sz="1600">
                <a:latin typeface="Calibri" panose="020F0502020204030204" pitchFamily="34" charset="0"/>
                <a:ea typeface="Calibri" panose="020F0502020204030204" pitchFamily="34" charset="0"/>
                <a:cs typeface="Calibri" panose="020F0502020204030204" pitchFamily="34" charset="0"/>
              </a:rPr>
              <a:t>;</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integer </a:t>
            </a:r>
            <a:r>
              <a:rPr lang="en-IN" sz="1600" err="1">
                <a:latin typeface="Calibri" panose="020F0502020204030204" pitchFamily="34" charset="0"/>
                <a:ea typeface="Calibri" panose="020F0502020204030204" pitchFamily="34" charset="0"/>
                <a:cs typeface="Calibri" panose="020F0502020204030204" pitchFamily="34" charset="0"/>
              </a:rPr>
              <a:t>i</a:t>
            </a:r>
            <a:r>
              <a:rPr lang="en-IN" sz="160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IN" sz="1600" err="1">
                <a:latin typeface="Calibri" panose="020F0502020204030204" pitchFamily="34" charset="0"/>
                <a:ea typeface="Calibri" panose="020F0502020204030204" pitchFamily="34" charset="0"/>
                <a:cs typeface="Calibri" panose="020F0502020204030204" pitchFamily="34" charset="0"/>
              </a:rPr>
              <a:t>always_ff</a:t>
            </a:r>
            <a:r>
              <a:rPr lang="en-IN" sz="1600">
                <a:latin typeface="Calibri" panose="020F0502020204030204" pitchFamily="34" charset="0"/>
                <a:ea typeface="Calibri" panose="020F0502020204030204" pitchFamily="34" charset="0"/>
                <a:cs typeface="Calibri" panose="020F0502020204030204" pitchFamily="34" charset="0"/>
              </a:rPr>
              <a:t> @(posedge </a:t>
            </a:r>
            <a:r>
              <a:rPr lang="en-IN" sz="1600" err="1">
                <a:latin typeface="Calibri" panose="020F0502020204030204" pitchFamily="34" charset="0"/>
                <a:ea typeface="Calibri" panose="020F0502020204030204" pitchFamily="34" charset="0"/>
                <a:cs typeface="Calibri" panose="020F0502020204030204" pitchFamily="34" charset="0"/>
              </a:rPr>
              <a:t>hclk</a:t>
            </a:r>
            <a:r>
              <a:rPr lang="en-IN" sz="1600">
                <a:latin typeface="Calibri" panose="020F0502020204030204" pitchFamily="34" charset="0"/>
                <a:ea typeface="Calibri" panose="020F0502020204030204" pitchFamily="34" charset="0"/>
                <a:cs typeface="Calibri" panose="020F0502020204030204" pitchFamily="34" charset="0"/>
              </a:rPr>
              <a:t> or </a:t>
            </a:r>
            <a:r>
              <a:rPr lang="en-IN" sz="1600" err="1">
                <a:latin typeface="Calibri" panose="020F0502020204030204" pitchFamily="34" charset="0"/>
                <a:ea typeface="Calibri" panose="020F0502020204030204" pitchFamily="34" charset="0"/>
                <a:cs typeface="Calibri" panose="020F0502020204030204" pitchFamily="34" charset="0"/>
              </a:rPr>
              <a:t>negedge</a:t>
            </a:r>
            <a:r>
              <a:rPr lang="en-IN" sz="1600">
                <a:latin typeface="Calibri" panose="020F0502020204030204" pitchFamily="34" charset="0"/>
                <a:ea typeface="Calibri" panose="020F0502020204030204" pitchFamily="34" charset="0"/>
                <a:cs typeface="Calibri" panose="020F0502020204030204" pitchFamily="34" charset="0"/>
              </a:rPr>
              <a:t> </a:t>
            </a:r>
            <a:r>
              <a:rPr lang="en-IN" sz="1600" err="1">
                <a:latin typeface="Calibri" panose="020F0502020204030204" pitchFamily="34" charset="0"/>
                <a:ea typeface="Calibri" panose="020F0502020204030204" pitchFamily="34" charset="0"/>
                <a:cs typeface="Calibri" panose="020F0502020204030204" pitchFamily="34" charset="0"/>
              </a:rPr>
              <a:t>hreset_n</a:t>
            </a:r>
            <a:r>
              <a:rPr lang="en-IN" sz="1600">
                <a:latin typeface="Calibri" panose="020F0502020204030204" pitchFamily="34" charset="0"/>
                <a:ea typeface="Calibri" panose="020F0502020204030204" pitchFamily="34" charset="0"/>
                <a:cs typeface="Calibri" panose="020F0502020204030204" pitchFamily="34" charset="0"/>
              </a:rPr>
              <a:t>) begin</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if (!</a:t>
            </a:r>
            <a:r>
              <a:rPr lang="en-IN" sz="1600" err="1">
                <a:latin typeface="Calibri" panose="020F0502020204030204" pitchFamily="34" charset="0"/>
                <a:ea typeface="Calibri" panose="020F0502020204030204" pitchFamily="34" charset="0"/>
                <a:cs typeface="Calibri" panose="020F0502020204030204" pitchFamily="34" charset="0"/>
              </a:rPr>
              <a:t>hreset_n</a:t>
            </a:r>
            <a:r>
              <a:rPr lang="en-IN" sz="1600">
                <a:latin typeface="Calibri" panose="020F0502020204030204" pitchFamily="34" charset="0"/>
                <a:ea typeface="Calibri" panose="020F0502020204030204" pitchFamily="34" charset="0"/>
                <a:cs typeface="Calibri" panose="020F0502020204030204" pitchFamily="34" charset="0"/>
              </a:rPr>
              <a:t>) </a:t>
            </a:r>
            <a:r>
              <a:rPr lang="en-IN" sz="1600" err="1">
                <a:latin typeface="Calibri" panose="020F0502020204030204" pitchFamily="34" charset="0"/>
                <a:ea typeface="Calibri" panose="020F0502020204030204" pitchFamily="34" charset="0"/>
                <a:cs typeface="Calibri" panose="020F0502020204030204" pitchFamily="34" charset="0"/>
              </a:rPr>
              <a:t>prev_data</a:t>
            </a:r>
            <a:r>
              <a:rPr lang="en-IN" sz="1600">
                <a:latin typeface="Calibri" panose="020F0502020204030204" pitchFamily="34" charset="0"/>
                <a:ea typeface="Calibri" panose="020F0502020204030204" pitchFamily="34" charset="0"/>
                <a:cs typeface="Calibri" panose="020F0502020204030204" pitchFamily="34" charset="0"/>
              </a:rPr>
              <a:t> &lt;= '0;</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else </a:t>
            </a:r>
            <a:r>
              <a:rPr lang="en-IN" sz="1600" err="1">
                <a:latin typeface="Calibri" panose="020F0502020204030204" pitchFamily="34" charset="0"/>
                <a:ea typeface="Calibri" panose="020F0502020204030204" pitchFamily="34" charset="0"/>
                <a:cs typeface="Calibri" panose="020F0502020204030204" pitchFamily="34" charset="0"/>
              </a:rPr>
              <a:t>prev_data</a:t>
            </a:r>
            <a:r>
              <a:rPr lang="en-IN" sz="1600">
                <a:latin typeface="Calibri" panose="020F0502020204030204" pitchFamily="34" charset="0"/>
                <a:ea typeface="Calibri" panose="020F0502020204030204" pitchFamily="34" charset="0"/>
                <a:cs typeface="Calibri" panose="020F0502020204030204" pitchFamily="34" charset="0"/>
              </a:rPr>
              <a:t> &lt;= </a:t>
            </a:r>
            <a:r>
              <a:rPr lang="en-IN" sz="1600" err="1">
                <a:latin typeface="Calibri" panose="020F0502020204030204" pitchFamily="34" charset="0"/>
                <a:ea typeface="Calibri" panose="020F0502020204030204" pitchFamily="34" charset="0"/>
                <a:cs typeface="Calibri" panose="020F0502020204030204" pitchFamily="34" charset="0"/>
              </a:rPr>
              <a:t>data_out</a:t>
            </a:r>
            <a:r>
              <a:rPr lang="en-IN" sz="1600">
                <a:latin typeface="Calibri" panose="020F0502020204030204" pitchFamily="34" charset="0"/>
                <a:ea typeface="Calibri" panose="020F0502020204030204" pitchFamily="34" charset="0"/>
                <a:cs typeface="Calibri" panose="020F0502020204030204" pitchFamily="34" charset="0"/>
              </a:rPr>
              <a:t>;</a:t>
            </a:r>
            <a:br>
              <a:rPr lang="en-IN" sz="1600">
                <a:latin typeface="Calibri" panose="020F0502020204030204" pitchFamily="34" charset="0"/>
                <a:ea typeface="Calibri" panose="020F0502020204030204" pitchFamily="34" charset="0"/>
                <a:cs typeface="Calibri" panose="020F0502020204030204" pitchFamily="34" charset="0"/>
              </a:rPr>
            </a:br>
            <a:endParaRPr lang="en-IN" sz="160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2F3055AA-491B-C763-2C87-82A6493D0FDE}"/>
              </a:ext>
            </a:extLst>
          </p:cNvPr>
          <p:cNvSpPr>
            <a:spLocks noGrp="1"/>
          </p:cNvSpPr>
          <p:nvPr>
            <p:ph type="title"/>
          </p:nvPr>
        </p:nvSpPr>
        <p:spPr>
          <a:xfrm>
            <a:off x="0" y="1"/>
            <a:ext cx="12192000" cy="871180"/>
          </a:xfrm>
          <a:solidFill>
            <a:schemeClr val="accent6"/>
          </a:solidFill>
        </p:spPr>
        <p:txBody>
          <a:bodyPr>
            <a:noAutofit/>
          </a:bodyPr>
          <a:lstStyle/>
          <a:p>
            <a:pPr algn="ctr"/>
            <a:br>
              <a:rPr lang="en-US" sz="2800">
                <a:latin typeface="Calibri" panose="020F0502020204030204" pitchFamily="34" charset="0"/>
                <a:ea typeface="Calibri" panose="020F0502020204030204" pitchFamily="34" charset="0"/>
                <a:cs typeface="Calibri" panose="020F0502020204030204" pitchFamily="34" charset="0"/>
              </a:rPr>
            </a:br>
            <a:r>
              <a:rPr lang="en-US" sz="2800">
                <a:latin typeface="Calibri" panose="020F0502020204030204" pitchFamily="34" charset="0"/>
                <a:ea typeface="Calibri" panose="020F0502020204030204" pitchFamily="34" charset="0"/>
                <a:cs typeface="Calibri" panose="020F0502020204030204" pitchFamily="34" charset="0"/>
              </a:rPr>
              <a:t>Transition Inversion Encoding and Decoding Logic In AHB Lite Interface </a:t>
            </a:r>
            <a:br>
              <a:rPr lang="en-US" sz="2800">
                <a:latin typeface="Calibri" panose="020F0502020204030204" pitchFamily="34" charset="0"/>
                <a:ea typeface="Calibri" panose="020F0502020204030204" pitchFamily="34" charset="0"/>
                <a:cs typeface="Calibri" panose="020F0502020204030204" pitchFamily="34" charset="0"/>
              </a:rPr>
            </a:br>
            <a:endParaRPr lang="en-US" sz="280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F3C70C9-C524-FEB3-5CFC-C2BBE723953A}"/>
              </a:ext>
            </a:extLst>
          </p:cNvPr>
          <p:cNvSpPr>
            <a:spLocks noGrp="1"/>
          </p:cNvSpPr>
          <p:nvPr>
            <p:ph type="sldNum" sz="quarter" idx="12"/>
          </p:nvPr>
        </p:nvSpPr>
        <p:spPr/>
        <p:txBody>
          <a:bodyPr/>
          <a:lstStyle/>
          <a:p>
            <a:fld id="{330EA680-D336-4FF7-8B7A-9848BB0A1C32}" type="slidenum">
              <a:rPr lang="en-US" smtClean="0"/>
              <a:t>89</a:t>
            </a:fld>
            <a:endParaRPr lang="en-US"/>
          </a:p>
        </p:txBody>
      </p:sp>
      <p:sp>
        <p:nvSpPr>
          <p:cNvPr id="2" name="TextBox 1">
            <a:extLst>
              <a:ext uri="{FF2B5EF4-FFF2-40B4-BE49-F238E27FC236}">
                <a16:creationId xmlns:a16="http://schemas.microsoft.com/office/drawing/2014/main" id="{83BC5E70-012B-D3A8-928F-F7C3FA52A2C9}"/>
              </a:ext>
            </a:extLst>
          </p:cNvPr>
          <p:cNvSpPr txBox="1"/>
          <p:nvPr/>
        </p:nvSpPr>
        <p:spPr>
          <a:xfrm>
            <a:off x="5761181" y="972781"/>
            <a:ext cx="4221019" cy="3785652"/>
          </a:xfrm>
          <a:prstGeom prst="rect">
            <a:avLst/>
          </a:prstGeom>
          <a:noFill/>
        </p:spPr>
        <p:txBody>
          <a:bodyPr wrap="square" rtlCol="0">
            <a:spAutoFit/>
          </a:bodyPr>
          <a:lstStyle/>
          <a:p>
            <a:br>
              <a:rPr lang="en-IN" sz="1600">
                <a:latin typeface="Calibri" panose="020F0502020204030204" pitchFamily="34" charset="0"/>
                <a:ea typeface="Calibri" panose="020F0502020204030204" pitchFamily="34" charset="0"/>
                <a:cs typeface="Calibri" panose="020F0502020204030204" pitchFamily="34" charset="0"/>
              </a:rPr>
            </a:br>
            <a:r>
              <a:rPr lang="en-IN" sz="1600" err="1">
                <a:latin typeface="Calibri" panose="020F0502020204030204" pitchFamily="34" charset="0"/>
                <a:ea typeface="Calibri" panose="020F0502020204030204" pitchFamily="34" charset="0"/>
                <a:cs typeface="Calibri" panose="020F0502020204030204" pitchFamily="34" charset="0"/>
              </a:rPr>
              <a:t>always_comb</a:t>
            </a:r>
            <a:r>
              <a:rPr lang="en-IN" sz="1600">
                <a:latin typeface="Calibri" panose="020F0502020204030204" pitchFamily="34" charset="0"/>
                <a:ea typeface="Calibri" panose="020F0502020204030204" pitchFamily="34" charset="0"/>
                <a:cs typeface="Calibri" panose="020F0502020204030204" pitchFamily="34" charset="0"/>
              </a:rPr>
              <a:t> begin</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    </a:t>
            </a:r>
            <a:r>
              <a:rPr lang="en-IN" sz="1600" err="1">
                <a:latin typeface="Calibri" panose="020F0502020204030204" pitchFamily="34" charset="0"/>
                <a:ea typeface="Calibri" panose="020F0502020204030204" pitchFamily="34" charset="0"/>
                <a:cs typeface="Calibri" panose="020F0502020204030204" pitchFamily="34" charset="0"/>
              </a:rPr>
              <a:t>transition_count</a:t>
            </a:r>
            <a:r>
              <a:rPr lang="en-IN" sz="1600">
                <a:latin typeface="Calibri" panose="020F0502020204030204" pitchFamily="34" charset="0"/>
                <a:ea typeface="Calibri" panose="020F0502020204030204" pitchFamily="34" charset="0"/>
                <a:cs typeface="Calibri" panose="020F0502020204030204" pitchFamily="34" charset="0"/>
              </a:rPr>
              <a:t> = 0;</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    for (</a:t>
            </a:r>
            <a:r>
              <a:rPr lang="en-IN" sz="1600" err="1">
                <a:latin typeface="Calibri" panose="020F0502020204030204" pitchFamily="34" charset="0"/>
                <a:ea typeface="Calibri" panose="020F0502020204030204" pitchFamily="34" charset="0"/>
                <a:cs typeface="Calibri" panose="020F0502020204030204" pitchFamily="34" charset="0"/>
              </a:rPr>
              <a:t>i</a:t>
            </a:r>
            <a:r>
              <a:rPr lang="en-IN" sz="1600">
                <a:latin typeface="Calibri" panose="020F0502020204030204" pitchFamily="34" charset="0"/>
                <a:ea typeface="Calibri" panose="020F0502020204030204" pitchFamily="34" charset="0"/>
                <a:cs typeface="Calibri" panose="020F0502020204030204" pitchFamily="34" charset="0"/>
              </a:rPr>
              <a:t> = 0; </a:t>
            </a:r>
            <a:r>
              <a:rPr lang="en-IN" sz="1600" err="1">
                <a:latin typeface="Calibri" panose="020F0502020204030204" pitchFamily="34" charset="0"/>
                <a:ea typeface="Calibri" panose="020F0502020204030204" pitchFamily="34" charset="0"/>
                <a:cs typeface="Calibri" panose="020F0502020204030204" pitchFamily="34" charset="0"/>
              </a:rPr>
              <a:t>i</a:t>
            </a:r>
            <a:r>
              <a:rPr lang="en-IN" sz="1600">
                <a:latin typeface="Calibri" panose="020F0502020204030204" pitchFamily="34" charset="0"/>
                <a:ea typeface="Calibri" panose="020F0502020204030204" pitchFamily="34" charset="0"/>
                <a:cs typeface="Calibri" panose="020F0502020204030204" pitchFamily="34" charset="0"/>
              </a:rPr>
              <a:t> &lt; DATA_WIDTH; </a:t>
            </a:r>
            <a:r>
              <a:rPr lang="en-IN" sz="1600" err="1">
                <a:latin typeface="Calibri" panose="020F0502020204030204" pitchFamily="34" charset="0"/>
                <a:ea typeface="Calibri" panose="020F0502020204030204" pitchFamily="34" charset="0"/>
                <a:cs typeface="Calibri" panose="020F0502020204030204" pitchFamily="34" charset="0"/>
              </a:rPr>
              <a:t>i</a:t>
            </a:r>
            <a:r>
              <a:rPr lang="en-IN" sz="1600">
                <a:latin typeface="Calibri" panose="020F0502020204030204" pitchFamily="34" charset="0"/>
                <a:ea typeface="Calibri" panose="020F0502020204030204" pitchFamily="34" charset="0"/>
                <a:cs typeface="Calibri" panose="020F0502020204030204" pitchFamily="34" charset="0"/>
              </a:rPr>
              <a:t> = </a:t>
            </a:r>
            <a:r>
              <a:rPr lang="en-IN" sz="1600" err="1">
                <a:latin typeface="Calibri" panose="020F0502020204030204" pitchFamily="34" charset="0"/>
                <a:ea typeface="Calibri" panose="020F0502020204030204" pitchFamily="34" charset="0"/>
                <a:cs typeface="Calibri" panose="020F0502020204030204" pitchFamily="34" charset="0"/>
              </a:rPr>
              <a:t>i</a:t>
            </a:r>
            <a:r>
              <a:rPr lang="en-IN" sz="1600">
                <a:latin typeface="Calibri" panose="020F0502020204030204" pitchFamily="34" charset="0"/>
                <a:ea typeface="Calibri" panose="020F0502020204030204" pitchFamily="34" charset="0"/>
                <a:cs typeface="Calibri" panose="020F0502020204030204" pitchFamily="34" charset="0"/>
              </a:rPr>
              <a:t> + 1) </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        // Compare transitions</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        if (</a:t>
            </a:r>
            <a:r>
              <a:rPr lang="en-IN" sz="1600" err="1">
                <a:latin typeface="Calibri" panose="020F0502020204030204" pitchFamily="34" charset="0"/>
                <a:ea typeface="Calibri" panose="020F0502020204030204" pitchFamily="34" charset="0"/>
                <a:cs typeface="Calibri" panose="020F0502020204030204" pitchFamily="34" charset="0"/>
              </a:rPr>
              <a:t>data_in</a:t>
            </a:r>
            <a:r>
              <a:rPr lang="en-IN" sz="1600">
                <a:latin typeface="Calibri" panose="020F0502020204030204" pitchFamily="34" charset="0"/>
                <a:ea typeface="Calibri" panose="020F0502020204030204" pitchFamily="34" charset="0"/>
                <a:cs typeface="Calibri" panose="020F0502020204030204" pitchFamily="34" charset="0"/>
              </a:rPr>
              <a:t>[</a:t>
            </a:r>
            <a:r>
              <a:rPr lang="en-IN" sz="1600" err="1">
                <a:latin typeface="Calibri" panose="020F0502020204030204" pitchFamily="34" charset="0"/>
                <a:ea typeface="Calibri" panose="020F0502020204030204" pitchFamily="34" charset="0"/>
                <a:cs typeface="Calibri" panose="020F0502020204030204" pitchFamily="34" charset="0"/>
              </a:rPr>
              <a:t>i</a:t>
            </a:r>
            <a:r>
              <a:rPr lang="en-IN" sz="1600">
                <a:latin typeface="Calibri" panose="020F0502020204030204" pitchFamily="34" charset="0"/>
                <a:ea typeface="Calibri" panose="020F0502020204030204" pitchFamily="34" charset="0"/>
                <a:cs typeface="Calibri" panose="020F0502020204030204" pitchFamily="34" charset="0"/>
              </a:rPr>
              <a:t>] != </a:t>
            </a:r>
            <a:r>
              <a:rPr lang="en-IN" sz="1600" err="1">
                <a:latin typeface="Calibri" panose="020F0502020204030204" pitchFamily="34" charset="0"/>
                <a:ea typeface="Calibri" panose="020F0502020204030204" pitchFamily="34" charset="0"/>
                <a:cs typeface="Calibri" panose="020F0502020204030204" pitchFamily="34" charset="0"/>
              </a:rPr>
              <a:t>prev_data</a:t>
            </a:r>
            <a:r>
              <a:rPr lang="en-IN" sz="1600">
                <a:latin typeface="Calibri" panose="020F0502020204030204" pitchFamily="34" charset="0"/>
                <a:ea typeface="Calibri" panose="020F0502020204030204" pitchFamily="34" charset="0"/>
                <a:cs typeface="Calibri" panose="020F0502020204030204" pitchFamily="34" charset="0"/>
              </a:rPr>
              <a:t>[</a:t>
            </a:r>
            <a:r>
              <a:rPr lang="en-IN" sz="1600" err="1">
                <a:latin typeface="Calibri" panose="020F0502020204030204" pitchFamily="34" charset="0"/>
                <a:ea typeface="Calibri" panose="020F0502020204030204" pitchFamily="34" charset="0"/>
                <a:cs typeface="Calibri" panose="020F0502020204030204" pitchFamily="34" charset="0"/>
              </a:rPr>
              <a:t>i</a:t>
            </a:r>
            <a:r>
              <a:rPr lang="en-IN" sz="1600">
                <a:latin typeface="Calibri" panose="020F0502020204030204" pitchFamily="34" charset="0"/>
                <a:ea typeface="Calibri" panose="020F0502020204030204" pitchFamily="34" charset="0"/>
                <a:cs typeface="Calibri" panose="020F0502020204030204" pitchFamily="34" charset="0"/>
              </a:rPr>
              <a:t>])</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            </a:t>
            </a:r>
            <a:r>
              <a:rPr lang="en-IN" sz="1600" err="1">
                <a:latin typeface="Calibri" panose="020F0502020204030204" pitchFamily="34" charset="0"/>
                <a:ea typeface="Calibri" panose="020F0502020204030204" pitchFamily="34" charset="0"/>
                <a:cs typeface="Calibri" panose="020F0502020204030204" pitchFamily="34" charset="0"/>
              </a:rPr>
              <a:t>transition_count</a:t>
            </a:r>
            <a:r>
              <a:rPr lang="en-IN" sz="1600">
                <a:latin typeface="Calibri" panose="020F0502020204030204" pitchFamily="34" charset="0"/>
                <a:ea typeface="Calibri" panose="020F0502020204030204" pitchFamily="34" charset="0"/>
                <a:cs typeface="Calibri" panose="020F0502020204030204" pitchFamily="34" charset="0"/>
              </a:rPr>
              <a:t> = </a:t>
            </a:r>
            <a:r>
              <a:rPr lang="en-IN" sz="1600" err="1">
                <a:latin typeface="Calibri" panose="020F0502020204030204" pitchFamily="34" charset="0"/>
                <a:ea typeface="Calibri" panose="020F0502020204030204" pitchFamily="34" charset="0"/>
                <a:cs typeface="Calibri" panose="020F0502020204030204" pitchFamily="34" charset="0"/>
              </a:rPr>
              <a:t>transition_count</a:t>
            </a:r>
            <a:r>
              <a:rPr lang="en-IN" sz="1600">
                <a:latin typeface="Calibri" panose="020F0502020204030204" pitchFamily="34" charset="0"/>
                <a:ea typeface="Calibri" panose="020F0502020204030204" pitchFamily="34" charset="0"/>
                <a:cs typeface="Calibri" panose="020F0502020204030204" pitchFamily="34" charset="0"/>
              </a:rPr>
              <a:t> + 1;</a:t>
            </a:r>
          </a:p>
          <a:p>
            <a:r>
              <a:rPr lang="en-IN" sz="1600" err="1">
                <a:latin typeface="Calibri" panose="020F0502020204030204" pitchFamily="34" charset="0"/>
                <a:ea typeface="Calibri" panose="020F0502020204030204" pitchFamily="34" charset="0"/>
                <a:cs typeface="Calibri" panose="020F0502020204030204" pitchFamily="34" charset="0"/>
              </a:rPr>
              <a:t>always_comb</a:t>
            </a:r>
            <a:r>
              <a:rPr lang="en-IN" sz="1600">
                <a:latin typeface="Calibri" panose="020F0502020204030204" pitchFamily="34" charset="0"/>
                <a:ea typeface="Calibri" panose="020F0502020204030204" pitchFamily="34" charset="0"/>
                <a:cs typeface="Calibri" panose="020F0502020204030204" pitchFamily="34" charset="0"/>
              </a:rPr>
              <a:t> </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if (</a:t>
            </a:r>
            <a:r>
              <a:rPr lang="en-IN" sz="1600" err="1">
                <a:latin typeface="Calibri" panose="020F0502020204030204" pitchFamily="34" charset="0"/>
                <a:ea typeface="Calibri" panose="020F0502020204030204" pitchFamily="34" charset="0"/>
                <a:cs typeface="Calibri" panose="020F0502020204030204" pitchFamily="34" charset="0"/>
              </a:rPr>
              <a:t>transition_count</a:t>
            </a:r>
            <a:r>
              <a:rPr lang="en-IN" sz="1600">
                <a:latin typeface="Calibri" panose="020F0502020204030204" pitchFamily="34" charset="0"/>
                <a:ea typeface="Calibri" panose="020F0502020204030204" pitchFamily="34" charset="0"/>
                <a:cs typeface="Calibri" panose="020F0502020204030204" pitchFamily="34" charset="0"/>
              </a:rPr>
              <a:t> &gt; (DATA_WIDTH/2)) </a:t>
            </a:r>
            <a:r>
              <a:rPr lang="en-IN" sz="1600" err="1">
                <a:latin typeface="Calibri" panose="020F0502020204030204" pitchFamily="34" charset="0"/>
                <a:ea typeface="Calibri" panose="020F0502020204030204" pitchFamily="34" charset="0"/>
                <a:cs typeface="Calibri" panose="020F0502020204030204" pitchFamily="34" charset="0"/>
              </a:rPr>
              <a:t>data_out</a:t>
            </a:r>
            <a:r>
              <a:rPr lang="en-IN" sz="1600">
                <a:latin typeface="Calibri" panose="020F0502020204030204" pitchFamily="34" charset="0"/>
                <a:ea typeface="Calibri" panose="020F0502020204030204" pitchFamily="34" charset="0"/>
                <a:cs typeface="Calibri" panose="020F0502020204030204" pitchFamily="34" charset="0"/>
              </a:rPr>
              <a:t> = ~</a:t>
            </a:r>
            <a:r>
              <a:rPr lang="en-IN" sz="1600" err="1">
                <a:latin typeface="Calibri" panose="020F0502020204030204" pitchFamily="34" charset="0"/>
                <a:ea typeface="Calibri" panose="020F0502020204030204" pitchFamily="34" charset="0"/>
                <a:cs typeface="Calibri" panose="020F0502020204030204" pitchFamily="34" charset="0"/>
              </a:rPr>
              <a:t>data_in</a:t>
            </a:r>
            <a:r>
              <a:rPr lang="en-IN" sz="1600">
                <a:latin typeface="Calibri" panose="020F0502020204030204" pitchFamily="34" charset="0"/>
                <a:ea typeface="Calibri" panose="020F0502020204030204" pitchFamily="34" charset="0"/>
                <a:cs typeface="Calibri" panose="020F0502020204030204" pitchFamily="34" charset="0"/>
              </a:rPr>
              <a:t>;</a:t>
            </a:r>
            <a:br>
              <a:rPr lang="en-IN" sz="1600">
                <a:latin typeface="Calibri" panose="020F0502020204030204" pitchFamily="34" charset="0"/>
                <a:ea typeface="Calibri" panose="020F0502020204030204" pitchFamily="34" charset="0"/>
                <a:cs typeface="Calibri" panose="020F0502020204030204" pitchFamily="34" charset="0"/>
              </a:rPr>
            </a:br>
            <a:r>
              <a:rPr lang="en-IN" sz="1600" err="1">
                <a:latin typeface="Calibri" panose="020F0502020204030204" pitchFamily="34" charset="0"/>
                <a:ea typeface="Calibri" panose="020F0502020204030204" pitchFamily="34" charset="0"/>
                <a:cs typeface="Calibri" panose="020F0502020204030204" pitchFamily="34" charset="0"/>
              </a:rPr>
              <a:t>inv</a:t>
            </a:r>
            <a:r>
              <a:rPr lang="en-IN" sz="1600">
                <a:latin typeface="Calibri" panose="020F0502020204030204" pitchFamily="34" charset="0"/>
                <a:ea typeface="Calibri" panose="020F0502020204030204" pitchFamily="34" charset="0"/>
                <a:cs typeface="Calibri" panose="020F0502020204030204" pitchFamily="34" charset="0"/>
              </a:rPr>
              <a:t> = 1'b1;</a:t>
            </a:r>
            <a:br>
              <a:rPr lang="en-IN" sz="1600">
                <a:latin typeface="Calibri" panose="020F0502020204030204" pitchFamily="34" charset="0"/>
                <a:ea typeface="Calibri" panose="020F0502020204030204" pitchFamily="34" charset="0"/>
                <a:cs typeface="Calibri" panose="020F0502020204030204" pitchFamily="34" charset="0"/>
              </a:rPr>
            </a:br>
            <a:r>
              <a:rPr lang="en-IN" sz="1600">
                <a:latin typeface="Calibri" panose="020F0502020204030204" pitchFamily="34" charset="0"/>
                <a:ea typeface="Calibri" panose="020F0502020204030204" pitchFamily="34" charset="0"/>
                <a:cs typeface="Calibri" panose="020F0502020204030204" pitchFamily="34" charset="0"/>
              </a:rPr>
              <a:t>else</a:t>
            </a:r>
            <a:br>
              <a:rPr lang="en-IN" sz="1600">
                <a:latin typeface="Calibri" panose="020F0502020204030204" pitchFamily="34" charset="0"/>
                <a:ea typeface="Calibri" panose="020F0502020204030204" pitchFamily="34" charset="0"/>
                <a:cs typeface="Calibri" panose="020F0502020204030204" pitchFamily="34" charset="0"/>
              </a:rPr>
            </a:br>
            <a:r>
              <a:rPr lang="en-IN" sz="1600" err="1">
                <a:latin typeface="Calibri" panose="020F0502020204030204" pitchFamily="34" charset="0"/>
                <a:ea typeface="Calibri" panose="020F0502020204030204" pitchFamily="34" charset="0"/>
                <a:cs typeface="Calibri" panose="020F0502020204030204" pitchFamily="34" charset="0"/>
              </a:rPr>
              <a:t>data_out</a:t>
            </a:r>
            <a:r>
              <a:rPr lang="en-IN" sz="1600">
                <a:latin typeface="Calibri" panose="020F0502020204030204" pitchFamily="34" charset="0"/>
                <a:ea typeface="Calibri" panose="020F0502020204030204" pitchFamily="34" charset="0"/>
                <a:cs typeface="Calibri" panose="020F0502020204030204" pitchFamily="34" charset="0"/>
              </a:rPr>
              <a:t> = </a:t>
            </a:r>
            <a:r>
              <a:rPr lang="en-IN" sz="1600" err="1">
                <a:latin typeface="Calibri" panose="020F0502020204030204" pitchFamily="34" charset="0"/>
                <a:ea typeface="Calibri" panose="020F0502020204030204" pitchFamily="34" charset="0"/>
                <a:cs typeface="Calibri" panose="020F0502020204030204" pitchFamily="34" charset="0"/>
              </a:rPr>
              <a:t>data_in</a:t>
            </a:r>
            <a:r>
              <a:rPr lang="en-IN" sz="1600">
                <a:latin typeface="Calibri" panose="020F0502020204030204" pitchFamily="34" charset="0"/>
                <a:ea typeface="Calibri" panose="020F0502020204030204" pitchFamily="34" charset="0"/>
                <a:cs typeface="Calibri" panose="020F0502020204030204" pitchFamily="34" charset="0"/>
              </a:rPr>
              <a:t>;</a:t>
            </a:r>
            <a:br>
              <a:rPr lang="en-IN" sz="1600">
                <a:latin typeface="Calibri" panose="020F0502020204030204" pitchFamily="34" charset="0"/>
                <a:ea typeface="Calibri" panose="020F0502020204030204" pitchFamily="34" charset="0"/>
                <a:cs typeface="Calibri" panose="020F0502020204030204" pitchFamily="34" charset="0"/>
              </a:rPr>
            </a:br>
            <a:r>
              <a:rPr lang="en-IN" sz="1600" err="1">
                <a:latin typeface="Calibri" panose="020F0502020204030204" pitchFamily="34" charset="0"/>
                <a:ea typeface="Calibri" panose="020F0502020204030204" pitchFamily="34" charset="0"/>
                <a:cs typeface="Calibri" panose="020F0502020204030204" pitchFamily="34" charset="0"/>
              </a:rPr>
              <a:t>inv</a:t>
            </a:r>
            <a:r>
              <a:rPr lang="en-IN" sz="1600">
                <a:latin typeface="Calibri" panose="020F0502020204030204" pitchFamily="34" charset="0"/>
                <a:ea typeface="Calibri" panose="020F0502020204030204" pitchFamily="34" charset="0"/>
                <a:cs typeface="Calibri" panose="020F0502020204030204" pitchFamily="34" charset="0"/>
              </a:rPr>
              <a:t> = 1'b0;</a:t>
            </a:r>
            <a:br>
              <a:rPr lang="en-IN" sz="1600">
                <a:latin typeface="Calibri" panose="020F0502020204030204" pitchFamily="34" charset="0"/>
                <a:ea typeface="Calibri" panose="020F0502020204030204" pitchFamily="34" charset="0"/>
                <a:cs typeface="Calibri" panose="020F0502020204030204" pitchFamily="34" charset="0"/>
              </a:rPr>
            </a:br>
            <a:r>
              <a:rPr lang="en-IN" sz="1600" err="1">
                <a:latin typeface="Calibri" panose="020F0502020204030204" pitchFamily="34" charset="0"/>
                <a:ea typeface="Calibri" panose="020F0502020204030204" pitchFamily="34" charset="0"/>
                <a:cs typeface="Calibri" panose="020F0502020204030204" pitchFamily="34" charset="0"/>
              </a:rPr>
              <a:t>endmodule</a:t>
            </a:r>
            <a:endParaRPr lang="en-IN" sz="16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558648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7B70849-9A13-4373-9BF8-C38308CFAC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8A9449-128E-AAAF-82B5-7BA4FE75EDE6}"/>
              </a:ext>
            </a:extLst>
          </p:cNvPr>
          <p:cNvSpPr>
            <a:spLocks noGrp="1"/>
          </p:cNvSpPr>
          <p:nvPr>
            <p:ph idx="1"/>
          </p:nvPr>
        </p:nvSpPr>
        <p:spPr>
          <a:xfrm>
            <a:off x="1385456" y="871181"/>
            <a:ext cx="8645236" cy="5485169"/>
          </a:xfrm>
        </p:spPr>
        <p:txBody>
          <a:bodyPr vert="horz" lIns="91440" tIns="45720" rIns="91440" bIns="45720" rtlCol="0" anchor="t">
            <a:noAutofit/>
          </a:bodyPr>
          <a:lstStyle/>
          <a:p>
            <a:pPr marL="0" indent="0">
              <a:buNone/>
            </a:pPr>
            <a:endParaRPr lang="en-IN" sz="160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module </a:t>
            </a:r>
            <a:r>
              <a:rPr lang="en-IN" sz="1600" err="1">
                <a:latin typeface="Calibri" panose="020F0502020204030204" pitchFamily="34" charset="0"/>
                <a:ea typeface="Calibri" panose="020F0502020204030204" pitchFamily="34" charset="0"/>
                <a:cs typeface="Calibri" panose="020F0502020204030204" pitchFamily="34" charset="0"/>
              </a:rPr>
              <a:t>ahb_transition_inversion_decoder</a:t>
            </a:r>
            <a:r>
              <a:rPr lang="en-IN" sz="160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    parameter DATA_WIDTH = 32</a:t>
            </a:r>
          </a:p>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    input  logic [DATA_WIDTH-1:0] </a:t>
            </a:r>
            <a:r>
              <a:rPr lang="en-IN" sz="1600" err="1">
                <a:latin typeface="Calibri" panose="020F0502020204030204" pitchFamily="34" charset="0"/>
                <a:ea typeface="Calibri" panose="020F0502020204030204" pitchFamily="34" charset="0"/>
                <a:cs typeface="Calibri" panose="020F0502020204030204" pitchFamily="34" charset="0"/>
              </a:rPr>
              <a:t>data_in</a:t>
            </a:r>
            <a:r>
              <a:rPr lang="en-IN" sz="160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    input  logic                  </a:t>
            </a:r>
            <a:r>
              <a:rPr lang="en-IN" sz="1600" err="1">
                <a:latin typeface="Calibri" panose="020F0502020204030204" pitchFamily="34" charset="0"/>
                <a:ea typeface="Calibri" panose="020F0502020204030204" pitchFamily="34" charset="0"/>
                <a:cs typeface="Calibri" panose="020F0502020204030204" pitchFamily="34" charset="0"/>
              </a:rPr>
              <a:t>inv</a:t>
            </a:r>
            <a:r>
              <a:rPr lang="en-IN" sz="160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    output logic [DATA_WIDTH-1:0] </a:t>
            </a:r>
            <a:r>
              <a:rPr lang="en-IN" sz="1600" err="1">
                <a:latin typeface="Calibri" panose="020F0502020204030204" pitchFamily="34" charset="0"/>
                <a:ea typeface="Calibri" panose="020F0502020204030204" pitchFamily="34" charset="0"/>
                <a:cs typeface="Calibri" panose="020F0502020204030204" pitchFamily="34" charset="0"/>
              </a:rPr>
              <a:t>data_out</a:t>
            </a:r>
            <a:endParaRPr lang="en-IN" sz="160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    </a:t>
            </a:r>
            <a:r>
              <a:rPr lang="en-IN" sz="1600" err="1">
                <a:latin typeface="Calibri" panose="020F0502020204030204" pitchFamily="34" charset="0"/>
                <a:ea typeface="Calibri" panose="020F0502020204030204" pitchFamily="34" charset="0"/>
                <a:cs typeface="Calibri" panose="020F0502020204030204" pitchFamily="34" charset="0"/>
              </a:rPr>
              <a:t>always_comb</a:t>
            </a:r>
            <a:r>
              <a:rPr lang="en-IN" sz="160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        if (</a:t>
            </a:r>
            <a:r>
              <a:rPr lang="en-IN" sz="1600" err="1">
                <a:latin typeface="Calibri" panose="020F0502020204030204" pitchFamily="34" charset="0"/>
                <a:ea typeface="Calibri" panose="020F0502020204030204" pitchFamily="34" charset="0"/>
                <a:cs typeface="Calibri" panose="020F0502020204030204" pitchFamily="34" charset="0"/>
              </a:rPr>
              <a:t>inv</a:t>
            </a:r>
            <a:r>
              <a:rPr lang="en-IN" sz="1600">
                <a:latin typeface="Calibri" panose="020F0502020204030204" pitchFamily="34" charset="0"/>
                <a:ea typeface="Calibri" panose="020F0502020204030204" pitchFamily="34" charset="0"/>
                <a:cs typeface="Calibri" panose="020F0502020204030204" pitchFamily="34" charset="0"/>
              </a:rPr>
              <a:t>)  </a:t>
            </a:r>
            <a:r>
              <a:rPr lang="en-IN" sz="1600" err="1">
                <a:latin typeface="Calibri" panose="020F0502020204030204" pitchFamily="34" charset="0"/>
                <a:ea typeface="Calibri" panose="020F0502020204030204" pitchFamily="34" charset="0"/>
                <a:cs typeface="Calibri" panose="020F0502020204030204" pitchFamily="34" charset="0"/>
              </a:rPr>
              <a:t>data_out</a:t>
            </a:r>
            <a:r>
              <a:rPr lang="en-IN" sz="1600">
                <a:latin typeface="Calibri" panose="020F0502020204030204" pitchFamily="34" charset="0"/>
                <a:ea typeface="Calibri" panose="020F0502020204030204" pitchFamily="34" charset="0"/>
                <a:cs typeface="Calibri" panose="020F0502020204030204" pitchFamily="34" charset="0"/>
              </a:rPr>
              <a:t> = ~</a:t>
            </a:r>
            <a:r>
              <a:rPr lang="en-IN" sz="1600" err="1">
                <a:latin typeface="Calibri" panose="020F0502020204030204" pitchFamily="34" charset="0"/>
                <a:ea typeface="Calibri" panose="020F0502020204030204" pitchFamily="34" charset="0"/>
                <a:cs typeface="Calibri" panose="020F0502020204030204" pitchFamily="34" charset="0"/>
              </a:rPr>
              <a:t>data_in</a:t>
            </a:r>
            <a:r>
              <a:rPr lang="en-IN" sz="160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IN" sz="1600">
                <a:latin typeface="Calibri" panose="020F0502020204030204" pitchFamily="34" charset="0"/>
                <a:ea typeface="Calibri" panose="020F0502020204030204" pitchFamily="34" charset="0"/>
                <a:cs typeface="Calibri" panose="020F0502020204030204" pitchFamily="34" charset="0"/>
              </a:rPr>
              <a:t>        else </a:t>
            </a:r>
            <a:r>
              <a:rPr lang="en-IN" sz="1600" err="1">
                <a:latin typeface="Calibri" panose="020F0502020204030204" pitchFamily="34" charset="0"/>
                <a:ea typeface="Calibri" panose="020F0502020204030204" pitchFamily="34" charset="0"/>
                <a:cs typeface="Calibri" panose="020F0502020204030204" pitchFamily="34" charset="0"/>
              </a:rPr>
              <a:t>data_out</a:t>
            </a:r>
            <a:r>
              <a:rPr lang="en-IN" sz="1600">
                <a:latin typeface="Calibri" panose="020F0502020204030204" pitchFamily="34" charset="0"/>
                <a:ea typeface="Calibri" panose="020F0502020204030204" pitchFamily="34" charset="0"/>
                <a:cs typeface="Calibri" panose="020F0502020204030204" pitchFamily="34" charset="0"/>
              </a:rPr>
              <a:t> = </a:t>
            </a:r>
            <a:r>
              <a:rPr lang="en-IN" sz="1600" err="1">
                <a:latin typeface="Calibri" panose="020F0502020204030204" pitchFamily="34" charset="0"/>
                <a:ea typeface="Calibri" panose="020F0502020204030204" pitchFamily="34" charset="0"/>
                <a:cs typeface="Calibri" panose="020F0502020204030204" pitchFamily="34" charset="0"/>
              </a:rPr>
              <a:t>data_in</a:t>
            </a:r>
            <a:r>
              <a:rPr lang="en-IN" sz="160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IN" sz="1600" err="1">
                <a:latin typeface="Calibri" panose="020F0502020204030204" pitchFamily="34" charset="0"/>
                <a:ea typeface="Calibri" panose="020F0502020204030204" pitchFamily="34" charset="0"/>
                <a:cs typeface="Calibri" panose="020F0502020204030204" pitchFamily="34" charset="0"/>
              </a:rPr>
              <a:t>endmodule</a:t>
            </a:r>
            <a:endParaRPr lang="en-IN" sz="1600">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8EC5235C-D9C4-DBF1-E9C5-3EBCDE96CB32}"/>
              </a:ext>
            </a:extLst>
          </p:cNvPr>
          <p:cNvSpPr>
            <a:spLocks noGrp="1"/>
          </p:cNvSpPr>
          <p:nvPr>
            <p:ph type="title"/>
          </p:nvPr>
        </p:nvSpPr>
        <p:spPr>
          <a:xfrm>
            <a:off x="0" y="1"/>
            <a:ext cx="12192000" cy="719666"/>
          </a:xfrm>
          <a:solidFill>
            <a:schemeClr val="accent6"/>
          </a:solidFill>
        </p:spPr>
        <p:txBody>
          <a:bodyPr>
            <a:normAutofit fontScale="90000"/>
          </a:bodyPr>
          <a:lstStyle/>
          <a:p>
            <a:pPr algn="ct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Transition Inversion Decoding Logic In AHB Lite Interface </a:t>
            </a:r>
            <a:br>
              <a:rPr lang="en-US" sz="3200" dirty="0">
                <a:latin typeface="Calibri" panose="020F0502020204030204" pitchFamily="34" charset="0"/>
                <a:ea typeface="Calibri" panose="020F0502020204030204" pitchFamily="34" charset="0"/>
                <a:cs typeface="Calibri" panose="020F0502020204030204" pitchFamily="34" charset="0"/>
              </a:rPr>
            </a:b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745EC39-750A-1E04-D788-3F8EF96895F9}"/>
              </a:ext>
            </a:extLst>
          </p:cNvPr>
          <p:cNvSpPr>
            <a:spLocks noGrp="1"/>
          </p:cNvSpPr>
          <p:nvPr>
            <p:ph type="sldNum" sz="quarter" idx="12"/>
          </p:nvPr>
        </p:nvSpPr>
        <p:spPr/>
        <p:txBody>
          <a:bodyPr/>
          <a:lstStyle/>
          <a:p>
            <a:fld id="{330EA680-D336-4FF7-8B7A-9848BB0A1C32}" type="slidenum">
              <a:rPr lang="en-US" smtClean="0"/>
              <a:t>90</a:t>
            </a:fld>
            <a:endParaRPr lang="en-US"/>
          </a:p>
        </p:txBody>
      </p:sp>
    </p:spTree>
    <p:extLst>
      <p:ext uri="{BB962C8B-B14F-4D97-AF65-F5344CB8AC3E}">
        <p14:creationId xmlns:p14="http://schemas.microsoft.com/office/powerpoint/2010/main" val="12109700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2DB80-7DA9-50F7-4DFD-4928F8D4A1B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5D9B2F1-6A0B-EF97-2169-1BACCC08A9A6}"/>
              </a:ext>
            </a:extLst>
          </p:cNvPr>
          <p:cNvSpPr>
            <a:spLocks noGrp="1"/>
          </p:cNvSpPr>
          <p:nvPr>
            <p:ph type="title"/>
          </p:nvPr>
        </p:nvSpPr>
        <p:spPr>
          <a:xfrm>
            <a:off x="0" y="0"/>
            <a:ext cx="12192000" cy="693618"/>
          </a:xfrm>
          <a:solidFill>
            <a:schemeClr val="accent6"/>
          </a:solidFill>
        </p:spPr>
        <p:txBody>
          <a:bodyPr>
            <a:normAutofit/>
          </a:bodyPr>
          <a:lstStyle/>
          <a:p>
            <a:pPr algn="ctr"/>
            <a:r>
              <a:rPr lang="en-US" sz="2800">
                <a:latin typeface="Calibri" panose="020F0502020204030204" pitchFamily="34" charset="0"/>
                <a:ea typeface="Calibri" panose="020F0502020204030204" pitchFamily="34" charset="0"/>
                <a:cs typeface="Calibri" panose="020F0502020204030204" pitchFamily="34" charset="0"/>
              </a:rPr>
              <a:t>Power Reduction techniques in AXI4 to AHB Bus</a:t>
            </a:r>
          </a:p>
        </p:txBody>
      </p:sp>
      <p:sp>
        <p:nvSpPr>
          <p:cNvPr id="4" name="Slide Number Placeholder 3">
            <a:extLst>
              <a:ext uri="{FF2B5EF4-FFF2-40B4-BE49-F238E27FC236}">
                <a16:creationId xmlns:a16="http://schemas.microsoft.com/office/drawing/2014/main" id="{F161764B-1DE2-CD91-2826-197918F65FD8}"/>
              </a:ext>
            </a:extLst>
          </p:cNvPr>
          <p:cNvSpPr>
            <a:spLocks noGrp="1"/>
          </p:cNvSpPr>
          <p:nvPr>
            <p:ph type="sldNum" sz="quarter" idx="12"/>
          </p:nvPr>
        </p:nvSpPr>
        <p:spPr/>
        <p:txBody>
          <a:bodyPr/>
          <a:lstStyle/>
          <a:p>
            <a:fld id="{330EA680-D336-4FF7-8B7A-9848BB0A1C32}" type="slidenum">
              <a:rPr lang="en-US" smtClean="0"/>
              <a:t>91</a:t>
            </a:fld>
            <a:endParaRPr lang="en-US"/>
          </a:p>
        </p:txBody>
      </p:sp>
      <p:sp>
        <p:nvSpPr>
          <p:cNvPr id="11" name="Rectangle 10">
            <a:extLst>
              <a:ext uri="{FF2B5EF4-FFF2-40B4-BE49-F238E27FC236}">
                <a16:creationId xmlns:a16="http://schemas.microsoft.com/office/drawing/2014/main" id="{1322E9D1-7CFE-1477-10D9-91AD511CD9A4}"/>
              </a:ext>
            </a:extLst>
          </p:cNvPr>
          <p:cNvSpPr/>
          <p:nvPr/>
        </p:nvSpPr>
        <p:spPr>
          <a:xfrm>
            <a:off x="1856509" y="1191491"/>
            <a:ext cx="8475590" cy="1828800"/>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4A17F482-04A2-0F02-F407-C48677148A80}"/>
              </a:ext>
            </a:extLst>
          </p:cNvPr>
          <p:cNvSpPr/>
          <p:nvPr/>
        </p:nvSpPr>
        <p:spPr>
          <a:xfrm>
            <a:off x="2170544" y="1450109"/>
            <a:ext cx="1147691" cy="1339273"/>
          </a:xfrm>
          <a:prstGeom prst="roundRect">
            <a:avLst/>
          </a:prstGeom>
          <a:solidFill>
            <a:schemeClr val="accent1">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rPr>
              <a:t>AXI Address</a:t>
            </a:r>
          </a:p>
          <a:p>
            <a:pPr algn="ctr"/>
            <a:r>
              <a:rPr lang="en-IN" b="1">
                <a:solidFill>
                  <a:schemeClr val="tx1"/>
                </a:solidFill>
              </a:rPr>
              <a:t>Handler</a:t>
            </a:r>
          </a:p>
        </p:txBody>
      </p:sp>
      <p:sp>
        <p:nvSpPr>
          <p:cNvPr id="13" name="Rectangle: Rounded Corners 12">
            <a:extLst>
              <a:ext uri="{FF2B5EF4-FFF2-40B4-BE49-F238E27FC236}">
                <a16:creationId xmlns:a16="http://schemas.microsoft.com/office/drawing/2014/main" id="{6F866979-76D3-E819-90DB-8855E17EA933}"/>
              </a:ext>
            </a:extLst>
          </p:cNvPr>
          <p:cNvSpPr/>
          <p:nvPr/>
        </p:nvSpPr>
        <p:spPr>
          <a:xfrm>
            <a:off x="3754580" y="1450109"/>
            <a:ext cx="1226987" cy="1339273"/>
          </a:xfrm>
          <a:prstGeom prst="roundRect">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rPr>
              <a:t>Burst Counter</a:t>
            </a:r>
          </a:p>
          <a:p>
            <a:pPr algn="ctr"/>
            <a:r>
              <a:rPr lang="en-IN" b="1">
                <a:solidFill>
                  <a:schemeClr val="tx1"/>
                </a:solidFill>
              </a:rPr>
              <a:t>(Gray code)</a:t>
            </a:r>
          </a:p>
        </p:txBody>
      </p:sp>
      <p:sp>
        <p:nvSpPr>
          <p:cNvPr id="14" name="Rectangle: Rounded Corners 13">
            <a:extLst>
              <a:ext uri="{FF2B5EF4-FFF2-40B4-BE49-F238E27FC236}">
                <a16:creationId xmlns:a16="http://schemas.microsoft.com/office/drawing/2014/main" id="{52F5EA3E-90E9-8438-8C42-1216CB663023}"/>
              </a:ext>
            </a:extLst>
          </p:cNvPr>
          <p:cNvSpPr/>
          <p:nvPr/>
        </p:nvSpPr>
        <p:spPr>
          <a:xfrm>
            <a:off x="5338616" y="1450109"/>
            <a:ext cx="1331747" cy="1339273"/>
          </a:xfrm>
          <a:prstGeom prst="roundRect">
            <a:avLst/>
          </a:prstGeom>
          <a:solidFill>
            <a:schemeClr val="accent3">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rPr>
              <a:t>Address generator</a:t>
            </a:r>
          </a:p>
        </p:txBody>
      </p:sp>
      <p:sp>
        <p:nvSpPr>
          <p:cNvPr id="15" name="Rectangle: Rounded Corners 14">
            <a:extLst>
              <a:ext uri="{FF2B5EF4-FFF2-40B4-BE49-F238E27FC236}">
                <a16:creationId xmlns:a16="http://schemas.microsoft.com/office/drawing/2014/main" id="{0AD557E9-DA10-E4CB-8868-27C42A0ACCD7}"/>
              </a:ext>
            </a:extLst>
          </p:cNvPr>
          <p:cNvSpPr/>
          <p:nvPr/>
        </p:nvSpPr>
        <p:spPr>
          <a:xfrm>
            <a:off x="6975391" y="1372361"/>
            <a:ext cx="1140693" cy="1339273"/>
          </a:xfrm>
          <a:prstGeom prst="roundRect">
            <a:avLst/>
          </a:prstGeom>
          <a:solidFill>
            <a:schemeClr val="accent5">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rPr>
              <a:t>FSM</a:t>
            </a:r>
          </a:p>
          <a:p>
            <a:pPr algn="ctr"/>
            <a:r>
              <a:rPr lang="en-IN" b="1">
                <a:solidFill>
                  <a:schemeClr val="tx1"/>
                </a:solidFill>
              </a:rPr>
              <a:t>(Gray code)</a:t>
            </a:r>
          </a:p>
        </p:txBody>
      </p:sp>
      <p:sp>
        <p:nvSpPr>
          <p:cNvPr id="16" name="Rectangle: Rounded Corners 15">
            <a:extLst>
              <a:ext uri="{FF2B5EF4-FFF2-40B4-BE49-F238E27FC236}">
                <a16:creationId xmlns:a16="http://schemas.microsoft.com/office/drawing/2014/main" id="{E90AEA1D-5811-65AA-C161-B4D10E46C57F}"/>
              </a:ext>
            </a:extLst>
          </p:cNvPr>
          <p:cNvSpPr/>
          <p:nvPr/>
        </p:nvSpPr>
        <p:spPr>
          <a:xfrm>
            <a:off x="8588122" y="1456514"/>
            <a:ext cx="1071419" cy="1339273"/>
          </a:xfrm>
          <a:prstGeom prst="roundRect">
            <a:avLst/>
          </a:prstGeom>
          <a:solidFill>
            <a:schemeClr val="bg2">
              <a:lumMod val="9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rPr>
              <a:t>AHB Control logic</a:t>
            </a:r>
          </a:p>
        </p:txBody>
      </p:sp>
      <p:sp>
        <p:nvSpPr>
          <p:cNvPr id="23" name="TextBox 22">
            <a:extLst>
              <a:ext uri="{FF2B5EF4-FFF2-40B4-BE49-F238E27FC236}">
                <a16:creationId xmlns:a16="http://schemas.microsoft.com/office/drawing/2014/main" id="{EF04631D-D679-4B6B-DB90-403EB830006A}"/>
              </a:ext>
            </a:extLst>
          </p:cNvPr>
          <p:cNvSpPr txBox="1"/>
          <p:nvPr/>
        </p:nvSpPr>
        <p:spPr>
          <a:xfrm>
            <a:off x="5208637" y="1118490"/>
            <a:ext cx="1428468" cy="369332"/>
          </a:xfrm>
          <a:prstGeom prst="rect">
            <a:avLst/>
          </a:prstGeom>
          <a:noFill/>
        </p:spPr>
        <p:txBody>
          <a:bodyPr wrap="none" rtlCol="0">
            <a:spAutoFit/>
          </a:bodyPr>
          <a:lstStyle/>
          <a:p>
            <a:r>
              <a:rPr lang="en-IN"/>
              <a:t>Control Path</a:t>
            </a:r>
          </a:p>
        </p:txBody>
      </p:sp>
      <p:cxnSp>
        <p:nvCxnSpPr>
          <p:cNvPr id="25" name="Straight Arrow Connector 24">
            <a:extLst>
              <a:ext uri="{FF2B5EF4-FFF2-40B4-BE49-F238E27FC236}">
                <a16:creationId xmlns:a16="http://schemas.microsoft.com/office/drawing/2014/main" id="{23E5B183-9EB7-0631-92FA-59DEA5AFC103}"/>
              </a:ext>
            </a:extLst>
          </p:cNvPr>
          <p:cNvCxnSpPr>
            <a:cxnSpLocks/>
          </p:cNvCxnSpPr>
          <p:nvPr/>
        </p:nvCxnSpPr>
        <p:spPr>
          <a:xfrm>
            <a:off x="3318235" y="2069390"/>
            <a:ext cx="447712" cy="1449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C5492F0A-3129-A503-D0A4-4DD56751A665}"/>
              </a:ext>
            </a:extLst>
          </p:cNvPr>
          <p:cNvCxnSpPr>
            <a:cxnSpLocks/>
          </p:cNvCxnSpPr>
          <p:nvPr/>
        </p:nvCxnSpPr>
        <p:spPr>
          <a:xfrm flipV="1">
            <a:off x="4981567" y="2070858"/>
            <a:ext cx="357049" cy="5781"/>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DA870E5-90B5-C7E1-0A28-7B2B2ADE36FC}"/>
              </a:ext>
            </a:extLst>
          </p:cNvPr>
          <p:cNvCxnSpPr>
            <a:cxnSpLocks/>
          </p:cNvCxnSpPr>
          <p:nvPr/>
        </p:nvCxnSpPr>
        <p:spPr>
          <a:xfrm>
            <a:off x="6637105" y="2069390"/>
            <a:ext cx="324840" cy="1494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708E92D1-15EC-ABA6-F00F-47B83F3541A7}"/>
              </a:ext>
            </a:extLst>
          </p:cNvPr>
          <p:cNvCxnSpPr>
            <a:cxnSpLocks/>
          </p:cNvCxnSpPr>
          <p:nvPr/>
        </p:nvCxnSpPr>
        <p:spPr>
          <a:xfrm>
            <a:off x="8063345" y="2069390"/>
            <a:ext cx="547255"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25704D15-72DF-F7F7-5672-DFD665D865DB}"/>
              </a:ext>
            </a:extLst>
          </p:cNvPr>
          <p:cNvSpPr/>
          <p:nvPr/>
        </p:nvSpPr>
        <p:spPr>
          <a:xfrm>
            <a:off x="1856509" y="3258024"/>
            <a:ext cx="8475590" cy="1828800"/>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EF68F4CA-D370-95AE-02EA-EF3B932DBBBF}"/>
              </a:ext>
            </a:extLst>
          </p:cNvPr>
          <p:cNvSpPr/>
          <p:nvPr/>
        </p:nvSpPr>
        <p:spPr>
          <a:xfrm>
            <a:off x="2170544" y="3516642"/>
            <a:ext cx="1147691" cy="1339273"/>
          </a:xfrm>
          <a:prstGeom prst="roundRect">
            <a:avLst/>
          </a:prstGeom>
          <a:solidFill>
            <a:schemeClr val="bg2">
              <a:lumMod val="75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rPr>
              <a:t>AXI </a:t>
            </a:r>
          </a:p>
          <a:p>
            <a:pPr algn="ctr"/>
            <a:r>
              <a:rPr lang="en-IN" b="1">
                <a:solidFill>
                  <a:schemeClr val="tx1"/>
                </a:solidFill>
              </a:rPr>
              <a:t>WDATA</a:t>
            </a:r>
          </a:p>
          <a:p>
            <a:pPr algn="ctr"/>
            <a:r>
              <a:rPr lang="en-IN" b="1">
                <a:solidFill>
                  <a:schemeClr val="tx1"/>
                </a:solidFill>
              </a:rPr>
              <a:t>Handler</a:t>
            </a:r>
          </a:p>
        </p:txBody>
      </p:sp>
      <p:sp>
        <p:nvSpPr>
          <p:cNvPr id="35" name="Rectangle: Rounded Corners 34">
            <a:extLst>
              <a:ext uri="{FF2B5EF4-FFF2-40B4-BE49-F238E27FC236}">
                <a16:creationId xmlns:a16="http://schemas.microsoft.com/office/drawing/2014/main" id="{800AFD19-EB22-8893-83D7-D6ED4C09009D}"/>
              </a:ext>
            </a:extLst>
          </p:cNvPr>
          <p:cNvSpPr/>
          <p:nvPr/>
        </p:nvSpPr>
        <p:spPr>
          <a:xfrm>
            <a:off x="3860205" y="3464318"/>
            <a:ext cx="1277221" cy="1339273"/>
          </a:xfrm>
          <a:prstGeom prst="roundRect">
            <a:avLst/>
          </a:prstGeom>
          <a:solidFill>
            <a:schemeClr val="accent1">
              <a:lumMod val="40000"/>
              <a:lumOff val="6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rPr>
              <a:t>Bus</a:t>
            </a:r>
          </a:p>
          <a:p>
            <a:pPr algn="ctr"/>
            <a:r>
              <a:rPr lang="en-IN" b="1">
                <a:solidFill>
                  <a:schemeClr val="tx1"/>
                </a:solidFill>
              </a:rPr>
              <a:t>Inversion Encoder</a:t>
            </a:r>
          </a:p>
        </p:txBody>
      </p:sp>
      <p:sp>
        <p:nvSpPr>
          <p:cNvPr id="36" name="Rectangle: Rounded Corners 35">
            <a:extLst>
              <a:ext uri="{FF2B5EF4-FFF2-40B4-BE49-F238E27FC236}">
                <a16:creationId xmlns:a16="http://schemas.microsoft.com/office/drawing/2014/main" id="{6E26014A-92ED-DDE1-E858-5D157C1084EB}"/>
              </a:ext>
            </a:extLst>
          </p:cNvPr>
          <p:cNvSpPr/>
          <p:nvPr/>
        </p:nvSpPr>
        <p:spPr>
          <a:xfrm>
            <a:off x="5558708" y="3554354"/>
            <a:ext cx="1623329" cy="1301560"/>
          </a:xfrm>
          <a:prstGeom prst="roundRect">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rPr>
              <a:t>Write data</a:t>
            </a:r>
          </a:p>
          <a:p>
            <a:pPr algn="ctr"/>
            <a:r>
              <a:rPr lang="en-IN" b="1">
                <a:solidFill>
                  <a:schemeClr val="tx1"/>
                </a:solidFill>
              </a:rPr>
              <a:t>FIFO</a:t>
            </a:r>
          </a:p>
          <a:p>
            <a:pPr algn="ctr"/>
            <a:r>
              <a:rPr lang="en-IN" b="1">
                <a:solidFill>
                  <a:schemeClr val="tx1"/>
                </a:solidFill>
              </a:rPr>
              <a:t>(Gray code)</a:t>
            </a:r>
          </a:p>
        </p:txBody>
      </p:sp>
      <p:sp>
        <p:nvSpPr>
          <p:cNvPr id="37" name="Rectangle: Rounded Corners 36">
            <a:extLst>
              <a:ext uri="{FF2B5EF4-FFF2-40B4-BE49-F238E27FC236}">
                <a16:creationId xmlns:a16="http://schemas.microsoft.com/office/drawing/2014/main" id="{F65B8713-6814-310B-94D7-212C44883ABB}"/>
              </a:ext>
            </a:extLst>
          </p:cNvPr>
          <p:cNvSpPr/>
          <p:nvPr/>
        </p:nvSpPr>
        <p:spPr>
          <a:xfrm>
            <a:off x="7497738" y="3551173"/>
            <a:ext cx="1277221" cy="1339273"/>
          </a:xfrm>
          <a:prstGeom prst="roundRect">
            <a:avLst/>
          </a:prstGeom>
          <a:solidFill>
            <a:schemeClr val="accent6">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rPr>
              <a:t>Bus Inversion Decoder</a:t>
            </a:r>
          </a:p>
        </p:txBody>
      </p:sp>
      <p:sp>
        <p:nvSpPr>
          <p:cNvPr id="38" name="Rectangle: Rounded Corners 37">
            <a:extLst>
              <a:ext uri="{FF2B5EF4-FFF2-40B4-BE49-F238E27FC236}">
                <a16:creationId xmlns:a16="http://schemas.microsoft.com/office/drawing/2014/main" id="{2B3E44AD-9AF4-406E-7FBB-779802C25C53}"/>
              </a:ext>
            </a:extLst>
          </p:cNvPr>
          <p:cNvSpPr/>
          <p:nvPr/>
        </p:nvSpPr>
        <p:spPr>
          <a:xfrm>
            <a:off x="9104252" y="3516641"/>
            <a:ext cx="1071419" cy="1339273"/>
          </a:xfrm>
          <a:prstGeom prst="roundRect">
            <a:avLst/>
          </a:prstGeom>
          <a:solidFill>
            <a:schemeClr val="accent5">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rPr>
              <a:t>AHB Output logic</a:t>
            </a:r>
          </a:p>
        </p:txBody>
      </p:sp>
      <p:sp>
        <p:nvSpPr>
          <p:cNvPr id="39" name="TextBox 38">
            <a:extLst>
              <a:ext uri="{FF2B5EF4-FFF2-40B4-BE49-F238E27FC236}">
                <a16:creationId xmlns:a16="http://schemas.microsoft.com/office/drawing/2014/main" id="{7E58880D-8316-8D39-3096-59CE2BDF61E2}"/>
              </a:ext>
            </a:extLst>
          </p:cNvPr>
          <p:cNvSpPr txBox="1"/>
          <p:nvPr/>
        </p:nvSpPr>
        <p:spPr>
          <a:xfrm>
            <a:off x="5226662" y="3185023"/>
            <a:ext cx="1735283" cy="369332"/>
          </a:xfrm>
          <a:prstGeom prst="rect">
            <a:avLst/>
          </a:prstGeom>
          <a:noFill/>
        </p:spPr>
        <p:txBody>
          <a:bodyPr wrap="none" rtlCol="0">
            <a:spAutoFit/>
          </a:bodyPr>
          <a:lstStyle/>
          <a:p>
            <a:r>
              <a:rPr lang="en-IN"/>
              <a:t>Write Data Path</a:t>
            </a:r>
          </a:p>
        </p:txBody>
      </p:sp>
      <p:cxnSp>
        <p:nvCxnSpPr>
          <p:cNvPr id="40" name="Straight Arrow Connector 39">
            <a:extLst>
              <a:ext uri="{FF2B5EF4-FFF2-40B4-BE49-F238E27FC236}">
                <a16:creationId xmlns:a16="http://schemas.microsoft.com/office/drawing/2014/main" id="{1110AB57-A03B-DED0-47DA-E8B1A4668A8A}"/>
              </a:ext>
            </a:extLst>
          </p:cNvPr>
          <p:cNvCxnSpPr>
            <a:cxnSpLocks/>
            <a:endCxn id="35" idx="1"/>
          </p:cNvCxnSpPr>
          <p:nvPr/>
        </p:nvCxnSpPr>
        <p:spPr>
          <a:xfrm>
            <a:off x="3318235" y="4133955"/>
            <a:ext cx="541970"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1073C3B-7478-4B00-5D8B-08F3BFAA6416}"/>
              </a:ext>
            </a:extLst>
          </p:cNvPr>
          <p:cNvCxnSpPr>
            <a:cxnSpLocks/>
          </p:cNvCxnSpPr>
          <p:nvPr/>
        </p:nvCxnSpPr>
        <p:spPr>
          <a:xfrm>
            <a:off x="5156328" y="4105746"/>
            <a:ext cx="402380"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F374091A-4B84-726D-2509-0CB26A4A54BB}"/>
              </a:ext>
            </a:extLst>
          </p:cNvPr>
          <p:cNvCxnSpPr>
            <a:cxnSpLocks/>
          </p:cNvCxnSpPr>
          <p:nvPr/>
        </p:nvCxnSpPr>
        <p:spPr>
          <a:xfrm>
            <a:off x="7182037" y="4133955"/>
            <a:ext cx="315701"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1747EE83-BEA1-42AE-FF99-5B148144B8B4}"/>
              </a:ext>
            </a:extLst>
          </p:cNvPr>
          <p:cNvCxnSpPr>
            <a:cxnSpLocks/>
          </p:cNvCxnSpPr>
          <p:nvPr/>
        </p:nvCxnSpPr>
        <p:spPr>
          <a:xfrm>
            <a:off x="8774959" y="4133955"/>
            <a:ext cx="329293"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402080F9-322B-5014-AB66-E1F29D992D73}"/>
              </a:ext>
            </a:extLst>
          </p:cNvPr>
          <p:cNvSpPr txBox="1"/>
          <p:nvPr/>
        </p:nvSpPr>
        <p:spPr>
          <a:xfrm>
            <a:off x="3251940" y="5407891"/>
            <a:ext cx="5244769" cy="369332"/>
          </a:xfrm>
          <a:prstGeom prst="rect">
            <a:avLst/>
          </a:prstGeom>
          <a:noFill/>
        </p:spPr>
        <p:txBody>
          <a:bodyPr wrap="none" rtlCol="0">
            <a:spAutoFit/>
          </a:bodyPr>
          <a:lstStyle/>
          <a:p>
            <a:r>
              <a:rPr lang="en-IN"/>
              <a:t>Fig 4.</a:t>
            </a:r>
            <a:r>
              <a:rPr lang="en-US">
                <a:latin typeface="Calibri" panose="020F0502020204030204" pitchFamily="34" charset="0"/>
                <a:ea typeface="Calibri" panose="020F0502020204030204" pitchFamily="34" charset="0"/>
                <a:cs typeface="Calibri" panose="020F0502020204030204" pitchFamily="34" charset="0"/>
              </a:rPr>
              <a:t> Power Reduction techniques in AXI4 to AHB Bus</a:t>
            </a:r>
            <a:endParaRPr lang="en-IN"/>
          </a:p>
        </p:txBody>
      </p:sp>
    </p:spTree>
    <p:extLst>
      <p:ext uri="{BB962C8B-B14F-4D97-AF65-F5344CB8AC3E}">
        <p14:creationId xmlns:p14="http://schemas.microsoft.com/office/powerpoint/2010/main" val="65084069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A752A-D676-3D08-BC30-4AFD6178A72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F506EFA-85B3-1E7E-093D-16DC296B105B}"/>
              </a:ext>
            </a:extLst>
          </p:cNvPr>
          <p:cNvSpPr>
            <a:spLocks noGrp="1"/>
          </p:cNvSpPr>
          <p:nvPr>
            <p:ph type="title"/>
          </p:nvPr>
        </p:nvSpPr>
        <p:spPr>
          <a:xfrm>
            <a:off x="0" y="1"/>
            <a:ext cx="12192000" cy="745066"/>
          </a:xfrm>
          <a:solidFill>
            <a:schemeClr val="accent6"/>
          </a:solidFill>
        </p:spPr>
        <p:txBody>
          <a:bodyPr>
            <a:normAutofit/>
          </a:bodyPr>
          <a:lstStyle/>
          <a:p>
            <a:pPr algn="ctr"/>
            <a:r>
              <a:rPr lang="en-IN" sz="2800">
                <a:latin typeface="Calibri" panose="020F0502020204030204" pitchFamily="34" charset="0"/>
                <a:ea typeface="Calibri" panose="020F0502020204030204" pitchFamily="34" charset="0"/>
                <a:cs typeface="Calibri" panose="020F0502020204030204" pitchFamily="34" charset="0"/>
              </a:rPr>
              <a:t>Gray Code Encoding </a:t>
            </a:r>
            <a:r>
              <a:rPr lang="en-US" sz="2800">
                <a:latin typeface="Calibri" panose="020F0502020204030204" pitchFamily="34" charset="0"/>
                <a:ea typeface="Calibri" panose="020F0502020204030204" pitchFamily="34" charset="0"/>
                <a:cs typeface="Calibri" panose="020F0502020204030204" pitchFamily="34" charset="0"/>
              </a:rPr>
              <a:t>in AXI4 to AHB Bus</a:t>
            </a:r>
          </a:p>
        </p:txBody>
      </p:sp>
      <p:sp>
        <p:nvSpPr>
          <p:cNvPr id="4" name="Slide Number Placeholder 3">
            <a:extLst>
              <a:ext uri="{FF2B5EF4-FFF2-40B4-BE49-F238E27FC236}">
                <a16:creationId xmlns:a16="http://schemas.microsoft.com/office/drawing/2014/main" id="{E9401DC7-E9E0-8CCF-B7CF-EF5185F2D972}"/>
              </a:ext>
            </a:extLst>
          </p:cNvPr>
          <p:cNvSpPr>
            <a:spLocks noGrp="1"/>
          </p:cNvSpPr>
          <p:nvPr>
            <p:ph type="sldNum" sz="quarter" idx="12"/>
          </p:nvPr>
        </p:nvSpPr>
        <p:spPr/>
        <p:txBody>
          <a:bodyPr/>
          <a:lstStyle/>
          <a:p>
            <a:fld id="{330EA680-D336-4FF7-8B7A-9848BB0A1C32}" type="slidenum">
              <a:rPr lang="en-US" smtClean="0"/>
              <a:t>92</a:t>
            </a:fld>
            <a:endParaRPr lang="en-US"/>
          </a:p>
        </p:txBody>
      </p:sp>
      <p:sp>
        <p:nvSpPr>
          <p:cNvPr id="6" name="Rectangle 2">
            <a:extLst>
              <a:ext uri="{FF2B5EF4-FFF2-40B4-BE49-F238E27FC236}">
                <a16:creationId xmlns:a16="http://schemas.microsoft.com/office/drawing/2014/main" id="{8816ACDE-3666-4D1D-73FC-4FE7AC5991FC}"/>
              </a:ext>
            </a:extLst>
          </p:cNvPr>
          <p:cNvSpPr>
            <a:spLocks noGrp="1" noChangeArrowheads="1"/>
          </p:cNvSpPr>
          <p:nvPr>
            <p:ph idx="1"/>
          </p:nvPr>
        </p:nvSpPr>
        <p:spPr bwMode="auto">
          <a:xfrm>
            <a:off x="720437" y="1513367"/>
            <a:ext cx="10427854" cy="1550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400" dirty="0">
                <a:latin typeface="Calibri" panose="020F0502020204030204" pitchFamily="34" charset="0"/>
                <a:ea typeface="Calibri" panose="020F0502020204030204" pitchFamily="34" charset="0"/>
                <a:cs typeface="Calibri" panose="020F0502020204030204" pitchFamily="34" charset="0"/>
              </a:rPr>
              <a:t>Gray coding in the AXI4-to-AHB bridge is used to reduce switching activity in the FSM (Finite State Machine).</a:t>
            </a:r>
          </a:p>
          <a:p>
            <a:pPr algn="just"/>
            <a:r>
              <a:rPr lang="en-IN" sz="2400" dirty="0">
                <a:latin typeface="Calibri" panose="020F0502020204030204" pitchFamily="34" charset="0"/>
                <a:ea typeface="Calibri" panose="020F0502020204030204" pitchFamily="34" charset="0"/>
                <a:cs typeface="Calibri" panose="020F0502020204030204" pitchFamily="34" charset="0"/>
              </a:rPr>
              <a:t>The bridge FSM controls AXI read/write transactions and AHB transfers using states such as : </a:t>
            </a:r>
            <a:r>
              <a:rPr lang="en-IN" sz="2000" dirty="0">
                <a:latin typeface="Calibri" panose="020F0502020204030204" pitchFamily="34" charset="0"/>
                <a:ea typeface="Calibri" panose="020F0502020204030204" pitchFamily="34" charset="0"/>
                <a:cs typeface="Calibri" panose="020F0502020204030204" pitchFamily="34" charset="0"/>
              </a:rPr>
              <a:t>IDLE- CMD_RD- DATA_RD -CMD_WR -DATA_WR -DONE_RD -DONE_WR</a:t>
            </a:r>
          </a:p>
        </p:txBody>
      </p:sp>
    </p:spTree>
    <p:extLst>
      <p:ext uri="{BB962C8B-B14F-4D97-AF65-F5344CB8AC3E}">
        <p14:creationId xmlns:p14="http://schemas.microsoft.com/office/powerpoint/2010/main" val="1456543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F2970-7269-E06B-92FB-31848B1AAE6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47D2DC3-04BE-E153-2883-4BBF7981CB8F}"/>
              </a:ext>
            </a:extLst>
          </p:cNvPr>
          <p:cNvSpPr>
            <a:spLocks noGrp="1"/>
          </p:cNvSpPr>
          <p:nvPr>
            <p:ph type="title"/>
          </p:nvPr>
        </p:nvSpPr>
        <p:spPr>
          <a:xfrm>
            <a:off x="0" y="1"/>
            <a:ext cx="12192000" cy="660400"/>
          </a:xfrm>
          <a:solidFill>
            <a:schemeClr val="accent6"/>
          </a:solidFill>
        </p:spPr>
        <p:txBody>
          <a:bodyPr>
            <a:normAutofit/>
          </a:bodyPr>
          <a:lstStyle/>
          <a:p>
            <a:pPr algn="ctr"/>
            <a:r>
              <a:rPr lang="en-US" sz="2800">
                <a:latin typeface="Calibri" panose="020F0502020204030204" pitchFamily="34" charset="0"/>
                <a:ea typeface="Calibri" panose="020F0502020204030204" pitchFamily="34" charset="0"/>
                <a:cs typeface="Calibri" panose="020F0502020204030204" pitchFamily="34" charset="0"/>
              </a:rPr>
              <a:t>Gray Code Encoding Steps in AXI4 to AHB Bus</a:t>
            </a:r>
          </a:p>
        </p:txBody>
      </p:sp>
      <p:sp>
        <p:nvSpPr>
          <p:cNvPr id="4" name="Slide Number Placeholder 3">
            <a:extLst>
              <a:ext uri="{FF2B5EF4-FFF2-40B4-BE49-F238E27FC236}">
                <a16:creationId xmlns:a16="http://schemas.microsoft.com/office/drawing/2014/main" id="{914DF9AC-2A05-3AD3-F050-3CA6CE837384}"/>
              </a:ext>
            </a:extLst>
          </p:cNvPr>
          <p:cNvSpPr>
            <a:spLocks noGrp="1"/>
          </p:cNvSpPr>
          <p:nvPr>
            <p:ph type="sldNum" sz="quarter" idx="12"/>
          </p:nvPr>
        </p:nvSpPr>
        <p:spPr/>
        <p:txBody>
          <a:bodyPr/>
          <a:lstStyle/>
          <a:p>
            <a:fld id="{330EA680-D336-4FF7-8B7A-9848BB0A1C32}" type="slidenum">
              <a:rPr lang="en-US" smtClean="0"/>
              <a:t>93</a:t>
            </a:fld>
            <a:endParaRPr lang="en-US"/>
          </a:p>
        </p:txBody>
      </p:sp>
      <p:sp>
        <p:nvSpPr>
          <p:cNvPr id="6" name="Rectangle 2">
            <a:extLst>
              <a:ext uri="{FF2B5EF4-FFF2-40B4-BE49-F238E27FC236}">
                <a16:creationId xmlns:a16="http://schemas.microsoft.com/office/drawing/2014/main" id="{24045329-E151-1C8D-DC9C-7E0FEE809823}"/>
              </a:ext>
            </a:extLst>
          </p:cNvPr>
          <p:cNvSpPr>
            <a:spLocks noGrp="1" noChangeArrowheads="1"/>
          </p:cNvSpPr>
          <p:nvPr>
            <p:ph idx="1"/>
          </p:nvPr>
        </p:nvSpPr>
        <p:spPr bwMode="auto">
          <a:xfrm>
            <a:off x="655782" y="1547164"/>
            <a:ext cx="10095345" cy="487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IN" sz="1800">
                <a:latin typeface="Calibri" panose="020F0502020204030204" pitchFamily="34" charset="0"/>
                <a:ea typeface="Calibri" panose="020F0502020204030204" pitchFamily="34" charset="0"/>
                <a:cs typeface="Calibri" panose="020F0502020204030204" pitchFamily="34" charset="0"/>
              </a:rPr>
              <a:t>Step 1: Identify FSM states in AXI-to-AHB bridge : IDLE, CMD_RD, DATA_RD, DONE_RD</a:t>
            </a:r>
          </a:p>
          <a:p>
            <a:pPr marL="0" indent="0" algn="just">
              <a:buNone/>
            </a:pPr>
            <a:r>
              <a:rPr lang="en-IN" sz="1800">
                <a:latin typeface="Calibri" panose="020F0502020204030204" pitchFamily="34" charset="0"/>
                <a:ea typeface="Calibri" panose="020F0502020204030204" pitchFamily="34" charset="0"/>
                <a:cs typeface="Calibri" panose="020F0502020204030204" pitchFamily="34" charset="0"/>
              </a:rPr>
              <a:t>Step 2:Check normal binary encoding</a:t>
            </a:r>
          </a:p>
          <a:p>
            <a:pPr algn="just"/>
            <a:r>
              <a:rPr lang="en-IN" sz="1800">
                <a:latin typeface="Calibri" panose="020F0502020204030204" pitchFamily="34" charset="0"/>
                <a:ea typeface="Calibri" panose="020F0502020204030204" pitchFamily="34" charset="0"/>
                <a:cs typeface="Calibri" panose="020F0502020204030204" pitchFamily="34" charset="0"/>
              </a:rPr>
              <a:t>IDLE    = 0000</a:t>
            </a:r>
          </a:p>
          <a:p>
            <a:pPr algn="just"/>
            <a:r>
              <a:rPr lang="en-IN" sz="1800">
                <a:latin typeface="Calibri" panose="020F0502020204030204" pitchFamily="34" charset="0"/>
                <a:ea typeface="Calibri" panose="020F0502020204030204" pitchFamily="34" charset="0"/>
                <a:cs typeface="Calibri" panose="020F0502020204030204" pitchFamily="34" charset="0"/>
              </a:rPr>
              <a:t>CMD_RD  = 0001</a:t>
            </a:r>
          </a:p>
          <a:p>
            <a:pPr algn="just"/>
            <a:r>
              <a:rPr lang="en-IN" sz="1800">
                <a:latin typeface="Calibri" panose="020F0502020204030204" pitchFamily="34" charset="0"/>
                <a:ea typeface="Calibri" panose="020F0502020204030204" pitchFamily="34" charset="0"/>
                <a:cs typeface="Calibri" panose="020F0502020204030204" pitchFamily="34" charset="0"/>
              </a:rPr>
              <a:t>DATA_RD = 0010</a:t>
            </a:r>
          </a:p>
          <a:p>
            <a:pPr algn="just"/>
            <a:r>
              <a:rPr lang="en-IN" sz="1800">
                <a:latin typeface="Calibri" panose="020F0502020204030204" pitchFamily="34" charset="0"/>
                <a:ea typeface="Calibri" panose="020F0502020204030204" pitchFamily="34" charset="0"/>
                <a:cs typeface="Calibri" panose="020F0502020204030204" pitchFamily="34" charset="0"/>
              </a:rPr>
              <a:t>DONE_RD = 0011</a:t>
            </a:r>
          </a:p>
          <a:p>
            <a:pPr marL="0" indent="0" algn="just">
              <a:buNone/>
            </a:pPr>
            <a:r>
              <a:rPr lang="en-IN" sz="1800">
                <a:latin typeface="Calibri" panose="020F0502020204030204" pitchFamily="34" charset="0"/>
                <a:ea typeface="Calibri" panose="020F0502020204030204" pitchFamily="34" charset="0"/>
                <a:cs typeface="Calibri" panose="020F0502020204030204" pitchFamily="34" charset="0"/>
              </a:rPr>
              <a:t>Step 3:Observe multiple bit transitions:0001 -&gt; 0010(2 bits change)</a:t>
            </a:r>
          </a:p>
          <a:p>
            <a:pPr marL="0" indent="0" algn="just">
              <a:buNone/>
            </a:pPr>
            <a:r>
              <a:rPr lang="en-IN" sz="1800">
                <a:latin typeface="Calibri" panose="020F0502020204030204" pitchFamily="34" charset="0"/>
                <a:ea typeface="Calibri" panose="020F0502020204030204" pitchFamily="34" charset="0"/>
                <a:cs typeface="Calibri" panose="020F0502020204030204" pitchFamily="34" charset="0"/>
              </a:rPr>
              <a:t>Step 4:Assign Gray-coded values</a:t>
            </a:r>
          </a:p>
          <a:p>
            <a:pPr algn="just"/>
            <a:r>
              <a:rPr lang="en-IN" sz="1800">
                <a:latin typeface="Calibri" panose="020F0502020204030204" pitchFamily="34" charset="0"/>
                <a:ea typeface="Calibri" panose="020F0502020204030204" pitchFamily="34" charset="0"/>
                <a:cs typeface="Calibri" panose="020F0502020204030204" pitchFamily="34" charset="0"/>
              </a:rPr>
              <a:t>IDLE    = 0000</a:t>
            </a:r>
          </a:p>
          <a:p>
            <a:pPr algn="just"/>
            <a:r>
              <a:rPr lang="en-IN" sz="1800">
                <a:latin typeface="Calibri" panose="020F0502020204030204" pitchFamily="34" charset="0"/>
                <a:ea typeface="Calibri" panose="020F0502020204030204" pitchFamily="34" charset="0"/>
                <a:cs typeface="Calibri" panose="020F0502020204030204" pitchFamily="34" charset="0"/>
              </a:rPr>
              <a:t>CMD_RD  = 0001</a:t>
            </a:r>
          </a:p>
          <a:p>
            <a:pPr algn="just"/>
            <a:r>
              <a:rPr lang="en-IN" sz="1800">
                <a:latin typeface="Calibri" panose="020F0502020204030204" pitchFamily="34" charset="0"/>
                <a:ea typeface="Calibri" panose="020F0502020204030204" pitchFamily="34" charset="0"/>
                <a:cs typeface="Calibri" panose="020F0502020204030204" pitchFamily="34" charset="0"/>
              </a:rPr>
              <a:t>DATA_RD = 0011</a:t>
            </a:r>
          </a:p>
          <a:p>
            <a:pPr algn="just"/>
            <a:r>
              <a:rPr lang="en-IN" sz="1800">
                <a:latin typeface="Calibri" panose="020F0502020204030204" pitchFamily="34" charset="0"/>
                <a:ea typeface="Calibri" panose="020F0502020204030204" pitchFamily="34" charset="0"/>
                <a:cs typeface="Calibri" panose="020F0502020204030204" pitchFamily="34" charset="0"/>
              </a:rPr>
              <a:t>DONE_RD = 0010</a:t>
            </a:r>
          </a:p>
          <a:p>
            <a:pPr marL="0" indent="0" algn="just">
              <a:buNone/>
            </a:pPr>
            <a:r>
              <a:rPr lang="en-IN" sz="1800">
                <a:latin typeface="Calibri" panose="020F0502020204030204" pitchFamily="34" charset="0"/>
                <a:ea typeface="Calibri" panose="020F0502020204030204" pitchFamily="34" charset="0"/>
                <a:cs typeface="Calibri" panose="020F0502020204030204" pitchFamily="34" charset="0"/>
              </a:rPr>
              <a:t>Step 5: only one bit changes 0001 -&gt; 0011(1 bit change)</a:t>
            </a:r>
          </a:p>
        </p:txBody>
      </p:sp>
    </p:spTree>
    <p:extLst>
      <p:ext uri="{BB962C8B-B14F-4D97-AF65-F5344CB8AC3E}">
        <p14:creationId xmlns:p14="http://schemas.microsoft.com/office/powerpoint/2010/main" val="41716586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AAA6F-C87A-5F42-0BCC-A12182FA1AC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7D67802-DC93-FFE3-9A31-92FEA2EEBFFC}"/>
              </a:ext>
            </a:extLst>
          </p:cNvPr>
          <p:cNvSpPr>
            <a:spLocks noGrp="1"/>
          </p:cNvSpPr>
          <p:nvPr>
            <p:ph type="title"/>
          </p:nvPr>
        </p:nvSpPr>
        <p:spPr>
          <a:xfrm>
            <a:off x="0" y="1"/>
            <a:ext cx="12192000" cy="685799"/>
          </a:xfrm>
          <a:solidFill>
            <a:schemeClr val="accent6"/>
          </a:solidFill>
        </p:spPr>
        <p:txBody>
          <a:bodyPr>
            <a:normAutofit/>
          </a:bodyPr>
          <a:lstStyle/>
          <a:p>
            <a:pPr algn="ctr"/>
            <a:r>
              <a:rPr lang="en-US" sz="2800">
                <a:latin typeface="Calibri" panose="020F0502020204030204" pitchFamily="34" charset="0"/>
                <a:ea typeface="Calibri" panose="020F0502020204030204" pitchFamily="34" charset="0"/>
                <a:cs typeface="Calibri" panose="020F0502020204030204" pitchFamily="34" charset="0"/>
              </a:rPr>
              <a:t> Bus Inversion Encoding in AXI4 to AHB  Bus</a:t>
            </a:r>
          </a:p>
        </p:txBody>
      </p:sp>
      <p:sp>
        <p:nvSpPr>
          <p:cNvPr id="4" name="Slide Number Placeholder 3">
            <a:extLst>
              <a:ext uri="{FF2B5EF4-FFF2-40B4-BE49-F238E27FC236}">
                <a16:creationId xmlns:a16="http://schemas.microsoft.com/office/drawing/2014/main" id="{2143458E-5A64-3B9A-457C-A9B25B2B7637}"/>
              </a:ext>
            </a:extLst>
          </p:cNvPr>
          <p:cNvSpPr>
            <a:spLocks noGrp="1"/>
          </p:cNvSpPr>
          <p:nvPr>
            <p:ph type="sldNum" sz="quarter" idx="12"/>
          </p:nvPr>
        </p:nvSpPr>
        <p:spPr/>
        <p:txBody>
          <a:bodyPr/>
          <a:lstStyle/>
          <a:p>
            <a:fld id="{330EA680-D336-4FF7-8B7A-9848BB0A1C32}" type="slidenum">
              <a:rPr lang="en-US" smtClean="0"/>
              <a:t>94</a:t>
            </a:fld>
            <a:endParaRPr lang="en-US"/>
          </a:p>
        </p:txBody>
      </p:sp>
      <mc:AlternateContent xmlns:mc="http://schemas.openxmlformats.org/markup-compatibility/2006" xmlns:a14="http://schemas.microsoft.com/office/drawing/2010/main">
        <mc:Choice Requires="a14">
          <p:sp>
            <p:nvSpPr>
              <p:cNvPr id="6" name="Rectangle 2">
                <a:extLst>
                  <a:ext uri="{FF2B5EF4-FFF2-40B4-BE49-F238E27FC236}">
                    <a16:creationId xmlns:a16="http://schemas.microsoft.com/office/drawing/2014/main" id="{2BE92129-FC0F-6853-A4EB-13E76B72E157}"/>
                  </a:ext>
                </a:extLst>
              </p:cNvPr>
              <p:cNvSpPr>
                <a:spLocks noGrp="1" noChangeArrowheads="1"/>
              </p:cNvSpPr>
              <p:nvPr>
                <p:ph idx="1"/>
              </p:nvPr>
            </p:nvSpPr>
            <p:spPr bwMode="auto">
              <a:xfrm>
                <a:off x="748146" y="1202616"/>
                <a:ext cx="10427854" cy="316920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400">
                    <a:latin typeface="Calibri" panose="020F0502020204030204" pitchFamily="34" charset="0"/>
                    <a:ea typeface="Calibri" panose="020F0502020204030204" pitchFamily="34" charset="0"/>
                    <a:cs typeface="Calibri" panose="020F0502020204030204" pitchFamily="34" charset="0"/>
                  </a:rPr>
                  <a:t>In the AXI4-to-AHB bridge, the major power consumption comes from frequent switching of wide buses such as:</a:t>
                </a:r>
              </a:p>
              <a:p>
                <a:pPr marL="0" indent="0" algn="just">
                  <a:buNone/>
                </a:pPr>
                <a:r>
                  <a:rPr lang="en-IN" sz="2400">
                    <a:latin typeface="Calibri" panose="020F0502020204030204" pitchFamily="34" charset="0"/>
                    <a:ea typeface="Calibri" panose="020F0502020204030204" pitchFamily="34" charset="0"/>
                    <a:cs typeface="Calibri" panose="020F0502020204030204" pitchFamily="34" charset="0"/>
                  </a:rPr>
                  <a:t>axi_wdata[63:0]</a:t>
                </a:r>
                <a:br>
                  <a:rPr lang="en-IN" sz="2400">
                    <a:latin typeface="Calibri" panose="020F0502020204030204" pitchFamily="34" charset="0"/>
                    <a:ea typeface="Calibri" panose="020F0502020204030204" pitchFamily="34" charset="0"/>
                    <a:cs typeface="Calibri" panose="020F0502020204030204" pitchFamily="34" charset="0"/>
                  </a:rPr>
                </a:br>
                <a:r>
                  <a:rPr lang="en-IN" sz="2400">
                    <a:latin typeface="Calibri" panose="020F0502020204030204" pitchFamily="34" charset="0"/>
                    <a:ea typeface="Calibri" panose="020F0502020204030204" pitchFamily="34" charset="0"/>
                    <a:cs typeface="Calibri" panose="020F0502020204030204" pitchFamily="34" charset="0"/>
                  </a:rPr>
                  <a:t>    ahb_hwdata[63:0]</a:t>
                </a:r>
                <a:br>
                  <a:rPr lang="en-IN" sz="2400">
                    <a:latin typeface="Calibri" panose="020F0502020204030204" pitchFamily="34" charset="0"/>
                    <a:ea typeface="Calibri" panose="020F0502020204030204" pitchFamily="34" charset="0"/>
                    <a:cs typeface="Calibri" panose="020F0502020204030204" pitchFamily="34" charset="0"/>
                  </a:rPr>
                </a:br>
                <a:r>
                  <a:rPr lang="en-IN" sz="2400">
                    <a:latin typeface="Calibri" panose="020F0502020204030204" pitchFamily="34" charset="0"/>
                    <a:ea typeface="Calibri" panose="020F0502020204030204" pitchFamily="34" charset="0"/>
                    <a:cs typeface="Calibri" panose="020F0502020204030204" pitchFamily="34" charset="0"/>
                  </a:rPr>
                  <a:t>  ahb_hrdata[63:0]</a:t>
                </a:r>
                <a:br>
                  <a:rPr lang="en-IN" sz="2400">
                    <a:latin typeface="Calibri" panose="020F0502020204030204" pitchFamily="34" charset="0"/>
                    <a:ea typeface="Calibri" panose="020F0502020204030204" pitchFamily="34" charset="0"/>
                    <a:cs typeface="Calibri" panose="020F0502020204030204" pitchFamily="34" charset="0"/>
                  </a:rPr>
                </a:br>
                <a:r>
                  <a:rPr lang="en-IN" sz="2400">
                    <a:latin typeface="Calibri" panose="020F0502020204030204" pitchFamily="34" charset="0"/>
                    <a:ea typeface="Calibri" panose="020F0502020204030204" pitchFamily="34" charset="0"/>
                    <a:cs typeface="Calibri" panose="020F0502020204030204" pitchFamily="34" charset="0"/>
                  </a:rPr>
                  <a:t>   If more bits toggle, α increases, causing more power consumption.</a:t>
                </a:r>
              </a:p>
              <a:p>
                <a:pPr algn="just"/>
                <a:r>
                  <a:rPr lang="en-IN" sz="2400">
                    <a:latin typeface="Calibri" panose="020F0502020204030204" pitchFamily="34" charset="0"/>
                    <a:ea typeface="Calibri" panose="020F0502020204030204" pitchFamily="34" charset="0"/>
                    <a:cs typeface="Calibri" panose="020F0502020204030204" pitchFamily="34" charset="0"/>
                  </a:rPr>
                  <a:t>Dynamic power depends on switching activity:</a:t>
                </a:r>
                <a14:m>
                  <m:oMath xmlns:m="http://schemas.openxmlformats.org/officeDocument/2006/math">
                    <m:sSub>
                      <m:sSubPr>
                        <m:ctrlPr>
                          <a:rPr lang="en-IN" sz="2400" i="1">
                            <a:latin typeface="Cambria Math" panose="02040503050406030204" pitchFamily="18" charset="0"/>
                          </a:rPr>
                        </m:ctrlPr>
                      </m:sSubPr>
                      <m:e>
                        <m:r>
                          <a:rPr lang="en-IN" sz="2400" i="1">
                            <a:latin typeface="Cambria Math" panose="02040503050406030204" pitchFamily="18" charset="0"/>
                          </a:rPr>
                          <m:t>𝑃</m:t>
                        </m:r>
                      </m:e>
                      <m:sub>
                        <m:r>
                          <a:rPr lang="en-IN" sz="2400" i="1">
                            <a:latin typeface="Cambria Math" panose="02040503050406030204" pitchFamily="18" charset="0"/>
                          </a:rPr>
                          <m:t>𝑑𝑦𝑛𝑎𝑚𝑖𝑐</m:t>
                        </m:r>
                      </m:sub>
                    </m:sSub>
                    <m:r>
                      <a:rPr lang="en-IN" sz="2400">
                        <a:latin typeface="Cambria Math" panose="02040503050406030204" pitchFamily="18" charset="0"/>
                      </a:rPr>
                      <m:t>=</m:t>
                    </m:r>
                    <m:r>
                      <a:rPr lang="en-IN" sz="2400" i="1">
                        <a:latin typeface="Cambria Math" panose="02040503050406030204" pitchFamily="18" charset="0"/>
                      </a:rPr>
                      <m:t>𝛼</m:t>
                    </m:r>
                    <m:r>
                      <a:rPr lang="en-IN" sz="2400" i="1">
                        <a:latin typeface="Cambria Math" panose="02040503050406030204" pitchFamily="18" charset="0"/>
                      </a:rPr>
                      <m:t>𝐶</m:t>
                    </m:r>
                    <m:sSup>
                      <m:sSupPr>
                        <m:ctrlPr>
                          <a:rPr lang="en-IN" sz="2400" i="1">
                            <a:latin typeface="Cambria Math" panose="02040503050406030204" pitchFamily="18" charset="0"/>
                          </a:rPr>
                        </m:ctrlPr>
                      </m:sSupPr>
                      <m:e>
                        <m:r>
                          <a:rPr lang="en-IN" sz="2400" i="1">
                            <a:latin typeface="Cambria Math" panose="02040503050406030204" pitchFamily="18" charset="0"/>
                          </a:rPr>
                          <m:t>𝑉</m:t>
                        </m:r>
                      </m:e>
                      <m:sup>
                        <m:r>
                          <a:rPr lang="en-IN" sz="2400">
                            <a:latin typeface="Cambria Math" panose="02040503050406030204" pitchFamily="18" charset="0"/>
                          </a:rPr>
                          <m:t>2</m:t>
                        </m:r>
                      </m:sup>
                    </m:sSup>
                    <m:r>
                      <a:rPr lang="en-IN" sz="2400" i="1">
                        <a:latin typeface="Cambria Math" panose="02040503050406030204" pitchFamily="18" charset="0"/>
                      </a:rPr>
                      <m:t>𝑓</m:t>
                    </m:r>
                  </m:oMath>
                </a14:m>
                <a:endParaRPr lang="en-IN" sz="2400">
                  <a:latin typeface="Calibri" panose="020F0502020204030204" pitchFamily="34" charset="0"/>
                  <a:ea typeface="Calibri" panose="020F0502020204030204" pitchFamily="34" charset="0"/>
                  <a:cs typeface="Calibri" panose="020F0502020204030204" pitchFamily="34" charset="0"/>
                </a:endParaRPr>
              </a:p>
              <a:p>
                <a:pPr marL="0" indent="0" algn="just">
                  <a:buNone/>
                </a:pPr>
                <a:endParaRPr lang="en-IN" sz="240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 name="Rectangle 2">
                <a:extLst>
                  <a:ext uri="{FF2B5EF4-FFF2-40B4-BE49-F238E27FC236}">
                    <a16:creationId xmlns:a16="http://schemas.microsoft.com/office/drawing/2014/main" id="{2BE92129-FC0F-6853-A4EB-13E76B72E157}"/>
                  </a:ext>
                </a:extLst>
              </p:cNvPr>
              <p:cNvSpPr>
                <a:spLocks noGrp="1" noRot="1" noChangeAspect="1" noMove="1" noResize="1" noEditPoints="1" noAdjustHandles="1" noChangeArrowheads="1" noChangeShapeType="1" noTextEdit="1"/>
              </p:cNvSpPr>
              <p:nvPr>
                <p:ph idx="1"/>
              </p:nvPr>
            </p:nvSpPr>
            <p:spPr bwMode="auto">
              <a:xfrm>
                <a:off x="748146" y="1202616"/>
                <a:ext cx="10427854" cy="3169201"/>
              </a:xfrm>
              <a:prstGeom prst="rect">
                <a:avLst/>
              </a:prstGeom>
              <a:blipFill>
                <a:blip r:embed="rId2"/>
                <a:stretch>
                  <a:fillRect l="-819" t="-2115" r="-87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62506088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F7060-39F5-890D-1579-24EB95D86C2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7713429-63E3-F8FF-2A63-B69F0B63A39F}"/>
              </a:ext>
            </a:extLst>
          </p:cNvPr>
          <p:cNvSpPr>
            <a:spLocks noGrp="1"/>
          </p:cNvSpPr>
          <p:nvPr>
            <p:ph type="title"/>
          </p:nvPr>
        </p:nvSpPr>
        <p:spPr>
          <a:xfrm>
            <a:off x="0" y="0"/>
            <a:ext cx="12192000" cy="665268"/>
          </a:xfrm>
          <a:solidFill>
            <a:schemeClr val="accent6"/>
          </a:solidFill>
        </p:spPr>
        <p:txBody>
          <a:bodyPr>
            <a:normAutofit/>
          </a:bodyPr>
          <a:lstStyle/>
          <a:p>
            <a:pPr algn="ctr"/>
            <a:r>
              <a:rPr lang="en-US" sz="2800">
                <a:latin typeface="Calibri" panose="020F0502020204030204" pitchFamily="34" charset="0"/>
                <a:ea typeface="Calibri" panose="020F0502020204030204" pitchFamily="34" charset="0"/>
                <a:cs typeface="Calibri" panose="020F0502020204030204" pitchFamily="34" charset="0"/>
              </a:rPr>
              <a:t> Bus Inversion Encoding in AXI4 to AHB Bus</a:t>
            </a:r>
          </a:p>
        </p:txBody>
      </p:sp>
      <p:sp>
        <p:nvSpPr>
          <p:cNvPr id="4" name="Slide Number Placeholder 3">
            <a:extLst>
              <a:ext uri="{FF2B5EF4-FFF2-40B4-BE49-F238E27FC236}">
                <a16:creationId xmlns:a16="http://schemas.microsoft.com/office/drawing/2014/main" id="{BB3A8A4A-F120-77BA-9379-5EC04A980E70}"/>
              </a:ext>
            </a:extLst>
          </p:cNvPr>
          <p:cNvSpPr>
            <a:spLocks noGrp="1"/>
          </p:cNvSpPr>
          <p:nvPr>
            <p:ph type="sldNum" sz="quarter" idx="12"/>
          </p:nvPr>
        </p:nvSpPr>
        <p:spPr/>
        <p:txBody>
          <a:bodyPr/>
          <a:lstStyle/>
          <a:p>
            <a:fld id="{330EA680-D336-4FF7-8B7A-9848BB0A1C32}" type="slidenum">
              <a:rPr lang="en-US" smtClean="0"/>
              <a:t>95</a:t>
            </a:fld>
            <a:endParaRPr lang="en-US"/>
          </a:p>
        </p:txBody>
      </p:sp>
      <p:sp>
        <p:nvSpPr>
          <p:cNvPr id="6" name="Rectangle 2">
            <a:extLst>
              <a:ext uri="{FF2B5EF4-FFF2-40B4-BE49-F238E27FC236}">
                <a16:creationId xmlns:a16="http://schemas.microsoft.com/office/drawing/2014/main" id="{FC2D0A94-D024-A0A1-C70D-CE26BFA3A6B7}"/>
              </a:ext>
            </a:extLst>
          </p:cNvPr>
          <p:cNvSpPr>
            <a:spLocks noGrp="1" noChangeArrowheads="1"/>
          </p:cNvSpPr>
          <p:nvPr>
            <p:ph idx="1"/>
          </p:nvPr>
        </p:nvSpPr>
        <p:spPr bwMode="auto">
          <a:xfrm>
            <a:off x="768927" y="2674858"/>
            <a:ext cx="10081490" cy="2324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400">
                <a:latin typeface="Calibri" panose="020F0502020204030204" pitchFamily="34" charset="0"/>
                <a:ea typeface="Calibri" panose="020F0502020204030204" pitchFamily="34" charset="0"/>
                <a:cs typeface="Calibri" panose="020F0502020204030204" pitchFamily="34" charset="0"/>
              </a:rPr>
              <a:t>Apply encoder here:</a:t>
            </a:r>
          </a:p>
          <a:p>
            <a:pPr algn="just"/>
            <a:endParaRPr lang="en-IN" sz="2400">
              <a:latin typeface="Calibri" panose="020F0502020204030204" pitchFamily="34" charset="0"/>
              <a:ea typeface="Calibri" panose="020F0502020204030204" pitchFamily="34" charset="0"/>
              <a:cs typeface="Calibri" panose="020F0502020204030204" pitchFamily="34" charset="0"/>
            </a:endParaRPr>
          </a:p>
          <a:p>
            <a:pPr marL="0" indent="0" algn="just">
              <a:buNone/>
            </a:pPr>
            <a:endParaRPr lang="en-IN" sz="2400">
              <a:latin typeface="Calibri" panose="020F0502020204030204" pitchFamily="34" charset="0"/>
              <a:ea typeface="Calibri" panose="020F0502020204030204" pitchFamily="34" charset="0"/>
              <a:cs typeface="Calibri" panose="020F0502020204030204" pitchFamily="34" charset="0"/>
            </a:endParaRPr>
          </a:p>
          <a:p>
            <a:pPr algn="just"/>
            <a:r>
              <a:rPr lang="en-IN" sz="2400">
                <a:latin typeface="Calibri" panose="020F0502020204030204" pitchFamily="34" charset="0"/>
                <a:ea typeface="Calibri" panose="020F0502020204030204" pitchFamily="34" charset="0"/>
                <a:cs typeface="Calibri" panose="020F0502020204030204" pitchFamily="34" charset="0"/>
              </a:rPr>
              <a:t>Store : buf_data and inv_bit</a:t>
            </a:r>
          </a:p>
          <a:p>
            <a:pPr algn="just"/>
            <a:r>
              <a:rPr lang="en-IN" sz="2400">
                <a:latin typeface="Calibri" panose="020F0502020204030204" pitchFamily="34" charset="0"/>
                <a:ea typeface="Calibri" panose="020F0502020204030204" pitchFamily="34" charset="0"/>
                <a:cs typeface="Calibri" panose="020F0502020204030204" pitchFamily="34" charset="0"/>
              </a:rPr>
              <a:t>Decode before AHB output:</a:t>
            </a:r>
          </a:p>
        </p:txBody>
      </p:sp>
      <p:sp>
        <p:nvSpPr>
          <p:cNvPr id="7" name="Rectangle 6">
            <a:extLst>
              <a:ext uri="{FF2B5EF4-FFF2-40B4-BE49-F238E27FC236}">
                <a16:creationId xmlns:a16="http://schemas.microsoft.com/office/drawing/2014/main" id="{A6518D4A-4FF1-B2EF-2CA0-35C5362FFB19}"/>
              </a:ext>
            </a:extLst>
          </p:cNvPr>
          <p:cNvSpPr/>
          <p:nvPr/>
        </p:nvSpPr>
        <p:spPr>
          <a:xfrm>
            <a:off x="1551707" y="5084178"/>
            <a:ext cx="2068947" cy="598155"/>
          </a:xfrm>
          <a:prstGeom prst="rect">
            <a:avLst/>
          </a:prstGeom>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buf_data + inv_bit</a:t>
            </a:r>
          </a:p>
        </p:txBody>
      </p:sp>
      <p:sp>
        <p:nvSpPr>
          <p:cNvPr id="8" name="Rectangle 7">
            <a:extLst>
              <a:ext uri="{FF2B5EF4-FFF2-40B4-BE49-F238E27FC236}">
                <a16:creationId xmlns:a16="http://schemas.microsoft.com/office/drawing/2014/main" id="{CA21C13E-C876-7E97-5370-8B42F78404BE}"/>
              </a:ext>
            </a:extLst>
          </p:cNvPr>
          <p:cNvSpPr/>
          <p:nvPr/>
        </p:nvSpPr>
        <p:spPr>
          <a:xfrm>
            <a:off x="4304146" y="5084178"/>
            <a:ext cx="1791854" cy="598155"/>
          </a:xfrm>
          <a:prstGeom prst="rect">
            <a:avLst/>
          </a:prstGeom>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Bus Inversion Decoder</a:t>
            </a:r>
          </a:p>
        </p:txBody>
      </p:sp>
      <p:sp>
        <p:nvSpPr>
          <p:cNvPr id="9" name="Rectangle 8">
            <a:extLst>
              <a:ext uri="{FF2B5EF4-FFF2-40B4-BE49-F238E27FC236}">
                <a16:creationId xmlns:a16="http://schemas.microsoft.com/office/drawing/2014/main" id="{41C58379-D172-E73F-0606-C558823EA74B}"/>
              </a:ext>
            </a:extLst>
          </p:cNvPr>
          <p:cNvSpPr/>
          <p:nvPr/>
        </p:nvSpPr>
        <p:spPr>
          <a:xfrm>
            <a:off x="6682508" y="5089780"/>
            <a:ext cx="1625601" cy="598155"/>
          </a:xfrm>
          <a:prstGeom prst="rect">
            <a:avLst/>
          </a:prstGeom>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a:t>AHB_hwdata</a:t>
            </a:r>
          </a:p>
        </p:txBody>
      </p:sp>
      <p:cxnSp>
        <p:nvCxnSpPr>
          <p:cNvPr id="11" name="Straight Arrow Connector 10">
            <a:extLst>
              <a:ext uri="{FF2B5EF4-FFF2-40B4-BE49-F238E27FC236}">
                <a16:creationId xmlns:a16="http://schemas.microsoft.com/office/drawing/2014/main" id="{39C16F3B-32DB-B9A0-DA29-B47A5252CA59}"/>
              </a:ext>
            </a:extLst>
          </p:cNvPr>
          <p:cNvCxnSpPr>
            <a:cxnSpLocks/>
            <a:stCxn id="7" idx="3"/>
            <a:endCxn id="8" idx="1"/>
          </p:cNvCxnSpPr>
          <p:nvPr/>
        </p:nvCxnSpPr>
        <p:spPr>
          <a:xfrm>
            <a:off x="3620654" y="5383256"/>
            <a:ext cx="683492"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64BE86E-3268-6465-128C-FDEDF72B6611}"/>
              </a:ext>
            </a:extLst>
          </p:cNvPr>
          <p:cNvCxnSpPr>
            <a:cxnSpLocks/>
          </p:cNvCxnSpPr>
          <p:nvPr/>
        </p:nvCxnSpPr>
        <p:spPr>
          <a:xfrm flipV="1">
            <a:off x="5999016" y="5377652"/>
            <a:ext cx="683492" cy="11206"/>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43218C30-2701-C315-2519-AE925B48CDC7}"/>
              </a:ext>
            </a:extLst>
          </p:cNvPr>
          <p:cNvSpPr/>
          <p:nvPr/>
        </p:nvSpPr>
        <p:spPr>
          <a:xfrm>
            <a:off x="1574811" y="3317245"/>
            <a:ext cx="2068947" cy="598155"/>
          </a:xfrm>
          <a:prstGeom prst="rect">
            <a:avLst/>
          </a:prstGeom>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wrbuf_data</a:t>
            </a:r>
          </a:p>
        </p:txBody>
      </p:sp>
      <p:sp>
        <p:nvSpPr>
          <p:cNvPr id="17" name="Rectangle 16">
            <a:extLst>
              <a:ext uri="{FF2B5EF4-FFF2-40B4-BE49-F238E27FC236}">
                <a16:creationId xmlns:a16="http://schemas.microsoft.com/office/drawing/2014/main" id="{F8E714EA-3516-5B40-1C86-1FD76B3AEB22}"/>
              </a:ext>
            </a:extLst>
          </p:cNvPr>
          <p:cNvSpPr/>
          <p:nvPr/>
        </p:nvSpPr>
        <p:spPr>
          <a:xfrm>
            <a:off x="4327250" y="3317245"/>
            <a:ext cx="1791854" cy="598155"/>
          </a:xfrm>
          <a:prstGeom prst="rect">
            <a:avLst/>
          </a:prstGeom>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Bus Inversion Encoder</a:t>
            </a:r>
          </a:p>
        </p:txBody>
      </p:sp>
      <p:sp>
        <p:nvSpPr>
          <p:cNvPr id="18" name="Rectangle 17">
            <a:extLst>
              <a:ext uri="{FF2B5EF4-FFF2-40B4-BE49-F238E27FC236}">
                <a16:creationId xmlns:a16="http://schemas.microsoft.com/office/drawing/2014/main" id="{0EC74EA2-DD5A-CB47-571F-6F0E0FEBFD17}"/>
              </a:ext>
            </a:extLst>
          </p:cNvPr>
          <p:cNvSpPr/>
          <p:nvPr/>
        </p:nvSpPr>
        <p:spPr>
          <a:xfrm>
            <a:off x="6705612" y="3322847"/>
            <a:ext cx="1791855" cy="598155"/>
          </a:xfrm>
          <a:prstGeom prst="rect">
            <a:avLst/>
          </a:prstGeom>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a:t>encoded_data + inv_bit</a:t>
            </a:r>
          </a:p>
        </p:txBody>
      </p:sp>
      <p:cxnSp>
        <p:nvCxnSpPr>
          <p:cNvPr id="19" name="Straight Arrow Connector 18">
            <a:extLst>
              <a:ext uri="{FF2B5EF4-FFF2-40B4-BE49-F238E27FC236}">
                <a16:creationId xmlns:a16="http://schemas.microsoft.com/office/drawing/2014/main" id="{4AFAA670-F2CA-7D9A-0AF4-8DDB7C4CB971}"/>
              </a:ext>
            </a:extLst>
          </p:cNvPr>
          <p:cNvCxnSpPr>
            <a:cxnSpLocks/>
            <a:stCxn id="16" idx="3"/>
            <a:endCxn id="17" idx="1"/>
          </p:cNvCxnSpPr>
          <p:nvPr/>
        </p:nvCxnSpPr>
        <p:spPr>
          <a:xfrm>
            <a:off x="3643758" y="3616323"/>
            <a:ext cx="6834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725A94C5-3E16-2C11-F550-809FCFFCA9EF}"/>
              </a:ext>
            </a:extLst>
          </p:cNvPr>
          <p:cNvCxnSpPr>
            <a:cxnSpLocks/>
          </p:cNvCxnSpPr>
          <p:nvPr/>
        </p:nvCxnSpPr>
        <p:spPr>
          <a:xfrm flipV="1">
            <a:off x="6022120" y="3610719"/>
            <a:ext cx="683492" cy="112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3" name="Picture 22">
            <a:extLst>
              <a:ext uri="{FF2B5EF4-FFF2-40B4-BE49-F238E27FC236}">
                <a16:creationId xmlns:a16="http://schemas.microsoft.com/office/drawing/2014/main" id="{D6A9EB39-A38C-BB7D-10A3-7CE6466F9049}"/>
              </a:ext>
            </a:extLst>
          </p:cNvPr>
          <p:cNvPicPr>
            <a:picLocks noChangeAspect="1"/>
          </p:cNvPicPr>
          <p:nvPr/>
        </p:nvPicPr>
        <p:blipFill>
          <a:blip r:embed="rId2"/>
          <a:stretch>
            <a:fillRect/>
          </a:stretch>
        </p:blipFill>
        <p:spPr>
          <a:xfrm>
            <a:off x="3180518" y="1831417"/>
            <a:ext cx="3254022" cy="457240"/>
          </a:xfrm>
          <a:prstGeom prst="rect">
            <a:avLst/>
          </a:prstGeom>
        </p:spPr>
      </p:pic>
      <p:sp>
        <p:nvSpPr>
          <p:cNvPr id="24" name="TextBox 23">
            <a:extLst>
              <a:ext uri="{FF2B5EF4-FFF2-40B4-BE49-F238E27FC236}">
                <a16:creationId xmlns:a16="http://schemas.microsoft.com/office/drawing/2014/main" id="{1E579591-3EAB-85A2-14FA-F6D3BC1C80AC}"/>
              </a:ext>
            </a:extLst>
          </p:cNvPr>
          <p:cNvSpPr txBox="1"/>
          <p:nvPr/>
        </p:nvSpPr>
        <p:spPr>
          <a:xfrm>
            <a:off x="768927" y="1396674"/>
            <a:ext cx="3317960" cy="461665"/>
          </a:xfrm>
          <a:prstGeom prst="rect">
            <a:avLst/>
          </a:prstGeom>
          <a:noFill/>
        </p:spPr>
        <p:txBody>
          <a:bodyPr wrap="none" rtlCol="0">
            <a:spAutoFit/>
          </a:bodyPr>
          <a:lstStyle/>
          <a:p>
            <a:pPr marL="285750" indent="-285750">
              <a:buFont typeface="Arial" panose="020B0604020202020204" pitchFamily="34" charset="0"/>
              <a:buChar char="•"/>
            </a:pPr>
            <a:r>
              <a:rPr lang="en-IN" sz="2400">
                <a:latin typeface="Calibri" panose="020F0502020204030204" pitchFamily="34" charset="0"/>
                <a:ea typeface="Calibri" panose="020F0502020204030204" pitchFamily="34" charset="0"/>
                <a:cs typeface="Calibri" panose="020F0502020204030204" pitchFamily="34" charset="0"/>
              </a:rPr>
              <a:t>Without Bus Inversion:</a:t>
            </a:r>
          </a:p>
        </p:txBody>
      </p:sp>
    </p:spTree>
    <p:extLst>
      <p:ext uri="{BB962C8B-B14F-4D97-AF65-F5344CB8AC3E}">
        <p14:creationId xmlns:p14="http://schemas.microsoft.com/office/powerpoint/2010/main" val="10436796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663E8-6C4A-2E4E-98F3-220CFFACBA8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A0116F8-FECD-6EB8-B763-1C1383B74176}"/>
              </a:ext>
            </a:extLst>
          </p:cNvPr>
          <p:cNvSpPr>
            <a:spLocks noGrp="1"/>
          </p:cNvSpPr>
          <p:nvPr>
            <p:ph type="title"/>
          </p:nvPr>
        </p:nvSpPr>
        <p:spPr>
          <a:xfrm>
            <a:off x="0" y="1"/>
            <a:ext cx="12192000" cy="634999"/>
          </a:xfrm>
          <a:solidFill>
            <a:schemeClr val="accent6"/>
          </a:solidFill>
        </p:spPr>
        <p:txBody>
          <a:bodyPr>
            <a:normAutofit/>
          </a:bodyPr>
          <a:lstStyle/>
          <a:p>
            <a:pPr algn="ctr"/>
            <a:r>
              <a:rPr lang="en-US" sz="2800">
                <a:latin typeface="Calibri" panose="020F0502020204030204" pitchFamily="34" charset="0"/>
                <a:ea typeface="Calibri" panose="020F0502020204030204" pitchFamily="34" charset="0"/>
                <a:cs typeface="Calibri" panose="020F0502020204030204" pitchFamily="34" charset="0"/>
              </a:rPr>
              <a:t> Example Of Bus Inversion Encoding in AXI4 to AHB Bus</a:t>
            </a:r>
          </a:p>
        </p:txBody>
      </p:sp>
      <p:sp>
        <p:nvSpPr>
          <p:cNvPr id="4" name="Slide Number Placeholder 3">
            <a:extLst>
              <a:ext uri="{FF2B5EF4-FFF2-40B4-BE49-F238E27FC236}">
                <a16:creationId xmlns:a16="http://schemas.microsoft.com/office/drawing/2014/main" id="{B1B3E9CF-0596-C819-E021-627DDA44AA5D}"/>
              </a:ext>
            </a:extLst>
          </p:cNvPr>
          <p:cNvSpPr>
            <a:spLocks noGrp="1"/>
          </p:cNvSpPr>
          <p:nvPr>
            <p:ph type="sldNum" sz="quarter" idx="12"/>
          </p:nvPr>
        </p:nvSpPr>
        <p:spPr/>
        <p:txBody>
          <a:bodyPr/>
          <a:lstStyle/>
          <a:p>
            <a:fld id="{330EA680-D336-4FF7-8B7A-9848BB0A1C32}" type="slidenum">
              <a:rPr lang="en-US" smtClean="0"/>
              <a:t>96</a:t>
            </a:fld>
            <a:endParaRPr lang="en-US"/>
          </a:p>
        </p:txBody>
      </p:sp>
      <p:sp>
        <p:nvSpPr>
          <p:cNvPr id="6" name="Rectangle 2">
            <a:extLst>
              <a:ext uri="{FF2B5EF4-FFF2-40B4-BE49-F238E27FC236}">
                <a16:creationId xmlns:a16="http://schemas.microsoft.com/office/drawing/2014/main" id="{A526E80B-35E2-C4D6-8D0F-F6F75BC6BD4A}"/>
              </a:ext>
            </a:extLst>
          </p:cNvPr>
          <p:cNvSpPr>
            <a:spLocks noGrp="1" noChangeArrowheads="1"/>
          </p:cNvSpPr>
          <p:nvPr>
            <p:ph idx="1"/>
          </p:nvPr>
        </p:nvSpPr>
        <p:spPr bwMode="auto">
          <a:xfrm>
            <a:off x="655782" y="1234139"/>
            <a:ext cx="10095345" cy="4759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400">
                <a:latin typeface="Calibri" panose="020F0502020204030204" pitchFamily="34" charset="0"/>
                <a:ea typeface="Calibri" panose="020F0502020204030204" pitchFamily="34" charset="0"/>
                <a:cs typeface="Calibri" panose="020F0502020204030204" pitchFamily="34" charset="0"/>
              </a:rPr>
              <a:t>Let  Previous Data = 64'h0000_0000_0000_0000</a:t>
            </a:r>
            <a:br>
              <a:rPr lang="en-IN" sz="2400">
                <a:latin typeface="Calibri" panose="020F0502020204030204" pitchFamily="34" charset="0"/>
                <a:ea typeface="Calibri" panose="020F0502020204030204" pitchFamily="34" charset="0"/>
                <a:cs typeface="Calibri" panose="020F0502020204030204" pitchFamily="34" charset="0"/>
              </a:rPr>
            </a:br>
            <a:r>
              <a:rPr lang="en-IN" sz="2400">
                <a:latin typeface="Calibri" panose="020F0502020204030204" pitchFamily="34" charset="0"/>
                <a:ea typeface="Calibri" panose="020F0502020204030204" pitchFamily="34" charset="0"/>
                <a:cs typeface="Calibri" panose="020F0502020204030204" pitchFamily="34" charset="0"/>
              </a:rPr>
              <a:t>        Current Data  = 64'hFFFF_FFFF_FFFF_FFFF</a:t>
            </a:r>
          </a:p>
          <a:p>
            <a:pPr marL="0" indent="0">
              <a:buNone/>
            </a:pPr>
            <a:r>
              <a:rPr lang="en-IN" sz="2400">
                <a:latin typeface="Calibri" panose="020F0502020204030204" pitchFamily="34" charset="0"/>
                <a:ea typeface="Calibri" panose="020F0502020204030204" pitchFamily="34" charset="0"/>
                <a:cs typeface="Calibri" panose="020F0502020204030204" pitchFamily="34" charset="0"/>
              </a:rPr>
              <a:t>                          Transitions = 64</a:t>
            </a:r>
          </a:p>
          <a:p>
            <a:r>
              <a:rPr lang="en-IN" sz="2400">
                <a:latin typeface="Calibri" panose="020F0502020204030204" pitchFamily="34" charset="0"/>
                <a:ea typeface="Calibri" panose="020F0502020204030204" pitchFamily="34" charset="0"/>
                <a:cs typeface="Calibri" panose="020F0502020204030204" pitchFamily="34" charset="0"/>
              </a:rPr>
              <a:t>Since 64 &gt; 32:</a:t>
            </a:r>
          </a:p>
          <a:p>
            <a:r>
              <a:rPr lang="en-IN" sz="2400">
                <a:latin typeface="Calibri" panose="020F0502020204030204" pitchFamily="34" charset="0"/>
                <a:ea typeface="Calibri" panose="020F0502020204030204" pitchFamily="34" charset="0"/>
                <a:cs typeface="Calibri" panose="020F0502020204030204" pitchFamily="34" charset="0"/>
              </a:rPr>
              <a:t>Send:</a:t>
            </a:r>
            <a:br>
              <a:rPr lang="en-IN" sz="2400">
                <a:latin typeface="Calibri" panose="020F0502020204030204" pitchFamily="34" charset="0"/>
                <a:ea typeface="Calibri" panose="020F0502020204030204" pitchFamily="34" charset="0"/>
                <a:cs typeface="Calibri" panose="020F0502020204030204" pitchFamily="34" charset="0"/>
              </a:rPr>
            </a:br>
            <a:r>
              <a:rPr lang="en-IN" sz="2400">
                <a:latin typeface="Calibri" panose="020F0502020204030204" pitchFamily="34" charset="0"/>
                <a:ea typeface="Calibri" panose="020F0502020204030204" pitchFamily="34" charset="0"/>
                <a:cs typeface="Calibri" panose="020F0502020204030204" pitchFamily="34" charset="0"/>
              </a:rPr>
              <a:t>encoded_data = 64'h0000_0000_0000_0000</a:t>
            </a:r>
            <a:br>
              <a:rPr lang="en-IN" sz="2400">
                <a:latin typeface="Calibri" panose="020F0502020204030204" pitchFamily="34" charset="0"/>
                <a:ea typeface="Calibri" panose="020F0502020204030204" pitchFamily="34" charset="0"/>
                <a:cs typeface="Calibri" panose="020F0502020204030204" pitchFamily="34" charset="0"/>
              </a:rPr>
            </a:br>
            <a:r>
              <a:rPr lang="en-IN" sz="2400">
                <a:latin typeface="Calibri" panose="020F0502020204030204" pitchFamily="34" charset="0"/>
                <a:ea typeface="Calibri" panose="020F0502020204030204" pitchFamily="34" charset="0"/>
                <a:cs typeface="Calibri" panose="020F0502020204030204" pitchFamily="34" charset="0"/>
              </a:rPr>
              <a:t>inv_bit      = 1</a:t>
            </a:r>
          </a:p>
          <a:p>
            <a:r>
              <a:rPr lang="en-IN" sz="2400">
                <a:latin typeface="Calibri" panose="020F0502020204030204" pitchFamily="34" charset="0"/>
                <a:ea typeface="Calibri" panose="020F0502020204030204" pitchFamily="34" charset="0"/>
                <a:cs typeface="Calibri" panose="020F0502020204030204" pitchFamily="34" charset="0"/>
              </a:rPr>
              <a:t>Receiver:</a:t>
            </a:r>
          </a:p>
          <a:p>
            <a:pPr marL="0" indent="0">
              <a:buNone/>
            </a:pPr>
            <a:r>
              <a:rPr lang="en-IN" sz="2400">
                <a:latin typeface="Calibri" panose="020F0502020204030204" pitchFamily="34" charset="0"/>
                <a:ea typeface="Calibri" panose="020F0502020204030204" pitchFamily="34" charset="0"/>
                <a:cs typeface="Calibri" panose="020F0502020204030204" pitchFamily="34" charset="0"/>
              </a:rPr>
              <a:t>    </a:t>
            </a:r>
            <a:r>
              <a:rPr lang="en-IN" sz="2400" err="1">
                <a:latin typeface="Calibri" panose="020F0502020204030204" pitchFamily="34" charset="0"/>
                <a:ea typeface="Calibri" panose="020F0502020204030204" pitchFamily="34" charset="0"/>
                <a:cs typeface="Calibri" panose="020F0502020204030204" pitchFamily="34" charset="0"/>
              </a:rPr>
              <a:t>inv_bit</a:t>
            </a:r>
            <a:r>
              <a:rPr lang="en-IN" sz="2400">
                <a:latin typeface="Calibri" panose="020F0502020204030204" pitchFamily="34" charset="0"/>
                <a:ea typeface="Calibri" panose="020F0502020204030204" pitchFamily="34" charset="0"/>
                <a:cs typeface="Calibri" panose="020F0502020204030204" pitchFamily="34" charset="0"/>
              </a:rPr>
              <a:t> = 1</a:t>
            </a:r>
            <a:br>
              <a:rPr lang="en-IN" sz="2400">
                <a:latin typeface="Calibri" panose="020F0502020204030204" pitchFamily="34" charset="0"/>
                <a:ea typeface="Calibri" panose="020F0502020204030204" pitchFamily="34" charset="0"/>
                <a:cs typeface="Calibri" panose="020F0502020204030204" pitchFamily="34" charset="0"/>
              </a:rPr>
            </a:br>
            <a:r>
              <a:rPr lang="en-IN" sz="2400">
                <a:latin typeface="Calibri" panose="020F0502020204030204" pitchFamily="34" charset="0"/>
                <a:ea typeface="Calibri" panose="020F0502020204030204" pitchFamily="34" charset="0"/>
                <a:cs typeface="Calibri" panose="020F0502020204030204" pitchFamily="34" charset="0"/>
              </a:rPr>
              <a:t>   </a:t>
            </a:r>
            <a:r>
              <a:rPr lang="en-IN" sz="2400" err="1">
                <a:latin typeface="Calibri" panose="020F0502020204030204" pitchFamily="34" charset="0"/>
                <a:ea typeface="Calibri" panose="020F0502020204030204" pitchFamily="34" charset="0"/>
                <a:cs typeface="Calibri" panose="020F0502020204030204" pitchFamily="34" charset="0"/>
              </a:rPr>
              <a:t>decoded_data</a:t>
            </a:r>
            <a:r>
              <a:rPr lang="en-IN" sz="2400">
                <a:latin typeface="Calibri" panose="020F0502020204030204" pitchFamily="34" charset="0"/>
                <a:ea typeface="Calibri" panose="020F0502020204030204" pitchFamily="34" charset="0"/>
                <a:cs typeface="Calibri" panose="020F0502020204030204" pitchFamily="34" charset="0"/>
              </a:rPr>
              <a:t> = ~(encoded_data)</a:t>
            </a:r>
            <a:br>
              <a:rPr lang="en-IN" sz="2400">
                <a:latin typeface="Calibri" panose="020F0502020204030204" pitchFamily="34" charset="0"/>
                <a:ea typeface="Calibri" panose="020F0502020204030204" pitchFamily="34" charset="0"/>
                <a:cs typeface="Calibri" panose="020F0502020204030204" pitchFamily="34" charset="0"/>
              </a:rPr>
            </a:br>
            <a:r>
              <a:rPr lang="en-IN" sz="2400">
                <a:latin typeface="Calibri" panose="020F0502020204030204" pitchFamily="34" charset="0"/>
                <a:ea typeface="Calibri" panose="020F0502020204030204" pitchFamily="34" charset="0"/>
                <a:cs typeface="Calibri" panose="020F0502020204030204" pitchFamily="34" charset="0"/>
              </a:rPr>
              <a:t>                           = FFFF_FFFF_FFFF_FFFF</a:t>
            </a:r>
          </a:p>
          <a:p>
            <a:pPr marL="0" lvl="0" indent="0" eaLnBrk="0" fontAlgn="base" hangingPunct="0">
              <a:lnSpc>
                <a:spcPct val="100000"/>
              </a:lnSpc>
              <a:spcBef>
                <a:spcPct val="0"/>
              </a:spcBef>
              <a:spcAft>
                <a:spcPct val="0"/>
              </a:spcAft>
              <a:buNone/>
            </a:pPr>
            <a:endParaRPr kumimoji="0" lang="en-US" altLang="en-US" sz="2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222309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93A3-2D76-9FE3-82BE-5A795B11F035}"/>
              </a:ext>
            </a:extLst>
          </p:cNvPr>
          <p:cNvSpPr>
            <a:spLocks noGrp="1"/>
          </p:cNvSpPr>
          <p:nvPr>
            <p:ph type="title"/>
          </p:nvPr>
        </p:nvSpPr>
        <p:spPr/>
        <p:txBody>
          <a:bodyPr>
            <a:normAutofit fontScale="90000"/>
          </a:bodyPr>
          <a:lstStyle/>
          <a:p>
            <a:br>
              <a:rPr lang="en-IN"/>
            </a:br>
            <a:br>
              <a:rPr lang="en-IN"/>
            </a:br>
            <a:br>
              <a:rPr lang="en-IN"/>
            </a:br>
            <a:br>
              <a:rPr lang="en-IN"/>
            </a:br>
            <a:br>
              <a:rPr lang="en-IN"/>
            </a:br>
            <a:br>
              <a:rPr lang="en-IN"/>
            </a:br>
            <a:br>
              <a:rPr lang="en-IN"/>
            </a:br>
            <a:br>
              <a:rPr lang="en-IN"/>
            </a:br>
            <a:br>
              <a:rPr lang="en-IN"/>
            </a:br>
            <a:br>
              <a:rPr lang="en-IN"/>
            </a:br>
            <a:br>
              <a:rPr lang="en-IN"/>
            </a:br>
            <a:endParaRPr lang="en-IN"/>
          </a:p>
        </p:txBody>
      </p:sp>
      <p:pic>
        <p:nvPicPr>
          <p:cNvPr id="4" name="Picture 6" descr="Business Thank-You Letter Examples">
            <a:extLst>
              <a:ext uri="{FF2B5EF4-FFF2-40B4-BE49-F238E27FC236}">
                <a16:creationId xmlns:a16="http://schemas.microsoft.com/office/drawing/2014/main" id="{7ECFFA39-EA56-82BF-8033-38007A3886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6138" y="261386"/>
            <a:ext cx="8873366" cy="591557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230B8DC-19DA-4847-998E-AEF8DF015004}"/>
              </a:ext>
            </a:extLst>
          </p:cNvPr>
          <p:cNvSpPr>
            <a:spLocks noGrp="1"/>
          </p:cNvSpPr>
          <p:nvPr>
            <p:ph type="sldNum" sz="quarter" idx="12"/>
          </p:nvPr>
        </p:nvSpPr>
        <p:spPr/>
        <p:txBody>
          <a:bodyPr/>
          <a:lstStyle/>
          <a:p>
            <a:fld id="{330EA680-D336-4FF7-8B7A-9848BB0A1C32}" type="slidenum">
              <a:rPr lang="en-US" smtClean="0"/>
              <a:t>97</a:t>
            </a:fld>
            <a:endParaRPr lang="en-US"/>
          </a:p>
        </p:txBody>
      </p:sp>
    </p:spTree>
    <p:extLst>
      <p:ext uri="{BB962C8B-B14F-4D97-AF65-F5344CB8AC3E}">
        <p14:creationId xmlns:p14="http://schemas.microsoft.com/office/powerpoint/2010/main" val="3140598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0BB9E5490EEBB438C23297E1D25285B" ma:contentTypeVersion="10" ma:contentTypeDescription="Create a new document." ma:contentTypeScope="" ma:versionID="f1ce0bbb77ae981bb3236c4ff3e5e8c2">
  <xsd:schema xmlns:xsd="http://www.w3.org/2001/XMLSchema" xmlns:xs="http://www.w3.org/2001/XMLSchema" xmlns:p="http://schemas.microsoft.com/office/2006/metadata/properties" xmlns:ns3="ec91e78c-53b9-49d2-80fe-2267c9de2ac1" targetNamespace="http://schemas.microsoft.com/office/2006/metadata/properties" ma:root="true" ma:fieldsID="2211f0910273cfef75d430a4eb610fe0" ns3:_="">
    <xsd:import namespace="ec91e78c-53b9-49d2-80fe-2267c9de2ac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91e78c-53b9-49d2-80fe-2267c9de2ac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c91e78c-53b9-49d2-80fe-2267c9de2ac1" xsi:nil="true"/>
  </documentManagement>
</p:properties>
</file>

<file path=customXml/itemProps1.xml><?xml version="1.0" encoding="utf-8"?>
<ds:datastoreItem xmlns:ds="http://schemas.openxmlformats.org/officeDocument/2006/customXml" ds:itemID="{736027D7-644C-4E9B-9D7D-19515FD48B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91e78c-53b9-49d2-80fe-2267c9de2a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2B48966-952A-4DBF-BF2C-732D4D36D317}">
  <ds:schemaRefs>
    <ds:schemaRef ds:uri="http://schemas.microsoft.com/sharepoint/v3/contenttype/forms"/>
  </ds:schemaRefs>
</ds:datastoreItem>
</file>

<file path=customXml/itemProps3.xml><?xml version="1.0" encoding="utf-8"?>
<ds:datastoreItem xmlns:ds="http://schemas.openxmlformats.org/officeDocument/2006/customXml" ds:itemID="{235BA6F2-2AA8-4627-8391-FDD78CC9A22C}">
  <ds:schemaRefs>
    <ds:schemaRef ds:uri="http://www.w3.org/XML/1998/namespace"/>
    <ds:schemaRef ds:uri="ec91e78c-53b9-49d2-80fe-2267c9de2ac1"/>
    <ds:schemaRef ds:uri="http://schemas.openxmlformats.org/package/2006/metadata/core-properties"/>
    <ds:schemaRef ds:uri="http://purl.org/dc/elements/1.1/"/>
    <ds:schemaRef ds:uri="http://purl.org/dc/dcmitype/"/>
    <ds:schemaRef ds:uri="http://schemas.microsoft.com/office/infopath/2007/PartnerControls"/>
    <ds:schemaRef ds:uri="http://schemas.microsoft.com/office/2006/documentManagement/types"/>
    <ds:schemaRef ds:uri="http://purl.org/dc/term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754</TotalTime>
  <Words>7922</Words>
  <Application>Microsoft Office PowerPoint</Application>
  <PresentationFormat>Widescreen</PresentationFormat>
  <Paragraphs>2058</Paragraphs>
  <Slides>97</Slides>
  <Notes>9</Notes>
  <HiddenSlides>5</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97</vt:i4>
      </vt:variant>
    </vt:vector>
  </HeadingPairs>
  <TitlesOfParts>
    <vt:vector size="106" baseType="lpstr">
      <vt:lpstr>Aptos</vt:lpstr>
      <vt:lpstr>Aptos Display</vt:lpstr>
      <vt:lpstr>Arial</vt:lpstr>
      <vt:lpstr>Calibre</vt:lpstr>
      <vt:lpstr>Calibri</vt:lpstr>
      <vt:lpstr>Cambria Math</vt:lpstr>
      <vt:lpstr>Courier New</vt:lpstr>
      <vt:lpstr>Wingdings</vt:lpstr>
      <vt:lpstr>office theme</vt:lpstr>
      <vt:lpstr>ChipTrust Security IP - MicroArchitecture</vt:lpstr>
      <vt:lpstr>PowerPoint Presentation</vt:lpstr>
      <vt:lpstr>PowerPoint Presentation</vt:lpstr>
      <vt:lpstr>PowerPoint Presentation</vt:lpstr>
      <vt:lpstr>Firmware Stack</vt:lpstr>
      <vt:lpstr>Crypto subsystem, Peripherals and SoC Interface Blocks</vt:lpstr>
      <vt:lpstr>PowerPoint Presentation</vt:lpstr>
      <vt:lpstr>Phase 1-4: power on/boot fsm/fuse programming/firmware load</vt:lpstr>
      <vt:lpstr>Phase 5: Crypto Operations</vt:lpstr>
      <vt:lpstr>Phase 6: Mailbox Command</vt:lpstr>
      <vt:lpstr>Phase 7: Attestation Response</vt:lpstr>
      <vt:lpstr>PowerPoint Presentation</vt:lpstr>
      <vt:lpstr>MicroArchitecture Block Diagram - VeeREL2 RISC V Core</vt:lpstr>
      <vt:lpstr>Interface Signal List - VeeREL2 RISC V Core</vt:lpstr>
      <vt:lpstr>CWTRUST MicroArchitecture Design Hierarchy – VeeREL2 RISC V Core</vt:lpstr>
      <vt:lpstr>Crypto</vt:lpstr>
      <vt:lpstr>SoC IFC</vt:lpstr>
      <vt:lpstr>PowerPoint Presentation</vt:lpstr>
      <vt:lpstr>PowerPoint Presentation</vt:lpstr>
      <vt:lpstr>Caliptra High Level Block Diagram</vt:lpstr>
      <vt:lpstr>SROM Introduction</vt:lpstr>
      <vt:lpstr>SROM Block Diagram</vt:lpstr>
      <vt:lpstr>SROM Pin Diagram</vt:lpstr>
      <vt:lpstr>SROM Signal Descriptions</vt:lpstr>
      <vt:lpstr>SROM Signal Descriptions (Contd..)</vt:lpstr>
      <vt:lpstr>SROM Working</vt:lpstr>
      <vt:lpstr>Fetch Control Introduction</vt:lpstr>
      <vt:lpstr>Fetch Control Block Diagram</vt:lpstr>
      <vt:lpstr>Fetch Control Pin Diagram</vt:lpstr>
      <vt:lpstr>Fetch Control Signal Descriptions</vt:lpstr>
      <vt:lpstr>Fetch Control Signal Descriptions</vt:lpstr>
      <vt:lpstr>Fetch Control Signal Descriptions</vt:lpstr>
      <vt:lpstr>Fetch Control Working</vt:lpstr>
      <vt:lpstr>Fetch Control Working (Contd..)</vt:lpstr>
      <vt:lpstr>Fetch Control Working (Contd..)</vt:lpstr>
      <vt:lpstr>Fetch Control Working (Contd..)</vt:lpstr>
      <vt:lpstr>Fetch Control Working (Contd..)</vt:lpstr>
      <vt:lpstr>Fetch Control Working (Contd..)</vt:lpstr>
      <vt:lpstr>SoC Address Decode &amp; Arbitration</vt:lpstr>
      <vt:lpstr>Block Diagram of SoC Address Decode &amp; Arbitration</vt:lpstr>
      <vt:lpstr>Pin Diagram of SoC Address Decode &amp; Arbitration</vt:lpstr>
      <vt:lpstr>Address Decode &amp; Arbitration Input Signal Description</vt:lpstr>
      <vt:lpstr>Address Decode &amp; Arbitration Input Signal Description</vt:lpstr>
      <vt:lpstr>Address Decode &amp; Arbitration Output Signal Description</vt:lpstr>
      <vt:lpstr>Working of SoC Address Decode &amp; Arbitration</vt:lpstr>
      <vt:lpstr>Working of SoC Address Decode &amp; Arbitration(Contd..)</vt:lpstr>
      <vt:lpstr>DMA Assist Engine</vt:lpstr>
      <vt:lpstr>Block Diagram of DMA Assist Engine</vt:lpstr>
      <vt:lpstr>Pin Diagram of DMA Assist Engine</vt:lpstr>
      <vt:lpstr>DMA Assist Engine Input Signal Description</vt:lpstr>
      <vt:lpstr>DMA Assist Engine Input Signal Description</vt:lpstr>
      <vt:lpstr>DMA Assist Engine Output Signal Description</vt:lpstr>
      <vt:lpstr>Fuse Registers</vt:lpstr>
      <vt:lpstr>Fuse Registers(Contd..)</vt:lpstr>
      <vt:lpstr>Functional Registers</vt:lpstr>
      <vt:lpstr>Functional Registers(Contd..)</vt:lpstr>
      <vt:lpstr>Functional Registers(Contd..)</vt:lpstr>
      <vt:lpstr>Functional Registers(Contd..)</vt:lpstr>
      <vt:lpstr>Phase 1-4: power on/boot fsm/fuse programming/firmware load</vt:lpstr>
      <vt:lpstr>CONTENTS</vt:lpstr>
      <vt:lpstr>VeeR EL2 → SoC Via AHB Lite  Slave Interface </vt:lpstr>
      <vt:lpstr>VeeR EL2 → SoC Arbiter Via AHB Slave Interface </vt:lpstr>
      <vt:lpstr>SOC to SOC_IFC Arbiter Via AXI SUB IFC</vt:lpstr>
      <vt:lpstr>SOC to SOC_IFC Arbiter Via AXI SUB IFC(Contd..)</vt:lpstr>
      <vt:lpstr>SOC IFC → SOC_IFC Arbiter (Internal Register Access Interface) Via AXI SUB IFC </vt:lpstr>
      <vt:lpstr>SOC_IFC → External Memory / SoC Via AXI Manager Interface</vt:lpstr>
      <vt:lpstr>SOC_IFC → External Memory / SoC Via AXI Manager Interface</vt:lpstr>
      <vt:lpstr>SOC_IFC → External Memory / SoC Via AXI Manager Interface</vt:lpstr>
      <vt:lpstr>Phase 1-4: power on/boot fsm/fuse programming</vt:lpstr>
      <vt:lpstr>Phase 5:Arbitration</vt:lpstr>
      <vt:lpstr>Phase 6:Mailbox Command</vt:lpstr>
      <vt:lpstr>Phase 7:ROM Read Mailbox</vt:lpstr>
      <vt:lpstr>Phase 8: SHA 512 Access</vt:lpstr>
      <vt:lpstr>Phase 9: ROM Writes Digest to Mailbox</vt:lpstr>
      <vt:lpstr>Phase 10: ROM Indicates Response Ready</vt:lpstr>
      <vt:lpstr>Phase 11: SoC Reads Mailbox Response</vt:lpstr>
      <vt:lpstr>Phase 12: Mailbox Unlock</vt:lpstr>
      <vt:lpstr>Introduction</vt:lpstr>
      <vt:lpstr>                           Gray Code Encoding in AHB-Lite Interface</vt:lpstr>
      <vt:lpstr>                           Gray Code Encoding Steps in AHB-Lite Interface</vt:lpstr>
      <vt:lpstr> Bus Inversion Encoding  </vt:lpstr>
      <vt:lpstr>Steps in Bus Inversion Encoding</vt:lpstr>
      <vt:lpstr> Bus Inversion Encoding &amp; Decoding in AHB Lite Interface</vt:lpstr>
      <vt:lpstr> Example Of Bus Inversion Encoding in AHB Lite Interface</vt:lpstr>
      <vt:lpstr> Bus Inversion Encoding Logic In AHB Lite Interface  </vt:lpstr>
      <vt:lpstr> Bus Inversion Decoding Logic In AHB Lite Interface  </vt:lpstr>
      <vt:lpstr>                                              Transition Inversion Introduction</vt:lpstr>
      <vt:lpstr>Transition Inversion Encoding &amp; Decoding in AHB Lite Interface</vt:lpstr>
      <vt:lpstr> Transition Inversion Encoding and Decoding Logic In AHB Lite Interface  </vt:lpstr>
      <vt:lpstr> Transition Inversion Decoding Logic In AHB Lite Interface  </vt:lpstr>
      <vt:lpstr>Power Reduction techniques in AXI4 to AHB Bus</vt:lpstr>
      <vt:lpstr>Gray Code Encoding in AXI4 to AHB Bus</vt:lpstr>
      <vt:lpstr>Gray Code Encoding Steps in AXI4 to AHB Bus</vt:lpstr>
      <vt:lpstr> Bus Inversion Encoding in AXI4 to AHB  Bus</vt:lpstr>
      <vt:lpstr> Bus Inversion Encoding in AXI4 to AHB Bus</vt:lpstr>
      <vt:lpstr> Example Of Bus Inversion Encoding in AXI4 to AHB Bus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sravanthi vennapusa</dc:creator>
  <cp:lastModifiedBy>sravanthi Vennapusa</cp:lastModifiedBy>
  <cp:revision>154</cp:revision>
  <dcterms:created xsi:type="dcterms:W3CDTF">2026-06-02T09:50:28Z</dcterms:created>
  <dcterms:modified xsi:type="dcterms:W3CDTF">2026-06-16T12:26:51Z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0x010100F0BB9E5490EEBB438C23297E1D25285B</vt:lpwstr>
  </property>
</Properties>
</file>