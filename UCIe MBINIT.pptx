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8" r:id="rId6"/>
    <p:sldId id="332" r:id="rId7"/>
    <p:sldId id="289" r:id="rId8"/>
    <p:sldId id="315" r:id="rId9"/>
    <p:sldId id="316" r:id="rId10"/>
    <p:sldId id="326" r:id="rId11"/>
    <p:sldId id="317" r:id="rId12"/>
    <p:sldId id="318" r:id="rId13"/>
    <p:sldId id="319" r:id="rId14"/>
    <p:sldId id="327" r:id="rId15"/>
    <p:sldId id="280" r:id="rId16"/>
    <p:sldId id="320" r:id="rId17"/>
    <p:sldId id="322" r:id="rId18"/>
    <p:sldId id="323" r:id="rId19"/>
    <p:sldId id="304" r:id="rId20"/>
    <p:sldId id="329" r:id="rId21"/>
    <p:sldId id="331" r:id="rId22"/>
    <p:sldId id="328" r:id="rId23"/>
    <p:sldId id="333" r:id="rId24"/>
    <p:sldId id="334" r:id="rId25"/>
    <p:sldId id="335" r:id="rId26"/>
    <p:sldId id="336" r:id="rId27"/>
    <p:sldId id="337" r:id="rId28"/>
    <p:sldId id="312" r:id="rId29"/>
    <p:sldId id="308" r:id="rId30"/>
    <p:sldId id="32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AEE59-9A6F-4BE2-91EE-C23F46327526}" v="56" dt="2026-03-05T05:27:11.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thi Vennapusa" userId="S::sravanthi@chipweave.com::06105391-ac9e-4186-a41e-395274e1b189" providerId="AD" clId="Web-{320AEE59-9A6F-4BE2-91EE-C23F46327526}"/>
    <pc:docChg chg="addSld delSld">
      <pc:chgData name="sravanthi Vennapusa" userId="S::sravanthi@chipweave.com::06105391-ac9e-4186-a41e-395274e1b189" providerId="AD" clId="Web-{320AEE59-9A6F-4BE2-91EE-C23F46327526}" dt="2026-03-05T05:27:11.613" v="55"/>
      <pc:docMkLst>
        <pc:docMk/>
      </pc:docMkLst>
      <pc:sldChg chg="add del replId">
        <pc:chgData name="sravanthi Vennapusa" userId="S::sravanthi@chipweave.com::06105391-ac9e-4186-a41e-395274e1b189" providerId="AD" clId="Web-{320AEE59-9A6F-4BE2-91EE-C23F46327526}" dt="2026-03-05T05:26:23.781" v="1"/>
        <pc:sldMkLst>
          <pc:docMk/>
          <pc:sldMk cId="582439518" sldId="338"/>
        </pc:sldMkLst>
      </pc:sldChg>
      <pc:sldChg chg="add del replId">
        <pc:chgData name="sravanthi Vennapusa" userId="S::sravanthi@chipweave.com::06105391-ac9e-4186-a41e-395274e1b189" providerId="AD" clId="Web-{320AEE59-9A6F-4BE2-91EE-C23F46327526}" dt="2026-03-05T05:27:11.613" v="55"/>
        <pc:sldMkLst>
          <pc:docMk/>
          <pc:sldMk cId="2443304533" sldId="338"/>
        </pc:sldMkLst>
      </pc:sldChg>
      <pc:sldChg chg="add del replId">
        <pc:chgData name="sravanthi Vennapusa" userId="S::sravanthi@chipweave.com::06105391-ac9e-4186-a41e-395274e1b189" providerId="AD" clId="Web-{320AEE59-9A6F-4BE2-91EE-C23F46327526}" dt="2026-03-05T05:27:11.613" v="54"/>
        <pc:sldMkLst>
          <pc:docMk/>
          <pc:sldMk cId="180077145" sldId="339"/>
        </pc:sldMkLst>
      </pc:sldChg>
      <pc:sldChg chg="add del replId">
        <pc:chgData name="sravanthi Vennapusa" userId="S::sravanthi@chipweave.com::06105391-ac9e-4186-a41e-395274e1b189" providerId="AD" clId="Web-{320AEE59-9A6F-4BE2-91EE-C23F46327526}" dt="2026-03-05T05:27:11.613" v="53"/>
        <pc:sldMkLst>
          <pc:docMk/>
          <pc:sldMk cId="1202481226" sldId="340"/>
        </pc:sldMkLst>
      </pc:sldChg>
      <pc:sldChg chg="add del replId">
        <pc:chgData name="sravanthi Vennapusa" userId="S::sravanthi@chipweave.com::06105391-ac9e-4186-a41e-395274e1b189" providerId="AD" clId="Web-{320AEE59-9A6F-4BE2-91EE-C23F46327526}" dt="2026-03-05T05:27:11.613" v="52"/>
        <pc:sldMkLst>
          <pc:docMk/>
          <pc:sldMk cId="921219268" sldId="341"/>
        </pc:sldMkLst>
      </pc:sldChg>
      <pc:sldChg chg="add del replId">
        <pc:chgData name="sravanthi Vennapusa" userId="S::sravanthi@chipweave.com::06105391-ac9e-4186-a41e-395274e1b189" providerId="AD" clId="Web-{320AEE59-9A6F-4BE2-91EE-C23F46327526}" dt="2026-03-05T05:27:11.613" v="51"/>
        <pc:sldMkLst>
          <pc:docMk/>
          <pc:sldMk cId="2094023888" sldId="342"/>
        </pc:sldMkLst>
      </pc:sldChg>
      <pc:sldChg chg="add del replId">
        <pc:chgData name="sravanthi Vennapusa" userId="S::sravanthi@chipweave.com::06105391-ac9e-4186-a41e-395274e1b189" providerId="AD" clId="Web-{320AEE59-9A6F-4BE2-91EE-C23F46327526}" dt="2026-03-05T05:27:11.613" v="50"/>
        <pc:sldMkLst>
          <pc:docMk/>
          <pc:sldMk cId="1213852768" sldId="343"/>
        </pc:sldMkLst>
      </pc:sldChg>
      <pc:sldChg chg="add del replId">
        <pc:chgData name="sravanthi Vennapusa" userId="S::sravanthi@chipweave.com::06105391-ac9e-4186-a41e-395274e1b189" providerId="AD" clId="Web-{320AEE59-9A6F-4BE2-91EE-C23F46327526}" dt="2026-03-05T05:27:11.597" v="49"/>
        <pc:sldMkLst>
          <pc:docMk/>
          <pc:sldMk cId="3059336104" sldId="344"/>
        </pc:sldMkLst>
      </pc:sldChg>
      <pc:sldChg chg="add del replId">
        <pc:chgData name="sravanthi Vennapusa" userId="S::sravanthi@chipweave.com::06105391-ac9e-4186-a41e-395274e1b189" providerId="AD" clId="Web-{320AEE59-9A6F-4BE2-91EE-C23F46327526}" dt="2026-03-05T05:27:11.597" v="48"/>
        <pc:sldMkLst>
          <pc:docMk/>
          <pc:sldMk cId="869210018" sldId="345"/>
        </pc:sldMkLst>
      </pc:sldChg>
      <pc:sldChg chg="add del replId">
        <pc:chgData name="sravanthi Vennapusa" userId="S::sravanthi@chipweave.com::06105391-ac9e-4186-a41e-395274e1b189" providerId="AD" clId="Web-{320AEE59-9A6F-4BE2-91EE-C23F46327526}" dt="2026-03-05T05:27:11.597" v="47"/>
        <pc:sldMkLst>
          <pc:docMk/>
          <pc:sldMk cId="1359403981" sldId="346"/>
        </pc:sldMkLst>
      </pc:sldChg>
      <pc:sldChg chg="add del replId">
        <pc:chgData name="sravanthi Vennapusa" userId="S::sravanthi@chipweave.com::06105391-ac9e-4186-a41e-395274e1b189" providerId="AD" clId="Web-{320AEE59-9A6F-4BE2-91EE-C23F46327526}" dt="2026-03-05T05:27:11.597" v="46"/>
        <pc:sldMkLst>
          <pc:docMk/>
          <pc:sldMk cId="1097245311" sldId="347"/>
        </pc:sldMkLst>
      </pc:sldChg>
      <pc:sldChg chg="add del replId">
        <pc:chgData name="sravanthi Vennapusa" userId="S::sravanthi@chipweave.com::06105391-ac9e-4186-a41e-395274e1b189" providerId="AD" clId="Web-{320AEE59-9A6F-4BE2-91EE-C23F46327526}" dt="2026-03-05T05:27:11.597" v="45"/>
        <pc:sldMkLst>
          <pc:docMk/>
          <pc:sldMk cId="1399412651" sldId="348"/>
        </pc:sldMkLst>
      </pc:sldChg>
      <pc:sldChg chg="add del replId">
        <pc:chgData name="sravanthi Vennapusa" userId="S::sravanthi@chipweave.com::06105391-ac9e-4186-a41e-395274e1b189" providerId="AD" clId="Web-{320AEE59-9A6F-4BE2-91EE-C23F46327526}" dt="2026-03-05T05:27:11.597" v="44"/>
        <pc:sldMkLst>
          <pc:docMk/>
          <pc:sldMk cId="1454654294" sldId="349"/>
        </pc:sldMkLst>
      </pc:sldChg>
      <pc:sldChg chg="add del replId">
        <pc:chgData name="sravanthi Vennapusa" userId="S::sravanthi@chipweave.com::06105391-ac9e-4186-a41e-395274e1b189" providerId="AD" clId="Web-{320AEE59-9A6F-4BE2-91EE-C23F46327526}" dt="2026-03-05T05:27:11.597" v="43"/>
        <pc:sldMkLst>
          <pc:docMk/>
          <pc:sldMk cId="1391517661" sldId="350"/>
        </pc:sldMkLst>
      </pc:sldChg>
      <pc:sldChg chg="add del replId">
        <pc:chgData name="sravanthi Vennapusa" userId="S::sravanthi@chipweave.com::06105391-ac9e-4186-a41e-395274e1b189" providerId="AD" clId="Web-{320AEE59-9A6F-4BE2-91EE-C23F46327526}" dt="2026-03-05T05:27:11.597" v="42"/>
        <pc:sldMkLst>
          <pc:docMk/>
          <pc:sldMk cId="3785665523" sldId="351"/>
        </pc:sldMkLst>
      </pc:sldChg>
      <pc:sldChg chg="add del replId">
        <pc:chgData name="sravanthi Vennapusa" userId="S::sravanthi@chipweave.com::06105391-ac9e-4186-a41e-395274e1b189" providerId="AD" clId="Web-{320AEE59-9A6F-4BE2-91EE-C23F46327526}" dt="2026-03-05T05:27:11.597" v="41"/>
        <pc:sldMkLst>
          <pc:docMk/>
          <pc:sldMk cId="2830219001" sldId="352"/>
        </pc:sldMkLst>
      </pc:sldChg>
      <pc:sldChg chg="add del replId">
        <pc:chgData name="sravanthi Vennapusa" userId="S::sravanthi@chipweave.com::06105391-ac9e-4186-a41e-395274e1b189" providerId="AD" clId="Web-{320AEE59-9A6F-4BE2-91EE-C23F46327526}" dt="2026-03-05T05:27:11.597" v="40"/>
        <pc:sldMkLst>
          <pc:docMk/>
          <pc:sldMk cId="750177758" sldId="353"/>
        </pc:sldMkLst>
      </pc:sldChg>
      <pc:sldChg chg="add del replId">
        <pc:chgData name="sravanthi Vennapusa" userId="S::sravanthi@chipweave.com::06105391-ac9e-4186-a41e-395274e1b189" providerId="AD" clId="Web-{320AEE59-9A6F-4BE2-91EE-C23F46327526}" dt="2026-03-05T05:27:11.581" v="39"/>
        <pc:sldMkLst>
          <pc:docMk/>
          <pc:sldMk cId="2783440321" sldId="354"/>
        </pc:sldMkLst>
      </pc:sldChg>
      <pc:sldChg chg="add del replId">
        <pc:chgData name="sravanthi Vennapusa" userId="S::sravanthi@chipweave.com::06105391-ac9e-4186-a41e-395274e1b189" providerId="AD" clId="Web-{320AEE59-9A6F-4BE2-91EE-C23F46327526}" dt="2026-03-05T05:27:11.581" v="38"/>
        <pc:sldMkLst>
          <pc:docMk/>
          <pc:sldMk cId="2516869863" sldId="355"/>
        </pc:sldMkLst>
      </pc:sldChg>
      <pc:sldChg chg="add del replId">
        <pc:chgData name="sravanthi Vennapusa" userId="S::sravanthi@chipweave.com::06105391-ac9e-4186-a41e-395274e1b189" providerId="AD" clId="Web-{320AEE59-9A6F-4BE2-91EE-C23F46327526}" dt="2026-03-05T05:27:11.581" v="37"/>
        <pc:sldMkLst>
          <pc:docMk/>
          <pc:sldMk cId="3991065613" sldId="356"/>
        </pc:sldMkLst>
      </pc:sldChg>
      <pc:sldChg chg="add del replId">
        <pc:chgData name="sravanthi Vennapusa" userId="S::sravanthi@chipweave.com::06105391-ac9e-4186-a41e-395274e1b189" providerId="AD" clId="Web-{320AEE59-9A6F-4BE2-91EE-C23F46327526}" dt="2026-03-05T05:27:11.581" v="36"/>
        <pc:sldMkLst>
          <pc:docMk/>
          <pc:sldMk cId="412465805" sldId="357"/>
        </pc:sldMkLst>
      </pc:sldChg>
      <pc:sldChg chg="add del replId">
        <pc:chgData name="sravanthi Vennapusa" userId="S::sravanthi@chipweave.com::06105391-ac9e-4186-a41e-395274e1b189" providerId="AD" clId="Web-{320AEE59-9A6F-4BE2-91EE-C23F46327526}" dt="2026-03-05T05:27:11.581" v="35"/>
        <pc:sldMkLst>
          <pc:docMk/>
          <pc:sldMk cId="3656739741" sldId="358"/>
        </pc:sldMkLst>
      </pc:sldChg>
      <pc:sldChg chg="add del replId">
        <pc:chgData name="sravanthi Vennapusa" userId="S::sravanthi@chipweave.com::06105391-ac9e-4186-a41e-395274e1b189" providerId="AD" clId="Web-{320AEE59-9A6F-4BE2-91EE-C23F46327526}" dt="2026-03-05T05:27:11.581" v="34"/>
        <pc:sldMkLst>
          <pc:docMk/>
          <pc:sldMk cId="2361502579" sldId="359"/>
        </pc:sldMkLst>
      </pc:sldChg>
      <pc:sldChg chg="add del replId">
        <pc:chgData name="sravanthi Vennapusa" userId="S::sravanthi@chipweave.com::06105391-ac9e-4186-a41e-395274e1b189" providerId="AD" clId="Web-{320AEE59-9A6F-4BE2-91EE-C23F46327526}" dt="2026-03-05T05:27:11.581" v="33"/>
        <pc:sldMkLst>
          <pc:docMk/>
          <pc:sldMk cId="1876028443" sldId="360"/>
        </pc:sldMkLst>
      </pc:sldChg>
      <pc:sldChg chg="add del replId">
        <pc:chgData name="sravanthi Vennapusa" userId="S::sravanthi@chipweave.com::06105391-ac9e-4186-a41e-395274e1b189" providerId="AD" clId="Web-{320AEE59-9A6F-4BE2-91EE-C23F46327526}" dt="2026-03-05T05:27:11.581" v="32"/>
        <pc:sldMkLst>
          <pc:docMk/>
          <pc:sldMk cId="1446847" sldId="361"/>
        </pc:sldMkLst>
      </pc:sldChg>
      <pc:sldChg chg="add del replId">
        <pc:chgData name="sravanthi Vennapusa" userId="S::sravanthi@chipweave.com::06105391-ac9e-4186-a41e-395274e1b189" providerId="AD" clId="Web-{320AEE59-9A6F-4BE2-91EE-C23F46327526}" dt="2026-03-05T05:27:11.581" v="31"/>
        <pc:sldMkLst>
          <pc:docMk/>
          <pc:sldMk cId="2077125340" sldId="362"/>
        </pc:sldMkLst>
      </pc:sldChg>
      <pc:sldChg chg="add del replId">
        <pc:chgData name="sravanthi Vennapusa" userId="S::sravanthi@chipweave.com::06105391-ac9e-4186-a41e-395274e1b189" providerId="AD" clId="Web-{320AEE59-9A6F-4BE2-91EE-C23F46327526}" dt="2026-03-05T05:27:11.581" v="30"/>
        <pc:sldMkLst>
          <pc:docMk/>
          <pc:sldMk cId="3507912227" sldId="363"/>
        </pc:sldMkLst>
      </pc:sldChg>
      <pc:sldChg chg="add del replId">
        <pc:chgData name="sravanthi Vennapusa" userId="S::sravanthi@chipweave.com::06105391-ac9e-4186-a41e-395274e1b189" providerId="AD" clId="Web-{320AEE59-9A6F-4BE2-91EE-C23F46327526}" dt="2026-03-05T05:27:11.581" v="29"/>
        <pc:sldMkLst>
          <pc:docMk/>
          <pc:sldMk cId="3659207581" sldId="3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88558" y="729469"/>
            <a:ext cx="9014348" cy="2402006"/>
          </a:xfrm>
        </p:spPr>
        <p:txBody>
          <a:bodyPr anchor="b">
            <a:normAutofit/>
          </a:bodyPr>
          <a:lstStyle/>
          <a:p>
            <a:r>
              <a:rPr lang="en-US" sz="4800"/>
              <a:t>UCIe MBINIT</a:t>
            </a: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799576" y="5079628"/>
            <a:ext cx="3827986" cy="1020664"/>
          </a:xfrm>
        </p:spPr>
        <p:txBody>
          <a:bodyPr anchor="ctr">
            <a:normAutofit fontScale="92500" lnSpcReduction="20000"/>
          </a:bodyPr>
          <a:lstStyle/>
          <a:p>
            <a:pPr algn="l"/>
            <a:r>
              <a:rPr lang="en-US">
                <a:solidFill>
                  <a:srgbClr val="FFFFFF"/>
                </a:solidFill>
              </a:rPr>
              <a:t>           V.SRAVANTHI</a:t>
            </a:r>
          </a:p>
          <a:p>
            <a:pPr algn="l"/>
            <a:r>
              <a:rPr lang="en-US">
                <a:solidFill>
                  <a:srgbClr val="FFFFFF"/>
                </a:solidFill>
              </a:rPr>
              <a:t>CHIPWEAVE TECHNOLOGIES PVT LMD</a:t>
            </a:r>
            <a:endParaRPr lang="en-US" dirty="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1B35B5-1EF0-7F98-DE21-64AEB3584BC4}"/>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a:t>INTRODUCTION</a:t>
            </a:r>
          </a:p>
          <a:p>
            <a:r>
              <a:rPr lang="en-US">
                <a:ea typeface="+mn-lt"/>
                <a:cs typeface="+mn-lt"/>
              </a:rPr>
              <a:t>MBINIT.PARAM</a:t>
            </a:r>
          </a:p>
          <a:p>
            <a:r>
              <a:rPr lang="en-US">
                <a:ea typeface="+mn-lt"/>
                <a:cs typeface="+mn-lt"/>
              </a:rPr>
              <a:t>MBINIT.CAL</a:t>
            </a:r>
            <a:endParaRPr lang="en-US" dirty="0">
              <a:ea typeface="+mn-lt"/>
              <a:cs typeface="+mn-lt"/>
            </a:endParaRPr>
          </a:p>
          <a:p>
            <a:r>
              <a:rPr lang="en-US">
                <a:ea typeface="+mn-lt"/>
                <a:cs typeface="+mn-lt"/>
              </a:rPr>
              <a:t>MBINIT.REPAIRCLK</a:t>
            </a:r>
            <a:endParaRPr lang="en-US" dirty="0">
              <a:ea typeface="+mn-lt"/>
              <a:cs typeface="+mn-lt"/>
            </a:endParaRPr>
          </a:p>
        </p:txBody>
      </p:sp>
      <p:sp>
        <p:nvSpPr>
          <p:cNvPr id="5" name="Title 1">
            <a:extLst>
              <a:ext uri="{FF2B5EF4-FFF2-40B4-BE49-F238E27FC236}">
                <a16:creationId xmlns:a16="http://schemas.microsoft.com/office/drawing/2014/main" id="{08C32F6C-B7EE-A57C-0B32-A168B30F2069}"/>
              </a:ext>
            </a:extLst>
          </p:cNvPr>
          <p:cNvSpPr>
            <a:spLocks noGrp="1"/>
          </p:cNvSpPr>
          <p:nvPr>
            <p:ph type="title"/>
          </p:nvPr>
        </p:nvSpPr>
        <p:spPr>
          <a:xfrm>
            <a:off x="4313" y="5691"/>
            <a:ext cx="12168996" cy="865489"/>
          </a:xfrm>
          <a:solidFill>
            <a:schemeClr val="accent6"/>
          </a:solidFill>
        </p:spPr>
        <p:txBody>
          <a:bodyPr/>
          <a:lstStyle/>
          <a:p>
            <a:pPr algn="ctr"/>
            <a:r>
              <a:rPr lang="en-US"/>
              <a:t>CONTENTS</a:t>
            </a:r>
          </a:p>
        </p:txBody>
      </p:sp>
    </p:spTree>
    <p:extLst>
      <p:ext uri="{BB962C8B-B14F-4D97-AF65-F5344CB8AC3E}">
        <p14:creationId xmlns:p14="http://schemas.microsoft.com/office/powerpoint/2010/main" val="90535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493A5-A05F-F223-6D0F-CB15E19E8CAC}"/>
              </a:ext>
            </a:extLst>
          </p:cNvPr>
          <p:cNvSpPr>
            <a:spLocks noGrp="1"/>
          </p:cNvSpPr>
          <p:nvPr>
            <p:ph type="title"/>
          </p:nvPr>
        </p:nvSpPr>
        <p:spPr/>
        <p:txBody>
          <a:bodyPr/>
          <a:lstStyle/>
          <a:p>
            <a:r>
              <a:rPr lang="en-IN" dirty="0"/>
              <a:t>      Link Training State Machine</a:t>
            </a:r>
          </a:p>
        </p:txBody>
      </p:sp>
      <p:sp>
        <p:nvSpPr>
          <p:cNvPr id="3" name="Content Placeholder 2">
            <a:extLst>
              <a:ext uri="{FF2B5EF4-FFF2-40B4-BE49-F238E27FC236}">
                <a16:creationId xmlns:a16="http://schemas.microsoft.com/office/drawing/2014/main" id="{9D04C58E-6D45-E596-5898-A06922A0A415}"/>
              </a:ext>
            </a:extLst>
          </p:cNvPr>
          <p:cNvSpPr>
            <a:spLocks noGrp="1"/>
          </p:cNvSpPr>
          <p:nvPr>
            <p:ph idx="1"/>
          </p:nvPr>
        </p:nvSpPr>
        <p:spPr/>
        <p:txBody>
          <a:bodyPr/>
          <a:lstStyle/>
          <a:p>
            <a:pPr marL="0" indent="0">
              <a:buNone/>
            </a:pPr>
            <a:r>
              <a:rPr lang="en-IN" dirty="0"/>
              <a:t> </a:t>
            </a:r>
          </a:p>
        </p:txBody>
      </p:sp>
      <p:pic>
        <p:nvPicPr>
          <p:cNvPr id="5" name="Picture 4">
            <a:extLst>
              <a:ext uri="{FF2B5EF4-FFF2-40B4-BE49-F238E27FC236}">
                <a16:creationId xmlns:a16="http://schemas.microsoft.com/office/drawing/2014/main" id="{2F9DE961-C3BA-8F92-9886-3EB1F10AF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959" y="2349661"/>
            <a:ext cx="9741645" cy="3940586"/>
          </a:xfrm>
          <a:prstGeom prst="rect">
            <a:avLst/>
          </a:prstGeom>
        </p:spPr>
      </p:pic>
    </p:spTree>
    <p:extLst>
      <p:ext uri="{BB962C8B-B14F-4D97-AF65-F5344CB8AC3E}">
        <p14:creationId xmlns:p14="http://schemas.microsoft.com/office/powerpoint/2010/main" val="1932375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9F1A-FC7D-935D-9D47-C3E2ACA8E9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96F40-A93D-54C3-7C55-37D0E19C4218}"/>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dirty="0">
                <a:ea typeface="+mn-lt"/>
                <a:cs typeface="+mn-lt"/>
              </a:rPr>
              <a:t>In this state, the </a:t>
            </a:r>
            <a:r>
              <a:rPr lang="en-US" dirty="0" err="1">
                <a:ea typeface="+mn-lt"/>
                <a:cs typeface="+mn-lt"/>
              </a:rPr>
              <a:t>mainband</a:t>
            </a:r>
            <a:r>
              <a:rPr lang="en-US" dirty="0">
                <a:ea typeface="+mn-lt"/>
                <a:cs typeface="+mn-lt"/>
              </a:rPr>
              <a:t> (MB) interface is initialized and repaired or width degraded (when applicable). </a:t>
            </a:r>
            <a:endParaRPr lang="en-US"/>
          </a:p>
          <a:p>
            <a:pPr marL="457200" indent="-457200">
              <a:buFont typeface="Wingdings" panose="020B0604020202020204" pitchFamily="34" charset="0"/>
              <a:buChar char="§"/>
            </a:pPr>
            <a:r>
              <a:rPr lang="en-US" dirty="0">
                <a:ea typeface="+mn-lt"/>
                <a:cs typeface="+mn-lt"/>
              </a:rPr>
              <a:t>The data rate on the </a:t>
            </a:r>
            <a:r>
              <a:rPr lang="en-US" dirty="0" err="1">
                <a:ea typeface="+mn-lt"/>
                <a:cs typeface="+mn-lt"/>
              </a:rPr>
              <a:t>mainband</a:t>
            </a:r>
            <a:r>
              <a:rPr lang="en-US" dirty="0">
                <a:ea typeface="+mn-lt"/>
                <a:cs typeface="+mn-lt"/>
              </a:rPr>
              <a:t> is set to the lowest supported data rate (4 GT/s). </a:t>
            </a:r>
          </a:p>
          <a:p>
            <a:pPr marL="457200" indent="-457200">
              <a:buFont typeface="Wingdings" panose="020B0604020202020204" pitchFamily="34" charset="0"/>
              <a:buChar char="§"/>
            </a:pPr>
            <a:r>
              <a:rPr lang="en-US" dirty="0">
                <a:ea typeface="+mn-lt"/>
                <a:cs typeface="+mn-lt"/>
              </a:rPr>
              <a:t>For Advanced Package interconnect repair may be needed. Sub-states in MBINIT allows detection and repair of data, clock, track and valid Lanes.</a:t>
            </a:r>
          </a:p>
          <a:p>
            <a:pPr marL="457200" indent="-457200">
              <a:buFont typeface="Wingdings" panose="020B0604020202020204" pitchFamily="34" charset="0"/>
              <a:buChar char="§"/>
            </a:pPr>
            <a:r>
              <a:rPr lang="en-US" dirty="0">
                <a:ea typeface="+mn-lt"/>
                <a:cs typeface="+mn-lt"/>
              </a:rPr>
              <a:t> For Standard Package, where no Lane repair is needed, sub-states are used to check functionality at lowest data rate and width degrade if needed</a:t>
            </a:r>
            <a:endParaRPr lang="en-US"/>
          </a:p>
        </p:txBody>
      </p:sp>
      <p:sp>
        <p:nvSpPr>
          <p:cNvPr id="5" name="Title 1">
            <a:extLst>
              <a:ext uri="{FF2B5EF4-FFF2-40B4-BE49-F238E27FC236}">
                <a16:creationId xmlns:a16="http://schemas.microsoft.com/office/drawing/2014/main" id="{233035C6-705C-CBB5-32D4-2A616EAC3C89}"/>
              </a:ext>
            </a:extLst>
          </p:cNvPr>
          <p:cNvSpPr>
            <a:spLocks noGrp="1"/>
          </p:cNvSpPr>
          <p:nvPr>
            <p:ph type="title"/>
          </p:nvPr>
        </p:nvSpPr>
        <p:spPr>
          <a:xfrm>
            <a:off x="4313" y="5691"/>
            <a:ext cx="12168996" cy="865489"/>
          </a:xfrm>
          <a:solidFill>
            <a:schemeClr val="accent6"/>
          </a:solidFill>
        </p:spPr>
        <p:txBody>
          <a:bodyPr/>
          <a:lstStyle/>
          <a:p>
            <a:pPr algn="ctr"/>
            <a:r>
              <a:rPr lang="en-US" sz="4000">
                <a:latin typeface="Aptos"/>
              </a:rPr>
              <a:t>MBINIT</a:t>
            </a:r>
            <a:endParaRPr lang="en-US" sz="4000" dirty="0">
              <a:latin typeface="Aptos"/>
            </a:endParaRPr>
          </a:p>
        </p:txBody>
      </p:sp>
    </p:spTree>
    <p:extLst>
      <p:ext uri="{BB962C8B-B14F-4D97-AF65-F5344CB8AC3E}">
        <p14:creationId xmlns:p14="http://schemas.microsoft.com/office/powerpoint/2010/main" val="1746917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7ACB-6183-EED2-37CF-F4D59AF3158C}"/>
              </a:ext>
            </a:extLst>
          </p:cNvPr>
          <p:cNvSpPr>
            <a:spLocks noGrp="1"/>
          </p:cNvSpPr>
          <p:nvPr>
            <p:ph type="title"/>
          </p:nvPr>
        </p:nvSpPr>
        <p:spPr>
          <a:xfrm>
            <a:off x="207904" y="365125"/>
            <a:ext cx="12086636" cy="1344377"/>
          </a:xfrm>
        </p:spPr>
        <p:txBody>
          <a:bodyPr/>
          <a:lstStyle/>
          <a:p>
            <a:r>
              <a:rPr lang="en-US" sz="3200" dirty="0"/>
              <a:t>   </a:t>
            </a:r>
            <a:r>
              <a:rPr lang="en-US" sz="3200" dirty="0">
                <a:ea typeface="+mj-lt"/>
                <a:cs typeface="+mj-lt"/>
              </a:rPr>
              <a:t>MBINIT: </a:t>
            </a:r>
            <a:r>
              <a:rPr lang="en-US" sz="3200" dirty="0" err="1">
                <a:ea typeface="+mj-lt"/>
                <a:cs typeface="+mj-lt"/>
              </a:rPr>
              <a:t>Mainband</a:t>
            </a:r>
            <a:r>
              <a:rPr lang="en-US" sz="3200" dirty="0">
                <a:ea typeface="+mj-lt"/>
                <a:cs typeface="+mj-lt"/>
              </a:rPr>
              <a:t> Initialization and Repair Flow</a:t>
            </a:r>
            <a:endParaRPr lang="en-US" sz="3200" dirty="0"/>
          </a:p>
        </p:txBody>
      </p:sp>
      <p:pic>
        <p:nvPicPr>
          <p:cNvPr id="8" name="Content Placeholder 7" descr="A diagram of a repair process&#10;&#10;AI-generated content may be incorrect.">
            <a:extLst>
              <a:ext uri="{FF2B5EF4-FFF2-40B4-BE49-F238E27FC236}">
                <a16:creationId xmlns:a16="http://schemas.microsoft.com/office/drawing/2014/main" id="{2E505F28-B0FD-60AA-3E68-B0756944CD05}"/>
              </a:ext>
            </a:extLst>
          </p:cNvPr>
          <p:cNvPicPr>
            <a:picLocks noGrp="1" noChangeAspect="1"/>
          </p:cNvPicPr>
          <p:nvPr>
            <p:ph idx="1"/>
          </p:nvPr>
        </p:nvPicPr>
        <p:blipFill>
          <a:blip r:embed="rId2"/>
          <a:stretch>
            <a:fillRect/>
          </a:stretch>
        </p:blipFill>
        <p:spPr>
          <a:xfrm>
            <a:off x="838200" y="2666118"/>
            <a:ext cx="10515600" cy="2670352"/>
          </a:xfrm>
          <a:prstGeom prst="rect">
            <a:avLst/>
          </a:prstGeom>
        </p:spPr>
      </p:pic>
    </p:spTree>
    <p:extLst>
      <p:ext uri="{BB962C8B-B14F-4D97-AF65-F5344CB8AC3E}">
        <p14:creationId xmlns:p14="http://schemas.microsoft.com/office/powerpoint/2010/main" val="1283864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5592-0FED-A5F7-CE6F-9404E359F70C}"/>
              </a:ext>
            </a:extLst>
          </p:cNvPr>
          <p:cNvSpPr>
            <a:spLocks noGrp="1"/>
          </p:cNvSpPr>
          <p:nvPr>
            <p:ph type="title"/>
          </p:nvPr>
        </p:nvSpPr>
        <p:spPr/>
        <p:txBody>
          <a:bodyPr/>
          <a:lstStyle/>
          <a:p>
            <a:r>
              <a:rPr lang="en-US" dirty="0">
                <a:ea typeface="+mj-lt"/>
                <a:cs typeface="+mj-lt"/>
              </a:rPr>
              <a:t>                     MBINIT.PARAM</a:t>
            </a:r>
            <a:endParaRPr lang="en-US" dirty="0"/>
          </a:p>
        </p:txBody>
      </p:sp>
      <p:sp>
        <p:nvSpPr>
          <p:cNvPr id="3" name="Content Placeholder 2">
            <a:extLst>
              <a:ext uri="{FF2B5EF4-FFF2-40B4-BE49-F238E27FC236}">
                <a16:creationId xmlns:a16="http://schemas.microsoft.com/office/drawing/2014/main" id="{B8AB5553-9463-0EA6-5952-C2E095958C34}"/>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This state is used to perform exchange of parameters that are required to set up the maximum negotiated speed and other PHY settings.</a:t>
            </a:r>
          </a:p>
          <a:p>
            <a:r>
              <a:rPr lang="en-US" dirty="0">
                <a:ea typeface="+mn-lt"/>
                <a:cs typeface="+mn-lt"/>
              </a:rPr>
              <a:t>The following parameters are exchanged over sideband with UCIe Module Partner: </a:t>
            </a:r>
          </a:p>
          <a:p>
            <a:pPr marL="0" indent="0">
              <a:buNone/>
            </a:pPr>
            <a:r>
              <a:rPr lang="en-US" b="1" dirty="0">
                <a:ea typeface="+mn-lt"/>
                <a:cs typeface="+mn-lt"/>
              </a:rPr>
              <a:t>1.Voltage swing</a:t>
            </a:r>
            <a:r>
              <a:rPr lang="en-US" dirty="0">
                <a:ea typeface="+mn-lt"/>
                <a:cs typeface="+mn-lt"/>
              </a:rPr>
              <a:t>: The five bit value indicates the Transmitter voltage swing to the UCIe Module Partner. </a:t>
            </a:r>
          </a:p>
          <a:p>
            <a:r>
              <a:rPr lang="en-US" dirty="0">
                <a:ea typeface="+mn-lt"/>
                <a:cs typeface="+mn-lt"/>
              </a:rPr>
              <a:t>The UCIe Module Partner must use this value and its Receiver termination information to set the reference voltage (</a:t>
            </a:r>
            <a:r>
              <a:rPr lang="en-US" dirty="0" err="1">
                <a:ea typeface="+mn-lt"/>
                <a:cs typeface="+mn-lt"/>
              </a:rPr>
              <a:t>Vref</a:t>
            </a:r>
            <a:r>
              <a:rPr lang="en-US" dirty="0">
                <a:ea typeface="+mn-lt"/>
                <a:cs typeface="+mn-lt"/>
              </a:rPr>
              <a:t>) for its Receivers. </a:t>
            </a:r>
          </a:p>
          <a:p>
            <a:r>
              <a:rPr lang="en-US" dirty="0">
                <a:ea typeface="+mn-lt"/>
                <a:cs typeface="+mn-lt"/>
              </a:rPr>
              <a:t>The corresponding bits in {MBINIT.PARAM configuration resp} are reserved.</a:t>
            </a:r>
            <a:endParaRPr lang="en-US" dirty="0"/>
          </a:p>
        </p:txBody>
      </p:sp>
    </p:spTree>
    <p:extLst>
      <p:ext uri="{BB962C8B-B14F-4D97-AF65-F5344CB8AC3E}">
        <p14:creationId xmlns:p14="http://schemas.microsoft.com/office/powerpoint/2010/main" val="1816173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0E6E-4AC3-1EB4-781B-9A6932A11432}"/>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pic>
        <p:nvPicPr>
          <p:cNvPr id="11" name="Content Placeholder 10">
            <a:extLst>
              <a:ext uri="{FF2B5EF4-FFF2-40B4-BE49-F238E27FC236}">
                <a16:creationId xmlns:a16="http://schemas.microsoft.com/office/drawing/2014/main" id="{CB4E1AE7-336F-11F6-6822-491D584059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6733" y="1397093"/>
            <a:ext cx="10515600" cy="3180729"/>
          </a:xfrm>
          <a:prstGeom prst="rect">
            <a:avLst/>
          </a:prstGeom>
        </p:spPr>
      </p:pic>
    </p:spTree>
    <p:extLst>
      <p:ext uri="{BB962C8B-B14F-4D97-AF65-F5344CB8AC3E}">
        <p14:creationId xmlns:p14="http://schemas.microsoft.com/office/powerpoint/2010/main" val="213596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A3F7F-5375-1D73-D034-9220087B947F}"/>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a:p>
        </p:txBody>
      </p:sp>
      <p:sp>
        <p:nvSpPr>
          <p:cNvPr id="3" name="Content Placeholder 2">
            <a:extLst>
              <a:ext uri="{FF2B5EF4-FFF2-40B4-BE49-F238E27FC236}">
                <a16:creationId xmlns:a16="http://schemas.microsoft.com/office/drawing/2014/main" id="{B05B03FC-E955-790B-F78D-D2646CBB612D}"/>
              </a:ext>
            </a:extLst>
          </p:cNvPr>
          <p:cNvSpPr>
            <a:spLocks noGrp="1"/>
          </p:cNvSpPr>
          <p:nvPr>
            <p:ph idx="1"/>
          </p:nvPr>
        </p:nvSpPr>
        <p:spPr>
          <a:xfrm>
            <a:off x="838200" y="216959"/>
            <a:ext cx="10515600" cy="6402152"/>
          </a:xfrm>
        </p:spPr>
        <p:txBody>
          <a:bodyPr vert="horz" lIns="91440" tIns="45720" rIns="91440" bIns="45720" rtlCol="0" anchor="t">
            <a:normAutofit fontScale="92500"/>
          </a:bodyPr>
          <a:lstStyle/>
          <a:p>
            <a:pPr marL="0" indent="0">
              <a:buNone/>
            </a:pPr>
            <a:r>
              <a:rPr lang="en-US">
                <a:ea typeface="+mn-lt"/>
                <a:cs typeface="+mn-lt"/>
              </a:rPr>
              <a:t>2.</a:t>
            </a:r>
            <a:r>
              <a:rPr lang="en-US" b="1">
                <a:ea typeface="+mn-lt"/>
                <a:cs typeface="+mn-lt"/>
              </a:rPr>
              <a:t>Maximum Data Rate</a:t>
            </a:r>
            <a:r>
              <a:rPr lang="en-US" dirty="0">
                <a:ea typeface="+mn-lt"/>
                <a:cs typeface="+mn-lt"/>
              </a:rPr>
              <a:t>: </a:t>
            </a:r>
            <a:endParaRPr lang="en-US" dirty="0"/>
          </a:p>
          <a:p>
            <a:pPr marL="0" indent="0">
              <a:buNone/>
            </a:pPr>
            <a:r>
              <a:rPr lang="en-US" dirty="0">
                <a:ea typeface="+mn-lt"/>
                <a:cs typeface="+mn-lt"/>
              </a:rPr>
              <a:t>The four bit value indicates the Maximum supported Data rate to the UCIe Module Partner.</a:t>
            </a:r>
            <a:endParaRPr lang="en-US"/>
          </a:p>
          <a:p>
            <a:r>
              <a:rPr lang="en-US" dirty="0">
                <a:ea typeface="+mn-lt"/>
                <a:cs typeface="+mn-lt"/>
              </a:rPr>
              <a:t>The UCIe Module Partner must compare this value with its supported maximum data rate and must respond with the maximum common data rate encoding in {MBINIT.PARAM configuration resp}.</a:t>
            </a:r>
          </a:p>
          <a:p>
            <a:pPr marL="0" indent="0">
              <a:buNone/>
            </a:pPr>
            <a:r>
              <a:rPr lang="en-US" dirty="0"/>
              <a:t>3.</a:t>
            </a:r>
            <a:r>
              <a:rPr lang="en-US" b="1" dirty="0"/>
              <a:t>Clock Mode:</a:t>
            </a:r>
          </a:p>
          <a:p>
            <a:pPr>
              <a:buFont typeface="Arial"/>
              <a:buChar char="•"/>
            </a:pPr>
            <a:r>
              <a:rPr lang="en-US" dirty="0">
                <a:ea typeface="+mn-lt"/>
                <a:cs typeface="+mn-lt"/>
              </a:rPr>
              <a:t>Clock Mode bit tells the UCIe Module Partner whether a strobe clock or a continuous clock is requested.</a:t>
            </a:r>
            <a:endParaRPr lang="en-US" dirty="0"/>
          </a:p>
          <a:p>
            <a:pPr>
              <a:buFont typeface="Arial"/>
              <a:buChar char="•"/>
            </a:pPr>
            <a:r>
              <a:rPr lang="en-US" dirty="0">
                <a:ea typeface="+mn-lt"/>
                <a:cs typeface="+mn-lt"/>
              </a:rPr>
              <a:t>The Module Partner must configure its clock transmitter to match this requested mode.</a:t>
            </a:r>
            <a:endParaRPr lang="en-US" dirty="0"/>
          </a:p>
          <a:p>
            <a:pPr>
              <a:buFont typeface="Arial"/>
              <a:buChar char="•"/>
            </a:pPr>
            <a:r>
              <a:rPr lang="en-US" dirty="0">
                <a:ea typeface="+mn-lt"/>
                <a:cs typeface="+mn-lt"/>
              </a:rPr>
              <a:t>The MBINIT.PARAM configuration response must reflect the same value (continuous mode uses a free-running clock).</a:t>
            </a:r>
            <a:endParaRPr lang="en-US" dirty="0"/>
          </a:p>
          <a:p>
            <a:pPr>
              <a:buFont typeface="Arial"/>
              <a:buChar char="•"/>
            </a:pPr>
            <a:r>
              <a:rPr lang="en-US">
                <a:ea typeface="+mn-lt"/>
                <a:cs typeface="+mn-lt"/>
              </a:rPr>
              <a:t>Strobe mode uses a clock that is only active during data transfer and is not free-running continuously.</a:t>
            </a:r>
            <a:endParaRPr lang="en-US" dirty="0"/>
          </a:p>
          <a:p>
            <a:pPr>
              <a:buFont typeface="Arial"/>
              <a:buChar char="•"/>
            </a:pPr>
            <a:endParaRPr lang="en-US" dirty="0"/>
          </a:p>
          <a:p>
            <a:pPr marL="0" indent="0">
              <a:buNone/>
            </a:pPr>
            <a:endParaRPr lang="en-US" b="1" dirty="0"/>
          </a:p>
        </p:txBody>
      </p:sp>
    </p:spTree>
    <p:extLst>
      <p:ext uri="{BB962C8B-B14F-4D97-AF65-F5344CB8AC3E}">
        <p14:creationId xmlns:p14="http://schemas.microsoft.com/office/powerpoint/2010/main" val="1728690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1794A-1E74-EF30-DED6-FBCA225DF9E6}"/>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endParaRPr lang="en-US"/>
          </a:p>
        </p:txBody>
      </p:sp>
      <p:sp>
        <p:nvSpPr>
          <p:cNvPr id="3" name="Content Placeholder 2">
            <a:extLst>
              <a:ext uri="{FF2B5EF4-FFF2-40B4-BE49-F238E27FC236}">
                <a16:creationId xmlns:a16="http://schemas.microsoft.com/office/drawing/2014/main" id="{EE9603C9-40E9-DC9C-74BE-D0DB08D540A3}"/>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b="1" dirty="0">
                <a:ea typeface="+mn-lt"/>
                <a:cs typeface="+mn-lt"/>
              </a:rPr>
              <a:t>3.Clock Phase</a:t>
            </a:r>
            <a:r>
              <a:rPr lang="en-US" dirty="0">
                <a:ea typeface="+mn-lt"/>
                <a:cs typeface="+mn-lt"/>
              </a:rPr>
              <a:t>: </a:t>
            </a:r>
            <a:endParaRPr lang="en-US"/>
          </a:p>
          <a:p>
            <a:r>
              <a:rPr lang="en-US" dirty="0">
                <a:ea typeface="+mn-lt"/>
                <a:cs typeface="+mn-lt"/>
              </a:rPr>
              <a:t>The one bit value indicates the UCIe Module’s request to UCIe Module Partner for the Clock Phase support on UCIe Module’s forwarded clock. </a:t>
            </a:r>
            <a:endParaRPr lang="en-US"/>
          </a:p>
          <a:p>
            <a:r>
              <a:rPr lang="en-US">
                <a:ea typeface="+mn-lt"/>
                <a:cs typeface="+mn-lt"/>
              </a:rPr>
              <a:t>This should only be set 1b if the </a:t>
            </a:r>
            <a:r>
              <a:rPr lang="en-US" dirty="0">
                <a:ea typeface="+mn-lt"/>
                <a:cs typeface="+mn-lt"/>
              </a:rPr>
              <a:t>maximum data rate advertised is </a:t>
            </a:r>
            <a:r>
              <a:rPr lang="en-US">
                <a:ea typeface="+mn-lt"/>
                <a:cs typeface="+mn-lt"/>
              </a:rPr>
              <a:t>permitted to do so.</a:t>
            </a:r>
          </a:p>
          <a:p>
            <a:r>
              <a:rPr lang="en-US">
                <a:ea typeface="+mn-lt"/>
                <a:cs typeface="+mn-lt"/>
              </a:rPr>
              <a:t>The corresponding bit in {MBINIT.PARAM configuration resp} must be set to 1b if this was requested and the operational data rate allows it.</a:t>
            </a:r>
          </a:p>
          <a:p>
            <a:pPr marL="0" indent="0">
              <a:buNone/>
            </a:pPr>
            <a:r>
              <a:rPr lang="en-US" b="1">
                <a:ea typeface="+mn-lt"/>
                <a:cs typeface="+mn-lt"/>
              </a:rPr>
              <a:t>4.Module ID</a:t>
            </a:r>
            <a:r>
              <a:rPr lang="en-US">
                <a:ea typeface="+mn-lt"/>
                <a:cs typeface="+mn-lt"/>
              </a:rPr>
              <a:t>: </a:t>
            </a:r>
            <a:endParaRPr lang="en-US" dirty="0">
              <a:ea typeface="+mn-lt"/>
              <a:cs typeface="+mn-lt"/>
            </a:endParaRPr>
          </a:p>
          <a:p>
            <a:r>
              <a:rPr lang="en-US">
                <a:ea typeface="+mn-lt"/>
                <a:cs typeface="+mn-lt"/>
              </a:rPr>
              <a:t>The UCIe Module sends its “Module ID”. </a:t>
            </a:r>
          </a:p>
          <a:p>
            <a:r>
              <a:rPr lang="en-US">
                <a:ea typeface="+mn-lt"/>
                <a:cs typeface="+mn-lt"/>
              </a:rPr>
              <a:t>This can be used by the UCIe Module Partner if in a multi-module configuration for Byte mapping, Module enable/disable information etc.</a:t>
            </a:r>
          </a:p>
          <a:p>
            <a:r>
              <a:rPr lang="en-US" dirty="0">
                <a:ea typeface="+mn-lt"/>
                <a:cs typeface="+mn-lt"/>
              </a:rPr>
              <a:t> </a:t>
            </a:r>
            <a:r>
              <a:rPr lang="en-US">
                <a:ea typeface="+mn-lt"/>
                <a:cs typeface="+mn-lt"/>
              </a:rPr>
              <a:t>The corresponding bits in {MBINIT.PARAM configuration resp} are reserved.</a:t>
            </a:r>
            <a:endParaRPr lang="en-US"/>
          </a:p>
        </p:txBody>
      </p:sp>
    </p:spTree>
    <p:extLst>
      <p:ext uri="{BB962C8B-B14F-4D97-AF65-F5344CB8AC3E}">
        <p14:creationId xmlns:p14="http://schemas.microsoft.com/office/powerpoint/2010/main" val="237829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2B45C-1C8E-CAD6-F295-EADD1521B6F8}"/>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C221FBCA-5254-0A62-B369-486658D80679}"/>
              </a:ext>
            </a:extLst>
          </p:cNvPr>
          <p:cNvSpPr>
            <a:spLocks noGrp="1"/>
          </p:cNvSpPr>
          <p:nvPr>
            <p:ph idx="1"/>
          </p:nvPr>
        </p:nvSpPr>
        <p:spPr/>
        <p:txBody>
          <a:bodyPr>
            <a:normAutofit fontScale="92500" lnSpcReduction="10000"/>
          </a:bodyPr>
          <a:lstStyle/>
          <a:p>
            <a:pPr marL="0" indent="0">
              <a:buNone/>
            </a:pPr>
            <a:r>
              <a:rPr lang="en-US" b="1" dirty="0"/>
              <a:t>              UCIe-A x32: </a:t>
            </a:r>
          </a:p>
          <a:p>
            <a:r>
              <a:rPr lang="en-US" dirty="0"/>
              <a:t>This bit is set to 1b when APMW bit in DVSEC UCIe Link Capability register  is set to 1b (OR) ‘Force x32 width mode in x64 Module’ in the PHY Control register is set</a:t>
            </a:r>
          </a:p>
          <a:p>
            <a:r>
              <a:rPr lang="en-US" dirty="0"/>
              <a:t> otherwise, the bit is set to 0b. </a:t>
            </a:r>
          </a:p>
          <a:p>
            <a:r>
              <a:rPr lang="en-US" dirty="0"/>
              <a:t>If a x64 Advanced Package module supports width reduction to interoperate with a x32 Advanced Package Module, it uses this information from its link partner to condition the results during MBINIT.REVERSALMB. </a:t>
            </a:r>
          </a:p>
          <a:p>
            <a:r>
              <a:rPr lang="en-US" dirty="0"/>
              <a:t>The corresponding bits in {MBINIT.PARAM configuration resp} are reserved</a:t>
            </a:r>
          </a:p>
        </p:txBody>
      </p:sp>
    </p:spTree>
    <p:extLst>
      <p:ext uri="{BB962C8B-B14F-4D97-AF65-F5344CB8AC3E}">
        <p14:creationId xmlns:p14="http://schemas.microsoft.com/office/powerpoint/2010/main" val="121969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6F17-68B6-9809-5A23-6E2AD3DCB5CE}"/>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pic>
        <p:nvPicPr>
          <p:cNvPr id="2050" name="Picture 2">
            <a:extLst>
              <a:ext uri="{FF2B5EF4-FFF2-40B4-BE49-F238E27FC236}">
                <a16:creationId xmlns:a16="http://schemas.microsoft.com/office/drawing/2014/main" id="{7F735A84-340A-5149-6A43-91F6D0A2254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6694" y="221664"/>
            <a:ext cx="6668078" cy="25300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B1A80D6-AED1-1DEC-42B4-59296C9EB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308" y="3620503"/>
            <a:ext cx="8477250" cy="97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911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153C-A429-A0E1-3CC4-D50C457C80A9}"/>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7FBFFCB0-4ED2-1F4D-8F8C-B5B1160AB839}"/>
              </a:ext>
            </a:extLst>
          </p:cNvPr>
          <p:cNvCxnSpPr/>
          <p:nvPr/>
        </p:nvCxnSpPr>
        <p:spPr>
          <a:xfrm flipH="1">
            <a:off x="4387801" y="4667654"/>
            <a:ext cx="2974927" cy="286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F8BFE87-FAEF-627C-18B0-0895B98E7023}"/>
              </a:ext>
            </a:extLst>
          </p:cNvPr>
          <p:cNvSpPr>
            <a:spLocks noGrp="1"/>
          </p:cNvSpPr>
          <p:nvPr>
            <p:ph idx="1"/>
          </p:nvPr>
        </p:nvSpPr>
        <p:spPr>
          <a:xfrm>
            <a:off x="442729" y="-441703"/>
            <a:ext cx="10515600" cy="4351338"/>
          </a:xfrm>
        </p:spPr>
        <p:txBody>
          <a:bodyPr vert="horz" lIns="91440" tIns="45720" rIns="91440" bIns="45720" rtlCol="0" anchor="t">
            <a:normAutofit/>
          </a:bodyPr>
          <a:lstStyle/>
          <a:p>
            <a:pPr marL="0" indent="0">
              <a:buNone/>
            </a:pPr>
            <a:endParaRPr lang="en-US"/>
          </a:p>
          <a:p>
            <a:endParaRPr lang="en-US"/>
          </a:p>
        </p:txBody>
      </p:sp>
      <p:sp>
        <p:nvSpPr>
          <p:cNvPr id="5" name="Title 1">
            <a:extLst>
              <a:ext uri="{FF2B5EF4-FFF2-40B4-BE49-F238E27FC236}">
                <a16:creationId xmlns:a16="http://schemas.microsoft.com/office/drawing/2014/main" id="{6B241E00-6EDF-A7B8-E7A8-A8BE6A82643C}"/>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dirty="0">
                <a:latin typeface="Aptos"/>
              </a:rPr>
              <a:t>MBINIT.PARAM</a:t>
            </a:r>
          </a:p>
        </p:txBody>
      </p:sp>
      <p:cxnSp>
        <p:nvCxnSpPr>
          <p:cNvPr id="8" name="Straight Arrow Connector 7">
            <a:extLst>
              <a:ext uri="{FF2B5EF4-FFF2-40B4-BE49-F238E27FC236}">
                <a16:creationId xmlns:a16="http://schemas.microsoft.com/office/drawing/2014/main" id="{101DD1DA-87A8-1A96-6F1F-7B0093234DEA}"/>
              </a:ext>
            </a:extLst>
          </p:cNvPr>
          <p:cNvCxnSpPr/>
          <p:nvPr/>
        </p:nvCxnSpPr>
        <p:spPr>
          <a:xfrm flipH="1">
            <a:off x="4377304" y="2627188"/>
            <a:ext cx="24033" cy="257157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F34C4C6-7F08-9001-FDFA-E3961D987F9F}"/>
              </a:ext>
            </a:extLst>
          </p:cNvPr>
          <p:cNvCxnSpPr/>
          <p:nvPr/>
        </p:nvCxnSpPr>
        <p:spPr>
          <a:xfrm>
            <a:off x="7385934" y="2629537"/>
            <a:ext cx="25447" cy="258429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25DCA3A-FE6A-3AE7-8873-2CA3FD588CF1}"/>
              </a:ext>
            </a:extLst>
          </p:cNvPr>
          <p:cNvSpPr txBox="1"/>
          <p:nvPr/>
        </p:nvSpPr>
        <p:spPr>
          <a:xfrm>
            <a:off x="3046025" y="2163220"/>
            <a:ext cx="42592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0 : UCIe Module</a:t>
            </a:r>
          </a:p>
        </p:txBody>
      </p:sp>
      <p:sp>
        <p:nvSpPr>
          <p:cNvPr id="12" name="TextBox 11">
            <a:extLst>
              <a:ext uri="{FF2B5EF4-FFF2-40B4-BE49-F238E27FC236}">
                <a16:creationId xmlns:a16="http://schemas.microsoft.com/office/drawing/2014/main" id="{1D630745-EDB3-E357-29DA-78710476C294}"/>
              </a:ext>
            </a:extLst>
          </p:cNvPr>
          <p:cNvSpPr txBox="1"/>
          <p:nvPr/>
        </p:nvSpPr>
        <p:spPr>
          <a:xfrm>
            <a:off x="6369063" y="2163245"/>
            <a:ext cx="47704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1 : UCIe Module Partner</a:t>
            </a:r>
          </a:p>
        </p:txBody>
      </p:sp>
      <p:cxnSp>
        <p:nvCxnSpPr>
          <p:cNvPr id="15" name="Straight Arrow Connector 14">
            <a:extLst>
              <a:ext uri="{FF2B5EF4-FFF2-40B4-BE49-F238E27FC236}">
                <a16:creationId xmlns:a16="http://schemas.microsoft.com/office/drawing/2014/main" id="{C2FA67E1-9909-109D-8063-F7E68E743FB5}"/>
              </a:ext>
            </a:extLst>
          </p:cNvPr>
          <p:cNvCxnSpPr/>
          <p:nvPr/>
        </p:nvCxnSpPr>
        <p:spPr>
          <a:xfrm>
            <a:off x="4385148" y="3473319"/>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B63267C-C190-F6B6-6615-047986BAD597}"/>
              </a:ext>
            </a:extLst>
          </p:cNvPr>
          <p:cNvSpPr txBox="1"/>
          <p:nvPr/>
        </p:nvSpPr>
        <p:spPr>
          <a:xfrm rot="300000">
            <a:off x="4554028" y="3281631"/>
            <a:ext cx="274320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{MBINIT.PARAM configuration req}</a:t>
            </a:r>
            <a:endParaRPr lang="en-US"/>
          </a:p>
        </p:txBody>
      </p:sp>
      <p:sp>
        <p:nvSpPr>
          <p:cNvPr id="20" name="TextBox 19">
            <a:extLst>
              <a:ext uri="{FF2B5EF4-FFF2-40B4-BE49-F238E27FC236}">
                <a16:creationId xmlns:a16="http://schemas.microsoft.com/office/drawing/2014/main" id="{6DCCB961-C9AF-B7A0-3D89-8FD81EE5B2C4}"/>
              </a:ext>
            </a:extLst>
          </p:cNvPr>
          <p:cNvSpPr txBox="1"/>
          <p:nvPr/>
        </p:nvSpPr>
        <p:spPr>
          <a:xfrm rot="21240000">
            <a:off x="4541164" y="4473666"/>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{MBINIT.PARAM configuration resp} </a:t>
            </a:r>
            <a:endParaRPr lang="en-US">
              <a:ea typeface="+mn-lt"/>
              <a:cs typeface="+mn-lt"/>
            </a:endParaRPr>
          </a:p>
        </p:txBody>
      </p:sp>
      <p:sp>
        <p:nvSpPr>
          <p:cNvPr id="25" name="TextBox 24">
            <a:extLst>
              <a:ext uri="{FF2B5EF4-FFF2-40B4-BE49-F238E27FC236}">
                <a16:creationId xmlns:a16="http://schemas.microsoft.com/office/drawing/2014/main" id="{024FDC8D-5924-35EB-9549-C75C653DE08D}"/>
              </a:ext>
            </a:extLst>
          </p:cNvPr>
          <p:cNvSpPr txBox="1"/>
          <p:nvPr/>
        </p:nvSpPr>
        <p:spPr>
          <a:xfrm>
            <a:off x="584548" y="2936921"/>
            <a:ext cx="3773759"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90000"/>
                    <a:lumOff val="10000"/>
                  </a:schemeClr>
                </a:solidFill>
              </a:rPr>
              <a:t>.</a:t>
            </a:r>
          </a:p>
        </p:txBody>
      </p:sp>
      <p:cxnSp>
        <p:nvCxnSpPr>
          <p:cNvPr id="11" name="Straight Arrow Connector 10">
            <a:extLst>
              <a:ext uri="{FF2B5EF4-FFF2-40B4-BE49-F238E27FC236}">
                <a16:creationId xmlns:a16="http://schemas.microsoft.com/office/drawing/2014/main" id="{46ACFE80-CA80-5F98-0C39-C0C6B7FE594B}"/>
              </a:ext>
            </a:extLst>
          </p:cNvPr>
          <p:cNvCxnSpPr/>
          <p:nvPr/>
        </p:nvCxnSpPr>
        <p:spPr>
          <a:xfrm>
            <a:off x="5915280"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25CF40-F5D1-CE56-4FDC-F4D71A604C82}"/>
              </a:ext>
            </a:extLst>
          </p:cNvPr>
          <p:cNvCxnSpPr>
            <a:cxnSpLocks/>
          </p:cNvCxnSpPr>
          <p:nvPr/>
        </p:nvCxnSpPr>
        <p:spPr>
          <a:xfrm>
            <a:off x="5905384"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E340B95-5623-4BBE-2650-1CB1161FB591}"/>
              </a:ext>
            </a:extLst>
          </p:cNvPr>
          <p:cNvSpPr txBox="1"/>
          <p:nvPr/>
        </p:nvSpPr>
        <p:spPr>
          <a:xfrm>
            <a:off x="5268169" y="598906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MBINIT.CAL</a:t>
            </a:r>
          </a:p>
        </p:txBody>
      </p:sp>
    </p:spTree>
    <p:extLst>
      <p:ext uri="{BB962C8B-B14F-4D97-AF65-F5344CB8AC3E}">
        <p14:creationId xmlns:p14="http://schemas.microsoft.com/office/powerpoint/2010/main" val="1983729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C800-DD67-2120-7AB3-F9AC1DF66FB6}"/>
              </a:ext>
            </a:extLst>
          </p:cNvPr>
          <p:cNvSpPr>
            <a:spLocks noGrp="1"/>
          </p:cNvSpPr>
          <p:nvPr>
            <p:ph type="title"/>
          </p:nvPr>
        </p:nvSpPr>
        <p:spPr/>
        <p:txBody>
          <a:bodyPr/>
          <a:lstStyle/>
          <a:p>
            <a:r>
              <a:rPr lang="en-US" dirty="0">
                <a:ea typeface="+mj-lt"/>
                <a:cs typeface="+mj-lt"/>
              </a:rPr>
              <a:t>                           MBINIT.CAL</a:t>
            </a:r>
            <a:endParaRPr lang="en-US" dirty="0"/>
          </a:p>
        </p:txBody>
      </p:sp>
      <p:sp>
        <p:nvSpPr>
          <p:cNvPr id="3" name="Content Placeholder 2">
            <a:extLst>
              <a:ext uri="{FF2B5EF4-FFF2-40B4-BE49-F238E27FC236}">
                <a16:creationId xmlns:a16="http://schemas.microsoft.com/office/drawing/2014/main" id="{90EF35FB-2AAA-C57C-F988-73A524CD688B}"/>
              </a:ext>
            </a:extLst>
          </p:cNvPr>
          <p:cNvSpPr>
            <a:spLocks noGrp="1"/>
          </p:cNvSpPr>
          <p:nvPr>
            <p:ph idx="1"/>
          </p:nvPr>
        </p:nvSpPr>
        <p:spPr/>
        <p:txBody>
          <a:bodyPr vert="horz" lIns="91440" tIns="45720" rIns="91440" bIns="45720" rtlCol="0" anchor="t">
            <a:normAutofit/>
          </a:bodyPr>
          <a:lstStyle/>
          <a:p>
            <a:r>
              <a:rPr lang="en-US" dirty="0">
                <a:ea typeface="+mn-lt"/>
                <a:cs typeface="+mn-lt"/>
              </a:rPr>
              <a:t>This state is used to perform any calibration needed </a:t>
            </a:r>
            <a:endParaRPr lang="en-US" dirty="0"/>
          </a:p>
          <a:p>
            <a:r>
              <a:rPr lang="en-US" dirty="0">
                <a:ea typeface="+mn-lt"/>
                <a:cs typeface="+mn-lt"/>
              </a:rPr>
              <a:t>    Tx Duty Cycle correction</a:t>
            </a:r>
          </a:p>
          <a:p>
            <a:r>
              <a:rPr lang="en-US" dirty="0">
                <a:ea typeface="+mn-lt"/>
                <a:cs typeface="+mn-lt"/>
              </a:rPr>
              <a:t>     Receiver offset </a:t>
            </a:r>
          </a:p>
          <a:p>
            <a:r>
              <a:rPr lang="en-US" dirty="0">
                <a:ea typeface="+mn-lt"/>
                <a:cs typeface="+mn-lt"/>
              </a:rPr>
              <a:t>      </a:t>
            </a:r>
            <a:r>
              <a:rPr lang="en-US" dirty="0" err="1">
                <a:ea typeface="+mn-lt"/>
                <a:cs typeface="+mn-lt"/>
              </a:rPr>
              <a:t>Vref</a:t>
            </a:r>
            <a:r>
              <a:rPr lang="en-US" dirty="0">
                <a:ea typeface="+mn-lt"/>
                <a:cs typeface="+mn-lt"/>
              </a:rPr>
              <a:t> calibration. </a:t>
            </a:r>
          </a:p>
          <a:p>
            <a:r>
              <a:rPr lang="en-US" dirty="0">
                <a:ea typeface="+mn-lt"/>
                <a:cs typeface="+mn-lt"/>
              </a:rPr>
              <a:t>This state is common for both Advanced Package and Standard Package</a:t>
            </a:r>
          </a:p>
          <a:p>
            <a:r>
              <a:rPr lang="en-US" dirty="0"/>
              <a:t>The UCIe Module maintains tri-state on all its </a:t>
            </a:r>
            <a:r>
              <a:rPr lang="en-US" dirty="0" err="1"/>
              <a:t>mainband</a:t>
            </a:r>
            <a:r>
              <a:rPr lang="en-US" dirty="0"/>
              <a:t> Transmitters, and </a:t>
            </a:r>
            <a:r>
              <a:rPr lang="en-US" dirty="0" err="1"/>
              <a:t>mainband</a:t>
            </a:r>
            <a:r>
              <a:rPr lang="en-US" dirty="0"/>
              <a:t> Receivers are permitted to be disabled in this state. </a:t>
            </a:r>
            <a:endParaRPr lang="en-US" dirty="0">
              <a:ea typeface="+mn-lt"/>
              <a:cs typeface="+mn-lt"/>
            </a:endParaRPr>
          </a:p>
          <a:p>
            <a:pPr marL="0" indent="0">
              <a:buNone/>
            </a:pPr>
            <a:endParaRPr lang="en-US" dirty="0"/>
          </a:p>
        </p:txBody>
      </p:sp>
    </p:spTree>
    <p:extLst>
      <p:ext uri="{BB962C8B-B14F-4D97-AF65-F5344CB8AC3E}">
        <p14:creationId xmlns:p14="http://schemas.microsoft.com/office/powerpoint/2010/main" val="2683515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E472B-6089-7EA4-6219-80C4FFB9BF0B}"/>
              </a:ext>
            </a:extLst>
          </p:cNvPr>
          <p:cNvSpPr>
            <a:spLocks noGrp="1"/>
          </p:cNvSpPr>
          <p:nvPr>
            <p:ph type="title"/>
          </p:nvPr>
        </p:nvSpPr>
        <p:spPr/>
        <p:txBody>
          <a:bodyPr/>
          <a:lstStyle/>
          <a:p>
            <a:r>
              <a:rPr lang="en-US" dirty="0"/>
              <a:t>   </a:t>
            </a:r>
            <a:r>
              <a:rPr lang="en-US" dirty="0">
                <a:solidFill>
                  <a:srgbClr val="000000"/>
                </a:solidFill>
              </a:rPr>
              <a:t>                MBINIT.CAL</a:t>
            </a:r>
          </a:p>
        </p:txBody>
      </p:sp>
      <p:sp>
        <p:nvSpPr>
          <p:cNvPr id="3" name="Content Placeholder 2">
            <a:extLst>
              <a:ext uri="{FF2B5EF4-FFF2-40B4-BE49-F238E27FC236}">
                <a16:creationId xmlns:a16="http://schemas.microsoft.com/office/drawing/2014/main" id="{B48785B7-52D4-23EE-6915-022B7587B438}"/>
              </a:ext>
            </a:extLst>
          </p:cNvPr>
          <p:cNvSpPr>
            <a:spLocks noGrp="1"/>
          </p:cNvSpPr>
          <p:nvPr>
            <p:ph idx="1"/>
          </p:nvPr>
        </p:nvSpPr>
        <p:spPr/>
        <p:txBody>
          <a:bodyPr vert="horz" lIns="91440" tIns="45720" rIns="91440" bIns="45720" rtlCol="0" anchor="t">
            <a:normAutofit/>
          </a:bodyPr>
          <a:lstStyle/>
          <a:p>
            <a:endParaRPr lang="en-US"/>
          </a:p>
          <a:p>
            <a:endParaRPr lang="en-US" dirty="0"/>
          </a:p>
          <a:p>
            <a:endParaRPr lang="en-US" dirty="0"/>
          </a:p>
        </p:txBody>
      </p:sp>
      <p:sp>
        <p:nvSpPr>
          <p:cNvPr id="5" name="Content Placeholder 2">
            <a:extLst>
              <a:ext uri="{FF2B5EF4-FFF2-40B4-BE49-F238E27FC236}">
                <a16:creationId xmlns:a16="http://schemas.microsoft.com/office/drawing/2014/main" id="{34C8A37A-906F-A385-1CD6-E35ED8513F1B}"/>
              </a:ext>
            </a:extLst>
          </p:cNvPr>
          <p:cNvSpPr txBox="1">
            <a:spLocks/>
          </p:cNvSpPr>
          <p:nvPr/>
        </p:nvSpPr>
        <p:spPr>
          <a:xfrm>
            <a:off x="990600" y="19780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a:p>
            <a:endParaRPr lang="en-US" dirty="0"/>
          </a:p>
          <a:p>
            <a:endParaRPr lang="en-US" dirty="0"/>
          </a:p>
        </p:txBody>
      </p:sp>
      <p:cxnSp>
        <p:nvCxnSpPr>
          <p:cNvPr id="7" name="Straight Arrow Connector 6">
            <a:extLst>
              <a:ext uri="{FF2B5EF4-FFF2-40B4-BE49-F238E27FC236}">
                <a16:creationId xmlns:a16="http://schemas.microsoft.com/office/drawing/2014/main" id="{0C0DE004-A17E-856E-0E9A-6BBA62FCFB79}"/>
              </a:ext>
            </a:extLst>
          </p:cNvPr>
          <p:cNvCxnSpPr/>
          <p:nvPr/>
        </p:nvCxnSpPr>
        <p:spPr>
          <a:xfrm flipH="1">
            <a:off x="4387801" y="4667654"/>
            <a:ext cx="2974927" cy="286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7212D55E-6684-95C6-CD19-12CDFCA02239}"/>
              </a:ext>
            </a:extLst>
          </p:cNvPr>
          <p:cNvSpPr txBox="1">
            <a:spLocks/>
          </p:cNvSpPr>
          <p:nvPr/>
        </p:nvSpPr>
        <p:spPr>
          <a:xfrm>
            <a:off x="442729" y="-441703"/>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endParaRPr lang="en-US"/>
          </a:p>
        </p:txBody>
      </p:sp>
      <p:cxnSp>
        <p:nvCxnSpPr>
          <p:cNvPr id="11" name="Straight Arrow Connector 10">
            <a:extLst>
              <a:ext uri="{FF2B5EF4-FFF2-40B4-BE49-F238E27FC236}">
                <a16:creationId xmlns:a16="http://schemas.microsoft.com/office/drawing/2014/main" id="{336B0FF4-083A-6F3D-FD34-F5ADC30354F5}"/>
              </a:ext>
            </a:extLst>
          </p:cNvPr>
          <p:cNvCxnSpPr/>
          <p:nvPr/>
        </p:nvCxnSpPr>
        <p:spPr>
          <a:xfrm flipH="1">
            <a:off x="4377304" y="2627188"/>
            <a:ext cx="24033" cy="257157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B95DA95-E47D-67EC-2B2E-C32306E749D1}"/>
              </a:ext>
            </a:extLst>
          </p:cNvPr>
          <p:cNvCxnSpPr/>
          <p:nvPr/>
        </p:nvCxnSpPr>
        <p:spPr>
          <a:xfrm>
            <a:off x="7385934" y="2629537"/>
            <a:ext cx="25447" cy="258429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B13DAE1-333D-B324-D7AB-6AC61E333017}"/>
              </a:ext>
            </a:extLst>
          </p:cNvPr>
          <p:cNvSpPr txBox="1"/>
          <p:nvPr/>
        </p:nvSpPr>
        <p:spPr>
          <a:xfrm>
            <a:off x="3046025" y="2163220"/>
            <a:ext cx="62159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0 : UCIe Module</a:t>
            </a:r>
          </a:p>
        </p:txBody>
      </p:sp>
      <p:sp>
        <p:nvSpPr>
          <p:cNvPr id="17" name="TextBox 16">
            <a:extLst>
              <a:ext uri="{FF2B5EF4-FFF2-40B4-BE49-F238E27FC236}">
                <a16:creationId xmlns:a16="http://schemas.microsoft.com/office/drawing/2014/main" id="{B990C8CB-AB2D-58A7-9F97-4FF3850BF632}"/>
              </a:ext>
            </a:extLst>
          </p:cNvPr>
          <p:cNvSpPr txBox="1"/>
          <p:nvPr/>
        </p:nvSpPr>
        <p:spPr>
          <a:xfrm>
            <a:off x="6369063" y="2163245"/>
            <a:ext cx="47704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1 : UCIe Module Partner</a:t>
            </a:r>
          </a:p>
        </p:txBody>
      </p:sp>
      <p:cxnSp>
        <p:nvCxnSpPr>
          <p:cNvPr id="19" name="Straight Arrow Connector 18">
            <a:extLst>
              <a:ext uri="{FF2B5EF4-FFF2-40B4-BE49-F238E27FC236}">
                <a16:creationId xmlns:a16="http://schemas.microsoft.com/office/drawing/2014/main" id="{4CE8104D-E97C-FFCA-9752-BACC83F742C9}"/>
              </a:ext>
            </a:extLst>
          </p:cNvPr>
          <p:cNvCxnSpPr/>
          <p:nvPr/>
        </p:nvCxnSpPr>
        <p:spPr>
          <a:xfrm>
            <a:off x="4385148" y="3473319"/>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5EB4DF57-FFDA-8F1D-F1E9-CBC61CA01F47}"/>
              </a:ext>
            </a:extLst>
          </p:cNvPr>
          <p:cNvSpPr txBox="1"/>
          <p:nvPr/>
        </p:nvSpPr>
        <p:spPr>
          <a:xfrm rot="300000">
            <a:off x="5008942" y="3368431"/>
            <a:ext cx="2630311"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ea typeface="+mn-lt"/>
                <a:cs typeface="+mn-lt"/>
              </a:rPr>
              <a:t>{MBINIT.CAL Done req}</a:t>
            </a:r>
            <a:endParaRPr lang="en-US" dirty="0"/>
          </a:p>
        </p:txBody>
      </p:sp>
      <p:sp>
        <p:nvSpPr>
          <p:cNvPr id="23" name="TextBox 22">
            <a:extLst>
              <a:ext uri="{FF2B5EF4-FFF2-40B4-BE49-F238E27FC236}">
                <a16:creationId xmlns:a16="http://schemas.microsoft.com/office/drawing/2014/main" id="{F765CFD4-8C35-F5E1-6D2D-D56AE5F1228F}"/>
              </a:ext>
            </a:extLst>
          </p:cNvPr>
          <p:cNvSpPr txBox="1"/>
          <p:nvPr/>
        </p:nvSpPr>
        <p:spPr>
          <a:xfrm rot="21240000">
            <a:off x="4838426" y="4429865"/>
            <a:ext cx="2454689"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ea typeface="+mn-lt"/>
                <a:cs typeface="+mn-lt"/>
              </a:rPr>
              <a:t>{MBINIT.CAL Done resp} </a:t>
            </a:r>
            <a:endParaRPr lang="en-US" dirty="0">
              <a:ea typeface="+mn-lt"/>
              <a:cs typeface="+mn-lt"/>
            </a:endParaRPr>
          </a:p>
        </p:txBody>
      </p:sp>
      <p:cxnSp>
        <p:nvCxnSpPr>
          <p:cNvPr id="25" name="Straight Arrow Connector 24">
            <a:extLst>
              <a:ext uri="{FF2B5EF4-FFF2-40B4-BE49-F238E27FC236}">
                <a16:creationId xmlns:a16="http://schemas.microsoft.com/office/drawing/2014/main" id="{5D1A5991-343B-CDE0-B0EC-7E76498866CD}"/>
              </a:ext>
            </a:extLst>
          </p:cNvPr>
          <p:cNvCxnSpPr/>
          <p:nvPr/>
        </p:nvCxnSpPr>
        <p:spPr>
          <a:xfrm>
            <a:off x="5915280"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B8311EF-65B4-7F7A-5362-625E733EDC27}"/>
              </a:ext>
            </a:extLst>
          </p:cNvPr>
          <p:cNvCxnSpPr>
            <a:cxnSpLocks/>
          </p:cNvCxnSpPr>
          <p:nvPr/>
        </p:nvCxnSpPr>
        <p:spPr>
          <a:xfrm>
            <a:off x="5905384"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66E0AD8-03C3-7533-E7C7-A5F53857F171}"/>
              </a:ext>
            </a:extLst>
          </p:cNvPr>
          <p:cNvSpPr txBox="1"/>
          <p:nvPr/>
        </p:nvSpPr>
        <p:spPr>
          <a:xfrm>
            <a:off x="5268169" y="598906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MBINIT.REPAIR CLK</a:t>
            </a:r>
          </a:p>
        </p:txBody>
      </p:sp>
    </p:spTree>
    <p:extLst>
      <p:ext uri="{BB962C8B-B14F-4D97-AF65-F5344CB8AC3E}">
        <p14:creationId xmlns:p14="http://schemas.microsoft.com/office/powerpoint/2010/main" val="4083880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B59B-C3C6-B61A-E8FA-21A9A207F056}"/>
              </a:ext>
            </a:extLst>
          </p:cNvPr>
          <p:cNvSpPr>
            <a:spLocks noGrp="1"/>
          </p:cNvSpPr>
          <p:nvPr>
            <p:ph type="title"/>
          </p:nvPr>
        </p:nvSpPr>
        <p:spPr/>
        <p:txBody>
          <a:bodyPr/>
          <a:lstStyle/>
          <a:p>
            <a:r>
              <a:rPr lang="en-US" dirty="0"/>
              <a:t>               </a:t>
            </a:r>
            <a:r>
              <a:rPr lang="en-IN" dirty="0"/>
              <a:t>MBINIT.REPAIRCLK</a:t>
            </a:r>
            <a:endParaRPr lang="en-US" dirty="0"/>
          </a:p>
        </p:txBody>
      </p:sp>
      <p:sp>
        <p:nvSpPr>
          <p:cNvPr id="3" name="Content Placeholder 2">
            <a:extLst>
              <a:ext uri="{FF2B5EF4-FFF2-40B4-BE49-F238E27FC236}">
                <a16:creationId xmlns:a16="http://schemas.microsoft.com/office/drawing/2014/main" id="{012B2ECB-17A2-1AA1-2037-CCFD7CDD9C7C}"/>
              </a:ext>
            </a:extLst>
          </p:cNvPr>
          <p:cNvSpPr>
            <a:spLocks noGrp="1"/>
          </p:cNvSpPr>
          <p:nvPr>
            <p:ph idx="1"/>
          </p:nvPr>
        </p:nvSpPr>
        <p:spPr/>
        <p:txBody>
          <a:bodyPr>
            <a:normAutofit/>
          </a:bodyPr>
          <a:lstStyle/>
          <a:p>
            <a:r>
              <a:rPr lang="en-US" sz="2400" dirty="0"/>
              <a:t>This sub-state is used to detect and apply repair  to clock and track Lanes for Advanced Package and for functional check of clock and track Lanes for Standard Package.</a:t>
            </a:r>
          </a:p>
          <a:p>
            <a:endParaRPr lang="en-US" sz="2400" dirty="0"/>
          </a:p>
        </p:txBody>
      </p:sp>
      <p:graphicFrame>
        <p:nvGraphicFramePr>
          <p:cNvPr id="4" name="Table 3">
            <a:extLst>
              <a:ext uri="{FF2B5EF4-FFF2-40B4-BE49-F238E27FC236}">
                <a16:creationId xmlns:a16="http://schemas.microsoft.com/office/drawing/2014/main" id="{5C294DF6-A1A3-A6F5-898C-94207BD26371}"/>
              </a:ext>
            </a:extLst>
          </p:cNvPr>
          <p:cNvGraphicFramePr>
            <a:graphicFrameLocks noGrp="1"/>
          </p:cNvGraphicFramePr>
          <p:nvPr>
            <p:extLst>
              <p:ext uri="{D42A27DB-BD31-4B8C-83A1-F6EECF244321}">
                <p14:modId xmlns:p14="http://schemas.microsoft.com/office/powerpoint/2010/main" val="587172879"/>
              </p:ext>
            </p:extLst>
          </p:nvPr>
        </p:nvGraphicFramePr>
        <p:xfrm>
          <a:off x="838200" y="3323862"/>
          <a:ext cx="10515600" cy="2590800"/>
        </p:xfrm>
        <a:graphic>
          <a:graphicData uri="http://schemas.openxmlformats.org/drawingml/2006/table">
            <a:tbl>
              <a:tblPr/>
              <a:tblGrid>
                <a:gridCol w="5257800">
                  <a:extLst>
                    <a:ext uri="{9D8B030D-6E8A-4147-A177-3AD203B41FA5}">
                      <a16:colId xmlns:a16="http://schemas.microsoft.com/office/drawing/2014/main" val="3214832269"/>
                    </a:ext>
                  </a:extLst>
                </a:gridCol>
                <a:gridCol w="5257800">
                  <a:extLst>
                    <a:ext uri="{9D8B030D-6E8A-4147-A177-3AD203B41FA5}">
                      <a16:colId xmlns:a16="http://schemas.microsoft.com/office/drawing/2014/main" val="3503195352"/>
                    </a:ext>
                  </a:extLst>
                </a:gridCol>
              </a:tblGrid>
              <a:tr h="497133">
                <a:tc>
                  <a:txBody>
                    <a:bodyPr/>
                    <a:lstStyle/>
                    <a:p>
                      <a:pPr rtl="0">
                        <a:buNone/>
                      </a:pPr>
                      <a:r>
                        <a:rPr lang="en-IN" b="1">
                          <a:solidFill>
                            <a:srgbClr val="1F1F1F"/>
                          </a:solidFill>
                          <a:effectLst/>
                          <a:latin typeface="Google Sans Text"/>
                        </a:rPr>
                        <a:t>Signal Group</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Full Form / Description</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4782422"/>
                  </a:ext>
                </a:extLst>
              </a:tr>
              <a:tr h="497133">
                <a:tc>
                  <a:txBody>
                    <a:bodyPr/>
                    <a:lstStyle/>
                    <a:p>
                      <a:pPr rtl="0">
                        <a:buNone/>
                      </a:pPr>
                      <a:r>
                        <a:rPr lang="en-IN" b="1">
                          <a:solidFill>
                            <a:srgbClr val="1F1F1F"/>
                          </a:solidFill>
                          <a:effectLst/>
                          <a:latin typeface="Google Sans Text"/>
                        </a:rPr>
                        <a:t>TCKP_P / RCKP_P</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T</a:t>
                      </a:r>
                      <a:r>
                        <a:rPr lang="en-US">
                          <a:solidFill>
                            <a:srgbClr val="1F1F1F"/>
                          </a:solidFill>
                          <a:effectLst/>
                          <a:latin typeface="Google Sans Text"/>
                        </a:rPr>
                        <a:t>ransmit / </a:t>
                      </a:r>
                      <a:r>
                        <a:rPr lang="en-US" b="1">
                          <a:solidFill>
                            <a:srgbClr val="1F1F1F"/>
                          </a:solidFill>
                          <a:effectLst/>
                          <a:latin typeface="Google Sans Text"/>
                        </a:rPr>
                        <a:t>R</a:t>
                      </a:r>
                      <a:r>
                        <a:rPr lang="en-US">
                          <a:solidFill>
                            <a:srgbClr val="1F1F1F"/>
                          </a:solidFill>
                          <a:effectLst/>
                          <a:latin typeface="Google Sans Text"/>
                        </a:rPr>
                        <a:t>eceive </a:t>
                      </a:r>
                      <a:r>
                        <a:rPr lang="en-US" b="1">
                          <a:solidFill>
                            <a:srgbClr val="1F1F1F"/>
                          </a:solidFill>
                          <a:effectLst/>
                          <a:latin typeface="Google Sans Text"/>
                        </a:rPr>
                        <a:t>C</a:t>
                      </a:r>
                      <a:r>
                        <a:rPr lang="en-US">
                          <a:solidFill>
                            <a:srgbClr val="1F1F1F"/>
                          </a:solidFill>
                          <a:effectLst/>
                          <a:latin typeface="Google Sans Text"/>
                        </a:rPr>
                        <a:t>lock </a:t>
                      </a:r>
                      <a:r>
                        <a:rPr lang="en-US" b="1">
                          <a:solidFill>
                            <a:srgbClr val="1F1F1F"/>
                          </a:solidFill>
                          <a:effectLst/>
                          <a:latin typeface="Google Sans Text"/>
                        </a:rPr>
                        <a:t>P</a:t>
                      </a:r>
                      <a:r>
                        <a:rPr lang="en-US">
                          <a:solidFill>
                            <a:srgbClr val="1F1F1F"/>
                          </a:solidFill>
                          <a:effectLst/>
                          <a:latin typeface="Google Sans Text"/>
                        </a:rPr>
                        <a:t>ositive (</a:t>
                      </a:r>
                      <a:r>
                        <a:rPr lang="en-US" b="1">
                          <a:solidFill>
                            <a:srgbClr val="1F1F1F"/>
                          </a:solidFill>
                          <a:effectLst/>
                          <a:latin typeface="Google Sans Text"/>
                        </a:rPr>
                        <a:t>P</a:t>
                      </a:r>
                      <a:r>
                        <a:rPr lang="en-US">
                          <a:solidFill>
                            <a:srgbClr val="1F1F1F"/>
                          </a:solidFill>
                          <a:effectLst/>
                          <a:latin typeface="Google Sans Text"/>
                        </a:rPr>
                        <a:t>-side)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79168643"/>
                  </a:ext>
                </a:extLst>
              </a:tr>
              <a:tr h="497133">
                <a:tc>
                  <a:txBody>
                    <a:bodyPr/>
                    <a:lstStyle/>
                    <a:p>
                      <a:pPr rtl="0">
                        <a:buNone/>
                      </a:pPr>
                      <a:r>
                        <a:rPr lang="en-IN" b="1">
                          <a:solidFill>
                            <a:srgbClr val="1F1F1F"/>
                          </a:solidFill>
                          <a:effectLst/>
                          <a:latin typeface="Google Sans Text"/>
                        </a:rPr>
                        <a:t>TCKN_P / RCKN_P</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T</a:t>
                      </a:r>
                      <a:r>
                        <a:rPr lang="en-US">
                          <a:solidFill>
                            <a:srgbClr val="1F1F1F"/>
                          </a:solidFill>
                          <a:effectLst/>
                          <a:latin typeface="Google Sans Text"/>
                        </a:rPr>
                        <a:t>ransmit / </a:t>
                      </a:r>
                      <a:r>
                        <a:rPr lang="en-US" b="1">
                          <a:solidFill>
                            <a:srgbClr val="1F1F1F"/>
                          </a:solidFill>
                          <a:effectLst/>
                          <a:latin typeface="Google Sans Text"/>
                        </a:rPr>
                        <a:t>R</a:t>
                      </a:r>
                      <a:r>
                        <a:rPr lang="en-US">
                          <a:solidFill>
                            <a:srgbClr val="1F1F1F"/>
                          </a:solidFill>
                          <a:effectLst/>
                          <a:latin typeface="Google Sans Text"/>
                        </a:rPr>
                        <a:t>eceive </a:t>
                      </a:r>
                      <a:r>
                        <a:rPr lang="en-US" b="1">
                          <a:solidFill>
                            <a:srgbClr val="1F1F1F"/>
                          </a:solidFill>
                          <a:effectLst/>
                          <a:latin typeface="Google Sans Text"/>
                        </a:rPr>
                        <a:t>C</a:t>
                      </a:r>
                      <a:r>
                        <a:rPr lang="en-US">
                          <a:solidFill>
                            <a:srgbClr val="1F1F1F"/>
                          </a:solidFill>
                          <a:effectLst/>
                          <a:latin typeface="Google Sans Text"/>
                        </a:rPr>
                        <a:t>lock </a:t>
                      </a:r>
                      <a:r>
                        <a:rPr lang="en-US" b="1">
                          <a:solidFill>
                            <a:srgbClr val="1F1F1F"/>
                          </a:solidFill>
                          <a:effectLst/>
                          <a:latin typeface="Google Sans Text"/>
                        </a:rPr>
                        <a:t>N</a:t>
                      </a:r>
                      <a:r>
                        <a:rPr lang="en-US">
                          <a:solidFill>
                            <a:srgbClr val="1F1F1F"/>
                          </a:solidFill>
                          <a:effectLst/>
                          <a:latin typeface="Google Sans Text"/>
                        </a:rPr>
                        <a:t>egative (</a:t>
                      </a:r>
                      <a:r>
                        <a:rPr lang="en-US" b="1">
                          <a:solidFill>
                            <a:srgbClr val="1F1F1F"/>
                          </a:solidFill>
                          <a:effectLst/>
                          <a:latin typeface="Google Sans Text"/>
                        </a:rPr>
                        <a:t>P</a:t>
                      </a:r>
                      <a:r>
                        <a:rPr lang="en-US">
                          <a:solidFill>
                            <a:srgbClr val="1F1F1F"/>
                          </a:solidFill>
                          <a:effectLst/>
                          <a:latin typeface="Google Sans Text"/>
                        </a:rPr>
                        <a:t>-side)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96202552"/>
                  </a:ext>
                </a:extLst>
              </a:tr>
              <a:tr h="497133">
                <a:tc>
                  <a:txBody>
                    <a:bodyPr/>
                    <a:lstStyle/>
                    <a:p>
                      <a:pPr rtl="0">
                        <a:buNone/>
                      </a:pPr>
                      <a:r>
                        <a:rPr lang="en-IN" b="1">
                          <a:solidFill>
                            <a:srgbClr val="1F1F1F"/>
                          </a:solidFill>
                          <a:effectLst/>
                          <a:latin typeface="Google Sans Text"/>
                        </a:rPr>
                        <a:t>TTRK_P / RTRK_P</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T</a:t>
                      </a:r>
                      <a:r>
                        <a:rPr lang="en-IN">
                          <a:solidFill>
                            <a:srgbClr val="1F1F1F"/>
                          </a:solidFill>
                          <a:effectLst/>
                          <a:latin typeface="Google Sans Text"/>
                        </a:rPr>
                        <a:t>ransmit / </a:t>
                      </a:r>
                      <a:r>
                        <a:rPr lang="en-IN" b="1">
                          <a:solidFill>
                            <a:srgbClr val="1F1F1F"/>
                          </a:solidFill>
                          <a:effectLst/>
                          <a:latin typeface="Google Sans Text"/>
                        </a:rPr>
                        <a:t>R</a:t>
                      </a:r>
                      <a:r>
                        <a:rPr lang="en-IN">
                          <a:solidFill>
                            <a:srgbClr val="1F1F1F"/>
                          </a:solidFill>
                          <a:effectLst/>
                          <a:latin typeface="Google Sans Text"/>
                        </a:rPr>
                        <a:t>eceive </a:t>
                      </a:r>
                      <a:r>
                        <a:rPr lang="en-IN" b="1">
                          <a:solidFill>
                            <a:srgbClr val="1F1F1F"/>
                          </a:solidFill>
                          <a:effectLst/>
                          <a:latin typeface="Google Sans Text"/>
                        </a:rPr>
                        <a:t>TR</a:t>
                      </a:r>
                      <a:r>
                        <a:rPr lang="en-IN">
                          <a:solidFill>
                            <a:srgbClr val="1F1F1F"/>
                          </a:solidFill>
                          <a:effectLst/>
                          <a:latin typeface="Google Sans Text"/>
                        </a:rPr>
                        <a:t>ac</a:t>
                      </a:r>
                      <a:r>
                        <a:rPr lang="en-IN" b="1">
                          <a:solidFill>
                            <a:srgbClr val="1F1F1F"/>
                          </a:solidFill>
                          <a:effectLst/>
                          <a:latin typeface="Google Sans Text"/>
                        </a:rPr>
                        <a:t>K</a:t>
                      </a:r>
                      <a:r>
                        <a:rPr lang="en-IN">
                          <a:solidFill>
                            <a:srgbClr val="1F1F1F"/>
                          </a:solidFill>
                          <a:effectLst/>
                          <a:latin typeface="Google Sans Text"/>
                        </a:rPr>
                        <a:t>ing Signal</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4489316"/>
                  </a:ext>
                </a:extLst>
              </a:tr>
              <a:tr h="497133">
                <a:tc>
                  <a:txBody>
                    <a:bodyPr/>
                    <a:lstStyle/>
                    <a:p>
                      <a:pPr rtl="0">
                        <a:buNone/>
                      </a:pPr>
                      <a:r>
                        <a:rPr lang="en-IN" b="1">
                          <a:solidFill>
                            <a:srgbClr val="1F1F1F"/>
                          </a:solidFill>
                          <a:effectLst/>
                          <a:latin typeface="Google Sans Text"/>
                        </a:rPr>
                        <a:t>TRDCK_P / RRDCK_P</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dirty="0">
                          <a:solidFill>
                            <a:srgbClr val="1F1F1F"/>
                          </a:solidFill>
                          <a:effectLst/>
                          <a:latin typeface="Google Sans Text"/>
                        </a:rPr>
                        <a:t>T</a:t>
                      </a:r>
                      <a:r>
                        <a:rPr lang="en-IN" dirty="0">
                          <a:solidFill>
                            <a:srgbClr val="1F1F1F"/>
                          </a:solidFill>
                          <a:effectLst/>
                          <a:latin typeface="Google Sans Text"/>
                        </a:rPr>
                        <a:t>ransmit / </a:t>
                      </a:r>
                      <a:r>
                        <a:rPr lang="en-IN" b="1" dirty="0">
                          <a:solidFill>
                            <a:srgbClr val="1F1F1F"/>
                          </a:solidFill>
                          <a:effectLst/>
                          <a:latin typeface="Google Sans Text"/>
                        </a:rPr>
                        <a:t>R</a:t>
                      </a:r>
                      <a:r>
                        <a:rPr lang="en-IN" dirty="0">
                          <a:solidFill>
                            <a:srgbClr val="1F1F1F"/>
                          </a:solidFill>
                          <a:effectLst/>
                          <a:latin typeface="Google Sans Text"/>
                        </a:rPr>
                        <a:t>eceive </a:t>
                      </a:r>
                      <a:r>
                        <a:rPr lang="en-IN" b="1" dirty="0" err="1">
                          <a:solidFill>
                            <a:srgbClr val="1F1F1F"/>
                          </a:solidFill>
                          <a:effectLst/>
                          <a:latin typeface="Google Sans Text"/>
                        </a:rPr>
                        <a:t>R</a:t>
                      </a:r>
                      <a:r>
                        <a:rPr lang="en-IN" dirty="0" err="1">
                          <a:solidFill>
                            <a:srgbClr val="1F1F1F"/>
                          </a:solidFill>
                          <a:effectLst/>
                          <a:latin typeface="Google Sans Text"/>
                        </a:rPr>
                        <a:t>e</a:t>
                      </a:r>
                      <a:r>
                        <a:rPr lang="en-IN" b="1" dirty="0" err="1">
                          <a:solidFill>
                            <a:srgbClr val="1F1F1F"/>
                          </a:solidFill>
                          <a:effectLst/>
                          <a:latin typeface="Google Sans Text"/>
                        </a:rPr>
                        <a:t>D</a:t>
                      </a:r>
                      <a:r>
                        <a:rPr lang="en-IN" dirty="0" err="1">
                          <a:solidFill>
                            <a:srgbClr val="1F1F1F"/>
                          </a:solidFill>
                          <a:effectLst/>
                          <a:latin typeface="Google Sans Text"/>
                        </a:rPr>
                        <a:t>undant</a:t>
                      </a:r>
                      <a:r>
                        <a:rPr lang="en-IN" dirty="0">
                          <a:solidFill>
                            <a:srgbClr val="1F1F1F"/>
                          </a:solidFill>
                          <a:effectLst/>
                          <a:latin typeface="Google Sans Text"/>
                        </a:rPr>
                        <a:t> </a:t>
                      </a:r>
                      <a:r>
                        <a:rPr lang="en-IN" b="1" dirty="0" err="1">
                          <a:solidFill>
                            <a:srgbClr val="1F1F1F"/>
                          </a:solidFill>
                          <a:effectLst/>
                          <a:latin typeface="Google Sans Text"/>
                        </a:rPr>
                        <a:t>C</a:t>
                      </a:r>
                      <a:r>
                        <a:rPr lang="en-IN" dirty="0" err="1">
                          <a:solidFill>
                            <a:srgbClr val="1F1F1F"/>
                          </a:solidFill>
                          <a:effectLst/>
                          <a:latin typeface="Google Sans Text"/>
                        </a:rPr>
                        <a:t>loc</a:t>
                      </a:r>
                      <a:r>
                        <a:rPr lang="en-IN" b="1" dirty="0" err="1">
                          <a:solidFill>
                            <a:srgbClr val="1F1F1F"/>
                          </a:solidFill>
                          <a:effectLst/>
                          <a:latin typeface="Google Sans Text"/>
                        </a:rPr>
                        <a:t>K</a:t>
                      </a:r>
                      <a:endParaRPr lang="en-IN" dirty="0">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73139769"/>
                  </a:ext>
                </a:extLst>
              </a:tr>
            </a:tbl>
          </a:graphicData>
        </a:graphic>
      </p:graphicFrame>
    </p:spTree>
    <p:extLst>
      <p:ext uri="{BB962C8B-B14F-4D97-AF65-F5344CB8AC3E}">
        <p14:creationId xmlns:p14="http://schemas.microsoft.com/office/powerpoint/2010/main" val="3617842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DD13-8ACA-4C2B-66B9-9674B1EB6CDC}"/>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4BE4960B-7749-3D79-53D5-4E52BE561E51}"/>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401CCB4D-7617-36DA-8AF7-E5F1E5A528AD}"/>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61A068AF-9169-3026-7977-5CE59D5BAA5C}"/>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dirty="0"/>
              <a:t>MBINIT.REPAIRCLK  for  Std Package</a:t>
            </a:r>
          </a:p>
        </p:txBody>
      </p:sp>
      <p:cxnSp>
        <p:nvCxnSpPr>
          <p:cNvPr id="8" name="Straight Arrow Connector 7">
            <a:extLst>
              <a:ext uri="{FF2B5EF4-FFF2-40B4-BE49-F238E27FC236}">
                <a16:creationId xmlns:a16="http://schemas.microsoft.com/office/drawing/2014/main" id="{55AF79B0-234E-DA43-C0A7-E68B1D9CCFC5}"/>
              </a:ext>
            </a:extLst>
          </p:cNvPr>
          <p:cNvCxnSpPr>
            <a:cxnSpLocks/>
          </p:cNvCxnSpPr>
          <p:nvPr/>
        </p:nvCxnSpPr>
        <p:spPr>
          <a:xfrm>
            <a:off x="4294257" y="1551810"/>
            <a:ext cx="43256" cy="481426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6363F40-9915-6299-0622-18B0AA52E14E}"/>
              </a:ext>
            </a:extLst>
          </p:cNvPr>
          <p:cNvCxnSpPr>
            <a:cxnSpLocks/>
          </p:cNvCxnSpPr>
          <p:nvPr/>
        </p:nvCxnSpPr>
        <p:spPr>
          <a:xfrm>
            <a:off x="7351919" y="1751396"/>
            <a:ext cx="71564" cy="440118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0073A7D-3CE5-1D55-9E2B-A08C96927803}"/>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331D5CB0-C55D-6B62-2785-ABD9A7E5BDBA}"/>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00298A09-8A32-1DBA-3CC0-43F327AF6438}"/>
              </a:ext>
            </a:extLst>
          </p:cNvPr>
          <p:cNvSpPr txBox="1"/>
          <p:nvPr/>
        </p:nvSpPr>
        <p:spPr>
          <a:xfrm>
            <a:off x="7480042" y="1901038"/>
            <a:ext cx="4224594"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t>When ready to receive pattern on RCKP_L,RCKN_L and RTRK_L</a:t>
            </a:r>
          </a:p>
        </p:txBody>
      </p:sp>
      <p:cxnSp>
        <p:nvCxnSpPr>
          <p:cNvPr id="15" name="Straight Arrow Connector 14">
            <a:extLst>
              <a:ext uri="{FF2B5EF4-FFF2-40B4-BE49-F238E27FC236}">
                <a16:creationId xmlns:a16="http://schemas.microsoft.com/office/drawing/2014/main" id="{13C1B368-1D57-30D7-9DAE-6229FC73BCCE}"/>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6C9B140-5029-441A-AA12-65D09621EDF9}"/>
              </a:ext>
            </a:extLst>
          </p:cNvPr>
          <p:cNvSpPr txBox="1"/>
          <p:nvPr/>
        </p:nvSpPr>
        <p:spPr>
          <a:xfrm rot="300000">
            <a:off x="4563924" y="167076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 MBINIT.REPAIRCLK </a:t>
            </a:r>
            <a:r>
              <a:rPr lang="en-US" sz="1400" dirty="0" err="1"/>
              <a:t>init</a:t>
            </a:r>
            <a:r>
              <a:rPr lang="en-US" sz="1400" dirty="0"/>
              <a:t> Req }</a:t>
            </a:r>
          </a:p>
        </p:txBody>
      </p:sp>
      <p:sp>
        <p:nvSpPr>
          <p:cNvPr id="20" name="TextBox 19">
            <a:extLst>
              <a:ext uri="{FF2B5EF4-FFF2-40B4-BE49-F238E27FC236}">
                <a16:creationId xmlns:a16="http://schemas.microsoft.com/office/drawing/2014/main" id="{B19B96AB-D40C-BDF4-9ADF-A427BB025024}"/>
              </a:ext>
            </a:extLst>
          </p:cNvPr>
          <p:cNvSpPr txBox="1"/>
          <p:nvPr/>
        </p:nvSpPr>
        <p:spPr>
          <a:xfrm rot="21240000">
            <a:off x="4363034" y="2118394"/>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a:t>
            </a:r>
            <a:r>
              <a:rPr lang="en-US" sz="1300" dirty="0" err="1"/>
              <a:t>init</a:t>
            </a:r>
            <a:r>
              <a:rPr lang="en-US" sz="1300" dirty="0"/>
              <a:t> Resp }</a:t>
            </a:r>
          </a:p>
        </p:txBody>
      </p:sp>
      <p:sp>
        <p:nvSpPr>
          <p:cNvPr id="21" name="TextBox 20">
            <a:extLst>
              <a:ext uri="{FF2B5EF4-FFF2-40B4-BE49-F238E27FC236}">
                <a16:creationId xmlns:a16="http://schemas.microsoft.com/office/drawing/2014/main" id="{03A199D8-A9BF-CAF2-1D64-E7C617AC3F5C}"/>
              </a:ext>
            </a:extLst>
          </p:cNvPr>
          <p:cNvSpPr txBox="1"/>
          <p:nvPr/>
        </p:nvSpPr>
        <p:spPr>
          <a:xfrm>
            <a:off x="4185757" y="2513151"/>
            <a:ext cx="3212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
            </a:r>
          </a:p>
        </p:txBody>
      </p:sp>
      <p:sp>
        <p:nvSpPr>
          <p:cNvPr id="25" name="TextBox 24">
            <a:extLst>
              <a:ext uri="{FF2B5EF4-FFF2-40B4-BE49-F238E27FC236}">
                <a16:creationId xmlns:a16="http://schemas.microsoft.com/office/drawing/2014/main" id="{D4876AA7-E0E0-10E9-AA4C-0CA22155A908}"/>
              </a:ext>
            </a:extLst>
          </p:cNvPr>
          <p:cNvSpPr txBox="1"/>
          <p:nvPr/>
        </p:nvSpPr>
        <p:spPr>
          <a:xfrm>
            <a:off x="561872" y="2810648"/>
            <a:ext cx="3773759"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t>Sends 128 iterations of clock repair patterns(16 clock cycles followed by 8 cycles of low) on TCKP_L,TCKN_L and TTRK_L</a:t>
            </a:r>
          </a:p>
        </p:txBody>
      </p:sp>
      <p:cxnSp>
        <p:nvCxnSpPr>
          <p:cNvPr id="26" name="Straight Arrow Connector 25">
            <a:extLst>
              <a:ext uri="{FF2B5EF4-FFF2-40B4-BE49-F238E27FC236}">
                <a16:creationId xmlns:a16="http://schemas.microsoft.com/office/drawing/2014/main" id="{CF1A790D-4C4B-44F5-400B-E715A51FB07E}"/>
              </a:ext>
            </a:extLst>
          </p:cNvPr>
          <p:cNvCxnSpPr/>
          <p:nvPr/>
        </p:nvCxnSpPr>
        <p:spPr>
          <a:xfrm>
            <a:off x="4359098" y="3326292"/>
            <a:ext cx="2933374" cy="253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E33079D-F81E-B400-3486-9B8ECFFD3B2B}"/>
              </a:ext>
            </a:extLst>
          </p:cNvPr>
          <p:cNvSpPr txBox="1"/>
          <p:nvPr/>
        </p:nvSpPr>
        <p:spPr>
          <a:xfrm>
            <a:off x="7387402" y="3144112"/>
            <a:ext cx="452689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Detects this pattern on RCKP_L,RCKN_L and RTRK_L. Detection is considered successful if at least 16 consecutive cycles of clock repair pattern are detected.it logs the detection result for RCKP_L,RCKN_L and RTRK_L.</a:t>
            </a:r>
          </a:p>
        </p:txBody>
      </p:sp>
      <p:cxnSp>
        <p:nvCxnSpPr>
          <p:cNvPr id="38" name="Straight Arrow Connector 37">
            <a:extLst>
              <a:ext uri="{FF2B5EF4-FFF2-40B4-BE49-F238E27FC236}">
                <a16:creationId xmlns:a16="http://schemas.microsoft.com/office/drawing/2014/main" id="{1617F31D-C5F7-973C-62CA-34C7DF9E4ECC}"/>
              </a:ext>
            </a:extLst>
          </p:cNvPr>
          <p:cNvCxnSpPr>
            <a:cxnSpLocks/>
          </p:cNvCxnSpPr>
          <p:nvPr/>
        </p:nvCxnSpPr>
        <p:spPr>
          <a:xfrm>
            <a:off x="4302624" y="4127772"/>
            <a:ext cx="3001420" cy="5163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08F7038-9C42-0AB3-228E-CFB120B77AC0}"/>
              </a:ext>
            </a:extLst>
          </p:cNvPr>
          <p:cNvCxnSpPr>
            <a:cxnSpLocks/>
          </p:cNvCxnSpPr>
          <p:nvPr/>
        </p:nvCxnSpPr>
        <p:spPr>
          <a:xfrm flipH="1">
            <a:off x="4342939" y="5855721"/>
            <a:ext cx="3106759" cy="3870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30DA632D-1555-DAB1-5FFD-840238676C3D}"/>
              </a:ext>
            </a:extLst>
          </p:cNvPr>
          <p:cNvCxnSpPr>
            <a:cxnSpLocks/>
          </p:cNvCxnSpPr>
          <p:nvPr/>
        </p:nvCxnSpPr>
        <p:spPr>
          <a:xfrm>
            <a:off x="4288831" y="5421678"/>
            <a:ext cx="3117290" cy="24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7ADD3C4-8967-8E3D-28F7-A4ECE2235B2F}"/>
              </a:ext>
            </a:extLst>
          </p:cNvPr>
          <p:cNvSpPr txBox="1"/>
          <p:nvPr/>
        </p:nvSpPr>
        <p:spPr>
          <a:xfrm rot="21180000">
            <a:off x="4544416" y="5709214"/>
            <a:ext cx="249558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MBINIT.REPAIRCLK done resp}</a:t>
            </a:r>
          </a:p>
        </p:txBody>
      </p:sp>
      <p:sp>
        <p:nvSpPr>
          <p:cNvPr id="46" name="TextBox 45">
            <a:extLst>
              <a:ext uri="{FF2B5EF4-FFF2-40B4-BE49-F238E27FC236}">
                <a16:creationId xmlns:a16="http://schemas.microsoft.com/office/drawing/2014/main" id="{7C061E3F-1499-54FC-D0C9-36D49A09FCB7}"/>
              </a:ext>
            </a:extLst>
          </p:cNvPr>
          <p:cNvSpPr txBox="1"/>
          <p:nvPr/>
        </p:nvSpPr>
        <p:spPr>
          <a:xfrm rot="21300000">
            <a:off x="4424410" y="4526611"/>
            <a:ext cx="4883703"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result Resp }</a:t>
            </a:r>
          </a:p>
        </p:txBody>
      </p:sp>
      <p:cxnSp>
        <p:nvCxnSpPr>
          <p:cNvPr id="4" name="Straight Arrow Connector 3">
            <a:extLst>
              <a:ext uri="{FF2B5EF4-FFF2-40B4-BE49-F238E27FC236}">
                <a16:creationId xmlns:a16="http://schemas.microsoft.com/office/drawing/2014/main" id="{CDBA8ECA-3A4D-80A3-D672-FB8623AD0DE3}"/>
              </a:ext>
            </a:extLst>
          </p:cNvPr>
          <p:cNvCxnSpPr>
            <a:cxnSpLocks/>
          </p:cNvCxnSpPr>
          <p:nvPr/>
        </p:nvCxnSpPr>
        <p:spPr>
          <a:xfrm flipH="1">
            <a:off x="4275415" y="4791316"/>
            <a:ext cx="3071078" cy="2055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109321F-EDA7-CA02-EC26-4133A6F1D8D7}"/>
              </a:ext>
            </a:extLst>
          </p:cNvPr>
          <p:cNvSpPr txBox="1"/>
          <p:nvPr/>
        </p:nvSpPr>
        <p:spPr>
          <a:xfrm rot="578844">
            <a:off x="4393240" y="4132460"/>
            <a:ext cx="3071078" cy="523220"/>
          </a:xfrm>
          <a:prstGeom prst="rect">
            <a:avLst/>
          </a:prstGeom>
          <a:noFill/>
        </p:spPr>
        <p:txBody>
          <a:bodyPr wrap="square" rtlCol="0">
            <a:spAutoFit/>
          </a:bodyPr>
          <a:lstStyle/>
          <a:p>
            <a:r>
              <a:rPr lang="en-US" sz="1400" dirty="0"/>
              <a:t>{ MBINIT.REPAIRCLK result Req }</a:t>
            </a:r>
          </a:p>
          <a:p>
            <a:endParaRPr lang="en-IN" sz="1400" dirty="0"/>
          </a:p>
        </p:txBody>
      </p:sp>
      <p:cxnSp>
        <p:nvCxnSpPr>
          <p:cNvPr id="40" name="Straight Arrow Connector 39">
            <a:extLst>
              <a:ext uri="{FF2B5EF4-FFF2-40B4-BE49-F238E27FC236}">
                <a16:creationId xmlns:a16="http://schemas.microsoft.com/office/drawing/2014/main" id="{D9FFE2BD-A401-1EB8-2A27-28378A9D2FEB}"/>
              </a:ext>
            </a:extLst>
          </p:cNvPr>
          <p:cNvCxnSpPr>
            <a:cxnSpLocks/>
          </p:cNvCxnSpPr>
          <p:nvPr/>
        </p:nvCxnSpPr>
        <p:spPr>
          <a:xfrm flipH="1">
            <a:off x="2207068" y="5151884"/>
            <a:ext cx="21358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92F8FE6-7FD0-FE59-3FA8-8752AFE9CBFD}"/>
              </a:ext>
            </a:extLst>
          </p:cNvPr>
          <p:cNvSpPr txBox="1"/>
          <p:nvPr/>
        </p:nvSpPr>
        <p:spPr>
          <a:xfrm>
            <a:off x="2180853" y="4078279"/>
            <a:ext cx="2086288" cy="954107"/>
          </a:xfrm>
          <a:prstGeom prst="rect">
            <a:avLst/>
          </a:prstGeom>
          <a:noFill/>
        </p:spPr>
        <p:txBody>
          <a:bodyPr wrap="square" rtlCol="0">
            <a:spAutoFit/>
          </a:bodyPr>
          <a:lstStyle/>
          <a:p>
            <a:r>
              <a:rPr lang="en-IN" sz="1400" dirty="0"/>
              <a:t>If detection is not success on any one of the RCKP_L,RCKN_L and RTRK_L</a:t>
            </a:r>
          </a:p>
        </p:txBody>
      </p:sp>
      <p:sp>
        <p:nvSpPr>
          <p:cNvPr id="50" name="TextBox 49">
            <a:extLst>
              <a:ext uri="{FF2B5EF4-FFF2-40B4-BE49-F238E27FC236}">
                <a16:creationId xmlns:a16="http://schemas.microsoft.com/office/drawing/2014/main" id="{13B2C1F6-C497-55DB-60B1-7ADF553B4EC7}"/>
              </a:ext>
            </a:extLst>
          </p:cNvPr>
          <p:cNvSpPr txBox="1"/>
          <p:nvPr/>
        </p:nvSpPr>
        <p:spPr>
          <a:xfrm>
            <a:off x="189528" y="4791317"/>
            <a:ext cx="2193616" cy="1077218"/>
          </a:xfrm>
          <a:prstGeom prst="rect">
            <a:avLst/>
          </a:prstGeom>
          <a:noFill/>
        </p:spPr>
        <p:txBody>
          <a:bodyPr wrap="square" rtlCol="0">
            <a:spAutoFit/>
          </a:bodyPr>
          <a:lstStyle/>
          <a:p>
            <a:r>
              <a:rPr lang="en-IN" sz="1600" dirty="0"/>
              <a:t>Both goes to TRAINERROR after TRAINERROR handshake</a:t>
            </a:r>
          </a:p>
        </p:txBody>
      </p:sp>
      <p:sp>
        <p:nvSpPr>
          <p:cNvPr id="52" name="TextBox 51">
            <a:extLst>
              <a:ext uri="{FF2B5EF4-FFF2-40B4-BE49-F238E27FC236}">
                <a16:creationId xmlns:a16="http://schemas.microsoft.com/office/drawing/2014/main" id="{F9ADAC10-B378-C79A-57CC-1AF8753E4777}"/>
              </a:ext>
            </a:extLst>
          </p:cNvPr>
          <p:cNvSpPr txBox="1"/>
          <p:nvPr/>
        </p:nvSpPr>
        <p:spPr>
          <a:xfrm>
            <a:off x="2311996" y="5336605"/>
            <a:ext cx="2144959" cy="307777"/>
          </a:xfrm>
          <a:prstGeom prst="rect">
            <a:avLst/>
          </a:prstGeom>
          <a:noFill/>
        </p:spPr>
        <p:txBody>
          <a:bodyPr wrap="square" rtlCol="0">
            <a:spAutoFit/>
          </a:bodyPr>
          <a:lstStyle/>
          <a:p>
            <a:r>
              <a:rPr lang="en-IN" sz="1400" dirty="0"/>
              <a:t>If detection is successful</a:t>
            </a:r>
          </a:p>
        </p:txBody>
      </p:sp>
      <p:sp>
        <p:nvSpPr>
          <p:cNvPr id="62" name="TextBox 61">
            <a:extLst>
              <a:ext uri="{FF2B5EF4-FFF2-40B4-BE49-F238E27FC236}">
                <a16:creationId xmlns:a16="http://schemas.microsoft.com/office/drawing/2014/main" id="{FA2D8C36-58AE-A173-CBA7-30B8BC84F511}"/>
              </a:ext>
            </a:extLst>
          </p:cNvPr>
          <p:cNvSpPr txBox="1"/>
          <p:nvPr/>
        </p:nvSpPr>
        <p:spPr>
          <a:xfrm rot="259291">
            <a:off x="4478765" y="5282413"/>
            <a:ext cx="3732848" cy="307777"/>
          </a:xfrm>
          <a:prstGeom prst="rect">
            <a:avLst/>
          </a:prstGeom>
          <a:noFill/>
        </p:spPr>
        <p:txBody>
          <a:bodyPr wrap="square" rtlCol="0">
            <a:spAutoFit/>
          </a:bodyPr>
          <a:lstStyle/>
          <a:p>
            <a:r>
              <a:rPr lang="en-IN" sz="1400" dirty="0"/>
              <a:t>MBINIT.REPAIRCLK done </a:t>
            </a:r>
            <a:r>
              <a:rPr lang="en-IN" sz="1400" dirty="0" err="1"/>
              <a:t>Req</a:t>
            </a:r>
            <a:endParaRPr lang="en-IN" sz="1400" dirty="0"/>
          </a:p>
        </p:txBody>
      </p:sp>
      <p:cxnSp>
        <p:nvCxnSpPr>
          <p:cNvPr id="66" name="Straight Arrow Connector 65">
            <a:extLst>
              <a:ext uri="{FF2B5EF4-FFF2-40B4-BE49-F238E27FC236}">
                <a16:creationId xmlns:a16="http://schemas.microsoft.com/office/drawing/2014/main" id="{5BA67507-5E42-8566-C20E-81F86A6A7464}"/>
              </a:ext>
            </a:extLst>
          </p:cNvPr>
          <p:cNvCxnSpPr>
            <a:cxnSpLocks/>
          </p:cNvCxnSpPr>
          <p:nvPr/>
        </p:nvCxnSpPr>
        <p:spPr>
          <a:xfrm>
            <a:off x="5957919" y="6100383"/>
            <a:ext cx="0" cy="4356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0EFA2E6D-3EF9-F3E3-D26F-D7F0A6271F64}"/>
              </a:ext>
            </a:extLst>
          </p:cNvPr>
          <p:cNvSpPr txBox="1"/>
          <p:nvPr/>
        </p:nvSpPr>
        <p:spPr>
          <a:xfrm>
            <a:off x="4861367" y="6464201"/>
            <a:ext cx="3409878" cy="369332"/>
          </a:xfrm>
          <a:prstGeom prst="rect">
            <a:avLst/>
          </a:prstGeom>
          <a:noFill/>
        </p:spPr>
        <p:txBody>
          <a:bodyPr wrap="square" rtlCol="0">
            <a:spAutoFit/>
          </a:bodyPr>
          <a:lstStyle/>
          <a:p>
            <a:r>
              <a:rPr lang="en-IN" dirty="0"/>
              <a:t>MBINIT.REPAIRVAL</a:t>
            </a:r>
            <a:endParaRPr lang="en-IN" b="1" dirty="0"/>
          </a:p>
        </p:txBody>
      </p:sp>
    </p:spTree>
    <p:extLst>
      <p:ext uri="{BB962C8B-B14F-4D97-AF65-F5344CB8AC3E}">
        <p14:creationId xmlns:p14="http://schemas.microsoft.com/office/powerpoint/2010/main" val="2757640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6C57-38B8-FF0F-EE7E-4DD4211B91B5}"/>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CE63299D-87E2-F1CA-F5B1-8C2A54A62070}"/>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CA84BD-0C13-9281-3C2B-9ACB4BF58361}"/>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8B44A79F-FB36-BC99-724E-9D4DAADD01B8}"/>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dirty="0"/>
              <a:t>MBINIT.REPAIRCLK  for  Advanced Package</a:t>
            </a:r>
          </a:p>
        </p:txBody>
      </p:sp>
      <p:cxnSp>
        <p:nvCxnSpPr>
          <p:cNvPr id="8" name="Straight Arrow Connector 7">
            <a:extLst>
              <a:ext uri="{FF2B5EF4-FFF2-40B4-BE49-F238E27FC236}">
                <a16:creationId xmlns:a16="http://schemas.microsoft.com/office/drawing/2014/main" id="{8D9FDC26-36C6-F738-81FC-AF1004455FC7}"/>
              </a:ext>
            </a:extLst>
          </p:cNvPr>
          <p:cNvCxnSpPr>
            <a:cxnSpLocks/>
          </p:cNvCxnSpPr>
          <p:nvPr/>
        </p:nvCxnSpPr>
        <p:spPr>
          <a:xfrm>
            <a:off x="4294257" y="1551810"/>
            <a:ext cx="43256" cy="481426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3935E26-50C2-FE83-4FC7-4ABB6974ED91}"/>
              </a:ext>
            </a:extLst>
          </p:cNvPr>
          <p:cNvCxnSpPr>
            <a:cxnSpLocks/>
          </p:cNvCxnSpPr>
          <p:nvPr/>
        </p:nvCxnSpPr>
        <p:spPr>
          <a:xfrm>
            <a:off x="7351919" y="1751396"/>
            <a:ext cx="71564" cy="440118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0C6FD2C-CF3A-1032-2FA1-0B5A4F8AA76D}"/>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A03DCF99-502B-5061-CB6E-7DEE4904E828}"/>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468216BD-F4F2-F218-29AE-AC3FAF06A469}"/>
              </a:ext>
            </a:extLst>
          </p:cNvPr>
          <p:cNvSpPr txBox="1"/>
          <p:nvPr/>
        </p:nvSpPr>
        <p:spPr>
          <a:xfrm>
            <a:off x="7480042" y="1901038"/>
            <a:ext cx="422459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ready to receive pattern on RCKP_L, RCKN_L, RTRK_L, and RRDCK_L</a:t>
            </a:r>
            <a:endParaRPr lang="en-US" sz="1700" dirty="0"/>
          </a:p>
        </p:txBody>
      </p:sp>
      <p:cxnSp>
        <p:nvCxnSpPr>
          <p:cNvPr id="15" name="Straight Arrow Connector 14">
            <a:extLst>
              <a:ext uri="{FF2B5EF4-FFF2-40B4-BE49-F238E27FC236}">
                <a16:creationId xmlns:a16="http://schemas.microsoft.com/office/drawing/2014/main" id="{AAA5C3B1-17FC-037C-CB7F-A1E9DB2366E8}"/>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6D6547A-89BD-AE95-E51A-40940F00F485}"/>
              </a:ext>
            </a:extLst>
          </p:cNvPr>
          <p:cNvSpPr txBox="1"/>
          <p:nvPr/>
        </p:nvSpPr>
        <p:spPr>
          <a:xfrm rot="300000">
            <a:off x="4563924" y="167076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 MBINIT.REPAIRCLK </a:t>
            </a:r>
            <a:r>
              <a:rPr lang="en-US" sz="1400" dirty="0" err="1"/>
              <a:t>init</a:t>
            </a:r>
            <a:r>
              <a:rPr lang="en-US" sz="1400" dirty="0"/>
              <a:t> Req }</a:t>
            </a:r>
          </a:p>
        </p:txBody>
      </p:sp>
      <p:sp>
        <p:nvSpPr>
          <p:cNvPr id="20" name="TextBox 19">
            <a:extLst>
              <a:ext uri="{FF2B5EF4-FFF2-40B4-BE49-F238E27FC236}">
                <a16:creationId xmlns:a16="http://schemas.microsoft.com/office/drawing/2014/main" id="{A52DEFCD-08C9-CC85-2BDD-98280629334A}"/>
              </a:ext>
            </a:extLst>
          </p:cNvPr>
          <p:cNvSpPr txBox="1"/>
          <p:nvPr/>
        </p:nvSpPr>
        <p:spPr>
          <a:xfrm rot="21240000">
            <a:off x="4363034" y="2118394"/>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a:t>
            </a:r>
            <a:r>
              <a:rPr lang="en-US" sz="1300" dirty="0" err="1"/>
              <a:t>init</a:t>
            </a:r>
            <a:r>
              <a:rPr lang="en-US" sz="1300" dirty="0"/>
              <a:t> Resp }</a:t>
            </a:r>
          </a:p>
        </p:txBody>
      </p:sp>
      <p:sp>
        <p:nvSpPr>
          <p:cNvPr id="21" name="TextBox 20">
            <a:extLst>
              <a:ext uri="{FF2B5EF4-FFF2-40B4-BE49-F238E27FC236}">
                <a16:creationId xmlns:a16="http://schemas.microsoft.com/office/drawing/2014/main" id="{F4F75595-6068-5B16-A759-D079A62BC42A}"/>
              </a:ext>
            </a:extLst>
          </p:cNvPr>
          <p:cNvSpPr txBox="1"/>
          <p:nvPr/>
        </p:nvSpPr>
        <p:spPr>
          <a:xfrm>
            <a:off x="4185757" y="2513151"/>
            <a:ext cx="3212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
            </a:r>
          </a:p>
        </p:txBody>
      </p:sp>
      <p:sp>
        <p:nvSpPr>
          <p:cNvPr id="25" name="TextBox 24">
            <a:extLst>
              <a:ext uri="{FF2B5EF4-FFF2-40B4-BE49-F238E27FC236}">
                <a16:creationId xmlns:a16="http://schemas.microsoft.com/office/drawing/2014/main" id="{803D0979-571D-2A31-DD77-44189BFE9164}"/>
              </a:ext>
            </a:extLst>
          </p:cNvPr>
          <p:cNvSpPr txBox="1"/>
          <p:nvPr/>
        </p:nvSpPr>
        <p:spPr>
          <a:xfrm>
            <a:off x="561872" y="2810648"/>
            <a:ext cx="3773759"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t>Sends 128 iterations of clock repair patterns(16 clock cycles high followed by 8 cycles of low) on TCKP_L only</a:t>
            </a:r>
          </a:p>
        </p:txBody>
      </p:sp>
      <p:cxnSp>
        <p:nvCxnSpPr>
          <p:cNvPr id="26" name="Straight Arrow Connector 25">
            <a:extLst>
              <a:ext uri="{FF2B5EF4-FFF2-40B4-BE49-F238E27FC236}">
                <a16:creationId xmlns:a16="http://schemas.microsoft.com/office/drawing/2014/main" id="{8666DC73-AECA-FCC0-AE94-F1369D2658AA}"/>
              </a:ext>
            </a:extLst>
          </p:cNvPr>
          <p:cNvCxnSpPr/>
          <p:nvPr/>
        </p:nvCxnSpPr>
        <p:spPr>
          <a:xfrm>
            <a:off x="4359098" y="3326292"/>
            <a:ext cx="2933374" cy="253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DB77557-7039-0A93-0FDC-DD3C0EB31FFC}"/>
              </a:ext>
            </a:extLst>
          </p:cNvPr>
          <p:cNvSpPr txBox="1"/>
          <p:nvPr/>
        </p:nvSpPr>
        <p:spPr>
          <a:xfrm>
            <a:off x="7446534" y="2699712"/>
            <a:ext cx="44677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Detects this pattern on RCKP_L,RCKN_L and RTRK_L &amp; </a:t>
            </a:r>
            <a:r>
              <a:rPr lang="en-US" sz="1600" dirty="0" err="1"/>
              <a:t>RRDCK_L.Detection</a:t>
            </a:r>
            <a:r>
              <a:rPr lang="en-US" sz="1600" dirty="0"/>
              <a:t> is considered successful if </a:t>
            </a:r>
            <a:r>
              <a:rPr lang="en-US" sz="1600" dirty="0" err="1"/>
              <a:t>atleast</a:t>
            </a:r>
            <a:r>
              <a:rPr lang="en-US" sz="1600" dirty="0"/>
              <a:t> 16 consecutive cycles of clock repair pattern are detected.it logs the detection result for RCKP_L,RCKN_L and RTRK_L &amp;RRDCK_L</a:t>
            </a:r>
          </a:p>
        </p:txBody>
      </p:sp>
      <p:cxnSp>
        <p:nvCxnSpPr>
          <p:cNvPr id="38" name="Straight Arrow Connector 37">
            <a:extLst>
              <a:ext uri="{FF2B5EF4-FFF2-40B4-BE49-F238E27FC236}">
                <a16:creationId xmlns:a16="http://schemas.microsoft.com/office/drawing/2014/main" id="{A4014DEF-26E3-6105-7775-D1EE87052778}"/>
              </a:ext>
            </a:extLst>
          </p:cNvPr>
          <p:cNvCxnSpPr>
            <a:cxnSpLocks/>
            <a:stCxn id="11" idx="1"/>
          </p:cNvCxnSpPr>
          <p:nvPr/>
        </p:nvCxnSpPr>
        <p:spPr>
          <a:xfrm>
            <a:off x="4447266" y="3989518"/>
            <a:ext cx="2856778" cy="6546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0B894A2A-135D-ABBE-B1CA-19FB954137A6}"/>
              </a:ext>
            </a:extLst>
          </p:cNvPr>
          <p:cNvSpPr txBox="1"/>
          <p:nvPr/>
        </p:nvSpPr>
        <p:spPr>
          <a:xfrm rot="21300000">
            <a:off x="4424410" y="4526611"/>
            <a:ext cx="4883703"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result Resp }</a:t>
            </a:r>
          </a:p>
        </p:txBody>
      </p:sp>
      <p:cxnSp>
        <p:nvCxnSpPr>
          <p:cNvPr id="4" name="Straight Arrow Connector 3">
            <a:extLst>
              <a:ext uri="{FF2B5EF4-FFF2-40B4-BE49-F238E27FC236}">
                <a16:creationId xmlns:a16="http://schemas.microsoft.com/office/drawing/2014/main" id="{F3322E5A-A5FD-B700-5969-53BC285AF30B}"/>
              </a:ext>
            </a:extLst>
          </p:cNvPr>
          <p:cNvCxnSpPr>
            <a:cxnSpLocks/>
          </p:cNvCxnSpPr>
          <p:nvPr/>
        </p:nvCxnSpPr>
        <p:spPr>
          <a:xfrm flipH="1">
            <a:off x="4275415" y="4791316"/>
            <a:ext cx="3071078" cy="2055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28F997A-AE73-57FA-8A09-FEFE4F5ADC65}"/>
              </a:ext>
            </a:extLst>
          </p:cNvPr>
          <p:cNvSpPr txBox="1"/>
          <p:nvPr/>
        </p:nvSpPr>
        <p:spPr>
          <a:xfrm rot="796581">
            <a:off x="4406033" y="4078279"/>
            <a:ext cx="3085581" cy="531076"/>
          </a:xfrm>
          <a:prstGeom prst="rect">
            <a:avLst/>
          </a:prstGeom>
          <a:noFill/>
        </p:spPr>
        <p:txBody>
          <a:bodyPr wrap="square" rtlCol="0">
            <a:spAutoFit/>
          </a:bodyPr>
          <a:lstStyle/>
          <a:p>
            <a:r>
              <a:rPr lang="en-US" sz="1400" dirty="0"/>
              <a:t>{ MBINIT.REPAIRCLK result Req }</a:t>
            </a:r>
          </a:p>
          <a:p>
            <a:endParaRPr lang="en-IN" sz="1400" dirty="0"/>
          </a:p>
        </p:txBody>
      </p:sp>
      <p:cxnSp>
        <p:nvCxnSpPr>
          <p:cNvPr id="40" name="Straight Arrow Connector 39">
            <a:extLst>
              <a:ext uri="{FF2B5EF4-FFF2-40B4-BE49-F238E27FC236}">
                <a16:creationId xmlns:a16="http://schemas.microsoft.com/office/drawing/2014/main" id="{E771D62E-4589-B024-2C29-C7751C2C98B9}"/>
              </a:ext>
            </a:extLst>
          </p:cNvPr>
          <p:cNvCxnSpPr>
            <a:cxnSpLocks/>
            <a:endCxn id="30" idx="3"/>
          </p:cNvCxnSpPr>
          <p:nvPr/>
        </p:nvCxnSpPr>
        <p:spPr>
          <a:xfrm flipH="1">
            <a:off x="1419745" y="5336605"/>
            <a:ext cx="2874512" cy="8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01410DA-4744-E354-5236-BA88355BEBD4}"/>
              </a:ext>
            </a:extLst>
          </p:cNvPr>
          <p:cNvCxnSpPr>
            <a:cxnSpLocks/>
          </p:cNvCxnSpPr>
          <p:nvPr/>
        </p:nvCxnSpPr>
        <p:spPr>
          <a:xfrm flipV="1">
            <a:off x="3912242" y="4314345"/>
            <a:ext cx="0" cy="1053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3C4BBA0-D71D-E603-4C60-9E0BFCD986A7}"/>
              </a:ext>
            </a:extLst>
          </p:cNvPr>
          <p:cNvCxnSpPr>
            <a:cxnSpLocks/>
          </p:cNvCxnSpPr>
          <p:nvPr/>
        </p:nvCxnSpPr>
        <p:spPr>
          <a:xfrm flipH="1">
            <a:off x="1691934" y="4791316"/>
            <a:ext cx="22610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8347227-9166-538E-E9AC-F297B5D47F8E}"/>
              </a:ext>
            </a:extLst>
          </p:cNvPr>
          <p:cNvCxnSpPr>
            <a:cxnSpLocks/>
          </p:cNvCxnSpPr>
          <p:nvPr/>
        </p:nvCxnSpPr>
        <p:spPr>
          <a:xfrm flipH="1">
            <a:off x="1651238" y="4298738"/>
            <a:ext cx="22610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CD5E88F-41C2-E198-4123-497C66BEC8F1}"/>
              </a:ext>
            </a:extLst>
          </p:cNvPr>
          <p:cNvSpPr txBox="1"/>
          <p:nvPr/>
        </p:nvSpPr>
        <p:spPr>
          <a:xfrm>
            <a:off x="1549005" y="5451926"/>
            <a:ext cx="3014915" cy="584775"/>
          </a:xfrm>
          <a:prstGeom prst="rect">
            <a:avLst/>
          </a:prstGeom>
          <a:noFill/>
        </p:spPr>
        <p:txBody>
          <a:bodyPr wrap="square" rtlCol="0">
            <a:spAutoFit/>
          </a:bodyPr>
          <a:lstStyle/>
          <a:p>
            <a:r>
              <a:rPr lang="en-IN" sz="1600" dirty="0"/>
              <a:t>Detection successful only on RCKP_L</a:t>
            </a:r>
          </a:p>
        </p:txBody>
      </p:sp>
      <p:sp>
        <p:nvSpPr>
          <p:cNvPr id="30" name="TextBox 29">
            <a:extLst>
              <a:ext uri="{FF2B5EF4-FFF2-40B4-BE49-F238E27FC236}">
                <a16:creationId xmlns:a16="http://schemas.microsoft.com/office/drawing/2014/main" id="{E038B815-D035-77D2-8E35-01BED785FF12}"/>
              </a:ext>
            </a:extLst>
          </p:cNvPr>
          <p:cNvSpPr txBox="1"/>
          <p:nvPr/>
        </p:nvSpPr>
        <p:spPr>
          <a:xfrm>
            <a:off x="311111" y="5160066"/>
            <a:ext cx="1108634" cy="369332"/>
          </a:xfrm>
          <a:prstGeom prst="rect">
            <a:avLst/>
          </a:prstGeom>
          <a:noFill/>
        </p:spPr>
        <p:txBody>
          <a:bodyPr wrap="square" rtlCol="0">
            <a:spAutoFit/>
          </a:bodyPr>
          <a:lstStyle/>
          <a:p>
            <a:r>
              <a:rPr lang="en-IN" dirty="0"/>
              <a:t>No repair</a:t>
            </a:r>
          </a:p>
        </p:txBody>
      </p:sp>
      <p:sp>
        <p:nvSpPr>
          <p:cNvPr id="31" name="TextBox 30">
            <a:extLst>
              <a:ext uri="{FF2B5EF4-FFF2-40B4-BE49-F238E27FC236}">
                <a16:creationId xmlns:a16="http://schemas.microsoft.com/office/drawing/2014/main" id="{759AFCF7-1865-4875-8F5E-D068288C4B08}"/>
              </a:ext>
            </a:extLst>
          </p:cNvPr>
          <p:cNvSpPr txBox="1"/>
          <p:nvPr/>
        </p:nvSpPr>
        <p:spPr>
          <a:xfrm rot="10800000" flipV="1">
            <a:off x="1735190" y="3720863"/>
            <a:ext cx="2360679" cy="584775"/>
          </a:xfrm>
          <a:prstGeom prst="rect">
            <a:avLst/>
          </a:prstGeom>
          <a:noFill/>
        </p:spPr>
        <p:txBody>
          <a:bodyPr wrap="square" rtlCol="0">
            <a:spAutoFit/>
          </a:bodyPr>
          <a:lstStyle/>
          <a:p>
            <a:r>
              <a:rPr lang="en-IN" sz="1600" dirty="0"/>
              <a:t>Detected on any  of them unsuccessfully</a:t>
            </a:r>
          </a:p>
        </p:txBody>
      </p:sp>
      <p:sp>
        <p:nvSpPr>
          <p:cNvPr id="35" name="TextBox 34">
            <a:extLst>
              <a:ext uri="{FF2B5EF4-FFF2-40B4-BE49-F238E27FC236}">
                <a16:creationId xmlns:a16="http://schemas.microsoft.com/office/drawing/2014/main" id="{840CFCA5-1C5F-9369-6187-B797F4DB7189}"/>
              </a:ext>
            </a:extLst>
          </p:cNvPr>
          <p:cNvSpPr txBox="1"/>
          <p:nvPr/>
        </p:nvSpPr>
        <p:spPr>
          <a:xfrm>
            <a:off x="1860900" y="4382032"/>
            <a:ext cx="2874512" cy="369332"/>
          </a:xfrm>
          <a:prstGeom prst="rect">
            <a:avLst/>
          </a:prstGeom>
          <a:noFill/>
        </p:spPr>
        <p:txBody>
          <a:bodyPr wrap="square" rtlCol="0">
            <a:spAutoFit/>
          </a:bodyPr>
          <a:lstStyle/>
          <a:p>
            <a:r>
              <a:rPr lang="en-IN" dirty="0"/>
              <a:t>Detected on any 2</a:t>
            </a:r>
          </a:p>
        </p:txBody>
      </p:sp>
      <p:sp>
        <p:nvSpPr>
          <p:cNvPr id="36" name="TextBox 35">
            <a:extLst>
              <a:ext uri="{FF2B5EF4-FFF2-40B4-BE49-F238E27FC236}">
                <a16:creationId xmlns:a16="http://schemas.microsoft.com/office/drawing/2014/main" id="{8550AA0C-E549-81E1-30D1-51CC61723CD2}"/>
              </a:ext>
            </a:extLst>
          </p:cNvPr>
          <p:cNvSpPr txBox="1"/>
          <p:nvPr/>
        </p:nvSpPr>
        <p:spPr>
          <a:xfrm>
            <a:off x="-27180" y="4632932"/>
            <a:ext cx="2613262" cy="369332"/>
          </a:xfrm>
          <a:prstGeom prst="rect">
            <a:avLst/>
          </a:prstGeom>
          <a:noFill/>
        </p:spPr>
        <p:txBody>
          <a:bodyPr wrap="square" rtlCol="0">
            <a:spAutoFit/>
          </a:bodyPr>
          <a:lstStyle/>
          <a:p>
            <a:r>
              <a:rPr lang="en-IN" dirty="0"/>
              <a:t>Electrical short</a:t>
            </a:r>
          </a:p>
        </p:txBody>
      </p:sp>
      <p:sp>
        <p:nvSpPr>
          <p:cNvPr id="37" name="TextBox 36">
            <a:extLst>
              <a:ext uri="{FF2B5EF4-FFF2-40B4-BE49-F238E27FC236}">
                <a16:creationId xmlns:a16="http://schemas.microsoft.com/office/drawing/2014/main" id="{8DF05CDE-8EC7-D88F-79CD-F643AC97F742}"/>
              </a:ext>
            </a:extLst>
          </p:cNvPr>
          <p:cNvSpPr txBox="1"/>
          <p:nvPr/>
        </p:nvSpPr>
        <p:spPr>
          <a:xfrm>
            <a:off x="-74697" y="4087644"/>
            <a:ext cx="2098859" cy="369332"/>
          </a:xfrm>
          <a:prstGeom prst="rect">
            <a:avLst/>
          </a:prstGeom>
          <a:noFill/>
        </p:spPr>
        <p:txBody>
          <a:bodyPr wrap="square" rtlCol="0">
            <a:spAutoFit/>
          </a:bodyPr>
          <a:lstStyle/>
          <a:p>
            <a:r>
              <a:rPr lang="en-IN" dirty="0"/>
              <a:t>Repair is needed</a:t>
            </a:r>
          </a:p>
        </p:txBody>
      </p:sp>
      <p:sp>
        <p:nvSpPr>
          <p:cNvPr id="41" name="TextBox 40">
            <a:extLst>
              <a:ext uri="{FF2B5EF4-FFF2-40B4-BE49-F238E27FC236}">
                <a16:creationId xmlns:a16="http://schemas.microsoft.com/office/drawing/2014/main" id="{CFA440A6-40C0-E518-F599-94D1B47B4937}"/>
              </a:ext>
            </a:extLst>
          </p:cNvPr>
          <p:cNvSpPr txBox="1"/>
          <p:nvPr/>
        </p:nvSpPr>
        <p:spPr>
          <a:xfrm rot="10800000" flipV="1">
            <a:off x="8859679" y="5595266"/>
            <a:ext cx="1852242" cy="1200329"/>
          </a:xfrm>
          <a:prstGeom prst="rect">
            <a:avLst/>
          </a:prstGeom>
          <a:noFill/>
        </p:spPr>
        <p:txBody>
          <a:bodyPr wrap="square" rtlCol="0">
            <a:spAutoFit/>
          </a:bodyPr>
          <a:lstStyle/>
          <a:p>
            <a:r>
              <a:rPr lang="en-IN" dirty="0"/>
              <a:t>Above steps are repeating for TCKN_L,TTRK_L and TRDCK_L</a:t>
            </a:r>
          </a:p>
        </p:txBody>
      </p:sp>
    </p:spTree>
    <p:extLst>
      <p:ext uri="{BB962C8B-B14F-4D97-AF65-F5344CB8AC3E}">
        <p14:creationId xmlns:p14="http://schemas.microsoft.com/office/powerpoint/2010/main" val="2180167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6C46-890B-86FF-A4E1-48EC99FE8498}"/>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E725EE09-CC20-5BB0-09B5-0261C3942E38}"/>
              </a:ext>
            </a:extLst>
          </p:cNvPr>
          <p:cNvCxnSpPr>
            <a:cxnSpLocks/>
          </p:cNvCxnSpPr>
          <p:nvPr/>
        </p:nvCxnSpPr>
        <p:spPr>
          <a:xfrm flipH="1">
            <a:off x="3995056" y="2283732"/>
            <a:ext cx="3403603" cy="379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0DE66DC8-5949-B586-0520-1359D7A6BC5E}"/>
              </a:ext>
            </a:extLst>
          </p:cNvPr>
          <p:cNvSpPr>
            <a:spLocks noGrp="1"/>
          </p:cNvSpPr>
          <p:nvPr>
            <p:ph idx="1"/>
          </p:nvPr>
        </p:nvSpPr>
        <p:spPr>
          <a:xfrm>
            <a:off x="542152" y="487997"/>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AC55851B-2752-1F30-CBAB-15CCE96507FD}"/>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dirty="0">
                <a:highlight>
                  <a:srgbClr val="008000"/>
                </a:highlight>
              </a:rPr>
              <a:t>MBINIT.REPAIRCLK  for  Advanced Package</a:t>
            </a:r>
          </a:p>
        </p:txBody>
      </p:sp>
      <p:cxnSp>
        <p:nvCxnSpPr>
          <p:cNvPr id="8" name="Straight Arrow Connector 7">
            <a:extLst>
              <a:ext uri="{FF2B5EF4-FFF2-40B4-BE49-F238E27FC236}">
                <a16:creationId xmlns:a16="http://schemas.microsoft.com/office/drawing/2014/main" id="{0C95CF52-148E-6A3F-8595-C79A0431ADF4}"/>
              </a:ext>
            </a:extLst>
          </p:cNvPr>
          <p:cNvCxnSpPr>
            <a:cxnSpLocks/>
          </p:cNvCxnSpPr>
          <p:nvPr/>
        </p:nvCxnSpPr>
        <p:spPr>
          <a:xfrm>
            <a:off x="4051614" y="1544855"/>
            <a:ext cx="20350" cy="530745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200B1BF-3908-2DED-D2B3-736B5C034EFB}"/>
              </a:ext>
            </a:extLst>
          </p:cNvPr>
          <p:cNvCxnSpPr>
            <a:cxnSpLocks/>
          </p:cNvCxnSpPr>
          <p:nvPr/>
        </p:nvCxnSpPr>
        <p:spPr>
          <a:xfrm>
            <a:off x="7422057" y="1645280"/>
            <a:ext cx="62761" cy="510660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41B7019-93DB-3C83-75EE-7D2F1FBB96C2}"/>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9A21CE69-C0E9-98AF-6F43-054EC0977C41}"/>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D5AB3059-A1D8-BD99-3CDA-DF819A964359}"/>
              </a:ext>
            </a:extLst>
          </p:cNvPr>
          <p:cNvSpPr txBox="1"/>
          <p:nvPr/>
        </p:nvSpPr>
        <p:spPr>
          <a:xfrm>
            <a:off x="7480041" y="1663218"/>
            <a:ext cx="43261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If a repair is needed for one of the clock or track pins (CKP,CKN or TRK) and a repair resource is available ,repair is applied by Module Parter</a:t>
            </a:r>
            <a:endParaRPr lang="en-US" sz="1700" dirty="0"/>
          </a:p>
        </p:txBody>
      </p:sp>
      <p:cxnSp>
        <p:nvCxnSpPr>
          <p:cNvPr id="15" name="Straight Arrow Connector 14">
            <a:extLst>
              <a:ext uri="{FF2B5EF4-FFF2-40B4-BE49-F238E27FC236}">
                <a16:creationId xmlns:a16="http://schemas.microsoft.com/office/drawing/2014/main" id="{47479718-3800-C576-211B-F182D3D69E39}"/>
              </a:ext>
            </a:extLst>
          </p:cNvPr>
          <p:cNvCxnSpPr>
            <a:cxnSpLocks/>
          </p:cNvCxnSpPr>
          <p:nvPr/>
        </p:nvCxnSpPr>
        <p:spPr>
          <a:xfrm>
            <a:off x="4051614" y="1749596"/>
            <a:ext cx="3274090" cy="3128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3518AFA-201E-E0CE-FF8F-0E2EDBDEF733}"/>
              </a:ext>
            </a:extLst>
          </p:cNvPr>
          <p:cNvSpPr txBox="1"/>
          <p:nvPr/>
        </p:nvSpPr>
        <p:spPr>
          <a:xfrm rot="300000">
            <a:off x="4126096" y="1688453"/>
            <a:ext cx="3772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{MBINIT.REPAIRCLK apply repair Req }</a:t>
            </a:r>
          </a:p>
        </p:txBody>
      </p:sp>
      <p:sp>
        <p:nvSpPr>
          <p:cNvPr id="20" name="TextBox 19">
            <a:extLst>
              <a:ext uri="{FF2B5EF4-FFF2-40B4-BE49-F238E27FC236}">
                <a16:creationId xmlns:a16="http://schemas.microsoft.com/office/drawing/2014/main" id="{232328E0-4E4B-535F-CA43-91DC5E34390E}"/>
              </a:ext>
            </a:extLst>
          </p:cNvPr>
          <p:cNvSpPr txBox="1"/>
          <p:nvPr/>
        </p:nvSpPr>
        <p:spPr>
          <a:xfrm rot="21240000">
            <a:off x="4387315" y="2063693"/>
            <a:ext cx="5029318"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{MBINIT.REPAIRCLK apply repair Resp }</a:t>
            </a:r>
          </a:p>
        </p:txBody>
      </p:sp>
      <p:sp>
        <p:nvSpPr>
          <p:cNvPr id="25" name="TextBox 24">
            <a:extLst>
              <a:ext uri="{FF2B5EF4-FFF2-40B4-BE49-F238E27FC236}">
                <a16:creationId xmlns:a16="http://schemas.microsoft.com/office/drawing/2014/main" id="{A820D2A7-644C-D4ED-CF3E-1A97DFC28799}"/>
              </a:ext>
            </a:extLst>
          </p:cNvPr>
          <p:cNvSpPr txBox="1"/>
          <p:nvPr/>
        </p:nvSpPr>
        <p:spPr>
          <a:xfrm rot="10800000" flipV="1">
            <a:off x="288648" y="3532789"/>
            <a:ext cx="312843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t>Sends 128 iterations of clock repair patterns(16 clock cycles high followed by 8 cycles of low) on TCKP_L only</a:t>
            </a:r>
          </a:p>
        </p:txBody>
      </p:sp>
      <p:cxnSp>
        <p:nvCxnSpPr>
          <p:cNvPr id="38" name="Straight Arrow Connector 37">
            <a:extLst>
              <a:ext uri="{FF2B5EF4-FFF2-40B4-BE49-F238E27FC236}">
                <a16:creationId xmlns:a16="http://schemas.microsoft.com/office/drawing/2014/main" id="{C6EB5598-3FAE-6D4A-F32F-B7FAF1EBBEF1}"/>
              </a:ext>
            </a:extLst>
          </p:cNvPr>
          <p:cNvCxnSpPr>
            <a:cxnSpLocks/>
          </p:cNvCxnSpPr>
          <p:nvPr/>
        </p:nvCxnSpPr>
        <p:spPr>
          <a:xfrm flipV="1">
            <a:off x="4063161" y="3429000"/>
            <a:ext cx="3375209" cy="184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D5F04D0-3EB5-5CAE-8C03-104C6AA9FB7E}"/>
              </a:ext>
            </a:extLst>
          </p:cNvPr>
          <p:cNvSpPr txBox="1"/>
          <p:nvPr/>
        </p:nvSpPr>
        <p:spPr>
          <a:xfrm rot="21300000">
            <a:off x="3998274" y="3500099"/>
            <a:ext cx="497858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check repair </a:t>
            </a:r>
            <a:r>
              <a:rPr lang="en-US" sz="1300" dirty="0" err="1"/>
              <a:t>init</a:t>
            </a:r>
            <a:r>
              <a:rPr lang="en-US" sz="1300" dirty="0"/>
              <a:t> Resp }</a:t>
            </a:r>
          </a:p>
        </p:txBody>
      </p:sp>
      <p:cxnSp>
        <p:nvCxnSpPr>
          <p:cNvPr id="4" name="Straight Arrow Connector 3">
            <a:extLst>
              <a:ext uri="{FF2B5EF4-FFF2-40B4-BE49-F238E27FC236}">
                <a16:creationId xmlns:a16="http://schemas.microsoft.com/office/drawing/2014/main" id="{F092CCB9-C06C-C072-6C0E-BC87D9694931}"/>
              </a:ext>
            </a:extLst>
          </p:cNvPr>
          <p:cNvCxnSpPr>
            <a:cxnSpLocks/>
          </p:cNvCxnSpPr>
          <p:nvPr/>
        </p:nvCxnSpPr>
        <p:spPr>
          <a:xfrm flipH="1">
            <a:off x="4079605" y="3622251"/>
            <a:ext cx="3368305" cy="406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8B51AF6-B0BB-5A07-A3F8-55972883D783}"/>
              </a:ext>
            </a:extLst>
          </p:cNvPr>
          <p:cNvSpPr txBox="1"/>
          <p:nvPr/>
        </p:nvSpPr>
        <p:spPr>
          <a:xfrm rot="10800000" flipV="1">
            <a:off x="3932452" y="3150577"/>
            <a:ext cx="3761386" cy="523220"/>
          </a:xfrm>
          <a:prstGeom prst="rect">
            <a:avLst/>
          </a:prstGeom>
          <a:noFill/>
        </p:spPr>
        <p:txBody>
          <a:bodyPr wrap="square" rtlCol="0">
            <a:spAutoFit/>
          </a:bodyPr>
          <a:lstStyle/>
          <a:p>
            <a:r>
              <a:rPr lang="en-US" sz="1400" dirty="0"/>
              <a:t>{ MBINIT.REPAIRCLK check repair </a:t>
            </a:r>
            <a:r>
              <a:rPr lang="en-US" sz="1400" dirty="0" err="1"/>
              <a:t>init</a:t>
            </a:r>
            <a:r>
              <a:rPr lang="en-US" sz="1400" dirty="0"/>
              <a:t> Req }</a:t>
            </a:r>
          </a:p>
          <a:p>
            <a:endParaRPr lang="en-IN" sz="1400" dirty="0"/>
          </a:p>
        </p:txBody>
      </p:sp>
      <p:sp>
        <p:nvSpPr>
          <p:cNvPr id="41" name="TextBox 40">
            <a:extLst>
              <a:ext uri="{FF2B5EF4-FFF2-40B4-BE49-F238E27FC236}">
                <a16:creationId xmlns:a16="http://schemas.microsoft.com/office/drawing/2014/main" id="{48550D45-0597-E657-B339-F01127173E5B}"/>
              </a:ext>
            </a:extLst>
          </p:cNvPr>
          <p:cNvSpPr txBox="1"/>
          <p:nvPr/>
        </p:nvSpPr>
        <p:spPr>
          <a:xfrm rot="10800000" flipV="1">
            <a:off x="7636730" y="4153775"/>
            <a:ext cx="3075190" cy="584775"/>
          </a:xfrm>
          <a:prstGeom prst="rect">
            <a:avLst/>
          </a:prstGeom>
          <a:noFill/>
        </p:spPr>
        <p:txBody>
          <a:bodyPr wrap="square" rtlCol="0">
            <a:spAutoFit/>
          </a:bodyPr>
          <a:lstStyle/>
          <a:p>
            <a:r>
              <a:rPr lang="en-IN" sz="1600" dirty="0"/>
              <a:t>Above steps are repeating for TCKN_L,TTRK_L and TRDCK_L</a:t>
            </a:r>
          </a:p>
        </p:txBody>
      </p:sp>
      <p:sp>
        <p:nvSpPr>
          <p:cNvPr id="23" name="TextBox 22">
            <a:extLst>
              <a:ext uri="{FF2B5EF4-FFF2-40B4-BE49-F238E27FC236}">
                <a16:creationId xmlns:a16="http://schemas.microsoft.com/office/drawing/2014/main" id="{478E5551-C720-334B-D143-765A1CF582BC}"/>
              </a:ext>
            </a:extLst>
          </p:cNvPr>
          <p:cNvSpPr txBox="1"/>
          <p:nvPr/>
        </p:nvSpPr>
        <p:spPr>
          <a:xfrm>
            <a:off x="417345" y="2062416"/>
            <a:ext cx="3491417" cy="1200329"/>
          </a:xfrm>
          <a:prstGeom prst="rect">
            <a:avLst/>
          </a:prstGeom>
          <a:noFill/>
        </p:spPr>
        <p:txBody>
          <a:bodyPr wrap="square" rtlCol="0">
            <a:spAutoFit/>
          </a:bodyPr>
          <a:lstStyle/>
          <a:p>
            <a:r>
              <a:rPr lang="en-IN" dirty="0"/>
              <a:t>If repair is </a:t>
            </a:r>
            <a:r>
              <a:rPr lang="en-IN" dirty="0" err="1"/>
              <a:t>applied,UCIe</a:t>
            </a:r>
            <a:r>
              <a:rPr lang="en-IN" dirty="0"/>
              <a:t> module check the repair success by applying clock repair pattern and checking on the receiver</a:t>
            </a:r>
          </a:p>
        </p:txBody>
      </p:sp>
      <p:cxnSp>
        <p:nvCxnSpPr>
          <p:cNvPr id="47" name="Straight Arrow Connector 46">
            <a:extLst>
              <a:ext uri="{FF2B5EF4-FFF2-40B4-BE49-F238E27FC236}">
                <a16:creationId xmlns:a16="http://schemas.microsoft.com/office/drawing/2014/main" id="{DB51BB5A-EB8D-2505-BC04-A9A68C23BE5F}"/>
              </a:ext>
            </a:extLst>
          </p:cNvPr>
          <p:cNvCxnSpPr>
            <a:cxnSpLocks/>
          </p:cNvCxnSpPr>
          <p:nvPr/>
        </p:nvCxnSpPr>
        <p:spPr>
          <a:xfrm>
            <a:off x="4079605" y="4654822"/>
            <a:ext cx="3294554" cy="167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B6561A48-BEB9-C789-AC8C-A3536D539A1C}"/>
              </a:ext>
            </a:extLst>
          </p:cNvPr>
          <p:cNvSpPr txBox="1"/>
          <p:nvPr/>
        </p:nvSpPr>
        <p:spPr>
          <a:xfrm>
            <a:off x="4223877" y="4403829"/>
            <a:ext cx="3285752" cy="307777"/>
          </a:xfrm>
          <a:prstGeom prst="rect">
            <a:avLst/>
          </a:prstGeom>
          <a:noFill/>
        </p:spPr>
        <p:txBody>
          <a:bodyPr wrap="square" rtlCol="0">
            <a:spAutoFit/>
          </a:bodyPr>
          <a:lstStyle/>
          <a:p>
            <a:r>
              <a:rPr lang="en-IN" sz="1400" dirty="0"/>
              <a:t>MBINIT.REPAIRCLK check results </a:t>
            </a:r>
            <a:r>
              <a:rPr lang="en-IN" sz="1400" dirty="0" err="1"/>
              <a:t>req</a:t>
            </a:r>
            <a:endParaRPr lang="en-IN" sz="1400" dirty="0"/>
          </a:p>
        </p:txBody>
      </p:sp>
      <p:cxnSp>
        <p:nvCxnSpPr>
          <p:cNvPr id="51" name="Straight Arrow Connector 50">
            <a:extLst>
              <a:ext uri="{FF2B5EF4-FFF2-40B4-BE49-F238E27FC236}">
                <a16:creationId xmlns:a16="http://schemas.microsoft.com/office/drawing/2014/main" id="{8334829E-4362-A6D2-1EE1-3785DD976EAA}"/>
              </a:ext>
            </a:extLst>
          </p:cNvPr>
          <p:cNvCxnSpPr>
            <a:cxnSpLocks/>
          </p:cNvCxnSpPr>
          <p:nvPr/>
        </p:nvCxnSpPr>
        <p:spPr>
          <a:xfrm flipH="1">
            <a:off x="4042543" y="4918070"/>
            <a:ext cx="3405367" cy="496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04D4EBBD-4961-6B3D-5BAC-3A03D340EFB8}"/>
              </a:ext>
            </a:extLst>
          </p:cNvPr>
          <p:cNvSpPr txBox="1"/>
          <p:nvPr/>
        </p:nvSpPr>
        <p:spPr>
          <a:xfrm rot="10360767" flipV="1">
            <a:off x="4247323" y="4797051"/>
            <a:ext cx="3606703" cy="307777"/>
          </a:xfrm>
          <a:prstGeom prst="rect">
            <a:avLst/>
          </a:prstGeom>
          <a:noFill/>
        </p:spPr>
        <p:txBody>
          <a:bodyPr wrap="square">
            <a:spAutoFit/>
          </a:bodyPr>
          <a:lstStyle/>
          <a:p>
            <a:r>
              <a:rPr lang="en-IN" sz="1400" dirty="0"/>
              <a:t>MBINIT.REPAIRCLK check results </a:t>
            </a:r>
            <a:r>
              <a:rPr lang="en-IN" sz="1400" dirty="0" err="1"/>
              <a:t>resp</a:t>
            </a:r>
            <a:endParaRPr lang="en-IN" sz="1400" dirty="0"/>
          </a:p>
        </p:txBody>
      </p:sp>
      <p:cxnSp>
        <p:nvCxnSpPr>
          <p:cNvPr id="61" name="Straight Arrow Connector 60">
            <a:extLst>
              <a:ext uri="{FF2B5EF4-FFF2-40B4-BE49-F238E27FC236}">
                <a16:creationId xmlns:a16="http://schemas.microsoft.com/office/drawing/2014/main" id="{192A8F7C-B844-138E-F799-4BD88B502548}"/>
              </a:ext>
            </a:extLst>
          </p:cNvPr>
          <p:cNvCxnSpPr>
            <a:cxnSpLocks/>
          </p:cNvCxnSpPr>
          <p:nvPr/>
        </p:nvCxnSpPr>
        <p:spPr>
          <a:xfrm flipH="1" flipV="1">
            <a:off x="2094207" y="5514430"/>
            <a:ext cx="1977757" cy="366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A28A330-2E2A-60C5-ACBC-EA11D82798A6}"/>
              </a:ext>
            </a:extLst>
          </p:cNvPr>
          <p:cNvSpPr txBox="1"/>
          <p:nvPr/>
        </p:nvSpPr>
        <p:spPr>
          <a:xfrm rot="10800000" flipV="1">
            <a:off x="2605303" y="4958349"/>
            <a:ext cx="1340887" cy="646331"/>
          </a:xfrm>
          <a:prstGeom prst="rect">
            <a:avLst/>
          </a:prstGeom>
          <a:noFill/>
        </p:spPr>
        <p:txBody>
          <a:bodyPr wrap="square" rtlCol="0">
            <a:spAutoFit/>
          </a:bodyPr>
          <a:lstStyle/>
          <a:p>
            <a:r>
              <a:rPr lang="en-IN" dirty="0"/>
              <a:t>Repair not successful</a:t>
            </a:r>
          </a:p>
        </p:txBody>
      </p:sp>
      <p:sp>
        <p:nvSpPr>
          <p:cNvPr id="65" name="TextBox 64">
            <a:extLst>
              <a:ext uri="{FF2B5EF4-FFF2-40B4-BE49-F238E27FC236}">
                <a16:creationId xmlns:a16="http://schemas.microsoft.com/office/drawing/2014/main" id="{0A9E470B-BFF2-B520-FFB7-D460C99E2407}"/>
              </a:ext>
            </a:extLst>
          </p:cNvPr>
          <p:cNvSpPr txBox="1"/>
          <p:nvPr/>
        </p:nvSpPr>
        <p:spPr>
          <a:xfrm>
            <a:off x="669558" y="5109380"/>
            <a:ext cx="1762005" cy="646331"/>
          </a:xfrm>
          <a:prstGeom prst="rect">
            <a:avLst/>
          </a:prstGeom>
          <a:noFill/>
        </p:spPr>
        <p:txBody>
          <a:bodyPr wrap="square" rtlCol="0">
            <a:spAutoFit/>
          </a:bodyPr>
          <a:lstStyle/>
          <a:p>
            <a:r>
              <a:rPr lang="en-IN" dirty="0"/>
              <a:t>Both go to TRAINERROR</a:t>
            </a:r>
          </a:p>
        </p:txBody>
      </p:sp>
      <p:sp>
        <p:nvSpPr>
          <p:cNvPr id="66" name="TextBox 65">
            <a:extLst>
              <a:ext uri="{FF2B5EF4-FFF2-40B4-BE49-F238E27FC236}">
                <a16:creationId xmlns:a16="http://schemas.microsoft.com/office/drawing/2014/main" id="{C78B1082-A3F1-03C7-BAC5-BE949BF30634}"/>
              </a:ext>
            </a:extLst>
          </p:cNvPr>
          <p:cNvSpPr txBox="1"/>
          <p:nvPr/>
        </p:nvSpPr>
        <p:spPr>
          <a:xfrm>
            <a:off x="2240763" y="5731289"/>
            <a:ext cx="1977757" cy="738664"/>
          </a:xfrm>
          <a:prstGeom prst="rect">
            <a:avLst/>
          </a:prstGeom>
          <a:noFill/>
        </p:spPr>
        <p:txBody>
          <a:bodyPr wrap="square" rtlCol="0">
            <a:spAutoFit/>
          </a:bodyPr>
          <a:lstStyle/>
          <a:p>
            <a:r>
              <a:rPr lang="en-IN" sz="1400" dirty="0"/>
              <a:t>Repair is successful detected only on RCKP_L</a:t>
            </a:r>
          </a:p>
        </p:txBody>
      </p:sp>
      <p:cxnSp>
        <p:nvCxnSpPr>
          <p:cNvPr id="68" name="Straight Arrow Connector 67">
            <a:extLst>
              <a:ext uri="{FF2B5EF4-FFF2-40B4-BE49-F238E27FC236}">
                <a16:creationId xmlns:a16="http://schemas.microsoft.com/office/drawing/2014/main" id="{EDB20985-BA4D-C63F-9E63-A7B49C7A4C68}"/>
              </a:ext>
            </a:extLst>
          </p:cNvPr>
          <p:cNvCxnSpPr>
            <a:cxnSpLocks/>
          </p:cNvCxnSpPr>
          <p:nvPr/>
        </p:nvCxnSpPr>
        <p:spPr>
          <a:xfrm>
            <a:off x="4024421" y="5679499"/>
            <a:ext cx="3496294" cy="116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043BB3BF-3478-5663-0950-2AE231AC6868}"/>
              </a:ext>
            </a:extLst>
          </p:cNvPr>
          <p:cNvCxnSpPr>
            <a:cxnSpLocks/>
          </p:cNvCxnSpPr>
          <p:nvPr/>
        </p:nvCxnSpPr>
        <p:spPr>
          <a:xfrm flipH="1">
            <a:off x="4042543" y="6002275"/>
            <a:ext cx="3437498" cy="104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B9D84410-18DD-7A53-3D9F-3593DBF7D484}"/>
              </a:ext>
            </a:extLst>
          </p:cNvPr>
          <p:cNvSpPr txBox="1"/>
          <p:nvPr/>
        </p:nvSpPr>
        <p:spPr>
          <a:xfrm>
            <a:off x="4192101" y="5787249"/>
            <a:ext cx="2867750" cy="307777"/>
          </a:xfrm>
          <a:prstGeom prst="rect">
            <a:avLst/>
          </a:prstGeom>
          <a:noFill/>
        </p:spPr>
        <p:txBody>
          <a:bodyPr wrap="square" rtlCol="0">
            <a:spAutoFit/>
          </a:bodyPr>
          <a:lstStyle/>
          <a:p>
            <a:r>
              <a:rPr lang="en-IN" sz="1400" dirty="0"/>
              <a:t>MBINIT.REPAIRCLK done </a:t>
            </a:r>
            <a:r>
              <a:rPr lang="en-IN" sz="1400" dirty="0" err="1"/>
              <a:t>resp</a:t>
            </a:r>
            <a:endParaRPr lang="en-IN" sz="1400" dirty="0"/>
          </a:p>
        </p:txBody>
      </p:sp>
      <p:sp>
        <p:nvSpPr>
          <p:cNvPr id="74" name="TextBox 73">
            <a:extLst>
              <a:ext uri="{FF2B5EF4-FFF2-40B4-BE49-F238E27FC236}">
                <a16:creationId xmlns:a16="http://schemas.microsoft.com/office/drawing/2014/main" id="{771CCD59-48FF-D2EA-FBD4-ED3D95FCCD82}"/>
              </a:ext>
            </a:extLst>
          </p:cNvPr>
          <p:cNvSpPr txBox="1"/>
          <p:nvPr/>
        </p:nvSpPr>
        <p:spPr>
          <a:xfrm>
            <a:off x="4580726" y="5504900"/>
            <a:ext cx="3893361" cy="307777"/>
          </a:xfrm>
          <a:prstGeom prst="rect">
            <a:avLst/>
          </a:prstGeom>
          <a:noFill/>
        </p:spPr>
        <p:txBody>
          <a:bodyPr wrap="square" rtlCol="0">
            <a:spAutoFit/>
          </a:bodyPr>
          <a:lstStyle/>
          <a:p>
            <a:r>
              <a:rPr lang="en-IN" sz="1400" dirty="0"/>
              <a:t>MBINIT.REPAIRCLK done </a:t>
            </a:r>
            <a:r>
              <a:rPr lang="en-IN" sz="1400" dirty="0" err="1"/>
              <a:t>req</a:t>
            </a:r>
            <a:endParaRPr lang="en-IN" sz="1400" dirty="0"/>
          </a:p>
        </p:txBody>
      </p:sp>
      <p:sp>
        <p:nvSpPr>
          <p:cNvPr id="75" name="TextBox 74">
            <a:extLst>
              <a:ext uri="{FF2B5EF4-FFF2-40B4-BE49-F238E27FC236}">
                <a16:creationId xmlns:a16="http://schemas.microsoft.com/office/drawing/2014/main" id="{02E9F606-1DEA-669A-1FCE-8D8E08011302}"/>
              </a:ext>
            </a:extLst>
          </p:cNvPr>
          <p:cNvSpPr txBox="1"/>
          <p:nvPr/>
        </p:nvSpPr>
        <p:spPr>
          <a:xfrm>
            <a:off x="3946191" y="2586101"/>
            <a:ext cx="4330982" cy="369332"/>
          </a:xfrm>
          <a:prstGeom prst="rect">
            <a:avLst/>
          </a:prstGeom>
          <a:noFill/>
        </p:spPr>
        <p:txBody>
          <a:bodyPr wrap="square" rtlCol="0">
            <a:spAutoFit/>
          </a:bodyPr>
          <a:lstStyle/>
          <a:p>
            <a:r>
              <a:rPr lang="en-IN" dirty="0"/>
              <a:t>-------------------------------------------</a:t>
            </a:r>
          </a:p>
        </p:txBody>
      </p:sp>
      <p:sp>
        <p:nvSpPr>
          <p:cNvPr id="80" name="TextBox 79">
            <a:extLst>
              <a:ext uri="{FF2B5EF4-FFF2-40B4-BE49-F238E27FC236}">
                <a16:creationId xmlns:a16="http://schemas.microsoft.com/office/drawing/2014/main" id="{43F3A1AE-D0E5-0E73-5083-42F239C7B83F}"/>
              </a:ext>
            </a:extLst>
          </p:cNvPr>
          <p:cNvSpPr txBox="1"/>
          <p:nvPr/>
        </p:nvSpPr>
        <p:spPr>
          <a:xfrm>
            <a:off x="3995004" y="3926722"/>
            <a:ext cx="4264035" cy="369332"/>
          </a:xfrm>
          <a:prstGeom prst="rect">
            <a:avLst/>
          </a:prstGeom>
          <a:noFill/>
        </p:spPr>
        <p:txBody>
          <a:bodyPr wrap="square" rtlCol="0">
            <a:spAutoFit/>
          </a:bodyPr>
          <a:lstStyle/>
          <a:p>
            <a:r>
              <a:rPr lang="en-IN" dirty="0"/>
              <a:t>--------------------------------------------</a:t>
            </a:r>
          </a:p>
        </p:txBody>
      </p:sp>
      <p:sp>
        <p:nvSpPr>
          <p:cNvPr id="83" name="TextBox 82">
            <a:extLst>
              <a:ext uri="{FF2B5EF4-FFF2-40B4-BE49-F238E27FC236}">
                <a16:creationId xmlns:a16="http://schemas.microsoft.com/office/drawing/2014/main" id="{98E10EB0-3E2C-8276-B237-B036B68985D7}"/>
              </a:ext>
            </a:extLst>
          </p:cNvPr>
          <p:cNvSpPr txBox="1"/>
          <p:nvPr/>
        </p:nvSpPr>
        <p:spPr>
          <a:xfrm>
            <a:off x="3946190" y="5311513"/>
            <a:ext cx="4631121" cy="369332"/>
          </a:xfrm>
          <a:prstGeom prst="rect">
            <a:avLst/>
          </a:prstGeom>
          <a:noFill/>
        </p:spPr>
        <p:txBody>
          <a:bodyPr wrap="square" rtlCol="0">
            <a:spAutoFit/>
          </a:bodyPr>
          <a:lstStyle/>
          <a:p>
            <a:r>
              <a:rPr lang="en-IN" dirty="0"/>
              <a:t>--------------------------------------------</a:t>
            </a:r>
          </a:p>
        </p:txBody>
      </p:sp>
      <p:cxnSp>
        <p:nvCxnSpPr>
          <p:cNvPr id="88" name="Straight Arrow Connector 87">
            <a:extLst>
              <a:ext uri="{FF2B5EF4-FFF2-40B4-BE49-F238E27FC236}">
                <a16:creationId xmlns:a16="http://schemas.microsoft.com/office/drawing/2014/main" id="{9A8A0CB0-C52C-A2F9-ECE4-FFBA59337C63}"/>
              </a:ext>
            </a:extLst>
          </p:cNvPr>
          <p:cNvCxnSpPr>
            <a:cxnSpLocks/>
          </p:cNvCxnSpPr>
          <p:nvPr/>
        </p:nvCxnSpPr>
        <p:spPr>
          <a:xfrm>
            <a:off x="5741043" y="6095026"/>
            <a:ext cx="0" cy="556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7310485B-F27A-04FA-A63E-9316B00F1F79}"/>
              </a:ext>
            </a:extLst>
          </p:cNvPr>
          <p:cNvSpPr txBox="1"/>
          <p:nvPr/>
        </p:nvSpPr>
        <p:spPr>
          <a:xfrm>
            <a:off x="5086175" y="6561114"/>
            <a:ext cx="2006969" cy="369332"/>
          </a:xfrm>
          <a:prstGeom prst="rect">
            <a:avLst/>
          </a:prstGeom>
          <a:noFill/>
        </p:spPr>
        <p:txBody>
          <a:bodyPr wrap="square" rtlCol="0">
            <a:spAutoFit/>
          </a:bodyPr>
          <a:lstStyle/>
          <a:p>
            <a:r>
              <a:rPr lang="en-IN" dirty="0"/>
              <a:t>REPAIRVAL</a:t>
            </a:r>
          </a:p>
        </p:txBody>
      </p:sp>
      <p:sp>
        <p:nvSpPr>
          <p:cNvPr id="2" name="TextBox 1">
            <a:extLst>
              <a:ext uri="{FF2B5EF4-FFF2-40B4-BE49-F238E27FC236}">
                <a16:creationId xmlns:a16="http://schemas.microsoft.com/office/drawing/2014/main" id="{AC5ED98E-DE6D-BBF6-11B8-F6F3DD6F75EE}"/>
              </a:ext>
            </a:extLst>
          </p:cNvPr>
          <p:cNvSpPr txBox="1"/>
          <p:nvPr/>
        </p:nvSpPr>
        <p:spPr>
          <a:xfrm>
            <a:off x="7693838" y="3283699"/>
            <a:ext cx="4127617" cy="584775"/>
          </a:xfrm>
          <a:prstGeom prst="rect">
            <a:avLst/>
          </a:prstGeom>
          <a:noFill/>
        </p:spPr>
        <p:txBody>
          <a:bodyPr wrap="square" rtlCol="0">
            <a:spAutoFit/>
          </a:bodyPr>
          <a:lstStyle/>
          <a:p>
            <a:r>
              <a:rPr lang="en-US" sz="1600" dirty="0"/>
              <a:t>ready to receive and check clock repair pattern.</a:t>
            </a:r>
            <a:endParaRPr lang="en-IN" sz="1600" dirty="0"/>
          </a:p>
        </p:txBody>
      </p:sp>
    </p:spTree>
    <p:extLst>
      <p:ext uri="{BB962C8B-B14F-4D97-AF65-F5344CB8AC3E}">
        <p14:creationId xmlns:p14="http://schemas.microsoft.com/office/powerpoint/2010/main" val="2511381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3A3-2D76-9FE3-82BE-5A795B11F035}"/>
              </a:ext>
            </a:extLst>
          </p:cNvPr>
          <p:cNvSpPr>
            <a:spLocks noGrp="1"/>
          </p:cNvSpPr>
          <p:nvPr>
            <p:ph type="title"/>
          </p:nvPr>
        </p:nvSpPr>
        <p:spPr/>
        <p:txBody>
          <a:bodyPr>
            <a:normAutofit fontScale="90000"/>
          </a:bodyPr>
          <a:lstStyle/>
          <a:p>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pic>
        <p:nvPicPr>
          <p:cNvPr id="4" name="Picture 6" descr="Business Thank-You Letter Examples">
            <a:extLst>
              <a:ext uri="{FF2B5EF4-FFF2-40B4-BE49-F238E27FC236}">
                <a16:creationId xmlns:a16="http://schemas.microsoft.com/office/drawing/2014/main" id="{7ECFFA39-EA56-82BF-8033-38007A388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138" y="261386"/>
            <a:ext cx="8873366" cy="5915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598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4E469-3F0D-4710-027F-B2B884D246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6BC60D-66E4-99C7-1869-9624105C843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31578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DB38-14E5-DBD0-588D-6CA269D9BE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E3B7F4-DA92-708E-CEF3-2C05FA2FE80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38014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EA6D-72EC-5EAF-0676-18D7D3994E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C6191D-3727-7D43-3D00-66D2B3BEC10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15522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F87E3-5C1A-273B-0382-DEA68ABEAB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0582CA-44ED-A212-FB61-54F6FFE1DA1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0750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1019-2A5A-3621-A4A6-743F955BCF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4785CC8-CEA6-A666-ED44-70BAE674DF0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99502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3BF33-A381-1195-59D6-9DE1426542A6}"/>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F6EC350B-48EF-85AB-CB08-9F9704ACDF2E}"/>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B0BA7B19-2F7D-6F69-D717-959E19ABAF99}"/>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a:p>
          <a:p>
            <a:endParaRPr lang="en-US"/>
          </a:p>
        </p:txBody>
      </p:sp>
      <p:sp>
        <p:nvSpPr>
          <p:cNvPr id="5" name="Title 1">
            <a:extLst>
              <a:ext uri="{FF2B5EF4-FFF2-40B4-BE49-F238E27FC236}">
                <a16:creationId xmlns:a16="http://schemas.microsoft.com/office/drawing/2014/main" id="{2F057777-D6DD-00ED-9ACC-689893D09BF2}"/>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a:latin typeface="Aptos"/>
              </a:rPr>
              <a:t>MBTRAIN.RXDESKEW Sequence</a:t>
            </a:r>
            <a:endParaRPr lang="en-US"/>
          </a:p>
        </p:txBody>
      </p:sp>
      <p:cxnSp>
        <p:nvCxnSpPr>
          <p:cNvPr id="8" name="Straight Arrow Connector 7">
            <a:extLst>
              <a:ext uri="{FF2B5EF4-FFF2-40B4-BE49-F238E27FC236}">
                <a16:creationId xmlns:a16="http://schemas.microsoft.com/office/drawing/2014/main" id="{4467E239-8D6A-A435-10C2-D6A99F55B8DE}"/>
              </a:ext>
            </a:extLst>
          </p:cNvPr>
          <p:cNvCxnSpPr/>
          <p:nvPr/>
        </p:nvCxnSpPr>
        <p:spPr>
          <a:xfrm>
            <a:off x="4341961" y="915162"/>
            <a:ext cx="15551" cy="584718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2CA8131-8C56-E5C5-C90C-0974A7E52CB2}"/>
              </a:ext>
            </a:extLst>
          </p:cNvPr>
          <p:cNvCxnSpPr/>
          <p:nvPr/>
        </p:nvCxnSpPr>
        <p:spPr>
          <a:xfrm>
            <a:off x="7395830" y="917510"/>
            <a:ext cx="15551" cy="5909387"/>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DE061D0-77A2-9E82-2B84-6FEB57849893}"/>
              </a:ext>
            </a:extLst>
          </p:cNvPr>
          <p:cNvSpPr txBox="1"/>
          <p:nvPr/>
        </p:nvSpPr>
        <p:spPr>
          <a:xfrm>
            <a:off x="295468" y="876726"/>
            <a:ext cx="36409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DIE 0 : UCIe Module</a:t>
            </a:r>
          </a:p>
        </p:txBody>
      </p:sp>
      <p:sp>
        <p:nvSpPr>
          <p:cNvPr id="12" name="TextBox 11">
            <a:extLst>
              <a:ext uri="{FF2B5EF4-FFF2-40B4-BE49-F238E27FC236}">
                <a16:creationId xmlns:a16="http://schemas.microsoft.com/office/drawing/2014/main" id="{A884ED8C-5585-9D87-10B0-14E5A9ECA1F9}"/>
              </a:ext>
            </a:extLst>
          </p:cNvPr>
          <p:cNvSpPr txBox="1"/>
          <p:nvPr/>
        </p:nvSpPr>
        <p:spPr>
          <a:xfrm>
            <a:off x="7408154" y="916336"/>
            <a:ext cx="47704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DIE 1 : UCIe Module Partner</a:t>
            </a:r>
            <a:endParaRPr lang="en-US"/>
          </a:p>
        </p:txBody>
      </p:sp>
      <p:sp>
        <p:nvSpPr>
          <p:cNvPr id="13" name="TextBox 12">
            <a:extLst>
              <a:ext uri="{FF2B5EF4-FFF2-40B4-BE49-F238E27FC236}">
                <a16:creationId xmlns:a16="http://schemas.microsoft.com/office/drawing/2014/main" id="{45862DE7-107F-8531-0CE3-FD386C28C503}"/>
              </a:ext>
            </a:extLst>
          </p:cNvPr>
          <p:cNvSpPr txBox="1"/>
          <p:nvPr/>
        </p:nvSpPr>
        <p:spPr>
          <a:xfrm>
            <a:off x="2110828" y="1563612"/>
            <a:ext cx="2134599"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Initiates start signal</a:t>
            </a:r>
            <a:endParaRPr lang="en-US"/>
          </a:p>
        </p:txBody>
      </p:sp>
      <p:sp>
        <p:nvSpPr>
          <p:cNvPr id="14" name="TextBox 13">
            <a:extLst>
              <a:ext uri="{FF2B5EF4-FFF2-40B4-BE49-F238E27FC236}">
                <a16:creationId xmlns:a16="http://schemas.microsoft.com/office/drawing/2014/main" id="{94FD499C-E117-BBA5-FD62-DD92D97E97D5}"/>
              </a:ext>
            </a:extLst>
          </p:cNvPr>
          <p:cNvSpPr txBox="1"/>
          <p:nvPr/>
        </p:nvSpPr>
        <p:spPr>
          <a:xfrm>
            <a:off x="7523173" y="1944170"/>
            <a:ext cx="3390708"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Module partner responds</a:t>
            </a:r>
          </a:p>
        </p:txBody>
      </p:sp>
      <p:cxnSp>
        <p:nvCxnSpPr>
          <p:cNvPr id="15" name="Straight Arrow Connector 14">
            <a:extLst>
              <a:ext uri="{FF2B5EF4-FFF2-40B4-BE49-F238E27FC236}">
                <a16:creationId xmlns:a16="http://schemas.microsoft.com/office/drawing/2014/main" id="{FED53016-EE66-E174-DDBB-958FE2BEF91A}"/>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CFA56FB-AD07-74EB-D37A-C7A4030F8F0B}"/>
              </a:ext>
            </a:extLst>
          </p:cNvPr>
          <p:cNvSpPr txBox="1"/>
          <p:nvPr/>
        </p:nvSpPr>
        <p:spPr>
          <a:xfrm rot="300000">
            <a:off x="4360761" y="1699947"/>
            <a:ext cx="314576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{MBTRAIN.DATATRAINCENTER2 start req}</a:t>
            </a:r>
            <a:endParaRPr lang="en-US">
              <a:ea typeface="+mn-lt"/>
              <a:cs typeface="+mn-lt"/>
            </a:endParaRPr>
          </a:p>
        </p:txBody>
      </p:sp>
      <p:sp>
        <p:nvSpPr>
          <p:cNvPr id="20" name="TextBox 19">
            <a:extLst>
              <a:ext uri="{FF2B5EF4-FFF2-40B4-BE49-F238E27FC236}">
                <a16:creationId xmlns:a16="http://schemas.microsoft.com/office/drawing/2014/main" id="{6F38147B-2355-8C6A-8F6D-0C6A9CAF4670}"/>
              </a:ext>
            </a:extLst>
          </p:cNvPr>
          <p:cNvSpPr txBox="1"/>
          <p:nvPr/>
        </p:nvSpPr>
        <p:spPr>
          <a:xfrm rot="21240000">
            <a:off x="3653442" y="2100110"/>
            <a:ext cx="335957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{MBTRAIN.DATATRAINCENTER2 start resp}</a:t>
            </a:r>
            <a:endParaRPr lang="en-US">
              <a:ea typeface="+mn-lt"/>
              <a:cs typeface="+mn-lt"/>
            </a:endParaRPr>
          </a:p>
        </p:txBody>
      </p:sp>
      <p:sp>
        <p:nvSpPr>
          <p:cNvPr id="21" name="TextBox 20">
            <a:extLst>
              <a:ext uri="{FF2B5EF4-FFF2-40B4-BE49-F238E27FC236}">
                <a16:creationId xmlns:a16="http://schemas.microsoft.com/office/drawing/2014/main" id="{92BB0374-BF97-3024-980B-52AC3337B54C}"/>
              </a:ext>
            </a:extLst>
          </p:cNvPr>
          <p:cNvSpPr txBox="1"/>
          <p:nvPr/>
        </p:nvSpPr>
        <p:spPr>
          <a:xfrm>
            <a:off x="4320101" y="2374037"/>
            <a:ext cx="3035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
        <p:nvSpPr>
          <p:cNvPr id="22" name="TextBox 21">
            <a:extLst>
              <a:ext uri="{FF2B5EF4-FFF2-40B4-BE49-F238E27FC236}">
                <a16:creationId xmlns:a16="http://schemas.microsoft.com/office/drawing/2014/main" id="{EFE0428F-BD98-E8AC-080C-448DA756A71F}"/>
              </a:ext>
            </a:extLst>
          </p:cNvPr>
          <p:cNvSpPr txBox="1"/>
          <p:nvPr/>
        </p:nvSpPr>
        <p:spPr>
          <a:xfrm>
            <a:off x="577854" y="3522255"/>
            <a:ext cx="10513786"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lphaLcParenR"/>
            </a:pPr>
            <a:r>
              <a:rPr lang="en-US" sz="1700">
                <a:solidFill>
                  <a:srgbClr val="00B050"/>
                </a:solidFill>
                <a:ea typeface="+mn-lt"/>
                <a:cs typeface="+mn-lt"/>
              </a:rPr>
              <a:t>The Transmitter must be set up to send 4K UI of continuous mode LFSR pattern. The LFSR pattern on data must be accompanied by correct valid framing on the Valid Lane. The Receiver must be set up to perform per Lane comparison.</a:t>
            </a:r>
            <a:endParaRPr lang="en-US">
              <a:ea typeface="+mn-lt"/>
              <a:cs typeface="+mn-lt"/>
            </a:endParaRPr>
          </a:p>
          <a:p>
            <a:pPr marL="342900" indent="-342900">
              <a:buAutoNum type="alphaLcParenR"/>
            </a:pPr>
            <a:r>
              <a:rPr lang="en-US" sz="1700">
                <a:solidFill>
                  <a:srgbClr val="00B050"/>
                </a:solidFill>
                <a:ea typeface="+mn-lt"/>
                <a:cs typeface="+mn-lt"/>
              </a:rPr>
              <a:t>Detection on a Receiver Lane is considered successful if total error count is &lt; the set error threshold .</a:t>
            </a:r>
            <a:endParaRPr lang="en-US" sz="1700">
              <a:solidFill>
                <a:srgbClr val="00B050"/>
              </a:solidFill>
            </a:endParaRPr>
          </a:p>
        </p:txBody>
      </p:sp>
      <p:sp>
        <p:nvSpPr>
          <p:cNvPr id="25" name="TextBox 24">
            <a:extLst>
              <a:ext uri="{FF2B5EF4-FFF2-40B4-BE49-F238E27FC236}">
                <a16:creationId xmlns:a16="http://schemas.microsoft.com/office/drawing/2014/main" id="{B1B34F72-E814-9337-FE6E-DC2BD86571F9}"/>
              </a:ext>
            </a:extLst>
          </p:cNvPr>
          <p:cNvSpPr txBox="1"/>
          <p:nvPr/>
        </p:nvSpPr>
        <p:spPr>
          <a:xfrm>
            <a:off x="570171" y="2807524"/>
            <a:ext cx="1051673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accent6">
                    <a:lumMod val="49000"/>
                  </a:schemeClr>
                </a:solidFill>
                <a:ea typeface="+mn-lt"/>
                <a:cs typeface="+mn-lt"/>
              </a:rPr>
              <a:t>The UCIe Module must perform a Transmitter initiated full eye width sweep or one or more Transmitter initiated point tests  to determine the correct data to eye centering.</a:t>
            </a:r>
            <a:endParaRPr lang="en-US">
              <a:solidFill>
                <a:schemeClr val="accent6">
                  <a:lumMod val="49000"/>
                </a:schemeClr>
              </a:solidFill>
              <a:ea typeface="+mn-lt"/>
              <a:cs typeface="+mn-lt"/>
            </a:endParaRPr>
          </a:p>
        </p:txBody>
      </p:sp>
      <p:sp>
        <p:nvSpPr>
          <p:cNvPr id="30" name="TextBox 29">
            <a:extLst>
              <a:ext uri="{FF2B5EF4-FFF2-40B4-BE49-F238E27FC236}">
                <a16:creationId xmlns:a16="http://schemas.microsoft.com/office/drawing/2014/main" id="{C39CAB56-9349-9D54-A50A-DDE76045E901}"/>
              </a:ext>
            </a:extLst>
          </p:cNvPr>
          <p:cNvSpPr txBox="1"/>
          <p:nvPr/>
        </p:nvSpPr>
        <p:spPr>
          <a:xfrm>
            <a:off x="580132" y="2392394"/>
            <a:ext cx="36428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
        <p:nvSpPr>
          <p:cNvPr id="35" name="TextBox 34">
            <a:extLst>
              <a:ext uri="{FF2B5EF4-FFF2-40B4-BE49-F238E27FC236}">
                <a16:creationId xmlns:a16="http://schemas.microsoft.com/office/drawing/2014/main" id="{E9E86DF6-0CE7-C5D3-2C1F-BE181E991068}"/>
              </a:ext>
            </a:extLst>
          </p:cNvPr>
          <p:cNvSpPr txBox="1"/>
          <p:nvPr/>
        </p:nvSpPr>
        <p:spPr>
          <a:xfrm>
            <a:off x="7484337" y="5704125"/>
            <a:ext cx="41616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2">
                    <a:lumMod val="90000"/>
                    <a:lumOff val="10000"/>
                  </a:schemeClr>
                </a:solidFill>
              </a:rPr>
              <a:t>Module partner responds.</a:t>
            </a:r>
          </a:p>
        </p:txBody>
      </p:sp>
      <p:sp>
        <p:nvSpPr>
          <p:cNvPr id="36" name="TextBox 35">
            <a:extLst>
              <a:ext uri="{FF2B5EF4-FFF2-40B4-BE49-F238E27FC236}">
                <a16:creationId xmlns:a16="http://schemas.microsoft.com/office/drawing/2014/main" id="{5D059EB1-3575-AD27-6763-A1AF654D0BE3}"/>
              </a:ext>
            </a:extLst>
          </p:cNvPr>
          <p:cNvSpPr txBox="1"/>
          <p:nvPr/>
        </p:nvSpPr>
        <p:spPr>
          <a:xfrm>
            <a:off x="523300" y="5032941"/>
            <a:ext cx="3749719" cy="14003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90000"/>
                    <a:lumOff val="10000"/>
                  </a:schemeClr>
                </a:solidFill>
                <a:ea typeface="+mn-lt"/>
                <a:cs typeface="+mn-lt"/>
              </a:rPr>
              <a:t>The UCIe Module uses the received training results to calculate the final eye center and set the clock phase to sample the data eye at the optimal point to maximize eye margins.</a:t>
            </a:r>
            <a:endParaRPr lang="en-US">
              <a:solidFill>
                <a:schemeClr val="tx2">
                  <a:lumMod val="90000"/>
                  <a:lumOff val="10000"/>
                </a:schemeClr>
              </a:solidFill>
              <a:ea typeface="+mn-lt"/>
              <a:cs typeface="+mn-lt"/>
            </a:endParaRPr>
          </a:p>
        </p:txBody>
      </p:sp>
      <p:cxnSp>
        <p:nvCxnSpPr>
          <p:cNvPr id="38" name="Straight Arrow Connector 37">
            <a:extLst>
              <a:ext uri="{FF2B5EF4-FFF2-40B4-BE49-F238E27FC236}">
                <a16:creationId xmlns:a16="http://schemas.microsoft.com/office/drawing/2014/main" id="{12CDC220-F184-5C49-DDC0-DD06C84185F0}"/>
              </a:ext>
            </a:extLst>
          </p:cNvPr>
          <p:cNvCxnSpPr/>
          <p:nvPr/>
        </p:nvCxnSpPr>
        <p:spPr>
          <a:xfrm>
            <a:off x="4508946" y="5746092"/>
            <a:ext cx="2677481" cy="1285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7AB03503-20B2-897A-36F1-B6A1AF3CFA55}"/>
              </a:ext>
            </a:extLst>
          </p:cNvPr>
          <p:cNvSpPr txBox="1"/>
          <p:nvPr/>
        </p:nvSpPr>
        <p:spPr>
          <a:xfrm rot="180000">
            <a:off x="4278808" y="5558591"/>
            <a:ext cx="337850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{MBTRAIN.DATATRAINCENTER2 end req}</a:t>
            </a:r>
            <a:endParaRPr lang="en-US">
              <a:ea typeface="+mn-lt"/>
              <a:cs typeface="+mn-lt"/>
            </a:endParaRPr>
          </a:p>
        </p:txBody>
      </p:sp>
      <p:cxnSp>
        <p:nvCxnSpPr>
          <p:cNvPr id="42" name="Straight Arrow Connector 41">
            <a:extLst>
              <a:ext uri="{FF2B5EF4-FFF2-40B4-BE49-F238E27FC236}">
                <a16:creationId xmlns:a16="http://schemas.microsoft.com/office/drawing/2014/main" id="{FD1E27C8-1F42-AA15-B1E7-93669285B814}"/>
              </a:ext>
            </a:extLst>
          </p:cNvPr>
          <p:cNvCxnSpPr/>
          <p:nvPr/>
        </p:nvCxnSpPr>
        <p:spPr>
          <a:xfrm flipH="1">
            <a:off x="4416795" y="5984100"/>
            <a:ext cx="2809472" cy="328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59B5AD1B-66E3-4334-BA97-57E5597F0410}"/>
              </a:ext>
            </a:extLst>
          </p:cNvPr>
          <p:cNvSpPr txBox="1"/>
          <p:nvPr/>
        </p:nvSpPr>
        <p:spPr>
          <a:xfrm>
            <a:off x="7488699" y="6007830"/>
            <a:ext cx="3678697"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On handshake, Module must exit </a:t>
            </a:r>
            <a:r>
              <a:rPr lang="en-US" sz="1700">
                <a:ea typeface="+mn-lt"/>
                <a:cs typeface="+mn-lt"/>
              </a:rPr>
              <a:t>to  MBTRAIN.LINKSPEED.</a:t>
            </a:r>
          </a:p>
        </p:txBody>
      </p:sp>
      <p:sp>
        <p:nvSpPr>
          <p:cNvPr id="45" name="TextBox 44">
            <a:extLst>
              <a:ext uri="{FF2B5EF4-FFF2-40B4-BE49-F238E27FC236}">
                <a16:creationId xmlns:a16="http://schemas.microsoft.com/office/drawing/2014/main" id="{F521CF08-7E09-380D-E283-EF59FD2C955F}"/>
              </a:ext>
            </a:extLst>
          </p:cNvPr>
          <p:cNvSpPr txBox="1"/>
          <p:nvPr/>
        </p:nvSpPr>
        <p:spPr>
          <a:xfrm rot="21180000">
            <a:off x="4286264" y="6163821"/>
            <a:ext cx="3246683"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{MBTRAIN.DATATRAINCENTER2 end resp}</a:t>
            </a:r>
            <a:endParaRPr lang="en-US">
              <a:ea typeface="+mn-lt"/>
              <a:cs typeface="+mn-lt"/>
            </a:endParaRPr>
          </a:p>
        </p:txBody>
      </p:sp>
      <p:sp>
        <p:nvSpPr>
          <p:cNvPr id="2" name="TextBox 1">
            <a:extLst>
              <a:ext uri="{FF2B5EF4-FFF2-40B4-BE49-F238E27FC236}">
                <a16:creationId xmlns:a16="http://schemas.microsoft.com/office/drawing/2014/main" id="{A298FD21-5CFB-7368-28C6-482699A65C4E}"/>
              </a:ext>
            </a:extLst>
          </p:cNvPr>
          <p:cNvSpPr txBox="1"/>
          <p:nvPr/>
        </p:nvSpPr>
        <p:spPr>
          <a:xfrm>
            <a:off x="581987" y="4473131"/>
            <a:ext cx="36963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
        <p:nvSpPr>
          <p:cNvPr id="4" name="TextBox 3">
            <a:extLst>
              <a:ext uri="{FF2B5EF4-FFF2-40B4-BE49-F238E27FC236}">
                <a16:creationId xmlns:a16="http://schemas.microsoft.com/office/drawing/2014/main" id="{16B9A101-7FFD-6F3A-B5D3-4552BF7F8136}"/>
              </a:ext>
            </a:extLst>
          </p:cNvPr>
          <p:cNvSpPr txBox="1"/>
          <p:nvPr/>
        </p:nvSpPr>
        <p:spPr>
          <a:xfrm>
            <a:off x="7382477" y="4473131"/>
            <a:ext cx="36963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
        <p:nvSpPr>
          <p:cNvPr id="6" name="TextBox 5">
            <a:extLst>
              <a:ext uri="{FF2B5EF4-FFF2-40B4-BE49-F238E27FC236}">
                <a16:creationId xmlns:a16="http://schemas.microsoft.com/office/drawing/2014/main" id="{793CDE88-912D-9618-2959-D8BF0A8D156F}"/>
              </a:ext>
            </a:extLst>
          </p:cNvPr>
          <p:cNvSpPr txBox="1"/>
          <p:nvPr/>
        </p:nvSpPr>
        <p:spPr>
          <a:xfrm>
            <a:off x="7411232" y="2374037"/>
            <a:ext cx="36963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
        <p:nvSpPr>
          <p:cNvPr id="7" name="TextBox 6">
            <a:extLst>
              <a:ext uri="{FF2B5EF4-FFF2-40B4-BE49-F238E27FC236}">
                <a16:creationId xmlns:a16="http://schemas.microsoft.com/office/drawing/2014/main" id="{F025A2CA-DF62-3EF4-BA8A-2CCD74DB1AD8}"/>
              </a:ext>
            </a:extLst>
          </p:cNvPr>
          <p:cNvSpPr txBox="1"/>
          <p:nvPr/>
        </p:nvSpPr>
        <p:spPr>
          <a:xfrm>
            <a:off x="670560" y="1493520"/>
            <a:ext cx="13004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Step:1</a:t>
            </a:r>
          </a:p>
        </p:txBody>
      </p:sp>
      <p:sp>
        <p:nvSpPr>
          <p:cNvPr id="11" name="TextBox 10">
            <a:extLst>
              <a:ext uri="{FF2B5EF4-FFF2-40B4-BE49-F238E27FC236}">
                <a16:creationId xmlns:a16="http://schemas.microsoft.com/office/drawing/2014/main" id="{8016870F-EB01-2182-412C-6FB9C42D3A34}"/>
              </a:ext>
            </a:extLst>
          </p:cNvPr>
          <p:cNvSpPr txBox="1"/>
          <p:nvPr/>
        </p:nvSpPr>
        <p:spPr>
          <a:xfrm>
            <a:off x="598673" y="2586199"/>
            <a:ext cx="26231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Step:2  </a:t>
            </a:r>
            <a:r>
              <a:rPr lang="en-US">
                <a:solidFill>
                  <a:schemeClr val="accent2"/>
                </a:solidFill>
              </a:rPr>
              <a:t> </a:t>
            </a:r>
          </a:p>
        </p:txBody>
      </p:sp>
      <p:sp>
        <p:nvSpPr>
          <p:cNvPr id="16" name="TextBox 15">
            <a:extLst>
              <a:ext uri="{FF2B5EF4-FFF2-40B4-BE49-F238E27FC236}">
                <a16:creationId xmlns:a16="http://schemas.microsoft.com/office/drawing/2014/main" id="{3E2AE14B-D997-6B0C-2988-DC8C7C3C7076}"/>
              </a:ext>
            </a:extLst>
          </p:cNvPr>
          <p:cNvSpPr txBox="1"/>
          <p:nvPr/>
        </p:nvSpPr>
        <p:spPr>
          <a:xfrm>
            <a:off x="569918" y="4656539"/>
            <a:ext cx="13004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Step:3</a:t>
            </a:r>
          </a:p>
        </p:txBody>
      </p:sp>
      <p:sp>
        <p:nvSpPr>
          <p:cNvPr id="18" name="TextBox 17">
            <a:extLst>
              <a:ext uri="{FF2B5EF4-FFF2-40B4-BE49-F238E27FC236}">
                <a16:creationId xmlns:a16="http://schemas.microsoft.com/office/drawing/2014/main" id="{26102F48-4C8F-9A02-EA87-8850367E2E34}"/>
              </a:ext>
            </a:extLst>
          </p:cNvPr>
          <p:cNvSpPr txBox="1"/>
          <p:nvPr/>
        </p:nvSpPr>
        <p:spPr>
          <a:xfrm>
            <a:off x="4363233" y="4473131"/>
            <a:ext cx="3035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C000"/>
                </a:solidFill>
              </a:rPr>
              <a:t>------------------------------------</a:t>
            </a:r>
          </a:p>
        </p:txBody>
      </p:sp>
    </p:spTree>
    <p:extLst>
      <p:ext uri="{BB962C8B-B14F-4D97-AF65-F5344CB8AC3E}">
        <p14:creationId xmlns:p14="http://schemas.microsoft.com/office/powerpoint/2010/main" val="3040893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6E3C-99B6-70FF-2D5E-90AA3A415E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A36AC-69A4-24BF-ACB5-7C5E6A8D63E9}"/>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a:t>Introduction</a:t>
            </a:r>
          </a:p>
          <a:p>
            <a:endParaRPr lang="en-US"/>
          </a:p>
        </p:txBody>
      </p:sp>
      <p:sp>
        <p:nvSpPr>
          <p:cNvPr id="5" name="Title 1">
            <a:extLst>
              <a:ext uri="{FF2B5EF4-FFF2-40B4-BE49-F238E27FC236}">
                <a16:creationId xmlns:a16="http://schemas.microsoft.com/office/drawing/2014/main" id="{5C5D2DD0-E4F3-7D39-3386-CCDE137DA89D}"/>
              </a:ext>
            </a:extLst>
          </p:cNvPr>
          <p:cNvSpPr>
            <a:spLocks noGrp="1"/>
          </p:cNvSpPr>
          <p:nvPr>
            <p:ph type="title"/>
          </p:nvPr>
        </p:nvSpPr>
        <p:spPr>
          <a:xfrm>
            <a:off x="4313" y="5691"/>
            <a:ext cx="12168996" cy="865489"/>
          </a:xfrm>
          <a:solidFill>
            <a:schemeClr val="accent6"/>
          </a:solidFill>
        </p:spPr>
        <p:txBody>
          <a:bodyPr/>
          <a:lstStyle/>
          <a:p>
            <a:pPr algn="ctr"/>
            <a:r>
              <a:rPr lang="en-US"/>
              <a:t>Receiver Initiated Data to Clock Eye Width Sweep</a:t>
            </a:r>
          </a:p>
        </p:txBody>
      </p:sp>
    </p:spTree>
    <p:extLst>
      <p:ext uri="{BB962C8B-B14F-4D97-AF65-F5344CB8AC3E}">
        <p14:creationId xmlns:p14="http://schemas.microsoft.com/office/powerpoint/2010/main" val="2990762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FB226-36C5-370E-7885-CE6D71C5A31D}"/>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4513BD14-F144-0005-D3E7-36581BF9B327}"/>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B9BC0AA1-7CA8-64D1-17DA-95CC1DEFBEDF}"/>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a:p>
          <a:p>
            <a:endParaRPr lang="en-US"/>
          </a:p>
        </p:txBody>
      </p:sp>
      <p:sp>
        <p:nvSpPr>
          <p:cNvPr id="5" name="Title 1">
            <a:extLst>
              <a:ext uri="{FF2B5EF4-FFF2-40B4-BE49-F238E27FC236}">
                <a16:creationId xmlns:a16="http://schemas.microsoft.com/office/drawing/2014/main" id="{BE8EEECC-1540-14D3-54A7-41605E753FAC}"/>
              </a:ext>
            </a:extLst>
          </p:cNvPr>
          <p:cNvSpPr>
            <a:spLocks noGrp="1"/>
          </p:cNvSpPr>
          <p:nvPr>
            <p:ph type="title"/>
          </p:nvPr>
        </p:nvSpPr>
        <p:spPr>
          <a:xfrm>
            <a:off x="4313" y="5691"/>
            <a:ext cx="12168996" cy="865489"/>
          </a:xfrm>
          <a:solidFill>
            <a:schemeClr val="accent6"/>
          </a:solidFill>
        </p:spPr>
        <p:txBody>
          <a:bodyPr>
            <a:normAutofit/>
          </a:bodyPr>
          <a:lstStyle/>
          <a:p>
            <a:pPr algn="ctr"/>
            <a:r>
              <a:rPr lang="en-US" sz="4000">
                <a:latin typeface="Aptos"/>
              </a:rPr>
              <a:t>Receiver Initiated Data to Clock </a:t>
            </a:r>
            <a:r>
              <a:rPr lang="en-US">
                <a:latin typeface="Aptos Display"/>
              </a:rPr>
              <a:t>Eye Width Sweep</a:t>
            </a:r>
            <a:endParaRPr lang="en-US" sz="4000"/>
          </a:p>
        </p:txBody>
      </p:sp>
      <p:cxnSp>
        <p:nvCxnSpPr>
          <p:cNvPr id="8" name="Straight Arrow Connector 7">
            <a:extLst>
              <a:ext uri="{FF2B5EF4-FFF2-40B4-BE49-F238E27FC236}">
                <a16:creationId xmlns:a16="http://schemas.microsoft.com/office/drawing/2014/main" id="{4B6811B9-6A10-565B-4571-A192993E2EFE}"/>
              </a:ext>
            </a:extLst>
          </p:cNvPr>
          <p:cNvCxnSpPr/>
          <p:nvPr/>
        </p:nvCxnSpPr>
        <p:spPr>
          <a:xfrm>
            <a:off x="4341961" y="915162"/>
            <a:ext cx="15551" cy="584718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3143268-1372-B86F-4652-0E273B9D4AE0}"/>
              </a:ext>
            </a:extLst>
          </p:cNvPr>
          <p:cNvCxnSpPr/>
          <p:nvPr/>
        </p:nvCxnSpPr>
        <p:spPr>
          <a:xfrm>
            <a:off x="7395830" y="917510"/>
            <a:ext cx="15551" cy="5909387"/>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CEB5FB6-A83D-1878-92A9-2004F93A3745}"/>
              </a:ext>
            </a:extLst>
          </p:cNvPr>
          <p:cNvSpPr txBox="1"/>
          <p:nvPr/>
        </p:nvSpPr>
        <p:spPr>
          <a:xfrm>
            <a:off x="7921" y="876726"/>
            <a:ext cx="425921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DIE 0 : UCIe Module</a:t>
            </a:r>
          </a:p>
        </p:txBody>
      </p:sp>
      <p:sp>
        <p:nvSpPr>
          <p:cNvPr id="12" name="TextBox 11">
            <a:extLst>
              <a:ext uri="{FF2B5EF4-FFF2-40B4-BE49-F238E27FC236}">
                <a16:creationId xmlns:a16="http://schemas.microsoft.com/office/drawing/2014/main" id="{85D48D1D-ADEB-FFEC-9451-5866EAC23271}"/>
              </a:ext>
            </a:extLst>
          </p:cNvPr>
          <p:cNvSpPr txBox="1"/>
          <p:nvPr/>
        </p:nvSpPr>
        <p:spPr>
          <a:xfrm>
            <a:off x="7408154" y="916336"/>
            <a:ext cx="47704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DIE 1 : UCIe Module Partner</a:t>
            </a:r>
            <a:endParaRPr lang="en-US"/>
          </a:p>
        </p:txBody>
      </p:sp>
      <p:sp>
        <p:nvSpPr>
          <p:cNvPr id="13" name="TextBox 12">
            <a:extLst>
              <a:ext uri="{FF2B5EF4-FFF2-40B4-BE49-F238E27FC236}">
                <a16:creationId xmlns:a16="http://schemas.microsoft.com/office/drawing/2014/main" id="{0F3EC57A-8026-5322-79B6-2ADC17AEAD46}"/>
              </a:ext>
            </a:extLst>
          </p:cNvPr>
          <p:cNvSpPr txBox="1"/>
          <p:nvPr/>
        </p:nvSpPr>
        <p:spPr>
          <a:xfrm>
            <a:off x="514943" y="1491726"/>
            <a:ext cx="3773616"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Enable Pattern Comparison </a:t>
            </a:r>
            <a:r>
              <a:rPr lang="en-US" sz="1700" err="1"/>
              <a:t>ckt</a:t>
            </a:r>
            <a:r>
              <a:rPr lang="en-US" sz="1700"/>
              <a:t>: Compares incoming MB data to logically generated expected pattern.</a:t>
            </a:r>
          </a:p>
        </p:txBody>
      </p:sp>
      <p:sp>
        <p:nvSpPr>
          <p:cNvPr id="14" name="TextBox 13">
            <a:extLst>
              <a:ext uri="{FF2B5EF4-FFF2-40B4-BE49-F238E27FC236}">
                <a16:creationId xmlns:a16="http://schemas.microsoft.com/office/drawing/2014/main" id="{6728E5D8-65D0-C670-21DE-4B57269FD906}"/>
              </a:ext>
            </a:extLst>
          </p:cNvPr>
          <p:cNvSpPr txBox="1"/>
          <p:nvPr/>
        </p:nvSpPr>
        <p:spPr>
          <a:xfrm>
            <a:off x="7480042" y="1901038"/>
            <a:ext cx="4224594"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Setup the Data to </a:t>
            </a:r>
            <a:r>
              <a:rPr lang="en-US" sz="1700" err="1"/>
              <a:t>Clk</a:t>
            </a:r>
            <a:r>
              <a:rPr lang="en-US" sz="1700"/>
              <a:t> training parameters.</a:t>
            </a:r>
          </a:p>
        </p:txBody>
      </p:sp>
      <p:cxnSp>
        <p:nvCxnSpPr>
          <p:cNvPr id="15" name="Straight Arrow Connector 14">
            <a:extLst>
              <a:ext uri="{FF2B5EF4-FFF2-40B4-BE49-F238E27FC236}">
                <a16:creationId xmlns:a16="http://schemas.microsoft.com/office/drawing/2014/main" id="{C8F57329-5C15-79E5-FB0A-061EAA847BB2}"/>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6C1CEEFC-FA11-A48B-6978-3888874617C7}"/>
              </a:ext>
            </a:extLst>
          </p:cNvPr>
          <p:cNvSpPr txBox="1"/>
          <p:nvPr/>
        </p:nvSpPr>
        <p:spPr>
          <a:xfrm rot="300000">
            <a:off x="4563924" y="1678462"/>
            <a:ext cx="274320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Start Rx Init D to C eye sweep req }</a:t>
            </a:r>
          </a:p>
        </p:txBody>
      </p:sp>
      <p:sp>
        <p:nvSpPr>
          <p:cNvPr id="20" name="TextBox 19">
            <a:extLst>
              <a:ext uri="{FF2B5EF4-FFF2-40B4-BE49-F238E27FC236}">
                <a16:creationId xmlns:a16="http://schemas.microsoft.com/office/drawing/2014/main" id="{22AA8466-FEF2-99DB-492F-89EF43E38079}"/>
              </a:ext>
            </a:extLst>
          </p:cNvPr>
          <p:cNvSpPr txBox="1"/>
          <p:nvPr/>
        </p:nvSpPr>
        <p:spPr>
          <a:xfrm rot="21240000">
            <a:off x="4363034" y="2118394"/>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Start Rx Init D to C eye sweep resp }</a:t>
            </a:r>
          </a:p>
        </p:txBody>
      </p:sp>
      <p:sp>
        <p:nvSpPr>
          <p:cNvPr id="21" name="TextBox 20">
            <a:extLst>
              <a:ext uri="{FF2B5EF4-FFF2-40B4-BE49-F238E27FC236}">
                <a16:creationId xmlns:a16="http://schemas.microsoft.com/office/drawing/2014/main" id="{2912037A-CE1A-2ED5-B67F-45EBAD5FDE0A}"/>
              </a:ext>
            </a:extLst>
          </p:cNvPr>
          <p:cNvSpPr txBox="1"/>
          <p:nvPr/>
        </p:nvSpPr>
        <p:spPr>
          <a:xfrm>
            <a:off x="4061308" y="2374037"/>
            <a:ext cx="3035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a:t>
            </a:r>
          </a:p>
        </p:txBody>
      </p:sp>
      <p:sp>
        <p:nvSpPr>
          <p:cNvPr id="22" name="TextBox 21">
            <a:extLst>
              <a:ext uri="{FF2B5EF4-FFF2-40B4-BE49-F238E27FC236}">
                <a16:creationId xmlns:a16="http://schemas.microsoft.com/office/drawing/2014/main" id="{00E45428-67B1-0680-2CB9-758607431FC3}"/>
              </a:ext>
            </a:extLst>
          </p:cNvPr>
          <p:cNvSpPr txBox="1"/>
          <p:nvPr/>
        </p:nvSpPr>
        <p:spPr>
          <a:xfrm>
            <a:off x="7421475" y="2558971"/>
            <a:ext cx="453280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49000"/>
                    <a:lumOff val="51000"/>
                  </a:schemeClr>
                </a:solidFill>
              </a:rPr>
              <a:t>UCIe module partner resets the LFSR on its MB.</a:t>
            </a:r>
          </a:p>
        </p:txBody>
      </p:sp>
      <p:cxnSp>
        <p:nvCxnSpPr>
          <p:cNvPr id="23" name="Straight Arrow Connector 22">
            <a:extLst>
              <a:ext uri="{FF2B5EF4-FFF2-40B4-BE49-F238E27FC236}">
                <a16:creationId xmlns:a16="http://schemas.microsoft.com/office/drawing/2014/main" id="{3B5492CD-C350-9677-2B5C-B59E6A775CA2}"/>
              </a:ext>
            </a:extLst>
          </p:cNvPr>
          <p:cNvCxnSpPr/>
          <p:nvPr/>
        </p:nvCxnSpPr>
        <p:spPr>
          <a:xfrm flipH="1">
            <a:off x="4350432" y="2866413"/>
            <a:ext cx="2958779" cy="383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BC260F5-ABD0-E575-3D35-D1E628F07A28}"/>
              </a:ext>
            </a:extLst>
          </p:cNvPr>
          <p:cNvSpPr txBox="1"/>
          <p:nvPr/>
        </p:nvSpPr>
        <p:spPr>
          <a:xfrm rot="21240000">
            <a:off x="4497355" y="2833126"/>
            <a:ext cx="2609589"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LFSR clear error req } </a:t>
            </a:r>
            <a:r>
              <a:rPr lang="en-US" sz="1000">
                <a:solidFill>
                  <a:schemeClr val="accent1">
                    <a:lumMod val="20000"/>
                    <a:lumOff val="80000"/>
                  </a:schemeClr>
                </a:solidFill>
              </a:rPr>
              <a:t>step:2</a:t>
            </a:r>
          </a:p>
        </p:txBody>
      </p:sp>
      <p:sp>
        <p:nvSpPr>
          <p:cNvPr id="25" name="TextBox 24">
            <a:extLst>
              <a:ext uri="{FF2B5EF4-FFF2-40B4-BE49-F238E27FC236}">
                <a16:creationId xmlns:a16="http://schemas.microsoft.com/office/drawing/2014/main" id="{95CE2CE2-D91D-33BD-0AF9-D09B40F219C8}"/>
              </a:ext>
            </a:extLst>
          </p:cNvPr>
          <p:cNvSpPr txBox="1"/>
          <p:nvPr/>
        </p:nvSpPr>
        <p:spPr>
          <a:xfrm>
            <a:off x="584548" y="2865034"/>
            <a:ext cx="377375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49000"/>
                    <a:lumOff val="51000"/>
                  </a:schemeClr>
                </a:solidFill>
              </a:rPr>
              <a:t>UCIe module resets LFSR and clears any prior compare results on its MB.</a:t>
            </a:r>
          </a:p>
        </p:txBody>
      </p:sp>
      <p:cxnSp>
        <p:nvCxnSpPr>
          <p:cNvPr id="26" name="Straight Arrow Connector 25">
            <a:extLst>
              <a:ext uri="{FF2B5EF4-FFF2-40B4-BE49-F238E27FC236}">
                <a16:creationId xmlns:a16="http://schemas.microsoft.com/office/drawing/2014/main" id="{DE1CF064-3380-4151-1A41-87D07A0F1F04}"/>
              </a:ext>
            </a:extLst>
          </p:cNvPr>
          <p:cNvCxnSpPr/>
          <p:nvPr/>
        </p:nvCxnSpPr>
        <p:spPr>
          <a:xfrm>
            <a:off x="4359098" y="3326292"/>
            <a:ext cx="2933374" cy="253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02154930-8E4A-67FB-38DB-14B5AAFE863A}"/>
              </a:ext>
            </a:extLst>
          </p:cNvPr>
          <p:cNvSpPr txBox="1"/>
          <p:nvPr/>
        </p:nvSpPr>
        <p:spPr>
          <a:xfrm rot="360000">
            <a:off x="5125626" y="3254993"/>
            <a:ext cx="2223369"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LFSR clear error resp }</a:t>
            </a:r>
          </a:p>
        </p:txBody>
      </p:sp>
      <p:sp>
        <p:nvSpPr>
          <p:cNvPr id="28" name="TextBox 27">
            <a:extLst>
              <a:ext uri="{FF2B5EF4-FFF2-40B4-BE49-F238E27FC236}">
                <a16:creationId xmlns:a16="http://schemas.microsoft.com/office/drawing/2014/main" id="{B13A47A7-EB1F-B394-1BCD-DEBA90A05D23}"/>
              </a:ext>
            </a:extLst>
          </p:cNvPr>
          <p:cNvSpPr txBox="1"/>
          <p:nvPr/>
        </p:nvSpPr>
        <p:spPr>
          <a:xfrm>
            <a:off x="7387402" y="3144112"/>
            <a:ext cx="452689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UCIe module partner sends the pattern (selected through "Tx Pattern Generator Setup") for the selected </a:t>
            </a:r>
            <a:r>
              <a:rPr lang="en-US" sz="1700" err="1"/>
              <a:t>no.of</a:t>
            </a:r>
            <a:r>
              <a:rPr lang="en-US" sz="1700"/>
              <a:t> cycles ("Pattern count setup") on its MB.</a:t>
            </a:r>
          </a:p>
        </p:txBody>
      </p:sp>
      <p:sp>
        <p:nvSpPr>
          <p:cNvPr id="30" name="TextBox 29">
            <a:extLst>
              <a:ext uri="{FF2B5EF4-FFF2-40B4-BE49-F238E27FC236}">
                <a16:creationId xmlns:a16="http://schemas.microsoft.com/office/drawing/2014/main" id="{11090635-9741-7CA4-5E5A-65F1EC9E5B0D}"/>
              </a:ext>
            </a:extLst>
          </p:cNvPr>
          <p:cNvSpPr txBox="1"/>
          <p:nvPr/>
        </p:nvSpPr>
        <p:spPr>
          <a:xfrm rot="21300000">
            <a:off x="4390132" y="3643224"/>
            <a:ext cx="30533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&lt;----------------------------------</a:t>
            </a:r>
          </a:p>
        </p:txBody>
      </p:sp>
      <p:sp>
        <p:nvSpPr>
          <p:cNvPr id="31" name="TextBox 30">
            <a:extLst>
              <a:ext uri="{FF2B5EF4-FFF2-40B4-BE49-F238E27FC236}">
                <a16:creationId xmlns:a16="http://schemas.microsoft.com/office/drawing/2014/main" id="{629A057E-FE69-D836-E113-D70010C57787}"/>
              </a:ext>
            </a:extLst>
          </p:cNvPr>
          <p:cNvSpPr txBox="1"/>
          <p:nvPr/>
        </p:nvSpPr>
        <p:spPr>
          <a:xfrm rot="21180000">
            <a:off x="4912817" y="3594656"/>
            <a:ext cx="1680307"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300"/>
              <a:t>Patterns</a:t>
            </a:r>
          </a:p>
        </p:txBody>
      </p:sp>
      <p:sp>
        <p:nvSpPr>
          <p:cNvPr id="33" name="TextBox 32">
            <a:extLst>
              <a:ext uri="{FF2B5EF4-FFF2-40B4-BE49-F238E27FC236}">
                <a16:creationId xmlns:a16="http://schemas.microsoft.com/office/drawing/2014/main" id="{3346A324-AD03-121D-4914-CB5DF05DB520}"/>
              </a:ext>
            </a:extLst>
          </p:cNvPr>
          <p:cNvSpPr txBox="1"/>
          <p:nvPr/>
        </p:nvSpPr>
        <p:spPr>
          <a:xfrm>
            <a:off x="573435" y="3490563"/>
            <a:ext cx="3668253"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Compares each unit interval(UI) based on "Rx compare setup" during pattern transmission and logs the results.</a:t>
            </a:r>
          </a:p>
        </p:txBody>
      </p:sp>
      <p:cxnSp>
        <p:nvCxnSpPr>
          <p:cNvPr id="34" name="Straight Arrow Connector 33">
            <a:extLst>
              <a:ext uri="{FF2B5EF4-FFF2-40B4-BE49-F238E27FC236}">
                <a16:creationId xmlns:a16="http://schemas.microsoft.com/office/drawing/2014/main" id="{B471E7F1-ED51-2995-577D-71EAA9720EE4}"/>
              </a:ext>
            </a:extLst>
          </p:cNvPr>
          <p:cNvCxnSpPr/>
          <p:nvPr/>
        </p:nvCxnSpPr>
        <p:spPr>
          <a:xfrm flipH="1">
            <a:off x="4431914" y="4490158"/>
            <a:ext cx="2873628" cy="2820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8844249-5C91-5A91-E7BB-D8CE0A5372CB}"/>
              </a:ext>
            </a:extLst>
          </p:cNvPr>
          <p:cNvSpPr txBox="1"/>
          <p:nvPr/>
        </p:nvSpPr>
        <p:spPr>
          <a:xfrm>
            <a:off x="7412451" y="4280766"/>
            <a:ext cx="45355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2">
                    <a:lumMod val="49000"/>
                    <a:lumOff val="51000"/>
                  </a:schemeClr>
                </a:solidFill>
              </a:rPr>
              <a:t>Requests </a:t>
            </a:r>
            <a:r>
              <a:rPr lang="en-US" err="1">
                <a:solidFill>
                  <a:schemeClr val="tx2">
                    <a:lumMod val="49000"/>
                    <a:lumOff val="51000"/>
                  </a:schemeClr>
                </a:solidFill>
              </a:rPr>
              <a:t>logge</a:t>
            </a:r>
            <a:r>
              <a:rPr lang="en-US">
                <a:solidFill>
                  <a:schemeClr val="tx2">
                    <a:lumMod val="49000"/>
                    <a:lumOff val="51000"/>
                  </a:schemeClr>
                </a:solidFill>
              </a:rPr>
              <a:t>d data to clock test results.</a:t>
            </a:r>
          </a:p>
        </p:txBody>
      </p:sp>
      <p:sp>
        <p:nvSpPr>
          <p:cNvPr id="36" name="TextBox 35">
            <a:extLst>
              <a:ext uri="{FF2B5EF4-FFF2-40B4-BE49-F238E27FC236}">
                <a16:creationId xmlns:a16="http://schemas.microsoft.com/office/drawing/2014/main" id="{B0E2E4F5-9B9D-AE66-9509-B5404930E516}"/>
              </a:ext>
            </a:extLst>
          </p:cNvPr>
          <p:cNvSpPr txBox="1"/>
          <p:nvPr/>
        </p:nvSpPr>
        <p:spPr>
          <a:xfrm>
            <a:off x="609565" y="4630374"/>
            <a:ext cx="376409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49000"/>
                    <a:lumOff val="51000"/>
                  </a:schemeClr>
                </a:solidFill>
              </a:rPr>
              <a:t>UCIe module responds with logged results for its MB receiver.</a:t>
            </a:r>
          </a:p>
        </p:txBody>
      </p:sp>
      <p:sp>
        <p:nvSpPr>
          <p:cNvPr id="37" name="TextBox 36">
            <a:extLst>
              <a:ext uri="{FF2B5EF4-FFF2-40B4-BE49-F238E27FC236}">
                <a16:creationId xmlns:a16="http://schemas.microsoft.com/office/drawing/2014/main" id="{F7755687-657C-35F6-1251-9FCDE673C2D2}"/>
              </a:ext>
            </a:extLst>
          </p:cNvPr>
          <p:cNvSpPr txBox="1"/>
          <p:nvPr/>
        </p:nvSpPr>
        <p:spPr>
          <a:xfrm rot="21300000">
            <a:off x="4549655" y="4371756"/>
            <a:ext cx="2653228"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Rx Init D to C results req }</a:t>
            </a:r>
          </a:p>
        </p:txBody>
      </p:sp>
      <p:cxnSp>
        <p:nvCxnSpPr>
          <p:cNvPr id="38" name="Straight Arrow Connector 37">
            <a:extLst>
              <a:ext uri="{FF2B5EF4-FFF2-40B4-BE49-F238E27FC236}">
                <a16:creationId xmlns:a16="http://schemas.microsoft.com/office/drawing/2014/main" id="{062985EF-ABAC-7989-4CDA-3E1D8A7A47C4}"/>
              </a:ext>
            </a:extLst>
          </p:cNvPr>
          <p:cNvCxnSpPr/>
          <p:nvPr/>
        </p:nvCxnSpPr>
        <p:spPr>
          <a:xfrm>
            <a:off x="4393927" y="4955337"/>
            <a:ext cx="2821254" cy="2579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7F8806E-88D5-F7EA-DDB4-0B3FD4F91A6A}"/>
              </a:ext>
            </a:extLst>
          </p:cNvPr>
          <p:cNvSpPr txBox="1"/>
          <p:nvPr/>
        </p:nvSpPr>
        <p:spPr>
          <a:xfrm rot="300000">
            <a:off x="4739677" y="4882586"/>
            <a:ext cx="261650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Rx Init D to C results resp} </a:t>
            </a:r>
            <a:r>
              <a:rPr lang="en-US" sz="1000">
                <a:solidFill>
                  <a:schemeClr val="accent1">
                    <a:lumMod val="20000"/>
                    <a:lumOff val="80000"/>
                  </a:schemeClr>
                </a:solidFill>
              </a:rPr>
              <a:t>step: 5</a:t>
            </a:r>
          </a:p>
        </p:txBody>
      </p:sp>
      <p:cxnSp>
        <p:nvCxnSpPr>
          <p:cNvPr id="42" name="Straight Arrow Connector 41">
            <a:extLst>
              <a:ext uri="{FF2B5EF4-FFF2-40B4-BE49-F238E27FC236}">
                <a16:creationId xmlns:a16="http://schemas.microsoft.com/office/drawing/2014/main" id="{9635F384-96C5-6008-A344-1D16B1ACD4E1}"/>
              </a:ext>
            </a:extLst>
          </p:cNvPr>
          <p:cNvCxnSpPr/>
          <p:nvPr/>
        </p:nvCxnSpPr>
        <p:spPr>
          <a:xfrm flipH="1">
            <a:off x="4431172" y="6314779"/>
            <a:ext cx="2809472" cy="328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2BB9C3E-7378-5D68-5483-4C11DA257D63}"/>
              </a:ext>
            </a:extLst>
          </p:cNvPr>
          <p:cNvSpPr txBox="1"/>
          <p:nvPr/>
        </p:nvSpPr>
        <p:spPr>
          <a:xfrm>
            <a:off x="573189" y="6079717"/>
            <a:ext cx="3678697"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Now the corresponding sequence has completed.</a:t>
            </a:r>
          </a:p>
        </p:txBody>
      </p:sp>
      <p:cxnSp>
        <p:nvCxnSpPr>
          <p:cNvPr id="44" name="Straight Arrow Connector 43">
            <a:extLst>
              <a:ext uri="{FF2B5EF4-FFF2-40B4-BE49-F238E27FC236}">
                <a16:creationId xmlns:a16="http://schemas.microsoft.com/office/drawing/2014/main" id="{3056801C-7550-6FA7-AEAC-BC6DBC5C3685}"/>
              </a:ext>
            </a:extLst>
          </p:cNvPr>
          <p:cNvCxnSpPr/>
          <p:nvPr/>
        </p:nvCxnSpPr>
        <p:spPr>
          <a:xfrm>
            <a:off x="4464255" y="6141034"/>
            <a:ext cx="2852780" cy="100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4261424-2541-348D-03AD-114633E291F7}"/>
              </a:ext>
            </a:extLst>
          </p:cNvPr>
          <p:cNvSpPr txBox="1"/>
          <p:nvPr/>
        </p:nvSpPr>
        <p:spPr>
          <a:xfrm rot="21180000">
            <a:off x="4581180" y="6480551"/>
            <a:ext cx="267159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{End Rx Init D to C eye sweep resp}</a:t>
            </a:r>
          </a:p>
        </p:txBody>
      </p:sp>
      <p:sp>
        <p:nvSpPr>
          <p:cNvPr id="46" name="TextBox 45">
            <a:extLst>
              <a:ext uri="{FF2B5EF4-FFF2-40B4-BE49-F238E27FC236}">
                <a16:creationId xmlns:a16="http://schemas.microsoft.com/office/drawing/2014/main" id="{F1CB4DDC-017B-2B77-AB37-A2ED1830E99A}"/>
              </a:ext>
            </a:extLst>
          </p:cNvPr>
          <p:cNvSpPr txBox="1"/>
          <p:nvPr/>
        </p:nvSpPr>
        <p:spPr>
          <a:xfrm rot="21300000">
            <a:off x="4358107" y="5462107"/>
            <a:ext cx="301283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 Rx Init D to C sweep done with results }</a:t>
            </a:r>
          </a:p>
        </p:txBody>
      </p:sp>
      <p:sp>
        <p:nvSpPr>
          <p:cNvPr id="47" name="TextBox 46">
            <a:extLst>
              <a:ext uri="{FF2B5EF4-FFF2-40B4-BE49-F238E27FC236}">
                <a16:creationId xmlns:a16="http://schemas.microsoft.com/office/drawing/2014/main" id="{B14E97AB-EFE1-42D9-6049-D5717EE0FBF0}"/>
              </a:ext>
            </a:extLst>
          </p:cNvPr>
          <p:cNvSpPr txBox="1"/>
          <p:nvPr/>
        </p:nvSpPr>
        <p:spPr>
          <a:xfrm>
            <a:off x="7416812" y="5255876"/>
            <a:ext cx="30296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a:t>
            </a:r>
          </a:p>
        </p:txBody>
      </p:sp>
      <p:sp>
        <p:nvSpPr>
          <p:cNvPr id="2" name="TextBox 1">
            <a:extLst>
              <a:ext uri="{FF2B5EF4-FFF2-40B4-BE49-F238E27FC236}">
                <a16:creationId xmlns:a16="http://schemas.microsoft.com/office/drawing/2014/main" id="{37E40B43-7F15-0AA6-8D63-65E272D6BF09}"/>
              </a:ext>
            </a:extLst>
          </p:cNvPr>
          <p:cNvSpPr txBox="1"/>
          <p:nvPr/>
        </p:nvSpPr>
        <p:spPr>
          <a:xfrm>
            <a:off x="7444366" y="4691755"/>
            <a:ext cx="452494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accent3">
                    <a:lumMod val="60000"/>
                    <a:lumOff val="40000"/>
                  </a:schemeClr>
                </a:solidFill>
              </a:rPr>
              <a:t>UCIe Module Partner can determine if the pattern comparison at the PI phase passed or failed based on the results log.</a:t>
            </a:r>
          </a:p>
        </p:txBody>
      </p:sp>
      <p:cxnSp>
        <p:nvCxnSpPr>
          <p:cNvPr id="4" name="Straight Arrow Connector 3">
            <a:extLst>
              <a:ext uri="{FF2B5EF4-FFF2-40B4-BE49-F238E27FC236}">
                <a16:creationId xmlns:a16="http://schemas.microsoft.com/office/drawing/2014/main" id="{09FCF838-6ABF-AB70-C7CA-05ACC29869C9}"/>
              </a:ext>
            </a:extLst>
          </p:cNvPr>
          <p:cNvCxnSpPr/>
          <p:nvPr/>
        </p:nvCxnSpPr>
        <p:spPr>
          <a:xfrm flipH="1">
            <a:off x="4530338" y="5678075"/>
            <a:ext cx="2790023" cy="1444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B8C4950-4561-0377-CAB0-11C0EF291F89}"/>
              </a:ext>
            </a:extLst>
          </p:cNvPr>
          <p:cNvSpPr txBox="1"/>
          <p:nvPr/>
        </p:nvSpPr>
        <p:spPr>
          <a:xfrm rot="120000">
            <a:off x="4374597" y="5967297"/>
            <a:ext cx="270588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{End Rx Init D to C eye sweep resp}</a:t>
            </a:r>
            <a:endParaRPr lang="en-US"/>
          </a:p>
        </p:txBody>
      </p:sp>
      <p:sp>
        <p:nvSpPr>
          <p:cNvPr id="7" name="TextBox 6">
            <a:extLst>
              <a:ext uri="{FF2B5EF4-FFF2-40B4-BE49-F238E27FC236}">
                <a16:creationId xmlns:a16="http://schemas.microsoft.com/office/drawing/2014/main" id="{CC48ED84-9883-3828-1638-6F8E9799BF1C}"/>
              </a:ext>
            </a:extLst>
          </p:cNvPr>
          <p:cNvSpPr txBox="1"/>
          <p:nvPr/>
        </p:nvSpPr>
        <p:spPr>
          <a:xfrm>
            <a:off x="7434848" y="5524061"/>
            <a:ext cx="451922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Sends SB </a:t>
            </a:r>
            <a:r>
              <a:rPr lang="en-US" sz="1600" err="1"/>
              <a:t>ms</a:t>
            </a:r>
            <a:r>
              <a:rPr lang="en-US" sz="1600"/>
              <a:t>g along with results for its MB transmitter.</a:t>
            </a:r>
          </a:p>
        </p:txBody>
      </p:sp>
    </p:spTree>
    <p:extLst>
      <p:ext uri="{BB962C8B-B14F-4D97-AF65-F5344CB8AC3E}">
        <p14:creationId xmlns:p14="http://schemas.microsoft.com/office/powerpoint/2010/main" val="1044486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8" ma:contentTypeDescription="Create a new document." ma:contentTypeScope="" ma:versionID="3d24ed15395863622458c9612afe9077">
  <xsd:schema xmlns:xsd="http://www.w3.org/2001/XMLSchema" xmlns:xs="http://www.w3.org/2001/XMLSchema" xmlns:p="http://schemas.microsoft.com/office/2006/metadata/properties" xmlns:ns3="ec91e78c-53b9-49d2-80fe-2267c9de2ac1" targetNamespace="http://schemas.microsoft.com/office/2006/metadata/properties" ma:root="true" ma:fieldsID="bf5387ec6775c7ffa55b69cbb25365ff"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C30E90-35A2-433D-8294-0F950042F531}">
  <ds:schemaRefs>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ec91e78c-53b9-49d2-80fe-2267c9de2ac1"/>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A24A352F-77D0-4731-B0B0-ADD4AE2572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666954-3D43-40F3-AF96-B2753E1830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UCIe_MBTRAIN_MKD</Template>
  <TotalTime>561</TotalTime>
  <Words>1916</Words>
  <Application>Microsoft Office PowerPoint</Application>
  <PresentationFormat>Widescreen</PresentationFormat>
  <Paragraphs>194</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UCIe MBINIT</vt:lpstr>
      <vt:lpstr>CONTENTS</vt:lpstr>
      <vt:lpstr>      Link Training State Machine</vt:lpstr>
      <vt:lpstr>MBINIT</vt:lpstr>
      <vt:lpstr>   MBINIT: Mainband Initialization and Repair Flow</vt:lpstr>
      <vt:lpstr>                     MBINIT.PARAM</vt:lpstr>
      <vt:lpstr>    </vt:lpstr>
      <vt:lpstr>              </vt:lpstr>
      <vt:lpstr>       </vt:lpstr>
      <vt:lpstr>          </vt:lpstr>
      <vt:lpstr>    </vt:lpstr>
      <vt:lpstr>MBINIT.PARAM</vt:lpstr>
      <vt:lpstr>                           MBINIT.CAL</vt:lpstr>
      <vt:lpstr>                   MBINIT.CAL</vt:lpstr>
      <vt:lpstr>               MBINIT.REPAIRCLK</vt:lpstr>
      <vt:lpstr>MBINIT.REPAIRCLK  for  Std Package</vt:lpstr>
      <vt:lpstr>MBINIT.REPAIRCLK  for  Advanced Package</vt:lpstr>
      <vt:lpstr>MBINIT.REPAIRCLK  for  Advanced Package</vt:lpstr>
      <vt:lpstr>           </vt:lpstr>
      <vt:lpstr>PowerPoint Presentation</vt:lpstr>
      <vt:lpstr>PowerPoint Presentation</vt:lpstr>
      <vt:lpstr>PowerPoint Presentation</vt:lpstr>
      <vt:lpstr>PowerPoint Presentation</vt:lpstr>
      <vt:lpstr>PowerPoint Presentation</vt:lpstr>
      <vt:lpstr>MBTRAIN.RXDESKEW Sequence</vt:lpstr>
      <vt:lpstr>Receiver Initiated Data to Clock Eye Width Sweep</vt:lpstr>
      <vt:lpstr>Receiver Initiated Data to Clock Eye Width Sweep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5</cp:revision>
  <dcterms:created xsi:type="dcterms:W3CDTF">2026-02-11T04:12:37Z</dcterms:created>
  <dcterms:modified xsi:type="dcterms:W3CDTF">2026-03-05T05:27:14Z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