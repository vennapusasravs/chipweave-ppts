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6" r:id="rId11"/>
    <p:sldId id="267" r:id="rId12"/>
    <p:sldId id="268" r:id="rId13"/>
    <p:sldId id="269" r:id="rId14"/>
    <p:sldId id="271" r:id="rId15"/>
    <p:sldId id="272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832C6D-3361-4B2A-8B0E-8093910F244D}" v="1" dt="2026-01-20T04:49:28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BD78-8AB2-16B0-41A0-7160161C2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APB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0923B-C7B5-7E63-22B4-A3FEA7593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BY SRAVANTHI</a:t>
            </a:r>
          </a:p>
          <a:p>
            <a:r>
              <a:rPr lang="en-IN" err="1"/>
              <a:t>Chipweave</a:t>
            </a:r>
            <a:r>
              <a:rPr lang="en-IN"/>
              <a:t> technologies </a:t>
            </a:r>
            <a:r>
              <a:rPr lang="en-IN" err="1"/>
              <a:t>pvt</a:t>
            </a:r>
            <a:r>
              <a:rPr lang="en-IN"/>
              <a:t> </a:t>
            </a:r>
            <a:r>
              <a:rPr lang="en-IN" err="1"/>
              <a:t>lmd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2027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2D8E-B002-8B16-AD09-B9A57D8F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3090-2788-7F7D-FDE5-C997ADED9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Introduction to APB protocol</a:t>
            </a:r>
          </a:p>
          <a:p>
            <a:r>
              <a:rPr lang="en-IN"/>
              <a:t>Block diagram</a:t>
            </a:r>
          </a:p>
          <a:p>
            <a:r>
              <a:rPr lang="en-IN"/>
              <a:t>AMBA APB Signals</a:t>
            </a:r>
          </a:p>
          <a:p>
            <a:r>
              <a:rPr lang="en-IN"/>
              <a:t>State diagram</a:t>
            </a:r>
          </a:p>
          <a:p>
            <a:r>
              <a:rPr lang="en-IN"/>
              <a:t>APB Transfers</a:t>
            </a:r>
          </a:p>
          <a:p>
            <a:endParaRPr lang="en-IN"/>
          </a:p>
          <a:p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560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F2A3-DB65-81DC-CC48-BECD216B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Introduction to APB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156D8-7E50-F0AD-D54A-8243470C0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468032"/>
            <a:ext cx="8825659" cy="3416300"/>
          </a:xfrm>
        </p:spPr>
        <p:txBody>
          <a:bodyPr>
            <a:normAutofit fontScale="92500"/>
          </a:bodyPr>
          <a:lstStyle/>
          <a:p>
            <a:endParaRPr lang="en-GB"/>
          </a:p>
          <a:p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APB  stands for Advanced Peripheral Bus and it is the member of AMBA(Advanced Microcontroller Bus Architecture) protocol family</a:t>
            </a:r>
          </a:p>
          <a:p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It is a low-cost interface, optimized for minimal power consumption and reduced interface complexity. </a:t>
            </a:r>
          </a:p>
          <a:p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 APB interface is not pipelined and is a simple, synchronous protocol. Every transfer takes at least two cycles  to complete.</a:t>
            </a:r>
          </a:p>
          <a:p>
            <a:r>
              <a:rPr lang="en-GB" sz="2000">
                <a:solidFill>
                  <a:schemeClr val="tx1">
                    <a:lumMod val="95000"/>
                    <a:lumOff val="5000"/>
                  </a:schemeClr>
                </a:solidFill>
              </a:rPr>
              <a:t>APB can interface with the AXI and AHB protocols through the Bridge</a:t>
            </a:r>
          </a:p>
          <a:p>
            <a:pPr marL="0" indent="0">
              <a:buNone/>
            </a:pPr>
            <a:r>
              <a:rPr lang="en-US" sz="2000" i="0">
                <a:solidFill>
                  <a:srgbClr val="A1E8D9"/>
                </a:solidFill>
                <a:effectLst/>
                <a:latin typeface="Times New Roman" panose="02020603050405020304" pitchFamily="18" charset="0"/>
              </a:rPr>
              <a:t>​</a:t>
            </a:r>
            <a:endParaRPr lang="en-US" sz="200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92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690B-5CEB-0874-0DFC-8F13A853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Block Diagram</a:t>
            </a:r>
          </a:p>
        </p:txBody>
      </p:sp>
      <p:pic>
        <p:nvPicPr>
          <p:cNvPr id="1026" name="Picture 2" descr="GitHub - prajwalgekkouga/AHB-to-APB-Bridge: The AHB to APB bridge is an AHB  slave and the only APB master which provides an interface between the  highspeed AHB and the low-power APB. Read and write">
            <a:extLst>
              <a:ext uri="{FF2B5EF4-FFF2-40B4-BE49-F238E27FC236}">
                <a16:creationId xmlns:a16="http://schemas.microsoft.com/office/drawing/2014/main" id="{9FF76716-764C-1EA0-47DE-F5A7B12162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862" y="3016069"/>
            <a:ext cx="6182588" cy="259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CDBF-53E8-C3B7-52BC-4B44C863E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AMBA APB Signals</a:t>
            </a:r>
          </a:p>
        </p:txBody>
      </p:sp>
      <p:pic>
        <p:nvPicPr>
          <p:cNvPr id="2050" name="Picture 2" descr="APB Protocol Basics | APB Protocol Explained | APB Interface | APB Bus  Protocol | AMBA APB Topology">
            <a:extLst>
              <a:ext uri="{FF2B5EF4-FFF2-40B4-BE49-F238E27FC236}">
                <a16:creationId xmlns:a16="http://schemas.microsoft.com/office/drawing/2014/main" id="{17DD6EBE-87BE-AA43-AE34-BDD0FF9FF3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445" y="2603500"/>
            <a:ext cx="6073422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913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B6BCC-2123-830B-021B-2F38E45E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APB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006B-7C6F-CBD8-BAEB-FAF1F418F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PCLK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PCLK is a clock signal. 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APB signals are timed against the rising edge of PCLK.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PSELx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Select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Requester generates a </a:t>
            </a:r>
            <a:r>
              <a:rPr lang="en-GB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PSELx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signal for each Completer. </a:t>
            </a:r>
            <a:r>
              <a:rPr lang="en-GB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PSELx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that the Completer is selected and that a data transfer is required.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PRESETn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Reset signal.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PRESETn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reset signal and is active-LOW. </a:t>
            </a:r>
            <a:r>
              <a:rPr lang="en-GB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PRESETn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normally connected directly to the system bus reset signal.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PENABLE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PENABLE indicates the second and subsequent cycles of an APB transfer.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13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E670-5832-2F46-7A8F-9C91D999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APB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D0E73-8313-F109-A216-51C790CE6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PADDR: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ADDR_WIDTH 	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PADDR is the APB address bus. PADDR can be up to 32 bits wide.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PWRITE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Direction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PWRITE indicates an APB write access when HIGH and an APB read access when LOW.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PWDATA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DATA_WIDTH   Write data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PWDATA write data bus is driven by the APB bridge Requester during write cycles when PWRITE is HIGH. PWDATA can be 8 bits, 16 bits, or 32 bits wide.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PRDATA: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DATA_WIDTH    Read data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PRDATA read data bus is driven by the selected Completer during read cycles when PWRITE is LOW. PRDATA can be 8 bits, 16 bits, or 32 bits wide.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lang="en-GB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079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E030-159F-9860-18BE-49041478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APB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20923-CD30-A910-1FAB-614B36402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PREADY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Ready.  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PREADY is used to extend an APB transfer by the Completer.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PSLVERR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error.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PSLVERR is an optional signal that can be asserted HIGH by the Completer to indicate an error condition on an APB transfer.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PSTRB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DATA_WIDTH/8 	 Write strobe.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PSTRB indicates which byte lanes to update during a write transfer. There is one write strobe for each 8 bits of the write data bus.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PSTRB[n] corresponds to PWDATA[(8n + 7):(8n)]. PSTRB must not be active during a read transfer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92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0573-CC29-B3CD-5ED4-ECD07EFE6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APB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59DB-D4E0-821F-C532-15209D26D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PPROT[2:0]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Protection type.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PPROT[0] indicates the normal or  privileged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PPROT[1] indicates the secure protection level of the transaction or not.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PPROT[2] indicates whether the transaction is a data access or an instruction access.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PNSE :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to protection type. 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PNSE must be valid when PSEL is asserted.</a:t>
            </a: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</a:t>
            </a:r>
            <a:r>
              <a:rPr lang="en-GB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PWAKEUP :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Wake-up.</a:t>
            </a:r>
          </a:p>
          <a:p>
            <a:pPr marL="914400" lvl="0" indent="-3429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PWAKEUP indicates any activity associated with an APB interface.</a:t>
            </a:r>
          </a:p>
          <a:p>
            <a:pPr marL="9144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a glitch-free signal that can be routed to a clock controller, or similar component, to enable power and clocks to connected components.</a:t>
            </a: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lang="en-GB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 rtl="0" fontAlgn="base"/>
            <a:endParaRPr lang="en-US" b="0" i="0">
              <a:solidFill>
                <a:srgbClr val="A1E8D9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20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80" name="Rectangle 3079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81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085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DCF928-C588-29C7-E636-889E1F32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State  Diagram</a:t>
            </a:r>
          </a:p>
        </p:txBody>
      </p:sp>
      <p:pic>
        <p:nvPicPr>
          <p:cNvPr id="3074" name="Picture 2" descr="APB Protocol | Everything You Must Know | Code and Testbench">
            <a:extLst>
              <a:ext uri="{FF2B5EF4-FFF2-40B4-BE49-F238E27FC236}">
                <a16:creationId xmlns:a16="http://schemas.microsoft.com/office/drawing/2014/main" id="{9E36A1DD-8F7B-5D38-4DE2-C793C6AF39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15840" y="1113063"/>
            <a:ext cx="5058752" cy="4628758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345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2BCE-0E81-4BB3-EFCD-9CD2076A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APB Transfers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DAEB4-7911-5BC2-4822-26214970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oogle Sans"/>
              </a:rPr>
              <a:t>Types of Transfers</a:t>
            </a:r>
          </a:p>
          <a:p>
            <a:pPr lvl="1" algn="l">
              <a:buFont typeface="Wingdings" panose="05000000000000000000" pitchFamily="2" charset="2"/>
              <a:buChar char="v"/>
            </a:pPr>
            <a:r>
              <a:rPr lang="en-GB" b="1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Write Transfer:</a:t>
            </a:r>
            <a:r>
              <a:rPr lang="en-GB" b="0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 </a:t>
            </a:r>
            <a:r>
              <a:rPr lang="en-GB" b="0" i="0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Master sends data to the slave.</a:t>
            </a:r>
          </a:p>
          <a:p>
            <a:pPr marL="457200" lvl="1" indent="0" algn="l">
              <a:buNone/>
            </a:pPr>
            <a:r>
              <a:rPr lang="en-GB">
                <a:solidFill>
                  <a:schemeClr val="bg2">
                    <a:lumMod val="25000"/>
                  </a:schemeClr>
                </a:solidFill>
                <a:latin typeface="Google Sans"/>
              </a:rPr>
              <a:t>             *write transfer with and without wait states            </a:t>
            </a:r>
            <a:endParaRPr lang="en-GB" b="0" i="0">
              <a:solidFill>
                <a:schemeClr val="bg2">
                  <a:lumMod val="25000"/>
                </a:schemeClr>
              </a:solidFill>
              <a:effectLst/>
              <a:latin typeface="Google Sans"/>
            </a:endParaRPr>
          </a:p>
          <a:p>
            <a:pPr lvl="1" algn="l">
              <a:buFont typeface="Wingdings" panose="05000000000000000000" pitchFamily="2" charset="2"/>
              <a:buChar char="v"/>
            </a:pPr>
            <a:r>
              <a:rPr lang="en-GB" b="1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Read Transfer:</a:t>
            </a:r>
            <a:r>
              <a:rPr lang="en-GB" b="0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 </a:t>
            </a:r>
            <a:r>
              <a:rPr lang="en-GB" b="0" i="0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Master receives data from the slave.</a:t>
            </a:r>
          </a:p>
          <a:p>
            <a:pPr marL="457200" lvl="1" indent="0" algn="l">
              <a:buNone/>
            </a:pPr>
            <a:r>
              <a:rPr lang="en-GB">
                <a:solidFill>
                  <a:schemeClr val="bg2">
                    <a:lumMod val="25000"/>
                  </a:schemeClr>
                </a:solidFill>
                <a:latin typeface="Google Sans"/>
              </a:rPr>
              <a:t>             *Read transfer with and without wait states</a:t>
            </a:r>
            <a:endParaRPr lang="en-GB" b="0" i="0">
              <a:solidFill>
                <a:schemeClr val="bg2">
                  <a:lumMod val="25000"/>
                </a:schemeClr>
              </a:solidFill>
              <a:effectLst/>
              <a:latin typeface="Google Sans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GB" b="1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Idle:</a:t>
            </a:r>
            <a:r>
              <a:rPr lang="en-GB" b="0" i="0" u="sng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 </a:t>
            </a:r>
            <a:r>
              <a:rPr lang="en-GB" b="0" i="0">
                <a:solidFill>
                  <a:schemeClr val="bg2">
                    <a:lumMod val="25000"/>
                  </a:schemeClr>
                </a:solidFill>
                <a:effectLst/>
                <a:latin typeface="Google Sans"/>
              </a:rPr>
              <a:t>No transfer occurring.</a:t>
            </a:r>
          </a:p>
        </p:txBody>
      </p:sp>
    </p:spTree>
    <p:extLst>
      <p:ext uri="{BB962C8B-B14F-4D97-AF65-F5344CB8AC3E}">
        <p14:creationId xmlns:p14="http://schemas.microsoft.com/office/powerpoint/2010/main" val="3054609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8B9E-415F-3DBF-9593-46BAEA59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Write transfer with no wait states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AE2C804-6BB9-B38E-C9AC-09BF9106330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26" y="2603500"/>
            <a:ext cx="7041860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357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D8A92-0285-7BE9-C305-7F5E40530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Write state with wait states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A100BAA-5A9F-9A70-0E92-1882B3BDD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785" y="2603500"/>
            <a:ext cx="7410743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627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BD96-704C-7BA2-0ED7-F6AAB5D5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Read transfers with wait states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D0E5FAE-CFE7-884E-4FC8-E43C6FBF9F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2893155"/>
            <a:ext cx="7960016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108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A41E-947B-B6BD-DA25-8D6374A26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Error response for a read transfer</a:t>
            </a:r>
          </a:p>
        </p:txBody>
      </p:sp>
      <p:pic>
        <p:nvPicPr>
          <p:cNvPr id="1026" name="Picture 2" descr="APB_Read_Error">
            <a:extLst>
              <a:ext uri="{FF2B5EF4-FFF2-40B4-BE49-F238E27FC236}">
                <a16:creationId xmlns:a16="http://schemas.microsoft.com/office/drawing/2014/main" id="{C3A81396-2E21-19BB-70D4-D7264CA9FC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006" y="2625725"/>
            <a:ext cx="69723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561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EE78-2ECB-F76C-DBEA-BC2B51B01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Read transfer with no wait states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8D6FD74-C061-C1ED-AD89-F7FB4A9DC1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531" y="2632222"/>
            <a:ext cx="7666696" cy="341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64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2A21-FEEB-B9C7-CD83-C6D39010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Error response for write transfer</a:t>
            </a:r>
          </a:p>
        </p:txBody>
      </p:sp>
      <p:pic>
        <p:nvPicPr>
          <p:cNvPr id="2050" name="Picture 2" descr="APB_Write_Error">
            <a:extLst>
              <a:ext uri="{FF2B5EF4-FFF2-40B4-BE49-F238E27FC236}">
                <a16:creationId xmlns:a16="http://schemas.microsoft.com/office/drawing/2014/main" id="{40BEFA73-841B-A3CC-FAAD-EB5A75E8CC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544" y="2630487"/>
            <a:ext cx="599122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111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ABC0-E53F-13B0-8E21-C6DAE4B1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8" name="Picture 6" descr="Business Thank-You Letter Examples">
            <a:extLst>
              <a:ext uri="{FF2B5EF4-FFF2-40B4-BE49-F238E27FC236}">
                <a16:creationId xmlns:a16="http://schemas.microsoft.com/office/drawing/2014/main" id="{B5F62BDC-724A-7609-D657-0B2BD50A0B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6" y="-15411"/>
            <a:ext cx="11649074" cy="563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8158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0</TotalTime>
  <Words>649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Century Gothic</vt:lpstr>
      <vt:lpstr>Google Sans</vt:lpstr>
      <vt:lpstr>Times New Roman</vt:lpstr>
      <vt:lpstr>Verdana</vt:lpstr>
      <vt:lpstr>Wingdings</vt:lpstr>
      <vt:lpstr>Wingdings 3</vt:lpstr>
      <vt:lpstr>Ion Boardroom</vt:lpstr>
      <vt:lpstr>APB PROTOCOL</vt:lpstr>
      <vt:lpstr>contents</vt:lpstr>
      <vt:lpstr>Introduction to APB Protocol</vt:lpstr>
      <vt:lpstr>Block Diagram</vt:lpstr>
      <vt:lpstr>AMBA APB Signals</vt:lpstr>
      <vt:lpstr>APB Signals</vt:lpstr>
      <vt:lpstr>APB Signals</vt:lpstr>
      <vt:lpstr>APB Signals</vt:lpstr>
      <vt:lpstr>APB Signals</vt:lpstr>
      <vt:lpstr>State  Diagram</vt:lpstr>
      <vt:lpstr>APB Transfers</vt:lpstr>
      <vt:lpstr>Write transfer with no wait states</vt:lpstr>
      <vt:lpstr>Write state with wait states</vt:lpstr>
      <vt:lpstr>Read transfers with wait states</vt:lpstr>
      <vt:lpstr>Error response for a read transfer</vt:lpstr>
      <vt:lpstr>Read transfer with no wait states </vt:lpstr>
      <vt:lpstr>Error response for write transfer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APB PROTOCOL</dc:title>
  <dc:creator>Penchala Narayana Reddy Kadapana</dc:creator>
  <cp:lastModifiedBy>sravanthi vennapusa</cp:lastModifiedBy>
  <cp:revision>2</cp:revision>
  <dcterms:created xsi:type="dcterms:W3CDTF">2026-01-02T07:26:22Z</dcterms:created>
  <dcterms:modified xsi:type="dcterms:W3CDTF">2026-01-22T10:57:41Z</dcterms:modified>
</cp:coreProperties>
</file>