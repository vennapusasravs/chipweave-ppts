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8"/>
  </p:notesMasterIdLst>
  <p:sldIdLst>
    <p:sldId id="256" r:id="rId5"/>
    <p:sldId id="258" r:id="rId6"/>
    <p:sldId id="374" r:id="rId7"/>
    <p:sldId id="389" r:id="rId8"/>
    <p:sldId id="405" r:id="rId9"/>
    <p:sldId id="434" r:id="rId10"/>
    <p:sldId id="387" r:id="rId11"/>
    <p:sldId id="437" r:id="rId12"/>
    <p:sldId id="438" r:id="rId13"/>
    <p:sldId id="439" r:id="rId14"/>
    <p:sldId id="378" r:id="rId15"/>
    <p:sldId id="386" r:id="rId16"/>
    <p:sldId id="442" r:id="rId17"/>
    <p:sldId id="412" r:id="rId18"/>
    <p:sldId id="440" r:id="rId19"/>
    <p:sldId id="441" r:id="rId20"/>
    <p:sldId id="443" r:id="rId21"/>
    <p:sldId id="448" r:id="rId22"/>
    <p:sldId id="444" r:id="rId23"/>
    <p:sldId id="445" r:id="rId24"/>
    <p:sldId id="446" r:id="rId25"/>
    <p:sldId id="447" r:id="rId26"/>
    <p:sldId id="32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3D9118-DAA4-4104-8D6B-5D70874D137E}" v="39" dt="2026-05-15T04:19:08.9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7F5E06-6981-4B6A-B6C7-45F3B83D4C44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DEEAEB-03EA-44AF-9346-99919EF069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29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88558" y="729469"/>
            <a:ext cx="9014348" cy="2402006"/>
          </a:xfrm>
        </p:spPr>
        <p:txBody>
          <a:bodyPr anchor="b"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Assertions &amp; Coverages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08618" y="5079628"/>
            <a:ext cx="5018944" cy="1020664"/>
          </a:xfrm>
        </p:spPr>
        <p:txBody>
          <a:bodyPr anchor="ctr">
            <a:normAutofit fontScale="85000" lnSpcReduction="20000"/>
          </a:bodyPr>
          <a:lstStyle/>
          <a:p>
            <a:pPr algn="l"/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V.SRAVANTHI</a:t>
            </a:r>
          </a:p>
          <a:p>
            <a:pPr algn="l"/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 ENGINEER</a:t>
            </a:r>
          </a:p>
          <a:p>
            <a:pPr algn="l"/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CHIPWEAVE TECHNOLOGIES PVT LTD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B35B5-1EF0-7F98-DE21-64AEB3584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898" y="125053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Of Assertions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Assertions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 of Assertions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Coverage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 of Coverages</a:t>
            </a:r>
          </a:p>
          <a:p>
            <a:pPr marL="0" indent="0"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8C32F6C-B7EE-A57C-0B32-A168B30F2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2192000" cy="871180"/>
          </a:xfrm>
          <a:solidFill>
            <a:schemeClr val="accent6"/>
          </a:solidFill>
        </p:spPr>
        <p:txBody>
          <a:bodyPr>
            <a:normAutofit/>
          </a:bodyPr>
          <a:lstStyle/>
          <a:p>
            <a:pPr algn="ctr"/>
            <a:r>
              <a:rPr lang="en-US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905354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04399-4EAA-A6BB-B34E-BDD5A6978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67F4991-F64F-F08C-A73B-0A69A70F8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71180"/>
          </a:xfrm>
          <a:solidFill>
            <a:schemeClr val="accent6"/>
          </a:solidFill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Assertion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FCC95-3EDE-E768-19EC-CBF20D885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0759"/>
            <a:ext cx="10515600" cy="4351338"/>
          </a:xfrm>
        </p:spPr>
        <p:txBody>
          <a:bodyPr>
            <a:normAutofit/>
          </a:bodyPr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 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VLSI design verification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 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assertions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are used to check design correctness, catch bugs early, and document design intent. 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 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assertion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is a Boolean or temporal expression that must hold true for the design to be considered correct.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the condition fails, the verification tool reports an 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assertion failure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Assertions can be written in 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SystemVerilog Assertions (SVA)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 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PSL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 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OVL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or other supported languages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394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AB66D-8A6D-7AFC-1470-1676B0F88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7CBC681-0698-7AFF-1627-8E70FF1AE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71180"/>
          </a:xfrm>
          <a:solidFill>
            <a:schemeClr val="accent6"/>
          </a:solidFill>
        </p:spPr>
        <p:txBody>
          <a:bodyPr>
            <a:noAutofit/>
          </a:bodyPr>
          <a:lstStyle/>
          <a:p>
            <a:pPr algn="ctr"/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Assertions?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2E569F-4874-F5DA-ADD5-8A2B4580A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867" y="1049867"/>
            <a:ext cx="11125200" cy="5127096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 bug detection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— catches issues before full testbench is ready 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Reduced debug time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— failures point directly to the violated property.</a:t>
            </a: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Documentation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— captures design intent in executable form.</a:t>
            </a: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Reusable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— can be applied from block-level to system-level verification.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Supports both simulation and formal verification.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1FF049A-2965-5073-3431-251173E80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0399" y="3293533"/>
            <a:ext cx="6341533" cy="3361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7629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8663C-E85D-6ED3-A7F9-E6B4240F4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3A91060-4A40-BD3F-CEA9-02776D610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2192000" cy="865489"/>
          </a:xfrm>
          <a:solidFill>
            <a:schemeClr val="accent6"/>
          </a:solidFill>
        </p:spPr>
        <p:txBody>
          <a:bodyPr>
            <a:noAutofit/>
          </a:bodyPr>
          <a:lstStyle/>
          <a:p>
            <a:pPr algn="ctr"/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Assertions(Contd..)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A32DB0A-D61C-4CE3-1593-7A7EAC40B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394" y="1463040"/>
            <a:ext cx="10648406" cy="471392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always @(posedge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clk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begin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assert (reset == 1'b0) else $error("Reset is not de-asserted");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checks that reset is low at every positive clock edge </a:t>
            </a:r>
          </a:p>
        </p:txBody>
      </p:sp>
    </p:spTree>
    <p:extLst>
      <p:ext uri="{BB962C8B-B14F-4D97-AF65-F5344CB8AC3E}">
        <p14:creationId xmlns:p14="http://schemas.microsoft.com/office/powerpoint/2010/main" val="355439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2BD26-0810-0EC0-7733-126EEA688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3FF31BC-8F4A-2505-6AB4-DC3BE890D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2192000" cy="865489"/>
          </a:xfrm>
          <a:solidFill>
            <a:schemeClr val="accent6"/>
          </a:solidFill>
        </p:spPr>
        <p:txBody>
          <a:bodyPr>
            <a:noAutofit/>
          </a:bodyPr>
          <a:lstStyle/>
          <a:p>
            <a:pPr algn="ctr"/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 Of Assertions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3D5C9FF8-AB32-9A4E-62F8-98A3C5CDD7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33" y="1363132"/>
            <a:ext cx="11057467" cy="38946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34293F0-7E3C-135E-281C-2E1D9A4A2120}"/>
              </a:ext>
            </a:extLst>
          </p:cNvPr>
          <p:cNvSpPr txBox="1"/>
          <p:nvPr/>
        </p:nvSpPr>
        <p:spPr>
          <a:xfrm>
            <a:off x="4275666" y="5570776"/>
            <a:ext cx="3179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1.Assertions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981909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CF98A-8A77-5762-51AE-2AFA03698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1CDD6FA-7748-5CCA-C11E-0382AEF0F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71180"/>
          </a:xfrm>
          <a:solidFill>
            <a:schemeClr val="accent6"/>
          </a:solidFill>
        </p:spPr>
        <p:txBody>
          <a:bodyPr>
            <a:noAutofit/>
          </a:bodyPr>
          <a:lstStyle/>
          <a:p>
            <a:pPr algn="ctr"/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 Of Assertions(Contd..)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19D1E-8A0C-E33F-8D1A-121320C5ED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7267" y="1235951"/>
            <a:ext cx="10624697" cy="33239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1.I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mmediate Assertions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Check a condition instantly (single-cycle).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Syntax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altLang="en-US" sz="2400" dirty="0">
                <a:solidFill>
                  <a:srgbClr val="3C51B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assert (&lt;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boolean_expr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&gt;) else &lt;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action_if_fail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3C51B4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always @(posedge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begin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assert (reset == 0) else $error("Reset is active unexpectedly");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 </a:t>
            </a:r>
          </a:p>
          <a:p>
            <a:pPr>
              <a:lnSpc>
                <a:spcPct val="100000"/>
              </a:lnSpc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 combinational checks or parameter validation.</a:t>
            </a:r>
          </a:p>
        </p:txBody>
      </p:sp>
    </p:spTree>
    <p:extLst>
      <p:ext uri="{BB962C8B-B14F-4D97-AF65-F5344CB8AC3E}">
        <p14:creationId xmlns:p14="http://schemas.microsoft.com/office/powerpoint/2010/main" val="761067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FB735-E2F3-FC18-4A05-6A6BCF33A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F2F9C96-23AE-DC9A-7DA8-9656F23D6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71180"/>
          </a:xfrm>
          <a:solidFill>
            <a:schemeClr val="accent6"/>
          </a:solidFill>
        </p:spPr>
        <p:txBody>
          <a:bodyPr>
            <a:noAutofit/>
          </a:bodyPr>
          <a:lstStyle/>
          <a:p>
            <a:pPr algn="ctr"/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 Of Assertions(Contd..)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76B08F5-65DE-13E4-1838-8AD2E48F1A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30804" y="1437126"/>
            <a:ext cx="9703330" cy="48013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2. Concurrent Assertions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Check temporal relationships over multiple cycles.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Syntax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altLang="en-US" sz="2400" dirty="0">
                <a:solidFill>
                  <a:srgbClr val="3C51B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assert property (@(posedge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disable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(reset)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sequence_or_property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(Handshake):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3C51B4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property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req_ack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@(posedge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disable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(reset)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 |-&gt; ##[1:3] ack; // ack must follow req within 1–3 cycles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ndproperty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assert property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req_ack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 </a:t>
            </a:r>
          </a:p>
          <a:p>
            <a:pPr>
              <a:lnSpc>
                <a:spcPct val="100000"/>
              </a:lnSpc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Used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 protocol checks and timing constraints.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389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00988-713E-FE72-195F-8F17A6D19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2B3C293-88AB-89F8-E467-9CE55769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71180"/>
          </a:xfrm>
          <a:solidFill>
            <a:schemeClr val="accent6"/>
          </a:solidFill>
        </p:spPr>
        <p:txBody>
          <a:bodyPr>
            <a:noAutofit/>
          </a:bodyPr>
          <a:lstStyle/>
          <a:p>
            <a:pPr algn="ctr"/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 Of Assertions(Contd..)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2CBFDD9-809E-941A-D0AF-8A07706C54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6736" y="992596"/>
            <a:ext cx="9948863" cy="50598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Safety Assertions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Ensure something bad 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never happens.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(One-hot encoding):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3C51B4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assert property (@(posedge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disable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(reset)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$onehot0(state))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else $fatal("State machine not one-hot encoded"); </a:t>
            </a:r>
          </a:p>
          <a:p>
            <a:pPr>
              <a:lnSpc>
                <a:spcPct val="100000"/>
              </a:lnSpc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Used for 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illegal state prevention and mutual exclusion.</a:t>
            </a:r>
          </a:p>
          <a:p>
            <a:pPr marL="0" indent="0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4. Liveness Assertions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Ensure something good 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eventually happens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(Grant after request):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assert property (@(posedge </a:t>
            </a:r>
            <a:r>
              <a:rPr lang="en-US" alt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clk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disable </a:t>
            </a:r>
            <a:r>
              <a:rPr lang="en-US" alt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iff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(reset)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req |-&gt; ##[1:5] grant)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else $error("Grant not issued within 5 cycles");</a:t>
            </a:r>
          </a:p>
          <a:p>
            <a:pPr marL="0" indent="0">
              <a:lnSpc>
                <a:spcPct val="100000"/>
              </a:lnSpc>
              <a:buNone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927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5A3BD-4130-9BD4-12E2-70D94BB32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5018946-B4ED-09A4-F24D-F9F9C0BF3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71180"/>
          </a:xfrm>
          <a:solidFill>
            <a:schemeClr val="accent6"/>
          </a:solidFill>
        </p:spPr>
        <p:txBody>
          <a:bodyPr>
            <a:noAutofit/>
          </a:bodyPr>
          <a:lstStyle/>
          <a:p>
            <a:pPr algn="ctr"/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 Of Assertions(Contd..)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ACFB0-C41F-6D03-86AF-E1972D8D3C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7268" y="1250011"/>
            <a:ext cx="10600266" cy="46905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Coverage Assertions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Record that a certain event or sequence occurred.</a:t>
            </a:r>
          </a:p>
          <a:p>
            <a:r>
              <a:rPr lang="en-US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Syntax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:cover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property (@(posedge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clk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&lt;sequence&gt;);</a:t>
            </a:r>
          </a:p>
          <a:p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Example:cover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property (@(posedge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clk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req ##1 ack);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Use for functional coverage in simulation.</a:t>
            </a:r>
          </a:p>
          <a:p>
            <a:pPr marL="0" indent="0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Checking Assertion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Ensure two signals are never high at the same time.</a:t>
            </a: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assert property (@(posedge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clk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disable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iff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(reset)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!(master1_en &amp;&amp; master2_en))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else $error("Mutual exclusion violated");</a:t>
            </a:r>
          </a:p>
          <a:p>
            <a:pPr marL="0" indent="0"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210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ED396-3B19-9846-409E-6BA3F2402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69DF3D0-7ADE-8FF1-F869-66757999E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71180"/>
          </a:xfrm>
          <a:solidFill>
            <a:schemeClr val="accent6"/>
          </a:solidFill>
        </p:spPr>
        <p:txBody>
          <a:bodyPr>
            <a:noAutofit/>
          </a:bodyPr>
          <a:lstStyle/>
          <a:p>
            <a:pPr algn="ctr"/>
            <a:b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Coverage?</a:t>
            </a:r>
            <a:b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2969CF-88F6-F7EE-5E19-434BEFE62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075267"/>
            <a:ext cx="10676467" cy="5101696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Coverage is a metric used to measure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much of the design and functionality has been tested during simulation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helps determine: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whether the RTL is sufficiently verified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whether all scenarios are exercised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whether more testcases are needed</a:t>
            </a: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589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9E916-D65B-F4E4-0F00-E26C0BC6C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8AC5F06-CE61-D912-47D3-FDD119858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71180"/>
          </a:xfrm>
          <a:solidFill>
            <a:schemeClr val="accent6"/>
          </a:solidFill>
        </p:spPr>
        <p:txBody>
          <a:bodyPr>
            <a:noAutofit/>
          </a:bodyPr>
          <a:lstStyle/>
          <a:p>
            <a:pPr algn="ctr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 Of Coverages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D8146E9-059A-D8B1-37F0-2D12D4961A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0801" y="1261004"/>
            <a:ext cx="6092744" cy="50768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37A595-21C5-1C84-DDE3-6231D40360D3}"/>
              </a:ext>
            </a:extLst>
          </p:cNvPr>
          <p:cNvSpPr txBox="1"/>
          <p:nvPr/>
        </p:nvSpPr>
        <p:spPr>
          <a:xfrm>
            <a:off x="3285067" y="61531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Fig 2.Coverages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074057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3533D-8EEB-78CA-314D-B380E4E32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CF4FDD3-C9AB-2E4E-244A-9CACB783A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65489"/>
          </a:xfrm>
          <a:solidFill>
            <a:schemeClr val="accent6"/>
          </a:solidFill>
        </p:spPr>
        <p:txBody>
          <a:bodyPr>
            <a:noAutofit/>
          </a:bodyPr>
          <a:lstStyle/>
          <a:p>
            <a:pPr algn="ctr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Coverage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0BE473-9AB7-D6AD-50EC-D45F5406F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075267"/>
            <a:ext cx="10676467" cy="5101696"/>
          </a:xfrm>
        </p:spPr>
        <p:txBody>
          <a:bodyPr>
            <a:no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coverage is a verification metric used to measure how much RTL/source code is exercised during simulation.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helps identify untested or unreachable portions of the design.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coverage improves the quality and completeness of verification.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 Coverage (%)=​ Number of covered items ×100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Total coverable items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92FE68-B2AB-E975-2EC7-9B279AAA8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134" y="2704740"/>
            <a:ext cx="2326308" cy="415326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517A6A-EF56-7955-61E0-CD94CF7514E2}"/>
              </a:ext>
            </a:extLst>
          </p:cNvPr>
          <p:cNvCxnSpPr/>
          <p:nvPr/>
        </p:nvCxnSpPr>
        <p:spPr>
          <a:xfrm>
            <a:off x="3835400" y="3251200"/>
            <a:ext cx="26331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3955F78-8ED4-D112-FCBF-18381E64A930}"/>
              </a:ext>
            </a:extLst>
          </p:cNvPr>
          <p:cNvSpPr txBox="1"/>
          <p:nvPr/>
        </p:nvSpPr>
        <p:spPr>
          <a:xfrm>
            <a:off x="7112000" y="608982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Fig 3.Code coverage types</a:t>
            </a:r>
          </a:p>
        </p:txBody>
      </p:sp>
    </p:spTree>
    <p:extLst>
      <p:ext uri="{BB962C8B-B14F-4D97-AF65-F5344CB8AC3E}">
        <p14:creationId xmlns:p14="http://schemas.microsoft.com/office/powerpoint/2010/main" val="1228957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43357-23C9-8B7D-6E85-433C8A9FC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DE7F344-3D64-3D42-D0D9-E6A54B61B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65489"/>
          </a:xfrm>
          <a:solidFill>
            <a:schemeClr val="accent6"/>
          </a:solidFill>
        </p:spPr>
        <p:txBody>
          <a:bodyPr>
            <a:noAutofit/>
          </a:bodyPr>
          <a:lstStyle/>
          <a:p>
            <a:pPr algn="ctr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 Of Code Coverages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273AE8-263C-5515-57DA-FA88680F5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075267"/>
            <a:ext cx="11167533" cy="51016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1.Statement Coverage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Checks whether every executable statement is executed at least once.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identify unexecuted RTL code.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 </a:t>
            </a:r>
            <a:r>
              <a:rPr lang="es-E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(a) y=b;</a:t>
            </a:r>
          </a:p>
          <a:p>
            <a:pPr marL="0" indent="0">
              <a:buNone/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</a:t>
            </a:r>
            <a:r>
              <a:rPr lang="es-E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else</a:t>
            </a: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y=0;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Both if and else statements must execute. </a:t>
            </a:r>
          </a:p>
          <a:p>
            <a:pPr marL="0" indent="0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2. Branch Coverage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Checks whether all decision branches are tested.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Both TRUE and FALSE conditions must occur.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if(req) gnt=1;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else gnt=0;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 req=1 and req=0. </a:t>
            </a:r>
          </a:p>
          <a:p>
            <a:pPr marL="0" indent="0"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1F477C-1D17-FEA4-AD87-1DFA85E42E74}"/>
                  </a:ext>
                </a:extLst>
              </p:cNvPr>
              <p:cNvSpPr txBox="1"/>
              <p:nvPr/>
            </p:nvSpPr>
            <p:spPr>
              <a:xfrm>
                <a:off x="6587067" y="1862667"/>
                <a:ext cx="5088466" cy="19977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Statement Coverage=Executed Statements​/ Total Statements×100 </a:t>
                </a:r>
              </a:p>
              <a:p>
                <a:pPr>
                  <a:buNone/>
                </a:pPr>
                <a:r>
                  <a:rPr lang="en-IN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Example: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Total statements = 200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Executed statements = 180 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180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90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ar-AE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1F477C-1D17-FEA4-AD87-1DFA85E42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7067" y="1862667"/>
                <a:ext cx="5088466" cy="1997726"/>
              </a:xfrm>
              <a:prstGeom prst="rect">
                <a:avLst/>
              </a:prstGeom>
              <a:blipFill>
                <a:blip r:embed="rId2"/>
                <a:stretch>
                  <a:fillRect l="-1079" t="-18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95DADD6-BD0F-3E4B-B337-E080FA998EDA}"/>
                  </a:ext>
                </a:extLst>
              </p:cNvPr>
              <p:cNvSpPr txBox="1"/>
              <p:nvPr/>
            </p:nvSpPr>
            <p:spPr>
              <a:xfrm>
                <a:off x="7171267" y="4070171"/>
                <a:ext cx="4673599" cy="20033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Branch Coverage=Executed Branches​/ Total Branches×100 </a:t>
                </a:r>
              </a:p>
              <a:p>
                <a:pPr>
                  <a:buNone/>
                </a:pPr>
                <a:r>
                  <a:rPr lang="en-IN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Example: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Total branches = 20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Executed branches = 15 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75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ar-AE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95DADD6-BD0F-3E4B-B337-E080FA998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267" y="4070171"/>
                <a:ext cx="4673599" cy="2003305"/>
              </a:xfrm>
              <a:prstGeom prst="rect">
                <a:avLst/>
              </a:prstGeom>
              <a:blipFill>
                <a:blip r:embed="rId3"/>
                <a:stretch>
                  <a:fillRect l="-1043" t="-18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2172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7152E-44C9-1063-2E7B-9306739BB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2982DFC-8060-B457-27BE-2ED756AD4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65489"/>
          </a:xfrm>
          <a:solidFill>
            <a:schemeClr val="accent6"/>
          </a:solidFill>
        </p:spPr>
        <p:txBody>
          <a:bodyPr>
            <a:noAutofit/>
          </a:bodyPr>
          <a:lstStyle/>
          <a:p>
            <a:pPr algn="ctr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 Of Code Coverages(Contd..)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293EF4-4F95-8823-6173-0C348CE23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075267"/>
            <a:ext cx="10676467" cy="51016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3.Condition Coverage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Checks each Boolean condition independently.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condition must become TRUE and FALSE.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if(a &amp;&amp; b) y=1;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and b should toggle independently.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Toggle Coverage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Checks whether signals toggle between 0 and 1.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Detects dead or unused signals.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Signal must transition 0→1 and 1→0.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q &lt;= d;</a:t>
            </a:r>
          </a:p>
          <a:p>
            <a:r>
              <a:rPr lang="en-US" sz="2400" dirty="0"/>
              <a:t>Toggle Coverage=Observed Toggles​ /Total Possible Toggles ×100 </a:t>
            </a:r>
            <a:endParaRPr lang="en-IN" sz="2400" dirty="0"/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85F5DA-BB60-CB46-1F17-E9CA8EC0A60E}"/>
              </a:ext>
            </a:extLst>
          </p:cNvPr>
          <p:cNvSpPr txBox="1"/>
          <p:nvPr/>
        </p:nvSpPr>
        <p:spPr>
          <a:xfrm>
            <a:off x="7137401" y="1805299"/>
            <a:ext cx="482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Condition Coverage=Covered Conditions/​ Total Conditions×100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5749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6B6AB-347F-65B8-2E40-B14FB96FE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13A770C-FEC5-3C7A-3CAD-2C5D5741A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65489"/>
          </a:xfrm>
          <a:solidFill>
            <a:schemeClr val="accent6"/>
          </a:solidFill>
        </p:spPr>
        <p:txBody>
          <a:bodyPr>
            <a:noAutofit/>
          </a:bodyPr>
          <a:lstStyle/>
          <a:p>
            <a:pPr algn="ctr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 Of Code Coverages(Contd..)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F68DA4-4293-1963-60A4-CD4292879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066" y="939801"/>
            <a:ext cx="10676467" cy="51016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5.FSM Coverage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Checks whether all FSM states and transitions are visited.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Ensures complete state-machine verification.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IDLE → BUSY → DONE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state and transition must occur.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FSM Coverage=Covered States or Transitions/ Total States or Transitions ​×100 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Expression Coverage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Checks all outcomes of logical/arithmetic expressions.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Verifies all input combinations.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y = a ^ b;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XOR input combinations must execute.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Expression Coverage (%)=Covered Expression Outcomes​/                                    Total Possible Outcomes ×100</a:t>
            </a:r>
          </a:p>
          <a:p>
            <a:pPr marL="0" indent="0"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7256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168CF-4F4D-6DD3-E4FB-C43AD7E2A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116B3E0-CC88-480B-2884-10E59ADD3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65489"/>
          </a:xfrm>
          <a:solidFill>
            <a:schemeClr val="accent6"/>
          </a:solidFill>
        </p:spPr>
        <p:txBody>
          <a:bodyPr>
            <a:noAutofit/>
          </a:bodyPr>
          <a:lstStyle/>
          <a:p>
            <a:pPr algn="ctr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Functional Coverage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B04D03-089B-1CD9-A76F-791EE714A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075267"/>
            <a:ext cx="10676467" cy="5101696"/>
          </a:xfrm>
        </p:spPr>
        <p:txBody>
          <a:bodyPr>
            <a:no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Functional coverage is a user-defined verification metric that checks whether all intended design features and scenarios are tested.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written using covergroups, coverpoints, bins, and crosses in SystemVerilog.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Unlike code coverage, it focuses on functionality rather than executed RTL lines.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7B1B0F-CD6A-CE30-5E30-E6B99CCF3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5360" y="2825005"/>
            <a:ext cx="2970640" cy="37112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FC177E-970C-8557-07B2-33F24D857F67}"/>
              </a:ext>
            </a:extLst>
          </p:cNvPr>
          <p:cNvSpPr txBox="1"/>
          <p:nvPr/>
        </p:nvSpPr>
        <p:spPr>
          <a:xfrm>
            <a:off x="2967566" y="63952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Fig 4.Functional  coverage types</a:t>
            </a:r>
          </a:p>
        </p:txBody>
      </p:sp>
    </p:spTree>
    <p:extLst>
      <p:ext uri="{BB962C8B-B14F-4D97-AF65-F5344CB8AC3E}">
        <p14:creationId xmlns:p14="http://schemas.microsoft.com/office/powerpoint/2010/main" val="30681485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95B2A-AF93-6336-0DF0-FFE32870B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C146E4B-8C32-D677-A890-940121401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65489"/>
          </a:xfrm>
          <a:solidFill>
            <a:schemeClr val="accent6"/>
          </a:solidFill>
        </p:spPr>
        <p:txBody>
          <a:bodyPr>
            <a:noAutofit/>
          </a:bodyPr>
          <a:lstStyle/>
          <a:p>
            <a:pPr algn="ctr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of Functional Coverage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E3C4AA-2DD1-7474-3400-E0B7D1F27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668" y="1356518"/>
            <a:ext cx="3522132" cy="4144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module tb;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bit [1:0] mode;</a:t>
            </a:r>
          </a:p>
          <a:p>
            <a:pPr marL="0" indent="0">
              <a:buNone/>
            </a:pP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covergroup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cg;                                                    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coverpoint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 {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bins IDLE  = {2'b00};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bins READ  = {2'b01};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bins WRITE = {2'b10};    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bins ERROR = {2'b11};   }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endgroup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F8F433-8F31-5DE6-94EC-D7DC5061DE86}"/>
              </a:ext>
            </a:extLst>
          </p:cNvPr>
          <p:cNvSpPr txBox="1"/>
          <p:nvPr/>
        </p:nvSpPr>
        <p:spPr>
          <a:xfrm>
            <a:off x="4461933" y="1364984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cg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cov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new();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initial begin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mode = 2'b00;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cov.sample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();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mode = 2'b01;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cov.sample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();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mode = 2'b10;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cov.sample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();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mode = 2'b11;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cov.sample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();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$display("Coverage = %0.2f %%",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cov.get_coverage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());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</a:t>
            </a:r>
          </a:p>
          <a:p>
            <a:pPr marL="0" indent="0">
              <a:buNone/>
            </a:pP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endmodule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9922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183DB-7673-6982-AF76-751762A7E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32C99D0-4358-44C2-6B01-18263C679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65489"/>
          </a:xfrm>
          <a:solidFill>
            <a:schemeClr val="accent6"/>
          </a:solidFill>
        </p:spPr>
        <p:txBody>
          <a:bodyPr>
            <a:noAutofit/>
          </a:bodyPr>
          <a:lstStyle/>
          <a:p>
            <a:pPr algn="ctr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 Of Functional Coverages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D15B70-6D37-A4A4-FD3D-73B17E73A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075267"/>
            <a:ext cx="10676467" cy="51016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Coverpoint Coverage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Checks whether all values or ranges of a variable are exercised.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to monitor specific design parameters or signals.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Example:coverpoint burst_type;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Ensures all burst types are tested.</a:t>
            </a:r>
          </a:p>
          <a:p>
            <a:pPr marL="0" indent="0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Cross Coverage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Checks combinations of two or more coverpoints.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Useful for verifying interaction between multiple features.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cross burst_type,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burst_size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Ensures all burst type and size combinations occur.</a:t>
            </a:r>
          </a:p>
        </p:txBody>
      </p:sp>
    </p:spTree>
    <p:extLst>
      <p:ext uri="{BB962C8B-B14F-4D97-AF65-F5344CB8AC3E}">
        <p14:creationId xmlns:p14="http://schemas.microsoft.com/office/powerpoint/2010/main" val="3592106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1FC0A-01C2-197B-2EB6-79BAAD3A6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BE481A6-8305-24E9-57BB-614962911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65489"/>
          </a:xfrm>
          <a:solidFill>
            <a:schemeClr val="accent6"/>
          </a:solidFill>
        </p:spPr>
        <p:txBody>
          <a:bodyPr>
            <a:noAutofit/>
          </a:bodyPr>
          <a:lstStyle/>
          <a:p>
            <a:pPr algn="ctr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 Of Functional Coverages(Contd..)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2353D-401C-421E-9FC7-4D80E7D2C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075267"/>
            <a:ext cx="10676467" cy="51016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Transition Coverage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Checks transitions between values or states.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Mainly used for FSM and protocol verification.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bins trans = (IDLE =&gt; BUSY =&gt; DONE);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Ensures the required sequence occurs.</a:t>
            </a:r>
          </a:p>
          <a:p>
            <a:pPr marL="0" indent="0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FSM Coverage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Checks whether all FSM states and transitions are exercised.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ensure complete state-machine verification.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IDLE → READ → WRITE → DONE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states and transitions must be visited.</a:t>
            </a:r>
          </a:p>
        </p:txBody>
      </p:sp>
    </p:spTree>
    <p:extLst>
      <p:ext uri="{BB962C8B-B14F-4D97-AF65-F5344CB8AC3E}">
        <p14:creationId xmlns:p14="http://schemas.microsoft.com/office/powerpoint/2010/main" val="38943703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20CFF-0E89-B7B7-BF51-E059180FB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9FCB78F-BAD7-8EC6-CD94-8041F015E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65489"/>
          </a:xfrm>
          <a:solidFill>
            <a:schemeClr val="accent6"/>
          </a:solidFill>
        </p:spPr>
        <p:txBody>
          <a:bodyPr>
            <a:noAutofit/>
          </a:bodyPr>
          <a:lstStyle/>
          <a:p>
            <a:pPr algn="ctr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 Of Functional Coverages(Contd..)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7E0EAA-1AA1-A94D-A21A-3BA5A0973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075267"/>
            <a:ext cx="10676467" cy="51016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Assertion Coverage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Checks whether assertions/properties are triggered during simulation.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to verify protocol and timing rules.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assert property(req |-&gt; ##1 gnt);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Ensures the assertion is exercised.</a:t>
            </a:r>
          </a:p>
          <a:p>
            <a:pPr marL="0" indent="0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Scenario Coverage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Checks high-level functional scenarios of the design.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Useful for protocol and system-level verification.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FIFO Full, Empty, Overflow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Ensures all important use cases are tested.</a:t>
            </a:r>
          </a:p>
        </p:txBody>
      </p:sp>
    </p:spTree>
    <p:extLst>
      <p:ext uri="{BB962C8B-B14F-4D97-AF65-F5344CB8AC3E}">
        <p14:creationId xmlns:p14="http://schemas.microsoft.com/office/powerpoint/2010/main" val="19781657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75645-12E2-1C87-61E6-57BAC6E23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6C4FEC0-913F-619A-DAA1-5F710F3DD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65489"/>
          </a:xfrm>
          <a:solidFill>
            <a:schemeClr val="accent6"/>
          </a:solidFill>
        </p:spPr>
        <p:txBody>
          <a:bodyPr>
            <a:noAutofit/>
          </a:bodyPr>
          <a:lstStyle/>
          <a:p>
            <a:pPr algn="ctr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 Of Functional Coverages(Contd..)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EC884-C166-8EDB-C4A8-7A8295B79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075267"/>
            <a:ext cx="10676467" cy="51016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Sequence Coverage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Sequence coverage checks whether a specific sequence of events occurs.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commonly used in protocol and transaction verification.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req ##1 gnt ##1 done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Ensures the required event sequence happens correctly.</a:t>
            </a:r>
          </a:p>
        </p:txBody>
      </p:sp>
    </p:spTree>
    <p:extLst>
      <p:ext uri="{BB962C8B-B14F-4D97-AF65-F5344CB8AC3E}">
        <p14:creationId xmlns:p14="http://schemas.microsoft.com/office/powerpoint/2010/main" val="28919963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393A3-2D76-9FE3-82BE-5A795B11F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endParaRPr lang="en-IN"/>
          </a:p>
        </p:txBody>
      </p:sp>
      <p:pic>
        <p:nvPicPr>
          <p:cNvPr id="4" name="Picture 6" descr="Business Thank-You Letter Examples">
            <a:extLst>
              <a:ext uri="{FF2B5EF4-FFF2-40B4-BE49-F238E27FC236}">
                <a16:creationId xmlns:a16="http://schemas.microsoft.com/office/drawing/2014/main" id="{7ECFFA39-EA56-82BF-8033-38007A3886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138" y="261386"/>
            <a:ext cx="11705862" cy="6596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0598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c91e78c-53b9-49d2-80fe-2267c9de2ac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BB9E5490EEBB438C23297E1D25285B" ma:contentTypeVersion="10" ma:contentTypeDescription="Create a new document." ma:contentTypeScope="" ma:versionID="f1ce0bbb77ae981bb3236c4ff3e5e8c2">
  <xsd:schema xmlns:xsd="http://www.w3.org/2001/XMLSchema" xmlns:xs="http://www.w3.org/2001/XMLSchema" xmlns:p="http://schemas.microsoft.com/office/2006/metadata/properties" xmlns:ns3="ec91e78c-53b9-49d2-80fe-2267c9de2ac1" targetNamespace="http://schemas.microsoft.com/office/2006/metadata/properties" ma:root="true" ma:fieldsID="2211f0910273cfef75d430a4eb610fe0" ns3:_="">
    <xsd:import namespace="ec91e78c-53b9-49d2-80fe-2267c9de2ac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91e78c-53b9-49d2-80fe-2267c9de2ac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666954-3D43-40F3-AF96-B2753E1830E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0C30E90-35A2-433D-8294-0F950042F531}">
  <ds:schemaRefs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ec91e78c-53b9-49d2-80fe-2267c9de2ac1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0063AF5-BEA8-4C62-8980-B3BDDFE1EDDD}">
  <ds:schemaRefs>
    <ds:schemaRef ds:uri="ec91e78c-53b9-49d2-80fe-2267c9de2ac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Assertions</Template>
  <TotalTime>165</TotalTime>
  <Words>1520</Words>
  <Application>Microsoft Office PowerPoint</Application>
  <PresentationFormat>Widescreen</PresentationFormat>
  <Paragraphs>212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Cambria Math</vt:lpstr>
      <vt:lpstr>Courier New</vt:lpstr>
      <vt:lpstr>Office Theme</vt:lpstr>
      <vt:lpstr>Assertions &amp; Coverages</vt:lpstr>
      <vt:lpstr>CONTENTS</vt:lpstr>
      <vt:lpstr>Assertion</vt:lpstr>
      <vt:lpstr>Why Assertions?</vt:lpstr>
      <vt:lpstr>Assertions(Contd..)</vt:lpstr>
      <vt:lpstr>Types Of Assertions</vt:lpstr>
      <vt:lpstr>Types Of Assertions(Contd..)</vt:lpstr>
      <vt:lpstr>Types Of Assertions(Contd..)</vt:lpstr>
      <vt:lpstr>Types Of Assertions(Contd..)</vt:lpstr>
      <vt:lpstr>Types Of Assertions(Contd..)</vt:lpstr>
      <vt:lpstr> What is Coverage? </vt:lpstr>
      <vt:lpstr>Types Of Coverages</vt:lpstr>
      <vt:lpstr>Code Coverage</vt:lpstr>
      <vt:lpstr>Types Of Code Coverages</vt:lpstr>
      <vt:lpstr>Types Of Code Coverages(Contd..)</vt:lpstr>
      <vt:lpstr>Types Of Code Coverages(Contd..)</vt:lpstr>
      <vt:lpstr>Functional Coverage</vt:lpstr>
      <vt:lpstr>Example of Functional Coverage</vt:lpstr>
      <vt:lpstr>Types Of Functional Coverages</vt:lpstr>
      <vt:lpstr>Types Of Functional Coverages(Contd..)</vt:lpstr>
      <vt:lpstr>Types Of Functional Coverages(Contd..)</vt:lpstr>
      <vt:lpstr>Types Of Functional Coverages(Contd..)</vt:lpstr>
      <vt:lpstr>   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sravanthi Vennapusa</dc:creator>
  <cp:lastModifiedBy>sravanthi Vennapusa</cp:lastModifiedBy>
  <cp:revision>1</cp:revision>
  <dcterms:created xsi:type="dcterms:W3CDTF">2026-05-15T03:26:28Z</dcterms:created>
  <dcterms:modified xsi:type="dcterms:W3CDTF">2026-05-15T06:11:53Z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0x010100F0BB9E5490EEBB438C23297E1D25285B</vt:lpwstr>
  </property>
</Properties>
</file>