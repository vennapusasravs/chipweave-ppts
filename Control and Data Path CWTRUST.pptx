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8" r:id="rId6"/>
    <p:sldId id="544" r:id="rId7"/>
    <p:sldId id="555" r:id="rId8"/>
    <p:sldId id="557" r:id="rId9"/>
    <p:sldId id="556" r:id="rId10"/>
    <p:sldId id="32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8" autoAdjust="0"/>
    <p:restoredTop sz="94660"/>
  </p:normalViewPr>
  <p:slideViewPr>
    <p:cSldViewPr snapToGrid="0">
      <p:cViewPr varScale="1">
        <p:scale>
          <a:sx n="87" d="100"/>
          <a:sy n="87" d="100"/>
        </p:scale>
        <p:origin x="8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48B49-6135-48B6-AC0F-97E5D8D1F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88558" y="729469"/>
            <a:ext cx="9014348" cy="2402006"/>
          </a:xfrm>
        </p:spPr>
        <p:txBody>
          <a:bodyPr anchor="b">
            <a:normAutofit/>
          </a:bodyPr>
          <a:lstStyle/>
          <a:p>
            <a:r>
              <a:rPr lang="en-US" sz="4800" dirty="0"/>
              <a:t>Control &amp; Datapath in SoC IFC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8" y="4374554"/>
            <a:ext cx="12192007" cy="248344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40655" y="4374554"/>
            <a:ext cx="4051344" cy="2483446"/>
          </a:xfrm>
          <a:prstGeom prst="rect">
            <a:avLst/>
          </a:prstGeom>
          <a:gradFill>
            <a:gsLst>
              <a:gs pos="4000">
                <a:schemeClr val="accent1">
                  <a:alpha val="21000"/>
                </a:schemeClr>
              </a:gs>
              <a:gs pos="83000">
                <a:schemeClr val="accent1">
                  <a:lumMod val="50000"/>
                  <a:alpha val="61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56AC18-FB41-4977-8B0C-F5082335A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379429"/>
            <a:ext cx="12191984" cy="1953928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alpha val="5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8" y="4380927"/>
            <a:ext cx="12192000" cy="2019443"/>
          </a:xfrm>
          <a:prstGeom prst="rect">
            <a:avLst/>
          </a:prstGeom>
          <a:gradFill>
            <a:gsLst>
              <a:gs pos="32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45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54852" y="4869375"/>
            <a:ext cx="3827986" cy="1020664"/>
          </a:xfrm>
        </p:spPr>
        <p:txBody>
          <a:bodyPr anchor="ctr">
            <a:normAutofit fontScale="70000" lnSpcReduction="20000"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V.SRAVANTHI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DESIGN ENGINEER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CHIPWEAVE TECHNOLOGIES PVT LTD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1B35B5-1EF0-7F98-DE21-64AEB3584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898" y="12505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Control Path in SoC IFC</a:t>
            </a:r>
          </a:p>
          <a:p>
            <a:r>
              <a:rPr lang="en-US" dirty="0">
                <a:ea typeface="+mn-lt"/>
                <a:cs typeface="+mn-lt"/>
              </a:rPr>
              <a:t>Datapath in SoC IFC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C32F6C-B7EE-A57C-0B32-A168B30F2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68996" cy="865489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US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90535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AF651-34D8-CB23-9728-B361B8712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891860-9D3A-06A2-9951-0CE21AA996F8}"/>
              </a:ext>
            </a:extLst>
          </p:cNvPr>
          <p:cNvSpPr/>
          <p:nvPr/>
        </p:nvSpPr>
        <p:spPr>
          <a:xfrm>
            <a:off x="362311" y="232913"/>
            <a:ext cx="2372264" cy="1595892"/>
          </a:xfrm>
          <a:prstGeom prst="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Clock &amp; Reset Control</a:t>
            </a: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clk_cg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soc_ifc_clk_cg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rdc_clk_cg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cptra_pwrgood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cptra_rst_b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9A8267-47B6-F21D-A8EB-8D39FE3BB6DE}"/>
              </a:ext>
            </a:extLst>
          </p:cNvPr>
          <p:cNvSpPr/>
          <p:nvPr/>
        </p:nvSpPr>
        <p:spPr>
          <a:xfrm>
            <a:off x="3447691" y="232913"/>
            <a:ext cx="2021456" cy="15958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Boot FSM Control</a:t>
            </a:r>
          </a:p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(Boot FSM)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ready_for_fuses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boot_fsm_ps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cptra_noncore_rst_b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cptra_uc_rst_b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iccm_unlock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69ACBC-0B7C-4E96-EA3D-48C12E46A13E}"/>
              </a:ext>
            </a:extLst>
          </p:cNvPr>
          <p:cNvSpPr/>
          <p:nvPr/>
        </p:nvSpPr>
        <p:spPr>
          <a:xfrm>
            <a:off x="6533072" y="232913"/>
            <a:ext cx="1897812" cy="15958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AXI4 Slave Interface Control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soc_req_dv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soc_req_hold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soc_req_error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EFDE66-0810-D33E-C232-046BE3D36B27}"/>
              </a:ext>
            </a:extLst>
          </p:cNvPr>
          <p:cNvSpPr/>
          <p:nvPr/>
        </p:nvSpPr>
        <p:spPr>
          <a:xfrm>
            <a:off x="9385539" y="232913"/>
            <a:ext cx="1968261" cy="159589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AHB-Lite Slave    Interface Control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uc_req_dv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uc_req_hold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uc_req_error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6EF49D-17BD-0A85-B24B-EBD74D8BDA8D}"/>
              </a:ext>
            </a:extLst>
          </p:cNvPr>
          <p:cNvSpPr/>
          <p:nvPr/>
        </p:nvSpPr>
        <p:spPr>
          <a:xfrm>
            <a:off x="498888" y="4764836"/>
            <a:ext cx="3269411" cy="1756913"/>
          </a:xfrm>
          <a:prstGeom prst="rect">
            <a:avLst/>
          </a:prstGeom>
          <a:solidFill>
            <a:schemeClr val="bg1">
              <a:lumMod val="8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Debug Control(Debug Registers / DMI Control)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BootFSM_BrkPoint_valid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BootFSM_BrkPoint_Latched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cptra_ss_debug_intent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cptra_uncore_dmi_locked_reg_en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cptra_uncore_dmi_unlocked_reg_en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F1E515F-78DE-298E-A138-6FDA56B6EF27}"/>
              </a:ext>
            </a:extLst>
          </p:cNvPr>
          <p:cNvSpPr/>
          <p:nvPr/>
        </p:nvSpPr>
        <p:spPr>
          <a:xfrm>
            <a:off x="4068608" y="4525959"/>
            <a:ext cx="3545639" cy="2257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Fuse &amp; Lock Control(Fuse Register)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fuse_done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fuse_wr_done_reg_write_observed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CPTRA_FUSE_WR_DONE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CPTRA_CAP_LOCK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CPTRA_OWNER_PK_HASH_LOCK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stable_owner_key_en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ss_ocp_lock_in_progress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90264F-F94B-547B-9598-A8EC005938E4}"/>
              </a:ext>
            </a:extLst>
          </p:cNvPr>
          <p:cNvSpPr/>
          <p:nvPr/>
        </p:nvSpPr>
        <p:spPr>
          <a:xfrm>
            <a:off x="8009983" y="4770497"/>
            <a:ext cx="3238862" cy="19811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Security Control</a:t>
            </a:r>
          </a:p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(Security Registers)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valid_mbox_users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valid_trng_user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valid_fuse_user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valid_sha_user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security_state.debug_locked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scan_mode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9D617-4436-6001-459A-412DD89462C5}"/>
              </a:ext>
            </a:extLst>
          </p:cNvPr>
          <p:cNvSpPr/>
          <p:nvPr/>
        </p:nvSpPr>
        <p:spPr>
          <a:xfrm>
            <a:off x="7141933" y="2087503"/>
            <a:ext cx="3796361" cy="225748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Arbitration Control</a:t>
            </a:r>
          </a:p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(Adressdecoder &amp; Arbitration)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mbox_req_dv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mbox_req_hold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sha_req_dv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sha_req_hold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dma_reg_req_dv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dma_reg_req_hold</a:t>
            </a:r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soc_ifc_reg_req_dv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soc_ifc_reg_req_hold</a:t>
            </a:r>
            <a:endParaRPr lang="en-IN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740D7-D146-2295-7844-1F76D9A29CBF}"/>
              </a:ext>
            </a:extLst>
          </p:cNvPr>
          <p:cNvSpPr/>
          <p:nvPr/>
        </p:nvSpPr>
        <p:spPr>
          <a:xfrm>
            <a:off x="431322" y="2096189"/>
            <a:ext cx="3407433" cy="2248802"/>
          </a:xfrm>
          <a:prstGeom prst="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Interrupt Control Signals</a:t>
            </a:r>
          </a:p>
          <a:p>
            <a:pPr algn="just"/>
            <a:r>
              <a:rPr lang="en-IN" b="1" dirty="0"/>
              <a:t>(Interrupt Registers)</a:t>
            </a:r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soc_ifc_error_intr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soc_ifc_notif_intr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timer_intr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nmi_intr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t1_timeout_p </a:t>
            </a:r>
          </a:p>
          <a:p>
            <a:pPr algn="just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t2_timeout_p 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48307BD-94BB-F502-1C0B-4F66BAD2E464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>
            <a:off x="2734575" y="1030859"/>
            <a:ext cx="71311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88A5C4F-6CAD-3027-058F-230DC959C013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5469147" y="1030859"/>
            <a:ext cx="106392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889F54D-FADC-2269-E351-D68B20B94422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8430884" y="1030859"/>
            <a:ext cx="9546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3607EBD5-965B-2E33-016D-2DE2D829472A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rot="16200000" flipH="1">
            <a:off x="8131697" y="1179086"/>
            <a:ext cx="258698" cy="155813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36737B48-BE52-5B64-9C93-E21E5593E88E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5400000">
            <a:off x="9575543" y="1293376"/>
            <a:ext cx="258698" cy="132955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B6883FFC-4145-8677-BFE7-C4FCE635810E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7614247" y="5761078"/>
            <a:ext cx="39573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92AB56E-4601-DE48-53B5-14F2A0147116}"/>
              </a:ext>
            </a:extLst>
          </p:cNvPr>
          <p:cNvCxnSpPr>
            <a:cxnSpLocks/>
            <a:stCxn id="12" idx="1"/>
            <a:endCxn id="11" idx="3"/>
          </p:cNvCxnSpPr>
          <p:nvPr/>
        </p:nvCxnSpPr>
        <p:spPr>
          <a:xfrm flipH="1" flipV="1">
            <a:off x="3768299" y="5643293"/>
            <a:ext cx="300309" cy="1141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03D0529-43F0-D860-8816-5D6969283ED1}"/>
              </a:ext>
            </a:extLst>
          </p:cNvPr>
          <p:cNvCxnSpPr>
            <a:cxnSpLocks/>
            <a:stCxn id="11" idx="0"/>
            <a:endCxn id="15" idx="2"/>
          </p:cNvCxnSpPr>
          <p:nvPr/>
        </p:nvCxnSpPr>
        <p:spPr>
          <a:xfrm flipV="1">
            <a:off x="2133594" y="4344991"/>
            <a:ext cx="1445" cy="4198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F0502D74-9F4A-1B80-27B9-5E897793D9E7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 rot="16200000" flipH="1">
            <a:off x="9122012" y="4263094"/>
            <a:ext cx="425505" cy="58930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BD71DF92-4AB0-2683-1C13-1B84C3AD09C4}"/>
              </a:ext>
            </a:extLst>
          </p:cNvPr>
          <p:cNvSpPr txBox="1"/>
          <p:nvPr/>
        </p:nvSpPr>
        <p:spPr>
          <a:xfrm>
            <a:off x="3948992" y="2547577"/>
            <a:ext cx="308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Control Path in SoC IFC</a:t>
            </a:r>
          </a:p>
        </p:txBody>
      </p:sp>
    </p:spTree>
    <p:extLst>
      <p:ext uri="{BB962C8B-B14F-4D97-AF65-F5344CB8AC3E}">
        <p14:creationId xmlns:p14="http://schemas.microsoft.com/office/powerpoint/2010/main" val="582842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27E45-79F7-FB47-D71F-46A7BFBF4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335E6C-02F6-BCC4-2EBA-386C3082A135}"/>
              </a:ext>
            </a:extLst>
          </p:cNvPr>
          <p:cNvSpPr/>
          <p:nvPr/>
        </p:nvSpPr>
        <p:spPr>
          <a:xfrm>
            <a:off x="354398" y="1268080"/>
            <a:ext cx="1633272" cy="5520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Clock &amp; Reset Control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F43CAEC-2581-DD8C-D9D3-BCAD327A11DA}"/>
              </a:ext>
            </a:extLst>
          </p:cNvPr>
          <p:cNvSpPr/>
          <p:nvPr/>
        </p:nvSpPr>
        <p:spPr>
          <a:xfrm>
            <a:off x="2921835" y="1268080"/>
            <a:ext cx="1633272" cy="5520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Boot FSM Control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BF9F8D-AA89-4833-0BAB-FEC6AC2AD9E0}"/>
              </a:ext>
            </a:extLst>
          </p:cNvPr>
          <p:cNvSpPr/>
          <p:nvPr/>
        </p:nvSpPr>
        <p:spPr>
          <a:xfrm>
            <a:off x="6806000" y="936107"/>
            <a:ext cx="1633272" cy="5520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AXI_SUB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2BECA9-2EA8-099D-E080-371FE2B7EF49}"/>
              </a:ext>
            </a:extLst>
          </p:cNvPr>
          <p:cNvSpPr/>
          <p:nvPr/>
        </p:nvSpPr>
        <p:spPr>
          <a:xfrm>
            <a:off x="6749902" y="2220948"/>
            <a:ext cx="1689369" cy="5520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AHB_SLV_IFC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84AF62-A394-5B24-8229-BD2A50FA244E}"/>
              </a:ext>
            </a:extLst>
          </p:cNvPr>
          <p:cNvSpPr/>
          <p:nvPr/>
        </p:nvSpPr>
        <p:spPr>
          <a:xfrm>
            <a:off x="9836507" y="1091616"/>
            <a:ext cx="2012828" cy="107721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Arbitration Control </a:t>
            </a:r>
            <a:b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(Address Decode &amp; Arbitration)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400C19F-0A98-B74F-E03C-2A00ED36D81B}"/>
              </a:ext>
            </a:extLst>
          </p:cNvPr>
          <p:cNvSpPr/>
          <p:nvPr/>
        </p:nvSpPr>
        <p:spPr>
          <a:xfrm>
            <a:off x="5229876" y="3634594"/>
            <a:ext cx="1633272" cy="5520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Mailbox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31387BB-B923-828D-FD49-C3D8B345D54C}"/>
              </a:ext>
            </a:extLst>
          </p:cNvPr>
          <p:cNvSpPr/>
          <p:nvPr/>
        </p:nvSpPr>
        <p:spPr>
          <a:xfrm>
            <a:off x="7136315" y="3634594"/>
            <a:ext cx="1633272" cy="552086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SHA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ED0F103-4801-EB17-FFF1-6FA9BC2F826C}"/>
              </a:ext>
            </a:extLst>
          </p:cNvPr>
          <p:cNvSpPr/>
          <p:nvPr/>
        </p:nvSpPr>
        <p:spPr>
          <a:xfrm>
            <a:off x="8965113" y="3359801"/>
            <a:ext cx="1895183" cy="82687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Dynamic Memory Access(DMA)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8F199BE-ADC9-8899-A2F5-CB4FA4D6BF6F}"/>
              </a:ext>
            </a:extLst>
          </p:cNvPr>
          <p:cNvSpPr/>
          <p:nvPr/>
        </p:nvSpPr>
        <p:spPr>
          <a:xfrm>
            <a:off x="2583039" y="3606825"/>
            <a:ext cx="1768417" cy="5520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SOC_IFC_REG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BDAD65-3C61-15B2-4732-E978F5FB4B8E}"/>
              </a:ext>
            </a:extLst>
          </p:cNvPr>
          <p:cNvSpPr/>
          <p:nvPr/>
        </p:nvSpPr>
        <p:spPr>
          <a:xfrm>
            <a:off x="507023" y="4411600"/>
            <a:ext cx="1757176" cy="69841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Interrupt Control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6378BD4-342E-28C8-20DC-1F38B9D17320}"/>
              </a:ext>
            </a:extLst>
          </p:cNvPr>
          <p:cNvSpPr/>
          <p:nvPr/>
        </p:nvSpPr>
        <p:spPr>
          <a:xfrm>
            <a:off x="8149983" y="5172316"/>
            <a:ext cx="1934089" cy="5520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Security Control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0B49E24-3C3D-F53D-B5A4-D41A0122B303}"/>
              </a:ext>
            </a:extLst>
          </p:cNvPr>
          <p:cNvSpPr/>
          <p:nvPr/>
        </p:nvSpPr>
        <p:spPr>
          <a:xfrm>
            <a:off x="8073461" y="6059487"/>
            <a:ext cx="2131122" cy="55208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Fuse &amp; Lock Control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EBA9C58-3C73-8DBE-9BB6-73709ACBD432}"/>
              </a:ext>
            </a:extLst>
          </p:cNvPr>
          <p:cNvSpPr/>
          <p:nvPr/>
        </p:nvSpPr>
        <p:spPr>
          <a:xfrm>
            <a:off x="3350483" y="5888867"/>
            <a:ext cx="1940534" cy="89332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Debug Module Interface(DMI) Control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E95D593-6E43-D055-B1A9-9F9CA06589E4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8439272" y="1212150"/>
            <a:ext cx="1397235" cy="418075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C39C10B-E49A-FF7C-F149-155FAD574408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8439271" y="1630225"/>
            <a:ext cx="1397236" cy="866766"/>
          </a:xfrm>
          <a:prstGeom prst="bentConnector3">
            <a:avLst>
              <a:gd name="adj1" fmla="val 5000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C9D75D67-E632-98FC-9E7A-EAC6AC1AACCD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rot="5400000">
            <a:off x="6436090" y="-800007"/>
            <a:ext cx="1437991" cy="7375673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0F0A7F7D-149A-198B-A9BB-A47E73A637B6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7711837" y="503510"/>
            <a:ext cx="1465760" cy="4796409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A5778B47-9141-424C-74C1-9293FDB18184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rot="5400000">
            <a:off x="8665056" y="1456729"/>
            <a:ext cx="1465760" cy="2889970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17D6BE4B-461B-D820-5FF6-5ADE4B96EC04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9782330" y="2299209"/>
            <a:ext cx="1190967" cy="930216"/>
          </a:xfrm>
          <a:prstGeom prst="bentConnector3">
            <a:avLst>
              <a:gd name="adj1" fmla="val 6107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C4815A01-7BEC-C109-3F44-7362F2D7F4E4}"/>
              </a:ext>
            </a:extLst>
          </p:cNvPr>
          <p:cNvSpPr txBox="1"/>
          <p:nvPr/>
        </p:nvSpPr>
        <p:spPr>
          <a:xfrm>
            <a:off x="3533172" y="4186680"/>
            <a:ext cx="3216729" cy="73866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soc_ifc_reg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req_dv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soc_ifc_reg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req_hold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120FFFB-008A-D0BE-18FA-75DD4101F4B7}"/>
              </a:ext>
            </a:extLst>
          </p:cNvPr>
          <p:cNvSpPr txBox="1"/>
          <p:nvPr/>
        </p:nvSpPr>
        <p:spPr>
          <a:xfrm>
            <a:off x="6145489" y="4208494"/>
            <a:ext cx="1340945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mbox_req_dv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mbox_req_hold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BF42894-E6AB-46A1-BD37-84C59354B5FF}"/>
              </a:ext>
            </a:extLst>
          </p:cNvPr>
          <p:cNvSpPr txBox="1"/>
          <p:nvPr/>
        </p:nvSpPr>
        <p:spPr>
          <a:xfrm>
            <a:off x="8037206" y="4208641"/>
            <a:ext cx="1185774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sha_req_dv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sha_req_hold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7EE02D4-1CF2-1517-E4E8-201527333072}"/>
              </a:ext>
            </a:extLst>
          </p:cNvPr>
          <p:cNvSpPr txBox="1"/>
          <p:nvPr/>
        </p:nvSpPr>
        <p:spPr>
          <a:xfrm>
            <a:off x="10010907" y="4217748"/>
            <a:ext cx="1674070" cy="52322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dma_req_dv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dma_req_hold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A43AEAE-BE1E-C7CE-86AD-FAE1CD6000D9}"/>
              </a:ext>
            </a:extLst>
          </p:cNvPr>
          <p:cNvSpPr txBox="1"/>
          <p:nvPr/>
        </p:nvSpPr>
        <p:spPr>
          <a:xfrm>
            <a:off x="1067788" y="572512"/>
            <a:ext cx="2838989" cy="523220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clk/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clk_cg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/soc_ifc_clk_cg/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rdc_clk_cg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cwtrust_pwrgood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cwtrust_rst_b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55EBAF-5117-FE2A-43C3-5845B503A290}"/>
              </a:ext>
            </a:extLst>
          </p:cNvPr>
          <p:cNvSpPr txBox="1"/>
          <p:nvPr/>
        </p:nvSpPr>
        <p:spPr>
          <a:xfrm>
            <a:off x="4698161" y="1081502"/>
            <a:ext cx="1633272" cy="73866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ready_for_fuses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boot_fsm_ps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iccm_unlock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BEB15BB-8846-0591-A7F2-6ADDC3A98CC4}"/>
              </a:ext>
            </a:extLst>
          </p:cNvPr>
          <p:cNvSpPr txBox="1"/>
          <p:nvPr/>
        </p:nvSpPr>
        <p:spPr>
          <a:xfrm>
            <a:off x="8560702" y="389457"/>
            <a:ext cx="1258230" cy="738664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soc_req_dv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soc_req_hold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soc_req_error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4A8DAE-6AFF-C089-F002-E3545143F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"/>
            <a:ext cx="12200633" cy="449199"/>
          </a:xfrm>
          <a:solidFill>
            <a:schemeClr val="accent6"/>
          </a:solidFill>
        </p:spPr>
        <p:txBody>
          <a:bodyPr>
            <a:normAutofit fontScale="90000"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SOC_IFC Control Path</a:t>
            </a:r>
            <a:endParaRPr lang="en-US" sz="3200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7261082-3844-075E-B371-DEF675C75197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987670" y="1544123"/>
            <a:ext cx="934165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70D0BC7-9236-8F2B-A367-075C6A26AE64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6279442" y="1212150"/>
            <a:ext cx="526558" cy="74505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DF8DCE50-1E03-C947-908F-624BA251BE51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279442" y="1957201"/>
            <a:ext cx="470460" cy="539790"/>
          </a:xfrm>
          <a:prstGeom prst="bentConnector3">
            <a:avLst>
              <a:gd name="adj1" fmla="val 5381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1CB1A803-DD5F-C340-FD42-F31BC2EFAFB8}"/>
              </a:ext>
            </a:extLst>
          </p:cNvPr>
          <p:cNvSpPr txBox="1"/>
          <p:nvPr/>
        </p:nvSpPr>
        <p:spPr>
          <a:xfrm>
            <a:off x="8037206" y="1528988"/>
            <a:ext cx="111120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uc_req_dv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uc_req_hold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uc_req_error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B21F68CD-1EC0-E913-FE61-86408EA79F88}"/>
              </a:ext>
            </a:extLst>
          </p:cNvPr>
          <p:cNvCxnSpPr>
            <a:cxnSpLocks/>
            <a:stCxn id="12" idx="2"/>
            <a:endCxn id="16" idx="0"/>
          </p:cNvCxnSpPr>
          <p:nvPr/>
        </p:nvCxnSpPr>
        <p:spPr>
          <a:xfrm rot="5400000">
            <a:off x="9022049" y="4281660"/>
            <a:ext cx="985636" cy="795677"/>
          </a:xfrm>
          <a:prstGeom prst="bentConnector3">
            <a:avLst>
              <a:gd name="adj1" fmla="val 67841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9529FAEB-A5B3-DECF-6F02-F29BBA87DA8C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rot="16200000" flipH="1">
            <a:off x="7088952" y="3144240"/>
            <a:ext cx="985636" cy="3070516"/>
          </a:xfrm>
          <a:prstGeom prst="bentConnector3">
            <a:avLst>
              <a:gd name="adj1" fmla="val 68733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: Elbow 102">
            <a:extLst>
              <a:ext uri="{FF2B5EF4-FFF2-40B4-BE49-F238E27FC236}">
                <a16:creationId xmlns:a16="http://schemas.microsoft.com/office/drawing/2014/main" id="{6A276675-5734-459C-8B82-AC9AA0E522A1}"/>
              </a:ext>
            </a:extLst>
          </p:cNvPr>
          <p:cNvCxnSpPr>
            <a:cxnSpLocks/>
            <a:stCxn id="14" idx="2"/>
            <a:endCxn id="16" idx="0"/>
          </p:cNvCxnSpPr>
          <p:nvPr/>
        </p:nvCxnSpPr>
        <p:spPr>
          <a:xfrm rot="16200000" flipH="1">
            <a:off x="5785436" y="1840723"/>
            <a:ext cx="1013405" cy="5649780"/>
          </a:xfrm>
          <a:prstGeom prst="bentConnector3">
            <a:avLst>
              <a:gd name="adj1" fmla="val 69087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: Elbow 119">
            <a:extLst>
              <a:ext uri="{FF2B5EF4-FFF2-40B4-BE49-F238E27FC236}">
                <a16:creationId xmlns:a16="http://schemas.microsoft.com/office/drawing/2014/main" id="{978D05A0-7CD4-0E5F-6047-760D6CAE2DC5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 rot="16200000" flipH="1">
            <a:off x="8042171" y="4097459"/>
            <a:ext cx="985636" cy="1164077"/>
          </a:xfrm>
          <a:prstGeom prst="bentConnector3">
            <a:avLst>
              <a:gd name="adj1" fmla="val 6695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F0F36997-24F8-6F5E-951E-F48E97B31990}"/>
              </a:ext>
            </a:extLst>
          </p:cNvPr>
          <p:cNvCxnSpPr>
            <a:cxnSpLocks/>
          </p:cNvCxnSpPr>
          <p:nvPr/>
        </p:nvCxnSpPr>
        <p:spPr>
          <a:xfrm flipH="1">
            <a:off x="9018512" y="5724399"/>
            <a:ext cx="629" cy="335088"/>
          </a:xfrm>
          <a:prstGeom prst="straightConnector1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40EF4A47-E8B6-63FA-544E-18BC584E9DF2}"/>
              </a:ext>
            </a:extLst>
          </p:cNvPr>
          <p:cNvSpPr txBox="1"/>
          <p:nvPr/>
        </p:nvSpPr>
        <p:spPr>
          <a:xfrm>
            <a:off x="10299769" y="5044627"/>
            <a:ext cx="24641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valid_mbox_users/ valid_trng_user/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valid_fuse_user/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valid_sha_user/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scan_mode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9520AE9-9F21-3498-290A-C4BFFCACB495}"/>
              </a:ext>
            </a:extLst>
          </p:cNvPr>
          <p:cNvSpPr txBox="1"/>
          <p:nvPr/>
        </p:nvSpPr>
        <p:spPr>
          <a:xfrm>
            <a:off x="5500826" y="4970346"/>
            <a:ext cx="280031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fuse_done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fuse_wr_done_reg_write_observed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CPTRA_FUSE_WR_DONE/ </a:t>
            </a:r>
          </a:p>
          <a:p>
            <a: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CPTRA_CAP_LOCK</a:t>
            </a:r>
            <a:b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2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CPTRA_OWNER_PK_HASH_LOCK/</a:t>
            </a: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stable_owner_key_en</a:t>
            </a: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</a:p>
          <a:p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ss_ocp_lock_in_progress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8FD2A1A9-1160-EDB4-BE29-70EF1072D503}"/>
              </a:ext>
            </a:extLst>
          </p:cNvPr>
          <p:cNvCxnSpPr>
            <a:cxnSpLocks/>
          </p:cNvCxnSpPr>
          <p:nvPr/>
        </p:nvCxnSpPr>
        <p:spPr>
          <a:xfrm flipH="1">
            <a:off x="5291017" y="6491571"/>
            <a:ext cx="2782444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ED020FCC-9FC7-0EF5-6933-04FFC4E22ADD}"/>
              </a:ext>
            </a:extLst>
          </p:cNvPr>
          <p:cNvSpPr txBox="1"/>
          <p:nvPr/>
        </p:nvSpPr>
        <p:spPr>
          <a:xfrm>
            <a:off x="258803" y="5254304"/>
            <a:ext cx="309168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BootFSM_BrkPoint_valid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BootFSM_BrkPoint_Latched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cwtrust_ss_debug_intent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cwtrust_uncore_dmi_locked_reg_en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cwtrust_uncore_dmi_unlocked_reg_en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78" name="Connector: Elbow 177">
            <a:extLst>
              <a:ext uri="{FF2B5EF4-FFF2-40B4-BE49-F238E27FC236}">
                <a16:creationId xmlns:a16="http://schemas.microsoft.com/office/drawing/2014/main" id="{5A4811E3-870C-B75C-E105-007DBC8AA2B1}"/>
              </a:ext>
            </a:extLst>
          </p:cNvPr>
          <p:cNvCxnSpPr>
            <a:cxnSpLocks/>
            <a:endCxn id="15" idx="1"/>
          </p:cNvCxnSpPr>
          <p:nvPr/>
        </p:nvCxnSpPr>
        <p:spPr>
          <a:xfrm rot="10800000">
            <a:off x="507024" y="4760806"/>
            <a:ext cx="2854783" cy="1807343"/>
          </a:xfrm>
          <a:prstGeom prst="bentConnector3">
            <a:avLst>
              <a:gd name="adj1" fmla="val 108008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: Rounded Corners 189">
            <a:extLst>
              <a:ext uri="{FF2B5EF4-FFF2-40B4-BE49-F238E27FC236}">
                <a16:creationId xmlns:a16="http://schemas.microsoft.com/office/drawing/2014/main" id="{31D3F2C5-F44E-ADC1-989E-257127B1D4E8}"/>
              </a:ext>
            </a:extLst>
          </p:cNvPr>
          <p:cNvSpPr/>
          <p:nvPr/>
        </p:nvSpPr>
        <p:spPr>
          <a:xfrm>
            <a:off x="507023" y="2388228"/>
            <a:ext cx="1562990" cy="355648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09BC9FC1-264E-9A81-AFD6-D26AC43D035A}"/>
              </a:ext>
            </a:extLst>
          </p:cNvPr>
          <p:cNvSpPr txBox="1"/>
          <p:nvPr/>
        </p:nvSpPr>
        <p:spPr>
          <a:xfrm>
            <a:off x="1031817" y="2844224"/>
            <a:ext cx="152907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soc_ifc_error_intr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soc_ifc_notif_intr</a:t>
            </a:r>
            <a:b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timer_intr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nmi_intr</a:t>
            </a:r>
            <a:endParaRPr lang="en-IN" sz="1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t1,t2_timeout_p</a:t>
            </a:r>
          </a:p>
        </p:txBody>
      </p:sp>
      <p:cxnSp>
        <p:nvCxnSpPr>
          <p:cNvPr id="193" name="Straight Arrow Connector 192">
            <a:extLst>
              <a:ext uri="{FF2B5EF4-FFF2-40B4-BE49-F238E27FC236}">
                <a16:creationId xmlns:a16="http://schemas.microsoft.com/office/drawing/2014/main" id="{BF232A5C-A126-C3DB-E584-D015688EB80F}"/>
              </a:ext>
            </a:extLst>
          </p:cNvPr>
          <p:cNvCxnSpPr>
            <a:cxnSpLocks/>
          </p:cNvCxnSpPr>
          <p:nvPr/>
        </p:nvCxnSpPr>
        <p:spPr>
          <a:xfrm flipV="1">
            <a:off x="1056862" y="2721182"/>
            <a:ext cx="0" cy="16904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Arrow Connector 208">
            <a:extLst>
              <a:ext uri="{FF2B5EF4-FFF2-40B4-BE49-F238E27FC236}">
                <a16:creationId xmlns:a16="http://schemas.microsoft.com/office/drawing/2014/main" id="{8E4E0EEB-97F2-D1CE-EE89-BD93C6ACAC11}"/>
              </a:ext>
            </a:extLst>
          </p:cNvPr>
          <p:cNvCxnSpPr>
            <a:cxnSpLocks/>
          </p:cNvCxnSpPr>
          <p:nvPr/>
        </p:nvCxnSpPr>
        <p:spPr>
          <a:xfrm>
            <a:off x="3077308" y="1820166"/>
            <a:ext cx="0" cy="181442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3" name="Connector: Elbow 212">
            <a:extLst>
              <a:ext uri="{FF2B5EF4-FFF2-40B4-BE49-F238E27FC236}">
                <a16:creationId xmlns:a16="http://schemas.microsoft.com/office/drawing/2014/main" id="{0735F6C3-7ADC-D8CA-49B8-CAE649BD37AC}"/>
              </a:ext>
            </a:extLst>
          </p:cNvPr>
          <p:cNvCxnSpPr>
            <a:cxnSpLocks/>
          </p:cNvCxnSpPr>
          <p:nvPr/>
        </p:nvCxnSpPr>
        <p:spPr>
          <a:xfrm flipV="1">
            <a:off x="3235569" y="1957201"/>
            <a:ext cx="3043873" cy="1649624"/>
          </a:xfrm>
          <a:prstGeom prst="bentConnector3">
            <a:avLst>
              <a:gd name="adj1" fmla="val 2628"/>
            </a:avLst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33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D71EF-E835-6D42-629C-8B8194FB0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ADA03-6BEC-6A68-53C6-732AE5383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57D7209-08CA-F3D3-6A3D-9D8550E911DB}"/>
              </a:ext>
            </a:extLst>
          </p:cNvPr>
          <p:cNvSpPr/>
          <p:nvPr/>
        </p:nvSpPr>
        <p:spPr>
          <a:xfrm>
            <a:off x="795067" y="1268082"/>
            <a:ext cx="1633272" cy="5520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SoC Host </a:t>
            </a:r>
          </a:p>
          <a:p>
            <a:pPr algn="ctr"/>
            <a:r>
              <a:rPr lang="en-IN" dirty="0"/>
              <a:t>(AXI)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7EFC53-A109-5FC2-3242-F8A7E84D0DE3}"/>
              </a:ext>
            </a:extLst>
          </p:cNvPr>
          <p:cNvSpPr/>
          <p:nvPr/>
        </p:nvSpPr>
        <p:spPr>
          <a:xfrm>
            <a:off x="795067" y="2242936"/>
            <a:ext cx="1633272" cy="5520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Cwtrust uC</a:t>
            </a:r>
          </a:p>
          <a:p>
            <a:pPr algn="ctr"/>
            <a:r>
              <a:rPr lang="en-IN" dirty="0"/>
              <a:t>(AHB Lite)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891702D-F280-78E5-8CDB-B26DEAA76C78}"/>
              </a:ext>
            </a:extLst>
          </p:cNvPr>
          <p:cNvSpPr/>
          <p:nvPr/>
        </p:nvSpPr>
        <p:spPr>
          <a:xfrm>
            <a:off x="3594337" y="1268082"/>
            <a:ext cx="1633272" cy="5520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AXI_SUB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2AB8995-99B7-F626-3955-386EEE5E4B91}"/>
              </a:ext>
            </a:extLst>
          </p:cNvPr>
          <p:cNvSpPr/>
          <p:nvPr/>
        </p:nvSpPr>
        <p:spPr>
          <a:xfrm>
            <a:off x="3585715" y="2249341"/>
            <a:ext cx="1633272" cy="552086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AHB_SLV_IFC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ABA9A9-195E-5C2D-D689-44D78C1B8695}"/>
              </a:ext>
            </a:extLst>
          </p:cNvPr>
          <p:cNvSpPr/>
          <p:nvPr/>
        </p:nvSpPr>
        <p:spPr>
          <a:xfrm>
            <a:off x="7837351" y="1332489"/>
            <a:ext cx="2012828" cy="975354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SOC_IFC_ARB </a:t>
            </a:r>
            <a:br>
              <a:rPr lang="en-IN" dirty="0"/>
            </a:br>
            <a:r>
              <a:rPr lang="en-IN" dirty="0"/>
              <a:t>Address Decoder / Mux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0A01BF-0B06-CC91-A402-05F09B654D1D}"/>
              </a:ext>
            </a:extLst>
          </p:cNvPr>
          <p:cNvSpPr/>
          <p:nvPr/>
        </p:nvSpPr>
        <p:spPr>
          <a:xfrm>
            <a:off x="3585715" y="3634594"/>
            <a:ext cx="1633272" cy="5520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Mailbox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20BC61-1965-0B58-5E3C-7B1B49116367}"/>
              </a:ext>
            </a:extLst>
          </p:cNvPr>
          <p:cNvSpPr/>
          <p:nvPr/>
        </p:nvSpPr>
        <p:spPr>
          <a:xfrm>
            <a:off x="5492154" y="3634594"/>
            <a:ext cx="1633272" cy="552086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SHA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885D82-9C9B-9CBB-F8E9-7914D3342834}"/>
              </a:ext>
            </a:extLst>
          </p:cNvPr>
          <p:cNvSpPr/>
          <p:nvPr/>
        </p:nvSpPr>
        <p:spPr>
          <a:xfrm>
            <a:off x="7320952" y="3359801"/>
            <a:ext cx="1895183" cy="82687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Dynamic Memory Access(DMA)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89BE49-6BFF-8DDF-A72A-D3A995819115}"/>
              </a:ext>
            </a:extLst>
          </p:cNvPr>
          <p:cNvSpPr/>
          <p:nvPr/>
        </p:nvSpPr>
        <p:spPr>
          <a:xfrm>
            <a:off x="9322277" y="3634594"/>
            <a:ext cx="2012827" cy="552086"/>
          </a:xfrm>
          <a:prstGeom prst="roundRect">
            <a:avLst/>
          </a:prstGeom>
          <a:solidFill>
            <a:srgbClr val="FFFFCC"/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Debug Module Interface  (DMI)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F1FD4C1-B699-FAB9-A946-02B2B8834980}"/>
              </a:ext>
            </a:extLst>
          </p:cNvPr>
          <p:cNvSpPr/>
          <p:nvPr/>
        </p:nvSpPr>
        <p:spPr>
          <a:xfrm>
            <a:off x="1544131" y="3634594"/>
            <a:ext cx="1768417" cy="55208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SOC_IFC_REG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45F021-CF48-44D4-4485-8493DA98C2F1}"/>
              </a:ext>
            </a:extLst>
          </p:cNvPr>
          <p:cNvSpPr/>
          <p:nvPr/>
        </p:nvSpPr>
        <p:spPr>
          <a:xfrm>
            <a:off x="1171034" y="4953558"/>
            <a:ext cx="2277377" cy="8583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Functional Regs</a:t>
            </a:r>
            <a:br>
              <a:rPr lang="en-IN" dirty="0"/>
            </a:br>
            <a:r>
              <a:rPr lang="en-IN" dirty="0"/>
              <a:t>Fuse Regs</a:t>
            </a:r>
            <a:br>
              <a:rPr lang="en-IN" dirty="0"/>
            </a:br>
            <a:r>
              <a:rPr lang="en-IN" dirty="0"/>
              <a:t>Security Status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3126A8-4AA9-2927-B3D3-5690B7854D56}"/>
              </a:ext>
            </a:extLst>
          </p:cNvPr>
          <p:cNvSpPr/>
          <p:nvPr/>
        </p:nvSpPr>
        <p:spPr>
          <a:xfrm>
            <a:off x="3670543" y="4948704"/>
            <a:ext cx="1768417" cy="552086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Mailbox SRAM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21AD7C-B784-DA70-B8F8-27E883F6A0A7}"/>
              </a:ext>
            </a:extLst>
          </p:cNvPr>
          <p:cNvSpPr/>
          <p:nvPr/>
        </p:nvSpPr>
        <p:spPr>
          <a:xfrm>
            <a:off x="5644554" y="4938625"/>
            <a:ext cx="1768417" cy="552086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SHA SRAM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8DE882A-A43E-9ECA-8A1F-58F7CF409A77}"/>
              </a:ext>
            </a:extLst>
          </p:cNvPr>
          <p:cNvSpPr/>
          <p:nvPr/>
        </p:nvSpPr>
        <p:spPr>
          <a:xfrm>
            <a:off x="7770966" y="4938625"/>
            <a:ext cx="1768417" cy="55208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DMA Engine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AC17DC-15FB-9D59-18E6-7C978CE8B390}"/>
              </a:ext>
            </a:extLst>
          </p:cNvPr>
          <p:cNvCxnSpPr>
            <a:stCxn id="5" idx="3"/>
            <a:endCxn id="7" idx="1"/>
          </p:cNvCxnSpPr>
          <p:nvPr/>
        </p:nvCxnSpPr>
        <p:spPr>
          <a:xfrm>
            <a:off x="2428339" y="1544125"/>
            <a:ext cx="116599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DFBB6B-645D-EBDD-04F6-DE24D7000E81}"/>
              </a:ext>
            </a:extLst>
          </p:cNvPr>
          <p:cNvCxnSpPr>
            <a:stCxn id="6" idx="3"/>
            <a:endCxn id="8" idx="1"/>
          </p:cNvCxnSpPr>
          <p:nvPr/>
        </p:nvCxnSpPr>
        <p:spPr>
          <a:xfrm>
            <a:off x="2428339" y="2518979"/>
            <a:ext cx="1157376" cy="640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E671B91-4B9B-A55F-3281-7A61D8EDC2EB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5227609" y="1544125"/>
            <a:ext cx="2609742" cy="276041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C835C0B-7671-249F-9558-6328CF5D009A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5218987" y="1820166"/>
            <a:ext cx="2618364" cy="705218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0A91F90-922E-5D07-701F-82BE6EDF1930}"/>
              </a:ext>
            </a:extLst>
          </p:cNvPr>
          <p:cNvCxnSpPr>
            <a:stCxn id="9" idx="2"/>
            <a:endCxn id="14" idx="0"/>
          </p:cNvCxnSpPr>
          <p:nvPr/>
        </p:nvCxnSpPr>
        <p:spPr>
          <a:xfrm rot="5400000">
            <a:off x="4972678" y="-236494"/>
            <a:ext cx="1326751" cy="641542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5AF7F2CC-8D2C-5A7E-BF2B-E498A2B9FB97}"/>
              </a:ext>
            </a:extLst>
          </p:cNvPr>
          <p:cNvCxnSpPr>
            <a:stCxn id="9" idx="2"/>
            <a:endCxn id="10" idx="0"/>
          </p:cNvCxnSpPr>
          <p:nvPr/>
        </p:nvCxnSpPr>
        <p:spPr>
          <a:xfrm rot="5400000">
            <a:off x="5959683" y="750511"/>
            <a:ext cx="1326751" cy="4441414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FD087A67-3EDA-3925-91F8-49669360871B}"/>
              </a:ext>
            </a:extLst>
          </p:cNvPr>
          <p:cNvCxnSpPr>
            <a:stCxn id="9" idx="2"/>
            <a:endCxn id="11" idx="0"/>
          </p:cNvCxnSpPr>
          <p:nvPr/>
        </p:nvCxnSpPr>
        <p:spPr>
          <a:xfrm rot="5400000">
            <a:off x="6912903" y="1703731"/>
            <a:ext cx="1326751" cy="2534975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id="{FF0B6D16-230F-1D13-7D5E-A5EAB4FEDDEE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rot="5400000">
            <a:off x="8030176" y="2546212"/>
            <a:ext cx="1051958" cy="575221"/>
          </a:xfrm>
          <a:prstGeom prst="bentConnector3">
            <a:avLst>
              <a:gd name="adj1" fmla="val 63120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AE40877E-AE92-C8C5-84A4-929DE605CE82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 rot="16200000" flipH="1">
            <a:off x="8922853" y="2228755"/>
            <a:ext cx="1326751" cy="1484926"/>
          </a:xfrm>
          <a:prstGeom prst="bentConnector3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76882CE-0528-8C36-4E02-998A920D519D}"/>
              </a:ext>
            </a:extLst>
          </p:cNvPr>
          <p:cNvCxnSpPr>
            <a:stCxn id="14" idx="2"/>
          </p:cNvCxnSpPr>
          <p:nvPr/>
        </p:nvCxnSpPr>
        <p:spPr>
          <a:xfrm flipH="1">
            <a:off x="2428339" y="4186680"/>
            <a:ext cx="1" cy="751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8D7BCAF-AFC6-F014-0CB6-2851F9A718B1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4402351" y="4186680"/>
            <a:ext cx="0" cy="751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F9E32E8-F59B-3B93-850F-55E103A75502}"/>
              </a:ext>
            </a:extLst>
          </p:cNvPr>
          <p:cNvCxnSpPr>
            <a:stCxn id="11" idx="2"/>
          </p:cNvCxnSpPr>
          <p:nvPr/>
        </p:nvCxnSpPr>
        <p:spPr>
          <a:xfrm>
            <a:off x="6308790" y="4186680"/>
            <a:ext cx="0" cy="751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C10ED8A-EADA-0565-8A1B-B419B814EC0C}"/>
              </a:ext>
            </a:extLst>
          </p:cNvPr>
          <p:cNvCxnSpPr>
            <a:cxnSpLocks/>
            <a:stCxn id="12" idx="2"/>
          </p:cNvCxnSpPr>
          <p:nvPr/>
        </p:nvCxnSpPr>
        <p:spPr>
          <a:xfrm>
            <a:off x="8268544" y="4186680"/>
            <a:ext cx="0" cy="751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65D6F35-39A5-6DC0-14A6-F905B96C5B22}"/>
              </a:ext>
            </a:extLst>
          </p:cNvPr>
          <p:cNvSpPr txBox="1"/>
          <p:nvPr/>
        </p:nvSpPr>
        <p:spPr>
          <a:xfrm>
            <a:off x="10410754" y="4569293"/>
            <a:ext cx="175557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dmi_reg_wdata</a:t>
            </a:r>
            <a:endParaRPr lang="en-IN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2EE136D-662D-A1BD-88E1-63CF47AD85F3}"/>
              </a:ext>
            </a:extLst>
          </p:cNvPr>
          <p:cNvSpPr txBox="1"/>
          <p:nvPr/>
        </p:nvSpPr>
        <p:spPr>
          <a:xfrm>
            <a:off x="10410753" y="5035880"/>
            <a:ext cx="1755579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err="1"/>
              <a:t>dmi_reg_rdata</a:t>
            </a:r>
            <a:endParaRPr lang="en-IN" dirty="0"/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F310E153-279D-CC8B-DC5B-26144335B715}"/>
              </a:ext>
            </a:extLst>
          </p:cNvPr>
          <p:cNvCxnSpPr>
            <a:cxnSpLocks/>
            <a:endCxn id="48" idx="1"/>
          </p:cNvCxnSpPr>
          <p:nvPr/>
        </p:nvCxnSpPr>
        <p:spPr>
          <a:xfrm rot="16200000" flipH="1">
            <a:off x="9993030" y="4336235"/>
            <a:ext cx="571918" cy="2635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1DE94C62-9143-6F2E-BB29-82849CC5EEEB}"/>
              </a:ext>
            </a:extLst>
          </p:cNvPr>
          <p:cNvCxnSpPr>
            <a:cxnSpLocks/>
            <a:endCxn id="49" idx="1"/>
          </p:cNvCxnSpPr>
          <p:nvPr/>
        </p:nvCxnSpPr>
        <p:spPr>
          <a:xfrm rot="16200000" flipH="1">
            <a:off x="9773561" y="4583353"/>
            <a:ext cx="1010855" cy="263530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228871BA-7A47-AFCF-04EF-0D186AA5C225}"/>
              </a:ext>
            </a:extLst>
          </p:cNvPr>
          <p:cNvSpPr txBox="1"/>
          <p:nvPr/>
        </p:nvSpPr>
        <p:spPr>
          <a:xfrm>
            <a:off x="2487283" y="4209691"/>
            <a:ext cx="1710912" cy="584775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soc_ifc_reg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 </a:t>
            </a:r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req_data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66AC0E2-2674-166E-68CA-3C9A95D20735}"/>
              </a:ext>
            </a:extLst>
          </p:cNvPr>
          <p:cNvSpPr txBox="1"/>
          <p:nvPr/>
        </p:nvSpPr>
        <p:spPr>
          <a:xfrm>
            <a:off x="4381276" y="4209691"/>
            <a:ext cx="1500795" cy="584775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mbox_req_data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mbox_rdata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AE091E9-7789-278D-33E2-CC7412A3B92E}"/>
              </a:ext>
            </a:extLst>
          </p:cNvPr>
          <p:cNvSpPr txBox="1"/>
          <p:nvPr/>
        </p:nvSpPr>
        <p:spPr>
          <a:xfrm>
            <a:off x="6335865" y="4158911"/>
            <a:ext cx="1269899" cy="830997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sha_req_data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sha_rdata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92467A7-F4ED-4343-77F1-18029A5AB46B}"/>
              </a:ext>
            </a:extLst>
          </p:cNvPr>
          <p:cNvSpPr txBox="1"/>
          <p:nvPr/>
        </p:nvSpPr>
        <p:spPr>
          <a:xfrm>
            <a:off x="8215229" y="4214488"/>
            <a:ext cx="1350050" cy="830997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dma_req_data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dma_rdata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B3C1A8-F967-1F20-F9A0-9E6886C8B1F0}"/>
              </a:ext>
            </a:extLst>
          </p:cNvPr>
          <p:cNvSpPr txBox="1"/>
          <p:nvPr/>
        </p:nvSpPr>
        <p:spPr>
          <a:xfrm>
            <a:off x="2536716" y="790371"/>
            <a:ext cx="1001941" cy="738664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AXI Addr /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Data/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User/ID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D7E20DA-97DC-89C5-D00E-3AB177710A58}"/>
              </a:ext>
            </a:extLst>
          </p:cNvPr>
          <p:cNvSpPr txBox="1"/>
          <p:nvPr/>
        </p:nvSpPr>
        <p:spPr>
          <a:xfrm>
            <a:off x="2524568" y="1940609"/>
            <a:ext cx="948721" cy="523220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HADDR/</a:t>
            </a:r>
          </a:p>
          <a:p>
            <a:r>
              <a:rPr lang="en-IN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HWDATA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1BEA397-E786-7DF8-26FE-CEF69DB04CB2}"/>
              </a:ext>
            </a:extLst>
          </p:cNvPr>
          <p:cNvSpPr txBox="1"/>
          <p:nvPr/>
        </p:nvSpPr>
        <p:spPr>
          <a:xfrm>
            <a:off x="5341057" y="745331"/>
            <a:ext cx="2684784" cy="830997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soc_req.addr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soc_req.wdata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</a:t>
            </a:r>
          </a:p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soc_req.wstrb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soc_req.user</a:t>
            </a:r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/</a:t>
            </a:r>
          </a:p>
          <a:p>
            <a:r>
              <a:rPr lang="en-IN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soc_req.id 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0B1D432-4239-6850-C13D-01B64E6516D8}"/>
              </a:ext>
            </a:extLst>
          </p:cNvPr>
          <p:cNvSpPr txBox="1"/>
          <p:nvPr/>
        </p:nvSpPr>
        <p:spPr>
          <a:xfrm>
            <a:off x="5271824" y="1879749"/>
            <a:ext cx="1318310" cy="584775"/>
          </a:xfrm>
          <a:prstGeom prst="rect">
            <a:avLst/>
          </a:prstGeom>
          <a:noFill/>
          <a:ln w="28575">
            <a:noFill/>
          </a:ln>
        </p:spPr>
        <p:txBody>
          <a:bodyPr wrap="none" rtlCol="0">
            <a:spAutoFit/>
          </a:bodyPr>
          <a:lstStyle/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uc_req.addr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16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uc_req.wdata</a:t>
            </a:r>
            <a:endParaRPr lang="en-IN" sz="16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7C4DA28B-596C-1D95-FB92-8A72548189FF}"/>
              </a:ext>
            </a:extLst>
          </p:cNvPr>
          <p:cNvCxnSpPr>
            <a:stCxn id="18" idx="2"/>
            <a:endCxn id="5" idx="0"/>
          </p:cNvCxnSpPr>
          <p:nvPr/>
        </p:nvCxnSpPr>
        <p:spPr>
          <a:xfrm rot="5400000" flipH="1">
            <a:off x="3022124" y="-142339"/>
            <a:ext cx="4222629" cy="7043472"/>
          </a:xfrm>
          <a:prstGeom prst="bentConnector5">
            <a:avLst>
              <a:gd name="adj1" fmla="val -23391"/>
              <a:gd name="adj2" fmla="val 119188"/>
              <a:gd name="adj3" fmla="val 105414"/>
            </a:avLst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7C34F495-687A-F0B3-A1EF-8013672FABA0}"/>
              </a:ext>
            </a:extLst>
          </p:cNvPr>
          <p:cNvSpPr txBox="1"/>
          <p:nvPr/>
        </p:nvSpPr>
        <p:spPr>
          <a:xfrm>
            <a:off x="4059327" y="5902416"/>
            <a:ext cx="11429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m_axi_w_if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m_axi_r_if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96002-1C84-A22A-2346-42A332AD0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3"/>
            <a:ext cx="12200633" cy="744675"/>
          </a:xfrm>
          <a:solidFill>
            <a:schemeClr val="accent6"/>
          </a:solidFill>
        </p:spPr>
        <p:txBody>
          <a:bodyPr>
            <a:normAutofit/>
          </a:bodyPr>
          <a:lstStyle/>
          <a:p>
            <a:pPr algn="ctr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SOC_IFC Request and Data Routing Path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052080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5ACA9-9D14-781F-2299-5DF8455F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F4DC2B-D824-52EC-524E-B32FC173759E}"/>
              </a:ext>
            </a:extLst>
          </p:cNvPr>
          <p:cNvSpPr/>
          <p:nvPr/>
        </p:nvSpPr>
        <p:spPr>
          <a:xfrm>
            <a:off x="491705" y="923009"/>
            <a:ext cx="2182483" cy="862653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SOC_IFC_REG</a:t>
            </a:r>
          </a:p>
          <a:p>
            <a:pPr algn="ctr"/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  reg_rdata 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DF0147E-3BDD-68E9-3E74-A654509E0D48}"/>
              </a:ext>
            </a:extLst>
          </p:cNvPr>
          <p:cNvSpPr/>
          <p:nvPr/>
        </p:nvSpPr>
        <p:spPr>
          <a:xfrm>
            <a:off x="3033623" y="923009"/>
            <a:ext cx="1900686" cy="862653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MAILBOX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mbox_rdata</a:t>
            </a:r>
          </a:p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mbox_dir_rdata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3B6419B-BAF8-5807-BA5C-D3B2CBFE0484}"/>
              </a:ext>
            </a:extLst>
          </p:cNvPr>
          <p:cNvSpPr/>
          <p:nvPr/>
        </p:nvSpPr>
        <p:spPr>
          <a:xfrm>
            <a:off x="5517310" y="923006"/>
            <a:ext cx="1765540" cy="86265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 ENGINE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sha_rdata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3DD12BB-A681-8E1F-1EA0-0FA784C68B3A}"/>
              </a:ext>
            </a:extLst>
          </p:cNvPr>
          <p:cNvSpPr/>
          <p:nvPr/>
        </p:nvSpPr>
        <p:spPr>
          <a:xfrm>
            <a:off x="7667444" y="923006"/>
            <a:ext cx="1765540" cy="862654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 ENGINE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dma_reg_rdata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DA6C6C2-82F7-9E84-0583-A24956E1577A}"/>
              </a:ext>
            </a:extLst>
          </p:cNvPr>
          <p:cNvSpPr/>
          <p:nvPr/>
        </p:nvSpPr>
        <p:spPr>
          <a:xfrm>
            <a:off x="9710466" y="923006"/>
            <a:ext cx="1917941" cy="8626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DMI / DEBUG 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cwtrust_uncore_ dmi_reg_rdata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A47481-4DD4-1BCB-F4E3-8620CF8E256D}"/>
              </a:ext>
            </a:extLst>
          </p:cNvPr>
          <p:cNvSpPr/>
          <p:nvPr/>
        </p:nvSpPr>
        <p:spPr>
          <a:xfrm>
            <a:off x="4379341" y="2708683"/>
            <a:ext cx="2311880" cy="914400"/>
          </a:xfrm>
          <a:prstGeom prst="rect">
            <a:avLst/>
          </a:prstGeom>
          <a:solidFill>
            <a:srgbClr val="FFFFCC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SOC_IFC_ARB </a:t>
            </a:r>
          </a:p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 Data MUX 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8D2A5DA-4CEC-AFF8-DB50-81AF027C8816}"/>
              </a:ext>
            </a:extLst>
          </p:cNvPr>
          <p:cNvSpPr/>
          <p:nvPr/>
        </p:nvSpPr>
        <p:spPr>
          <a:xfrm>
            <a:off x="2645435" y="4157940"/>
            <a:ext cx="1751162" cy="55209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soc_req_rdata</a:t>
            </a:r>
            <a:br>
              <a:rPr lang="en-IN" dirty="0"/>
            </a:br>
            <a:r>
              <a:rPr lang="en-IN" dirty="0"/>
              <a:t>(AXI Read)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8F5538-F69D-326B-6CDD-19E790B64522}"/>
              </a:ext>
            </a:extLst>
          </p:cNvPr>
          <p:cNvSpPr/>
          <p:nvPr/>
        </p:nvSpPr>
        <p:spPr>
          <a:xfrm>
            <a:off x="6225396" y="4209687"/>
            <a:ext cx="1751162" cy="552090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uc_req_rdata</a:t>
            </a:r>
          </a:p>
          <a:p>
            <a:pPr algn="ctr"/>
            <a:r>
              <a:rPr lang="en-IN" dirty="0"/>
              <a:t>(AHB Read)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177DA7-76AB-CF80-FE1B-4C740C25F801}"/>
              </a:ext>
            </a:extLst>
          </p:cNvPr>
          <p:cNvSpPr/>
          <p:nvPr/>
        </p:nvSpPr>
        <p:spPr>
          <a:xfrm>
            <a:off x="2645435" y="5408758"/>
            <a:ext cx="1751162" cy="5520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SoC Host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7EB2DF6-CFBB-F52E-2226-942286A3D4AD}"/>
              </a:ext>
            </a:extLst>
          </p:cNvPr>
          <p:cNvSpPr/>
          <p:nvPr/>
        </p:nvSpPr>
        <p:spPr>
          <a:xfrm>
            <a:off x="6225396" y="5460503"/>
            <a:ext cx="1751162" cy="552090"/>
          </a:xfrm>
          <a:prstGeom prst="roundRect">
            <a:avLst/>
          </a:prstGeom>
          <a:solidFill>
            <a:schemeClr val="bg2">
              <a:lumMod val="9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Cwtrust uC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F5DB841-CE3E-0C66-B01F-CFE74D4D2696}"/>
              </a:ext>
            </a:extLst>
          </p:cNvPr>
          <p:cNvCxnSpPr>
            <a:cxnSpLocks/>
            <a:stCxn id="5" idx="2"/>
            <a:endCxn id="10" idx="0"/>
          </p:cNvCxnSpPr>
          <p:nvPr/>
        </p:nvCxnSpPr>
        <p:spPr>
          <a:xfrm rot="16200000" flipH="1">
            <a:off x="3097604" y="271005"/>
            <a:ext cx="923021" cy="3952334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7619FB2-4D39-1A09-E52F-C3CA47F21635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rot="16200000" flipH="1">
            <a:off x="4298113" y="1471514"/>
            <a:ext cx="923021" cy="1551315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2AA74D1B-A33A-E98F-F4FA-F86D9C5824B1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 rot="5400000">
            <a:off x="5506169" y="1814772"/>
            <a:ext cx="923024" cy="864799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14F5D82A-5024-0296-9A20-060196B77014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 rot="5400000">
            <a:off x="6581237" y="739705"/>
            <a:ext cx="923023" cy="3014933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DA08E94-DCBD-D7AC-8F38-8F0BD6AF41F3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 rot="5400000">
            <a:off x="7640848" y="-319907"/>
            <a:ext cx="923023" cy="5134156"/>
          </a:xfrm>
          <a:prstGeom prst="bentConnector3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19204879-7B8D-7B7C-76CA-946BB1D98DD0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 rot="5400000">
            <a:off x="4260721" y="2883379"/>
            <a:ext cx="534857" cy="2014265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EA382F44-AE5C-2621-A59E-5BE35C4B13C3}"/>
              </a:ext>
            </a:extLst>
          </p:cNvPr>
          <p:cNvCxnSpPr>
            <a:stCxn id="10" idx="2"/>
            <a:endCxn id="12" idx="0"/>
          </p:cNvCxnSpPr>
          <p:nvPr/>
        </p:nvCxnSpPr>
        <p:spPr>
          <a:xfrm rot="16200000" flipH="1">
            <a:off x="6024827" y="3133537"/>
            <a:ext cx="586604" cy="1565696"/>
          </a:xfrm>
          <a:prstGeom prst="bentConnector3">
            <a:avLst>
              <a:gd name="adj1" fmla="val 47059"/>
            </a:avLst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5BF2B61-E756-BDD3-8907-200083DCAC86}"/>
              </a:ext>
            </a:extLst>
          </p:cNvPr>
          <p:cNvCxnSpPr>
            <a:stCxn id="11" idx="2"/>
            <a:endCxn id="13" idx="0"/>
          </p:cNvCxnSpPr>
          <p:nvPr/>
        </p:nvCxnSpPr>
        <p:spPr>
          <a:xfrm>
            <a:off x="3521016" y="4710030"/>
            <a:ext cx="0" cy="698728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67E9F50-91F0-CA2B-C2CD-237046E3B22D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>
            <a:off x="7100977" y="4761777"/>
            <a:ext cx="0" cy="698726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4E93FDA-BB2F-A6A8-F5D4-FE2CAC4713D8}"/>
              </a:ext>
            </a:extLst>
          </p:cNvPr>
          <p:cNvSpPr txBox="1"/>
          <p:nvPr/>
        </p:nvSpPr>
        <p:spPr>
          <a:xfrm>
            <a:off x="3505790" y="4904922"/>
            <a:ext cx="1042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AXI_SUB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C7A3BA5-CF5A-91D7-7AC9-7E08C66931A3}"/>
              </a:ext>
            </a:extLst>
          </p:cNvPr>
          <p:cNvSpPr txBox="1"/>
          <p:nvPr/>
        </p:nvSpPr>
        <p:spPr>
          <a:xfrm>
            <a:off x="7084902" y="4926474"/>
            <a:ext cx="1541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AHB_SLV_IFC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980495A-87E1-4983-F1F2-A6A30F60B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4173"/>
            <a:ext cx="12200633" cy="744675"/>
          </a:xfrm>
          <a:solidFill>
            <a:schemeClr val="accent6"/>
          </a:solidFill>
        </p:spPr>
        <p:txBody>
          <a:bodyPr/>
          <a:lstStyle/>
          <a:p>
            <a:pPr algn="ctr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Read Return Datapath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528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93A3-2D76-9FE3-82BE-5A795B11F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6" descr="Business Thank-You Letter Examples">
            <a:extLst>
              <a:ext uri="{FF2B5EF4-FFF2-40B4-BE49-F238E27FC236}">
                <a16:creationId xmlns:a16="http://schemas.microsoft.com/office/drawing/2014/main" id="{7ECFFA39-EA56-82BF-8033-38007A3886A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38" y="261386"/>
            <a:ext cx="8873366" cy="5915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59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BB9E5490EEBB438C23297E1D25285B" ma:contentTypeVersion="10" ma:contentTypeDescription="Create a new document." ma:contentTypeScope="" ma:versionID="f1ce0bbb77ae981bb3236c4ff3e5e8c2">
  <xsd:schema xmlns:xsd="http://www.w3.org/2001/XMLSchema" xmlns:xs="http://www.w3.org/2001/XMLSchema" xmlns:p="http://schemas.microsoft.com/office/2006/metadata/properties" xmlns:ns3="ec91e78c-53b9-49d2-80fe-2267c9de2ac1" targetNamespace="http://schemas.microsoft.com/office/2006/metadata/properties" ma:root="true" ma:fieldsID="2211f0910273cfef75d430a4eb610fe0" ns3:_="">
    <xsd:import namespace="ec91e78c-53b9-49d2-80fe-2267c9de2ac1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91e78c-53b9-49d2-80fe-2267c9de2ac1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c91e78c-53b9-49d2-80fe-2267c9de2ac1" xsi:nil="true"/>
  </documentManagement>
</p:properties>
</file>

<file path=customXml/itemProps1.xml><?xml version="1.0" encoding="utf-8"?>
<ds:datastoreItem xmlns:ds="http://schemas.openxmlformats.org/officeDocument/2006/customXml" ds:itemID="{7F284D83-2091-44A3-8807-E113590D50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c91e78c-53b9-49d2-80fe-2267c9de2a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666954-3D43-40F3-AF96-B2753E1830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0C30E90-35A2-433D-8294-0F950042F531}">
  <ds:schemaRefs>
    <ds:schemaRef ds:uri="ec91e78c-53b9-49d2-80fe-2267c9de2ac1"/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UCIe_MBTRAIN_MKD</Template>
  <TotalTime>1503</TotalTime>
  <Words>1020</Words>
  <Application>Microsoft Office PowerPoint</Application>
  <PresentationFormat>Widescreen</PresentationFormat>
  <Paragraphs>164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Times New Roman</vt:lpstr>
      <vt:lpstr>Office Theme</vt:lpstr>
      <vt:lpstr>Control &amp; Datapath in SoC IFC</vt:lpstr>
      <vt:lpstr>CONTENTS</vt:lpstr>
      <vt:lpstr>PowerPoint Presentation</vt:lpstr>
      <vt:lpstr> SOC_IFC Control Path</vt:lpstr>
      <vt:lpstr> SOC_IFC Request and Data Routing Path</vt:lpstr>
      <vt:lpstr> Read Return Datapath</vt:lpstr>
      <vt:lpstr>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sravanthi Vennapusa</dc:creator>
  <cp:lastModifiedBy>sravanthi Vennapusa</cp:lastModifiedBy>
  <cp:revision>29</cp:revision>
  <dcterms:created xsi:type="dcterms:W3CDTF">2026-02-11T04:12:37Z</dcterms:created>
  <dcterms:modified xsi:type="dcterms:W3CDTF">2026-06-19T11:35:57Z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0x010100F0BB9E5490EEBB438C23297E1D25285B</vt:lpwstr>
  </property>
</Properties>
</file>