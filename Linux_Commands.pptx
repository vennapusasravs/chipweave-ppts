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68" r:id="rId5"/>
    <p:sldId id="355" r:id="rId6"/>
    <p:sldId id="342" r:id="rId7"/>
    <p:sldId id="341" r:id="rId8"/>
    <p:sldId id="343" r:id="rId9"/>
    <p:sldId id="344" r:id="rId10"/>
    <p:sldId id="345" r:id="rId11"/>
    <p:sldId id="356" r:id="rId12"/>
    <p:sldId id="358" r:id="rId13"/>
    <p:sldId id="359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>
        <p:scale>
          <a:sx n="94" d="100"/>
          <a:sy n="94" d="100"/>
        </p:scale>
        <p:origin x="226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879FE5-3F2C-6340-3B77-03F83D1D38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560FE-519E-BF9C-3BAA-62B53B3DB1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2CFA3-46E7-4277-9032-839AAC80725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D0155-2616-A64A-652A-B86D7BB71D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B92E6-4D23-0102-DAED-784CA9BF70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EEDBA-2796-4B72-B4D2-C74640528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939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C54B9-295C-4FB9-B12F-8C908399D60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92F4-4471-4502-8692-452CB9A29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7907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8DDB-DB89-4F61-A939-34C0E82FD1D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10F9B-57F5-4055-A162-904E90A5E1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8DA1-6C38-4CF2-9F4A-E33BEE5DED0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450B-44CF-47E7-B430-CA85BB76025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5471-2908-4DE5-AA7C-D182FA363A6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A5CB-4744-4AD7-87D1-F56298FFFF4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611A4-7D96-4951-9F8E-73C8AA8F280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0D434C76-A945-410A-88CA-B4C44FF4435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432D1D-8CE8-4204-962A-42069AE9D37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B890657A-34AE-4372-8F29-136689B5DB7C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joegsuero.github.io/terminal-playground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b="1" dirty="0"/>
              <a:t>Commands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0F0CA-FE26-E383-BDFB-A9F684E3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3B18-3434-4411-A492-D7A52B21BDC7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1BDD-B66F-4CE2-17EA-A3814017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76457E-7748-168A-A391-8C1223E3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8BCDE-2219-92A4-9B5E-439C18CDB06F}"/>
              </a:ext>
            </a:extLst>
          </p:cNvPr>
          <p:cNvSpPr txBox="1"/>
          <p:nvPr/>
        </p:nvSpPr>
        <p:spPr>
          <a:xfrm>
            <a:off x="8218426" y="4672739"/>
            <a:ext cx="4004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Jishnu Mohan</a:t>
            </a:r>
          </a:p>
          <a:p>
            <a:r>
              <a:rPr lang="en-IN" dirty="0"/>
              <a:t>Design Engineer</a:t>
            </a:r>
          </a:p>
          <a:p>
            <a:r>
              <a:rPr lang="en-IN" dirty="0" err="1"/>
              <a:t>Chipweave</a:t>
            </a:r>
            <a:r>
              <a:rPr lang="en-IN" dirty="0"/>
              <a:t>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E2D207-84E2-BAB5-391B-0A98C160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12" y="1477328"/>
            <a:ext cx="5137840" cy="18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EBB2-92B0-4532-C473-A78D69B2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07751-2B13-EC6F-963F-28294CCB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Linux and Why is it Used?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Commands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Commands Summary Table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It Yourself !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8C500-1CB8-E45C-5963-D1F449B0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060B-44E8-4ECD-876B-A06AA585785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B3E67-5765-0CFE-1701-513F9887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2003-2023 Arm Ltd.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CC55-34D8-FDDA-FA35-C6F14BFA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14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ABD8-A858-45C8-7DA1-B2259C5B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8CAC-CC20-7163-F707-222980AA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Linux and Why is it Used?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E55DD-4E65-4079-8BBF-0D2BBA00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20DD0-E65C-4E72-B08C-026D02DA3DF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01241-7413-84AB-962E-DEE659A9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@Chipweave Private Ltd.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F0C67-FBC4-A946-0708-65DE977A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B5943-D3CD-E63F-CA5C-9D03A7D8E523}"/>
              </a:ext>
            </a:extLst>
          </p:cNvPr>
          <p:cNvSpPr txBox="1"/>
          <p:nvPr/>
        </p:nvSpPr>
        <p:spPr>
          <a:xfrm>
            <a:off x="1168399" y="2192867"/>
            <a:ext cx="10058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a free and open-source operating system used worldwide !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Linux Distributions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Hat Enterprise Linux (RHEL) – Cadence/Synopsys EDA tools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Manjaro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Mint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Fedora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AC3525-2D7B-298E-3747-912DE61EF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0734" y="2099733"/>
            <a:ext cx="2192867" cy="219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0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3242-FD12-0A53-E993-8308185A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9D37-092E-E2A8-5F55-83BD9197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3C201-BC64-9A08-4203-8B5384C4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01FD-40C2-4475-B984-A55BB3D37E97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9D4E-87BA-CC12-F61F-C6CC69D8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28C6A-2294-B03A-9E50-607D922A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0BAA6-5767-D5AD-CEF1-F6B6016CCE40}"/>
              </a:ext>
            </a:extLst>
          </p:cNvPr>
          <p:cNvSpPr txBox="1"/>
          <p:nvPr/>
        </p:nvSpPr>
        <p:spPr>
          <a:xfrm>
            <a:off x="1193800" y="2311400"/>
            <a:ext cx="9961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Workspace(or a Folder) and Change the Directory (or Location)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linux_training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linux_training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present working directory and list the files inside the directory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Edit a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notes.txt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notes.txt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“Linux is powerful”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“Linux is fast”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“Linux is flexible”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“Error occurred in module1”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“Error occurred in module2”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A2AB9-F08E-4B6C-5D0E-2B52228C7867}"/>
              </a:ext>
            </a:extLst>
          </p:cNvPr>
          <p:cNvSpPr txBox="1"/>
          <p:nvPr/>
        </p:nvSpPr>
        <p:spPr>
          <a:xfrm>
            <a:off x="6333067" y="4114800"/>
            <a:ext cx="5440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Vim Commands (Press Esc key and execute)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and Quit 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wq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without quitting 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Quite without saving 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:q!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956B9-BF34-CE08-5181-6B0A3EBFF674}"/>
              </a:ext>
            </a:extLst>
          </p:cNvPr>
          <p:cNvSpPr txBox="1"/>
          <p:nvPr/>
        </p:nvSpPr>
        <p:spPr>
          <a:xfrm>
            <a:off x="6333067" y="5315129"/>
            <a:ext cx="5098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 package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“Package name”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vim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6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5193-52D2-68CE-B3A2-1C59B88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29EC-9573-7509-A4B0-9D6CA1C7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E5809-25C4-782B-9F21-052128AB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68AA-805C-4409-8B21-C2682701E01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95EBF-7372-EFF8-1A94-AB4FE1D9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3CBA1-70E4-72EE-B4D2-A40F067A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BDB2A-090C-8E0E-481E-FE231DD6D480}"/>
              </a:ext>
            </a:extLst>
          </p:cNvPr>
          <p:cNvSpPr txBox="1"/>
          <p:nvPr/>
        </p:nvSpPr>
        <p:spPr>
          <a:xfrm>
            <a:off x="1193800" y="2311400"/>
            <a:ext cx="99618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4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contents of the files in different ways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(Display the file content and not interactive)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(Display the file content and scroll up-down, but not editable)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(Older version of less)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(Displays first 10 lines of a file)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(Displays last 10 lines of a file)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inside files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Error” notes.txt (Search one word in a file)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egrep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Error|fast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notes.txt (Search more than one word in a file)</a:t>
            </a:r>
          </a:p>
          <a:p>
            <a:pPr marL="800100" lvl="1" indent="-342900">
              <a:buFont typeface="+mj-lt"/>
              <a:buAutoNum type="arabicPeriod" startAt="4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2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87E4-6833-2002-5224-A709FB87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8B0E-FF40-7465-6C18-8B94493D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E22B7-C365-2146-CAD5-A55819BA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8608-0E44-22CA-6E00-3256B6D9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AA650-D539-A430-D2BC-0D5E647A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E9A2C-2341-8376-720C-FC01D1E371E3}"/>
              </a:ext>
            </a:extLst>
          </p:cNvPr>
          <p:cNvSpPr txBox="1"/>
          <p:nvPr/>
        </p:nvSpPr>
        <p:spPr>
          <a:xfrm>
            <a:off x="1193800" y="2311400"/>
            <a:ext cx="9961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6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notes.txt notes_backp.txt</a:t>
            </a:r>
          </a:p>
          <a:p>
            <a:pPr marL="800100" lvl="1" indent="-342900">
              <a:buFont typeface="+mj-lt"/>
              <a:buAutoNum type="arabicPeriod" startAt="7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notes_bkp.txt  notes_backup.txt</a:t>
            </a:r>
          </a:p>
          <a:p>
            <a:pPr marL="800100" lvl="1" indent="-342900">
              <a:buFont typeface="+mj-lt"/>
              <a:buAutoNum type="arabicPeriod" startAt="8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notes_backup.txt</a:t>
            </a:r>
          </a:p>
          <a:p>
            <a:pPr marL="800100" lvl="1" indent="-34290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permission of file or directory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</a:t>
            </a:r>
          </a:p>
          <a:p>
            <a:pPr marL="800100" lvl="1" indent="-342900">
              <a:buFont typeface="+mj-lt"/>
              <a:buAutoNum type="arabicPeriod" startAt="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permission of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333 notes.txt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Ownership of file/ directory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user1 notes.txt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group1 notes.txt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202048-DA3F-E58A-541D-F5C4F723E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38810"/>
              </p:ext>
            </p:extLst>
          </p:nvPr>
        </p:nvGraphicFramePr>
        <p:xfrm>
          <a:off x="6426197" y="3520599"/>
          <a:ext cx="4791945" cy="1317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070">
                  <a:extLst>
                    <a:ext uri="{9D8B030D-6E8A-4147-A177-3AD203B41FA5}">
                      <a16:colId xmlns:a16="http://schemas.microsoft.com/office/drawing/2014/main" val="1830603970"/>
                    </a:ext>
                  </a:extLst>
                </a:gridCol>
                <a:gridCol w="618066">
                  <a:extLst>
                    <a:ext uri="{9D8B030D-6E8A-4147-A177-3AD203B41FA5}">
                      <a16:colId xmlns:a16="http://schemas.microsoft.com/office/drawing/2014/main" val="2889590733"/>
                    </a:ext>
                  </a:extLst>
                </a:gridCol>
                <a:gridCol w="2412809">
                  <a:extLst>
                    <a:ext uri="{9D8B030D-6E8A-4147-A177-3AD203B41FA5}">
                      <a16:colId xmlns:a16="http://schemas.microsoft.com/office/drawing/2014/main" val="283784844"/>
                    </a:ext>
                  </a:extLst>
                </a:gridCol>
              </a:tblGrid>
              <a:tr h="29753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489881"/>
                  </a:ext>
                </a:extLst>
              </a:tr>
              <a:tr h="40311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+ write + execute (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rwx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772928"/>
                  </a:ext>
                </a:extLst>
              </a:tr>
              <a:tr h="297538">
                <a:tc>
                  <a:txBody>
                    <a:bodyPr/>
                    <a:lstStyle/>
                    <a:p>
                      <a:r>
                        <a:rPr lang="en-IN" sz="1400" dirty="0"/>
                        <a:t>Group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+ - + execute (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r-x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508567"/>
                  </a:ext>
                </a:extLst>
              </a:tr>
              <a:tr h="297538">
                <a:tc>
                  <a:txBody>
                    <a:bodyPr/>
                    <a:lstStyle/>
                    <a:p>
                      <a:r>
                        <a:rPr lang="en-IN" sz="1400" dirty="0"/>
                        <a:t>Others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+ - + - (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- -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5796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44837B-20A9-1CF7-9A68-9E7C486A9FF4}"/>
              </a:ext>
            </a:extLst>
          </p:cNvPr>
          <p:cNvSpPr txBox="1"/>
          <p:nvPr/>
        </p:nvSpPr>
        <p:spPr>
          <a:xfrm>
            <a:off x="6891866" y="2660938"/>
            <a:ext cx="3454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   (r) = 4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  (w) = 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(x) = 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C6095-30BD-4B4E-B22B-BA3441A0E210}"/>
              </a:ext>
            </a:extLst>
          </p:cNvPr>
          <p:cNvSpPr txBox="1"/>
          <p:nvPr/>
        </p:nvSpPr>
        <p:spPr>
          <a:xfrm>
            <a:off x="6654800" y="5122333"/>
            <a:ext cx="39709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Jishnu@chipweave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account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Jishnu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name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chipweave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CCB8C-A3EF-93D0-4F22-484B2782D98F}"/>
              </a:ext>
            </a:extLst>
          </p:cNvPr>
          <p:cNvSpPr txBox="1"/>
          <p:nvPr/>
        </p:nvSpPr>
        <p:spPr>
          <a:xfrm>
            <a:off x="8485322" y="4791528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1</a:t>
            </a:r>
          </a:p>
        </p:txBody>
      </p:sp>
    </p:spTree>
    <p:extLst>
      <p:ext uri="{BB962C8B-B14F-4D97-AF65-F5344CB8AC3E}">
        <p14:creationId xmlns:p14="http://schemas.microsoft.com/office/powerpoint/2010/main" val="69745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16BA-8C3B-8777-5804-CE9F3AE4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3BC8-133B-AB29-D58D-1981F6FB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EDE91-4169-4883-4B71-3E4ABAB6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07A99-5C74-7414-3977-18BFF654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EEAE-DEF3-F617-784B-C56C021B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0B136-4481-5036-9D51-742E328B8E21}"/>
              </a:ext>
            </a:extLst>
          </p:cNvPr>
          <p:cNvSpPr txBox="1"/>
          <p:nvPr/>
        </p:nvSpPr>
        <p:spPr>
          <a:xfrm>
            <a:off x="1193800" y="2048937"/>
            <a:ext cx="9961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1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Exploration and Find a File/ Directory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(Shows the directory structure)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.  –name “*.txt”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(find all files ending with .txt)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.  -type d -name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linux_training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(find a directory named logs)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.  -type d -name "*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linux_training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*“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(find directories containing a word)</a:t>
            </a:r>
          </a:p>
          <a:p>
            <a:pPr marL="800100" lvl="1" indent="-342900">
              <a:buFont typeface="+mj-lt"/>
              <a:buAutoNum type="arabicPeriod" startAt="1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Usage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(du - disk usage, s- summary, h – human readable)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–h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disk free space, h- human readable)</a:t>
            </a:r>
          </a:p>
          <a:p>
            <a:pPr marL="800100" lvl="1" indent="-342900">
              <a:buFont typeface="+mj-lt"/>
              <a:buAutoNum type="arabicPeriod" startAt="12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History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marL="800100" lvl="1" indent="-342900">
              <a:buFont typeface="+mj-lt"/>
              <a:buAutoNum type="arabicPeriod" startAt="15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Monitoring and Management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(shows current process details in the current terminal)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(all processes running in the system, live view)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(kill a process,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PID , Eg: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2176)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htop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(interactive colourful window)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rabicPeriod" startAt="6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2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B36B-D0F0-9FE0-22F6-C95A6DE6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E7DF-C829-5836-0E76-821350E9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1DC30-60E3-E907-A700-B85AE1D65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67EE2-0574-2CB7-6819-06473AF8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AC363-D4F4-6C98-6078-C0D80EC2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D8771-747A-1E49-60EA-D680B988457E}"/>
              </a:ext>
            </a:extLst>
          </p:cNvPr>
          <p:cNvSpPr txBox="1"/>
          <p:nvPr/>
        </p:nvSpPr>
        <p:spPr>
          <a:xfrm>
            <a:off x="1193800" y="2048937"/>
            <a:ext cx="9961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1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Powerful text-processing tools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based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text line by line  - split into columns - apply 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'pattern { action }' file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'{print $1, $3}' data.txt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based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text line by line  - split into rows - apply 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'operation' file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's/HR/ADMIN/’ data.txt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 file (*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change the file content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data.txt (Sort column by default)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-n data.txt (sort in ascending number of values)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74133-50EC-D920-70D0-D1B48AB8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556" y="2915576"/>
            <a:ext cx="2301439" cy="14555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A1D36C-F623-3D6E-48A0-82DF44CBEE9B}"/>
              </a:ext>
            </a:extLst>
          </p:cNvPr>
          <p:cNvSpPr txBox="1"/>
          <p:nvPr/>
        </p:nvSpPr>
        <p:spPr>
          <a:xfrm>
            <a:off x="9241325" y="3942424"/>
            <a:ext cx="2831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 Example file “data.txt”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06789-B3C5-D16F-D2D1-D7A30FB9C71C}"/>
              </a:ext>
            </a:extLst>
          </p:cNvPr>
          <p:cNvSpPr txBox="1"/>
          <p:nvPr/>
        </p:nvSpPr>
        <p:spPr>
          <a:xfrm>
            <a:off x="6692284" y="4992387"/>
            <a:ext cx="5081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: first column (by default)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: numeric (first column)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kX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perform op. on column X</a:t>
            </a:r>
            <a:endParaRPr lang="en-IN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5832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BDC1-46DE-4FF4-9452-90831280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ECAE-DE50-2A59-AFF7-8665A6B4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15946-1CC3-598F-B614-AB5100A3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999A-E744-05F7-E8E4-3D1F274A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1E4B-F693-5E27-1BAE-C049D387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C9AB8-BFF9-F826-E0E9-2F1B4725E972}"/>
              </a:ext>
            </a:extLst>
          </p:cNvPr>
          <p:cNvSpPr txBox="1"/>
          <p:nvPr/>
        </p:nvSpPr>
        <p:spPr>
          <a:xfrm>
            <a:off x="1193800" y="2048937"/>
            <a:ext cx="9961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1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Powerful text-processing tools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based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text line by line  - split into columns - apply 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'pattern { action }' file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'{print $1, $3}' data.txt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based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text line by line  - split into rows - apply 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'operation' file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's/HR/ADMIN/’ data.txt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 file (*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change the file content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data.txt (Sort column by default)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-n data.txt (sort in ascending number of values)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B69CB-12CA-49F7-5C10-09926167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556" y="2915576"/>
            <a:ext cx="2301439" cy="14555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3AD2DC-DB44-53CE-F2F9-00B16F8B8D67}"/>
              </a:ext>
            </a:extLst>
          </p:cNvPr>
          <p:cNvSpPr txBox="1"/>
          <p:nvPr/>
        </p:nvSpPr>
        <p:spPr>
          <a:xfrm>
            <a:off x="9241325" y="3942424"/>
            <a:ext cx="2831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 Example file “data.txt”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8F455-21F9-7B00-A803-03AAEF2293D3}"/>
              </a:ext>
            </a:extLst>
          </p:cNvPr>
          <p:cNvSpPr txBox="1"/>
          <p:nvPr/>
        </p:nvSpPr>
        <p:spPr>
          <a:xfrm>
            <a:off x="6692284" y="4992387"/>
            <a:ext cx="5081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: first column (by default)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: numeric (first column)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kX</a:t>
            </a:r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perform op. on column X</a:t>
            </a:r>
            <a:endParaRPr lang="en-IN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13213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FFB6-C500-A3AB-1863-8CC928A2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ABB4-C162-2D99-52A7-362119CA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1D036-2A75-6E61-1015-1818FCDD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D9B18-6022-FD9D-4B97-95255D89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258A7-66C2-D2F3-9391-4372C6BE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9D74E-505A-F14B-A9DA-1F15523F26F2}"/>
              </a:ext>
            </a:extLst>
          </p:cNvPr>
          <p:cNvSpPr txBox="1"/>
          <p:nvPr/>
        </p:nvSpPr>
        <p:spPr>
          <a:xfrm>
            <a:off x="1193800" y="2048937"/>
            <a:ext cx="9961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18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adjacent duplicates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  <a:p>
            <a:pPr marL="800100" lvl="1" indent="-342900">
              <a:buFont typeface="+mj-lt"/>
              <a:buAutoNum type="arabicPeriod" startAt="19"/>
            </a:pPr>
            <a:r>
              <a:rPr lang="en-US" dirty="0"/>
              <a:t> Pick and print selected columns from text (Extract data)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-d: -f1,3 data.txt (extract data using -d delimiter “:” and extract, fields 1 and 3)</a:t>
            </a:r>
          </a:p>
          <a:p>
            <a:pPr marL="800100" lvl="1" indent="-342900">
              <a:buFont typeface="+mj-lt"/>
              <a:buAutoNum type="arabicPeriod" startAt="2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difference between two files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file1 file2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26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533F-4666-AB34-EFD5-23FA4C32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1E44-635B-9477-FB99-E933E38C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87D29-D0A4-081D-F68F-D71A8461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346B-518A-A25A-8ECA-253BF0DA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EC36B-C068-6859-4C78-C63DBFC0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F2163F-84F8-6CBF-D683-3952636AF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910682"/>
              </p:ext>
            </p:extLst>
          </p:nvPr>
        </p:nvGraphicFramePr>
        <p:xfrm>
          <a:off x="2032000" y="2531533"/>
          <a:ext cx="8127999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Viewing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file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file content page by page (scrollable)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file content page by page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3528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first lines of a file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485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last lines of a file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4409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690392-C1F8-2CDF-B4DD-41577B59BF4C}"/>
              </a:ext>
            </a:extLst>
          </p:cNvPr>
          <p:cNvSpPr txBox="1"/>
          <p:nvPr/>
        </p:nvSpPr>
        <p:spPr>
          <a:xfrm>
            <a:off x="5525145" y="4951364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2</a:t>
            </a:r>
          </a:p>
        </p:txBody>
      </p:sp>
    </p:spTree>
    <p:extLst>
      <p:ext uri="{BB962C8B-B14F-4D97-AF65-F5344CB8AC3E}">
        <p14:creationId xmlns:p14="http://schemas.microsoft.com/office/powerpoint/2010/main" val="320304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1EAB-0E7A-9563-EF40-7287E669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4A35-9D73-EDE6-629F-22165212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891B0-754A-FF15-12C3-27E0AAC22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0C96B-36D7-8341-7650-5B85FC33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1CF0-A4FB-C7A6-2C04-FF3BAA72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4EB100-C55A-D79A-5B2E-3C26C79D8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307041"/>
              </p:ext>
            </p:extLst>
          </p:nvPr>
        </p:nvGraphicFramePr>
        <p:xfrm>
          <a:off x="1977755" y="2151825"/>
          <a:ext cx="8127999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8"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Search &amp; Text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text using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egrep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Extended grep (supports regex)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based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Pattern scanning &amp;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3528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based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Stream editor (find/replace)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485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 file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4409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adjacent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327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cut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Extract columns from text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9330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diff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Compare two files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9082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C4482E-2FE3-6633-E7A5-6F93F9ADBA94}"/>
              </a:ext>
            </a:extLst>
          </p:cNvPr>
          <p:cNvSpPr txBox="1"/>
          <p:nvPr/>
        </p:nvSpPr>
        <p:spPr>
          <a:xfrm>
            <a:off x="5633633" y="5784025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3</a:t>
            </a:r>
          </a:p>
        </p:txBody>
      </p:sp>
    </p:spTree>
    <p:extLst>
      <p:ext uri="{BB962C8B-B14F-4D97-AF65-F5344CB8AC3E}">
        <p14:creationId xmlns:p14="http://schemas.microsoft.com/office/powerpoint/2010/main" val="109733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CC94D-F927-E371-D83E-9A69DC2E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B20C-0A5D-D9B4-16DD-2FEDBD4D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99CFD-AB21-6696-B0B9-04762E49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383E-9FDA-781E-2F63-C3C0C592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5AA36-558F-7535-7725-38AAA652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23A283-7DE4-F871-83C1-17619D604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959808"/>
              </p:ext>
            </p:extLst>
          </p:nvPr>
        </p:nvGraphicFramePr>
        <p:xfrm>
          <a:off x="2032000" y="2531533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IN" sz="1400" dirty="0"/>
                        <a:t>Permissions &amp; Ownership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chmod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Change file permissions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chown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Change file owner/group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A3ADB8-0800-FF97-FF91-F12B2DCB4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129337"/>
              </p:ext>
            </p:extLst>
          </p:nvPr>
        </p:nvGraphicFramePr>
        <p:xfrm>
          <a:off x="2031999" y="4118345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IN" sz="1400" dirty="0"/>
                        <a:t>Process Management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ps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Show running processes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Real-time process monitoring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htop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Enhanced process monitor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184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kill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Terminate a process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1957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0E480B-86EC-9D7A-FACB-9621B9E76BA4}"/>
              </a:ext>
            </a:extLst>
          </p:cNvPr>
          <p:cNvSpPr txBox="1"/>
          <p:nvPr/>
        </p:nvSpPr>
        <p:spPr>
          <a:xfrm>
            <a:off x="5346914" y="3711922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CD472-435F-401F-4D32-103F711D1F5F}"/>
              </a:ext>
            </a:extLst>
          </p:cNvPr>
          <p:cNvSpPr txBox="1"/>
          <p:nvPr/>
        </p:nvSpPr>
        <p:spPr>
          <a:xfrm>
            <a:off x="5525145" y="6025038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5</a:t>
            </a:r>
          </a:p>
        </p:txBody>
      </p:sp>
    </p:spTree>
    <p:extLst>
      <p:ext uri="{BB962C8B-B14F-4D97-AF65-F5344CB8AC3E}">
        <p14:creationId xmlns:p14="http://schemas.microsoft.com/office/powerpoint/2010/main" val="294067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49F3-FC5A-AEB8-8962-D6326622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16A6-A705-BBF1-85D2-787FD739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A398D-B3F6-F716-B7C3-D5EA0EBF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4D2CA-F46E-2ED0-87FF-4A935468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032EE-9DF7-AD8A-585E-85530599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8C43AD-D4BB-4ACB-9845-DD44FF1B5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308299"/>
              </p:ext>
            </p:extLst>
          </p:nvPr>
        </p:nvGraphicFramePr>
        <p:xfrm>
          <a:off x="2032000" y="2192867"/>
          <a:ext cx="8127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9">
                  <a:txBody>
                    <a:bodyPr/>
                    <a:lstStyle/>
                    <a:p>
                      <a:r>
                        <a:rPr lang="en-IN" sz="1400" dirty="0"/>
                        <a:t>Shell &amp; Environment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bash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Bash shell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sh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Bourne shell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echo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Print text/variables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6956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.</a:t>
                      </a:r>
                      <a:r>
                        <a:rPr lang="en-IN" sz="1400" dirty="0" err="1"/>
                        <a:t>bashrc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Bash startup configuration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395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.</a:t>
                      </a:r>
                      <a:r>
                        <a:rPr lang="en-IN" sz="1400" dirty="0" err="1"/>
                        <a:t>cshrc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 shell startup configuration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9069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history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Command history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6348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alias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Create command shortcuts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7383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export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Set environment variable (bash)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9560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setenv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Set environment variable (</a:t>
                      </a:r>
                      <a:r>
                        <a:rPr lang="en-IN" sz="1400" dirty="0" err="1"/>
                        <a:t>csh</a:t>
                      </a:r>
                      <a:r>
                        <a:rPr lang="en-IN" sz="1400" dirty="0"/>
                        <a:t>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6773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6DA8C4-9D2B-74CA-2DC9-13C163EE0BC5}"/>
              </a:ext>
            </a:extLst>
          </p:cNvPr>
          <p:cNvSpPr txBox="1"/>
          <p:nvPr/>
        </p:nvSpPr>
        <p:spPr>
          <a:xfrm>
            <a:off x="5788617" y="5901267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6</a:t>
            </a:r>
          </a:p>
        </p:txBody>
      </p:sp>
    </p:spTree>
    <p:extLst>
      <p:ext uri="{BB962C8B-B14F-4D97-AF65-F5344CB8AC3E}">
        <p14:creationId xmlns:p14="http://schemas.microsoft.com/office/powerpoint/2010/main" val="1612442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77A9-444C-6C8A-94EE-8FB515BF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9E90-4D18-BD32-3661-76EAFD96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64732-1FC7-EB28-9E64-02511EE5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71968-BDAC-98C9-5FC8-3CE9906E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04B24-3D08-600E-1854-4310D377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B80B0C-EFA0-D4BE-9FD5-5E8483566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022010"/>
              </p:ext>
            </p:extLst>
          </p:nvPr>
        </p:nvGraphicFramePr>
        <p:xfrm>
          <a:off x="2032000" y="2192867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IN" sz="1400" dirty="0"/>
                        <a:t>Build &amp; Simulation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make clean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Remove build files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make sim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Run simulation (project-specific)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3D9A4D-2CED-EA13-FD21-F86B573D8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134406"/>
              </p:ext>
            </p:extLst>
          </p:nvPr>
        </p:nvGraphicFramePr>
        <p:xfrm>
          <a:off x="2032000" y="3920067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IN" sz="1400" dirty="0"/>
                        <a:t>Disk Usage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du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Directory size usage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df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Disk free space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ABD897-EE8A-C001-3DD9-3D3C5F82687C}"/>
              </a:ext>
            </a:extLst>
          </p:cNvPr>
          <p:cNvSpPr txBox="1"/>
          <p:nvPr/>
        </p:nvSpPr>
        <p:spPr>
          <a:xfrm>
            <a:off x="5486399" y="3305387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37A52-ACB2-38F9-61A9-C9398F4C4D4E}"/>
              </a:ext>
            </a:extLst>
          </p:cNvPr>
          <p:cNvSpPr txBox="1"/>
          <p:nvPr/>
        </p:nvSpPr>
        <p:spPr>
          <a:xfrm>
            <a:off x="5486399" y="5139436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8</a:t>
            </a:r>
          </a:p>
        </p:txBody>
      </p:sp>
    </p:spTree>
    <p:extLst>
      <p:ext uri="{BB962C8B-B14F-4D97-AF65-F5344CB8AC3E}">
        <p14:creationId xmlns:p14="http://schemas.microsoft.com/office/powerpoint/2010/main" val="2192775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8EA0-A917-4745-4999-1388C0D7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8BC4-2686-03D9-1072-C7DB3ECD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88AC-B58C-CF21-791D-838B9C6A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662F-C3BD-086E-9246-8863620F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3C71-E463-F66A-8835-CC507595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50F53B-1C71-2F2F-2AAC-652CCB849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48597"/>
              </p:ext>
            </p:extLst>
          </p:nvPr>
        </p:nvGraphicFramePr>
        <p:xfrm>
          <a:off x="2032000" y="2192867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r>
                        <a:rPr lang="en-IN" sz="1400" dirty="0"/>
                        <a:t>Directory &amp; File Operations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List directory contents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Change directory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70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Copy files/directories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6839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mv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Move/rename files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520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Delete files/directories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6861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mkdir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Create directory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4802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tree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Display directory structure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4038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80F40D-7864-7040-8920-065D5D60BBCC}"/>
              </a:ext>
            </a:extLst>
          </p:cNvPr>
          <p:cNvSpPr txBox="1"/>
          <p:nvPr/>
        </p:nvSpPr>
        <p:spPr>
          <a:xfrm>
            <a:off x="5532894" y="5276540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9</a:t>
            </a:r>
          </a:p>
        </p:txBody>
      </p:sp>
    </p:spTree>
    <p:extLst>
      <p:ext uri="{BB962C8B-B14F-4D97-AF65-F5344CB8AC3E}">
        <p14:creationId xmlns:p14="http://schemas.microsoft.com/office/powerpoint/2010/main" val="316939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46C8-B98B-EF45-77FE-B2C2C886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1814-0007-3839-421F-E96DDF63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Linux Commands Summary Table (</a:t>
            </a:r>
            <a:r>
              <a:rPr lang="en-IN" sz="3200" dirty="0" err="1"/>
              <a:t>Contd</a:t>
            </a:r>
            <a:r>
              <a:rPr lang="en-IN" sz="3200" dirty="0"/>
              <a:t>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2E4AC-5031-5805-F49A-A949CAF6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A6A1D-B214-EDC1-B8EB-B0EAAC36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@Chipweave Private Ltd.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C444F-874E-439F-2807-DA71FABD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224157-A8C5-C77E-2726-7849BED93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135020"/>
              </p:ext>
            </p:extLst>
          </p:nvPr>
        </p:nvGraphicFramePr>
        <p:xfrm>
          <a:off x="2032000" y="2192867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Directory &amp; File Operations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find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Search files/directories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407EA6-440E-05F7-6D6F-C0374532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39602"/>
              </p:ext>
            </p:extLst>
          </p:nvPr>
        </p:nvGraphicFramePr>
        <p:xfrm>
          <a:off x="2032000" y="3552614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39409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60006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876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79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File Editor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vi / vim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Text editor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85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2C3AF50-20F1-2A00-F45A-618847349401}"/>
              </a:ext>
            </a:extLst>
          </p:cNvPr>
          <p:cNvSpPr txBox="1"/>
          <p:nvPr/>
        </p:nvSpPr>
        <p:spPr>
          <a:xfrm>
            <a:off x="5284921" y="2966832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CB146-C7D2-7C5F-B593-289681923481}"/>
              </a:ext>
            </a:extLst>
          </p:cNvPr>
          <p:cNvSpPr txBox="1"/>
          <p:nvPr/>
        </p:nvSpPr>
        <p:spPr>
          <a:xfrm>
            <a:off x="5346914" y="4372245"/>
            <a:ext cx="3184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11</a:t>
            </a:r>
          </a:p>
        </p:txBody>
      </p:sp>
    </p:spTree>
    <p:extLst>
      <p:ext uri="{BB962C8B-B14F-4D97-AF65-F5344CB8AC3E}">
        <p14:creationId xmlns:p14="http://schemas.microsoft.com/office/powerpoint/2010/main" val="239849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B998-CB8D-482E-FAEC-7AC721D0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3FD8-70EA-B96F-851D-F82B8086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Try It Yourself 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2E613-DE6C-39D3-5E8E-B4BD50B2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75DB-57F5-4A35-AF0E-161BE618DC3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59184-774A-DB8F-3F56-0CB7542C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@Chipweave Private Ltd.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E37CF-09AB-0E71-1992-8BFB99A9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A1FFE-B081-FD80-6CAC-6388698A9E44}"/>
              </a:ext>
            </a:extLst>
          </p:cNvPr>
          <p:cNvSpPr txBox="1"/>
          <p:nvPr/>
        </p:nvSpPr>
        <p:spPr>
          <a:xfrm>
            <a:off x="1261533" y="2328333"/>
            <a:ext cx="989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Assignment : </a:t>
            </a:r>
            <a:r>
              <a:rPr lang="en-US" dirty="0">
                <a:hlinkClick r:id="rId2"/>
              </a:rPr>
              <a:t>Terminal Playground - Interactive browser-based terminal simulator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148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5981-DE64-345B-23FB-C5F164D7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B2E-CF38-4D81-B2D1-286A56329F79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0FC0-66A5-0813-B1D6-06DEE5F6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@Chipweave Private Ltd.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6B97D-D7A1-0310-1254-5A8C87F9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E256A-0034-05C1-0719-57E09608C118}"/>
              </a:ext>
            </a:extLst>
          </p:cNvPr>
          <p:cNvSpPr/>
          <p:nvPr/>
        </p:nvSpPr>
        <p:spPr>
          <a:xfrm>
            <a:off x="4495659" y="2967335"/>
            <a:ext cx="320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502330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2119</TotalTime>
  <Words>1488</Words>
  <Application>Microsoft Office PowerPoint</Application>
  <PresentationFormat>Widescreen</PresentationFormat>
  <Paragraphs>348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Bookman Old Style</vt:lpstr>
      <vt:lpstr>Calibri</vt:lpstr>
      <vt:lpstr>Franklin Gothic Book</vt:lpstr>
      <vt:lpstr>Times New Roman</vt:lpstr>
      <vt:lpstr>1_RetrospectVTI</vt:lpstr>
      <vt:lpstr>Commands</vt:lpstr>
      <vt:lpstr>Contents</vt:lpstr>
      <vt:lpstr>What is Linux and Why is it Used?</vt:lpstr>
      <vt:lpstr>Linux Commands</vt:lpstr>
      <vt:lpstr>Linux Commands</vt:lpstr>
      <vt:lpstr>Linux Commands</vt:lpstr>
      <vt:lpstr>Linux Commands</vt:lpstr>
      <vt:lpstr>Linux Commands</vt:lpstr>
      <vt:lpstr>Linux Commands</vt:lpstr>
      <vt:lpstr>Linux Commands</vt:lpstr>
      <vt:lpstr>Linux Commands Summary Table</vt:lpstr>
      <vt:lpstr>Linux Commands Summary Table (Contd…)</vt:lpstr>
      <vt:lpstr>Linux Commands Summary Table (Contd…)</vt:lpstr>
      <vt:lpstr>Linux Commands Summary Table (Contd…)</vt:lpstr>
      <vt:lpstr>Linux Commands Summary Table (Contd…)</vt:lpstr>
      <vt:lpstr>Linux Commands Summary Table (Contd…)</vt:lpstr>
      <vt:lpstr>Linux Commands Summary Table (Contd…)</vt:lpstr>
      <vt:lpstr>Try It Yourself 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Jishnu Mohan</dc:creator>
  <cp:lastModifiedBy>Jishnu Mohan</cp:lastModifiedBy>
  <cp:revision>689</cp:revision>
  <dcterms:created xsi:type="dcterms:W3CDTF">2026-01-22T13:42:04Z</dcterms:created>
  <dcterms:modified xsi:type="dcterms:W3CDTF">2026-02-09T12:00:24Z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