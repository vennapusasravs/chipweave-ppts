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86" r:id="rId4"/>
    <p:sldId id="258" r:id="rId5"/>
    <p:sldId id="259" r:id="rId6"/>
    <p:sldId id="277" r:id="rId7"/>
    <p:sldId id="279" r:id="rId8"/>
    <p:sldId id="260" r:id="rId9"/>
    <p:sldId id="282" r:id="rId10"/>
    <p:sldId id="261" r:id="rId11"/>
    <p:sldId id="263" r:id="rId12"/>
    <p:sldId id="262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2" r:id="rId21"/>
    <p:sldId id="271" r:id="rId22"/>
    <p:sldId id="273" r:id="rId23"/>
    <p:sldId id="274" r:id="rId24"/>
    <p:sldId id="275" r:id="rId25"/>
    <p:sldId id="276" r:id="rId26"/>
    <p:sldId id="281" r:id="rId27"/>
    <p:sldId id="280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CE6EB6-752B-4652-9EEB-0758238EDE7C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1EB71-DDB9-4DE4-9082-D14AE62FE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694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1EB71-DDB9-4DE4-9082-D14AE62FE18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100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CBE31-E223-458A-5309-96D08372DA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SPI PROTOCOL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C44235-3692-9366-6DEE-77B5EFAAC4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BY SRAVANTHI</a:t>
            </a:r>
          </a:p>
          <a:p>
            <a:r>
              <a:rPr lang="en-IN"/>
              <a:t>CHIPWEAVE TECHNOLOGIES PVT LMD</a:t>
            </a:r>
          </a:p>
        </p:txBody>
      </p:sp>
    </p:spTree>
    <p:extLst>
      <p:ext uri="{BB962C8B-B14F-4D97-AF65-F5344CB8AC3E}">
        <p14:creationId xmlns:p14="http://schemas.microsoft.com/office/powerpoint/2010/main" val="29605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8E6F6-17F3-770F-6EBD-B76899CA9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                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8888A-BCBB-55BE-3EC8-71CB9A1F2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SPI stands for Serial Peripheral Interface</a:t>
            </a:r>
          </a:p>
          <a:p>
            <a:r>
              <a:rPr lang="en-GB">
                <a:solidFill>
                  <a:schemeClr val="bg2">
                    <a:lumMod val="10000"/>
                  </a:schemeClr>
                </a:solidFill>
              </a:rPr>
              <a:t>The SPI module allows a  synchronous, serial communication between the MCU and peripheral devices</a:t>
            </a:r>
          </a:p>
          <a:p>
            <a:r>
              <a:rPr lang="en-US" sz="1800" b="0" i="0" u="none" strike="noStrike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SPI supports half-duplex and full-duplex serial communication.</a:t>
            </a:r>
            <a:endParaRPr lang="en-GB" sz="1800" b="0" i="0" u="none" strike="noStrike">
              <a:solidFill>
                <a:schemeClr val="bg2">
                  <a:lumMod val="10000"/>
                </a:schemeClr>
              </a:solidFill>
              <a:effectLst/>
              <a:latin typeface="Open Sans" panose="020B0606030504020204" pitchFamily="34" charset="0"/>
            </a:endParaRPr>
          </a:p>
          <a:p>
            <a:r>
              <a:rPr lang="en-GB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</a:rPr>
              <a:t>S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PI is a four-wire communication protocol.</a:t>
            </a:r>
            <a:endParaRPr lang="en-GB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GB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</a:rPr>
              <a:t>It  used for short distance communication between microcontrollers and peripheral devices such as </a:t>
            </a:r>
            <a:r>
              <a:rPr lang="en-GB" err="1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</a:rPr>
              <a:t>sensors,SD</a:t>
            </a:r>
            <a:r>
              <a:rPr lang="en-GB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</a:rPr>
              <a:t> cards and shift registers.</a:t>
            </a:r>
          </a:p>
          <a:p>
            <a:r>
              <a:rPr lang="en-US" sz="1800" b="0" i="0" u="none" strike="noStrike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SPI supports 8-bit and 16-bit data frame formats.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​</a:t>
            </a:r>
          </a:p>
          <a:p>
            <a:r>
              <a:rPr lang="en-US" sz="1800" b="0" i="0" u="none" strike="noStrike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It supports high-speed data transfer, typically up to 10 Mbps.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IN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284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2541-F475-E0F8-F419-1E80DD7E9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              WHY SPI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691B9-3A33-2204-EAC9-52DD5C317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i="0">
                <a:solidFill>
                  <a:srgbClr val="E6E8F0"/>
                </a:solidFill>
                <a:effectLst/>
                <a:latin typeface="Google Sans"/>
              </a:rPr>
              <a:t>  </a:t>
            </a:r>
          </a:p>
          <a:p>
            <a:r>
              <a:rPr lang="en-GB"/>
              <a:t>Unlike APB (low-bandwidth on-chip peripheral control)  and AXI (high-performance, pipelined on-chip system interconnect) which handle complex IP integration within a System-on-Chip (SoC) for different performance needs. </a:t>
            </a:r>
          </a:p>
          <a:p>
            <a:r>
              <a:rPr lang="en-GB"/>
              <a:t>The need for SPI comes from its high speed, full-duplex nature, and lack of address overhead, making it ideal for peripherals needing quick data streaming.</a:t>
            </a:r>
          </a:p>
          <a:p>
            <a:r>
              <a:rPr lang="en-GB"/>
              <a:t> while APB/AXI manage internal SoC communication, with APB for simple control registers and AXI for high-bandwidth data paths.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72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94DB5-0BBC-FF92-9BF9-12EB0D027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                 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7E158-891B-31F9-A222-E029C2E07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Master mode and slave mode </a:t>
            </a:r>
          </a:p>
          <a:p>
            <a:r>
              <a:rPr lang="en-IN"/>
              <a:t> Bi-directional mode </a:t>
            </a:r>
          </a:p>
          <a:p>
            <a:r>
              <a:rPr lang="en-IN"/>
              <a:t>Slave select output </a:t>
            </a:r>
          </a:p>
          <a:p>
            <a:r>
              <a:rPr lang="en-IN"/>
              <a:t>Mode fault error flag with CPU interrupt capability </a:t>
            </a:r>
          </a:p>
          <a:p>
            <a:r>
              <a:rPr lang="en-IN"/>
              <a:t> Serial clock with programmable polarity and phase</a:t>
            </a:r>
          </a:p>
          <a:p>
            <a:r>
              <a:rPr lang="en-IN"/>
              <a:t> Control of SPI operation during wait mode</a:t>
            </a:r>
          </a:p>
        </p:txBody>
      </p:sp>
    </p:spTree>
    <p:extLst>
      <p:ext uri="{BB962C8B-B14F-4D97-AF65-F5344CB8AC3E}">
        <p14:creationId xmlns:p14="http://schemas.microsoft.com/office/powerpoint/2010/main" val="1140055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A5B87-599A-3642-63A4-891942C27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         SPI Block Diagram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B120071-3E4D-9FE4-6D7B-603B935ADD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4825" y="2408109"/>
            <a:ext cx="7922907" cy="3981331"/>
          </a:xfrm>
        </p:spPr>
      </p:pic>
    </p:spTree>
    <p:extLst>
      <p:ext uri="{BB962C8B-B14F-4D97-AF65-F5344CB8AC3E}">
        <p14:creationId xmlns:p14="http://schemas.microsoft.com/office/powerpoint/2010/main" val="2776981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D1330-8E0D-C439-FC14-553C772F6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            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131DB-FBBF-415F-6AC1-123F1404A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 rtl="0" fontAlgn="base"/>
            <a:r>
              <a:rPr lang="en-US" sz="1800" b="1" i="0" u="none" strike="noStrike">
                <a:solidFill>
                  <a:srgbClr val="000000"/>
                </a:solidFill>
                <a:effectLst/>
                <a:latin typeface="Open Sans Bold" panose="020B0806030504020204" pitchFamily="34" charset="0"/>
              </a:rPr>
              <a:t>Master selects the slave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 Bold" panose="020B08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The master pulls SS (Slave Select) LOW to choose the slave device.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/>
            <a:r>
              <a:rPr lang="en-US" sz="1800" b="1" i="0" u="none" strike="noStrike">
                <a:solidFill>
                  <a:srgbClr val="000000"/>
                </a:solidFill>
                <a:effectLst/>
                <a:latin typeface="Open Sans Bold" panose="020B0806030504020204" pitchFamily="34" charset="0"/>
              </a:rPr>
              <a:t>Master generates the clock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 Bold" panose="020B08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The master provides SCLK, which synchronizes data transfer between master and slave.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/>
            <a:r>
              <a:rPr lang="en-US" sz="1800" b="1" i="0" u="none" strike="noStrike">
                <a:solidFill>
                  <a:srgbClr val="000000"/>
                </a:solidFill>
                <a:effectLst/>
                <a:latin typeface="Open Sans Bold" panose="020B0806030504020204" pitchFamily="34" charset="0"/>
              </a:rPr>
              <a:t>Data transfer happens on clock edges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 Bold" panose="020B08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Data is sent from Master to Slave on MOSI and from Slave to Master on MISO, based on clock edges (CPOL/CPHA).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/>
            <a:r>
              <a:rPr lang="en-US" sz="1800" b="1" i="0" u="none" strike="noStrike">
                <a:solidFill>
                  <a:srgbClr val="000000"/>
                </a:solidFill>
                <a:effectLst/>
                <a:latin typeface="Open Sans Bold" panose="020B0806030504020204" pitchFamily="34" charset="0"/>
              </a:rPr>
              <a:t>Communication ends by releasing SS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 Bold" panose="020B08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After data transfer, the master sets SS HIGH, ending the SPI communication.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 rtl="0" fontAlgn="base">
              <a:buNone/>
            </a:pPr>
            <a:endParaRPr lang="en-US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78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FB787-9914-11C3-3995-9E2990D7C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                 SPI Signals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049A0CE-8E0B-8D67-6713-419EEA20C4B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134" y="2930770"/>
            <a:ext cx="6559826" cy="3521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6794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7967C-BF06-1753-09EE-1254E9D84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                 SPI 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E9454-4FF6-4C76-05EB-4CADB77FF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/>
              <a:t>MOSI:</a:t>
            </a:r>
          </a:p>
          <a:p>
            <a:pPr marL="0" indent="0">
              <a:buNone/>
            </a:pPr>
            <a:r>
              <a:rPr lang="en-GB"/>
              <a:t>       This pin is used to transmit data out of the SPI module when it is configured as a Master             and receive data when it is configured as Slave.</a:t>
            </a:r>
          </a:p>
          <a:p>
            <a:r>
              <a:rPr lang="en-GB"/>
              <a:t> </a:t>
            </a:r>
            <a:r>
              <a:rPr lang="en-GB" b="1"/>
              <a:t>MISO:</a:t>
            </a:r>
          </a:p>
          <a:p>
            <a:pPr marL="0" indent="0">
              <a:buNone/>
            </a:pPr>
            <a:r>
              <a:rPr lang="en-GB"/>
              <a:t> This pin is used to transmit data out of the SPI module when it is configured as a Slave and receive data when it is configured as Master. </a:t>
            </a:r>
          </a:p>
          <a:p>
            <a:r>
              <a:rPr lang="en-GB" b="1"/>
              <a:t>SS :</a:t>
            </a:r>
          </a:p>
          <a:p>
            <a:pPr marL="0" indent="0">
              <a:buNone/>
            </a:pPr>
            <a:r>
              <a:rPr lang="en-GB"/>
              <a:t>This pin is used to output the select signal from the SPI module to another peripheral with which a data transfer is to take place when its configured as a </a:t>
            </a:r>
            <a:r>
              <a:rPr lang="en-GB" err="1"/>
              <a:t>Masterand</a:t>
            </a:r>
            <a:r>
              <a:rPr lang="en-GB"/>
              <a:t> its used as an input to receive the slave select signal when the SPI is configured as Slave. </a:t>
            </a:r>
          </a:p>
          <a:p>
            <a:r>
              <a:rPr lang="en-GB"/>
              <a:t> </a:t>
            </a:r>
            <a:r>
              <a:rPr lang="en-GB" b="1"/>
              <a:t>SCK</a:t>
            </a:r>
            <a:r>
              <a:rPr lang="en-GB"/>
              <a:t> :</a:t>
            </a:r>
          </a:p>
          <a:p>
            <a:pPr marL="0" indent="0">
              <a:buNone/>
            </a:pPr>
            <a:r>
              <a:rPr lang="en-GB"/>
              <a:t>This pin is used to output the clock with respect to which the SPI transfers data or receive clock in case of Slave.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409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0B50D-6FAB-72B0-B23D-DBF689AF4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       CPOL &amp;CPHA Timing Diagram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8D9E7ED-3E5E-9063-F5F7-8CA7A46EB89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916" y="2603500"/>
            <a:ext cx="7084906" cy="341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8909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1E91D-3580-70E0-F124-C8FACB1F0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             Registers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499CB-3EF2-2F0E-7380-A37F543EB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/>
              <a:t>The address listed for each register is the sum of a base address and an address offset. </a:t>
            </a:r>
          </a:p>
          <a:p>
            <a:r>
              <a:rPr lang="en-GB"/>
              <a:t>The base address is defined at the SoC level and the address offset is defined at the module level. </a:t>
            </a:r>
          </a:p>
          <a:p>
            <a:r>
              <a:rPr lang="en-GB"/>
              <a:t>There are 5 registers in SPI</a:t>
            </a:r>
          </a:p>
          <a:p>
            <a:pPr marL="0" indent="0">
              <a:buNone/>
            </a:pPr>
            <a:r>
              <a:rPr lang="en-GB"/>
              <a:t>      1.SPICR1   </a:t>
            </a:r>
          </a:p>
          <a:p>
            <a:pPr marL="0" indent="0">
              <a:buNone/>
            </a:pPr>
            <a:r>
              <a:rPr lang="en-GB"/>
              <a:t>      2.SPICR2  </a:t>
            </a:r>
          </a:p>
          <a:p>
            <a:pPr marL="0" indent="0">
              <a:buNone/>
            </a:pPr>
            <a:r>
              <a:rPr lang="en-GB"/>
              <a:t>      3.SPIBR</a:t>
            </a:r>
          </a:p>
          <a:p>
            <a:pPr marL="0" indent="0">
              <a:buNone/>
            </a:pPr>
            <a:r>
              <a:rPr lang="en-GB"/>
              <a:t>      4.SPISR</a:t>
            </a:r>
          </a:p>
          <a:p>
            <a:pPr marL="0" indent="0">
              <a:buNone/>
            </a:pPr>
            <a:r>
              <a:rPr lang="en-GB"/>
              <a:t>      5.SPIDR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087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C8329-2F33-2C70-E0F4-44AB7E1EF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313F767-3672-ED94-ECCE-1357228F18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0087265"/>
              </p:ext>
            </p:extLst>
          </p:nvPr>
        </p:nvGraphicFramePr>
        <p:xfrm>
          <a:off x="2023353" y="2648372"/>
          <a:ext cx="6890490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8034">
                  <a:extLst>
                    <a:ext uri="{9D8B030D-6E8A-4147-A177-3AD203B41FA5}">
                      <a16:colId xmlns:a16="http://schemas.microsoft.com/office/drawing/2014/main" val="2041349714"/>
                    </a:ext>
                  </a:extLst>
                </a:gridCol>
                <a:gridCol w="4412456">
                  <a:extLst>
                    <a:ext uri="{9D8B030D-6E8A-4147-A177-3AD203B41FA5}">
                      <a16:colId xmlns:a16="http://schemas.microsoft.com/office/drawing/2014/main" val="4168316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                       Address    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              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39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           SPICR1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800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$1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           SPICR2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267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$2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           SPIBR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692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$3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           SPISR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351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$4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        RESERVED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846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$5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           SPIDR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078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$6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          RESERVED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205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597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E7C41-2604-9D7B-7EC8-E092A3B99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                 SPICR1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D179FB7A-3EBC-7D51-519A-AAE59AA00D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9397369"/>
              </p:ext>
            </p:extLst>
          </p:nvPr>
        </p:nvGraphicFramePr>
        <p:xfrm>
          <a:off x="1219199" y="2829040"/>
          <a:ext cx="8595241" cy="932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114">
                  <a:extLst>
                    <a:ext uri="{9D8B030D-6E8A-4147-A177-3AD203B41FA5}">
                      <a16:colId xmlns:a16="http://schemas.microsoft.com/office/drawing/2014/main" val="4131758576"/>
                    </a:ext>
                  </a:extLst>
                </a:gridCol>
                <a:gridCol w="1103114">
                  <a:extLst>
                    <a:ext uri="{9D8B030D-6E8A-4147-A177-3AD203B41FA5}">
                      <a16:colId xmlns:a16="http://schemas.microsoft.com/office/drawing/2014/main" val="3841378401"/>
                    </a:ext>
                  </a:extLst>
                </a:gridCol>
                <a:gridCol w="1103114">
                  <a:extLst>
                    <a:ext uri="{9D8B030D-6E8A-4147-A177-3AD203B41FA5}">
                      <a16:colId xmlns:a16="http://schemas.microsoft.com/office/drawing/2014/main" val="1804261612"/>
                    </a:ext>
                  </a:extLst>
                </a:gridCol>
                <a:gridCol w="873443">
                  <a:extLst>
                    <a:ext uri="{9D8B030D-6E8A-4147-A177-3AD203B41FA5}">
                      <a16:colId xmlns:a16="http://schemas.microsoft.com/office/drawing/2014/main" val="604539676"/>
                    </a:ext>
                  </a:extLst>
                </a:gridCol>
                <a:gridCol w="1103114">
                  <a:extLst>
                    <a:ext uri="{9D8B030D-6E8A-4147-A177-3AD203B41FA5}">
                      <a16:colId xmlns:a16="http://schemas.microsoft.com/office/drawing/2014/main" val="3685679886"/>
                    </a:ext>
                  </a:extLst>
                </a:gridCol>
                <a:gridCol w="1103114">
                  <a:extLst>
                    <a:ext uri="{9D8B030D-6E8A-4147-A177-3AD203B41FA5}">
                      <a16:colId xmlns:a16="http://schemas.microsoft.com/office/drawing/2014/main" val="3339538276"/>
                    </a:ext>
                  </a:extLst>
                </a:gridCol>
                <a:gridCol w="1103114">
                  <a:extLst>
                    <a:ext uri="{9D8B030D-6E8A-4147-A177-3AD203B41FA5}">
                      <a16:colId xmlns:a16="http://schemas.microsoft.com/office/drawing/2014/main" val="3587350976"/>
                    </a:ext>
                  </a:extLst>
                </a:gridCol>
                <a:gridCol w="1103114">
                  <a:extLst>
                    <a:ext uri="{9D8B030D-6E8A-4147-A177-3AD203B41FA5}">
                      <a16:colId xmlns:a16="http://schemas.microsoft.com/office/drawing/2014/main" val="2911138794"/>
                    </a:ext>
                  </a:extLst>
                </a:gridCol>
              </a:tblGrid>
              <a:tr h="932504">
                <a:tc>
                  <a:txBody>
                    <a:bodyPr/>
                    <a:lstStyle/>
                    <a:p>
                      <a:r>
                        <a:rPr lang="en-IN"/>
                        <a:t>SPIE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SPE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SPTIE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MSTR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CPOL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CPHA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SSOE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LSBFE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603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7134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578E6-8E8C-176D-3E1F-9CE38BBA4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A17E5-CB5F-EB90-ACA8-1D0965233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/>
              <a:t>SPIE — SPI Interrupt Enable Bit </a:t>
            </a:r>
          </a:p>
          <a:p>
            <a:pPr marL="0" indent="0">
              <a:buNone/>
            </a:pPr>
            <a:r>
              <a:rPr lang="en-IN"/>
              <a:t>       1 = SPI interrupts enabled</a:t>
            </a:r>
          </a:p>
          <a:p>
            <a:pPr marL="0" indent="0">
              <a:buNone/>
            </a:pPr>
            <a:r>
              <a:rPr lang="en-IN"/>
              <a:t>       0 = SPI interrupts disabled</a:t>
            </a:r>
          </a:p>
          <a:p>
            <a:r>
              <a:rPr lang="en-IN"/>
              <a:t> SPE — SPI System Enable Bit </a:t>
            </a:r>
          </a:p>
          <a:p>
            <a:pPr marL="0" indent="0">
              <a:buNone/>
            </a:pPr>
            <a:r>
              <a:rPr lang="en-IN"/>
              <a:t>        1 = SPI enabled, port pins are dedicated to SPI functions</a:t>
            </a:r>
          </a:p>
          <a:p>
            <a:pPr marL="0" indent="0">
              <a:buNone/>
            </a:pPr>
            <a:r>
              <a:rPr lang="en-IN"/>
              <a:t>        0 = SPI disabled (lower power consumption)</a:t>
            </a:r>
          </a:p>
          <a:p>
            <a:r>
              <a:rPr lang="en-IN"/>
              <a:t> SPTIE — SPI Transmit Interrupt Enable </a:t>
            </a:r>
          </a:p>
          <a:p>
            <a:pPr marL="0" indent="0">
              <a:buNone/>
            </a:pPr>
            <a:r>
              <a:rPr lang="en-IN"/>
              <a:t>       1 = SPTEF interrupt enabled</a:t>
            </a:r>
          </a:p>
          <a:p>
            <a:pPr marL="0" indent="0">
              <a:buNone/>
            </a:pPr>
            <a:r>
              <a:rPr lang="en-IN"/>
              <a:t>       0 =SPTEF interrupt disabled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38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E3CC6-8804-427F-5377-491EFA60D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/>
            </a:br>
            <a:br>
              <a:rPr lang="en-IN"/>
            </a:br>
            <a:br>
              <a:rPr lang="en-IN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C818F-40CF-C5F3-06F4-145281BA5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/>
              <a:t>MSTR — SPI Master/Slave Mode Select Bit :</a:t>
            </a:r>
          </a:p>
          <a:p>
            <a:pPr marL="0" indent="0">
              <a:buNone/>
            </a:pPr>
            <a:r>
              <a:rPr lang="en-GB"/>
              <a:t>             1 = SPI is in Master mode </a:t>
            </a:r>
          </a:p>
          <a:p>
            <a:pPr marL="0" indent="0">
              <a:buNone/>
            </a:pPr>
            <a:r>
              <a:rPr lang="en-GB"/>
              <a:t>             0 = SPI is in Slave mode </a:t>
            </a:r>
          </a:p>
          <a:p>
            <a:r>
              <a:rPr lang="en-GB"/>
              <a:t>CPOL — SPI Clock Polarity Bit :</a:t>
            </a:r>
          </a:p>
          <a:p>
            <a:pPr marL="0" indent="0">
              <a:buNone/>
            </a:pPr>
            <a:r>
              <a:rPr lang="en-GB"/>
              <a:t>            1 = Active-low clocks selected. In idle state SCK is high</a:t>
            </a:r>
          </a:p>
          <a:p>
            <a:pPr marL="0" indent="0">
              <a:buNone/>
            </a:pPr>
            <a:r>
              <a:rPr lang="en-GB"/>
              <a:t>            0 = Active-high clocks selected. In idle state SCK is low</a:t>
            </a:r>
          </a:p>
          <a:p>
            <a:r>
              <a:rPr lang="en-GB"/>
              <a:t>CPHA — SPI Clock Phase Bit :</a:t>
            </a:r>
          </a:p>
          <a:p>
            <a:pPr marL="0" indent="0">
              <a:buNone/>
            </a:pPr>
            <a:r>
              <a:rPr lang="en-GB"/>
              <a:t>           1 = Sampling of data occurs at even edges (2,4,6,...,16) of the SCK clock </a:t>
            </a:r>
          </a:p>
          <a:p>
            <a:pPr marL="0" indent="0">
              <a:buNone/>
            </a:pPr>
            <a:r>
              <a:rPr lang="en-GB"/>
              <a:t>           0 = Sampling of data occurs at odd edges (1,3,5,...,15) of the SCK clock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51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17266-428B-25B5-5F5C-2E971E7F8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SSOE — Slave Select Output Enable</a:t>
            </a:r>
            <a:br>
              <a:rPr lang="en-IN"/>
            </a:br>
            <a:endParaRPr lang="en-IN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D444A04-2D00-4D31-D9E8-781D8D8865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3792196"/>
              </p:ext>
            </p:extLst>
          </p:nvPr>
        </p:nvGraphicFramePr>
        <p:xfrm>
          <a:off x="1155700" y="2603500"/>
          <a:ext cx="8824912" cy="227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228">
                  <a:extLst>
                    <a:ext uri="{9D8B030D-6E8A-4147-A177-3AD203B41FA5}">
                      <a16:colId xmlns:a16="http://schemas.microsoft.com/office/drawing/2014/main" val="3652364846"/>
                    </a:ext>
                  </a:extLst>
                </a:gridCol>
                <a:gridCol w="2206228">
                  <a:extLst>
                    <a:ext uri="{9D8B030D-6E8A-4147-A177-3AD203B41FA5}">
                      <a16:colId xmlns:a16="http://schemas.microsoft.com/office/drawing/2014/main" val="1709751893"/>
                    </a:ext>
                  </a:extLst>
                </a:gridCol>
                <a:gridCol w="2206228">
                  <a:extLst>
                    <a:ext uri="{9D8B030D-6E8A-4147-A177-3AD203B41FA5}">
                      <a16:colId xmlns:a16="http://schemas.microsoft.com/office/drawing/2014/main" val="1626108839"/>
                    </a:ext>
                  </a:extLst>
                </a:gridCol>
                <a:gridCol w="2206228">
                  <a:extLst>
                    <a:ext uri="{9D8B030D-6E8A-4147-A177-3AD203B41FA5}">
                      <a16:colId xmlns:a16="http://schemas.microsoft.com/office/drawing/2014/main" val="1296536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       MODFEN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   SSOE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MASTER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SLAVE MODE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9474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         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  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</a:t>
                      </a:r>
                      <a:r>
                        <a:rPr lang="en-GB" sz="1600"/>
                        <a:t>SS not used by SPI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SS input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372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         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SS not used by SPI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SS input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314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 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  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SS input with MODF feature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SS input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819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 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SS is slave select output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SS input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112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6601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3FB53-7D11-2E2C-E59E-DE65F00DB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3F0F2-2573-5AF5-C973-D27148DD0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LSBFE — LSB-First Enable:</a:t>
            </a:r>
          </a:p>
          <a:p>
            <a:pPr marL="0" indent="0">
              <a:buNone/>
            </a:pPr>
            <a:r>
              <a:rPr lang="en-GB"/>
              <a:t>    This bit does not affect the position of the MSB and LSB in the data register. Reads and writes of the data register always have the MSB in bit 7.</a:t>
            </a:r>
          </a:p>
          <a:p>
            <a:pPr marL="0" indent="0">
              <a:buNone/>
            </a:pPr>
            <a:r>
              <a:rPr lang="en-GB"/>
              <a:t>In master mode, a change of this bit will abort a transmission in progress and force the SPI system into idle state.</a:t>
            </a:r>
          </a:p>
          <a:p>
            <a:pPr marL="0" indent="0">
              <a:buNone/>
            </a:pPr>
            <a:r>
              <a:rPr lang="en-GB"/>
              <a:t>       1 = Data is transferred least significant bit first</a:t>
            </a:r>
          </a:p>
          <a:p>
            <a:pPr marL="0" indent="0">
              <a:buNone/>
            </a:pPr>
            <a:r>
              <a:rPr lang="en-GB"/>
              <a:t>       0 = Data is transferred most significant bit first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893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7D67F-16D2-182A-CF44-366E851AD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            SPICR2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E7E78A6-3CE5-07ED-05F2-088E60AF45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8912382"/>
              </p:ext>
            </p:extLst>
          </p:nvPr>
        </p:nvGraphicFramePr>
        <p:xfrm>
          <a:off x="1155700" y="2603500"/>
          <a:ext cx="8824905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545">
                  <a:extLst>
                    <a:ext uri="{9D8B030D-6E8A-4147-A177-3AD203B41FA5}">
                      <a16:colId xmlns:a16="http://schemas.microsoft.com/office/drawing/2014/main" val="1916352912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987127011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2829665145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2573091498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2086206175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1629921241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2434332450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2021725525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33513997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Read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MODFEN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BIDIROE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SPASWAI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SPC0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660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50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1924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EA402-D3B3-B503-6B67-C3BE13BA5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5F99A-6ACB-29CA-CDE1-EC5D9905F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/>
              <a:t>MODFEN — Mode Fault Enable Bit:</a:t>
            </a:r>
          </a:p>
          <a:p>
            <a:pPr marL="0" indent="0">
              <a:buNone/>
            </a:pPr>
            <a:r>
              <a:rPr lang="en-GB"/>
              <a:t>            1 = SS port pin with MODF feature </a:t>
            </a:r>
          </a:p>
          <a:p>
            <a:pPr marL="0" indent="0">
              <a:buNone/>
            </a:pPr>
            <a:r>
              <a:rPr lang="en-GB"/>
              <a:t>            0 = SS port pin is not used by the SPI </a:t>
            </a:r>
          </a:p>
          <a:p>
            <a:r>
              <a:rPr lang="en-GB"/>
              <a:t>BIDIROE — Output enable in the Bidirectional mode enable</a:t>
            </a:r>
          </a:p>
          <a:p>
            <a:pPr marL="0" indent="0">
              <a:buNone/>
            </a:pPr>
            <a:r>
              <a:rPr lang="en-GB"/>
              <a:t>            1 = Output buffer enabled</a:t>
            </a:r>
          </a:p>
          <a:p>
            <a:pPr marL="0" indent="0">
              <a:buNone/>
            </a:pPr>
            <a:r>
              <a:rPr lang="en-GB"/>
              <a:t>            0 = Output buffer disabled </a:t>
            </a:r>
          </a:p>
          <a:p>
            <a:r>
              <a:rPr lang="en-GB"/>
              <a:t>SPISWAI — SPI Stop in Wait Mode Bit.</a:t>
            </a:r>
          </a:p>
          <a:p>
            <a:pPr marL="0" indent="0">
              <a:buNone/>
            </a:pPr>
            <a:r>
              <a:rPr lang="en-GB"/>
              <a:t>      This bit is used for power conservation while in wait mode</a:t>
            </a:r>
          </a:p>
          <a:p>
            <a:pPr marL="0" indent="0">
              <a:buNone/>
            </a:pPr>
            <a:r>
              <a:rPr lang="en-GB"/>
              <a:t>           1 = Stop SPI clock generation when in wait mode</a:t>
            </a:r>
          </a:p>
          <a:p>
            <a:pPr marL="0" indent="0">
              <a:buNone/>
            </a:pPr>
            <a:r>
              <a:rPr lang="en-GB"/>
              <a:t>           0 = SPI clock operates normally in wait mode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547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70393-4157-4D4D-1575-3B072BD78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B192C-4981-FFDE-E8BE-B7C750626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SPC0 — Serial Pin Control Bit 0:</a:t>
            </a:r>
          </a:p>
          <a:p>
            <a:pPr marL="0" indent="0">
              <a:buNone/>
            </a:pPr>
            <a:r>
              <a:rPr lang="en-GB"/>
              <a:t>            This bit enables bidirectional pin configurations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9C0652-CAAD-68E8-08B5-B225F47C2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617" y="3638146"/>
            <a:ext cx="5373434" cy="224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633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1F88-D373-E81D-2B5C-DF4DAC78B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    SPIBR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916590F-6524-2B1A-AA05-22CC5BBEBA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5104628"/>
              </p:ext>
            </p:extLst>
          </p:nvPr>
        </p:nvGraphicFramePr>
        <p:xfrm>
          <a:off x="1155700" y="2603500"/>
          <a:ext cx="882490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545">
                  <a:extLst>
                    <a:ext uri="{9D8B030D-6E8A-4147-A177-3AD203B41FA5}">
                      <a16:colId xmlns:a16="http://schemas.microsoft.com/office/drawing/2014/main" val="4051538495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2034418829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2355560916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615541197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2435630766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4180716581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1886501673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3672761199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16471509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SPPR2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SPPR1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SPPR0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SPR2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SPR1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SPR0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7132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164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8683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66248-93EF-757D-5223-2C423F208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B1397-6DE0-1731-8C03-D76C53FA4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SPPR2–SPPR0 — SPI Baud Rate Preselection Bits</a:t>
            </a:r>
          </a:p>
          <a:p>
            <a:r>
              <a:rPr lang="en-GB"/>
              <a:t> SPR2–SPR0 — SPI Baud Rate Selection Bits</a:t>
            </a:r>
          </a:p>
          <a:p>
            <a:pPr marL="0" indent="0">
              <a:buNone/>
            </a:pPr>
            <a:r>
              <a:rPr lang="en-GB"/>
              <a:t>    These bits specify the SPI baud rates . In master mode, a change of these bits will abort a transmission in progress.</a:t>
            </a:r>
          </a:p>
          <a:p>
            <a:pPr marL="0" indent="0">
              <a:buNone/>
            </a:pPr>
            <a:r>
              <a:rPr lang="en-GB"/>
              <a:t> The baud rate divisor equation is as follows: </a:t>
            </a:r>
          </a:p>
          <a:p>
            <a:pPr marL="0" indent="0">
              <a:buNone/>
            </a:pPr>
            <a:r>
              <a:rPr lang="en-GB"/>
              <a:t>                   Baud Rate  Divisor = (SPPR+1) 2^(SPR+1) </a:t>
            </a:r>
          </a:p>
          <a:p>
            <a:pPr marL="0" indent="0">
              <a:buNone/>
            </a:pPr>
            <a:r>
              <a:rPr lang="en-GB"/>
              <a:t> The baud rate can be calculated with the following equation: </a:t>
            </a:r>
          </a:p>
          <a:p>
            <a:pPr marL="0" indent="0">
              <a:buNone/>
            </a:pPr>
            <a:r>
              <a:rPr lang="en-GB"/>
              <a:t>           Baud Rate =Bus Clock/ Baud </a:t>
            </a:r>
            <a:r>
              <a:rPr lang="en-GB" err="1"/>
              <a:t>RateDivisor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39506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2E1F9-187A-F2FE-F822-D5672F8AF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          SPISR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2086CDC-C71C-F3A3-9655-F7EB90FCC8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2496769"/>
              </p:ext>
            </p:extLst>
          </p:nvPr>
        </p:nvGraphicFramePr>
        <p:xfrm>
          <a:off x="1155700" y="2603500"/>
          <a:ext cx="882490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545">
                  <a:extLst>
                    <a:ext uri="{9D8B030D-6E8A-4147-A177-3AD203B41FA5}">
                      <a16:colId xmlns:a16="http://schemas.microsoft.com/office/drawing/2014/main" val="1546718640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4031849345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3898515324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4125502492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512568650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1317111262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2152553571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3618037085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3955212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SPIF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SPTEF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MODF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01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8660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85050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61F9B-D712-6DB6-08CF-59B755986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51B24-5CA5-47E4-D73C-6AB9D75A7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/>
              <a:t>SPIF — SPI Interrupt Flag:</a:t>
            </a:r>
          </a:p>
          <a:p>
            <a:pPr marL="0" indent="0">
              <a:buNone/>
            </a:pPr>
            <a:r>
              <a:rPr lang="en-IN"/>
              <a:t>       </a:t>
            </a:r>
            <a:r>
              <a:rPr lang="en-GB"/>
              <a:t>1 = New data copied to SPIDR </a:t>
            </a:r>
          </a:p>
          <a:p>
            <a:pPr marL="0" indent="0">
              <a:buNone/>
            </a:pPr>
            <a:r>
              <a:rPr lang="en-GB"/>
              <a:t>       0 = Transfer not yet complete</a:t>
            </a:r>
          </a:p>
          <a:p>
            <a:r>
              <a:rPr lang="en-GB"/>
              <a:t> SPTEF — SPI Transmit Empty Interrupt Flag</a:t>
            </a:r>
          </a:p>
          <a:p>
            <a:pPr marL="0" indent="0">
              <a:buNone/>
            </a:pPr>
            <a:r>
              <a:rPr lang="en-GB"/>
              <a:t>     </a:t>
            </a:r>
            <a:r>
              <a:rPr lang="en-IN"/>
              <a:t>1 = SPI Data register empty ,New data can be written to SPIDR</a:t>
            </a:r>
          </a:p>
          <a:p>
            <a:pPr marL="0" indent="0">
              <a:buNone/>
            </a:pPr>
            <a:r>
              <a:rPr lang="en-IN"/>
              <a:t>     0 = SPI Data register not </a:t>
            </a:r>
            <a:r>
              <a:rPr lang="en-IN" err="1"/>
              <a:t>empty,Write</a:t>
            </a:r>
            <a:r>
              <a:rPr lang="en-IN"/>
              <a:t> operation is not allowed</a:t>
            </a:r>
          </a:p>
          <a:p>
            <a:r>
              <a:rPr lang="en-IN"/>
              <a:t>MODF — Mode Fault Flag:</a:t>
            </a:r>
          </a:p>
          <a:p>
            <a:pPr marL="0" indent="0">
              <a:buNone/>
            </a:pPr>
            <a:r>
              <a:rPr lang="en-IN"/>
              <a:t>    </a:t>
            </a:r>
            <a:r>
              <a:rPr lang="en-GB"/>
              <a:t>1 = Mode fault has occurred</a:t>
            </a:r>
          </a:p>
          <a:p>
            <a:pPr marL="0" indent="0">
              <a:buNone/>
            </a:pPr>
            <a:r>
              <a:rPr lang="en-GB"/>
              <a:t>    0 = Mode fault has not occurred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735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88E41-68A7-6849-9882-F4B9C5013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         SPIDR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79F6989-3EB2-DF90-428D-EE944E3527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4691502"/>
              </p:ext>
            </p:extLst>
          </p:nvPr>
        </p:nvGraphicFramePr>
        <p:xfrm>
          <a:off x="1155700" y="2603500"/>
          <a:ext cx="882490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545">
                  <a:extLst>
                    <a:ext uri="{9D8B030D-6E8A-4147-A177-3AD203B41FA5}">
                      <a16:colId xmlns:a16="http://schemas.microsoft.com/office/drawing/2014/main" val="2792869947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1336988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222017179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903130524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691215478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170361066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3466000841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2251894034"/>
                    </a:ext>
                  </a:extLst>
                </a:gridCol>
                <a:gridCol w="980545">
                  <a:extLst>
                    <a:ext uri="{9D8B030D-6E8A-4147-A177-3AD203B41FA5}">
                      <a16:colId xmlns:a16="http://schemas.microsoft.com/office/drawing/2014/main" val="955365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bit7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bit6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bit5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bit4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bit3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bit2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bit1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bit0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255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199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07265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46620-1F79-B570-3CCE-C927ECF0F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EE3D3-109B-60A2-5289-2DE117C1F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fontAlgn="base"/>
            <a:r>
              <a:rPr lang="en-US" sz="1800" b="1" i="0" u="none" strike="noStrike">
                <a:solidFill>
                  <a:srgbClr val="000000"/>
                </a:solidFill>
                <a:effectLst/>
                <a:latin typeface="Open Sans Bold" panose="020B0806030504020204" pitchFamily="34" charset="0"/>
              </a:rPr>
              <a:t>Single Data Register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 Bold" panose="020B08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 rtl="0" fontAlgn="base">
              <a:buNone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    SPIDR acts as both input and output register for SPI data.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​</a:t>
            </a:r>
          </a:p>
          <a:p>
            <a:pPr fontAlgn="base"/>
            <a:r>
              <a:rPr lang="en-US" sz="1800" b="1" i="0" u="none" strike="noStrike">
                <a:solidFill>
                  <a:srgbClr val="000000"/>
                </a:solidFill>
                <a:effectLst/>
                <a:latin typeface="Open Sans Bold" panose="020B0806030504020204" pitchFamily="34" charset="0"/>
              </a:rPr>
              <a:t>Transmit Operation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 Bold" panose="020B08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 rtl="0" fontAlgn="base">
              <a:buNone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        Writing to SPIDR queues one data byte for transmission.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​</a:t>
            </a:r>
            <a:endParaRPr lang="en-US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l" rtl="0" fontAlgn="base">
              <a:buNone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       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 Master mode, transmission starts immediately after the previous transfer completes.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​</a:t>
            </a:r>
            <a:endParaRPr lang="en-US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/>
            <a:r>
              <a:rPr lang="en-US" sz="1800" b="1" i="0" u="none" strike="noStrike">
                <a:solidFill>
                  <a:srgbClr val="000000"/>
                </a:solidFill>
                <a:effectLst/>
                <a:latin typeface="Open Sans Bold" panose="020B0806030504020204" pitchFamily="34" charset="0"/>
              </a:rPr>
              <a:t>Transmit Ready Indication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 Bold" panose="020B0806030504020204" pitchFamily="34" charset="0"/>
              </a:rPr>
              <a:t>​</a:t>
            </a:r>
          </a:p>
          <a:p>
            <a:pPr marL="0" indent="0" algn="l" rtl="0" fontAlgn="base">
              <a:buNone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       SPTEF flag in SPISR indicates when SPIDR is ready to accept new data.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fontAlgn="base"/>
            <a:r>
              <a:rPr lang="en-US" sz="1800" b="1" i="0" u="none" strike="noStrike">
                <a:solidFill>
                  <a:srgbClr val="000000"/>
                </a:solidFill>
                <a:effectLst/>
                <a:latin typeface="Open Sans Bold" panose="020B0806030504020204" pitchFamily="34" charset="0"/>
              </a:rPr>
              <a:t>Receive Operation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 Bold" panose="020B08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 rtl="0" fontAlgn="base">
              <a:buNone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       Received data can be read after SPIF is set and before the next transfer ends.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​</a:t>
            </a:r>
          </a:p>
          <a:p>
            <a:pPr fontAlgn="base"/>
            <a:r>
              <a:rPr lang="en-US" sz="1800" b="1" i="0" u="none" strike="noStrike">
                <a:solidFill>
                  <a:srgbClr val="000000"/>
                </a:solidFill>
                <a:effectLst/>
                <a:latin typeface="Open Sans Bold" panose="020B0806030504020204" pitchFamily="34" charset="0"/>
              </a:rPr>
              <a:t>Data Loss Condition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 Bold" panose="020B08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 rtl="0" fontAlgn="base">
              <a:buNone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       If SPIF is not serviced before the next transfers complete,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 rtl="0" fontAlgn="base">
              <a:buNone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      new data bytes are lost, and SPIDR retains only the first unread byte.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just" rtl="0" fontAlgn="base">
              <a:buNone/>
            </a:pPr>
            <a:r>
              <a:rPr lang="en-US" sz="1800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067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E3926-44EC-D599-7FE7-F87FE8DC9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SPI Modes of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A9702-6946-CFAB-BE99-A7EBC189B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/>
              <a:t>SPI can be operated in 3 modes</a:t>
            </a:r>
          </a:p>
          <a:p>
            <a:pPr marL="0" indent="0">
              <a:buNone/>
            </a:pPr>
            <a:r>
              <a:rPr lang="en-IN"/>
              <a:t>          1.RUN Mode</a:t>
            </a:r>
          </a:p>
          <a:p>
            <a:pPr marL="0" indent="0">
              <a:buNone/>
            </a:pPr>
            <a:r>
              <a:rPr lang="en-IN"/>
              <a:t>          2.WAIT Mode</a:t>
            </a:r>
          </a:p>
          <a:p>
            <a:pPr marL="0" indent="0">
              <a:buNone/>
            </a:pPr>
            <a:r>
              <a:rPr lang="en-IN"/>
              <a:t>          3.STOP Mode</a:t>
            </a:r>
          </a:p>
          <a:p>
            <a:pPr algn="l" rtl="0" fontAlgn="base"/>
            <a:r>
              <a:rPr lang="en-US" sz="1800" b="1" i="0" u="none" strike="noStrike">
                <a:solidFill>
                  <a:srgbClr val="000000"/>
                </a:solidFill>
                <a:effectLst/>
                <a:latin typeface="Open Sans Bold" panose="020B0806030504020204" pitchFamily="34" charset="0"/>
              </a:rPr>
              <a:t>Run Mode (Normal Mode)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 Bold" panose="020B08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SPI works normally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Clock is ON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Data transmission and reception occur as usual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Used during regular operation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3315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9A1FB-2064-5443-73FA-B0E2A3DB3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4C706-7B6F-C333-6B07-F949DFEDC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 rtl="0" fontAlgn="base"/>
            <a:r>
              <a:rPr lang="en-US" sz="1800" b="1" i="0" u="none" strike="noStrike">
                <a:solidFill>
                  <a:srgbClr val="000000"/>
                </a:solidFill>
                <a:effectLst/>
                <a:latin typeface="Open Sans Bold" panose="020B0806030504020204" pitchFamily="34" charset="0"/>
              </a:rPr>
              <a:t>Wait Mode (Low-Power but Smart Mode)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 Bold" panose="020B0806030504020204" pitchFamily="34" charset="0"/>
              </a:rPr>
              <a:t>​</a:t>
            </a:r>
            <a:endParaRPr lang="en-US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l" rtl="0" fontAlgn="base">
              <a:buNone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       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Wait mode behavior depends on SPISWAI bit.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 rtl="0" fontAlgn="base">
              <a:buNone/>
            </a:pPr>
            <a:r>
              <a:rPr lang="en-US">
                <a:solidFill>
                  <a:srgbClr val="000000"/>
                </a:solidFill>
                <a:latin typeface="Open Sans" panose="020B0606030504020204" pitchFamily="34" charset="0"/>
              </a:rPr>
              <a:t>                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If SPISWAI = 0, SPI behaves exactly like Run Mode, No power saving.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​</a:t>
            </a:r>
            <a:endParaRPr lang="en-US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l" rtl="0" fontAlgn="base">
              <a:buNone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             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If SPISWAI = 1, SPI clock generation is turned OFF to save power.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/>
            <a:r>
              <a:rPr lang="en-US" sz="1800" b="1" i="0" u="none" strike="noStrike">
                <a:solidFill>
                  <a:srgbClr val="000000"/>
                </a:solidFill>
                <a:effectLst/>
                <a:latin typeface="Open Sans Bold" panose="020B0806030504020204" pitchFamily="34" charset="0"/>
              </a:rPr>
              <a:t>Master Mode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 Bold" panose="020B08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 rtl="0" fontAlgn="base">
              <a:buNone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       Ongoing transmission pauses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​</a:t>
            </a:r>
            <a:endParaRPr lang="en-US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l" rtl="0" fontAlgn="base">
              <a:buNone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      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Transmission resumes when CPU returns to Run Mode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/>
            <a:r>
              <a:rPr lang="en-US" sz="1800" b="1" i="0" u="none" strike="noStrike">
                <a:solidFill>
                  <a:srgbClr val="000000"/>
                </a:solidFill>
                <a:effectLst/>
                <a:latin typeface="Open Sans Bold" panose="020B0806030504020204" pitchFamily="34" charset="0"/>
              </a:rPr>
              <a:t>Slave Mode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 Bold" panose="020B08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 rtl="0" fontAlgn="base">
              <a:buNone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     SPI continues receiving and transmitting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 rtl="0" fontAlgn="base">
              <a:buNone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     This keeps the slave synchronized with the master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41327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F2C54-8F4E-2BE3-0C2A-8E57A20FC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34DFD-30F5-D94B-FE44-EEEB1A651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US" sz="1800" b="1" i="0" u="none" strike="noStrike">
                <a:solidFill>
                  <a:srgbClr val="000000"/>
                </a:solidFill>
                <a:effectLst/>
                <a:latin typeface="Open Sans Bold" panose="020B0806030504020204" pitchFamily="34" charset="0"/>
              </a:rPr>
              <a:t>Stop Mode (Deep Sleep Mode)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 Bold" panose="020B08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Maximum power saving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Master: Transmission stops, resumes in Run Mode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Slave: Completes current byte and maintains synchronization</a:t>
            </a:r>
            <a:r>
              <a:rPr lang="en-US" sz="1800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/>
            <a:endParaRPr lang="en-US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9951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6A5E0-4333-56D5-A7AC-2F9C598FF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6" descr="Business Thank-You Letter Examples">
            <a:extLst>
              <a:ext uri="{FF2B5EF4-FFF2-40B4-BE49-F238E27FC236}">
                <a16:creationId xmlns:a16="http://schemas.microsoft.com/office/drawing/2014/main" id="{DDB9FB1C-3219-4742-518E-28844F84306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34" y="0"/>
            <a:ext cx="12818638" cy="6769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9389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0</TotalTime>
  <Words>1586</Words>
  <Application>Microsoft Office PowerPoint</Application>
  <PresentationFormat>Widescreen</PresentationFormat>
  <Paragraphs>243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Aptos</vt:lpstr>
      <vt:lpstr>Arial</vt:lpstr>
      <vt:lpstr>Century Gothic</vt:lpstr>
      <vt:lpstr>Google Sans</vt:lpstr>
      <vt:lpstr>Open Sans</vt:lpstr>
      <vt:lpstr>Open Sans Bold</vt:lpstr>
      <vt:lpstr>Roboto</vt:lpstr>
      <vt:lpstr>Segoe UI</vt:lpstr>
      <vt:lpstr>Wingdings 3</vt:lpstr>
      <vt:lpstr>Ion Boardroom</vt:lpstr>
      <vt:lpstr>SPI PROTOCOL</vt:lpstr>
      <vt:lpstr>                 Introduction</vt:lpstr>
      <vt:lpstr>              WHY SPI</vt:lpstr>
      <vt:lpstr>                  Features</vt:lpstr>
      <vt:lpstr>         SPI Block Diagram</vt:lpstr>
      <vt:lpstr>            Working</vt:lpstr>
      <vt:lpstr>                 SPI Signals</vt:lpstr>
      <vt:lpstr>                 SPI Signals</vt:lpstr>
      <vt:lpstr>       CPOL &amp;CPHA Timing Diagram</vt:lpstr>
      <vt:lpstr>             Registers Definition</vt:lpstr>
      <vt:lpstr> </vt:lpstr>
      <vt:lpstr>                 SPICR1</vt:lpstr>
      <vt:lpstr>    </vt:lpstr>
      <vt:lpstr>   </vt:lpstr>
      <vt:lpstr>SSOE — Slave Select Output Enable </vt:lpstr>
      <vt:lpstr>     </vt:lpstr>
      <vt:lpstr>            SPICR2</vt:lpstr>
      <vt:lpstr>       </vt:lpstr>
      <vt:lpstr>      </vt:lpstr>
      <vt:lpstr>    SPIBR</vt:lpstr>
      <vt:lpstr>         </vt:lpstr>
      <vt:lpstr>          SPISR</vt:lpstr>
      <vt:lpstr>      </vt:lpstr>
      <vt:lpstr>         SPIDR</vt:lpstr>
      <vt:lpstr>      </vt:lpstr>
      <vt:lpstr>SPI Modes of Operation</vt:lpstr>
      <vt:lpstr>       </vt:lpstr>
      <vt:lpstr>      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 PROTOCOL</dc:title>
  <dc:creator>Penchala Narayana Reddy Kadapana</dc:creator>
  <cp:lastModifiedBy>sravanthi vennapusa</cp:lastModifiedBy>
  <cp:revision>2</cp:revision>
  <dcterms:created xsi:type="dcterms:W3CDTF">2026-01-11T12:14:00Z</dcterms:created>
  <dcterms:modified xsi:type="dcterms:W3CDTF">2026-01-22T11:10:54Z</dcterms:modified>
</cp:coreProperties>
</file>